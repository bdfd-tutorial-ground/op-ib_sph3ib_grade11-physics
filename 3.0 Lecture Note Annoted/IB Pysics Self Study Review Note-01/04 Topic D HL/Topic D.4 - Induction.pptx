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y="6858000" cx="9144000"/>
  <p:notesSz cx="7010400" cy="92964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928" orient="horz"/>
        <p:guide pos="2208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slide" Target="slides/slide39.xml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70938" y="0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2" type="sldNum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2015 by Timothy K. Lund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/>
        </p:nvSpPr>
        <p:spPr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2015 by Timothy K. Lund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/>
        </p:nvSpPr>
        <p:spPr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2015 by Timothy K. Lund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/>
        </p:nvSpPr>
        <p:spPr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2015 by Timothy K. Lund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2015 by Timothy K. Lund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6" name="Google Shape;176;p6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2015 by Timothy K. Lund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7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0" name="Google Shape;420;p7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2015 by Timothy K. Lund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8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1" name="Google Shape;491;p8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2015 by Timothy K. Lund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9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8" name="Google Shape;498;p9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2015 by Timothy K. Lund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10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5" name="Google Shape;515;p10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2015 by Timothy K. Lund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1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2" name="Google Shape;532;p11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2015 by Timothy K. Lund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12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0" name="Google Shape;590;p12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2015 by Timothy K. Lund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13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6" name="Google Shape;636;p13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2015 by Timothy K. Lund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14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0" name="Google Shape;690;p14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2015 by Timothy K. Lund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15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0" name="Google Shape;770;p15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16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9" name="Google Shape;799;p16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17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1" name="Google Shape;831;p17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2006 By Timothy K. Lund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18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4" name="Google Shape;844;p18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2015 by Timothy K. Lund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19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2" name="Google Shape;852;p19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2015 by Timothy K. Lund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20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5" name="Google Shape;935;p20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2015 by Timothy K. Lund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21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5" name="Google Shape;1005;p21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2015 by Timothy K. Lund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22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2" name="Google Shape;1032;p22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2015 by Timothy K. Lund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23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6" name="Google Shape;1046;p23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2015 by Timothy K. Lund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p24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3" name="Google Shape;1073;p24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2015 by Timothy K. Lund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p25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5" name="Google Shape;1085;p25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2015 by Timothy K. Lund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26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97" name="Google Shape;1097;p26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2015 by Timothy K. Lund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p27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8" name="Google Shape;1128;p27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2015 by Timothy K. Lund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p28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3" name="Google Shape;1143;p28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2015 by Timothy K. Lund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29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8" name="Google Shape;1158;p29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2015 by Timothy K. Lund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p30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74" name="Google Shape;1174;p30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2015 by Timothy K. Lund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31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86" name="Google Shape;1186;p31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2015 by Timothy K. Lund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32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00" name="Google Shape;1200;p32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2015 by Timothy K. Lund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33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15" name="Google Shape;1215;p33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2015 by Timothy K. Lund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p34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8" name="Google Shape;1228;p34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2015 by Timothy K. Lund</a:t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p35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45" name="Google Shape;1245;p35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2015 by Timothy K. Lund</a:t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p36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7" name="Google Shape;1267;p36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2015 by Timothy K. Lund</a:t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p37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80" name="Google Shape;1280;p37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2015 by Timothy K. Lund</a:t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8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p38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00" name="Google Shape;1300;p38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2015 by Timothy K. Lund</a:t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5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p39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17" name="Google Shape;1317;p39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2015 by Timothy K. Lund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gif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gif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.gif"/><Relationship Id="rId4" Type="http://schemas.openxmlformats.org/officeDocument/2006/relationships/image" Target="../media/image14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12.png"/><Relationship Id="rId6" Type="http://schemas.openxmlformats.org/officeDocument/2006/relationships/image" Target="../media/image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12.png"/><Relationship Id="rId6" Type="http://schemas.openxmlformats.org/officeDocument/2006/relationships/image" Target="../media/image3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.png"/><Relationship Id="rId4" Type="http://schemas.openxmlformats.org/officeDocument/2006/relationships/image" Target="../media/image2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5.png"/><Relationship Id="rId4" Type="http://schemas.openxmlformats.org/officeDocument/2006/relationships/image" Target="../media/image29.png"/><Relationship Id="rId5" Type="http://schemas.openxmlformats.org/officeDocument/2006/relationships/image" Target="../media/image3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5.png"/><Relationship Id="rId4" Type="http://schemas.openxmlformats.org/officeDocument/2006/relationships/image" Target="../media/image29.png"/><Relationship Id="rId5" Type="http://schemas.openxmlformats.org/officeDocument/2006/relationships/image" Target="../media/image32.png"/><Relationship Id="rId6" Type="http://schemas.openxmlformats.org/officeDocument/2006/relationships/image" Target="../media/image3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5.png"/><Relationship Id="rId4" Type="http://schemas.openxmlformats.org/officeDocument/2006/relationships/image" Target="../media/image29.png"/><Relationship Id="rId5" Type="http://schemas.openxmlformats.org/officeDocument/2006/relationships/image" Target="../media/image32.png"/><Relationship Id="rId6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/>
          <p:nvPr/>
        </p:nvSpPr>
        <p:spPr>
          <a:xfrm>
            <a:off x="685800" y="1339850"/>
            <a:ext cx="7772400" cy="551815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Guiding questions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What are the effects of relative motion between a 	conductor and a magnetic field?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How can the power output of electrical 	generators be increased?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How did the discovery of electromagnetic 	induction effect industrialization?</a:t>
            </a:r>
            <a:endParaRPr sz="2400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3"/>
          <p:cNvSpPr txBox="1"/>
          <p:nvPr>
            <p:ph type="ctrTitle"/>
          </p:nvPr>
        </p:nvSpPr>
        <p:spPr>
          <a:xfrm>
            <a:off x="685800" y="409575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Topic D: Fields AHL</a:t>
            </a:r>
            <a:br>
              <a:rPr b="1" lang="en-US" sz="2800"/>
            </a:br>
            <a:r>
              <a:rPr lang="en-US" sz="2800">
                <a:solidFill>
                  <a:schemeClr val="dk1"/>
                </a:solidFill>
              </a:rPr>
              <a:t>D.4 – Induction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/>
          <p:nvPr/>
        </p:nvSpPr>
        <p:spPr>
          <a:xfrm>
            <a:off x="685800" y="1339850"/>
            <a:ext cx="7918830" cy="48133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Students should understand: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• magnetic flux </a:t>
            </a:r>
            <a:r>
              <a:rPr b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Φ 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as given by </a:t>
            </a:r>
            <a:r>
              <a:rPr b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Φ 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BA 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cos </a:t>
            </a: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θ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• that a time-changing magnetic flux induces an emf </a:t>
            </a: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ε 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as given by Faraday’s law of induction </a:t>
            </a: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ε 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= − </a:t>
            </a: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Δ</a:t>
            </a:r>
            <a:r>
              <a:rPr b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Φ/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Δ</a:t>
            </a: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• that a uniform magnetic field induces an emf in a straight conductor moving perpendicularly to it as given by </a:t>
            </a: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ε 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BvL</a:t>
            </a:r>
            <a:endParaRPr i="1" sz="240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• that the direction of induced emf is determined by Lenz’s law and is a consequence of energy conservation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• that a uniform magnetic field induces a sinusoidal varying emf in a coil rotating within it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• the effect on induced emf caused by changing the frequency of rotation.</a:t>
            </a:r>
            <a:endParaRPr sz="240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4"/>
          <p:cNvSpPr txBox="1"/>
          <p:nvPr>
            <p:ph idx="4294967295" type="ctrTitle"/>
          </p:nvPr>
        </p:nvSpPr>
        <p:spPr>
          <a:xfrm>
            <a:off x="685800" y="409575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Topic D: Fields AHL</a:t>
            </a:r>
            <a:b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D.4 – Induction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/>
          <p:nvPr/>
        </p:nvSpPr>
        <p:spPr>
          <a:xfrm>
            <a:off x="685800" y="1339849"/>
            <a:ext cx="7772400" cy="5178937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33413" lvl="0" marL="633413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Guidance:</a:t>
            </a:r>
            <a:r>
              <a:rPr lang="en-US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Examples of production of an induced emf should include: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time-varying magnetic fields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coils rotating within a uniform magnetic field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relative motion between a conductor and a magnetic field (for example, a magnet oscillating on a spring above a conducting coil, or a coil moved in or out of the region of a magnetic field).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quantitative treatment of induced emf will be restricted to straight conductors moving at right angles to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magnetic fields and rectangular coils moving in and out of fields and rotating in fields.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Only a qualitative treatment of self-induction is required.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discussion of inductance and resistance-inductor (RL) circuits is not required.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5"/>
          <p:cNvSpPr txBox="1"/>
          <p:nvPr>
            <p:ph idx="4294967295" type="ctrTitle"/>
          </p:nvPr>
        </p:nvSpPr>
        <p:spPr>
          <a:xfrm>
            <a:off x="685800" y="409575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Topic D: Fields AHL</a:t>
            </a:r>
            <a:b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D.4 – Induction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/>
          <p:nvPr/>
        </p:nvSpPr>
        <p:spPr>
          <a:xfrm>
            <a:off x="685800" y="1339850"/>
            <a:ext cx="7772400" cy="48133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33413" lvl="0" marL="633413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Data booklet reference: </a:t>
            </a:r>
            <a:endParaRPr sz="24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6"/>
          <p:cNvSpPr txBox="1"/>
          <p:nvPr>
            <p:ph idx="4294967295" type="ctrTitle"/>
          </p:nvPr>
        </p:nvSpPr>
        <p:spPr>
          <a:xfrm>
            <a:off x="685800" y="409575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Topic D: Fields AHL</a:t>
            </a:r>
            <a:br>
              <a:rPr b="1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D.4 – Induction</a:t>
            </a:r>
            <a:endParaRPr/>
          </a:p>
        </p:txBody>
      </p:sp>
      <p:pic>
        <p:nvPicPr>
          <p:cNvPr id="112" name="Google Shape;11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82525" y="2080226"/>
            <a:ext cx="1965951" cy="20919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/>
          <p:nvPr/>
        </p:nvSpPr>
        <p:spPr>
          <a:xfrm>
            <a:off x="685800" y="1354138"/>
            <a:ext cx="7772400" cy="5503862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Electromotive force (emf)</a:t>
            </a:r>
            <a:endParaRPr i="1"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Consider the magnetic                                                   field (</a:t>
            </a:r>
            <a:r>
              <a:rPr lang="en-US" sz="24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B-field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provided                                                           by a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horseshoe                                                             magnet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 a curved                                                            bar magnet).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we place a                                                            stationary charge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within the B-field, it will                                                      feel NO MAGNETIC FORCE.</a:t>
            </a:r>
            <a:endParaRPr/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∙Yet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we project the charge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through the B-field with a velocity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it will feel a force:</a:t>
            </a:r>
            <a:endParaRPr/>
          </a:p>
        </p:txBody>
      </p:sp>
      <p:sp>
        <p:nvSpPr>
          <p:cNvPr id="118" name="Google Shape;118;p17"/>
          <p:cNvSpPr/>
          <p:nvPr/>
        </p:nvSpPr>
        <p:spPr>
          <a:xfrm>
            <a:off x="5008563" y="2320925"/>
            <a:ext cx="2630487" cy="1268413"/>
          </a:xfrm>
          <a:custGeom>
            <a:rect b="b" l="l" r="r" t="t"/>
            <a:pathLst>
              <a:path extrusionOk="0" h="658" w="755">
                <a:moveTo>
                  <a:pt x="0" y="658"/>
                </a:moveTo>
                <a:lnTo>
                  <a:pt x="35" y="631"/>
                </a:lnTo>
                <a:lnTo>
                  <a:pt x="62" y="466"/>
                </a:lnTo>
                <a:lnTo>
                  <a:pt x="62" y="253"/>
                </a:lnTo>
                <a:lnTo>
                  <a:pt x="55" y="144"/>
                </a:lnTo>
                <a:lnTo>
                  <a:pt x="42" y="55"/>
                </a:lnTo>
                <a:lnTo>
                  <a:pt x="0" y="0"/>
                </a:lnTo>
                <a:lnTo>
                  <a:pt x="700" y="0"/>
                </a:lnTo>
                <a:lnTo>
                  <a:pt x="727" y="48"/>
                </a:lnTo>
                <a:lnTo>
                  <a:pt x="748" y="144"/>
                </a:lnTo>
                <a:lnTo>
                  <a:pt x="755" y="219"/>
                </a:lnTo>
                <a:lnTo>
                  <a:pt x="755" y="445"/>
                </a:lnTo>
                <a:lnTo>
                  <a:pt x="748" y="535"/>
                </a:lnTo>
                <a:lnTo>
                  <a:pt x="734" y="624"/>
                </a:lnTo>
                <a:lnTo>
                  <a:pt x="707" y="658"/>
                </a:lnTo>
                <a:lnTo>
                  <a:pt x="0" y="658"/>
                </a:lnTo>
                <a:close/>
              </a:path>
            </a:pathLst>
          </a:custGeom>
          <a:gradFill>
            <a:gsLst>
              <a:gs pos="0">
                <a:srgbClr val="839D9F"/>
              </a:gs>
              <a:gs pos="100000">
                <a:schemeClr val="accent1"/>
              </a:gs>
            </a:gsLst>
            <a:lin ang="5400000" scaled="0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7"/>
          <p:cNvSpPr/>
          <p:nvPr/>
        </p:nvSpPr>
        <p:spPr>
          <a:xfrm>
            <a:off x="3975100" y="4144963"/>
            <a:ext cx="2651125" cy="671512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rgbClr val="23236B"/>
              </a:gs>
            </a:gsLst>
            <a:lin ang="1890000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3983038" y="1703388"/>
            <a:ext cx="3433762" cy="555625"/>
          </a:xfrm>
          <a:custGeom>
            <a:rect b="b" l="l" r="r" t="t"/>
            <a:pathLst>
              <a:path extrusionOk="0" h="288" w="995">
                <a:moveTo>
                  <a:pt x="0" y="288"/>
                </a:moveTo>
                <a:lnTo>
                  <a:pt x="295" y="0"/>
                </a:lnTo>
                <a:lnTo>
                  <a:pt x="995" y="0"/>
                </a:lnTo>
                <a:lnTo>
                  <a:pt x="762" y="288"/>
                </a:lnTo>
                <a:lnTo>
                  <a:pt x="0" y="288"/>
                </a:lnTo>
                <a:close/>
              </a:path>
            </a:pathLst>
          </a:custGeom>
          <a:gradFill>
            <a:gsLst>
              <a:gs pos="0">
                <a:srgbClr val="839D9F"/>
              </a:gs>
              <a:gs pos="100000">
                <a:schemeClr val="accent1"/>
              </a:gs>
            </a:gsLst>
            <a:lin ang="2700000" scaled="0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3984625" y="3590925"/>
            <a:ext cx="3467100" cy="555625"/>
          </a:xfrm>
          <a:custGeom>
            <a:rect b="b" l="l" r="r" t="t"/>
            <a:pathLst>
              <a:path extrusionOk="0" h="288" w="995">
                <a:moveTo>
                  <a:pt x="0" y="288"/>
                </a:moveTo>
                <a:lnTo>
                  <a:pt x="295" y="0"/>
                </a:lnTo>
                <a:lnTo>
                  <a:pt x="995" y="0"/>
                </a:lnTo>
                <a:lnTo>
                  <a:pt x="762" y="288"/>
                </a:lnTo>
                <a:lnTo>
                  <a:pt x="0" y="288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839D9F"/>
              </a:gs>
            </a:gsLst>
            <a:lin ang="2700000" scaled="0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7"/>
          <p:cNvSpPr txBox="1"/>
          <p:nvPr/>
        </p:nvSpPr>
        <p:spPr>
          <a:xfrm>
            <a:off x="4764088" y="4246563"/>
            <a:ext cx="9810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South</a:t>
            </a:r>
            <a:endParaRPr/>
          </a:p>
        </p:txBody>
      </p:sp>
      <p:grpSp>
        <p:nvGrpSpPr>
          <p:cNvPr id="123" name="Google Shape;123;p17"/>
          <p:cNvGrpSpPr/>
          <p:nvPr/>
        </p:nvGrpSpPr>
        <p:grpSpPr>
          <a:xfrm>
            <a:off x="5018088" y="2498725"/>
            <a:ext cx="2092325" cy="1228725"/>
            <a:chOff x="714" y="3306"/>
            <a:chExt cx="1318" cy="774"/>
          </a:xfrm>
        </p:grpSpPr>
        <p:cxnSp>
          <p:nvCxnSpPr>
            <p:cNvPr id="124" name="Google Shape;124;p17"/>
            <p:cNvCxnSpPr/>
            <p:nvPr/>
          </p:nvCxnSpPr>
          <p:spPr>
            <a:xfrm>
              <a:off x="714" y="3318"/>
              <a:ext cx="0" cy="762"/>
            </a:xfrm>
            <a:prstGeom prst="straightConnector1">
              <a:avLst/>
            </a:prstGeom>
            <a:noFill/>
            <a:ln cap="flat" cmpd="sng" w="38100">
              <a:solidFill>
                <a:srgbClr val="008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25" name="Google Shape;125;p17"/>
            <p:cNvCxnSpPr/>
            <p:nvPr/>
          </p:nvCxnSpPr>
          <p:spPr>
            <a:xfrm>
              <a:off x="950" y="3316"/>
              <a:ext cx="0" cy="762"/>
            </a:xfrm>
            <a:prstGeom prst="straightConnector1">
              <a:avLst/>
            </a:prstGeom>
            <a:noFill/>
            <a:ln cap="flat" cmpd="sng" w="38100">
              <a:solidFill>
                <a:srgbClr val="008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26" name="Google Shape;126;p17"/>
            <p:cNvCxnSpPr/>
            <p:nvPr/>
          </p:nvCxnSpPr>
          <p:spPr>
            <a:xfrm>
              <a:off x="1186" y="3314"/>
              <a:ext cx="0" cy="762"/>
            </a:xfrm>
            <a:prstGeom prst="straightConnector1">
              <a:avLst/>
            </a:prstGeom>
            <a:noFill/>
            <a:ln cap="flat" cmpd="sng" w="38100">
              <a:solidFill>
                <a:srgbClr val="008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27" name="Google Shape;127;p17"/>
            <p:cNvCxnSpPr/>
            <p:nvPr/>
          </p:nvCxnSpPr>
          <p:spPr>
            <a:xfrm>
              <a:off x="1394" y="3312"/>
              <a:ext cx="0" cy="762"/>
            </a:xfrm>
            <a:prstGeom prst="straightConnector1">
              <a:avLst/>
            </a:prstGeom>
            <a:noFill/>
            <a:ln cap="flat" cmpd="sng" w="38100">
              <a:solidFill>
                <a:srgbClr val="008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28" name="Google Shape;128;p17"/>
            <p:cNvCxnSpPr/>
            <p:nvPr/>
          </p:nvCxnSpPr>
          <p:spPr>
            <a:xfrm>
              <a:off x="1595" y="3310"/>
              <a:ext cx="0" cy="762"/>
            </a:xfrm>
            <a:prstGeom prst="straightConnector1">
              <a:avLst/>
            </a:prstGeom>
            <a:noFill/>
            <a:ln cap="flat" cmpd="sng" w="38100">
              <a:solidFill>
                <a:srgbClr val="008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29" name="Google Shape;129;p17"/>
            <p:cNvCxnSpPr/>
            <p:nvPr/>
          </p:nvCxnSpPr>
          <p:spPr>
            <a:xfrm>
              <a:off x="1810" y="3308"/>
              <a:ext cx="0" cy="762"/>
            </a:xfrm>
            <a:prstGeom prst="straightConnector1">
              <a:avLst/>
            </a:prstGeom>
            <a:noFill/>
            <a:ln cap="flat" cmpd="sng" w="38100">
              <a:solidFill>
                <a:srgbClr val="008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30" name="Google Shape;130;p17"/>
            <p:cNvCxnSpPr/>
            <p:nvPr/>
          </p:nvCxnSpPr>
          <p:spPr>
            <a:xfrm>
              <a:off x="2032" y="3306"/>
              <a:ext cx="0" cy="762"/>
            </a:xfrm>
            <a:prstGeom prst="straightConnector1">
              <a:avLst/>
            </a:prstGeom>
            <a:noFill/>
            <a:ln cap="flat" cmpd="sng" w="38100">
              <a:solidFill>
                <a:srgbClr val="008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31" name="Google Shape;131;p17"/>
          <p:cNvGrpSpPr/>
          <p:nvPr/>
        </p:nvGrpSpPr>
        <p:grpSpPr>
          <a:xfrm>
            <a:off x="5562600" y="3287713"/>
            <a:ext cx="196850" cy="196850"/>
            <a:chOff x="1426" y="3606"/>
            <a:chExt cx="124" cy="124"/>
          </a:xfrm>
        </p:grpSpPr>
        <p:sp>
          <p:nvSpPr>
            <p:cNvPr id="132" name="Google Shape;132;p17"/>
            <p:cNvSpPr/>
            <p:nvPr/>
          </p:nvSpPr>
          <p:spPr>
            <a:xfrm>
              <a:off x="1426" y="3606"/>
              <a:ext cx="124" cy="124"/>
            </a:xfrm>
            <a:prstGeom prst="ellipse">
              <a:avLst/>
            </a:prstGeom>
            <a:solidFill>
              <a:srgbClr val="FFCC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3" name="Google Shape;133;p17"/>
            <p:cNvGrpSpPr/>
            <p:nvPr/>
          </p:nvGrpSpPr>
          <p:grpSpPr>
            <a:xfrm>
              <a:off x="1438" y="3621"/>
              <a:ext cx="90" cy="90"/>
              <a:chOff x="1253" y="3257"/>
              <a:chExt cx="124" cy="124"/>
            </a:xfrm>
          </p:grpSpPr>
          <p:cxnSp>
            <p:nvCxnSpPr>
              <p:cNvPr id="134" name="Google Shape;134;p17"/>
              <p:cNvCxnSpPr/>
              <p:nvPr/>
            </p:nvCxnSpPr>
            <p:spPr>
              <a:xfrm>
                <a:off x="1317" y="3257"/>
                <a:ext cx="0" cy="124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" name="Google Shape;135;p17"/>
              <p:cNvCxnSpPr/>
              <p:nvPr/>
            </p:nvCxnSpPr>
            <p:spPr>
              <a:xfrm rot="10800000">
                <a:off x="1315" y="3255"/>
                <a:ext cx="0" cy="124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36" name="Google Shape;136;p17"/>
          <p:cNvGrpSpPr/>
          <p:nvPr/>
        </p:nvGrpSpPr>
        <p:grpSpPr>
          <a:xfrm>
            <a:off x="4822825" y="2630488"/>
            <a:ext cx="2092325" cy="1228725"/>
            <a:chOff x="714" y="3306"/>
            <a:chExt cx="1318" cy="774"/>
          </a:xfrm>
        </p:grpSpPr>
        <p:cxnSp>
          <p:nvCxnSpPr>
            <p:cNvPr id="137" name="Google Shape;137;p17"/>
            <p:cNvCxnSpPr/>
            <p:nvPr/>
          </p:nvCxnSpPr>
          <p:spPr>
            <a:xfrm>
              <a:off x="714" y="3318"/>
              <a:ext cx="0" cy="762"/>
            </a:xfrm>
            <a:prstGeom prst="straightConnector1">
              <a:avLst/>
            </a:prstGeom>
            <a:noFill/>
            <a:ln cap="flat" cmpd="sng" w="38100">
              <a:solidFill>
                <a:srgbClr val="008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38" name="Google Shape;138;p17"/>
            <p:cNvCxnSpPr/>
            <p:nvPr/>
          </p:nvCxnSpPr>
          <p:spPr>
            <a:xfrm>
              <a:off x="950" y="3316"/>
              <a:ext cx="0" cy="762"/>
            </a:xfrm>
            <a:prstGeom prst="straightConnector1">
              <a:avLst/>
            </a:prstGeom>
            <a:noFill/>
            <a:ln cap="flat" cmpd="sng" w="38100">
              <a:solidFill>
                <a:srgbClr val="008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39" name="Google Shape;139;p17"/>
            <p:cNvCxnSpPr/>
            <p:nvPr/>
          </p:nvCxnSpPr>
          <p:spPr>
            <a:xfrm>
              <a:off x="1186" y="3314"/>
              <a:ext cx="0" cy="762"/>
            </a:xfrm>
            <a:prstGeom prst="straightConnector1">
              <a:avLst/>
            </a:prstGeom>
            <a:noFill/>
            <a:ln cap="flat" cmpd="sng" w="38100">
              <a:solidFill>
                <a:srgbClr val="008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40" name="Google Shape;140;p17"/>
            <p:cNvCxnSpPr/>
            <p:nvPr/>
          </p:nvCxnSpPr>
          <p:spPr>
            <a:xfrm>
              <a:off x="1394" y="3312"/>
              <a:ext cx="0" cy="762"/>
            </a:xfrm>
            <a:prstGeom prst="straightConnector1">
              <a:avLst/>
            </a:prstGeom>
            <a:noFill/>
            <a:ln cap="flat" cmpd="sng" w="38100">
              <a:solidFill>
                <a:srgbClr val="008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41" name="Google Shape;141;p17"/>
            <p:cNvCxnSpPr/>
            <p:nvPr/>
          </p:nvCxnSpPr>
          <p:spPr>
            <a:xfrm>
              <a:off x="1595" y="3310"/>
              <a:ext cx="0" cy="762"/>
            </a:xfrm>
            <a:prstGeom prst="straightConnector1">
              <a:avLst/>
            </a:prstGeom>
            <a:noFill/>
            <a:ln cap="flat" cmpd="sng" w="38100">
              <a:solidFill>
                <a:srgbClr val="008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42" name="Google Shape;142;p17"/>
            <p:cNvCxnSpPr/>
            <p:nvPr/>
          </p:nvCxnSpPr>
          <p:spPr>
            <a:xfrm>
              <a:off x="1810" y="3308"/>
              <a:ext cx="0" cy="762"/>
            </a:xfrm>
            <a:prstGeom prst="straightConnector1">
              <a:avLst/>
            </a:prstGeom>
            <a:noFill/>
            <a:ln cap="flat" cmpd="sng" w="38100">
              <a:solidFill>
                <a:srgbClr val="008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43" name="Google Shape;143;p17"/>
            <p:cNvCxnSpPr/>
            <p:nvPr/>
          </p:nvCxnSpPr>
          <p:spPr>
            <a:xfrm>
              <a:off x="2032" y="3306"/>
              <a:ext cx="0" cy="762"/>
            </a:xfrm>
            <a:prstGeom prst="straightConnector1">
              <a:avLst/>
            </a:prstGeom>
            <a:noFill/>
            <a:ln cap="flat" cmpd="sng" w="38100">
              <a:solidFill>
                <a:srgbClr val="008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44" name="Google Shape;144;p17"/>
          <p:cNvSpPr/>
          <p:nvPr/>
        </p:nvSpPr>
        <p:spPr>
          <a:xfrm>
            <a:off x="6624638" y="1695450"/>
            <a:ext cx="1593850" cy="3132138"/>
          </a:xfrm>
          <a:custGeom>
            <a:rect b="b" l="l" r="r" t="t"/>
            <a:pathLst>
              <a:path extrusionOk="0" h="1973" w="1004">
                <a:moveTo>
                  <a:pt x="0" y="1973"/>
                </a:moveTo>
                <a:lnTo>
                  <a:pt x="730" y="1458"/>
                </a:lnTo>
                <a:lnTo>
                  <a:pt x="915" y="1218"/>
                </a:lnTo>
                <a:lnTo>
                  <a:pt x="1004" y="786"/>
                </a:lnTo>
                <a:lnTo>
                  <a:pt x="961" y="382"/>
                </a:lnTo>
                <a:lnTo>
                  <a:pt x="751" y="74"/>
                </a:lnTo>
                <a:lnTo>
                  <a:pt x="586" y="0"/>
                </a:lnTo>
                <a:lnTo>
                  <a:pt x="496" y="0"/>
                </a:lnTo>
                <a:lnTo>
                  <a:pt x="0" y="350"/>
                </a:lnTo>
                <a:lnTo>
                  <a:pt x="0" y="766"/>
                </a:lnTo>
                <a:lnTo>
                  <a:pt x="496" y="416"/>
                </a:lnTo>
                <a:lnTo>
                  <a:pt x="601" y="516"/>
                </a:lnTo>
                <a:lnTo>
                  <a:pt x="645" y="741"/>
                </a:lnTo>
                <a:lnTo>
                  <a:pt x="586" y="1049"/>
                </a:lnTo>
                <a:lnTo>
                  <a:pt x="511" y="1190"/>
                </a:lnTo>
                <a:lnTo>
                  <a:pt x="0" y="1557"/>
                </a:lnTo>
                <a:lnTo>
                  <a:pt x="0" y="1973"/>
                </a:lnTo>
                <a:close/>
              </a:path>
            </a:pathLst>
          </a:custGeom>
          <a:gradFill>
            <a:gsLst>
              <a:gs pos="0">
                <a:srgbClr val="839D9F"/>
              </a:gs>
              <a:gs pos="100000">
                <a:schemeClr val="accent1"/>
              </a:gs>
            </a:gsLst>
            <a:lin ang="5400000" scaled="0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5" name="Google Shape;145;p17"/>
          <p:cNvGrpSpPr/>
          <p:nvPr/>
        </p:nvGrpSpPr>
        <p:grpSpPr>
          <a:xfrm>
            <a:off x="4637088" y="2847975"/>
            <a:ext cx="2092325" cy="1141413"/>
            <a:chOff x="714" y="3306"/>
            <a:chExt cx="1318" cy="774"/>
          </a:xfrm>
        </p:grpSpPr>
        <p:cxnSp>
          <p:nvCxnSpPr>
            <p:cNvPr id="146" name="Google Shape;146;p17"/>
            <p:cNvCxnSpPr/>
            <p:nvPr/>
          </p:nvCxnSpPr>
          <p:spPr>
            <a:xfrm>
              <a:off x="714" y="3318"/>
              <a:ext cx="0" cy="762"/>
            </a:xfrm>
            <a:prstGeom prst="straightConnector1">
              <a:avLst/>
            </a:prstGeom>
            <a:noFill/>
            <a:ln cap="flat" cmpd="sng" w="38100">
              <a:solidFill>
                <a:srgbClr val="008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47" name="Google Shape;147;p17"/>
            <p:cNvCxnSpPr/>
            <p:nvPr/>
          </p:nvCxnSpPr>
          <p:spPr>
            <a:xfrm>
              <a:off x="950" y="3316"/>
              <a:ext cx="0" cy="762"/>
            </a:xfrm>
            <a:prstGeom prst="straightConnector1">
              <a:avLst/>
            </a:prstGeom>
            <a:noFill/>
            <a:ln cap="flat" cmpd="sng" w="38100">
              <a:solidFill>
                <a:srgbClr val="008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48" name="Google Shape;148;p17"/>
            <p:cNvCxnSpPr/>
            <p:nvPr/>
          </p:nvCxnSpPr>
          <p:spPr>
            <a:xfrm>
              <a:off x="1186" y="3314"/>
              <a:ext cx="0" cy="762"/>
            </a:xfrm>
            <a:prstGeom prst="straightConnector1">
              <a:avLst/>
            </a:prstGeom>
            <a:noFill/>
            <a:ln cap="flat" cmpd="sng" w="38100">
              <a:solidFill>
                <a:srgbClr val="008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49" name="Google Shape;149;p17"/>
            <p:cNvCxnSpPr/>
            <p:nvPr/>
          </p:nvCxnSpPr>
          <p:spPr>
            <a:xfrm>
              <a:off x="1394" y="3312"/>
              <a:ext cx="0" cy="762"/>
            </a:xfrm>
            <a:prstGeom prst="straightConnector1">
              <a:avLst/>
            </a:prstGeom>
            <a:noFill/>
            <a:ln cap="flat" cmpd="sng" w="38100">
              <a:solidFill>
                <a:srgbClr val="008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50" name="Google Shape;150;p17"/>
            <p:cNvCxnSpPr/>
            <p:nvPr/>
          </p:nvCxnSpPr>
          <p:spPr>
            <a:xfrm>
              <a:off x="1595" y="3310"/>
              <a:ext cx="0" cy="762"/>
            </a:xfrm>
            <a:prstGeom prst="straightConnector1">
              <a:avLst/>
            </a:prstGeom>
            <a:noFill/>
            <a:ln cap="flat" cmpd="sng" w="38100">
              <a:solidFill>
                <a:srgbClr val="008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51" name="Google Shape;151;p17"/>
            <p:cNvCxnSpPr/>
            <p:nvPr/>
          </p:nvCxnSpPr>
          <p:spPr>
            <a:xfrm>
              <a:off x="1810" y="3308"/>
              <a:ext cx="0" cy="762"/>
            </a:xfrm>
            <a:prstGeom prst="straightConnector1">
              <a:avLst/>
            </a:prstGeom>
            <a:noFill/>
            <a:ln cap="flat" cmpd="sng" w="38100">
              <a:solidFill>
                <a:srgbClr val="008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52" name="Google Shape;152;p17"/>
            <p:cNvCxnSpPr/>
            <p:nvPr/>
          </p:nvCxnSpPr>
          <p:spPr>
            <a:xfrm>
              <a:off x="2032" y="3306"/>
              <a:ext cx="0" cy="762"/>
            </a:xfrm>
            <a:prstGeom prst="straightConnector1">
              <a:avLst/>
            </a:prstGeom>
            <a:noFill/>
            <a:ln cap="flat" cmpd="sng" w="38100">
              <a:solidFill>
                <a:srgbClr val="008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53" name="Google Shape;153;p17"/>
          <p:cNvGrpSpPr/>
          <p:nvPr/>
        </p:nvGrpSpPr>
        <p:grpSpPr>
          <a:xfrm>
            <a:off x="4411663" y="2868613"/>
            <a:ext cx="2092325" cy="1228725"/>
            <a:chOff x="714" y="3306"/>
            <a:chExt cx="1318" cy="774"/>
          </a:xfrm>
        </p:grpSpPr>
        <p:cxnSp>
          <p:nvCxnSpPr>
            <p:cNvPr id="154" name="Google Shape;154;p17"/>
            <p:cNvCxnSpPr/>
            <p:nvPr/>
          </p:nvCxnSpPr>
          <p:spPr>
            <a:xfrm>
              <a:off x="714" y="3318"/>
              <a:ext cx="0" cy="762"/>
            </a:xfrm>
            <a:prstGeom prst="straightConnector1">
              <a:avLst/>
            </a:prstGeom>
            <a:noFill/>
            <a:ln cap="flat" cmpd="sng" w="38100">
              <a:solidFill>
                <a:srgbClr val="008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55" name="Google Shape;155;p17"/>
            <p:cNvCxnSpPr/>
            <p:nvPr/>
          </p:nvCxnSpPr>
          <p:spPr>
            <a:xfrm>
              <a:off x="950" y="3316"/>
              <a:ext cx="0" cy="762"/>
            </a:xfrm>
            <a:prstGeom prst="straightConnector1">
              <a:avLst/>
            </a:prstGeom>
            <a:noFill/>
            <a:ln cap="flat" cmpd="sng" w="38100">
              <a:solidFill>
                <a:srgbClr val="008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56" name="Google Shape;156;p17"/>
            <p:cNvCxnSpPr/>
            <p:nvPr/>
          </p:nvCxnSpPr>
          <p:spPr>
            <a:xfrm>
              <a:off x="1186" y="3314"/>
              <a:ext cx="0" cy="762"/>
            </a:xfrm>
            <a:prstGeom prst="straightConnector1">
              <a:avLst/>
            </a:prstGeom>
            <a:noFill/>
            <a:ln cap="flat" cmpd="sng" w="38100">
              <a:solidFill>
                <a:srgbClr val="008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57" name="Google Shape;157;p17"/>
            <p:cNvCxnSpPr/>
            <p:nvPr/>
          </p:nvCxnSpPr>
          <p:spPr>
            <a:xfrm>
              <a:off x="1394" y="3312"/>
              <a:ext cx="0" cy="762"/>
            </a:xfrm>
            <a:prstGeom prst="straightConnector1">
              <a:avLst/>
            </a:prstGeom>
            <a:noFill/>
            <a:ln cap="flat" cmpd="sng" w="38100">
              <a:solidFill>
                <a:srgbClr val="008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58" name="Google Shape;158;p17"/>
            <p:cNvCxnSpPr/>
            <p:nvPr/>
          </p:nvCxnSpPr>
          <p:spPr>
            <a:xfrm>
              <a:off x="1595" y="3310"/>
              <a:ext cx="0" cy="762"/>
            </a:xfrm>
            <a:prstGeom prst="straightConnector1">
              <a:avLst/>
            </a:prstGeom>
            <a:noFill/>
            <a:ln cap="flat" cmpd="sng" w="38100">
              <a:solidFill>
                <a:srgbClr val="008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59" name="Google Shape;159;p17"/>
            <p:cNvCxnSpPr/>
            <p:nvPr/>
          </p:nvCxnSpPr>
          <p:spPr>
            <a:xfrm>
              <a:off x="1810" y="3308"/>
              <a:ext cx="0" cy="762"/>
            </a:xfrm>
            <a:prstGeom prst="straightConnector1">
              <a:avLst/>
            </a:prstGeom>
            <a:noFill/>
            <a:ln cap="flat" cmpd="sng" w="38100">
              <a:solidFill>
                <a:srgbClr val="008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0" name="Google Shape;160;p17"/>
            <p:cNvCxnSpPr/>
            <p:nvPr/>
          </p:nvCxnSpPr>
          <p:spPr>
            <a:xfrm>
              <a:off x="2032" y="3306"/>
              <a:ext cx="0" cy="762"/>
            </a:xfrm>
            <a:prstGeom prst="straightConnector1">
              <a:avLst/>
            </a:prstGeom>
            <a:noFill/>
            <a:ln cap="flat" cmpd="sng" w="38100">
              <a:solidFill>
                <a:srgbClr val="008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61" name="Google Shape;161;p17"/>
          <p:cNvSpPr/>
          <p:nvPr/>
        </p:nvSpPr>
        <p:spPr>
          <a:xfrm>
            <a:off x="3975100" y="2260600"/>
            <a:ext cx="2651125" cy="660400"/>
          </a:xfrm>
          <a:prstGeom prst="rect">
            <a:avLst/>
          </a:prstGeom>
          <a:gradFill>
            <a:gsLst>
              <a:gs pos="0">
                <a:srgbClr val="B30000"/>
              </a:gs>
              <a:gs pos="100000">
                <a:srgbClr val="FF0000"/>
              </a:gs>
            </a:gsLst>
            <a:lin ang="1890000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7"/>
          <p:cNvSpPr txBox="1"/>
          <p:nvPr/>
        </p:nvSpPr>
        <p:spPr>
          <a:xfrm>
            <a:off x="4775200" y="2363788"/>
            <a:ext cx="9302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North</a:t>
            </a:r>
            <a:endParaRPr/>
          </a:p>
        </p:txBody>
      </p:sp>
      <p:grpSp>
        <p:nvGrpSpPr>
          <p:cNvPr id="163" name="Google Shape;163;p17"/>
          <p:cNvGrpSpPr/>
          <p:nvPr/>
        </p:nvGrpSpPr>
        <p:grpSpPr>
          <a:xfrm>
            <a:off x="8918575" y="3130550"/>
            <a:ext cx="196850" cy="196850"/>
            <a:chOff x="1426" y="3606"/>
            <a:chExt cx="124" cy="124"/>
          </a:xfrm>
        </p:grpSpPr>
        <p:sp>
          <p:nvSpPr>
            <p:cNvPr id="164" name="Google Shape;164;p17"/>
            <p:cNvSpPr/>
            <p:nvPr/>
          </p:nvSpPr>
          <p:spPr>
            <a:xfrm>
              <a:off x="1426" y="3606"/>
              <a:ext cx="124" cy="124"/>
            </a:xfrm>
            <a:prstGeom prst="ellipse">
              <a:avLst/>
            </a:prstGeom>
            <a:solidFill>
              <a:srgbClr val="FFCC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5" name="Google Shape;165;p17"/>
            <p:cNvGrpSpPr/>
            <p:nvPr/>
          </p:nvGrpSpPr>
          <p:grpSpPr>
            <a:xfrm>
              <a:off x="1438" y="3621"/>
              <a:ext cx="90" cy="90"/>
              <a:chOff x="1253" y="3257"/>
              <a:chExt cx="124" cy="124"/>
            </a:xfrm>
          </p:grpSpPr>
          <p:cxnSp>
            <p:nvCxnSpPr>
              <p:cNvPr id="166" name="Google Shape;166;p17"/>
              <p:cNvCxnSpPr/>
              <p:nvPr/>
            </p:nvCxnSpPr>
            <p:spPr>
              <a:xfrm>
                <a:off x="1317" y="3257"/>
                <a:ext cx="0" cy="124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7" name="Google Shape;167;p17"/>
              <p:cNvCxnSpPr/>
              <p:nvPr/>
            </p:nvCxnSpPr>
            <p:spPr>
              <a:xfrm rot="10800000">
                <a:off x="1315" y="3255"/>
                <a:ext cx="0" cy="124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68" name="Google Shape;168;p17"/>
          <p:cNvGrpSpPr/>
          <p:nvPr/>
        </p:nvGrpSpPr>
        <p:grpSpPr>
          <a:xfrm>
            <a:off x="830263" y="5924550"/>
            <a:ext cx="7464425" cy="874713"/>
            <a:chOff x="523" y="3740"/>
            <a:chExt cx="4702" cy="551"/>
          </a:xfrm>
        </p:grpSpPr>
        <p:sp>
          <p:nvSpPr>
            <p:cNvPr id="169" name="Google Shape;169;p17"/>
            <p:cNvSpPr txBox="1"/>
            <p:nvPr/>
          </p:nvSpPr>
          <p:spPr>
            <a:xfrm>
              <a:off x="3393" y="3773"/>
              <a:ext cx="1832" cy="51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magnetic force on a moving charge</a:t>
              </a:r>
              <a:endParaRPr/>
            </a:p>
          </p:txBody>
        </p:sp>
        <p:sp>
          <p:nvSpPr>
            <p:cNvPr id="170" name="Google Shape;170;p17"/>
            <p:cNvSpPr/>
            <p:nvPr/>
          </p:nvSpPr>
          <p:spPr>
            <a:xfrm>
              <a:off x="523" y="3775"/>
              <a:ext cx="4701" cy="515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17"/>
            <p:cNvSpPr txBox="1"/>
            <p:nvPr/>
          </p:nvSpPr>
          <p:spPr>
            <a:xfrm>
              <a:off x="663" y="3740"/>
              <a:ext cx="196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qvB</a:t>
              </a:r>
              <a:r>
                <a:rPr baseline="-25000"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sin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φ</a:t>
              </a:r>
              <a:endParaRPr/>
            </a:p>
          </p:txBody>
        </p:sp>
        <p:sp>
          <p:nvSpPr>
            <p:cNvPr id="172" name="Google Shape;172;p17"/>
            <p:cNvSpPr txBox="1"/>
            <p:nvPr/>
          </p:nvSpPr>
          <p:spPr>
            <a:xfrm>
              <a:off x="893" y="3944"/>
              <a:ext cx="2619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</a:rPr>
                <a:t>where </a:t>
              </a:r>
              <a:r>
                <a:rPr i="1" lang="en-US" sz="2000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</a:rPr>
                <a:t>φ</a:t>
              </a:r>
              <a:r>
                <a:rPr lang="en-US" sz="2000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</a:rPr>
                <a:t> is angle between </a:t>
              </a:r>
              <a:r>
                <a:rPr b="1" lang="en-US" sz="2000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lang="en-US" sz="2000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</a:rPr>
                <a:t> and </a:t>
              </a:r>
              <a:r>
                <a:rPr b="1" lang="en-US" sz="2000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3" name="Google Shape;173;p17"/>
          <p:cNvSpPr/>
          <p:nvPr/>
        </p:nvSpPr>
        <p:spPr>
          <a:xfrm>
            <a:off x="685800" y="409575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Topic D: Fields AHL</a:t>
            </a:r>
            <a:b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D.4 – Induction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"/>
          <p:cNvSpPr/>
          <p:nvPr/>
        </p:nvSpPr>
        <p:spPr>
          <a:xfrm>
            <a:off x="685800" y="1354138"/>
            <a:ext cx="7772400" cy="5503862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Induced electromotive force (emf)</a:t>
            </a:r>
            <a:endParaRPr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should thus come as no surprise that moving a piece of wire (a conductor) through a magnetic field produces a magnetic force on the charges in the moving wire: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Don’t forget the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right-hand-rule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/>
          </a:p>
        </p:txBody>
      </p:sp>
      <p:grpSp>
        <p:nvGrpSpPr>
          <p:cNvPr id="179" name="Google Shape;179;p18"/>
          <p:cNvGrpSpPr/>
          <p:nvPr/>
        </p:nvGrpSpPr>
        <p:grpSpPr>
          <a:xfrm>
            <a:off x="-38100" y="3449638"/>
            <a:ext cx="9297988" cy="1636712"/>
            <a:chOff x="-35" y="1784"/>
            <a:chExt cx="5857" cy="1031"/>
          </a:xfrm>
        </p:grpSpPr>
        <p:sp>
          <p:nvSpPr>
            <p:cNvPr id="180" name="Google Shape;180;p18"/>
            <p:cNvSpPr/>
            <p:nvPr/>
          </p:nvSpPr>
          <p:spPr>
            <a:xfrm>
              <a:off x="-35" y="1784"/>
              <a:ext cx="5857" cy="173"/>
            </a:xfrm>
            <a:prstGeom prst="rect">
              <a:avLst/>
            </a:prstGeom>
            <a:gradFill>
              <a:gsLst>
                <a:gs pos="0">
                  <a:srgbClr val="B36B00"/>
                </a:gs>
                <a:gs pos="50000">
                  <a:srgbClr val="FF9900"/>
                </a:gs>
                <a:gs pos="100000">
                  <a:srgbClr val="B36B00"/>
                </a:gs>
              </a:gsLst>
              <a:lin ang="540000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1" name="Google Shape;181;p18"/>
            <p:cNvGrpSpPr/>
            <p:nvPr/>
          </p:nvGrpSpPr>
          <p:grpSpPr>
            <a:xfrm>
              <a:off x="2691" y="1957"/>
              <a:ext cx="205" cy="858"/>
              <a:chOff x="2691" y="1957"/>
              <a:chExt cx="205" cy="858"/>
            </a:xfrm>
          </p:grpSpPr>
          <p:cxnSp>
            <p:nvCxnSpPr>
              <p:cNvPr id="182" name="Google Shape;182;p18"/>
              <p:cNvCxnSpPr/>
              <p:nvPr/>
            </p:nvCxnSpPr>
            <p:spPr>
              <a:xfrm>
                <a:off x="2713" y="1957"/>
                <a:ext cx="0" cy="729"/>
              </a:xfrm>
              <a:prstGeom prst="straightConnector1">
                <a:avLst/>
              </a:prstGeom>
              <a:noFill/>
              <a:ln cap="flat" cmpd="sng" w="57150">
                <a:solidFill>
                  <a:srgbClr val="CC0066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183" name="Google Shape;183;p18"/>
              <p:cNvSpPr txBox="1"/>
              <p:nvPr/>
            </p:nvSpPr>
            <p:spPr>
              <a:xfrm>
                <a:off x="2691" y="2565"/>
                <a:ext cx="205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000">
                    <a:solidFill>
                      <a:srgbClr val="CC0066"/>
                    </a:solidFill>
                    <a:latin typeface="Arial"/>
                    <a:ea typeface="Arial"/>
                    <a:cs typeface="Arial"/>
                    <a:sym typeface="Arial"/>
                  </a:rPr>
                  <a:t>v</a:t>
                </a:r>
                <a:endParaRPr/>
              </a:p>
            </p:txBody>
          </p:sp>
        </p:grpSp>
      </p:grpSp>
      <p:grpSp>
        <p:nvGrpSpPr>
          <p:cNvPr id="184" name="Google Shape;184;p18"/>
          <p:cNvGrpSpPr/>
          <p:nvPr/>
        </p:nvGrpSpPr>
        <p:grpSpPr>
          <a:xfrm>
            <a:off x="5646738" y="3390900"/>
            <a:ext cx="1041400" cy="366713"/>
            <a:chOff x="3546" y="1747"/>
            <a:chExt cx="656" cy="231"/>
          </a:xfrm>
        </p:grpSpPr>
        <p:grpSp>
          <p:nvGrpSpPr>
            <p:cNvPr id="185" name="Google Shape;185;p18"/>
            <p:cNvGrpSpPr/>
            <p:nvPr/>
          </p:nvGrpSpPr>
          <p:grpSpPr>
            <a:xfrm>
              <a:off x="4002" y="1747"/>
              <a:ext cx="200" cy="231"/>
              <a:chOff x="636" y="2794"/>
              <a:chExt cx="200" cy="231"/>
            </a:xfrm>
          </p:grpSpPr>
          <p:sp>
            <p:nvSpPr>
              <p:cNvPr id="186" name="Google Shape;186;p18"/>
              <p:cNvSpPr/>
              <p:nvPr/>
            </p:nvSpPr>
            <p:spPr>
              <a:xfrm>
                <a:off x="653" y="2831"/>
                <a:ext cx="166" cy="166"/>
              </a:xfrm>
              <a:prstGeom prst="ellipse">
                <a:avLst/>
              </a:prstGeom>
              <a:solidFill>
                <a:srgbClr val="FFCCFF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" name="Google Shape;187;p18"/>
              <p:cNvSpPr txBox="1"/>
              <p:nvPr/>
            </p:nvSpPr>
            <p:spPr>
              <a:xfrm>
                <a:off x="636" y="2794"/>
                <a:ext cx="20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+</a:t>
                </a:r>
                <a:endParaRPr/>
              </a:p>
            </p:txBody>
          </p:sp>
        </p:grpSp>
        <p:cxnSp>
          <p:nvCxnSpPr>
            <p:cNvPr id="188" name="Google Shape;188;p18"/>
            <p:cNvCxnSpPr/>
            <p:nvPr/>
          </p:nvCxnSpPr>
          <p:spPr>
            <a:xfrm rot="10800000">
              <a:off x="3546" y="1867"/>
              <a:ext cx="472" cy="0"/>
            </a:xfrm>
            <a:prstGeom prst="straightConnector1">
              <a:avLst/>
            </a:prstGeom>
            <a:noFill/>
            <a:ln cap="flat" cmpd="sng" w="57150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89" name="Google Shape;189;p18"/>
          <p:cNvGrpSpPr/>
          <p:nvPr/>
        </p:nvGrpSpPr>
        <p:grpSpPr>
          <a:xfrm>
            <a:off x="95250" y="3724275"/>
            <a:ext cx="9032875" cy="2798763"/>
            <a:chOff x="164" y="2160"/>
            <a:chExt cx="5690" cy="1763"/>
          </a:xfrm>
        </p:grpSpPr>
        <p:grpSp>
          <p:nvGrpSpPr>
            <p:cNvPr id="190" name="Google Shape;190;p18"/>
            <p:cNvGrpSpPr/>
            <p:nvPr/>
          </p:nvGrpSpPr>
          <p:grpSpPr>
            <a:xfrm>
              <a:off x="983" y="2976"/>
              <a:ext cx="125" cy="125"/>
              <a:chOff x="694" y="2394"/>
              <a:chExt cx="125" cy="125"/>
            </a:xfrm>
          </p:grpSpPr>
          <p:sp>
            <p:nvSpPr>
              <p:cNvPr id="191" name="Google Shape;191;p18"/>
              <p:cNvSpPr/>
              <p:nvPr/>
            </p:nvSpPr>
            <p:spPr>
              <a:xfrm>
                <a:off x="694" y="2394"/>
                <a:ext cx="125" cy="125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" name="Google Shape;192;p18"/>
              <p:cNvSpPr/>
              <p:nvPr/>
            </p:nvSpPr>
            <p:spPr>
              <a:xfrm>
                <a:off x="743" y="2443"/>
                <a:ext cx="29" cy="29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3" name="Google Shape;193;p18"/>
            <p:cNvGrpSpPr/>
            <p:nvPr/>
          </p:nvGrpSpPr>
          <p:grpSpPr>
            <a:xfrm>
              <a:off x="1377" y="2975"/>
              <a:ext cx="125" cy="125"/>
              <a:chOff x="694" y="2394"/>
              <a:chExt cx="125" cy="125"/>
            </a:xfrm>
          </p:grpSpPr>
          <p:sp>
            <p:nvSpPr>
              <p:cNvPr id="194" name="Google Shape;194;p18"/>
              <p:cNvSpPr/>
              <p:nvPr/>
            </p:nvSpPr>
            <p:spPr>
              <a:xfrm>
                <a:off x="694" y="2394"/>
                <a:ext cx="125" cy="125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195;p18"/>
              <p:cNvSpPr/>
              <p:nvPr/>
            </p:nvSpPr>
            <p:spPr>
              <a:xfrm>
                <a:off x="743" y="2443"/>
                <a:ext cx="29" cy="29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6" name="Google Shape;196;p18"/>
            <p:cNvGrpSpPr/>
            <p:nvPr/>
          </p:nvGrpSpPr>
          <p:grpSpPr>
            <a:xfrm>
              <a:off x="974" y="3378"/>
              <a:ext cx="125" cy="125"/>
              <a:chOff x="694" y="2394"/>
              <a:chExt cx="125" cy="125"/>
            </a:xfrm>
          </p:grpSpPr>
          <p:sp>
            <p:nvSpPr>
              <p:cNvPr id="197" name="Google Shape;197;p18"/>
              <p:cNvSpPr/>
              <p:nvPr/>
            </p:nvSpPr>
            <p:spPr>
              <a:xfrm>
                <a:off x="694" y="2394"/>
                <a:ext cx="125" cy="125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p18"/>
              <p:cNvSpPr/>
              <p:nvPr/>
            </p:nvSpPr>
            <p:spPr>
              <a:xfrm>
                <a:off x="743" y="2443"/>
                <a:ext cx="29" cy="29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9" name="Google Shape;199;p18"/>
            <p:cNvGrpSpPr/>
            <p:nvPr/>
          </p:nvGrpSpPr>
          <p:grpSpPr>
            <a:xfrm>
              <a:off x="1368" y="3377"/>
              <a:ext cx="125" cy="125"/>
              <a:chOff x="694" y="2394"/>
              <a:chExt cx="125" cy="125"/>
            </a:xfrm>
          </p:grpSpPr>
          <p:sp>
            <p:nvSpPr>
              <p:cNvPr id="200" name="Google Shape;200;p18"/>
              <p:cNvSpPr/>
              <p:nvPr/>
            </p:nvSpPr>
            <p:spPr>
              <a:xfrm>
                <a:off x="694" y="2394"/>
                <a:ext cx="125" cy="125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201;p18"/>
              <p:cNvSpPr/>
              <p:nvPr/>
            </p:nvSpPr>
            <p:spPr>
              <a:xfrm>
                <a:off x="743" y="2443"/>
                <a:ext cx="29" cy="29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2" name="Google Shape;202;p18"/>
            <p:cNvGrpSpPr/>
            <p:nvPr/>
          </p:nvGrpSpPr>
          <p:grpSpPr>
            <a:xfrm>
              <a:off x="1773" y="2968"/>
              <a:ext cx="125" cy="125"/>
              <a:chOff x="694" y="2394"/>
              <a:chExt cx="125" cy="125"/>
            </a:xfrm>
          </p:grpSpPr>
          <p:sp>
            <p:nvSpPr>
              <p:cNvPr id="203" name="Google Shape;203;p18"/>
              <p:cNvSpPr/>
              <p:nvPr/>
            </p:nvSpPr>
            <p:spPr>
              <a:xfrm>
                <a:off x="694" y="2394"/>
                <a:ext cx="125" cy="125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" name="Google Shape;204;p18"/>
              <p:cNvSpPr/>
              <p:nvPr/>
            </p:nvSpPr>
            <p:spPr>
              <a:xfrm>
                <a:off x="743" y="2443"/>
                <a:ext cx="29" cy="29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5" name="Google Shape;205;p18"/>
            <p:cNvGrpSpPr/>
            <p:nvPr/>
          </p:nvGrpSpPr>
          <p:grpSpPr>
            <a:xfrm>
              <a:off x="2167" y="2967"/>
              <a:ext cx="125" cy="125"/>
              <a:chOff x="694" y="2394"/>
              <a:chExt cx="125" cy="125"/>
            </a:xfrm>
          </p:grpSpPr>
          <p:sp>
            <p:nvSpPr>
              <p:cNvPr id="206" name="Google Shape;206;p18"/>
              <p:cNvSpPr/>
              <p:nvPr/>
            </p:nvSpPr>
            <p:spPr>
              <a:xfrm>
                <a:off x="694" y="2394"/>
                <a:ext cx="125" cy="125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" name="Google Shape;207;p18"/>
              <p:cNvSpPr/>
              <p:nvPr/>
            </p:nvSpPr>
            <p:spPr>
              <a:xfrm>
                <a:off x="743" y="2443"/>
                <a:ext cx="29" cy="29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8" name="Google Shape;208;p18"/>
            <p:cNvGrpSpPr/>
            <p:nvPr/>
          </p:nvGrpSpPr>
          <p:grpSpPr>
            <a:xfrm>
              <a:off x="1773" y="3371"/>
              <a:ext cx="125" cy="125"/>
              <a:chOff x="694" y="2394"/>
              <a:chExt cx="125" cy="125"/>
            </a:xfrm>
          </p:grpSpPr>
          <p:sp>
            <p:nvSpPr>
              <p:cNvPr id="209" name="Google Shape;209;p18"/>
              <p:cNvSpPr/>
              <p:nvPr/>
            </p:nvSpPr>
            <p:spPr>
              <a:xfrm>
                <a:off x="694" y="2394"/>
                <a:ext cx="125" cy="125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" name="Google Shape;210;p18"/>
              <p:cNvSpPr/>
              <p:nvPr/>
            </p:nvSpPr>
            <p:spPr>
              <a:xfrm>
                <a:off x="743" y="2443"/>
                <a:ext cx="29" cy="29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1" name="Google Shape;211;p18"/>
            <p:cNvGrpSpPr/>
            <p:nvPr/>
          </p:nvGrpSpPr>
          <p:grpSpPr>
            <a:xfrm>
              <a:off x="2167" y="3370"/>
              <a:ext cx="125" cy="125"/>
              <a:chOff x="694" y="2394"/>
              <a:chExt cx="125" cy="125"/>
            </a:xfrm>
          </p:grpSpPr>
          <p:sp>
            <p:nvSpPr>
              <p:cNvPr id="212" name="Google Shape;212;p18"/>
              <p:cNvSpPr/>
              <p:nvPr/>
            </p:nvSpPr>
            <p:spPr>
              <a:xfrm>
                <a:off x="694" y="2394"/>
                <a:ext cx="125" cy="125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" name="Google Shape;213;p18"/>
              <p:cNvSpPr/>
              <p:nvPr/>
            </p:nvSpPr>
            <p:spPr>
              <a:xfrm>
                <a:off x="743" y="2443"/>
                <a:ext cx="29" cy="29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4" name="Google Shape;214;p18"/>
            <p:cNvGrpSpPr/>
            <p:nvPr/>
          </p:nvGrpSpPr>
          <p:grpSpPr>
            <a:xfrm>
              <a:off x="2557" y="2967"/>
              <a:ext cx="125" cy="125"/>
              <a:chOff x="694" y="2394"/>
              <a:chExt cx="125" cy="125"/>
            </a:xfrm>
          </p:grpSpPr>
          <p:sp>
            <p:nvSpPr>
              <p:cNvPr id="215" name="Google Shape;215;p18"/>
              <p:cNvSpPr/>
              <p:nvPr/>
            </p:nvSpPr>
            <p:spPr>
              <a:xfrm>
                <a:off x="694" y="2394"/>
                <a:ext cx="125" cy="125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" name="Google Shape;216;p18"/>
              <p:cNvSpPr/>
              <p:nvPr/>
            </p:nvSpPr>
            <p:spPr>
              <a:xfrm>
                <a:off x="743" y="2443"/>
                <a:ext cx="29" cy="29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7" name="Google Shape;217;p18"/>
            <p:cNvGrpSpPr/>
            <p:nvPr/>
          </p:nvGrpSpPr>
          <p:grpSpPr>
            <a:xfrm>
              <a:off x="2951" y="2966"/>
              <a:ext cx="125" cy="125"/>
              <a:chOff x="694" y="2394"/>
              <a:chExt cx="125" cy="125"/>
            </a:xfrm>
          </p:grpSpPr>
          <p:sp>
            <p:nvSpPr>
              <p:cNvPr id="218" name="Google Shape;218;p18"/>
              <p:cNvSpPr/>
              <p:nvPr/>
            </p:nvSpPr>
            <p:spPr>
              <a:xfrm>
                <a:off x="694" y="2394"/>
                <a:ext cx="125" cy="125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" name="Google Shape;219;p18"/>
              <p:cNvSpPr/>
              <p:nvPr/>
            </p:nvSpPr>
            <p:spPr>
              <a:xfrm>
                <a:off x="743" y="2443"/>
                <a:ext cx="29" cy="29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0" name="Google Shape;220;p18"/>
            <p:cNvGrpSpPr/>
            <p:nvPr/>
          </p:nvGrpSpPr>
          <p:grpSpPr>
            <a:xfrm>
              <a:off x="2548" y="3369"/>
              <a:ext cx="125" cy="125"/>
              <a:chOff x="694" y="2394"/>
              <a:chExt cx="125" cy="125"/>
            </a:xfrm>
          </p:grpSpPr>
          <p:sp>
            <p:nvSpPr>
              <p:cNvPr id="221" name="Google Shape;221;p18"/>
              <p:cNvSpPr/>
              <p:nvPr/>
            </p:nvSpPr>
            <p:spPr>
              <a:xfrm>
                <a:off x="694" y="2394"/>
                <a:ext cx="125" cy="125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p18"/>
              <p:cNvSpPr/>
              <p:nvPr/>
            </p:nvSpPr>
            <p:spPr>
              <a:xfrm>
                <a:off x="743" y="2443"/>
                <a:ext cx="29" cy="29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3" name="Google Shape;223;p18"/>
            <p:cNvGrpSpPr/>
            <p:nvPr/>
          </p:nvGrpSpPr>
          <p:grpSpPr>
            <a:xfrm>
              <a:off x="2942" y="3368"/>
              <a:ext cx="125" cy="125"/>
              <a:chOff x="694" y="2394"/>
              <a:chExt cx="125" cy="125"/>
            </a:xfrm>
          </p:grpSpPr>
          <p:sp>
            <p:nvSpPr>
              <p:cNvPr id="224" name="Google Shape;224;p18"/>
              <p:cNvSpPr/>
              <p:nvPr/>
            </p:nvSpPr>
            <p:spPr>
              <a:xfrm>
                <a:off x="694" y="2394"/>
                <a:ext cx="125" cy="125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" name="Google Shape;225;p18"/>
              <p:cNvSpPr/>
              <p:nvPr/>
            </p:nvSpPr>
            <p:spPr>
              <a:xfrm>
                <a:off x="743" y="2443"/>
                <a:ext cx="29" cy="29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6" name="Google Shape;226;p18"/>
            <p:cNvGrpSpPr/>
            <p:nvPr/>
          </p:nvGrpSpPr>
          <p:grpSpPr>
            <a:xfrm>
              <a:off x="3347" y="2959"/>
              <a:ext cx="125" cy="125"/>
              <a:chOff x="694" y="2394"/>
              <a:chExt cx="125" cy="125"/>
            </a:xfrm>
          </p:grpSpPr>
          <p:sp>
            <p:nvSpPr>
              <p:cNvPr id="227" name="Google Shape;227;p18"/>
              <p:cNvSpPr/>
              <p:nvPr/>
            </p:nvSpPr>
            <p:spPr>
              <a:xfrm>
                <a:off x="694" y="2394"/>
                <a:ext cx="125" cy="125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" name="Google Shape;228;p18"/>
              <p:cNvSpPr/>
              <p:nvPr/>
            </p:nvSpPr>
            <p:spPr>
              <a:xfrm>
                <a:off x="743" y="2443"/>
                <a:ext cx="29" cy="29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9" name="Google Shape;229;p18"/>
            <p:cNvGrpSpPr/>
            <p:nvPr/>
          </p:nvGrpSpPr>
          <p:grpSpPr>
            <a:xfrm>
              <a:off x="3741" y="2958"/>
              <a:ext cx="125" cy="125"/>
              <a:chOff x="694" y="2394"/>
              <a:chExt cx="125" cy="125"/>
            </a:xfrm>
          </p:grpSpPr>
          <p:sp>
            <p:nvSpPr>
              <p:cNvPr id="230" name="Google Shape;230;p18"/>
              <p:cNvSpPr/>
              <p:nvPr/>
            </p:nvSpPr>
            <p:spPr>
              <a:xfrm>
                <a:off x="694" y="2394"/>
                <a:ext cx="125" cy="125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" name="Google Shape;231;p18"/>
              <p:cNvSpPr/>
              <p:nvPr/>
            </p:nvSpPr>
            <p:spPr>
              <a:xfrm>
                <a:off x="743" y="2443"/>
                <a:ext cx="29" cy="29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2" name="Google Shape;232;p18"/>
            <p:cNvGrpSpPr/>
            <p:nvPr/>
          </p:nvGrpSpPr>
          <p:grpSpPr>
            <a:xfrm>
              <a:off x="3347" y="3362"/>
              <a:ext cx="125" cy="125"/>
              <a:chOff x="694" y="2394"/>
              <a:chExt cx="125" cy="125"/>
            </a:xfrm>
          </p:grpSpPr>
          <p:sp>
            <p:nvSpPr>
              <p:cNvPr id="233" name="Google Shape;233;p18"/>
              <p:cNvSpPr/>
              <p:nvPr/>
            </p:nvSpPr>
            <p:spPr>
              <a:xfrm>
                <a:off x="694" y="2394"/>
                <a:ext cx="125" cy="125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" name="Google Shape;234;p18"/>
              <p:cNvSpPr/>
              <p:nvPr/>
            </p:nvSpPr>
            <p:spPr>
              <a:xfrm>
                <a:off x="743" y="2443"/>
                <a:ext cx="29" cy="29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5" name="Google Shape;235;p18"/>
            <p:cNvGrpSpPr/>
            <p:nvPr/>
          </p:nvGrpSpPr>
          <p:grpSpPr>
            <a:xfrm>
              <a:off x="3741" y="3361"/>
              <a:ext cx="125" cy="125"/>
              <a:chOff x="694" y="2394"/>
              <a:chExt cx="125" cy="125"/>
            </a:xfrm>
          </p:grpSpPr>
          <p:sp>
            <p:nvSpPr>
              <p:cNvPr id="236" name="Google Shape;236;p18"/>
              <p:cNvSpPr/>
              <p:nvPr/>
            </p:nvSpPr>
            <p:spPr>
              <a:xfrm>
                <a:off x="694" y="2394"/>
                <a:ext cx="125" cy="125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" name="Google Shape;237;p18"/>
              <p:cNvSpPr/>
              <p:nvPr/>
            </p:nvSpPr>
            <p:spPr>
              <a:xfrm>
                <a:off x="743" y="2443"/>
                <a:ext cx="29" cy="29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8" name="Google Shape;238;p18"/>
            <p:cNvGrpSpPr/>
            <p:nvPr/>
          </p:nvGrpSpPr>
          <p:grpSpPr>
            <a:xfrm>
              <a:off x="4139" y="2961"/>
              <a:ext cx="125" cy="125"/>
              <a:chOff x="694" y="2394"/>
              <a:chExt cx="125" cy="125"/>
            </a:xfrm>
          </p:grpSpPr>
          <p:sp>
            <p:nvSpPr>
              <p:cNvPr id="239" name="Google Shape;239;p18"/>
              <p:cNvSpPr/>
              <p:nvPr/>
            </p:nvSpPr>
            <p:spPr>
              <a:xfrm>
                <a:off x="694" y="2394"/>
                <a:ext cx="125" cy="125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" name="Google Shape;240;p18"/>
              <p:cNvSpPr/>
              <p:nvPr/>
            </p:nvSpPr>
            <p:spPr>
              <a:xfrm>
                <a:off x="743" y="2443"/>
                <a:ext cx="29" cy="29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1" name="Google Shape;241;p18"/>
            <p:cNvGrpSpPr/>
            <p:nvPr/>
          </p:nvGrpSpPr>
          <p:grpSpPr>
            <a:xfrm>
              <a:off x="4533" y="2960"/>
              <a:ext cx="125" cy="125"/>
              <a:chOff x="694" y="2394"/>
              <a:chExt cx="125" cy="125"/>
            </a:xfrm>
          </p:grpSpPr>
          <p:sp>
            <p:nvSpPr>
              <p:cNvPr id="242" name="Google Shape;242;p18"/>
              <p:cNvSpPr/>
              <p:nvPr/>
            </p:nvSpPr>
            <p:spPr>
              <a:xfrm>
                <a:off x="694" y="2394"/>
                <a:ext cx="125" cy="125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" name="Google Shape;243;p18"/>
              <p:cNvSpPr/>
              <p:nvPr/>
            </p:nvSpPr>
            <p:spPr>
              <a:xfrm>
                <a:off x="743" y="2443"/>
                <a:ext cx="29" cy="29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4" name="Google Shape;244;p18"/>
            <p:cNvGrpSpPr/>
            <p:nvPr/>
          </p:nvGrpSpPr>
          <p:grpSpPr>
            <a:xfrm>
              <a:off x="4130" y="3363"/>
              <a:ext cx="125" cy="125"/>
              <a:chOff x="694" y="2394"/>
              <a:chExt cx="125" cy="125"/>
            </a:xfrm>
          </p:grpSpPr>
          <p:sp>
            <p:nvSpPr>
              <p:cNvPr id="245" name="Google Shape;245;p18"/>
              <p:cNvSpPr/>
              <p:nvPr/>
            </p:nvSpPr>
            <p:spPr>
              <a:xfrm>
                <a:off x="694" y="2394"/>
                <a:ext cx="125" cy="125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" name="Google Shape;246;p18"/>
              <p:cNvSpPr/>
              <p:nvPr/>
            </p:nvSpPr>
            <p:spPr>
              <a:xfrm>
                <a:off x="743" y="2443"/>
                <a:ext cx="29" cy="29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7" name="Google Shape;247;p18"/>
            <p:cNvGrpSpPr/>
            <p:nvPr/>
          </p:nvGrpSpPr>
          <p:grpSpPr>
            <a:xfrm>
              <a:off x="4524" y="3362"/>
              <a:ext cx="125" cy="125"/>
              <a:chOff x="694" y="2394"/>
              <a:chExt cx="125" cy="125"/>
            </a:xfrm>
          </p:grpSpPr>
          <p:sp>
            <p:nvSpPr>
              <p:cNvPr id="248" name="Google Shape;248;p18"/>
              <p:cNvSpPr/>
              <p:nvPr/>
            </p:nvSpPr>
            <p:spPr>
              <a:xfrm>
                <a:off x="694" y="2394"/>
                <a:ext cx="125" cy="125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" name="Google Shape;249;p18"/>
              <p:cNvSpPr/>
              <p:nvPr/>
            </p:nvSpPr>
            <p:spPr>
              <a:xfrm>
                <a:off x="743" y="2443"/>
                <a:ext cx="29" cy="29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0" name="Google Shape;250;p18"/>
            <p:cNvGrpSpPr/>
            <p:nvPr/>
          </p:nvGrpSpPr>
          <p:grpSpPr>
            <a:xfrm>
              <a:off x="4929" y="2953"/>
              <a:ext cx="125" cy="125"/>
              <a:chOff x="694" y="2394"/>
              <a:chExt cx="125" cy="125"/>
            </a:xfrm>
          </p:grpSpPr>
          <p:sp>
            <p:nvSpPr>
              <p:cNvPr id="251" name="Google Shape;251;p18"/>
              <p:cNvSpPr/>
              <p:nvPr/>
            </p:nvSpPr>
            <p:spPr>
              <a:xfrm>
                <a:off x="694" y="2394"/>
                <a:ext cx="125" cy="125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" name="Google Shape;252;p18"/>
              <p:cNvSpPr/>
              <p:nvPr/>
            </p:nvSpPr>
            <p:spPr>
              <a:xfrm>
                <a:off x="743" y="2443"/>
                <a:ext cx="29" cy="29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3" name="Google Shape;253;p18"/>
            <p:cNvGrpSpPr/>
            <p:nvPr/>
          </p:nvGrpSpPr>
          <p:grpSpPr>
            <a:xfrm>
              <a:off x="5323" y="2952"/>
              <a:ext cx="125" cy="125"/>
              <a:chOff x="694" y="2394"/>
              <a:chExt cx="125" cy="125"/>
            </a:xfrm>
          </p:grpSpPr>
          <p:sp>
            <p:nvSpPr>
              <p:cNvPr id="254" name="Google Shape;254;p18"/>
              <p:cNvSpPr/>
              <p:nvPr/>
            </p:nvSpPr>
            <p:spPr>
              <a:xfrm>
                <a:off x="694" y="2394"/>
                <a:ext cx="125" cy="125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" name="Google Shape;255;p18"/>
              <p:cNvSpPr/>
              <p:nvPr/>
            </p:nvSpPr>
            <p:spPr>
              <a:xfrm>
                <a:off x="743" y="2443"/>
                <a:ext cx="29" cy="29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6" name="Google Shape;256;p18"/>
            <p:cNvGrpSpPr/>
            <p:nvPr/>
          </p:nvGrpSpPr>
          <p:grpSpPr>
            <a:xfrm>
              <a:off x="4929" y="3356"/>
              <a:ext cx="125" cy="125"/>
              <a:chOff x="694" y="2394"/>
              <a:chExt cx="125" cy="125"/>
            </a:xfrm>
          </p:grpSpPr>
          <p:sp>
            <p:nvSpPr>
              <p:cNvPr id="257" name="Google Shape;257;p18"/>
              <p:cNvSpPr/>
              <p:nvPr/>
            </p:nvSpPr>
            <p:spPr>
              <a:xfrm>
                <a:off x="694" y="2394"/>
                <a:ext cx="125" cy="125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p18"/>
              <p:cNvSpPr/>
              <p:nvPr/>
            </p:nvSpPr>
            <p:spPr>
              <a:xfrm>
                <a:off x="743" y="2443"/>
                <a:ext cx="29" cy="29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9" name="Google Shape;259;p18"/>
            <p:cNvGrpSpPr/>
            <p:nvPr/>
          </p:nvGrpSpPr>
          <p:grpSpPr>
            <a:xfrm>
              <a:off x="5323" y="3355"/>
              <a:ext cx="125" cy="125"/>
              <a:chOff x="694" y="2394"/>
              <a:chExt cx="125" cy="125"/>
            </a:xfrm>
          </p:grpSpPr>
          <p:sp>
            <p:nvSpPr>
              <p:cNvPr id="260" name="Google Shape;260;p18"/>
              <p:cNvSpPr/>
              <p:nvPr/>
            </p:nvSpPr>
            <p:spPr>
              <a:xfrm>
                <a:off x="694" y="2394"/>
                <a:ext cx="125" cy="125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" name="Google Shape;261;p18"/>
              <p:cNvSpPr/>
              <p:nvPr/>
            </p:nvSpPr>
            <p:spPr>
              <a:xfrm>
                <a:off x="743" y="2443"/>
                <a:ext cx="29" cy="29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2" name="Google Shape;262;p18"/>
            <p:cNvGrpSpPr/>
            <p:nvPr/>
          </p:nvGrpSpPr>
          <p:grpSpPr>
            <a:xfrm>
              <a:off x="5729" y="2954"/>
              <a:ext cx="125" cy="125"/>
              <a:chOff x="694" y="2394"/>
              <a:chExt cx="125" cy="125"/>
            </a:xfrm>
          </p:grpSpPr>
          <p:sp>
            <p:nvSpPr>
              <p:cNvPr id="263" name="Google Shape;263;p18"/>
              <p:cNvSpPr/>
              <p:nvPr/>
            </p:nvSpPr>
            <p:spPr>
              <a:xfrm>
                <a:off x="694" y="2394"/>
                <a:ext cx="125" cy="125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" name="Google Shape;264;p18"/>
              <p:cNvSpPr/>
              <p:nvPr/>
            </p:nvSpPr>
            <p:spPr>
              <a:xfrm>
                <a:off x="743" y="2443"/>
                <a:ext cx="29" cy="29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5" name="Google Shape;265;p18"/>
            <p:cNvGrpSpPr/>
            <p:nvPr/>
          </p:nvGrpSpPr>
          <p:grpSpPr>
            <a:xfrm>
              <a:off x="5720" y="3356"/>
              <a:ext cx="125" cy="125"/>
              <a:chOff x="694" y="2394"/>
              <a:chExt cx="125" cy="125"/>
            </a:xfrm>
          </p:grpSpPr>
          <p:sp>
            <p:nvSpPr>
              <p:cNvPr id="266" name="Google Shape;266;p18"/>
              <p:cNvSpPr/>
              <p:nvPr/>
            </p:nvSpPr>
            <p:spPr>
              <a:xfrm>
                <a:off x="694" y="2394"/>
                <a:ext cx="125" cy="125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" name="Google Shape;267;p18"/>
              <p:cNvSpPr/>
              <p:nvPr/>
            </p:nvSpPr>
            <p:spPr>
              <a:xfrm>
                <a:off x="743" y="2443"/>
                <a:ext cx="29" cy="29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8" name="Google Shape;268;p18"/>
            <p:cNvGrpSpPr/>
            <p:nvPr/>
          </p:nvGrpSpPr>
          <p:grpSpPr>
            <a:xfrm>
              <a:off x="180" y="2981"/>
              <a:ext cx="125" cy="125"/>
              <a:chOff x="694" y="2394"/>
              <a:chExt cx="125" cy="125"/>
            </a:xfrm>
          </p:grpSpPr>
          <p:sp>
            <p:nvSpPr>
              <p:cNvPr id="269" name="Google Shape;269;p18"/>
              <p:cNvSpPr/>
              <p:nvPr/>
            </p:nvSpPr>
            <p:spPr>
              <a:xfrm>
                <a:off x="694" y="2394"/>
                <a:ext cx="125" cy="125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" name="Google Shape;270;p18"/>
              <p:cNvSpPr/>
              <p:nvPr/>
            </p:nvSpPr>
            <p:spPr>
              <a:xfrm>
                <a:off x="743" y="2443"/>
                <a:ext cx="29" cy="29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1" name="Google Shape;271;p18"/>
            <p:cNvGrpSpPr/>
            <p:nvPr/>
          </p:nvGrpSpPr>
          <p:grpSpPr>
            <a:xfrm>
              <a:off x="171" y="3383"/>
              <a:ext cx="125" cy="125"/>
              <a:chOff x="694" y="2394"/>
              <a:chExt cx="125" cy="125"/>
            </a:xfrm>
          </p:grpSpPr>
          <p:sp>
            <p:nvSpPr>
              <p:cNvPr id="272" name="Google Shape;272;p18"/>
              <p:cNvSpPr/>
              <p:nvPr/>
            </p:nvSpPr>
            <p:spPr>
              <a:xfrm>
                <a:off x="694" y="2394"/>
                <a:ext cx="125" cy="125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" name="Google Shape;273;p18"/>
              <p:cNvSpPr/>
              <p:nvPr/>
            </p:nvSpPr>
            <p:spPr>
              <a:xfrm>
                <a:off x="743" y="2443"/>
                <a:ext cx="29" cy="29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4" name="Google Shape;274;p18"/>
            <p:cNvGrpSpPr/>
            <p:nvPr/>
          </p:nvGrpSpPr>
          <p:grpSpPr>
            <a:xfrm>
              <a:off x="576" y="2974"/>
              <a:ext cx="125" cy="125"/>
              <a:chOff x="694" y="2394"/>
              <a:chExt cx="125" cy="125"/>
            </a:xfrm>
          </p:grpSpPr>
          <p:sp>
            <p:nvSpPr>
              <p:cNvPr id="275" name="Google Shape;275;p18"/>
              <p:cNvSpPr/>
              <p:nvPr/>
            </p:nvSpPr>
            <p:spPr>
              <a:xfrm>
                <a:off x="694" y="2394"/>
                <a:ext cx="125" cy="125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" name="Google Shape;276;p18"/>
              <p:cNvSpPr/>
              <p:nvPr/>
            </p:nvSpPr>
            <p:spPr>
              <a:xfrm>
                <a:off x="743" y="2443"/>
                <a:ext cx="29" cy="29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7" name="Google Shape;277;p18"/>
            <p:cNvGrpSpPr/>
            <p:nvPr/>
          </p:nvGrpSpPr>
          <p:grpSpPr>
            <a:xfrm>
              <a:off x="576" y="3377"/>
              <a:ext cx="125" cy="125"/>
              <a:chOff x="694" y="2394"/>
              <a:chExt cx="125" cy="125"/>
            </a:xfrm>
          </p:grpSpPr>
          <p:sp>
            <p:nvSpPr>
              <p:cNvPr id="278" name="Google Shape;278;p18"/>
              <p:cNvSpPr/>
              <p:nvPr/>
            </p:nvSpPr>
            <p:spPr>
              <a:xfrm>
                <a:off x="694" y="2394"/>
                <a:ext cx="125" cy="125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9" name="Google Shape;279;p18"/>
              <p:cNvSpPr/>
              <p:nvPr/>
            </p:nvSpPr>
            <p:spPr>
              <a:xfrm>
                <a:off x="743" y="2443"/>
                <a:ext cx="29" cy="29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0" name="Google Shape;280;p18"/>
            <p:cNvGrpSpPr/>
            <p:nvPr/>
          </p:nvGrpSpPr>
          <p:grpSpPr>
            <a:xfrm>
              <a:off x="969" y="3793"/>
              <a:ext cx="125" cy="125"/>
              <a:chOff x="694" y="2394"/>
              <a:chExt cx="125" cy="125"/>
            </a:xfrm>
          </p:grpSpPr>
          <p:sp>
            <p:nvSpPr>
              <p:cNvPr id="281" name="Google Shape;281;p18"/>
              <p:cNvSpPr/>
              <p:nvPr/>
            </p:nvSpPr>
            <p:spPr>
              <a:xfrm>
                <a:off x="694" y="2394"/>
                <a:ext cx="125" cy="125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2" name="Google Shape;282;p18"/>
              <p:cNvSpPr/>
              <p:nvPr/>
            </p:nvSpPr>
            <p:spPr>
              <a:xfrm>
                <a:off x="743" y="2443"/>
                <a:ext cx="29" cy="29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3" name="Google Shape;283;p18"/>
            <p:cNvGrpSpPr/>
            <p:nvPr/>
          </p:nvGrpSpPr>
          <p:grpSpPr>
            <a:xfrm>
              <a:off x="1363" y="3792"/>
              <a:ext cx="125" cy="125"/>
              <a:chOff x="694" y="2394"/>
              <a:chExt cx="125" cy="125"/>
            </a:xfrm>
          </p:grpSpPr>
          <p:sp>
            <p:nvSpPr>
              <p:cNvPr id="284" name="Google Shape;284;p18"/>
              <p:cNvSpPr/>
              <p:nvPr/>
            </p:nvSpPr>
            <p:spPr>
              <a:xfrm>
                <a:off x="694" y="2394"/>
                <a:ext cx="125" cy="125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5" name="Google Shape;285;p18"/>
              <p:cNvSpPr/>
              <p:nvPr/>
            </p:nvSpPr>
            <p:spPr>
              <a:xfrm>
                <a:off x="743" y="2443"/>
                <a:ext cx="29" cy="29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6" name="Google Shape;286;p18"/>
            <p:cNvGrpSpPr/>
            <p:nvPr/>
          </p:nvGrpSpPr>
          <p:grpSpPr>
            <a:xfrm>
              <a:off x="1759" y="3785"/>
              <a:ext cx="125" cy="125"/>
              <a:chOff x="694" y="2394"/>
              <a:chExt cx="125" cy="125"/>
            </a:xfrm>
          </p:grpSpPr>
          <p:sp>
            <p:nvSpPr>
              <p:cNvPr id="287" name="Google Shape;287;p18"/>
              <p:cNvSpPr/>
              <p:nvPr/>
            </p:nvSpPr>
            <p:spPr>
              <a:xfrm>
                <a:off x="694" y="2394"/>
                <a:ext cx="125" cy="125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" name="Google Shape;288;p18"/>
              <p:cNvSpPr/>
              <p:nvPr/>
            </p:nvSpPr>
            <p:spPr>
              <a:xfrm>
                <a:off x="743" y="2443"/>
                <a:ext cx="29" cy="29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9" name="Google Shape;289;p18"/>
            <p:cNvGrpSpPr/>
            <p:nvPr/>
          </p:nvGrpSpPr>
          <p:grpSpPr>
            <a:xfrm>
              <a:off x="2153" y="3784"/>
              <a:ext cx="125" cy="125"/>
              <a:chOff x="694" y="2394"/>
              <a:chExt cx="125" cy="125"/>
            </a:xfrm>
          </p:grpSpPr>
          <p:sp>
            <p:nvSpPr>
              <p:cNvPr id="290" name="Google Shape;290;p18"/>
              <p:cNvSpPr/>
              <p:nvPr/>
            </p:nvSpPr>
            <p:spPr>
              <a:xfrm>
                <a:off x="694" y="2394"/>
                <a:ext cx="125" cy="125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1" name="Google Shape;291;p18"/>
              <p:cNvSpPr/>
              <p:nvPr/>
            </p:nvSpPr>
            <p:spPr>
              <a:xfrm>
                <a:off x="743" y="2443"/>
                <a:ext cx="29" cy="29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2" name="Google Shape;292;p18"/>
            <p:cNvGrpSpPr/>
            <p:nvPr/>
          </p:nvGrpSpPr>
          <p:grpSpPr>
            <a:xfrm>
              <a:off x="2543" y="3784"/>
              <a:ext cx="125" cy="125"/>
              <a:chOff x="694" y="2394"/>
              <a:chExt cx="125" cy="125"/>
            </a:xfrm>
          </p:grpSpPr>
          <p:sp>
            <p:nvSpPr>
              <p:cNvPr id="293" name="Google Shape;293;p18"/>
              <p:cNvSpPr/>
              <p:nvPr/>
            </p:nvSpPr>
            <p:spPr>
              <a:xfrm>
                <a:off x="694" y="2394"/>
                <a:ext cx="125" cy="125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4" name="Google Shape;294;p18"/>
              <p:cNvSpPr/>
              <p:nvPr/>
            </p:nvSpPr>
            <p:spPr>
              <a:xfrm>
                <a:off x="743" y="2443"/>
                <a:ext cx="29" cy="29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5" name="Google Shape;295;p18"/>
            <p:cNvGrpSpPr/>
            <p:nvPr/>
          </p:nvGrpSpPr>
          <p:grpSpPr>
            <a:xfrm>
              <a:off x="2937" y="3783"/>
              <a:ext cx="125" cy="125"/>
              <a:chOff x="694" y="2394"/>
              <a:chExt cx="125" cy="125"/>
            </a:xfrm>
          </p:grpSpPr>
          <p:sp>
            <p:nvSpPr>
              <p:cNvPr id="296" name="Google Shape;296;p18"/>
              <p:cNvSpPr/>
              <p:nvPr/>
            </p:nvSpPr>
            <p:spPr>
              <a:xfrm>
                <a:off x="694" y="2394"/>
                <a:ext cx="125" cy="125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" name="Google Shape;297;p18"/>
              <p:cNvSpPr/>
              <p:nvPr/>
            </p:nvSpPr>
            <p:spPr>
              <a:xfrm>
                <a:off x="743" y="2443"/>
                <a:ext cx="29" cy="29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8" name="Google Shape;298;p18"/>
            <p:cNvGrpSpPr/>
            <p:nvPr/>
          </p:nvGrpSpPr>
          <p:grpSpPr>
            <a:xfrm>
              <a:off x="3333" y="3776"/>
              <a:ext cx="125" cy="125"/>
              <a:chOff x="694" y="2394"/>
              <a:chExt cx="125" cy="125"/>
            </a:xfrm>
          </p:grpSpPr>
          <p:sp>
            <p:nvSpPr>
              <p:cNvPr id="299" name="Google Shape;299;p18"/>
              <p:cNvSpPr/>
              <p:nvPr/>
            </p:nvSpPr>
            <p:spPr>
              <a:xfrm>
                <a:off x="694" y="2394"/>
                <a:ext cx="125" cy="125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" name="Google Shape;300;p18"/>
              <p:cNvSpPr/>
              <p:nvPr/>
            </p:nvSpPr>
            <p:spPr>
              <a:xfrm>
                <a:off x="743" y="2443"/>
                <a:ext cx="29" cy="29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01" name="Google Shape;301;p18"/>
            <p:cNvGrpSpPr/>
            <p:nvPr/>
          </p:nvGrpSpPr>
          <p:grpSpPr>
            <a:xfrm>
              <a:off x="3727" y="3775"/>
              <a:ext cx="125" cy="125"/>
              <a:chOff x="694" y="2394"/>
              <a:chExt cx="125" cy="125"/>
            </a:xfrm>
          </p:grpSpPr>
          <p:sp>
            <p:nvSpPr>
              <p:cNvPr id="302" name="Google Shape;302;p18"/>
              <p:cNvSpPr/>
              <p:nvPr/>
            </p:nvSpPr>
            <p:spPr>
              <a:xfrm>
                <a:off x="694" y="2394"/>
                <a:ext cx="125" cy="125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3" name="Google Shape;303;p18"/>
              <p:cNvSpPr/>
              <p:nvPr/>
            </p:nvSpPr>
            <p:spPr>
              <a:xfrm>
                <a:off x="743" y="2443"/>
                <a:ext cx="29" cy="29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04" name="Google Shape;304;p18"/>
            <p:cNvGrpSpPr/>
            <p:nvPr/>
          </p:nvGrpSpPr>
          <p:grpSpPr>
            <a:xfrm>
              <a:off x="4125" y="3778"/>
              <a:ext cx="125" cy="125"/>
              <a:chOff x="694" y="2394"/>
              <a:chExt cx="125" cy="125"/>
            </a:xfrm>
          </p:grpSpPr>
          <p:sp>
            <p:nvSpPr>
              <p:cNvPr id="305" name="Google Shape;305;p18"/>
              <p:cNvSpPr/>
              <p:nvPr/>
            </p:nvSpPr>
            <p:spPr>
              <a:xfrm>
                <a:off x="694" y="2394"/>
                <a:ext cx="125" cy="125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6" name="Google Shape;306;p18"/>
              <p:cNvSpPr/>
              <p:nvPr/>
            </p:nvSpPr>
            <p:spPr>
              <a:xfrm>
                <a:off x="743" y="2443"/>
                <a:ext cx="29" cy="29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07" name="Google Shape;307;p18"/>
            <p:cNvGrpSpPr/>
            <p:nvPr/>
          </p:nvGrpSpPr>
          <p:grpSpPr>
            <a:xfrm>
              <a:off x="4519" y="3777"/>
              <a:ext cx="125" cy="125"/>
              <a:chOff x="694" y="2394"/>
              <a:chExt cx="125" cy="125"/>
            </a:xfrm>
          </p:grpSpPr>
          <p:sp>
            <p:nvSpPr>
              <p:cNvPr id="308" name="Google Shape;308;p18"/>
              <p:cNvSpPr/>
              <p:nvPr/>
            </p:nvSpPr>
            <p:spPr>
              <a:xfrm>
                <a:off x="694" y="2394"/>
                <a:ext cx="125" cy="125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" name="Google Shape;309;p18"/>
              <p:cNvSpPr/>
              <p:nvPr/>
            </p:nvSpPr>
            <p:spPr>
              <a:xfrm>
                <a:off x="743" y="2443"/>
                <a:ext cx="29" cy="29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0" name="Google Shape;310;p18"/>
            <p:cNvGrpSpPr/>
            <p:nvPr/>
          </p:nvGrpSpPr>
          <p:grpSpPr>
            <a:xfrm>
              <a:off x="4915" y="3770"/>
              <a:ext cx="125" cy="125"/>
              <a:chOff x="694" y="2394"/>
              <a:chExt cx="125" cy="125"/>
            </a:xfrm>
          </p:grpSpPr>
          <p:sp>
            <p:nvSpPr>
              <p:cNvPr id="311" name="Google Shape;311;p18"/>
              <p:cNvSpPr/>
              <p:nvPr/>
            </p:nvSpPr>
            <p:spPr>
              <a:xfrm>
                <a:off x="694" y="2394"/>
                <a:ext cx="125" cy="125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" name="Google Shape;312;p18"/>
              <p:cNvSpPr/>
              <p:nvPr/>
            </p:nvSpPr>
            <p:spPr>
              <a:xfrm>
                <a:off x="743" y="2443"/>
                <a:ext cx="29" cy="29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3" name="Google Shape;313;p18"/>
            <p:cNvGrpSpPr/>
            <p:nvPr/>
          </p:nvGrpSpPr>
          <p:grpSpPr>
            <a:xfrm>
              <a:off x="5309" y="3769"/>
              <a:ext cx="125" cy="125"/>
              <a:chOff x="694" y="2394"/>
              <a:chExt cx="125" cy="125"/>
            </a:xfrm>
          </p:grpSpPr>
          <p:sp>
            <p:nvSpPr>
              <p:cNvPr id="314" name="Google Shape;314;p18"/>
              <p:cNvSpPr/>
              <p:nvPr/>
            </p:nvSpPr>
            <p:spPr>
              <a:xfrm>
                <a:off x="694" y="2394"/>
                <a:ext cx="125" cy="125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" name="Google Shape;315;p18"/>
              <p:cNvSpPr/>
              <p:nvPr/>
            </p:nvSpPr>
            <p:spPr>
              <a:xfrm>
                <a:off x="743" y="2443"/>
                <a:ext cx="29" cy="29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6" name="Google Shape;316;p18"/>
            <p:cNvGrpSpPr/>
            <p:nvPr/>
          </p:nvGrpSpPr>
          <p:grpSpPr>
            <a:xfrm>
              <a:off x="5715" y="3771"/>
              <a:ext cx="125" cy="125"/>
              <a:chOff x="694" y="2394"/>
              <a:chExt cx="125" cy="125"/>
            </a:xfrm>
          </p:grpSpPr>
          <p:sp>
            <p:nvSpPr>
              <p:cNvPr id="317" name="Google Shape;317;p18"/>
              <p:cNvSpPr/>
              <p:nvPr/>
            </p:nvSpPr>
            <p:spPr>
              <a:xfrm>
                <a:off x="694" y="2394"/>
                <a:ext cx="125" cy="125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" name="Google Shape;318;p18"/>
              <p:cNvSpPr/>
              <p:nvPr/>
            </p:nvSpPr>
            <p:spPr>
              <a:xfrm>
                <a:off x="743" y="2443"/>
                <a:ext cx="29" cy="29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9" name="Google Shape;319;p18"/>
            <p:cNvGrpSpPr/>
            <p:nvPr/>
          </p:nvGrpSpPr>
          <p:grpSpPr>
            <a:xfrm>
              <a:off x="166" y="3798"/>
              <a:ext cx="125" cy="125"/>
              <a:chOff x="694" y="2394"/>
              <a:chExt cx="125" cy="125"/>
            </a:xfrm>
          </p:grpSpPr>
          <p:sp>
            <p:nvSpPr>
              <p:cNvPr id="320" name="Google Shape;320;p18"/>
              <p:cNvSpPr/>
              <p:nvPr/>
            </p:nvSpPr>
            <p:spPr>
              <a:xfrm>
                <a:off x="694" y="2394"/>
                <a:ext cx="125" cy="125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1" name="Google Shape;321;p18"/>
              <p:cNvSpPr/>
              <p:nvPr/>
            </p:nvSpPr>
            <p:spPr>
              <a:xfrm>
                <a:off x="743" y="2443"/>
                <a:ext cx="29" cy="29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2" name="Google Shape;322;p18"/>
            <p:cNvGrpSpPr/>
            <p:nvPr/>
          </p:nvGrpSpPr>
          <p:grpSpPr>
            <a:xfrm>
              <a:off x="562" y="3791"/>
              <a:ext cx="125" cy="125"/>
              <a:chOff x="694" y="2394"/>
              <a:chExt cx="125" cy="125"/>
            </a:xfrm>
          </p:grpSpPr>
          <p:sp>
            <p:nvSpPr>
              <p:cNvPr id="323" name="Google Shape;323;p18"/>
              <p:cNvSpPr/>
              <p:nvPr/>
            </p:nvSpPr>
            <p:spPr>
              <a:xfrm>
                <a:off x="694" y="2394"/>
                <a:ext cx="125" cy="125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" name="Google Shape;324;p18"/>
              <p:cNvSpPr/>
              <p:nvPr/>
            </p:nvSpPr>
            <p:spPr>
              <a:xfrm>
                <a:off x="743" y="2443"/>
                <a:ext cx="29" cy="29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5" name="Google Shape;325;p18"/>
            <p:cNvGrpSpPr/>
            <p:nvPr/>
          </p:nvGrpSpPr>
          <p:grpSpPr>
            <a:xfrm>
              <a:off x="976" y="2184"/>
              <a:ext cx="125" cy="125"/>
              <a:chOff x="694" y="2394"/>
              <a:chExt cx="125" cy="125"/>
            </a:xfrm>
          </p:grpSpPr>
          <p:sp>
            <p:nvSpPr>
              <p:cNvPr id="326" name="Google Shape;326;p18"/>
              <p:cNvSpPr/>
              <p:nvPr/>
            </p:nvSpPr>
            <p:spPr>
              <a:xfrm>
                <a:off x="694" y="2394"/>
                <a:ext cx="125" cy="125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" name="Google Shape;327;p18"/>
              <p:cNvSpPr/>
              <p:nvPr/>
            </p:nvSpPr>
            <p:spPr>
              <a:xfrm>
                <a:off x="743" y="2443"/>
                <a:ext cx="29" cy="29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8" name="Google Shape;328;p18"/>
            <p:cNvGrpSpPr/>
            <p:nvPr/>
          </p:nvGrpSpPr>
          <p:grpSpPr>
            <a:xfrm>
              <a:off x="1370" y="2183"/>
              <a:ext cx="125" cy="125"/>
              <a:chOff x="694" y="2394"/>
              <a:chExt cx="125" cy="125"/>
            </a:xfrm>
          </p:grpSpPr>
          <p:sp>
            <p:nvSpPr>
              <p:cNvPr id="329" name="Google Shape;329;p18"/>
              <p:cNvSpPr/>
              <p:nvPr/>
            </p:nvSpPr>
            <p:spPr>
              <a:xfrm>
                <a:off x="694" y="2394"/>
                <a:ext cx="125" cy="125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0" name="Google Shape;330;p18"/>
              <p:cNvSpPr/>
              <p:nvPr/>
            </p:nvSpPr>
            <p:spPr>
              <a:xfrm>
                <a:off x="743" y="2443"/>
                <a:ext cx="29" cy="29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1" name="Google Shape;331;p18"/>
            <p:cNvGrpSpPr/>
            <p:nvPr/>
          </p:nvGrpSpPr>
          <p:grpSpPr>
            <a:xfrm>
              <a:off x="967" y="2586"/>
              <a:ext cx="125" cy="125"/>
              <a:chOff x="694" y="2394"/>
              <a:chExt cx="125" cy="125"/>
            </a:xfrm>
          </p:grpSpPr>
          <p:sp>
            <p:nvSpPr>
              <p:cNvPr id="332" name="Google Shape;332;p18"/>
              <p:cNvSpPr/>
              <p:nvPr/>
            </p:nvSpPr>
            <p:spPr>
              <a:xfrm>
                <a:off x="694" y="2394"/>
                <a:ext cx="125" cy="125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" name="Google Shape;333;p18"/>
              <p:cNvSpPr/>
              <p:nvPr/>
            </p:nvSpPr>
            <p:spPr>
              <a:xfrm>
                <a:off x="743" y="2443"/>
                <a:ext cx="29" cy="29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4" name="Google Shape;334;p18"/>
            <p:cNvGrpSpPr/>
            <p:nvPr/>
          </p:nvGrpSpPr>
          <p:grpSpPr>
            <a:xfrm>
              <a:off x="1361" y="2585"/>
              <a:ext cx="125" cy="125"/>
              <a:chOff x="694" y="2394"/>
              <a:chExt cx="125" cy="125"/>
            </a:xfrm>
          </p:grpSpPr>
          <p:sp>
            <p:nvSpPr>
              <p:cNvPr id="335" name="Google Shape;335;p18"/>
              <p:cNvSpPr/>
              <p:nvPr/>
            </p:nvSpPr>
            <p:spPr>
              <a:xfrm>
                <a:off x="694" y="2394"/>
                <a:ext cx="125" cy="125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6" name="Google Shape;336;p18"/>
              <p:cNvSpPr/>
              <p:nvPr/>
            </p:nvSpPr>
            <p:spPr>
              <a:xfrm>
                <a:off x="743" y="2443"/>
                <a:ext cx="29" cy="29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7" name="Google Shape;337;p18"/>
            <p:cNvGrpSpPr/>
            <p:nvPr/>
          </p:nvGrpSpPr>
          <p:grpSpPr>
            <a:xfrm>
              <a:off x="1766" y="2176"/>
              <a:ext cx="125" cy="125"/>
              <a:chOff x="694" y="2394"/>
              <a:chExt cx="125" cy="125"/>
            </a:xfrm>
          </p:grpSpPr>
          <p:sp>
            <p:nvSpPr>
              <p:cNvPr id="338" name="Google Shape;338;p18"/>
              <p:cNvSpPr/>
              <p:nvPr/>
            </p:nvSpPr>
            <p:spPr>
              <a:xfrm>
                <a:off x="694" y="2394"/>
                <a:ext cx="125" cy="125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9" name="Google Shape;339;p18"/>
              <p:cNvSpPr/>
              <p:nvPr/>
            </p:nvSpPr>
            <p:spPr>
              <a:xfrm>
                <a:off x="743" y="2443"/>
                <a:ext cx="29" cy="29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40" name="Google Shape;340;p18"/>
            <p:cNvGrpSpPr/>
            <p:nvPr/>
          </p:nvGrpSpPr>
          <p:grpSpPr>
            <a:xfrm>
              <a:off x="2160" y="2175"/>
              <a:ext cx="125" cy="125"/>
              <a:chOff x="694" y="2394"/>
              <a:chExt cx="125" cy="125"/>
            </a:xfrm>
          </p:grpSpPr>
          <p:sp>
            <p:nvSpPr>
              <p:cNvPr id="341" name="Google Shape;341;p18"/>
              <p:cNvSpPr/>
              <p:nvPr/>
            </p:nvSpPr>
            <p:spPr>
              <a:xfrm>
                <a:off x="694" y="2394"/>
                <a:ext cx="125" cy="125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2" name="Google Shape;342;p18"/>
              <p:cNvSpPr/>
              <p:nvPr/>
            </p:nvSpPr>
            <p:spPr>
              <a:xfrm>
                <a:off x="743" y="2443"/>
                <a:ext cx="29" cy="29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43" name="Google Shape;343;p18"/>
            <p:cNvGrpSpPr/>
            <p:nvPr/>
          </p:nvGrpSpPr>
          <p:grpSpPr>
            <a:xfrm>
              <a:off x="1766" y="2579"/>
              <a:ext cx="125" cy="125"/>
              <a:chOff x="694" y="2394"/>
              <a:chExt cx="125" cy="125"/>
            </a:xfrm>
          </p:grpSpPr>
          <p:sp>
            <p:nvSpPr>
              <p:cNvPr id="344" name="Google Shape;344;p18"/>
              <p:cNvSpPr/>
              <p:nvPr/>
            </p:nvSpPr>
            <p:spPr>
              <a:xfrm>
                <a:off x="694" y="2394"/>
                <a:ext cx="125" cy="125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5" name="Google Shape;345;p18"/>
              <p:cNvSpPr/>
              <p:nvPr/>
            </p:nvSpPr>
            <p:spPr>
              <a:xfrm>
                <a:off x="743" y="2443"/>
                <a:ext cx="29" cy="29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46" name="Google Shape;346;p18"/>
            <p:cNvGrpSpPr/>
            <p:nvPr/>
          </p:nvGrpSpPr>
          <p:grpSpPr>
            <a:xfrm>
              <a:off x="2160" y="2578"/>
              <a:ext cx="125" cy="125"/>
              <a:chOff x="694" y="2394"/>
              <a:chExt cx="125" cy="125"/>
            </a:xfrm>
          </p:grpSpPr>
          <p:sp>
            <p:nvSpPr>
              <p:cNvPr id="347" name="Google Shape;347;p18"/>
              <p:cNvSpPr/>
              <p:nvPr/>
            </p:nvSpPr>
            <p:spPr>
              <a:xfrm>
                <a:off x="694" y="2394"/>
                <a:ext cx="125" cy="125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8" name="Google Shape;348;p18"/>
              <p:cNvSpPr/>
              <p:nvPr/>
            </p:nvSpPr>
            <p:spPr>
              <a:xfrm>
                <a:off x="743" y="2443"/>
                <a:ext cx="29" cy="29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49" name="Google Shape;349;p18"/>
            <p:cNvGrpSpPr/>
            <p:nvPr/>
          </p:nvGrpSpPr>
          <p:grpSpPr>
            <a:xfrm>
              <a:off x="2550" y="2175"/>
              <a:ext cx="125" cy="125"/>
              <a:chOff x="694" y="2394"/>
              <a:chExt cx="125" cy="125"/>
            </a:xfrm>
          </p:grpSpPr>
          <p:sp>
            <p:nvSpPr>
              <p:cNvPr id="350" name="Google Shape;350;p18"/>
              <p:cNvSpPr/>
              <p:nvPr/>
            </p:nvSpPr>
            <p:spPr>
              <a:xfrm>
                <a:off x="694" y="2394"/>
                <a:ext cx="125" cy="125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1" name="Google Shape;351;p18"/>
              <p:cNvSpPr/>
              <p:nvPr/>
            </p:nvSpPr>
            <p:spPr>
              <a:xfrm>
                <a:off x="743" y="2443"/>
                <a:ext cx="29" cy="29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2" name="Google Shape;352;p18"/>
            <p:cNvGrpSpPr/>
            <p:nvPr/>
          </p:nvGrpSpPr>
          <p:grpSpPr>
            <a:xfrm>
              <a:off x="2944" y="2174"/>
              <a:ext cx="125" cy="125"/>
              <a:chOff x="694" y="2394"/>
              <a:chExt cx="125" cy="125"/>
            </a:xfrm>
          </p:grpSpPr>
          <p:sp>
            <p:nvSpPr>
              <p:cNvPr id="353" name="Google Shape;353;p18"/>
              <p:cNvSpPr/>
              <p:nvPr/>
            </p:nvSpPr>
            <p:spPr>
              <a:xfrm>
                <a:off x="694" y="2394"/>
                <a:ext cx="125" cy="125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4" name="Google Shape;354;p18"/>
              <p:cNvSpPr/>
              <p:nvPr/>
            </p:nvSpPr>
            <p:spPr>
              <a:xfrm>
                <a:off x="743" y="2443"/>
                <a:ext cx="29" cy="29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5" name="Google Shape;355;p18"/>
            <p:cNvGrpSpPr/>
            <p:nvPr/>
          </p:nvGrpSpPr>
          <p:grpSpPr>
            <a:xfrm>
              <a:off x="2541" y="2577"/>
              <a:ext cx="125" cy="125"/>
              <a:chOff x="694" y="2394"/>
              <a:chExt cx="125" cy="125"/>
            </a:xfrm>
          </p:grpSpPr>
          <p:sp>
            <p:nvSpPr>
              <p:cNvPr id="356" name="Google Shape;356;p18"/>
              <p:cNvSpPr/>
              <p:nvPr/>
            </p:nvSpPr>
            <p:spPr>
              <a:xfrm>
                <a:off x="694" y="2394"/>
                <a:ext cx="125" cy="125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7" name="Google Shape;357;p18"/>
              <p:cNvSpPr/>
              <p:nvPr/>
            </p:nvSpPr>
            <p:spPr>
              <a:xfrm>
                <a:off x="743" y="2443"/>
                <a:ext cx="29" cy="29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8" name="Google Shape;358;p18"/>
            <p:cNvGrpSpPr/>
            <p:nvPr/>
          </p:nvGrpSpPr>
          <p:grpSpPr>
            <a:xfrm>
              <a:off x="2935" y="2576"/>
              <a:ext cx="125" cy="125"/>
              <a:chOff x="694" y="2394"/>
              <a:chExt cx="125" cy="125"/>
            </a:xfrm>
          </p:grpSpPr>
          <p:sp>
            <p:nvSpPr>
              <p:cNvPr id="359" name="Google Shape;359;p18"/>
              <p:cNvSpPr/>
              <p:nvPr/>
            </p:nvSpPr>
            <p:spPr>
              <a:xfrm>
                <a:off x="694" y="2394"/>
                <a:ext cx="125" cy="125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0" name="Google Shape;360;p18"/>
              <p:cNvSpPr/>
              <p:nvPr/>
            </p:nvSpPr>
            <p:spPr>
              <a:xfrm>
                <a:off x="743" y="2443"/>
                <a:ext cx="29" cy="29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61" name="Google Shape;361;p18"/>
            <p:cNvGrpSpPr/>
            <p:nvPr/>
          </p:nvGrpSpPr>
          <p:grpSpPr>
            <a:xfrm>
              <a:off x="3340" y="2167"/>
              <a:ext cx="125" cy="125"/>
              <a:chOff x="694" y="2394"/>
              <a:chExt cx="125" cy="125"/>
            </a:xfrm>
          </p:grpSpPr>
          <p:sp>
            <p:nvSpPr>
              <p:cNvPr id="362" name="Google Shape;362;p18"/>
              <p:cNvSpPr/>
              <p:nvPr/>
            </p:nvSpPr>
            <p:spPr>
              <a:xfrm>
                <a:off x="694" y="2394"/>
                <a:ext cx="125" cy="125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3" name="Google Shape;363;p18"/>
              <p:cNvSpPr/>
              <p:nvPr/>
            </p:nvSpPr>
            <p:spPr>
              <a:xfrm>
                <a:off x="743" y="2443"/>
                <a:ext cx="29" cy="29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64" name="Google Shape;364;p18"/>
            <p:cNvGrpSpPr/>
            <p:nvPr/>
          </p:nvGrpSpPr>
          <p:grpSpPr>
            <a:xfrm>
              <a:off x="3734" y="2166"/>
              <a:ext cx="125" cy="125"/>
              <a:chOff x="694" y="2394"/>
              <a:chExt cx="125" cy="125"/>
            </a:xfrm>
          </p:grpSpPr>
          <p:sp>
            <p:nvSpPr>
              <p:cNvPr id="365" name="Google Shape;365;p18"/>
              <p:cNvSpPr/>
              <p:nvPr/>
            </p:nvSpPr>
            <p:spPr>
              <a:xfrm>
                <a:off x="694" y="2394"/>
                <a:ext cx="125" cy="125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6" name="Google Shape;366;p18"/>
              <p:cNvSpPr/>
              <p:nvPr/>
            </p:nvSpPr>
            <p:spPr>
              <a:xfrm>
                <a:off x="743" y="2443"/>
                <a:ext cx="29" cy="29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67" name="Google Shape;367;p18"/>
            <p:cNvGrpSpPr/>
            <p:nvPr/>
          </p:nvGrpSpPr>
          <p:grpSpPr>
            <a:xfrm>
              <a:off x="3340" y="2570"/>
              <a:ext cx="125" cy="125"/>
              <a:chOff x="694" y="2394"/>
              <a:chExt cx="125" cy="125"/>
            </a:xfrm>
          </p:grpSpPr>
          <p:sp>
            <p:nvSpPr>
              <p:cNvPr id="368" name="Google Shape;368;p18"/>
              <p:cNvSpPr/>
              <p:nvPr/>
            </p:nvSpPr>
            <p:spPr>
              <a:xfrm>
                <a:off x="694" y="2394"/>
                <a:ext cx="125" cy="125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9" name="Google Shape;369;p18"/>
              <p:cNvSpPr/>
              <p:nvPr/>
            </p:nvSpPr>
            <p:spPr>
              <a:xfrm>
                <a:off x="743" y="2443"/>
                <a:ext cx="29" cy="29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0" name="Google Shape;370;p18"/>
            <p:cNvGrpSpPr/>
            <p:nvPr/>
          </p:nvGrpSpPr>
          <p:grpSpPr>
            <a:xfrm>
              <a:off x="3734" y="2569"/>
              <a:ext cx="125" cy="125"/>
              <a:chOff x="694" y="2394"/>
              <a:chExt cx="125" cy="125"/>
            </a:xfrm>
          </p:grpSpPr>
          <p:sp>
            <p:nvSpPr>
              <p:cNvPr id="371" name="Google Shape;371;p18"/>
              <p:cNvSpPr/>
              <p:nvPr/>
            </p:nvSpPr>
            <p:spPr>
              <a:xfrm>
                <a:off x="694" y="2394"/>
                <a:ext cx="125" cy="125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2" name="Google Shape;372;p18"/>
              <p:cNvSpPr/>
              <p:nvPr/>
            </p:nvSpPr>
            <p:spPr>
              <a:xfrm>
                <a:off x="743" y="2443"/>
                <a:ext cx="29" cy="29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3" name="Google Shape;373;p18"/>
            <p:cNvGrpSpPr/>
            <p:nvPr/>
          </p:nvGrpSpPr>
          <p:grpSpPr>
            <a:xfrm>
              <a:off x="4132" y="2169"/>
              <a:ext cx="125" cy="125"/>
              <a:chOff x="694" y="2394"/>
              <a:chExt cx="125" cy="125"/>
            </a:xfrm>
          </p:grpSpPr>
          <p:sp>
            <p:nvSpPr>
              <p:cNvPr id="374" name="Google Shape;374;p18"/>
              <p:cNvSpPr/>
              <p:nvPr/>
            </p:nvSpPr>
            <p:spPr>
              <a:xfrm>
                <a:off x="694" y="2394"/>
                <a:ext cx="125" cy="125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5" name="Google Shape;375;p18"/>
              <p:cNvSpPr/>
              <p:nvPr/>
            </p:nvSpPr>
            <p:spPr>
              <a:xfrm>
                <a:off x="743" y="2443"/>
                <a:ext cx="29" cy="29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6" name="Google Shape;376;p18"/>
            <p:cNvGrpSpPr/>
            <p:nvPr/>
          </p:nvGrpSpPr>
          <p:grpSpPr>
            <a:xfrm>
              <a:off x="4526" y="2168"/>
              <a:ext cx="125" cy="125"/>
              <a:chOff x="694" y="2394"/>
              <a:chExt cx="125" cy="125"/>
            </a:xfrm>
          </p:grpSpPr>
          <p:sp>
            <p:nvSpPr>
              <p:cNvPr id="377" name="Google Shape;377;p18"/>
              <p:cNvSpPr/>
              <p:nvPr/>
            </p:nvSpPr>
            <p:spPr>
              <a:xfrm>
                <a:off x="694" y="2394"/>
                <a:ext cx="125" cy="125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8" name="Google Shape;378;p18"/>
              <p:cNvSpPr/>
              <p:nvPr/>
            </p:nvSpPr>
            <p:spPr>
              <a:xfrm>
                <a:off x="743" y="2443"/>
                <a:ext cx="29" cy="29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9" name="Google Shape;379;p18"/>
            <p:cNvGrpSpPr/>
            <p:nvPr/>
          </p:nvGrpSpPr>
          <p:grpSpPr>
            <a:xfrm>
              <a:off x="4123" y="2571"/>
              <a:ext cx="125" cy="125"/>
              <a:chOff x="694" y="2394"/>
              <a:chExt cx="125" cy="125"/>
            </a:xfrm>
          </p:grpSpPr>
          <p:sp>
            <p:nvSpPr>
              <p:cNvPr id="380" name="Google Shape;380;p18"/>
              <p:cNvSpPr/>
              <p:nvPr/>
            </p:nvSpPr>
            <p:spPr>
              <a:xfrm>
                <a:off x="694" y="2394"/>
                <a:ext cx="125" cy="125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1" name="Google Shape;381;p18"/>
              <p:cNvSpPr/>
              <p:nvPr/>
            </p:nvSpPr>
            <p:spPr>
              <a:xfrm>
                <a:off x="743" y="2443"/>
                <a:ext cx="29" cy="29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2" name="Google Shape;382;p18"/>
            <p:cNvGrpSpPr/>
            <p:nvPr/>
          </p:nvGrpSpPr>
          <p:grpSpPr>
            <a:xfrm>
              <a:off x="4517" y="2570"/>
              <a:ext cx="125" cy="125"/>
              <a:chOff x="694" y="2394"/>
              <a:chExt cx="125" cy="125"/>
            </a:xfrm>
          </p:grpSpPr>
          <p:sp>
            <p:nvSpPr>
              <p:cNvPr id="383" name="Google Shape;383;p18"/>
              <p:cNvSpPr/>
              <p:nvPr/>
            </p:nvSpPr>
            <p:spPr>
              <a:xfrm>
                <a:off x="694" y="2394"/>
                <a:ext cx="125" cy="125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4" name="Google Shape;384;p18"/>
              <p:cNvSpPr/>
              <p:nvPr/>
            </p:nvSpPr>
            <p:spPr>
              <a:xfrm>
                <a:off x="743" y="2443"/>
                <a:ext cx="29" cy="29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5" name="Google Shape;385;p18"/>
            <p:cNvGrpSpPr/>
            <p:nvPr/>
          </p:nvGrpSpPr>
          <p:grpSpPr>
            <a:xfrm>
              <a:off x="4922" y="2161"/>
              <a:ext cx="125" cy="125"/>
              <a:chOff x="694" y="2394"/>
              <a:chExt cx="125" cy="125"/>
            </a:xfrm>
          </p:grpSpPr>
          <p:sp>
            <p:nvSpPr>
              <p:cNvPr id="386" name="Google Shape;386;p18"/>
              <p:cNvSpPr/>
              <p:nvPr/>
            </p:nvSpPr>
            <p:spPr>
              <a:xfrm>
                <a:off x="694" y="2394"/>
                <a:ext cx="125" cy="125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7" name="Google Shape;387;p18"/>
              <p:cNvSpPr/>
              <p:nvPr/>
            </p:nvSpPr>
            <p:spPr>
              <a:xfrm>
                <a:off x="743" y="2443"/>
                <a:ext cx="29" cy="29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8" name="Google Shape;388;p18"/>
            <p:cNvGrpSpPr/>
            <p:nvPr/>
          </p:nvGrpSpPr>
          <p:grpSpPr>
            <a:xfrm>
              <a:off x="5316" y="2160"/>
              <a:ext cx="125" cy="125"/>
              <a:chOff x="694" y="2394"/>
              <a:chExt cx="125" cy="125"/>
            </a:xfrm>
          </p:grpSpPr>
          <p:sp>
            <p:nvSpPr>
              <p:cNvPr id="389" name="Google Shape;389;p18"/>
              <p:cNvSpPr/>
              <p:nvPr/>
            </p:nvSpPr>
            <p:spPr>
              <a:xfrm>
                <a:off x="694" y="2394"/>
                <a:ext cx="125" cy="125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0" name="Google Shape;390;p18"/>
              <p:cNvSpPr/>
              <p:nvPr/>
            </p:nvSpPr>
            <p:spPr>
              <a:xfrm>
                <a:off x="743" y="2443"/>
                <a:ext cx="29" cy="29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1" name="Google Shape;391;p18"/>
            <p:cNvGrpSpPr/>
            <p:nvPr/>
          </p:nvGrpSpPr>
          <p:grpSpPr>
            <a:xfrm>
              <a:off x="4922" y="2564"/>
              <a:ext cx="125" cy="125"/>
              <a:chOff x="694" y="2394"/>
              <a:chExt cx="125" cy="125"/>
            </a:xfrm>
          </p:grpSpPr>
          <p:sp>
            <p:nvSpPr>
              <p:cNvPr id="392" name="Google Shape;392;p18"/>
              <p:cNvSpPr/>
              <p:nvPr/>
            </p:nvSpPr>
            <p:spPr>
              <a:xfrm>
                <a:off x="694" y="2394"/>
                <a:ext cx="125" cy="125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3" name="Google Shape;393;p18"/>
              <p:cNvSpPr/>
              <p:nvPr/>
            </p:nvSpPr>
            <p:spPr>
              <a:xfrm>
                <a:off x="743" y="2443"/>
                <a:ext cx="29" cy="29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4" name="Google Shape;394;p18"/>
            <p:cNvGrpSpPr/>
            <p:nvPr/>
          </p:nvGrpSpPr>
          <p:grpSpPr>
            <a:xfrm>
              <a:off x="5316" y="2563"/>
              <a:ext cx="125" cy="125"/>
              <a:chOff x="694" y="2394"/>
              <a:chExt cx="125" cy="125"/>
            </a:xfrm>
          </p:grpSpPr>
          <p:sp>
            <p:nvSpPr>
              <p:cNvPr id="395" name="Google Shape;395;p18"/>
              <p:cNvSpPr/>
              <p:nvPr/>
            </p:nvSpPr>
            <p:spPr>
              <a:xfrm>
                <a:off x="694" y="2394"/>
                <a:ext cx="125" cy="125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6" name="Google Shape;396;p18"/>
              <p:cNvSpPr/>
              <p:nvPr/>
            </p:nvSpPr>
            <p:spPr>
              <a:xfrm>
                <a:off x="743" y="2443"/>
                <a:ext cx="29" cy="29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7" name="Google Shape;397;p18"/>
            <p:cNvGrpSpPr/>
            <p:nvPr/>
          </p:nvGrpSpPr>
          <p:grpSpPr>
            <a:xfrm>
              <a:off x="5722" y="2162"/>
              <a:ext cx="125" cy="125"/>
              <a:chOff x="694" y="2394"/>
              <a:chExt cx="125" cy="125"/>
            </a:xfrm>
          </p:grpSpPr>
          <p:sp>
            <p:nvSpPr>
              <p:cNvPr id="398" name="Google Shape;398;p18"/>
              <p:cNvSpPr/>
              <p:nvPr/>
            </p:nvSpPr>
            <p:spPr>
              <a:xfrm>
                <a:off x="694" y="2394"/>
                <a:ext cx="125" cy="125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9" name="Google Shape;399;p18"/>
              <p:cNvSpPr/>
              <p:nvPr/>
            </p:nvSpPr>
            <p:spPr>
              <a:xfrm>
                <a:off x="743" y="2443"/>
                <a:ext cx="29" cy="29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0" name="Google Shape;400;p18"/>
            <p:cNvGrpSpPr/>
            <p:nvPr/>
          </p:nvGrpSpPr>
          <p:grpSpPr>
            <a:xfrm>
              <a:off x="5713" y="2564"/>
              <a:ext cx="125" cy="125"/>
              <a:chOff x="694" y="2394"/>
              <a:chExt cx="125" cy="125"/>
            </a:xfrm>
          </p:grpSpPr>
          <p:sp>
            <p:nvSpPr>
              <p:cNvPr id="401" name="Google Shape;401;p18"/>
              <p:cNvSpPr/>
              <p:nvPr/>
            </p:nvSpPr>
            <p:spPr>
              <a:xfrm>
                <a:off x="694" y="2394"/>
                <a:ext cx="125" cy="125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2" name="Google Shape;402;p18"/>
              <p:cNvSpPr/>
              <p:nvPr/>
            </p:nvSpPr>
            <p:spPr>
              <a:xfrm>
                <a:off x="743" y="2443"/>
                <a:ext cx="29" cy="29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3" name="Google Shape;403;p18"/>
            <p:cNvGrpSpPr/>
            <p:nvPr/>
          </p:nvGrpSpPr>
          <p:grpSpPr>
            <a:xfrm>
              <a:off x="173" y="2189"/>
              <a:ext cx="125" cy="125"/>
              <a:chOff x="694" y="2394"/>
              <a:chExt cx="125" cy="125"/>
            </a:xfrm>
          </p:grpSpPr>
          <p:sp>
            <p:nvSpPr>
              <p:cNvPr id="404" name="Google Shape;404;p18"/>
              <p:cNvSpPr/>
              <p:nvPr/>
            </p:nvSpPr>
            <p:spPr>
              <a:xfrm>
                <a:off x="694" y="2394"/>
                <a:ext cx="125" cy="125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5" name="Google Shape;405;p18"/>
              <p:cNvSpPr/>
              <p:nvPr/>
            </p:nvSpPr>
            <p:spPr>
              <a:xfrm>
                <a:off x="743" y="2443"/>
                <a:ext cx="29" cy="29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6" name="Google Shape;406;p18"/>
            <p:cNvGrpSpPr/>
            <p:nvPr/>
          </p:nvGrpSpPr>
          <p:grpSpPr>
            <a:xfrm>
              <a:off x="164" y="2591"/>
              <a:ext cx="125" cy="125"/>
              <a:chOff x="694" y="2394"/>
              <a:chExt cx="125" cy="125"/>
            </a:xfrm>
          </p:grpSpPr>
          <p:sp>
            <p:nvSpPr>
              <p:cNvPr id="407" name="Google Shape;407;p18"/>
              <p:cNvSpPr/>
              <p:nvPr/>
            </p:nvSpPr>
            <p:spPr>
              <a:xfrm>
                <a:off x="694" y="2394"/>
                <a:ext cx="125" cy="125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8" name="Google Shape;408;p18"/>
              <p:cNvSpPr/>
              <p:nvPr/>
            </p:nvSpPr>
            <p:spPr>
              <a:xfrm>
                <a:off x="743" y="2443"/>
                <a:ext cx="29" cy="29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9" name="Google Shape;409;p18"/>
            <p:cNvGrpSpPr/>
            <p:nvPr/>
          </p:nvGrpSpPr>
          <p:grpSpPr>
            <a:xfrm>
              <a:off x="569" y="2182"/>
              <a:ext cx="125" cy="125"/>
              <a:chOff x="694" y="2394"/>
              <a:chExt cx="125" cy="125"/>
            </a:xfrm>
          </p:grpSpPr>
          <p:sp>
            <p:nvSpPr>
              <p:cNvPr id="410" name="Google Shape;410;p18"/>
              <p:cNvSpPr/>
              <p:nvPr/>
            </p:nvSpPr>
            <p:spPr>
              <a:xfrm>
                <a:off x="694" y="2394"/>
                <a:ext cx="125" cy="125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1" name="Google Shape;411;p18"/>
              <p:cNvSpPr/>
              <p:nvPr/>
            </p:nvSpPr>
            <p:spPr>
              <a:xfrm>
                <a:off x="743" y="2443"/>
                <a:ext cx="29" cy="29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2" name="Google Shape;412;p18"/>
            <p:cNvGrpSpPr/>
            <p:nvPr/>
          </p:nvGrpSpPr>
          <p:grpSpPr>
            <a:xfrm>
              <a:off x="569" y="2585"/>
              <a:ext cx="125" cy="125"/>
              <a:chOff x="694" y="2394"/>
              <a:chExt cx="125" cy="125"/>
            </a:xfrm>
          </p:grpSpPr>
          <p:sp>
            <p:nvSpPr>
              <p:cNvPr id="413" name="Google Shape;413;p18"/>
              <p:cNvSpPr/>
              <p:nvPr/>
            </p:nvSpPr>
            <p:spPr>
              <a:xfrm>
                <a:off x="694" y="2394"/>
                <a:ext cx="125" cy="125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4" name="Google Shape;414;p18"/>
              <p:cNvSpPr/>
              <p:nvPr/>
            </p:nvSpPr>
            <p:spPr>
              <a:xfrm>
                <a:off x="743" y="2443"/>
                <a:ext cx="29" cy="29"/>
              </a:xfrm>
              <a:prstGeom prst="ellipse">
                <a:avLst/>
              </a:prstGeom>
              <a:solidFill>
                <a:srgbClr val="008000"/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5" name="Google Shape;415;p18"/>
            <p:cNvSpPr txBox="1"/>
            <p:nvPr/>
          </p:nvSpPr>
          <p:spPr>
            <a:xfrm>
              <a:off x="3049" y="2863"/>
              <a:ext cx="255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08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</p:grpSp>
      <p:sp>
        <p:nvSpPr>
          <p:cNvPr id="416" name="Google Shape;416;p18"/>
          <p:cNvSpPr/>
          <p:nvPr/>
        </p:nvSpPr>
        <p:spPr>
          <a:xfrm>
            <a:off x="685800" y="409575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Topic D: Fields AHL</a:t>
            </a:r>
            <a:b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D.4 – Induction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7" name="Google Shape;41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1724" y="3362632"/>
            <a:ext cx="3201640" cy="3495368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9"/>
          <p:cNvSpPr/>
          <p:nvPr/>
        </p:nvSpPr>
        <p:spPr>
          <a:xfrm>
            <a:off x="685800" y="1354138"/>
            <a:ext cx="7772400" cy="5503862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Induced electromotive force (emf)</a:t>
            </a:r>
            <a:endParaRPr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∙Consider this new experiment: If the north pole of a magnetic is suddenly thrust through a looped   conductor, a current is created.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 or F:	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Current travels                                                  through the circuit only                                                    while the magnet is                                                      moving through the loop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 or F:	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Current                                                           direction depends on                                                     which direction the                                                       magnet is being moved                                                            through the loop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grpSp>
        <p:nvGrpSpPr>
          <p:cNvPr id="423" name="Google Shape;423;p19"/>
          <p:cNvGrpSpPr/>
          <p:nvPr/>
        </p:nvGrpSpPr>
        <p:grpSpPr>
          <a:xfrm>
            <a:off x="7100888" y="4884738"/>
            <a:ext cx="1035050" cy="827087"/>
            <a:chOff x="4100" y="2950"/>
            <a:chExt cx="652" cy="521"/>
          </a:xfrm>
        </p:grpSpPr>
        <p:grpSp>
          <p:nvGrpSpPr>
            <p:cNvPr id="424" name="Google Shape;424;p19"/>
            <p:cNvGrpSpPr/>
            <p:nvPr/>
          </p:nvGrpSpPr>
          <p:grpSpPr>
            <a:xfrm>
              <a:off x="4100" y="2950"/>
              <a:ext cx="652" cy="521"/>
              <a:chOff x="3140" y="3132"/>
              <a:chExt cx="652" cy="521"/>
            </a:xfrm>
          </p:grpSpPr>
          <p:sp>
            <p:nvSpPr>
              <p:cNvPr id="425" name="Google Shape;425;p19"/>
              <p:cNvSpPr/>
              <p:nvPr/>
            </p:nvSpPr>
            <p:spPr>
              <a:xfrm>
                <a:off x="3140" y="3132"/>
                <a:ext cx="652" cy="521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6" name="Google Shape;426;p19"/>
              <p:cNvSpPr/>
              <p:nvPr/>
            </p:nvSpPr>
            <p:spPr>
              <a:xfrm>
                <a:off x="3339" y="3298"/>
                <a:ext cx="261" cy="261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7" name="Google Shape;427;p19"/>
              <p:cNvSpPr txBox="1"/>
              <p:nvPr/>
            </p:nvSpPr>
            <p:spPr>
              <a:xfrm>
                <a:off x="3175" y="3305"/>
                <a:ext cx="178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-</a:t>
                </a:r>
                <a:endParaRPr/>
              </a:p>
            </p:txBody>
          </p:sp>
          <p:sp>
            <p:nvSpPr>
              <p:cNvPr id="428" name="Google Shape;428;p19"/>
              <p:cNvSpPr txBox="1"/>
              <p:nvPr/>
            </p:nvSpPr>
            <p:spPr>
              <a:xfrm>
                <a:off x="3375" y="3162"/>
                <a:ext cx="240" cy="1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0</a:t>
                </a:r>
                <a:endParaRPr/>
              </a:p>
            </p:txBody>
          </p:sp>
          <p:sp>
            <p:nvSpPr>
              <p:cNvPr id="429" name="Google Shape;429;p19"/>
              <p:cNvSpPr txBox="1"/>
              <p:nvPr/>
            </p:nvSpPr>
            <p:spPr>
              <a:xfrm>
                <a:off x="3573" y="3312"/>
                <a:ext cx="178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+</a:t>
                </a:r>
                <a:endParaRPr/>
              </a:p>
            </p:txBody>
          </p:sp>
          <p:sp>
            <p:nvSpPr>
              <p:cNvPr id="430" name="Google Shape;430;p19"/>
              <p:cNvSpPr/>
              <p:nvPr/>
            </p:nvSpPr>
            <p:spPr>
              <a:xfrm>
                <a:off x="3196" y="3573"/>
                <a:ext cx="56" cy="56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1" name="Google Shape;431;p19"/>
              <p:cNvSpPr/>
              <p:nvPr/>
            </p:nvSpPr>
            <p:spPr>
              <a:xfrm>
                <a:off x="3682" y="3573"/>
                <a:ext cx="56" cy="56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2" name="Google Shape;432;p19"/>
            <p:cNvGrpSpPr/>
            <p:nvPr/>
          </p:nvGrpSpPr>
          <p:grpSpPr>
            <a:xfrm>
              <a:off x="4321" y="3134"/>
              <a:ext cx="219" cy="220"/>
              <a:chOff x="3614" y="2770"/>
              <a:chExt cx="219" cy="220"/>
            </a:xfrm>
          </p:grpSpPr>
          <p:sp>
            <p:nvSpPr>
              <p:cNvPr id="433" name="Google Shape;433;p19"/>
              <p:cNvSpPr/>
              <p:nvPr/>
            </p:nvSpPr>
            <p:spPr>
              <a:xfrm>
                <a:off x="3614" y="2770"/>
                <a:ext cx="219" cy="219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34" name="Google Shape;434;p19"/>
              <p:cNvCxnSpPr/>
              <p:nvPr/>
            </p:nvCxnSpPr>
            <p:spPr>
              <a:xfrm rot="10800000">
                <a:off x="3723" y="2770"/>
                <a:ext cx="0" cy="22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</p:grpSp>
      <p:grpSp>
        <p:nvGrpSpPr>
          <p:cNvPr id="435" name="Google Shape;435;p19"/>
          <p:cNvGrpSpPr/>
          <p:nvPr/>
        </p:nvGrpSpPr>
        <p:grpSpPr>
          <a:xfrm>
            <a:off x="5138738" y="2357438"/>
            <a:ext cx="4132262" cy="2922174"/>
            <a:chOff x="2059" y="1289"/>
            <a:chExt cx="2603" cy="1841"/>
          </a:xfrm>
        </p:grpSpPr>
        <p:grpSp>
          <p:nvGrpSpPr>
            <p:cNvPr id="436" name="Google Shape;436;p19"/>
            <p:cNvGrpSpPr/>
            <p:nvPr/>
          </p:nvGrpSpPr>
          <p:grpSpPr>
            <a:xfrm>
              <a:off x="2894" y="1289"/>
              <a:ext cx="1768" cy="987"/>
              <a:chOff x="3525" y="1447"/>
              <a:chExt cx="1768" cy="987"/>
            </a:xfrm>
          </p:grpSpPr>
          <p:grpSp>
            <p:nvGrpSpPr>
              <p:cNvPr id="437" name="Google Shape;437;p19"/>
              <p:cNvGrpSpPr/>
              <p:nvPr/>
            </p:nvGrpSpPr>
            <p:grpSpPr>
              <a:xfrm>
                <a:off x="4183" y="1447"/>
                <a:ext cx="1110" cy="603"/>
                <a:chOff x="3525" y="1831"/>
                <a:chExt cx="1110" cy="603"/>
              </a:xfrm>
            </p:grpSpPr>
            <p:sp>
              <p:nvSpPr>
                <p:cNvPr id="438" name="Google Shape;438;p19"/>
                <p:cNvSpPr/>
                <p:nvPr/>
              </p:nvSpPr>
              <p:spPr>
                <a:xfrm>
                  <a:off x="3525" y="2228"/>
                  <a:ext cx="452" cy="206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9" name="Google Shape;439;p19"/>
                <p:cNvSpPr/>
                <p:nvPr/>
              </p:nvSpPr>
              <p:spPr>
                <a:xfrm>
                  <a:off x="3525" y="1838"/>
                  <a:ext cx="1110" cy="384"/>
                </a:xfrm>
                <a:custGeom>
                  <a:rect b="b" l="l" r="r" t="t"/>
                  <a:pathLst>
                    <a:path extrusionOk="0" h="384" w="1110">
                      <a:moveTo>
                        <a:pt x="0" y="384"/>
                      </a:moveTo>
                      <a:lnTo>
                        <a:pt x="665" y="0"/>
                      </a:lnTo>
                      <a:lnTo>
                        <a:pt x="1110" y="0"/>
                      </a:lnTo>
                      <a:lnTo>
                        <a:pt x="445" y="384"/>
                      </a:lnTo>
                      <a:lnTo>
                        <a:pt x="0" y="38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0" name="Google Shape;440;p19"/>
                <p:cNvSpPr/>
                <p:nvPr/>
              </p:nvSpPr>
              <p:spPr>
                <a:xfrm>
                  <a:off x="3970" y="1831"/>
                  <a:ext cx="665" cy="597"/>
                </a:xfrm>
                <a:custGeom>
                  <a:rect b="b" l="l" r="r" t="t"/>
                  <a:pathLst>
                    <a:path extrusionOk="0" h="597" w="665">
                      <a:moveTo>
                        <a:pt x="0" y="597"/>
                      </a:moveTo>
                      <a:lnTo>
                        <a:pt x="0" y="384"/>
                      </a:lnTo>
                      <a:lnTo>
                        <a:pt x="665" y="0"/>
                      </a:lnTo>
                      <a:lnTo>
                        <a:pt x="665" y="213"/>
                      </a:lnTo>
                      <a:lnTo>
                        <a:pt x="0" y="59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41" name="Google Shape;441;p19"/>
              <p:cNvGrpSpPr/>
              <p:nvPr/>
            </p:nvGrpSpPr>
            <p:grpSpPr>
              <a:xfrm>
                <a:off x="3525" y="1831"/>
                <a:ext cx="1110" cy="603"/>
                <a:chOff x="3525" y="1831"/>
                <a:chExt cx="1110" cy="603"/>
              </a:xfrm>
            </p:grpSpPr>
            <p:sp>
              <p:nvSpPr>
                <p:cNvPr id="442" name="Google Shape;442;p19"/>
                <p:cNvSpPr/>
                <p:nvPr/>
              </p:nvSpPr>
              <p:spPr>
                <a:xfrm>
                  <a:off x="3525" y="2228"/>
                  <a:ext cx="452" cy="206"/>
                </a:xfrm>
                <a:prstGeom prst="rect">
                  <a:avLst/>
                </a:prstGeom>
                <a:solidFill>
                  <a:srgbClr val="FF7C80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3" name="Google Shape;443;p19"/>
                <p:cNvSpPr/>
                <p:nvPr/>
              </p:nvSpPr>
              <p:spPr>
                <a:xfrm>
                  <a:off x="3525" y="1838"/>
                  <a:ext cx="1110" cy="384"/>
                </a:xfrm>
                <a:custGeom>
                  <a:rect b="b" l="l" r="r" t="t"/>
                  <a:pathLst>
                    <a:path extrusionOk="0" h="384" w="1110">
                      <a:moveTo>
                        <a:pt x="0" y="384"/>
                      </a:moveTo>
                      <a:lnTo>
                        <a:pt x="665" y="0"/>
                      </a:lnTo>
                      <a:lnTo>
                        <a:pt x="1110" y="0"/>
                      </a:lnTo>
                      <a:lnTo>
                        <a:pt x="445" y="384"/>
                      </a:lnTo>
                      <a:lnTo>
                        <a:pt x="0" y="384"/>
                      </a:lnTo>
                      <a:close/>
                    </a:path>
                  </a:pathLst>
                </a:custGeom>
                <a:solidFill>
                  <a:srgbClr val="FF7C80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4" name="Google Shape;444;p19"/>
                <p:cNvSpPr/>
                <p:nvPr/>
              </p:nvSpPr>
              <p:spPr>
                <a:xfrm>
                  <a:off x="3970" y="1831"/>
                  <a:ext cx="665" cy="597"/>
                </a:xfrm>
                <a:custGeom>
                  <a:rect b="b" l="l" r="r" t="t"/>
                  <a:pathLst>
                    <a:path extrusionOk="0" h="597" w="665">
                      <a:moveTo>
                        <a:pt x="0" y="597"/>
                      </a:moveTo>
                      <a:lnTo>
                        <a:pt x="0" y="384"/>
                      </a:lnTo>
                      <a:lnTo>
                        <a:pt x="665" y="0"/>
                      </a:lnTo>
                      <a:lnTo>
                        <a:pt x="665" y="213"/>
                      </a:lnTo>
                      <a:lnTo>
                        <a:pt x="0" y="597"/>
                      </a:lnTo>
                      <a:close/>
                    </a:path>
                  </a:pathLst>
                </a:custGeom>
                <a:solidFill>
                  <a:srgbClr val="FF7C80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45" name="Google Shape;445;p19"/>
              <p:cNvSpPr/>
              <p:nvPr/>
            </p:nvSpPr>
            <p:spPr>
              <a:xfrm>
                <a:off x="3703" y="2030"/>
                <a:ext cx="487" cy="139"/>
              </a:xfrm>
              <a:custGeom>
                <a:rect b="b" l="l" r="r" t="t"/>
                <a:pathLst>
                  <a:path extrusionOk="0" h="172" w="603">
                    <a:moveTo>
                      <a:pt x="0" y="172"/>
                    </a:moveTo>
                    <a:lnTo>
                      <a:pt x="274" y="0"/>
                    </a:lnTo>
                    <a:lnTo>
                      <a:pt x="329" y="165"/>
                    </a:lnTo>
                    <a:lnTo>
                      <a:pt x="603" y="7"/>
                    </a:lnTo>
                  </a:path>
                </a:pathLst>
              </a:cu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6" name="Google Shape;446;p19"/>
              <p:cNvSpPr/>
              <p:nvPr/>
            </p:nvSpPr>
            <p:spPr>
              <a:xfrm>
                <a:off x="4662" y="1487"/>
                <a:ext cx="391" cy="181"/>
              </a:xfrm>
              <a:custGeom>
                <a:rect b="b" l="l" r="r" t="t"/>
                <a:pathLst>
                  <a:path extrusionOk="0" h="181" w="391">
                    <a:moveTo>
                      <a:pt x="391" y="42"/>
                    </a:moveTo>
                    <a:cubicBezTo>
                      <a:pt x="387" y="37"/>
                      <a:pt x="388" y="21"/>
                      <a:pt x="370" y="14"/>
                    </a:cubicBezTo>
                    <a:cubicBezTo>
                      <a:pt x="352" y="7"/>
                      <a:pt x="314" y="0"/>
                      <a:pt x="281" y="0"/>
                    </a:cubicBezTo>
                    <a:cubicBezTo>
                      <a:pt x="248" y="0"/>
                      <a:pt x="199" y="7"/>
                      <a:pt x="172" y="14"/>
                    </a:cubicBezTo>
                    <a:cubicBezTo>
                      <a:pt x="145" y="21"/>
                      <a:pt x="123" y="33"/>
                      <a:pt x="117" y="42"/>
                    </a:cubicBezTo>
                    <a:cubicBezTo>
                      <a:pt x="111" y="51"/>
                      <a:pt x="121" y="64"/>
                      <a:pt x="138" y="70"/>
                    </a:cubicBezTo>
                    <a:cubicBezTo>
                      <a:pt x="155" y="76"/>
                      <a:pt x="196" y="69"/>
                      <a:pt x="220" y="76"/>
                    </a:cubicBezTo>
                    <a:cubicBezTo>
                      <a:pt x="244" y="83"/>
                      <a:pt x="280" y="99"/>
                      <a:pt x="282" y="111"/>
                    </a:cubicBezTo>
                    <a:cubicBezTo>
                      <a:pt x="284" y="123"/>
                      <a:pt x="258" y="140"/>
                      <a:pt x="233" y="151"/>
                    </a:cubicBezTo>
                    <a:cubicBezTo>
                      <a:pt x="208" y="162"/>
                      <a:pt x="164" y="177"/>
                      <a:pt x="130" y="179"/>
                    </a:cubicBezTo>
                    <a:cubicBezTo>
                      <a:pt x="96" y="181"/>
                      <a:pt x="50" y="175"/>
                      <a:pt x="28" y="165"/>
                    </a:cubicBezTo>
                    <a:cubicBezTo>
                      <a:pt x="6" y="155"/>
                      <a:pt x="3" y="136"/>
                      <a:pt x="0" y="117"/>
                    </a:cubicBezTo>
                  </a:path>
                </a:pathLst>
              </a:cu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7" name="Google Shape;447;p19"/>
            <p:cNvGrpSpPr/>
            <p:nvPr/>
          </p:nvGrpSpPr>
          <p:grpSpPr>
            <a:xfrm>
              <a:off x="2059" y="2086"/>
              <a:ext cx="1252" cy="1044"/>
              <a:chOff x="2059" y="2086"/>
              <a:chExt cx="1252" cy="1044"/>
            </a:xfrm>
          </p:grpSpPr>
          <p:sp>
            <p:nvSpPr>
              <p:cNvPr id="448" name="Google Shape;448;p19"/>
              <p:cNvSpPr/>
              <p:nvPr/>
            </p:nvSpPr>
            <p:spPr>
              <a:xfrm rot="-346116">
                <a:off x="2253" y="2218"/>
                <a:ext cx="713" cy="775"/>
              </a:xfrm>
              <a:custGeom>
                <a:rect b="b" l="l" r="r" t="t"/>
                <a:pathLst>
                  <a:path extrusionOk="0" h="858" w="713">
                    <a:moveTo>
                      <a:pt x="713" y="0"/>
                    </a:moveTo>
                    <a:cubicBezTo>
                      <a:pt x="594" y="66"/>
                      <a:pt x="476" y="132"/>
                      <a:pt x="377" y="220"/>
                    </a:cubicBezTo>
                    <a:cubicBezTo>
                      <a:pt x="278" y="308"/>
                      <a:pt x="180" y="422"/>
                      <a:pt x="117" y="528"/>
                    </a:cubicBezTo>
                    <a:cubicBezTo>
                      <a:pt x="54" y="634"/>
                      <a:pt x="27" y="746"/>
                      <a:pt x="0" y="858"/>
                    </a:cubicBezTo>
                  </a:path>
                </a:pathLst>
              </a:custGeom>
              <a:noFill/>
              <a:ln cap="flat" cmpd="sng" w="190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9" name="Google Shape;449;p19"/>
              <p:cNvSpPr/>
              <p:nvPr/>
            </p:nvSpPr>
            <p:spPr>
              <a:xfrm rot="-224057">
                <a:off x="2416" y="2239"/>
                <a:ext cx="542" cy="858"/>
              </a:xfrm>
              <a:custGeom>
                <a:rect b="b" l="l" r="r" t="t"/>
                <a:pathLst>
                  <a:path extrusionOk="0" h="858" w="713">
                    <a:moveTo>
                      <a:pt x="713" y="0"/>
                    </a:moveTo>
                    <a:cubicBezTo>
                      <a:pt x="594" y="66"/>
                      <a:pt x="476" y="132"/>
                      <a:pt x="377" y="220"/>
                    </a:cubicBezTo>
                    <a:cubicBezTo>
                      <a:pt x="278" y="308"/>
                      <a:pt x="180" y="422"/>
                      <a:pt x="117" y="528"/>
                    </a:cubicBezTo>
                    <a:cubicBezTo>
                      <a:pt x="54" y="634"/>
                      <a:pt x="27" y="746"/>
                      <a:pt x="0" y="858"/>
                    </a:cubicBezTo>
                  </a:path>
                </a:pathLst>
              </a:custGeom>
              <a:noFill/>
              <a:ln cap="flat" cmpd="sng" w="190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0" name="Google Shape;450;p19"/>
              <p:cNvSpPr/>
              <p:nvPr/>
            </p:nvSpPr>
            <p:spPr>
              <a:xfrm>
                <a:off x="2167" y="2149"/>
                <a:ext cx="759" cy="627"/>
              </a:xfrm>
              <a:custGeom>
                <a:rect b="b" l="l" r="r" t="t"/>
                <a:pathLst>
                  <a:path extrusionOk="0" h="627" w="759">
                    <a:moveTo>
                      <a:pt x="759" y="0"/>
                    </a:moveTo>
                    <a:cubicBezTo>
                      <a:pt x="599" y="84"/>
                      <a:pt x="440" y="169"/>
                      <a:pt x="314" y="273"/>
                    </a:cubicBezTo>
                    <a:cubicBezTo>
                      <a:pt x="188" y="377"/>
                      <a:pt x="94" y="502"/>
                      <a:pt x="0" y="627"/>
                    </a:cubicBezTo>
                  </a:path>
                </a:pathLst>
              </a:custGeom>
              <a:noFill/>
              <a:ln cap="flat" cmpd="sng" w="190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1" name="Google Shape;451;p19"/>
              <p:cNvSpPr/>
              <p:nvPr/>
            </p:nvSpPr>
            <p:spPr>
              <a:xfrm>
                <a:off x="2059" y="2120"/>
                <a:ext cx="867" cy="331"/>
              </a:xfrm>
              <a:custGeom>
                <a:rect b="b" l="l" r="r" t="t"/>
                <a:pathLst>
                  <a:path extrusionOk="0" h="331" w="867">
                    <a:moveTo>
                      <a:pt x="867" y="0"/>
                    </a:moveTo>
                    <a:cubicBezTo>
                      <a:pt x="682" y="89"/>
                      <a:pt x="497" y="179"/>
                      <a:pt x="353" y="234"/>
                    </a:cubicBezTo>
                    <a:cubicBezTo>
                      <a:pt x="209" y="289"/>
                      <a:pt x="104" y="310"/>
                      <a:pt x="0" y="331"/>
                    </a:cubicBezTo>
                  </a:path>
                </a:pathLst>
              </a:custGeom>
              <a:noFill/>
              <a:ln cap="flat" cmpd="sng" w="190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2" name="Google Shape;452;p19"/>
              <p:cNvSpPr/>
              <p:nvPr/>
            </p:nvSpPr>
            <p:spPr>
              <a:xfrm>
                <a:off x="2082" y="2087"/>
                <a:ext cx="850" cy="201"/>
              </a:xfrm>
              <a:custGeom>
                <a:rect b="b" l="l" r="r" t="t"/>
                <a:pathLst>
                  <a:path extrusionOk="0" h="201" w="850">
                    <a:moveTo>
                      <a:pt x="850" y="0"/>
                    </a:moveTo>
                    <a:cubicBezTo>
                      <a:pt x="672" y="82"/>
                      <a:pt x="495" y="165"/>
                      <a:pt x="353" y="183"/>
                    </a:cubicBezTo>
                    <a:cubicBezTo>
                      <a:pt x="211" y="201"/>
                      <a:pt x="105" y="155"/>
                      <a:pt x="0" y="109"/>
                    </a:cubicBezTo>
                  </a:path>
                </a:pathLst>
              </a:custGeom>
              <a:noFill/>
              <a:ln cap="flat" cmpd="sng" w="190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3" name="Google Shape;453;p19"/>
              <p:cNvSpPr/>
              <p:nvPr/>
            </p:nvSpPr>
            <p:spPr>
              <a:xfrm rot="-224057">
                <a:off x="2484" y="2249"/>
                <a:ext cx="542" cy="858"/>
              </a:xfrm>
              <a:custGeom>
                <a:rect b="b" l="l" r="r" t="t"/>
                <a:pathLst>
                  <a:path extrusionOk="0" h="858" w="713">
                    <a:moveTo>
                      <a:pt x="713" y="0"/>
                    </a:moveTo>
                    <a:cubicBezTo>
                      <a:pt x="594" y="66"/>
                      <a:pt x="476" y="132"/>
                      <a:pt x="377" y="220"/>
                    </a:cubicBezTo>
                    <a:cubicBezTo>
                      <a:pt x="278" y="308"/>
                      <a:pt x="180" y="422"/>
                      <a:pt x="117" y="528"/>
                    </a:cubicBezTo>
                    <a:cubicBezTo>
                      <a:pt x="54" y="634"/>
                      <a:pt x="27" y="746"/>
                      <a:pt x="0" y="858"/>
                    </a:cubicBezTo>
                  </a:path>
                </a:pathLst>
              </a:custGeom>
              <a:noFill/>
              <a:ln cap="flat" cmpd="sng" w="190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4" name="Google Shape;454;p19"/>
              <p:cNvSpPr/>
              <p:nvPr/>
            </p:nvSpPr>
            <p:spPr>
              <a:xfrm rot="-224057">
                <a:off x="2574" y="2255"/>
                <a:ext cx="542" cy="858"/>
              </a:xfrm>
              <a:custGeom>
                <a:rect b="b" l="l" r="r" t="t"/>
                <a:pathLst>
                  <a:path extrusionOk="0" h="858" w="713">
                    <a:moveTo>
                      <a:pt x="713" y="0"/>
                    </a:moveTo>
                    <a:cubicBezTo>
                      <a:pt x="594" y="66"/>
                      <a:pt x="476" y="132"/>
                      <a:pt x="377" y="220"/>
                    </a:cubicBezTo>
                    <a:cubicBezTo>
                      <a:pt x="278" y="308"/>
                      <a:pt x="180" y="422"/>
                      <a:pt x="117" y="528"/>
                    </a:cubicBezTo>
                    <a:cubicBezTo>
                      <a:pt x="54" y="634"/>
                      <a:pt x="27" y="746"/>
                      <a:pt x="0" y="858"/>
                    </a:cubicBezTo>
                  </a:path>
                </a:pathLst>
              </a:custGeom>
              <a:noFill/>
              <a:ln cap="flat" cmpd="sng" w="190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5" name="Google Shape;455;p19"/>
              <p:cNvSpPr/>
              <p:nvPr/>
            </p:nvSpPr>
            <p:spPr>
              <a:xfrm rot="-224057">
                <a:off x="2658" y="2253"/>
                <a:ext cx="542" cy="858"/>
              </a:xfrm>
              <a:custGeom>
                <a:rect b="b" l="l" r="r" t="t"/>
                <a:pathLst>
                  <a:path extrusionOk="0" h="858" w="713">
                    <a:moveTo>
                      <a:pt x="713" y="0"/>
                    </a:moveTo>
                    <a:cubicBezTo>
                      <a:pt x="594" y="66"/>
                      <a:pt x="476" y="132"/>
                      <a:pt x="377" y="220"/>
                    </a:cubicBezTo>
                    <a:cubicBezTo>
                      <a:pt x="278" y="308"/>
                      <a:pt x="180" y="422"/>
                      <a:pt x="117" y="528"/>
                    </a:cubicBezTo>
                    <a:cubicBezTo>
                      <a:pt x="54" y="634"/>
                      <a:pt x="27" y="746"/>
                      <a:pt x="0" y="858"/>
                    </a:cubicBezTo>
                  </a:path>
                </a:pathLst>
              </a:custGeom>
              <a:noFill/>
              <a:ln cap="flat" cmpd="sng" w="190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6" name="Google Shape;456;p19"/>
              <p:cNvSpPr/>
              <p:nvPr/>
            </p:nvSpPr>
            <p:spPr>
              <a:xfrm rot="-224057">
                <a:off x="2742" y="2253"/>
                <a:ext cx="542" cy="858"/>
              </a:xfrm>
              <a:custGeom>
                <a:rect b="b" l="l" r="r" t="t"/>
                <a:pathLst>
                  <a:path extrusionOk="0" h="858" w="713">
                    <a:moveTo>
                      <a:pt x="713" y="0"/>
                    </a:moveTo>
                    <a:cubicBezTo>
                      <a:pt x="594" y="66"/>
                      <a:pt x="476" y="132"/>
                      <a:pt x="377" y="220"/>
                    </a:cubicBezTo>
                    <a:cubicBezTo>
                      <a:pt x="278" y="308"/>
                      <a:pt x="180" y="422"/>
                      <a:pt x="117" y="528"/>
                    </a:cubicBezTo>
                    <a:cubicBezTo>
                      <a:pt x="54" y="634"/>
                      <a:pt x="27" y="746"/>
                      <a:pt x="0" y="858"/>
                    </a:cubicBezTo>
                  </a:path>
                </a:pathLst>
              </a:custGeom>
              <a:noFill/>
              <a:ln cap="flat" cmpd="sng" w="190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7" name="Google Shape;457;p19"/>
              <p:cNvSpPr/>
              <p:nvPr/>
            </p:nvSpPr>
            <p:spPr>
              <a:xfrm>
                <a:off x="2156" y="2092"/>
                <a:ext cx="850" cy="201"/>
              </a:xfrm>
              <a:custGeom>
                <a:rect b="b" l="l" r="r" t="t"/>
                <a:pathLst>
                  <a:path extrusionOk="0" h="201" w="850">
                    <a:moveTo>
                      <a:pt x="850" y="0"/>
                    </a:moveTo>
                    <a:cubicBezTo>
                      <a:pt x="672" y="82"/>
                      <a:pt x="495" y="165"/>
                      <a:pt x="353" y="183"/>
                    </a:cubicBezTo>
                    <a:cubicBezTo>
                      <a:pt x="211" y="201"/>
                      <a:pt x="105" y="155"/>
                      <a:pt x="0" y="109"/>
                    </a:cubicBezTo>
                  </a:path>
                </a:pathLst>
              </a:custGeom>
              <a:noFill/>
              <a:ln cap="flat" cmpd="sng" w="190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8" name="Google Shape;458;p19"/>
              <p:cNvSpPr/>
              <p:nvPr/>
            </p:nvSpPr>
            <p:spPr>
              <a:xfrm>
                <a:off x="2252" y="2092"/>
                <a:ext cx="850" cy="201"/>
              </a:xfrm>
              <a:custGeom>
                <a:rect b="b" l="l" r="r" t="t"/>
                <a:pathLst>
                  <a:path extrusionOk="0" h="201" w="850">
                    <a:moveTo>
                      <a:pt x="850" y="0"/>
                    </a:moveTo>
                    <a:cubicBezTo>
                      <a:pt x="672" y="82"/>
                      <a:pt x="495" y="165"/>
                      <a:pt x="353" y="183"/>
                    </a:cubicBezTo>
                    <a:cubicBezTo>
                      <a:pt x="211" y="201"/>
                      <a:pt x="105" y="155"/>
                      <a:pt x="0" y="109"/>
                    </a:cubicBezTo>
                  </a:path>
                </a:pathLst>
              </a:custGeom>
              <a:noFill/>
              <a:ln cap="flat" cmpd="sng" w="190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" name="Google Shape;459;p19"/>
              <p:cNvSpPr/>
              <p:nvPr/>
            </p:nvSpPr>
            <p:spPr>
              <a:xfrm>
                <a:off x="2348" y="2086"/>
                <a:ext cx="850" cy="201"/>
              </a:xfrm>
              <a:custGeom>
                <a:rect b="b" l="l" r="r" t="t"/>
                <a:pathLst>
                  <a:path extrusionOk="0" h="201" w="850">
                    <a:moveTo>
                      <a:pt x="850" y="0"/>
                    </a:moveTo>
                    <a:cubicBezTo>
                      <a:pt x="672" y="82"/>
                      <a:pt x="495" y="165"/>
                      <a:pt x="353" y="183"/>
                    </a:cubicBezTo>
                    <a:cubicBezTo>
                      <a:pt x="211" y="201"/>
                      <a:pt x="105" y="155"/>
                      <a:pt x="0" y="109"/>
                    </a:cubicBezTo>
                  </a:path>
                </a:pathLst>
              </a:custGeom>
              <a:noFill/>
              <a:ln cap="flat" cmpd="sng" w="190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0" name="Google Shape;460;p19"/>
              <p:cNvSpPr/>
              <p:nvPr/>
            </p:nvSpPr>
            <p:spPr>
              <a:xfrm>
                <a:off x="2432" y="2086"/>
                <a:ext cx="850" cy="201"/>
              </a:xfrm>
              <a:custGeom>
                <a:rect b="b" l="l" r="r" t="t"/>
                <a:pathLst>
                  <a:path extrusionOk="0" h="201" w="850">
                    <a:moveTo>
                      <a:pt x="850" y="0"/>
                    </a:moveTo>
                    <a:cubicBezTo>
                      <a:pt x="672" y="82"/>
                      <a:pt x="495" y="165"/>
                      <a:pt x="353" y="183"/>
                    </a:cubicBezTo>
                    <a:cubicBezTo>
                      <a:pt x="211" y="201"/>
                      <a:pt x="105" y="155"/>
                      <a:pt x="0" y="109"/>
                    </a:cubicBezTo>
                  </a:path>
                </a:pathLst>
              </a:custGeom>
              <a:noFill/>
              <a:ln cap="flat" cmpd="sng" w="190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1" name="Google Shape;461;p19"/>
              <p:cNvSpPr/>
              <p:nvPr/>
            </p:nvSpPr>
            <p:spPr>
              <a:xfrm>
                <a:off x="2980" y="2207"/>
                <a:ext cx="276" cy="684"/>
              </a:xfrm>
              <a:custGeom>
                <a:rect b="b" l="l" r="r" t="t"/>
                <a:pathLst>
                  <a:path extrusionOk="0" h="684" w="276">
                    <a:moveTo>
                      <a:pt x="276" y="0"/>
                    </a:moveTo>
                    <a:cubicBezTo>
                      <a:pt x="225" y="26"/>
                      <a:pt x="175" y="52"/>
                      <a:pt x="139" y="80"/>
                    </a:cubicBezTo>
                    <a:cubicBezTo>
                      <a:pt x="103" y="108"/>
                      <a:pt x="82" y="121"/>
                      <a:pt x="59" y="171"/>
                    </a:cubicBezTo>
                    <a:cubicBezTo>
                      <a:pt x="36" y="221"/>
                      <a:pt x="4" y="297"/>
                      <a:pt x="2" y="382"/>
                    </a:cubicBezTo>
                    <a:cubicBezTo>
                      <a:pt x="0" y="467"/>
                      <a:pt x="24" y="575"/>
                      <a:pt x="48" y="684"/>
                    </a:cubicBezTo>
                  </a:path>
                </a:pathLst>
              </a:custGeom>
              <a:noFill/>
              <a:ln cap="flat" cmpd="sng" w="190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2" name="Google Shape;462;p19"/>
              <p:cNvSpPr/>
              <p:nvPr/>
            </p:nvSpPr>
            <p:spPr>
              <a:xfrm>
                <a:off x="2851" y="2166"/>
                <a:ext cx="410" cy="743"/>
              </a:xfrm>
              <a:custGeom>
                <a:rect b="b" l="l" r="r" t="t"/>
                <a:pathLst>
                  <a:path extrusionOk="0" h="743" w="410">
                    <a:moveTo>
                      <a:pt x="410" y="0"/>
                    </a:moveTo>
                    <a:cubicBezTo>
                      <a:pt x="381" y="15"/>
                      <a:pt x="282" y="49"/>
                      <a:pt x="234" y="92"/>
                    </a:cubicBezTo>
                    <a:cubicBezTo>
                      <a:pt x="186" y="135"/>
                      <a:pt x="151" y="192"/>
                      <a:pt x="120" y="258"/>
                    </a:cubicBezTo>
                    <a:cubicBezTo>
                      <a:pt x="89" y="324"/>
                      <a:pt x="66" y="405"/>
                      <a:pt x="46" y="486"/>
                    </a:cubicBezTo>
                    <a:cubicBezTo>
                      <a:pt x="26" y="567"/>
                      <a:pt x="10" y="690"/>
                      <a:pt x="0" y="743"/>
                    </a:cubicBezTo>
                  </a:path>
                </a:pathLst>
              </a:custGeom>
              <a:noFill/>
              <a:ln cap="flat" cmpd="sng" w="190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3" name="Google Shape;463;p19"/>
              <p:cNvSpPr/>
              <p:nvPr/>
            </p:nvSpPr>
            <p:spPr>
              <a:xfrm>
                <a:off x="2589" y="2139"/>
                <a:ext cx="673" cy="724"/>
              </a:xfrm>
              <a:custGeom>
                <a:rect b="b" l="l" r="r" t="t"/>
                <a:pathLst>
                  <a:path extrusionOk="0" h="724" w="673">
                    <a:moveTo>
                      <a:pt x="673" y="0"/>
                    </a:moveTo>
                    <a:cubicBezTo>
                      <a:pt x="643" y="13"/>
                      <a:pt x="550" y="46"/>
                      <a:pt x="491" y="79"/>
                    </a:cubicBezTo>
                    <a:cubicBezTo>
                      <a:pt x="432" y="112"/>
                      <a:pt x="375" y="144"/>
                      <a:pt x="320" y="199"/>
                    </a:cubicBezTo>
                    <a:cubicBezTo>
                      <a:pt x="265" y="254"/>
                      <a:pt x="213" y="323"/>
                      <a:pt x="160" y="410"/>
                    </a:cubicBezTo>
                    <a:cubicBezTo>
                      <a:pt x="107" y="497"/>
                      <a:pt x="33" y="659"/>
                      <a:pt x="0" y="724"/>
                    </a:cubicBezTo>
                  </a:path>
                </a:pathLst>
              </a:custGeom>
              <a:noFill/>
              <a:ln cap="flat" cmpd="sng" w="190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64" name="Google Shape;464;p19"/>
          <p:cNvGrpSpPr/>
          <p:nvPr/>
        </p:nvGrpSpPr>
        <p:grpSpPr>
          <a:xfrm>
            <a:off x="4203700" y="4102100"/>
            <a:ext cx="3806825" cy="2427288"/>
            <a:chOff x="1092" y="1824"/>
            <a:chExt cx="2398" cy="1529"/>
          </a:xfrm>
        </p:grpSpPr>
        <p:sp>
          <p:nvSpPr>
            <p:cNvPr id="465" name="Google Shape;465;p19"/>
            <p:cNvSpPr/>
            <p:nvPr/>
          </p:nvSpPr>
          <p:spPr>
            <a:xfrm>
              <a:off x="1092" y="1824"/>
              <a:ext cx="1014" cy="997"/>
            </a:xfrm>
            <a:custGeom>
              <a:rect b="b" l="l" r="r" t="t"/>
              <a:pathLst>
                <a:path extrusionOk="0" fill="none" h="42469" w="43200">
                  <a:moveTo>
                    <a:pt x="15937" y="42444"/>
                  </a:moveTo>
                  <a:cubicBezTo>
                    <a:pt x="6529" y="39888"/>
                    <a:pt x="0" y="3134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1384"/>
                    <a:pt x="36623" y="39946"/>
                    <a:pt x="27170" y="42469"/>
                  </a:cubicBezTo>
                </a:path>
                <a:path extrusionOk="0" h="42469" w="43200">
                  <a:moveTo>
                    <a:pt x="15937" y="42444"/>
                  </a:moveTo>
                  <a:cubicBezTo>
                    <a:pt x="6529" y="39888"/>
                    <a:pt x="0" y="3134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1384"/>
                    <a:pt x="36623" y="39946"/>
                    <a:pt x="27170" y="42469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cap="flat" cmpd="sng" w="5715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19"/>
            <p:cNvSpPr/>
            <p:nvPr/>
          </p:nvSpPr>
          <p:spPr>
            <a:xfrm>
              <a:off x="1467" y="2777"/>
              <a:ext cx="2023" cy="576"/>
            </a:xfrm>
            <a:custGeom>
              <a:rect b="b" l="l" r="r" t="t"/>
              <a:pathLst>
                <a:path extrusionOk="0" h="576" w="2023">
                  <a:moveTo>
                    <a:pt x="0" y="41"/>
                  </a:moveTo>
                  <a:lnTo>
                    <a:pt x="0" y="576"/>
                  </a:lnTo>
                  <a:lnTo>
                    <a:pt x="2023" y="576"/>
                  </a:lnTo>
                  <a:lnTo>
                    <a:pt x="2023" y="0"/>
                  </a:lnTo>
                </a:path>
              </a:pathLst>
            </a:custGeom>
            <a:noFill/>
            <a:ln cap="flat" cmpd="sng" w="57150">
              <a:solidFill>
                <a:srgbClr val="FF99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19"/>
            <p:cNvSpPr/>
            <p:nvPr/>
          </p:nvSpPr>
          <p:spPr>
            <a:xfrm>
              <a:off x="1728" y="2777"/>
              <a:ext cx="1275" cy="295"/>
            </a:xfrm>
            <a:custGeom>
              <a:rect b="b" l="l" r="r" t="t"/>
              <a:pathLst>
                <a:path extrusionOk="0" h="295" w="1275">
                  <a:moveTo>
                    <a:pt x="0" y="41"/>
                  </a:moveTo>
                  <a:lnTo>
                    <a:pt x="0" y="295"/>
                  </a:lnTo>
                  <a:lnTo>
                    <a:pt x="1275" y="295"/>
                  </a:lnTo>
                  <a:lnTo>
                    <a:pt x="1275" y="0"/>
                  </a:lnTo>
                </a:path>
              </a:pathLst>
            </a:custGeom>
            <a:noFill/>
            <a:ln cap="flat" cmpd="sng" w="57150">
              <a:solidFill>
                <a:srgbClr val="FF99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8" name="Google Shape;468;p19"/>
          <p:cNvGrpSpPr/>
          <p:nvPr/>
        </p:nvGrpSpPr>
        <p:grpSpPr>
          <a:xfrm>
            <a:off x="7461250" y="5187950"/>
            <a:ext cx="347663" cy="349250"/>
            <a:chOff x="3614" y="2770"/>
            <a:chExt cx="219" cy="220"/>
          </a:xfrm>
        </p:grpSpPr>
        <p:sp>
          <p:nvSpPr>
            <p:cNvPr id="469" name="Google Shape;469;p19"/>
            <p:cNvSpPr/>
            <p:nvPr/>
          </p:nvSpPr>
          <p:spPr>
            <a:xfrm>
              <a:off x="3614" y="2770"/>
              <a:ext cx="219" cy="219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70" name="Google Shape;470;p19"/>
            <p:cNvCxnSpPr/>
            <p:nvPr/>
          </p:nvCxnSpPr>
          <p:spPr>
            <a:xfrm rot="10800000">
              <a:off x="3723" y="2770"/>
              <a:ext cx="0" cy="22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471" name="Google Shape;471;p19"/>
          <p:cNvGrpSpPr/>
          <p:nvPr/>
        </p:nvGrpSpPr>
        <p:grpSpPr>
          <a:xfrm rot="5400000">
            <a:off x="7463632" y="5185569"/>
            <a:ext cx="347662" cy="349250"/>
            <a:chOff x="3614" y="2770"/>
            <a:chExt cx="219" cy="220"/>
          </a:xfrm>
        </p:grpSpPr>
        <p:sp>
          <p:nvSpPr>
            <p:cNvPr id="472" name="Google Shape;472;p19"/>
            <p:cNvSpPr/>
            <p:nvPr/>
          </p:nvSpPr>
          <p:spPr>
            <a:xfrm>
              <a:off x="3614" y="2770"/>
              <a:ext cx="219" cy="219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73" name="Google Shape;473;p19"/>
            <p:cNvCxnSpPr/>
            <p:nvPr/>
          </p:nvCxnSpPr>
          <p:spPr>
            <a:xfrm rot="10800000">
              <a:off x="3723" y="2770"/>
              <a:ext cx="0" cy="22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474" name="Google Shape;474;p19"/>
          <p:cNvGrpSpPr/>
          <p:nvPr/>
        </p:nvGrpSpPr>
        <p:grpSpPr>
          <a:xfrm>
            <a:off x="7450138" y="5176838"/>
            <a:ext cx="347662" cy="349250"/>
            <a:chOff x="3614" y="2770"/>
            <a:chExt cx="219" cy="220"/>
          </a:xfrm>
        </p:grpSpPr>
        <p:sp>
          <p:nvSpPr>
            <p:cNvPr id="475" name="Google Shape;475;p19"/>
            <p:cNvSpPr/>
            <p:nvPr/>
          </p:nvSpPr>
          <p:spPr>
            <a:xfrm>
              <a:off x="3614" y="2770"/>
              <a:ext cx="219" cy="219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76" name="Google Shape;476;p19"/>
            <p:cNvCxnSpPr/>
            <p:nvPr/>
          </p:nvCxnSpPr>
          <p:spPr>
            <a:xfrm rot="10800000">
              <a:off x="3723" y="2770"/>
              <a:ext cx="0" cy="22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477" name="Google Shape;477;p19"/>
          <p:cNvGrpSpPr/>
          <p:nvPr/>
        </p:nvGrpSpPr>
        <p:grpSpPr>
          <a:xfrm rot="-5400000">
            <a:off x="7452518" y="5174457"/>
            <a:ext cx="347663" cy="349250"/>
            <a:chOff x="3614" y="2770"/>
            <a:chExt cx="219" cy="220"/>
          </a:xfrm>
        </p:grpSpPr>
        <p:sp>
          <p:nvSpPr>
            <p:cNvPr id="478" name="Google Shape;478;p19"/>
            <p:cNvSpPr/>
            <p:nvPr/>
          </p:nvSpPr>
          <p:spPr>
            <a:xfrm>
              <a:off x="3614" y="2770"/>
              <a:ext cx="219" cy="219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79" name="Google Shape;479;p19"/>
            <p:cNvCxnSpPr/>
            <p:nvPr/>
          </p:nvCxnSpPr>
          <p:spPr>
            <a:xfrm rot="10800000">
              <a:off x="3723" y="2770"/>
              <a:ext cx="0" cy="22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480" name="Google Shape;480;p19"/>
          <p:cNvSpPr/>
          <p:nvPr/>
        </p:nvSpPr>
        <p:spPr>
          <a:xfrm>
            <a:off x="4206875" y="4098925"/>
            <a:ext cx="1601788" cy="806450"/>
          </a:xfrm>
          <a:custGeom>
            <a:rect b="b" l="l" r="r" t="t"/>
            <a:pathLst>
              <a:path extrusionOk="0" fill="none" h="21600" w="42885">
                <a:moveTo>
                  <a:pt x="0" y="17923"/>
                </a:moveTo>
                <a:cubicBezTo>
                  <a:pt x="1789" y="7565"/>
                  <a:pt x="10774" y="-1"/>
                  <a:pt x="21285" y="0"/>
                </a:cubicBezTo>
                <a:cubicBezTo>
                  <a:pt x="33214" y="0"/>
                  <a:pt x="42885" y="9670"/>
                  <a:pt x="42885" y="21600"/>
                </a:cubicBezTo>
              </a:path>
              <a:path extrusionOk="0" h="21600" w="42885">
                <a:moveTo>
                  <a:pt x="0" y="17923"/>
                </a:moveTo>
                <a:cubicBezTo>
                  <a:pt x="1789" y="7565"/>
                  <a:pt x="10774" y="-1"/>
                  <a:pt x="21285" y="0"/>
                </a:cubicBezTo>
                <a:cubicBezTo>
                  <a:pt x="33214" y="0"/>
                  <a:pt x="42885" y="9670"/>
                  <a:pt x="42885" y="21600"/>
                </a:cubicBezTo>
                <a:lnTo>
                  <a:pt x="21285" y="21600"/>
                </a:lnTo>
                <a:close/>
              </a:path>
            </a:pathLst>
          </a:cu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19"/>
          <p:cNvSpPr/>
          <p:nvPr/>
        </p:nvSpPr>
        <p:spPr>
          <a:xfrm flipH="1">
            <a:off x="4205288" y="4087813"/>
            <a:ext cx="1612900" cy="806450"/>
          </a:xfrm>
          <a:custGeom>
            <a:rect b="b" l="l" r="r" t="t"/>
            <a:pathLst>
              <a:path extrusionOk="0" fill="none" h="21600" w="43193">
                <a:moveTo>
                  <a:pt x="0" y="21034"/>
                </a:moveTo>
                <a:cubicBezTo>
                  <a:pt x="307" y="9329"/>
                  <a:pt x="9884" y="-1"/>
                  <a:pt x="21593" y="0"/>
                </a:cubicBezTo>
                <a:cubicBezTo>
                  <a:pt x="33522" y="0"/>
                  <a:pt x="43193" y="9670"/>
                  <a:pt x="43193" y="21600"/>
                </a:cubicBezTo>
              </a:path>
              <a:path extrusionOk="0" h="21600" w="43193">
                <a:moveTo>
                  <a:pt x="0" y="21034"/>
                </a:moveTo>
                <a:cubicBezTo>
                  <a:pt x="307" y="9329"/>
                  <a:pt x="9884" y="-1"/>
                  <a:pt x="21593" y="0"/>
                </a:cubicBezTo>
                <a:cubicBezTo>
                  <a:pt x="33522" y="0"/>
                  <a:pt x="43193" y="9670"/>
                  <a:pt x="43193" y="21600"/>
                </a:cubicBezTo>
                <a:lnTo>
                  <a:pt x="21593" y="21600"/>
                </a:lnTo>
                <a:close/>
              </a:path>
            </a:pathLst>
          </a:cu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2" name="Google Shape;482;p19"/>
          <p:cNvCxnSpPr/>
          <p:nvPr/>
        </p:nvCxnSpPr>
        <p:spPr>
          <a:xfrm>
            <a:off x="5665788" y="6080125"/>
            <a:ext cx="1154112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3" name="Google Shape;483;p19"/>
          <p:cNvCxnSpPr/>
          <p:nvPr/>
        </p:nvCxnSpPr>
        <p:spPr>
          <a:xfrm>
            <a:off x="5634038" y="6526213"/>
            <a:ext cx="1154112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84" name="Google Shape;484;p19"/>
          <p:cNvCxnSpPr/>
          <p:nvPr/>
        </p:nvCxnSpPr>
        <p:spPr>
          <a:xfrm>
            <a:off x="5676900" y="6526213"/>
            <a:ext cx="1154113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5" name="Google Shape;485;p19"/>
          <p:cNvCxnSpPr/>
          <p:nvPr/>
        </p:nvCxnSpPr>
        <p:spPr>
          <a:xfrm>
            <a:off x="5643563" y="6080125"/>
            <a:ext cx="1154112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486" name="Google Shape;486;p19"/>
          <p:cNvSpPr/>
          <p:nvPr/>
        </p:nvSpPr>
        <p:spPr>
          <a:xfrm>
            <a:off x="684213" y="2994025"/>
            <a:ext cx="381000" cy="3810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19"/>
          <p:cNvSpPr/>
          <p:nvPr/>
        </p:nvSpPr>
        <p:spPr>
          <a:xfrm>
            <a:off x="682625" y="4529138"/>
            <a:ext cx="381000" cy="3810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19"/>
          <p:cNvSpPr/>
          <p:nvPr/>
        </p:nvSpPr>
        <p:spPr>
          <a:xfrm>
            <a:off x="685800" y="409575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Topic D: Fields AHL</a:t>
            </a:r>
            <a:b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D.4 – Induction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47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47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0"/>
          <p:cNvSpPr/>
          <p:nvPr/>
        </p:nvSpPr>
        <p:spPr>
          <a:xfrm>
            <a:off x="682625" y="5230813"/>
            <a:ext cx="7758113" cy="1627187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FYI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is the principle behind electricity generation using turbines and generators. Motion of a conductor through a B-field produces an emf which can drive a current.</a:t>
            </a:r>
            <a:endParaRPr/>
          </a:p>
        </p:txBody>
      </p:sp>
      <p:sp>
        <p:nvSpPr>
          <p:cNvPr id="494" name="Google Shape;494;p20"/>
          <p:cNvSpPr/>
          <p:nvPr/>
        </p:nvSpPr>
        <p:spPr>
          <a:xfrm>
            <a:off x="685800" y="1354138"/>
            <a:ext cx="7772400" cy="3916362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Induced electromotive force (emf)</a:t>
            </a:r>
            <a:endParaRPr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∙Since </a:t>
            </a:r>
            <a:r>
              <a:rPr i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moving a conductor through a magnetic field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produces a current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this very action must therefore induce an electromotive force (emf) in the conductor.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Since </a:t>
            </a:r>
            <a:r>
              <a:rPr i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moving a magnetic field trough a conductor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produces a current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this very action must therefore induce an emf in the conductor.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have shown, therefore, that all we need is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relative motion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between a conductor and a magnetic field in order to induce an emf.</a:t>
            </a:r>
            <a:endParaRPr/>
          </a:p>
        </p:txBody>
      </p:sp>
      <p:sp>
        <p:nvSpPr>
          <p:cNvPr id="495" name="Google Shape;495;p20"/>
          <p:cNvSpPr/>
          <p:nvPr/>
        </p:nvSpPr>
        <p:spPr>
          <a:xfrm>
            <a:off x="685800" y="409575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Topic D: Fields AHL</a:t>
            </a:r>
            <a:b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D.4 – Induction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21"/>
          <p:cNvSpPr/>
          <p:nvPr/>
        </p:nvSpPr>
        <p:spPr>
          <a:xfrm>
            <a:off x="674688" y="1763713"/>
            <a:ext cx="7764462" cy="5094287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Show that the emf  ε induced in a straight conductor of length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moving at velocity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through a magnetic field of strength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 Note that since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then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φ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90º:</a:t>
            </a:r>
            <a:endParaRPr/>
          </a:p>
          <a:p>
            <a:pPr indent="-15240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qvB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φ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qvB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90º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qvB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5240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Recall that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 / x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 / L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and that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5240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Since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qE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qV / L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qvB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we have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qV / L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	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qvB</a:t>
            </a:r>
            <a:endParaRPr i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	       V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	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BvL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ε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IBO expects you to derive this formula.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21"/>
          <p:cNvSpPr/>
          <p:nvPr/>
        </p:nvSpPr>
        <p:spPr>
          <a:xfrm>
            <a:off x="685800" y="1354138"/>
            <a:ext cx="7772400" cy="439737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Induced electromotive force 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– straight wire through B</a:t>
            </a:r>
            <a:endParaRPr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502" name="Google Shape;502;p21"/>
          <p:cNvGrpSpPr/>
          <p:nvPr/>
        </p:nvGrpSpPr>
        <p:grpSpPr>
          <a:xfrm>
            <a:off x="817563" y="2936875"/>
            <a:ext cx="7464425" cy="846138"/>
            <a:chOff x="515" y="1890"/>
            <a:chExt cx="4702" cy="533"/>
          </a:xfrm>
        </p:grpSpPr>
        <p:sp>
          <p:nvSpPr>
            <p:cNvPr id="503" name="Google Shape;503;p21"/>
            <p:cNvSpPr txBox="1"/>
            <p:nvPr/>
          </p:nvSpPr>
          <p:spPr>
            <a:xfrm>
              <a:off x="3579" y="1905"/>
              <a:ext cx="1638" cy="51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induced emf in a straight wire</a:t>
              </a:r>
              <a:endParaRPr/>
            </a:p>
          </p:txBody>
        </p:sp>
        <p:sp>
          <p:nvSpPr>
            <p:cNvPr id="504" name="Google Shape;504;p21"/>
            <p:cNvSpPr/>
            <p:nvPr/>
          </p:nvSpPr>
          <p:spPr>
            <a:xfrm>
              <a:off x="515" y="1907"/>
              <a:ext cx="4701" cy="51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21"/>
            <p:cNvSpPr txBox="1"/>
            <p:nvPr/>
          </p:nvSpPr>
          <p:spPr>
            <a:xfrm>
              <a:off x="655" y="1890"/>
              <a:ext cx="196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ε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BvL</a:t>
              </a:r>
              <a:endParaRPr i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21"/>
            <p:cNvSpPr txBox="1"/>
            <p:nvPr/>
          </p:nvSpPr>
          <p:spPr>
            <a:xfrm>
              <a:off x="892" y="2099"/>
              <a:ext cx="3621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</a:rPr>
                <a:t>where </a:t>
              </a:r>
              <a:r>
                <a:rPr b="1" lang="en-US" sz="2000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lang="en-US" sz="2000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</a:rPr>
                <a:t> and </a:t>
              </a:r>
              <a:r>
                <a:rPr b="1" lang="en-US" sz="2000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</a:rPr>
                <a:t>B </a:t>
              </a:r>
              <a:r>
                <a:rPr lang="en-US" sz="2000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</a:rPr>
                <a:t>are perpendicular</a:t>
              </a:r>
              <a:endParaRPr/>
            </a:p>
          </p:txBody>
        </p:sp>
      </p:grpSp>
      <p:grpSp>
        <p:nvGrpSpPr>
          <p:cNvPr id="507" name="Google Shape;507;p21"/>
          <p:cNvGrpSpPr/>
          <p:nvPr/>
        </p:nvGrpSpPr>
        <p:grpSpPr>
          <a:xfrm>
            <a:off x="4827588" y="4019550"/>
            <a:ext cx="157162" cy="109538"/>
            <a:chOff x="3471" y="3501"/>
            <a:chExt cx="99" cy="69"/>
          </a:xfrm>
        </p:grpSpPr>
        <p:cxnSp>
          <p:nvCxnSpPr>
            <p:cNvPr id="508" name="Google Shape;508;p21"/>
            <p:cNvCxnSpPr/>
            <p:nvPr/>
          </p:nvCxnSpPr>
          <p:spPr>
            <a:xfrm>
              <a:off x="3471" y="3570"/>
              <a:ext cx="99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9" name="Google Shape;509;p21"/>
            <p:cNvCxnSpPr/>
            <p:nvPr/>
          </p:nvCxnSpPr>
          <p:spPr>
            <a:xfrm rot="10800000">
              <a:off x="3517" y="3501"/>
              <a:ext cx="0" cy="6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510" name="Google Shape;510;p21"/>
          <p:cNvCxnSpPr/>
          <p:nvPr/>
        </p:nvCxnSpPr>
        <p:spPr>
          <a:xfrm>
            <a:off x="2649538" y="5703888"/>
            <a:ext cx="179387" cy="241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1" name="Google Shape;511;p21"/>
          <p:cNvCxnSpPr/>
          <p:nvPr/>
        </p:nvCxnSpPr>
        <p:spPr>
          <a:xfrm>
            <a:off x="3786188" y="5715000"/>
            <a:ext cx="179387" cy="241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2" name="Google Shape;512;p21"/>
          <p:cNvSpPr/>
          <p:nvPr/>
        </p:nvSpPr>
        <p:spPr>
          <a:xfrm>
            <a:off x="685800" y="409575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Topic D: Fields AHL</a:t>
            </a:r>
            <a:b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D.4 – Induction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0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0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0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0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0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0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2"/>
          <p:cNvSpPr/>
          <p:nvPr/>
        </p:nvSpPr>
        <p:spPr>
          <a:xfrm>
            <a:off x="682625" y="4664075"/>
            <a:ext cx="7758113" cy="2193925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FYI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Sometimes weaker magnetic field strength is measured in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gauss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instead of tesla.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conversion is 1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gauss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10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-4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tesla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Thus the B in this example is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0.56 gauss.</a:t>
            </a:r>
            <a:endParaRPr/>
          </a:p>
        </p:txBody>
      </p:sp>
      <p:sp>
        <p:nvSpPr>
          <p:cNvPr id="518" name="Google Shape;518;p22"/>
          <p:cNvSpPr/>
          <p:nvPr/>
        </p:nvSpPr>
        <p:spPr>
          <a:xfrm>
            <a:off x="687388" y="1768475"/>
            <a:ext cx="7772400" cy="2914650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PRACTICE: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Boeing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Dreamliner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having wingspan of 60 m, is flying through Earth’s magnetic field near Tuscon        (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56 μT) at 265 ms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Treating the wing as a straight wire, find the induced emf from wingtip to wingtip.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endParaRPr/>
          </a:p>
          <a:p>
            <a:pPr indent="0" lvl="0" marL="0" marR="0" rtl="0" algn="ctr">
              <a:spcBef>
                <a:spcPts val="48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ε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BvL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(56×10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-6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)(60)(265) = 0.90 V.</a:t>
            </a:r>
            <a:endParaRPr/>
          </a:p>
        </p:txBody>
      </p:sp>
      <p:grpSp>
        <p:nvGrpSpPr>
          <p:cNvPr id="519" name="Google Shape;519;p22"/>
          <p:cNvGrpSpPr/>
          <p:nvPr/>
        </p:nvGrpSpPr>
        <p:grpSpPr>
          <a:xfrm>
            <a:off x="-3379788" y="3132138"/>
            <a:ext cx="3359150" cy="3517900"/>
            <a:chOff x="1243" y="1154"/>
            <a:chExt cx="2116" cy="2216"/>
          </a:xfrm>
        </p:grpSpPr>
        <p:grpSp>
          <p:nvGrpSpPr>
            <p:cNvPr id="520" name="Google Shape;520;p22"/>
            <p:cNvGrpSpPr/>
            <p:nvPr/>
          </p:nvGrpSpPr>
          <p:grpSpPr>
            <a:xfrm>
              <a:off x="1243" y="1159"/>
              <a:ext cx="2100" cy="2191"/>
              <a:chOff x="2168" y="1872"/>
              <a:chExt cx="2100" cy="2191"/>
            </a:xfrm>
          </p:grpSpPr>
          <p:grpSp>
            <p:nvGrpSpPr>
              <p:cNvPr id="521" name="Google Shape;521;p22"/>
              <p:cNvGrpSpPr/>
              <p:nvPr/>
            </p:nvGrpSpPr>
            <p:grpSpPr>
              <a:xfrm>
                <a:off x="2168" y="1872"/>
                <a:ext cx="2099" cy="1099"/>
                <a:chOff x="2168" y="1872"/>
                <a:chExt cx="2099" cy="1099"/>
              </a:xfrm>
            </p:grpSpPr>
            <p:sp>
              <p:nvSpPr>
                <p:cNvPr id="522" name="Google Shape;522;p22"/>
                <p:cNvSpPr/>
                <p:nvPr/>
              </p:nvSpPr>
              <p:spPr>
                <a:xfrm>
                  <a:off x="2168" y="1872"/>
                  <a:ext cx="2099" cy="1099"/>
                </a:xfrm>
                <a:custGeom>
                  <a:rect b="b" l="l" r="r" t="t"/>
                  <a:pathLst>
                    <a:path extrusionOk="0" h="1099" w="2099">
                      <a:moveTo>
                        <a:pt x="0" y="1099"/>
                      </a:moveTo>
                      <a:lnTo>
                        <a:pt x="2084" y="1099"/>
                      </a:lnTo>
                      <a:lnTo>
                        <a:pt x="1978" y="1076"/>
                      </a:lnTo>
                      <a:lnTo>
                        <a:pt x="2099" y="735"/>
                      </a:lnTo>
                      <a:lnTo>
                        <a:pt x="2038" y="750"/>
                      </a:lnTo>
                      <a:lnTo>
                        <a:pt x="1788" y="1023"/>
                      </a:lnTo>
                      <a:lnTo>
                        <a:pt x="1644" y="993"/>
                      </a:lnTo>
                      <a:lnTo>
                        <a:pt x="1159" y="993"/>
                      </a:lnTo>
                      <a:lnTo>
                        <a:pt x="1159" y="690"/>
                      </a:lnTo>
                      <a:lnTo>
                        <a:pt x="1409" y="99"/>
                      </a:lnTo>
                      <a:lnTo>
                        <a:pt x="1493" y="0"/>
                      </a:lnTo>
                      <a:lnTo>
                        <a:pt x="1440" y="0"/>
                      </a:lnTo>
                      <a:lnTo>
                        <a:pt x="1333" y="83"/>
                      </a:lnTo>
                      <a:lnTo>
                        <a:pt x="689" y="993"/>
                      </a:lnTo>
                      <a:lnTo>
                        <a:pt x="288" y="993"/>
                      </a:lnTo>
                      <a:lnTo>
                        <a:pt x="189" y="1016"/>
                      </a:lnTo>
                      <a:lnTo>
                        <a:pt x="68" y="1046"/>
                      </a:lnTo>
                      <a:lnTo>
                        <a:pt x="0" y="1099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3" name="Google Shape;523;p22"/>
                <p:cNvSpPr/>
                <p:nvPr/>
              </p:nvSpPr>
              <p:spPr>
                <a:xfrm>
                  <a:off x="2797" y="2524"/>
                  <a:ext cx="258" cy="151"/>
                </a:xfrm>
                <a:custGeom>
                  <a:rect b="b" l="l" r="r" t="t"/>
                  <a:pathLst>
                    <a:path extrusionOk="0" h="151" w="258">
                      <a:moveTo>
                        <a:pt x="0" y="15"/>
                      </a:moveTo>
                      <a:lnTo>
                        <a:pt x="53" y="0"/>
                      </a:lnTo>
                      <a:lnTo>
                        <a:pt x="144" y="0"/>
                      </a:lnTo>
                      <a:lnTo>
                        <a:pt x="212" y="15"/>
                      </a:lnTo>
                      <a:lnTo>
                        <a:pt x="258" y="60"/>
                      </a:lnTo>
                      <a:lnTo>
                        <a:pt x="212" y="136"/>
                      </a:lnTo>
                      <a:lnTo>
                        <a:pt x="144" y="151"/>
                      </a:lnTo>
                      <a:lnTo>
                        <a:pt x="76" y="151"/>
                      </a:lnTo>
                      <a:lnTo>
                        <a:pt x="0" y="129"/>
                      </a:lnTo>
                      <a:lnTo>
                        <a:pt x="0" y="1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24" name="Google Shape;524;p22"/>
              <p:cNvGrpSpPr/>
              <p:nvPr/>
            </p:nvGrpSpPr>
            <p:grpSpPr>
              <a:xfrm flipH="1" rot="10800000">
                <a:off x="2169" y="2964"/>
                <a:ext cx="2099" cy="1099"/>
                <a:chOff x="2168" y="1872"/>
                <a:chExt cx="2099" cy="1099"/>
              </a:xfrm>
            </p:grpSpPr>
            <p:sp>
              <p:nvSpPr>
                <p:cNvPr id="525" name="Google Shape;525;p22"/>
                <p:cNvSpPr/>
                <p:nvPr/>
              </p:nvSpPr>
              <p:spPr>
                <a:xfrm>
                  <a:off x="2168" y="1872"/>
                  <a:ext cx="2099" cy="1099"/>
                </a:xfrm>
                <a:custGeom>
                  <a:rect b="b" l="l" r="r" t="t"/>
                  <a:pathLst>
                    <a:path extrusionOk="0" h="1099" w="2099">
                      <a:moveTo>
                        <a:pt x="0" y="1099"/>
                      </a:moveTo>
                      <a:lnTo>
                        <a:pt x="2084" y="1099"/>
                      </a:lnTo>
                      <a:lnTo>
                        <a:pt x="1978" y="1076"/>
                      </a:lnTo>
                      <a:lnTo>
                        <a:pt x="2099" y="735"/>
                      </a:lnTo>
                      <a:lnTo>
                        <a:pt x="2038" y="750"/>
                      </a:lnTo>
                      <a:lnTo>
                        <a:pt x="1788" y="1023"/>
                      </a:lnTo>
                      <a:lnTo>
                        <a:pt x="1644" y="993"/>
                      </a:lnTo>
                      <a:lnTo>
                        <a:pt x="1159" y="993"/>
                      </a:lnTo>
                      <a:lnTo>
                        <a:pt x="1159" y="690"/>
                      </a:lnTo>
                      <a:lnTo>
                        <a:pt x="1409" y="99"/>
                      </a:lnTo>
                      <a:lnTo>
                        <a:pt x="1493" y="0"/>
                      </a:lnTo>
                      <a:lnTo>
                        <a:pt x="1440" y="0"/>
                      </a:lnTo>
                      <a:lnTo>
                        <a:pt x="1333" y="83"/>
                      </a:lnTo>
                      <a:lnTo>
                        <a:pt x="689" y="993"/>
                      </a:lnTo>
                      <a:lnTo>
                        <a:pt x="288" y="993"/>
                      </a:lnTo>
                      <a:lnTo>
                        <a:pt x="189" y="1016"/>
                      </a:lnTo>
                      <a:lnTo>
                        <a:pt x="68" y="1046"/>
                      </a:lnTo>
                      <a:lnTo>
                        <a:pt x="0" y="1099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6" name="Google Shape;526;p22"/>
                <p:cNvSpPr/>
                <p:nvPr/>
              </p:nvSpPr>
              <p:spPr>
                <a:xfrm>
                  <a:off x="2797" y="2524"/>
                  <a:ext cx="258" cy="151"/>
                </a:xfrm>
                <a:custGeom>
                  <a:rect b="b" l="l" r="r" t="t"/>
                  <a:pathLst>
                    <a:path extrusionOk="0" h="151" w="258">
                      <a:moveTo>
                        <a:pt x="0" y="15"/>
                      </a:moveTo>
                      <a:lnTo>
                        <a:pt x="53" y="0"/>
                      </a:lnTo>
                      <a:lnTo>
                        <a:pt x="144" y="0"/>
                      </a:lnTo>
                      <a:lnTo>
                        <a:pt x="212" y="15"/>
                      </a:lnTo>
                      <a:lnTo>
                        <a:pt x="258" y="60"/>
                      </a:lnTo>
                      <a:lnTo>
                        <a:pt x="212" y="136"/>
                      </a:lnTo>
                      <a:lnTo>
                        <a:pt x="144" y="151"/>
                      </a:lnTo>
                      <a:lnTo>
                        <a:pt x="76" y="151"/>
                      </a:lnTo>
                      <a:lnTo>
                        <a:pt x="0" y="129"/>
                      </a:lnTo>
                      <a:lnTo>
                        <a:pt x="0" y="1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527" name="Google Shape;527;p22"/>
            <p:cNvSpPr/>
            <p:nvPr/>
          </p:nvSpPr>
          <p:spPr>
            <a:xfrm>
              <a:off x="1243" y="1154"/>
              <a:ext cx="2116" cy="2216"/>
            </a:xfrm>
            <a:prstGeom prst="rect">
              <a:avLst/>
            </a:prstGeom>
            <a:noFill/>
            <a:ln>
              <a:noFill/>
            </a:ln>
          </p:spPr>
        </p:sp>
      </p:grpSp>
      <p:sp>
        <p:nvSpPr>
          <p:cNvPr id="528" name="Google Shape;528;p22"/>
          <p:cNvSpPr/>
          <p:nvPr/>
        </p:nvSpPr>
        <p:spPr>
          <a:xfrm>
            <a:off x="685800" y="409575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Topic D: Fields AHL</a:t>
            </a:r>
            <a:b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D.4 – Induction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22"/>
          <p:cNvSpPr/>
          <p:nvPr/>
        </p:nvSpPr>
        <p:spPr>
          <a:xfrm>
            <a:off x="685800" y="1354138"/>
            <a:ext cx="7772400" cy="439737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Induced electromotive force 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– straight wire through B</a:t>
            </a:r>
            <a:endParaRPr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0"/>
                                        <p:tgtEl>
                                          <p:spTgt spid="5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23"/>
          <p:cNvSpPr/>
          <p:nvPr/>
        </p:nvSpPr>
        <p:spPr>
          <a:xfrm>
            <a:off x="685800" y="1354138"/>
            <a:ext cx="7772400" cy="5503862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Magnetic flux</a:t>
            </a:r>
            <a:r>
              <a:rPr lang="en-US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∙Consider the experiment where the plane of the loop is in the same plane as the moving magnetic field: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 or F:	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Because of the                                            orientation of the loop                                                       most of the magnetic                                                         field lines to NOT pass                                                   through the area of                                                             the loop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 or F:	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There is                                                                no current                                                                 generated in                                                                      this experiment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grpSp>
        <p:nvGrpSpPr>
          <p:cNvPr id="535" name="Google Shape;535;p23"/>
          <p:cNvGrpSpPr/>
          <p:nvPr/>
        </p:nvGrpSpPr>
        <p:grpSpPr>
          <a:xfrm>
            <a:off x="5108575" y="2044700"/>
            <a:ext cx="4132263" cy="2922174"/>
            <a:chOff x="2059" y="1289"/>
            <a:chExt cx="2603" cy="1841"/>
          </a:xfrm>
        </p:grpSpPr>
        <p:grpSp>
          <p:nvGrpSpPr>
            <p:cNvPr id="536" name="Google Shape;536;p23"/>
            <p:cNvGrpSpPr/>
            <p:nvPr/>
          </p:nvGrpSpPr>
          <p:grpSpPr>
            <a:xfrm>
              <a:off x="2894" y="1289"/>
              <a:ext cx="1768" cy="987"/>
              <a:chOff x="3525" y="1447"/>
              <a:chExt cx="1768" cy="987"/>
            </a:xfrm>
          </p:grpSpPr>
          <p:grpSp>
            <p:nvGrpSpPr>
              <p:cNvPr id="537" name="Google Shape;537;p23"/>
              <p:cNvGrpSpPr/>
              <p:nvPr/>
            </p:nvGrpSpPr>
            <p:grpSpPr>
              <a:xfrm>
                <a:off x="4183" y="1447"/>
                <a:ext cx="1110" cy="603"/>
                <a:chOff x="3525" y="1831"/>
                <a:chExt cx="1110" cy="603"/>
              </a:xfrm>
            </p:grpSpPr>
            <p:sp>
              <p:nvSpPr>
                <p:cNvPr id="538" name="Google Shape;538;p23"/>
                <p:cNvSpPr/>
                <p:nvPr/>
              </p:nvSpPr>
              <p:spPr>
                <a:xfrm>
                  <a:off x="3525" y="2228"/>
                  <a:ext cx="452" cy="206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9" name="Google Shape;539;p23"/>
                <p:cNvSpPr/>
                <p:nvPr/>
              </p:nvSpPr>
              <p:spPr>
                <a:xfrm>
                  <a:off x="3525" y="1838"/>
                  <a:ext cx="1110" cy="384"/>
                </a:xfrm>
                <a:custGeom>
                  <a:rect b="b" l="l" r="r" t="t"/>
                  <a:pathLst>
                    <a:path extrusionOk="0" h="384" w="1110">
                      <a:moveTo>
                        <a:pt x="0" y="384"/>
                      </a:moveTo>
                      <a:lnTo>
                        <a:pt x="665" y="0"/>
                      </a:lnTo>
                      <a:lnTo>
                        <a:pt x="1110" y="0"/>
                      </a:lnTo>
                      <a:lnTo>
                        <a:pt x="445" y="384"/>
                      </a:lnTo>
                      <a:lnTo>
                        <a:pt x="0" y="38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40" name="Google Shape;540;p23"/>
                <p:cNvSpPr/>
                <p:nvPr/>
              </p:nvSpPr>
              <p:spPr>
                <a:xfrm>
                  <a:off x="3970" y="1831"/>
                  <a:ext cx="665" cy="597"/>
                </a:xfrm>
                <a:custGeom>
                  <a:rect b="b" l="l" r="r" t="t"/>
                  <a:pathLst>
                    <a:path extrusionOk="0" h="597" w="665">
                      <a:moveTo>
                        <a:pt x="0" y="597"/>
                      </a:moveTo>
                      <a:lnTo>
                        <a:pt x="0" y="384"/>
                      </a:lnTo>
                      <a:lnTo>
                        <a:pt x="665" y="0"/>
                      </a:lnTo>
                      <a:lnTo>
                        <a:pt x="665" y="213"/>
                      </a:lnTo>
                      <a:lnTo>
                        <a:pt x="0" y="59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41" name="Google Shape;541;p23"/>
              <p:cNvGrpSpPr/>
              <p:nvPr/>
            </p:nvGrpSpPr>
            <p:grpSpPr>
              <a:xfrm>
                <a:off x="3525" y="1831"/>
                <a:ext cx="1110" cy="603"/>
                <a:chOff x="3525" y="1831"/>
                <a:chExt cx="1110" cy="603"/>
              </a:xfrm>
            </p:grpSpPr>
            <p:sp>
              <p:nvSpPr>
                <p:cNvPr id="542" name="Google Shape;542;p23"/>
                <p:cNvSpPr/>
                <p:nvPr/>
              </p:nvSpPr>
              <p:spPr>
                <a:xfrm>
                  <a:off x="3525" y="2228"/>
                  <a:ext cx="452" cy="206"/>
                </a:xfrm>
                <a:prstGeom prst="rect">
                  <a:avLst/>
                </a:prstGeom>
                <a:solidFill>
                  <a:srgbClr val="FF7C80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43" name="Google Shape;543;p23"/>
                <p:cNvSpPr/>
                <p:nvPr/>
              </p:nvSpPr>
              <p:spPr>
                <a:xfrm>
                  <a:off x="3525" y="1838"/>
                  <a:ext cx="1110" cy="384"/>
                </a:xfrm>
                <a:custGeom>
                  <a:rect b="b" l="l" r="r" t="t"/>
                  <a:pathLst>
                    <a:path extrusionOk="0" h="384" w="1110">
                      <a:moveTo>
                        <a:pt x="0" y="384"/>
                      </a:moveTo>
                      <a:lnTo>
                        <a:pt x="665" y="0"/>
                      </a:lnTo>
                      <a:lnTo>
                        <a:pt x="1110" y="0"/>
                      </a:lnTo>
                      <a:lnTo>
                        <a:pt x="445" y="384"/>
                      </a:lnTo>
                      <a:lnTo>
                        <a:pt x="0" y="384"/>
                      </a:lnTo>
                      <a:close/>
                    </a:path>
                  </a:pathLst>
                </a:custGeom>
                <a:solidFill>
                  <a:srgbClr val="FF7C80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44" name="Google Shape;544;p23"/>
                <p:cNvSpPr/>
                <p:nvPr/>
              </p:nvSpPr>
              <p:spPr>
                <a:xfrm>
                  <a:off x="3970" y="1831"/>
                  <a:ext cx="665" cy="597"/>
                </a:xfrm>
                <a:custGeom>
                  <a:rect b="b" l="l" r="r" t="t"/>
                  <a:pathLst>
                    <a:path extrusionOk="0" h="597" w="665">
                      <a:moveTo>
                        <a:pt x="0" y="597"/>
                      </a:moveTo>
                      <a:lnTo>
                        <a:pt x="0" y="384"/>
                      </a:lnTo>
                      <a:lnTo>
                        <a:pt x="665" y="0"/>
                      </a:lnTo>
                      <a:lnTo>
                        <a:pt x="665" y="213"/>
                      </a:lnTo>
                      <a:lnTo>
                        <a:pt x="0" y="597"/>
                      </a:lnTo>
                      <a:close/>
                    </a:path>
                  </a:pathLst>
                </a:custGeom>
                <a:solidFill>
                  <a:srgbClr val="FF7C80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545" name="Google Shape;545;p23"/>
              <p:cNvSpPr/>
              <p:nvPr/>
            </p:nvSpPr>
            <p:spPr>
              <a:xfrm>
                <a:off x="3703" y="2030"/>
                <a:ext cx="487" cy="139"/>
              </a:xfrm>
              <a:custGeom>
                <a:rect b="b" l="l" r="r" t="t"/>
                <a:pathLst>
                  <a:path extrusionOk="0" h="172" w="603">
                    <a:moveTo>
                      <a:pt x="0" y="172"/>
                    </a:moveTo>
                    <a:lnTo>
                      <a:pt x="274" y="0"/>
                    </a:lnTo>
                    <a:lnTo>
                      <a:pt x="329" y="165"/>
                    </a:lnTo>
                    <a:lnTo>
                      <a:pt x="603" y="7"/>
                    </a:lnTo>
                  </a:path>
                </a:pathLst>
              </a:cu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6" name="Google Shape;546;p23"/>
              <p:cNvSpPr/>
              <p:nvPr/>
            </p:nvSpPr>
            <p:spPr>
              <a:xfrm>
                <a:off x="4662" y="1487"/>
                <a:ext cx="391" cy="181"/>
              </a:xfrm>
              <a:custGeom>
                <a:rect b="b" l="l" r="r" t="t"/>
                <a:pathLst>
                  <a:path extrusionOk="0" h="181" w="391">
                    <a:moveTo>
                      <a:pt x="391" y="42"/>
                    </a:moveTo>
                    <a:cubicBezTo>
                      <a:pt x="387" y="37"/>
                      <a:pt x="388" y="21"/>
                      <a:pt x="370" y="14"/>
                    </a:cubicBezTo>
                    <a:cubicBezTo>
                      <a:pt x="352" y="7"/>
                      <a:pt x="314" y="0"/>
                      <a:pt x="281" y="0"/>
                    </a:cubicBezTo>
                    <a:cubicBezTo>
                      <a:pt x="248" y="0"/>
                      <a:pt x="199" y="7"/>
                      <a:pt x="172" y="14"/>
                    </a:cubicBezTo>
                    <a:cubicBezTo>
                      <a:pt x="145" y="21"/>
                      <a:pt x="123" y="33"/>
                      <a:pt x="117" y="42"/>
                    </a:cubicBezTo>
                    <a:cubicBezTo>
                      <a:pt x="111" y="51"/>
                      <a:pt x="121" y="64"/>
                      <a:pt x="138" y="70"/>
                    </a:cubicBezTo>
                    <a:cubicBezTo>
                      <a:pt x="155" y="76"/>
                      <a:pt x="196" y="69"/>
                      <a:pt x="220" y="76"/>
                    </a:cubicBezTo>
                    <a:cubicBezTo>
                      <a:pt x="244" y="83"/>
                      <a:pt x="280" y="99"/>
                      <a:pt x="282" y="111"/>
                    </a:cubicBezTo>
                    <a:cubicBezTo>
                      <a:pt x="284" y="123"/>
                      <a:pt x="258" y="140"/>
                      <a:pt x="233" y="151"/>
                    </a:cubicBezTo>
                    <a:cubicBezTo>
                      <a:pt x="208" y="162"/>
                      <a:pt x="164" y="177"/>
                      <a:pt x="130" y="179"/>
                    </a:cubicBezTo>
                    <a:cubicBezTo>
                      <a:pt x="96" y="181"/>
                      <a:pt x="50" y="175"/>
                      <a:pt x="28" y="165"/>
                    </a:cubicBezTo>
                    <a:cubicBezTo>
                      <a:pt x="6" y="155"/>
                      <a:pt x="3" y="136"/>
                      <a:pt x="0" y="117"/>
                    </a:cubicBezTo>
                  </a:path>
                </a:pathLst>
              </a:cu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47" name="Google Shape;547;p23"/>
            <p:cNvGrpSpPr/>
            <p:nvPr/>
          </p:nvGrpSpPr>
          <p:grpSpPr>
            <a:xfrm>
              <a:off x="2059" y="2086"/>
              <a:ext cx="1252" cy="1044"/>
              <a:chOff x="2059" y="2086"/>
              <a:chExt cx="1252" cy="1044"/>
            </a:xfrm>
          </p:grpSpPr>
          <p:sp>
            <p:nvSpPr>
              <p:cNvPr id="548" name="Google Shape;548;p23"/>
              <p:cNvSpPr/>
              <p:nvPr/>
            </p:nvSpPr>
            <p:spPr>
              <a:xfrm rot="-346116">
                <a:off x="2253" y="2218"/>
                <a:ext cx="713" cy="775"/>
              </a:xfrm>
              <a:custGeom>
                <a:rect b="b" l="l" r="r" t="t"/>
                <a:pathLst>
                  <a:path extrusionOk="0" h="858" w="713">
                    <a:moveTo>
                      <a:pt x="713" y="0"/>
                    </a:moveTo>
                    <a:cubicBezTo>
                      <a:pt x="594" y="66"/>
                      <a:pt x="476" y="132"/>
                      <a:pt x="377" y="220"/>
                    </a:cubicBezTo>
                    <a:cubicBezTo>
                      <a:pt x="278" y="308"/>
                      <a:pt x="180" y="422"/>
                      <a:pt x="117" y="528"/>
                    </a:cubicBezTo>
                    <a:cubicBezTo>
                      <a:pt x="54" y="634"/>
                      <a:pt x="27" y="746"/>
                      <a:pt x="0" y="858"/>
                    </a:cubicBezTo>
                  </a:path>
                </a:pathLst>
              </a:custGeom>
              <a:noFill/>
              <a:ln cap="flat" cmpd="sng" w="190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9" name="Google Shape;549;p23"/>
              <p:cNvSpPr/>
              <p:nvPr/>
            </p:nvSpPr>
            <p:spPr>
              <a:xfrm rot="-224057">
                <a:off x="2416" y="2239"/>
                <a:ext cx="542" cy="858"/>
              </a:xfrm>
              <a:custGeom>
                <a:rect b="b" l="l" r="r" t="t"/>
                <a:pathLst>
                  <a:path extrusionOk="0" h="858" w="713">
                    <a:moveTo>
                      <a:pt x="713" y="0"/>
                    </a:moveTo>
                    <a:cubicBezTo>
                      <a:pt x="594" y="66"/>
                      <a:pt x="476" y="132"/>
                      <a:pt x="377" y="220"/>
                    </a:cubicBezTo>
                    <a:cubicBezTo>
                      <a:pt x="278" y="308"/>
                      <a:pt x="180" y="422"/>
                      <a:pt x="117" y="528"/>
                    </a:cubicBezTo>
                    <a:cubicBezTo>
                      <a:pt x="54" y="634"/>
                      <a:pt x="27" y="746"/>
                      <a:pt x="0" y="858"/>
                    </a:cubicBezTo>
                  </a:path>
                </a:pathLst>
              </a:custGeom>
              <a:noFill/>
              <a:ln cap="flat" cmpd="sng" w="190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0" name="Google Shape;550;p23"/>
              <p:cNvSpPr/>
              <p:nvPr/>
            </p:nvSpPr>
            <p:spPr>
              <a:xfrm>
                <a:off x="2167" y="2149"/>
                <a:ext cx="759" cy="627"/>
              </a:xfrm>
              <a:custGeom>
                <a:rect b="b" l="l" r="r" t="t"/>
                <a:pathLst>
                  <a:path extrusionOk="0" h="627" w="759">
                    <a:moveTo>
                      <a:pt x="759" y="0"/>
                    </a:moveTo>
                    <a:cubicBezTo>
                      <a:pt x="599" y="84"/>
                      <a:pt x="440" y="169"/>
                      <a:pt x="314" y="273"/>
                    </a:cubicBezTo>
                    <a:cubicBezTo>
                      <a:pt x="188" y="377"/>
                      <a:pt x="94" y="502"/>
                      <a:pt x="0" y="627"/>
                    </a:cubicBezTo>
                  </a:path>
                </a:pathLst>
              </a:custGeom>
              <a:noFill/>
              <a:ln cap="flat" cmpd="sng" w="190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1" name="Google Shape;551;p23"/>
              <p:cNvSpPr/>
              <p:nvPr/>
            </p:nvSpPr>
            <p:spPr>
              <a:xfrm>
                <a:off x="2059" y="2120"/>
                <a:ext cx="867" cy="331"/>
              </a:xfrm>
              <a:custGeom>
                <a:rect b="b" l="l" r="r" t="t"/>
                <a:pathLst>
                  <a:path extrusionOk="0" h="331" w="867">
                    <a:moveTo>
                      <a:pt x="867" y="0"/>
                    </a:moveTo>
                    <a:cubicBezTo>
                      <a:pt x="682" y="89"/>
                      <a:pt x="497" y="179"/>
                      <a:pt x="353" y="234"/>
                    </a:cubicBezTo>
                    <a:cubicBezTo>
                      <a:pt x="209" y="289"/>
                      <a:pt x="104" y="310"/>
                      <a:pt x="0" y="331"/>
                    </a:cubicBezTo>
                  </a:path>
                </a:pathLst>
              </a:custGeom>
              <a:noFill/>
              <a:ln cap="flat" cmpd="sng" w="190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2" name="Google Shape;552;p23"/>
              <p:cNvSpPr/>
              <p:nvPr/>
            </p:nvSpPr>
            <p:spPr>
              <a:xfrm>
                <a:off x="2082" y="2087"/>
                <a:ext cx="850" cy="201"/>
              </a:xfrm>
              <a:custGeom>
                <a:rect b="b" l="l" r="r" t="t"/>
                <a:pathLst>
                  <a:path extrusionOk="0" h="201" w="850">
                    <a:moveTo>
                      <a:pt x="850" y="0"/>
                    </a:moveTo>
                    <a:cubicBezTo>
                      <a:pt x="672" y="82"/>
                      <a:pt x="495" y="165"/>
                      <a:pt x="353" y="183"/>
                    </a:cubicBezTo>
                    <a:cubicBezTo>
                      <a:pt x="211" y="201"/>
                      <a:pt x="105" y="155"/>
                      <a:pt x="0" y="109"/>
                    </a:cubicBezTo>
                  </a:path>
                </a:pathLst>
              </a:custGeom>
              <a:noFill/>
              <a:ln cap="flat" cmpd="sng" w="190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3" name="Google Shape;553;p23"/>
              <p:cNvSpPr/>
              <p:nvPr/>
            </p:nvSpPr>
            <p:spPr>
              <a:xfrm rot="-224057">
                <a:off x="2484" y="2249"/>
                <a:ext cx="542" cy="858"/>
              </a:xfrm>
              <a:custGeom>
                <a:rect b="b" l="l" r="r" t="t"/>
                <a:pathLst>
                  <a:path extrusionOk="0" h="858" w="713">
                    <a:moveTo>
                      <a:pt x="713" y="0"/>
                    </a:moveTo>
                    <a:cubicBezTo>
                      <a:pt x="594" y="66"/>
                      <a:pt x="476" y="132"/>
                      <a:pt x="377" y="220"/>
                    </a:cubicBezTo>
                    <a:cubicBezTo>
                      <a:pt x="278" y="308"/>
                      <a:pt x="180" y="422"/>
                      <a:pt x="117" y="528"/>
                    </a:cubicBezTo>
                    <a:cubicBezTo>
                      <a:pt x="54" y="634"/>
                      <a:pt x="27" y="746"/>
                      <a:pt x="0" y="858"/>
                    </a:cubicBezTo>
                  </a:path>
                </a:pathLst>
              </a:custGeom>
              <a:noFill/>
              <a:ln cap="flat" cmpd="sng" w="190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4" name="Google Shape;554;p23"/>
              <p:cNvSpPr/>
              <p:nvPr/>
            </p:nvSpPr>
            <p:spPr>
              <a:xfrm rot="-224057">
                <a:off x="2574" y="2255"/>
                <a:ext cx="542" cy="858"/>
              </a:xfrm>
              <a:custGeom>
                <a:rect b="b" l="l" r="r" t="t"/>
                <a:pathLst>
                  <a:path extrusionOk="0" h="858" w="713">
                    <a:moveTo>
                      <a:pt x="713" y="0"/>
                    </a:moveTo>
                    <a:cubicBezTo>
                      <a:pt x="594" y="66"/>
                      <a:pt x="476" y="132"/>
                      <a:pt x="377" y="220"/>
                    </a:cubicBezTo>
                    <a:cubicBezTo>
                      <a:pt x="278" y="308"/>
                      <a:pt x="180" y="422"/>
                      <a:pt x="117" y="528"/>
                    </a:cubicBezTo>
                    <a:cubicBezTo>
                      <a:pt x="54" y="634"/>
                      <a:pt x="27" y="746"/>
                      <a:pt x="0" y="858"/>
                    </a:cubicBezTo>
                  </a:path>
                </a:pathLst>
              </a:custGeom>
              <a:noFill/>
              <a:ln cap="flat" cmpd="sng" w="190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5" name="Google Shape;555;p23"/>
              <p:cNvSpPr/>
              <p:nvPr/>
            </p:nvSpPr>
            <p:spPr>
              <a:xfrm rot="-224057">
                <a:off x="2658" y="2253"/>
                <a:ext cx="542" cy="858"/>
              </a:xfrm>
              <a:custGeom>
                <a:rect b="b" l="l" r="r" t="t"/>
                <a:pathLst>
                  <a:path extrusionOk="0" h="858" w="713">
                    <a:moveTo>
                      <a:pt x="713" y="0"/>
                    </a:moveTo>
                    <a:cubicBezTo>
                      <a:pt x="594" y="66"/>
                      <a:pt x="476" y="132"/>
                      <a:pt x="377" y="220"/>
                    </a:cubicBezTo>
                    <a:cubicBezTo>
                      <a:pt x="278" y="308"/>
                      <a:pt x="180" y="422"/>
                      <a:pt x="117" y="528"/>
                    </a:cubicBezTo>
                    <a:cubicBezTo>
                      <a:pt x="54" y="634"/>
                      <a:pt x="27" y="746"/>
                      <a:pt x="0" y="858"/>
                    </a:cubicBezTo>
                  </a:path>
                </a:pathLst>
              </a:custGeom>
              <a:noFill/>
              <a:ln cap="flat" cmpd="sng" w="190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6" name="Google Shape;556;p23"/>
              <p:cNvSpPr/>
              <p:nvPr/>
            </p:nvSpPr>
            <p:spPr>
              <a:xfrm rot="-224057">
                <a:off x="2742" y="2253"/>
                <a:ext cx="542" cy="858"/>
              </a:xfrm>
              <a:custGeom>
                <a:rect b="b" l="l" r="r" t="t"/>
                <a:pathLst>
                  <a:path extrusionOk="0" h="858" w="713">
                    <a:moveTo>
                      <a:pt x="713" y="0"/>
                    </a:moveTo>
                    <a:cubicBezTo>
                      <a:pt x="594" y="66"/>
                      <a:pt x="476" y="132"/>
                      <a:pt x="377" y="220"/>
                    </a:cubicBezTo>
                    <a:cubicBezTo>
                      <a:pt x="278" y="308"/>
                      <a:pt x="180" y="422"/>
                      <a:pt x="117" y="528"/>
                    </a:cubicBezTo>
                    <a:cubicBezTo>
                      <a:pt x="54" y="634"/>
                      <a:pt x="27" y="746"/>
                      <a:pt x="0" y="858"/>
                    </a:cubicBezTo>
                  </a:path>
                </a:pathLst>
              </a:custGeom>
              <a:noFill/>
              <a:ln cap="flat" cmpd="sng" w="190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7" name="Google Shape;557;p23"/>
              <p:cNvSpPr/>
              <p:nvPr/>
            </p:nvSpPr>
            <p:spPr>
              <a:xfrm>
                <a:off x="2156" y="2092"/>
                <a:ext cx="850" cy="201"/>
              </a:xfrm>
              <a:custGeom>
                <a:rect b="b" l="l" r="r" t="t"/>
                <a:pathLst>
                  <a:path extrusionOk="0" h="201" w="850">
                    <a:moveTo>
                      <a:pt x="850" y="0"/>
                    </a:moveTo>
                    <a:cubicBezTo>
                      <a:pt x="672" y="82"/>
                      <a:pt x="495" y="165"/>
                      <a:pt x="353" y="183"/>
                    </a:cubicBezTo>
                    <a:cubicBezTo>
                      <a:pt x="211" y="201"/>
                      <a:pt x="105" y="155"/>
                      <a:pt x="0" y="109"/>
                    </a:cubicBezTo>
                  </a:path>
                </a:pathLst>
              </a:custGeom>
              <a:noFill/>
              <a:ln cap="flat" cmpd="sng" w="190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8" name="Google Shape;558;p23"/>
              <p:cNvSpPr/>
              <p:nvPr/>
            </p:nvSpPr>
            <p:spPr>
              <a:xfrm>
                <a:off x="2252" y="2092"/>
                <a:ext cx="850" cy="201"/>
              </a:xfrm>
              <a:custGeom>
                <a:rect b="b" l="l" r="r" t="t"/>
                <a:pathLst>
                  <a:path extrusionOk="0" h="201" w="850">
                    <a:moveTo>
                      <a:pt x="850" y="0"/>
                    </a:moveTo>
                    <a:cubicBezTo>
                      <a:pt x="672" y="82"/>
                      <a:pt x="495" y="165"/>
                      <a:pt x="353" y="183"/>
                    </a:cubicBezTo>
                    <a:cubicBezTo>
                      <a:pt x="211" y="201"/>
                      <a:pt x="105" y="155"/>
                      <a:pt x="0" y="109"/>
                    </a:cubicBezTo>
                  </a:path>
                </a:pathLst>
              </a:custGeom>
              <a:noFill/>
              <a:ln cap="flat" cmpd="sng" w="190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9" name="Google Shape;559;p23"/>
              <p:cNvSpPr/>
              <p:nvPr/>
            </p:nvSpPr>
            <p:spPr>
              <a:xfrm>
                <a:off x="2348" y="2086"/>
                <a:ext cx="850" cy="201"/>
              </a:xfrm>
              <a:custGeom>
                <a:rect b="b" l="l" r="r" t="t"/>
                <a:pathLst>
                  <a:path extrusionOk="0" h="201" w="850">
                    <a:moveTo>
                      <a:pt x="850" y="0"/>
                    </a:moveTo>
                    <a:cubicBezTo>
                      <a:pt x="672" y="82"/>
                      <a:pt x="495" y="165"/>
                      <a:pt x="353" y="183"/>
                    </a:cubicBezTo>
                    <a:cubicBezTo>
                      <a:pt x="211" y="201"/>
                      <a:pt x="105" y="155"/>
                      <a:pt x="0" y="109"/>
                    </a:cubicBezTo>
                  </a:path>
                </a:pathLst>
              </a:custGeom>
              <a:noFill/>
              <a:ln cap="flat" cmpd="sng" w="190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0" name="Google Shape;560;p23"/>
              <p:cNvSpPr/>
              <p:nvPr/>
            </p:nvSpPr>
            <p:spPr>
              <a:xfrm>
                <a:off x="2432" y="2086"/>
                <a:ext cx="850" cy="201"/>
              </a:xfrm>
              <a:custGeom>
                <a:rect b="b" l="l" r="r" t="t"/>
                <a:pathLst>
                  <a:path extrusionOk="0" h="201" w="850">
                    <a:moveTo>
                      <a:pt x="850" y="0"/>
                    </a:moveTo>
                    <a:cubicBezTo>
                      <a:pt x="672" y="82"/>
                      <a:pt x="495" y="165"/>
                      <a:pt x="353" y="183"/>
                    </a:cubicBezTo>
                    <a:cubicBezTo>
                      <a:pt x="211" y="201"/>
                      <a:pt x="105" y="155"/>
                      <a:pt x="0" y="109"/>
                    </a:cubicBezTo>
                  </a:path>
                </a:pathLst>
              </a:custGeom>
              <a:noFill/>
              <a:ln cap="flat" cmpd="sng" w="190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1" name="Google Shape;561;p23"/>
              <p:cNvSpPr/>
              <p:nvPr/>
            </p:nvSpPr>
            <p:spPr>
              <a:xfrm>
                <a:off x="2980" y="2207"/>
                <a:ext cx="276" cy="684"/>
              </a:xfrm>
              <a:custGeom>
                <a:rect b="b" l="l" r="r" t="t"/>
                <a:pathLst>
                  <a:path extrusionOk="0" h="684" w="276">
                    <a:moveTo>
                      <a:pt x="276" y="0"/>
                    </a:moveTo>
                    <a:cubicBezTo>
                      <a:pt x="225" y="26"/>
                      <a:pt x="175" y="52"/>
                      <a:pt x="139" y="80"/>
                    </a:cubicBezTo>
                    <a:cubicBezTo>
                      <a:pt x="103" y="108"/>
                      <a:pt x="82" y="121"/>
                      <a:pt x="59" y="171"/>
                    </a:cubicBezTo>
                    <a:cubicBezTo>
                      <a:pt x="36" y="221"/>
                      <a:pt x="4" y="297"/>
                      <a:pt x="2" y="382"/>
                    </a:cubicBezTo>
                    <a:cubicBezTo>
                      <a:pt x="0" y="467"/>
                      <a:pt x="24" y="575"/>
                      <a:pt x="48" y="684"/>
                    </a:cubicBezTo>
                  </a:path>
                </a:pathLst>
              </a:custGeom>
              <a:noFill/>
              <a:ln cap="flat" cmpd="sng" w="190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2" name="Google Shape;562;p23"/>
              <p:cNvSpPr/>
              <p:nvPr/>
            </p:nvSpPr>
            <p:spPr>
              <a:xfrm>
                <a:off x="2851" y="2166"/>
                <a:ext cx="410" cy="743"/>
              </a:xfrm>
              <a:custGeom>
                <a:rect b="b" l="l" r="r" t="t"/>
                <a:pathLst>
                  <a:path extrusionOk="0" h="743" w="410">
                    <a:moveTo>
                      <a:pt x="410" y="0"/>
                    </a:moveTo>
                    <a:cubicBezTo>
                      <a:pt x="381" y="15"/>
                      <a:pt x="282" y="49"/>
                      <a:pt x="234" y="92"/>
                    </a:cubicBezTo>
                    <a:cubicBezTo>
                      <a:pt x="186" y="135"/>
                      <a:pt x="151" y="192"/>
                      <a:pt x="120" y="258"/>
                    </a:cubicBezTo>
                    <a:cubicBezTo>
                      <a:pt x="89" y="324"/>
                      <a:pt x="66" y="405"/>
                      <a:pt x="46" y="486"/>
                    </a:cubicBezTo>
                    <a:cubicBezTo>
                      <a:pt x="26" y="567"/>
                      <a:pt x="10" y="690"/>
                      <a:pt x="0" y="743"/>
                    </a:cubicBezTo>
                  </a:path>
                </a:pathLst>
              </a:custGeom>
              <a:noFill/>
              <a:ln cap="flat" cmpd="sng" w="190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3" name="Google Shape;563;p23"/>
              <p:cNvSpPr/>
              <p:nvPr/>
            </p:nvSpPr>
            <p:spPr>
              <a:xfrm>
                <a:off x="2589" y="2139"/>
                <a:ext cx="673" cy="724"/>
              </a:xfrm>
              <a:custGeom>
                <a:rect b="b" l="l" r="r" t="t"/>
                <a:pathLst>
                  <a:path extrusionOk="0" h="724" w="673">
                    <a:moveTo>
                      <a:pt x="673" y="0"/>
                    </a:moveTo>
                    <a:cubicBezTo>
                      <a:pt x="643" y="13"/>
                      <a:pt x="550" y="46"/>
                      <a:pt x="491" y="79"/>
                    </a:cubicBezTo>
                    <a:cubicBezTo>
                      <a:pt x="432" y="112"/>
                      <a:pt x="375" y="144"/>
                      <a:pt x="320" y="199"/>
                    </a:cubicBezTo>
                    <a:cubicBezTo>
                      <a:pt x="265" y="254"/>
                      <a:pt x="213" y="323"/>
                      <a:pt x="160" y="410"/>
                    </a:cubicBezTo>
                    <a:cubicBezTo>
                      <a:pt x="107" y="497"/>
                      <a:pt x="33" y="659"/>
                      <a:pt x="0" y="724"/>
                    </a:cubicBezTo>
                  </a:path>
                </a:pathLst>
              </a:custGeom>
              <a:noFill/>
              <a:ln cap="flat" cmpd="sng" w="190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64" name="Google Shape;564;p23"/>
          <p:cNvGrpSpPr/>
          <p:nvPr/>
        </p:nvGrpSpPr>
        <p:grpSpPr>
          <a:xfrm>
            <a:off x="3054350" y="2497138"/>
            <a:ext cx="5408613" cy="4183062"/>
            <a:chOff x="2186" y="999"/>
            <a:chExt cx="3407" cy="2635"/>
          </a:xfrm>
        </p:grpSpPr>
        <p:sp>
          <p:nvSpPr>
            <p:cNvPr id="565" name="Google Shape;565;p23"/>
            <p:cNvSpPr/>
            <p:nvPr/>
          </p:nvSpPr>
          <p:spPr>
            <a:xfrm>
              <a:off x="2549" y="2104"/>
              <a:ext cx="577" cy="998"/>
            </a:xfrm>
            <a:custGeom>
              <a:rect b="b" l="l" r="r" t="t"/>
              <a:pathLst>
                <a:path extrusionOk="0" fill="none" h="42528" w="43200">
                  <a:moveTo>
                    <a:pt x="16254" y="42527"/>
                  </a:moveTo>
                  <a:cubicBezTo>
                    <a:pt x="6690" y="40085"/>
                    <a:pt x="0" y="31470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7111"/>
                    <a:pt x="41093" y="32414"/>
                    <a:pt x="37311" y="36423"/>
                  </a:cubicBezTo>
                </a:path>
                <a:path extrusionOk="0" h="42528" w="43200">
                  <a:moveTo>
                    <a:pt x="16254" y="42527"/>
                  </a:moveTo>
                  <a:cubicBezTo>
                    <a:pt x="6690" y="40085"/>
                    <a:pt x="0" y="31470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7111"/>
                    <a:pt x="41093" y="32414"/>
                    <a:pt x="37311" y="36423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cap="flat" cmpd="sng" w="5715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66" name="Google Shape;566;p23"/>
            <p:cNvGrpSpPr/>
            <p:nvPr/>
          </p:nvGrpSpPr>
          <p:grpSpPr>
            <a:xfrm>
              <a:off x="2186" y="999"/>
              <a:ext cx="3407" cy="2635"/>
              <a:chOff x="2186" y="999"/>
              <a:chExt cx="3407" cy="2635"/>
            </a:xfrm>
          </p:grpSpPr>
          <p:grpSp>
            <p:nvGrpSpPr>
              <p:cNvPr id="567" name="Google Shape;567;p23"/>
              <p:cNvGrpSpPr/>
              <p:nvPr/>
            </p:nvGrpSpPr>
            <p:grpSpPr>
              <a:xfrm>
                <a:off x="4230" y="2598"/>
                <a:ext cx="652" cy="521"/>
                <a:chOff x="4100" y="2950"/>
                <a:chExt cx="652" cy="521"/>
              </a:xfrm>
            </p:grpSpPr>
            <p:grpSp>
              <p:nvGrpSpPr>
                <p:cNvPr id="568" name="Google Shape;568;p23"/>
                <p:cNvGrpSpPr/>
                <p:nvPr/>
              </p:nvGrpSpPr>
              <p:grpSpPr>
                <a:xfrm>
                  <a:off x="4100" y="2950"/>
                  <a:ext cx="652" cy="521"/>
                  <a:chOff x="3140" y="3132"/>
                  <a:chExt cx="652" cy="521"/>
                </a:xfrm>
              </p:grpSpPr>
              <p:sp>
                <p:nvSpPr>
                  <p:cNvPr id="569" name="Google Shape;569;p23"/>
                  <p:cNvSpPr/>
                  <p:nvPr/>
                </p:nvSpPr>
                <p:spPr>
                  <a:xfrm>
                    <a:off x="3140" y="3132"/>
                    <a:ext cx="652" cy="521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4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70" name="Google Shape;570;p23"/>
                  <p:cNvSpPr/>
                  <p:nvPr/>
                </p:nvSpPr>
                <p:spPr>
                  <a:xfrm>
                    <a:off x="3339" y="3298"/>
                    <a:ext cx="261" cy="261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4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71" name="Google Shape;571;p23"/>
                  <p:cNvSpPr txBox="1"/>
                  <p:nvPr/>
                </p:nvSpPr>
                <p:spPr>
                  <a:xfrm>
                    <a:off x="3175" y="3305"/>
                    <a:ext cx="178" cy="23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-</a:t>
                    </a:r>
                    <a:endParaRPr/>
                  </a:p>
                </p:txBody>
              </p:sp>
              <p:sp>
                <p:nvSpPr>
                  <p:cNvPr id="572" name="Google Shape;572;p23"/>
                  <p:cNvSpPr txBox="1"/>
                  <p:nvPr/>
                </p:nvSpPr>
                <p:spPr>
                  <a:xfrm>
                    <a:off x="3375" y="3162"/>
                    <a:ext cx="240" cy="17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1" lang="en-US" sz="12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0</a:t>
                    </a:r>
                    <a:endParaRPr/>
                  </a:p>
                </p:txBody>
              </p:sp>
              <p:sp>
                <p:nvSpPr>
                  <p:cNvPr id="573" name="Google Shape;573;p23"/>
                  <p:cNvSpPr txBox="1"/>
                  <p:nvPr/>
                </p:nvSpPr>
                <p:spPr>
                  <a:xfrm>
                    <a:off x="3573" y="3312"/>
                    <a:ext cx="178" cy="23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+</a:t>
                    </a:r>
                    <a:endParaRPr/>
                  </a:p>
                </p:txBody>
              </p:sp>
              <p:sp>
                <p:nvSpPr>
                  <p:cNvPr id="574" name="Google Shape;574;p23"/>
                  <p:cNvSpPr/>
                  <p:nvPr/>
                </p:nvSpPr>
                <p:spPr>
                  <a:xfrm>
                    <a:off x="3196" y="3573"/>
                    <a:ext cx="56" cy="56"/>
                  </a:xfrm>
                  <a:prstGeom prst="ellipse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4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75" name="Google Shape;575;p23"/>
                  <p:cNvSpPr/>
                  <p:nvPr/>
                </p:nvSpPr>
                <p:spPr>
                  <a:xfrm>
                    <a:off x="3682" y="3573"/>
                    <a:ext cx="56" cy="56"/>
                  </a:xfrm>
                  <a:prstGeom prst="ellipse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4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576" name="Google Shape;576;p23"/>
                <p:cNvGrpSpPr/>
                <p:nvPr/>
              </p:nvGrpSpPr>
              <p:grpSpPr>
                <a:xfrm>
                  <a:off x="4321" y="3134"/>
                  <a:ext cx="219" cy="220"/>
                  <a:chOff x="3614" y="2770"/>
                  <a:chExt cx="219" cy="220"/>
                </a:xfrm>
              </p:grpSpPr>
              <p:sp>
                <p:nvSpPr>
                  <p:cNvPr id="577" name="Google Shape;577;p23"/>
                  <p:cNvSpPr/>
                  <p:nvPr/>
                </p:nvSpPr>
                <p:spPr>
                  <a:xfrm>
                    <a:off x="3614" y="2770"/>
                    <a:ext cx="219" cy="219"/>
                  </a:xfrm>
                  <a:prstGeom prst="ellipse">
                    <a:avLst/>
                  </a:prstGeom>
                  <a:solidFill>
                    <a:schemeClr val="lt1"/>
                  </a:solidFill>
                  <a:ln cap="flat" cmpd="sng" w="9525">
                    <a:solidFill>
                      <a:schemeClr val="l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4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578" name="Google Shape;578;p23"/>
                  <p:cNvCxnSpPr/>
                  <p:nvPr/>
                </p:nvCxnSpPr>
                <p:spPr>
                  <a:xfrm rot="10800000">
                    <a:off x="3723" y="2770"/>
                    <a:ext cx="0" cy="220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FF0000"/>
                    </a:solidFill>
                    <a:prstDash val="solid"/>
                    <a:round/>
                    <a:headEnd len="med" w="med" type="none"/>
                    <a:tailEnd len="med" w="med" type="triangle"/>
                  </a:ln>
                </p:spPr>
              </p:cxnSp>
            </p:grpSp>
          </p:grpSp>
          <p:sp>
            <p:nvSpPr>
              <p:cNvPr id="579" name="Google Shape;579;p23"/>
              <p:cNvSpPr/>
              <p:nvPr/>
            </p:nvSpPr>
            <p:spPr>
              <a:xfrm>
                <a:off x="2780" y="3058"/>
                <a:ext cx="2023" cy="576"/>
              </a:xfrm>
              <a:custGeom>
                <a:rect b="b" l="l" r="r" t="t"/>
                <a:pathLst>
                  <a:path extrusionOk="0" h="576" w="2023">
                    <a:moveTo>
                      <a:pt x="0" y="41"/>
                    </a:moveTo>
                    <a:lnTo>
                      <a:pt x="0" y="576"/>
                    </a:lnTo>
                    <a:lnTo>
                      <a:pt x="2023" y="576"/>
                    </a:lnTo>
                    <a:lnTo>
                      <a:pt x="2023" y="0"/>
                    </a:lnTo>
                  </a:path>
                </a:pathLst>
              </a:custGeom>
              <a:noFill/>
              <a:ln cap="flat" cmpd="sng" w="57150">
                <a:solidFill>
                  <a:srgbClr val="FF99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580" name="Google Shape;580;p23"/>
              <p:cNvGrpSpPr/>
              <p:nvPr/>
            </p:nvGrpSpPr>
            <p:grpSpPr>
              <a:xfrm>
                <a:off x="2574" y="2144"/>
                <a:ext cx="506" cy="860"/>
                <a:chOff x="944" y="1874"/>
                <a:chExt cx="506" cy="860"/>
              </a:xfrm>
            </p:grpSpPr>
            <p:cxnSp>
              <p:nvCxnSpPr>
                <p:cNvPr id="581" name="Google Shape;581;p23"/>
                <p:cNvCxnSpPr/>
                <p:nvPr/>
              </p:nvCxnSpPr>
              <p:spPr>
                <a:xfrm flipH="1">
                  <a:off x="944" y="2213"/>
                  <a:ext cx="506" cy="3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lgDashDot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82" name="Google Shape;582;p23"/>
                <p:cNvCxnSpPr/>
                <p:nvPr/>
              </p:nvCxnSpPr>
              <p:spPr>
                <a:xfrm>
                  <a:off x="1201" y="1874"/>
                  <a:ext cx="0" cy="86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lgDashDot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583" name="Google Shape;583;p23"/>
              <p:cNvSpPr/>
              <p:nvPr/>
            </p:nvSpPr>
            <p:spPr>
              <a:xfrm>
                <a:off x="2894" y="2942"/>
                <a:ext cx="1423" cy="625"/>
              </a:xfrm>
              <a:custGeom>
                <a:rect b="b" l="l" r="r" t="t"/>
                <a:pathLst>
                  <a:path extrusionOk="0" h="625" w="1423">
                    <a:moveTo>
                      <a:pt x="159" y="0"/>
                    </a:moveTo>
                    <a:lnTo>
                      <a:pt x="159" y="500"/>
                    </a:lnTo>
                    <a:lnTo>
                      <a:pt x="0" y="625"/>
                    </a:lnTo>
                    <a:lnTo>
                      <a:pt x="1423" y="625"/>
                    </a:lnTo>
                    <a:lnTo>
                      <a:pt x="1423" y="118"/>
                    </a:lnTo>
                  </a:path>
                </a:pathLst>
              </a:custGeom>
              <a:noFill/>
              <a:ln cap="flat" cmpd="sng" w="57150">
                <a:solidFill>
                  <a:srgbClr val="FF99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84" name="Google Shape;584;p23"/>
              <p:cNvCxnSpPr/>
              <p:nvPr/>
            </p:nvCxnSpPr>
            <p:spPr>
              <a:xfrm flipH="1" rot="10800000">
                <a:off x="2186" y="999"/>
                <a:ext cx="3407" cy="2013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2"/>
                </a:solidFill>
                <a:prstDash val="lgDashDot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585" name="Google Shape;585;p23"/>
          <p:cNvSpPr/>
          <p:nvPr/>
        </p:nvSpPr>
        <p:spPr>
          <a:xfrm>
            <a:off x="696913" y="2636838"/>
            <a:ext cx="357187" cy="357187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23"/>
          <p:cNvSpPr/>
          <p:nvPr/>
        </p:nvSpPr>
        <p:spPr>
          <a:xfrm>
            <a:off x="696913" y="4903788"/>
            <a:ext cx="357187" cy="357187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23"/>
          <p:cNvSpPr/>
          <p:nvPr/>
        </p:nvSpPr>
        <p:spPr>
          <a:xfrm>
            <a:off x="685800" y="409575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Topic D: Fields AHL</a:t>
            </a:r>
            <a:b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D.4 – Induction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24"/>
          <p:cNvSpPr/>
          <p:nvPr/>
        </p:nvSpPr>
        <p:spPr>
          <a:xfrm>
            <a:off x="682625" y="5313363"/>
            <a:ext cx="7766050" cy="1544637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FYI   </a:t>
            </a:r>
            <a:endParaRPr/>
          </a:p>
          <a:p>
            <a:pPr indent="0" lvl="0" marL="0" marR="0" rtl="0" algn="l">
              <a:spcBef>
                <a:spcPts val="24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moving-magnet experiments showed that the induced emf depends on the relative orientations of the B-field and area.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24"/>
          <p:cNvSpPr/>
          <p:nvPr/>
        </p:nvSpPr>
        <p:spPr>
          <a:xfrm>
            <a:off x="687388" y="1773238"/>
            <a:ext cx="7772400" cy="3562350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PRACTICE: Compare the </a:t>
            </a:r>
            <a:r>
              <a:rPr lang="en-US" sz="2400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B-field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lines that                  intersect the area of a loop in Case 1: the </a:t>
            </a:r>
            <a:r>
              <a:rPr lang="en-US" sz="2400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B-field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</a:t>
            </a:r>
            <a:r>
              <a:rPr lang="en-US" sz="2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parallel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the plane of the loop, and in Case 2:                  the B-field is </a:t>
            </a:r>
            <a:r>
              <a:rPr lang="en-US" sz="2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perpendicular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the plane of the loop.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∙In (1) note that the loop has no </a:t>
            </a:r>
            <a:r>
              <a:rPr lang="en-US" sz="2400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B-field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lines            passing through it.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∙In (2) note that the loop has many rows of </a:t>
            </a:r>
            <a:r>
              <a:rPr lang="en-US" sz="2400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B-field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lines passing through it. 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24"/>
          <p:cNvSpPr/>
          <p:nvPr/>
        </p:nvSpPr>
        <p:spPr>
          <a:xfrm>
            <a:off x="685800" y="1354138"/>
            <a:ext cx="7772400" cy="43815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Magnetic flux</a:t>
            </a:r>
            <a:r>
              <a:rPr lang="en-US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/>
          </a:p>
        </p:txBody>
      </p:sp>
      <p:cxnSp>
        <p:nvCxnSpPr>
          <p:cNvPr id="595" name="Google Shape;595;p24"/>
          <p:cNvCxnSpPr/>
          <p:nvPr/>
        </p:nvCxnSpPr>
        <p:spPr>
          <a:xfrm flipH="1" rot="10800000">
            <a:off x="7996238" y="1506538"/>
            <a:ext cx="746125" cy="433387"/>
          </a:xfrm>
          <a:prstGeom prst="straightConnector1">
            <a:avLst/>
          </a:prstGeom>
          <a:noFill/>
          <a:ln cap="flat" cmpd="sng" w="28575">
            <a:solidFill>
              <a:srgbClr val="008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6" name="Google Shape;596;p24"/>
          <p:cNvCxnSpPr/>
          <p:nvPr/>
        </p:nvCxnSpPr>
        <p:spPr>
          <a:xfrm flipH="1" rot="10800000">
            <a:off x="7985125" y="1749425"/>
            <a:ext cx="746125" cy="433388"/>
          </a:xfrm>
          <a:prstGeom prst="straightConnector1">
            <a:avLst/>
          </a:prstGeom>
          <a:noFill/>
          <a:ln cap="flat" cmpd="sng" w="28575">
            <a:solidFill>
              <a:srgbClr val="008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7" name="Google Shape;597;p24"/>
          <p:cNvCxnSpPr/>
          <p:nvPr/>
        </p:nvCxnSpPr>
        <p:spPr>
          <a:xfrm flipH="1" rot="10800000">
            <a:off x="7999413" y="1943100"/>
            <a:ext cx="746125" cy="433388"/>
          </a:xfrm>
          <a:prstGeom prst="straightConnector1">
            <a:avLst/>
          </a:prstGeom>
          <a:noFill/>
          <a:ln cap="flat" cmpd="sng" w="28575">
            <a:solidFill>
              <a:srgbClr val="008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8" name="Google Shape;598;p24"/>
          <p:cNvCxnSpPr/>
          <p:nvPr/>
        </p:nvCxnSpPr>
        <p:spPr>
          <a:xfrm flipH="1" rot="10800000">
            <a:off x="7977188" y="2162175"/>
            <a:ext cx="746125" cy="433388"/>
          </a:xfrm>
          <a:prstGeom prst="straightConnector1">
            <a:avLst/>
          </a:prstGeom>
          <a:noFill/>
          <a:ln cap="flat" cmpd="sng" w="28575">
            <a:solidFill>
              <a:srgbClr val="008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9" name="Google Shape;599;p24"/>
          <p:cNvCxnSpPr/>
          <p:nvPr/>
        </p:nvCxnSpPr>
        <p:spPr>
          <a:xfrm flipH="1" rot="10800000">
            <a:off x="7989888" y="2360613"/>
            <a:ext cx="746125" cy="433387"/>
          </a:xfrm>
          <a:prstGeom prst="straightConnector1">
            <a:avLst/>
          </a:prstGeom>
          <a:noFill/>
          <a:ln cap="flat" cmpd="sng" w="28575">
            <a:solidFill>
              <a:srgbClr val="008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0" name="Google Shape;600;p24"/>
          <p:cNvCxnSpPr/>
          <p:nvPr/>
        </p:nvCxnSpPr>
        <p:spPr>
          <a:xfrm flipH="1" rot="10800000">
            <a:off x="7981950" y="2581275"/>
            <a:ext cx="746125" cy="433388"/>
          </a:xfrm>
          <a:prstGeom prst="straightConnector1">
            <a:avLst/>
          </a:prstGeom>
          <a:noFill/>
          <a:ln cap="flat" cmpd="sng" w="28575">
            <a:solidFill>
              <a:srgbClr val="008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601" name="Google Shape;601;p24"/>
          <p:cNvGrpSpPr/>
          <p:nvPr/>
        </p:nvGrpSpPr>
        <p:grpSpPr>
          <a:xfrm>
            <a:off x="7721600" y="1849438"/>
            <a:ext cx="539750" cy="1289050"/>
            <a:chOff x="4219" y="1096"/>
            <a:chExt cx="340" cy="812"/>
          </a:xfrm>
        </p:grpSpPr>
        <p:sp>
          <p:nvSpPr>
            <p:cNvPr id="602" name="Google Shape;602;p24"/>
            <p:cNvSpPr/>
            <p:nvPr/>
          </p:nvSpPr>
          <p:spPr>
            <a:xfrm>
              <a:off x="4219" y="1096"/>
              <a:ext cx="340" cy="805"/>
            </a:xfrm>
            <a:prstGeom prst="ellipse">
              <a:avLst/>
            </a:prstGeom>
            <a:solidFill>
              <a:srgbClr val="BBE0E3">
                <a:alpha val="60784"/>
              </a:srgbClr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03" name="Google Shape;603;p24"/>
            <p:cNvCxnSpPr/>
            <p:nvPr/>
          </p:nvCxnSpPr>
          <p:spPr>
            <a:xfrm>
              <a:off x="4386" y="1096"/>
              <a:ext cx="0" cy="81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Dot"/>
              <a:round/>
              <a:headEnd len="med" w="med" type="none"/>
              <a:tailEnd len="med" w="med" type="none"/>
            </a:ln>
          </p:spPr>
        </p:cxnSp>
        <p:cxnSp>
          <p:nvCxnSpPr>
            <p:cNvPr id="604" name="Google Shape;604;p24"/>
            <p:cNvCxnSpPr/>
            <p:nvPr/>
          </p:nvCxnSpPr>
          <p:spPr>
            <a:xfrm flipH="1">
              <a:off x="4226" y="1395"/>
              <a:ext cx="326" cy="20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Dot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605" name="Google Shape;605;p24"/>
          <p:cNvCxnSpPr/>
          <p:nvPr/>
        </p:nvCxnSpPr>
        <p:spPr>
          <a:xfrm>
            <a:off x="8018463" y="3586163"/>
            <a:ext cx="866775" cy="0"/>
          </a:xfrm>
          <a:prstGeom prst="straightConnector1">
            <a:avLst/>
          </a:prstGeom>
          <a:noFill/>
          <a:ln cap="flat" cmpd="sng" w="28575">
            <a:solidFill>
              <a:srgbClr val="008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6" name="Google Shape;606;p24"/>
          <p:cNvCxnSpPr/>
          <p:nvPr/>
        </p:nvCxnSpPr>
        <p:spPr>
          <a:xfrm>
            <a:off x="8010525" y="3768725"/>
            <a:ext cx="866775" cy="0"/>
          </a:xfrm>
          <a:prstGeom prst="straightConnector1">
            <a:avLst/>
          </a:prstGeom>
          <a:noFill/>
          <a:ln cap="flat" cmpd="sng" w="28575">
            <a:solidFill>
              <a:srgbClr val="008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7" name="Google Shape;607;p24"/>
          <p:cNvCxnSpPr/>
          <p:nvPr/>
        </p:nvCxnSpPr>
        <p:spPr>
          <a:xfrm>
            <a:off x="8015288" y="3951288"/>
            <a:ext cx="866775" cy="0"/>
          </a:xfrm>
          <a:prstGeom prst="straightConnector1">
            <a:avLst/>
          </a:prstGeom>
          <a:noFill/>
          <a:ln cap="flat" cmpd="sng" w="28575">
            <a:solidFill>
              <a:srgbClr val="008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8" name="Google Shape;608;p24"/>
          <p:cNvCxnSpPr/>
          <p:nvPr/>
        </p:nvCxnSpPr>
        <p:spPr>
          <a:xfrm>
            <a:off x="8020050" y="4133850"/>
            <a:ext cx="866775" cy="0"/>
          </a:xfrm>
          <a:prstGeom prst="straightConnector1">
            <a:avLst/>
          </a:prstGeom>
          <a:noFill/>
          <a:ln cap="flat" cmpd="sng" w="28575">
            <a:solidFill>
              <a:srgbClr val="008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9" name="Google Shape;609;p24"/>
          <p:cNvCxnSpPr/>
          <p:nvPr/>
        </p:nvCxnSpPr>
        <p:spPr>
          <a:xfrm>
            <a:off x="8012113" y="4316413"/>
            <a:ext cx="866775" cy="0"/>
          </a:xfrm>
          <a:prstGeom prst="straightConnector1">
            <a:avLst/>
          </a:prstGeom>
          <a:noFill/>
          <a:ln cap="flat" cmpd="sng" w="28575">
            <a:solidFill>
              <a:srgbClr val="008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0" name="Google Shape;610;p24"/>
          <p:cNvCxnSpPr/>
          <p:nvPr/>
        </p:nvCxnSpPr>
        <p:spPr>
          <a:xfrm>
            <a:off x="8016875" y="4498975"/>
            <a:ext cx="866775" cy="0"/>
          </a:xfrm>
          <a:prstGeom prst="straightConnector1">
            <a:avLst/>
          </a:prstGeom>
          <a:noFill/>
          <a:ln cap="flat" cmpd="sng" w="28575">
            <a:solidFill>
              <a:srgbClr val="008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1" name="Google Shape;611;p24"/>
          <p:cNvCxnSpPr/>
          <p:nvPr/>
        </p:nvCxnSpPr>
        <p:spPr>
          <a:xfrm>
            <a:off x="8008938" y="4681538"/>
            <a:ext cx="866775" cy="0"/>
          </a:xfrm>
          <a:prstGeom prst="straightConnector1">
            <a:avLst/>
          </a:prstGeom>
          <a:noFill/>
          <a:ln cap="flat" cmpd="sng" w="28575">
            <a:solidFill>
              <a:srgbClr val="008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12" name="Google Shape;612;p24"/>
          <p:cNvSpPr txBox="1"/>
          <p:nvPr/>
        </p:nvSpPr>
        <p:spPr>
          <a:xfrm>
            <a:off x="7659688" y="1504950"/>
            <a:ext cx="750887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(1)</a:t>
            </a:r>
            <a:endParaRPr/>
          </a:p>
        </p:txBody>
      </p:sp>
      <p:sp>
        <p:nvSpPr>
          <p:cNvPr id="613" name="Google Shape;613;p24"/>
          <p:cNvSpPr txBox="1"/>
          <p:nvPr/>
        </p:nvSpPr>
        <p:spPr>
          <a:xfrm>
            <a:off x="7688263" y="3181350"/>
            <a:ext cx="750887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(2)</a:t>
            </a:r>
            <a:endParaRPr/>
          </a:p>
        </p:txBody>
      </p:sp>
      <p:cxnSp>
        <p:nvCxnSpPr>
          <p:cNvPr id="614" name="Google Shape;614;p24"/>
          <p:cNvCxnSpPr/>
          <p:nvPr/>
        </p:nvCxnSpPr>
        <p:spPr>
          <a:xfrm flipH="1" rot="10800000">
            <a:off x="8235950" y="1508125"/>
            <a:ext cx="746125" cy="433388"/>
          </a:xfrm>
          <a:prstGeom prst="straightConnector1">
            <a:avLst/>
          </a:prstGeom>
          <a:noFill/>
          <a:ln cap="flat" cmpd="sng" w="38100">
            <a:solidFill>
              <a:srgbClr val="008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5" name="Google Shape;615;p24"/>
          <p:cNvCxnSpPr/>
          <p:nvPr/>
        </p:nvCxnSpPr>
        <p:spPr>
          <a:xfrm flipH="1" rot="10800000">
            <a:off x="8224838" y="1751013"/>
            <a:ext cx="746125" cy="433387"/>
          </a:xfrm>
          <a:prstGeom prst="straightConnector1">
            <a:avLst/>
          </a:prstGeom>
          <a:noFill/>
          <a:ln cap="flat" cmpd="sng" w="38100">
            <a:solidFill>
              <a:srgbClr val="008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6" name="Google Shape;616;p24"/>
          <p:cNvCxnSpPr/>
          <p:nvPr/>
        </p:nvCxnSpPr>
        <p:spPr>
          <a:xfrm flipH="1" rot="10800000">
            <a:off x="8239125" y="1944688"/>
            <a:ext cx="746125" cy="433387"/>
          </a:xfrm>
          <a:prstGeom prst="straightConnector1">
            <a:avLst/>
          </a:prstGeom>
          <a:noFill/>
          <a:ln cap="flat" cmpd="sng" w="38100">
            <a:solidFill>
              <a:srgbClr val="008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7" name="Google Shape;617;p24"/>
          <p:cNvCxnSpPr/>
          <p:nvPr/>
        </p:nvCxnSpPr>
        <p:spPr>
          <a:xfrm flipH="1" rot="10800000">
            <a:off x="8216900" y="2163763"/>
            <a:ext cx="746125" cy="433387"/>
          </a:xfrm>
          <a:prstGeom prst="straightConnector1">
            <a:avLst/>
          </a:prstGeom>
          <a:noFill/>
          <a:ln cap="flat" cmpd="sng" w="38100">
            <a:solidFill>
              <a:srgbClr val="008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8" name="Google Shape;618;p24"/>
          <p:cNvCxnSpPr/>
          <p:nvPr/>
        </p:nvCxnSpPr>
        <p:spPr>
          <a:xfrm flipH="1" rot="10800000">
            <a:off x="8229600" y="2362200"/>
            <a:ext cx="746125" cy="433388"/>
          </a:xfrm>
          <a:prstGeom prst="straightConnector1">
            <a:avLst/>
          </a:prstGeom>
          <a:noFill/>
          <a:ln cap="flat" cmpd="sng" w="38100">
            <a:solidFill>
              <a:srgbClr val="008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9" name="Google Shape;619;p24"/>
          <p:cNvCxnSpPr/>
          <p:nvPr/>
        </p:nvCxnSpPr>
        <p:spPr>
          <a:xfrm flipH="1" rot="10800000">
            <a:off x="8221663" y="2582863"/>
            <a:ext cx="746125" cy="433387"/>
          </a:xfrm>
          <a:prstGeom prst="straightConnector1">
            <a:avLst/>
          </a:prstGeom>
          <a:noFill/>
          <a:ln cap="flat" cmpd="sng" w="38100">
            <a:solidFill>
              <a:srgbClr val="008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0" name="Google Shape;620;p24"/>
          <p:cNvCxnSpPr/>
          <p:nvPr/>
        </p:nvCxnSpPr>
        <p:spPr>
          <a:xfrm>
            <a:off x="7881938" y="3686175"/>
            <a:ext cx="866775" cy="0"/>
          </a:xfrm>
          <a:prstGeom prst="straightConnector1">
            <a:avLst/>
          </a:prstGeom>
          <a:noFill/>
          <a:ln cap="flat" cmpd="sng" w="38100">
            <a:solidFill>
              <a:srgbClr val="008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1" name="Google Shape;621;p24"/>
          <p:cNvCxnSpPr/>
          <p:nvPr/>
        </p:nvCxnSpPr>
        <p:spPr>
          <a:xfrm>
            <a:off x="7874000" y="3868738"/>
            <a:ext cx="866775" cy="0"/>
          </a:xfrm>
          <a:prstGeom prst="straightConnector1">
            <a:avLst/>
          </a:prstGeom>
          <a:noFill/>
          <a:ln cap="flat" cmpd="sng" w="38100">
            <a:solidFill>
              <a:srgbClr val="008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2" name="Google Shape;622;p24"/>
          <p:cNvCxnSpPr/>
          <p:nvPr/>
        </p:nvCxnSpPr>
        <p:spPr>
          <a:xfrm>
            <a:off x="7878763" y="4051300"/>
            <a:ext cx="866775" cy="0"/>
          </a:xfrm>
          <a:prstGeom prst="straightConnector1">
            <a:avLst/>
          </a:prstGeom>
          <a:noFill/>
          <a:ln cap="flat" cmpd="sng" w="38100">
            <a:solidFill>
              <a:srgbClr val="008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3" name="Google Shape;623;p24"/>
          <p:cNvCxnSpPr/>
          <p:nvPr/>
        </p:nvCxnSpPr>
        <p:spPr>
          <a:xfrm>
            <a:off x="7883525" y="4233863"/>
            <a:ext cx="866775" cy="0"/>
          </a:xfrm>
          <a:prstGeom prst="straightConnector1">
            <a:avLst/>
          </a:prstGeom>
          <a:noFill/>
          <a:ln cap="flat" cmpd="sng" w="38100">
            <a:solidFill>
              <a:srgbClr val="008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4" name="Google Shape;624;p24"/>
          <p:cNvCxnSpPr/>
          <p:nvPr/>
        </p:nvCxnSpPr>
        <p:spPr>
          <a:xfrm>
            <a:off x="7875588" y="4416425"/>
            <a:ext cx="866775" cy="0"/>
          </a:xfrm>
          <a:prstGeom prst="straightConnector1">
            <a:avLst/>
          </a:prstGeom>
          <a:noFill/>
          <a:ln cap="flat" cmpd="sng" w="38100">
            <a:solidFill>
              <a:srgbClr val="008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5" name="Google Shape;625;p24"/>
          <p:cNvCxnSpPr/>
          <p:nvPr/>
        </p:nvCxnSpPr>
        <p:spPr>
          <a:xfrm>
            <a:off x="7880350" y="4598988"/>
            <a:ext cx="866775" cy="0"/>
          </a:xfrm>
          <a:prstGeom prst="straightConnector1">
            <a:avLst/>
          </a:prstGeom>
          <a:noFill/>
          <a:ln cap="flat" cmpd="sng" w="38100">
            <a:solidFill>
              <a:srgbClr val="008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6" name="Google Shape;626;p24"/>
          <p:cNvCxnSpPr/>
          <p:nvPr/>
        </p:nvCxnSpPr>
        <p:spPr>
          <a:xfrm>
            <a:off x="7872413" y="4781550"/>
            <a:ext cx="866775" cy="0"/>
          </a:xfrm>
          <a:prstGeom prst="straightConnector1">
            <a:avLst/>
          </a:prstGeom>
          <a:noFill/>
          <a:ln cap="flat" cmpd="sng" w="38100">
            <a:solidFill>
              <a:srgbClr val="008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627" name="Google Shape;627;p24"/>
          <p:cNvGrpSpPr/>
          <p:nvPr/>
        </p:nvGrpSpPr>
        <p:grpSpPr>
          <a:xfrm>
            <a:off x="7754938" y="3530600"/>
            <a:ext cx="539750" cy="1289050"/>
            <a:chOff x="4663" y="1468"/>
            <a:chExt cx="340" cy="812"/>
          </a:xfrm>
        </p:grpSpPr>
        <p:grpSp>
          <p:nvGrpSpPr>
            <p:cNvPr id="628" name="Google Shape;628;p24"/>
            <p:cNvGrpSpPr/>
            <p:nvPr/>
          </p:nvGrpSpPr>
          <p:grpSpPr>
            <a:xfrm>
              <a:off x="4663" y="1468"/>
              <a:ext cx="340" cy="812"/>
              <a:chOff x="4219" y="1096"/>
              <a:chExt cx="340" cy="812"/>
            </a:xfrm>
          </p:grpSpPr>
          <p:sp>
            <p:nvSpPr>
              <p:cNvPr id="629" name="Google Shape;629;p24"/>
              <p:cNvSpPr/>
              <p:nvPr/>
            </p:nvSpPr>
            <p:spPr>
              <a:xfrm>
                <a:off x="4219" y="1096"/>
                <a:ext cx="340" cy="805"/>
              </a:xfrm>
              <a:prstGeom prst="ellipse">
                <a:avLst/>
              </a:prstGeom>
              <a:solidFill>
                <a:srgbClr val="BBE0E3">
                  <a:alpha val="71764"/>
                </a:srgbClr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630" name="Google Shape;630;p24"/>
              <p:cNvCxnSpPr/>
              <p:nvPr/>
            </p:nvCxnSpPr>
            <p:spPr>
              <a:xfrm>
                <a:off x="4386" y="1096"/>
                <a:ext cx="0" cy="81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lgDashDot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1" name="Google Shape;631;p24"/>
              <p:cNvCxnSpPr/>
              <p:nvPr/>
            </p:nvCxnSpPr>
            <p:spPr>
              <a:xfrm flipH="1">
                <a:off x="4226" y="1395"/>
                <a:ext cx="326" cy="20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lgDashDot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632" name="Google Shape;632;p24"/>
            <p:cNvSpPr/>
            <p:nvPr/>
          </p:nvSpPr>
          <p:spPr>
            <a:xfrm>
              <a:off x="4834" y="1848"/>
              <a:ext cx="77" cy="7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3" name="Google Shape;633;p24"/>
          <p:cNvSpPr/>
          <p:nvPr/>
        </p:nvSpPr>
        <p:spPr>
          <a:xfrm>
            <a:off x="685800" y="409575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Topic D: Fields AHL</a:t>
            </a:r>
            <a:b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D.4 – Induction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9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25"/>
          <p:cNvSpPr/>
          <p:nvPr/>
        </p:nvSpPr>
        <p:spPr>
          <a:xfrm>
            <a:off x="685800" y="1354138"/>
            <a:ext cx="7772400" cy="5503862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Magnetic flux</a:t>
            </a:r>
            <a:r>
              <a:rPr lang="en-US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∙Because of the importance in orientation between the area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the loop and the magnetic field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 new quantity called </a:t>
            </a:r>
            <a:r>
              <a:rPr b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magnetic flux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Φ is here defined.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∙Obviously we have to somehow define the direction of an area. Quite simply,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direction of an area is </a:t>
            </a:r>
            <a:r>
              <a:rPr b="1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perpendicular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(or </a:t>
            </a:r>
            <a:r>
              <a:rPr b="1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normal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to the plane of that area</a:t>
            </a:r>
            <a:r>
              <a:rPr b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grpSp>
        <p:nvGrpSpPr>
          <p:cNvPr id="639" name="Google Shape;639;p25"/>
          <p:cNvGrpSpPr/>
          <p:nvPr/>
        </p:nvGrpSpPr>
        <p:grpSpPr>
          <a:xfrm>
            <a:off x="817563" y="2968625"/>
            <a:ext cx="7464425" cy="512763"/>
            <a:chOff x="515" y="1870"/>
            <a:chExt cx="4702" cy="323"/>
          </a:xfrm>
        </p:grpSpPr>
        <p:sp>
          <p:nvSpPr>
            <p:cNvPr id="640" name="Google Shape;640;p25"/>
            <p:cNvSpPr txBox="1"/>
            <p:nvPr/>
          </p:nvSpPr>
          <p:spPr>
            <a:xfrm>
              <a:off x="3912" y="1885"/>
              <a:ext cx="1305" cy="28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magnetic flux</a:t>
              </a:r>
              <a:endParaRPr/>
            </a:p>
          </p:txBody>
        </p:sp>
        <p:sp>
          <p:nvSpPr>
            <p:cNvPr id="641" name="Google Shape;641;p25"/>
            <p:cNvSpPr/>
            <p:nvPr/>
          </p:nvSpPr>
          <p:spPr>
            <a:xfrm>
              <a:off x="515" y="1887"/>
              <a:ext cx="4701" cy="289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25"/>
            <p:cNvSpPr txBox="1"/>
            <p:nvPr/>
          </p:nvSpPr>
          <p:spPr>
            <a:xfrm>
              <a:off x="655" y="1870"/>
              <a:ext cx="196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Φ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BA</a:t>
              </a:r>
              <a:r>
                <a:rPr baseline="-25000"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cos</a:t>
              </a:r>
              <a:r>
                <a:rPr baseline="-25000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θ</a:t>
              </a:r>
              <a:endParaRPr/>
            </a:p>
          </p:txBody>
        </p:sp>
        <p:sp>
          <p:nvSpPr>
            <p:cNvPr id="643" name="Google Shape;643;p25"/>
            <p:cNvSpPr txBox="1"/>
            <p:nvPr/>
          </p:nvSpPr>
          <p:spPr>
            <a:xfrm>
              <a:off x="1826" y="1943"/>
              <a:ext cx="2119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</a:rPr>
                <a:t>θ is angle between </a:t>
              </a:r>
              <a:r>
                <a:rPr b="1" lang="en-US" sz="2000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r>
                <a:rPr lang="en-US" sz="2000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</a:rPr>
                <a:t> and </a:t>
              </a:r>
              <a:r>
                <a:rPr b="1" lang="en-US" sz="2000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4" name="Google Shape;644;p25"/>
          <p:cNvGrpSpPr/>
          <p:nvPr/>
        </p:nvGrpSpPr>
        <p:grpSpPr>
          <a:xfrm>
            <a:off x="752475" y="4791075"/>
            <a:ext cx="539750" cy="1289050"/>
            <a:chOff x="4219" y="1096"/>
            <a:chExt cx="340" cy="812"/>
          </a:xfrm>
        </p:grpSpPr>
        <p:sp>
          <p:nvSpPr>
            <p:cNvPr id="645" name="Google Shape;645;p25"/>
            <p:cNvSpPr/>
            <p:nvPr/>
          </p:nvSpPr>
          <p:spPr>
            <a:xfrm>
              <a:off x="4219" y="1096"/>
              <a:ext cx="340" cy="805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46" name="Google Shape;646;p25"/>
            <p:cNvCxnSpPr/>
            <p:nvPr/>
          </p:nvCxnSpPr>
          <p:spPr>
            <a:xfrm>
              <a:off x="4386" y="1096"/>
              <a:ext cx="0" cy="81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Dot"/>
              <a:round/>
              <a:headEnd len="med" w="med" type="none"/>
              <a:tailEnd len="med" w="med" type="none"/>
            </a:ln>
          </p:spPr>
        </p:cxnSp>
        <p:cxnSp>
          <p:nvCxnSpPr>
            <p:cNvPr id="647" name="Google Shape;647;p25"/>
            <p:cNvCxnSpPr/>
            <p:nvPr/>
          </p:nvCxnSpPr>
          <p:spPr>
            <a:xfrm flipH="1">
              <a:off x="4226" y="1395"/>
              <a:ext cx="326" cy="20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Dot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48" name="Google Shape;648;p25"/>
          <p:cNvGrpSpPr/>
          <p:nvPr/>
        </p:nvGrpSpPr>
        <p:grpSpPr>
          <a:xfrm>
            <a:off x="2509838" y="4702175"/>
            <a:ext cx="463550" cy="1400175"/>
            <a:chOff x="4802" y="1006"/>
            <a:chExt cx="292" cy="882"/>
          </a:xfrm>
        </p:grpSpPr>
        <p:sp>
          <p:nvSpPr>
            <p:cNvPr id="649" name="Google Shape;649;p25"/>
            <p:cNvSpPr/>
            <p:nvPr/>
          </p:nvSpPr>
          <p:spPr>
            <a:xfrm>
              <a:off x="4802" y="1006"/>
              <a:ext cx="292" cy="882"/>
            </a:xfrm>
            <a:custGeom>
              <a:rect b="b" l="l" r="r" t="t"/>
              <a:pathLst>
                <a:path extrusionOk="0" h="882" w="292">
                  <a:moveTo>
                    <a:pt x="292" y="0"/>
                  </a:moveTo>
                  <a:lnTo>
                    <a:pt x="0" y="169"/>
                  </a:lnTo>
                  <a:lnTo>
                    <a:pt x="0" y="882"/>
                  </a:lnTo>
                  <a:lnTo>
                    <a:pt x="289" y="715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50" name="Google Shape;650;p25"/>
            <p:cNvCxnSpPr/>
            <p:nvPr/>
          </p:nvCxnSpPr>
          <p:spPr>
            <a:xfrm>
              <a:off x="4948" y="1083"/>
              <a:ext cx="0" cy="71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Dot"/>
              <a:round/>
              <a:headEnd len="med" w="med" type="none"/>
              <a:tailEnd len="med" w="med" type="none"/>
            </a:ln>
          </p:spPr>
        </p:cxnSp>
        <p:cxnSp>
          <p:nvCxnSpPr>
            <p:cNvPr id="651" name="Google Shape;651;p25"/>
            <p:cNvCxnSpPr/>
            <p:nvPr/>
          </p:nvCxnSpPr>
          <p:spPr>
            <a:xfrm flipH="1">
              <a:off x="4811" y="1367"/>
              <a:ext cx="276" cy="16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lgDashDot"/>
              <a:round/>
              <a:headEnd len="med" w="med" type="none"/>
              <a:tailEnd len="med" w="med" type="none"/>
            </a:ln>
          </p:spPr>
        </p:cxnSp>
      </p:grpSp>
      <p:sp>
        <p:nvSpPr>
          <p:cNvPr id="652" name="Google Shape;652;p25"/>
          <p:cNvSpPr txBox="1"/>
          <p:nvPr/>
        </p:nvSpPr>
        <p:spPr>
          <a:xfrm>
            <a:off x="652463" y="6048375"/>
            <a:ext cx="1463675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circular area ( π</a:t>
            </a:r>
            <a:r>
              <a:rPr i="1" lang="en-US" sz="20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30000" lang="en-US" sz="20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 2</a:t>
            </a:r>
            <a:r>
              <a:rPr lang="en-US" sz="20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 )</a:t>
            </a:r>
            <a:endParaRPr/>
          </a:p>
        </p:txBody>
      </p:sp>
      <p:sp>
        <p:nvSpPr>
          <p:cNvPr id="653" name="Google Shape;653;p25"/>
          <p:cNvSpPr txBox="1"/>
          <p:nvPr/>
        </p:nvSpPr>
        <p:spPr>
          <a:xfrm>
            <a:off x="2455863" y="6048375"/>
            <a:ext cx="1765300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rectangular area ( </a:t>
            </a:r>
            <a:r>
              <a:rPr i="1" lang="en-US" sz="20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lang="en-US" sz="20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×</a:t>
            </a:r>
            <a:r>
              <a:rPr i="1" lang="en-US" sz="20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20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 )</a:t>
            </a:r>
            <a:endParaRPr/>
          </a:p>
        </p:txBody>
      </p:sp>
      <p:cxnSp>
        <p:nvCxnSpPr>
          <p:cNvPr id="654" name="Google Shape;654;p25"/>
          <p:cNvCxnSpPr/>
          <p:nvPr/>
        </p:nvCxnSpPr>
        <p:spPr>
          <a:xfrm>
            <a:off x="1017588" y="5421313"/>
            <a:ext cx="738187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5" name="Google Shape;655;p25"/>
          <p:cNvCxnSpPr/>
          <p:nvPr/>
        </p:nvCxnSpPr>
        <p:spPr>
          <a:xfrm>
            <a:off x="2741613" y="5405438"/>
            <a:ext cx="738187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56" name="Google Shape;656;p25"/>
          <p:cNvSpPr txBox="1"/>
          <p:nvPr/>
        </p:nvSpPr>
        <p:spPr>
          <a:xfrm>
            <a:off x="2967038" y="4676775"/>
            <a:ext cx="1436687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direction of rectangle</a:t>
            </a:r>
            <a:endParaRPr/>
          </a:p>
        </p:txBody>
      </p:sp>
      <p:sp>
        <p:nvSpPr>
          <p:cNvPr id="657" name="Google Shape;657;p25"/>
          <p:cNvSpPr/>
          <p:nvPr/>
        </p:nvSpPr>
        <p:spPr>
          <a:xfrm>
            <a:off x="1011238" y="5421313"/>
            <a:ext cx="230187" cy="230187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25"/>
          <p:cNvSpPr/>
          <p:nvPr/>
        </p:nvSpPr>
        <p:spPr>
          <a:xfrm>
            <a:off x="2741613" y="5407025"/>
            <a:ext cx="230187" cy="230188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9" name="Google Shape;659;p25"/>
          <p:cNvCxnSpPr/>
          <p:nvPr/>
        </p:nvCxnSpPr>
        <p:spPr>
          <a:xfrm>
            <a:off x="4778375" y="4849813"/>
            <a:ext cx="866775" cy="0"/>
          </a:xfrm>
          <a:prstGeom prst="straightConnector1">
            <a:avLst/>
          </a:prstGeom>
          <a:noFill/>
          <a:ln cap="flat" cmpd="sng" w="28575">
            <a:solidFill>
              <a:srgbClr val="008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0" name="Google Shape;660;p25"/>
          <p:cNvCxnSpPr/>
          <p:nvPr/>
        </p:nvCxnSpPr>
        <p:spPr>
          <a:xfrm>
            <a:off x="4770438" y="5032375"/>
            <a:ext cx="866775" cy="0"/>
          </a:xfrm>
          <a:prstGeom prst="straightConnector1">
            <a:avLst/>
          </a:prstGeom>
          <a:noFill/>
          <a:ln cap="flat" cmpd="sng" w="28575">
            <a:solidFill>
              <a:srgbClr val="008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1" name="Google Shape;661;p25"/>
          <p:cNvCxnSpPr/>
          <p:nvPr/>
        </p:nvCxnSpPr>
        <p:spPr>
          <a:xfrm>
            <a:off x="4775200" y="5214938"/>
            <a:ext cx="866775" cy="0"/>
          </a:xfrm>
          <a:prstGeom prst="straightConnector1">
            <a:avLst/>
          </a:prstGeom>
          <a:noFill/>
          <a:ln cap="flat" cmpd="sng" w="28575">
            <a:solidFill>
              <a:srgbClr val="008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2" name="Google Shape;662;p25"/>
          <p:cNvCxnSpPr/>
          <p:nvPr/>
        </p:nvCxnSpPr>
        <p:spPr>
          <a:xfrm>
            <a:off x="4779963" y="5397500"/>
            <a:ext cx="866775" cy="0"/>
          </a:xfrm>
          <a:prstGeom prst="straightConnector1">
            <a:avLst/>
          </a:prstGeom>
          <a:noFill/>
          <a:ln cap="flat" cmpd="sng" w="28575">
            <a:solidFill>
              <a:srgbClr val="008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3" name="Google Shape;663;p25"/>
          <p:cNvCxnSpPr/>
          <p:nvPr/>
        </p:nvCxnSpPr>
        <p:spPr>
          <a:xfrm>
            <a:off x="4772025" y="5580063"/>
            <a:ext cx="866775" cy="0"/>
          </a:xfrm>
          <a:prstGeom prst="straightConnector1">
            <a:avLst/>
          </a:prstGeom>
          <a:noFill/>
          <a:ln cap="flat" cmpd="sng" w="28575">
            <a:solidFill>
              <a:srgbClr val="008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4" name="Google Shape;664;p25"/>
          <p:cNvCxnSpPr/>
          <p:nvPr/>
        </p:nvCxnSpPr>
        <p:spPr>
          <a:xfrm>
            <a:off x="4776788" y="5762625"/>
            <a:ext cx="866775" cy="0"/>
          </a:xfrm>
          <a:prstGeom prst="straightConnector1">
            <a:avLst/>
          </a:prstGeom>
          <a:noFill/>
          <a:ln cap="flat" cmpd="sng" w="28575">
            <a:solidFill>
              <a:srgbClr val="008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5" name="Google Shape;665;p25"/>
          <p:cNvCxnSpPr/>
          <p:nvPr/>
        </p:nvCxnSpPr>
        <p:spPr>
          <a:xfrm>
            <a:off x="4768850" y="5945188"/>
            <a:ext cx="866775" cy="0"/>
          </a:xfrm>
          <a:prstGeom prst="straightConnector1">
            <a:avLst/>
          </a:prstGeom>
          <a:noFill/>
          <a:ln cap="flat" cmpd="sng" w="28575">
            <a:solidFill>
              <a:srgbClr val="008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6" name="Google Shape;666;p25"/>
          <p:cNvCxnSpPr/>
          <p:nvPr/>
        </p:nvCxnSpPr>
        <p:spPr>
          <a:xfrm>
            <a:off x="4641850" y="4949825"/>
            <a:ext cx="866775" cy="0"/>
          </a:xfrm>
          <a:prstGeom prst="straightConnector1">
            <a:avLst/>
          </a:prstGeom>
          <a:noFill/>
          <a:ln cap="flat" cmpd="sng" w="38100">
            <a:solidFill>
              <a:srgbClr val="008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7" name="Google Shape;667;p25"/>
          <p:cNvCxnSpPr/>
          <p:nvPr/>
        </p:nvCxnSpPr>
        <p:spPr>
          <a:xfrm>
            <a:off x="4633913" y="5132388"/>
            <a:ext cx="866775" cy="0"/>
          </a:xfrm>
          <a:prstGeom prst="straightConnector1">
            <a:avLst/>
          </a:prstGeom>
          <a:noFill/>
          <a:ln cap="flat" cmpd="sng" w="38100">
            <a:solidFill>
              <a:srgbClr val="008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8" name="Google Shape;668;p25"/>
          <p:cNvCxnSpPr/>
          <p:nvPr/>
        </p:nvCxnSpPr>
        <p:spPr>
          <a:xfrm>
            <a:off x="4638675" y="5314950"/>
            <a:ext cx="866775" cy="0"/>
          </a:xfrm>
          <a:prstGeom prst="straightConnector1">
            <a:avLst/>
          </a:prstGeom>
          <a:noFill/>
          <a:ln cap="flat" cmpd="sng" w="38100">
            <a:solidFill>
              <a:srgbClr val="008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9" name="Google Shape;669;p25"/>
          <p:cNvCxnSpPr/>
          <p:nvPr/>
        </p:nvCxnSpPr>
        <p:spPr>
          <a:xfrm>
            <a:off x="4643438" y="5497513"/>
            <a:ext cx="866775" cy="0"/>
          </a:xfrm>
          <a:prstGeom prst="straightConnector1">
            <a:avLst/>
          </a:prstGeom>
          <a:noFill/>
          <a:ln cap="flat" cmpd="sng" w="38100">
            <a:solidFill>
              <a:srgbClr val="008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0" name="Google Shape;670;p25"/>
          <p:cNvCxnSpPr/>
          <p:nvPr/>
        </p:nvCxnSpPr>
        <p:spPr>
          <a:xfrm>
            <a:off x="4635500" y="5680075"/>
            <a:ext cx="866775" cy="0"/>
          </a:xfrm>
          <a:prstGeom prst="straightConnector1">
            <a:avLst/>
          </a:prstGeom>
          <a:noFill/>
          <a:ln cap="flat" cmpd="sng" w="38100">
            <a:solidFill>
              <a:srgbClr val="008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1" name="Google Shape;671;p25"/>
          <p:cNvCxnSpPr/>
          <p:nvPr/>
        </p:nvCxnSpPr>
        <p:spPr>
          <a:xfrm>
            <a:off x="4640263" y="5862638"/>
            <a:ext cx="866775" cy="0"/>
          </a:xfrm>
          <a:prstGeom prst="straightConnector1">
            <a:avLst/>
          </a:prstGeom>
          <a:noFill/>
          <a:ln cap="flat" cmpd="sng" w="38100">
            <a:solidFill>
              <a:srgbClr val="008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2" name="Google Shape;672;p25"/>
          <p:cNvCxnSpPr/>
          <p:nvPr/>
        </p:nvCxnSpPr>
        <p:spPr>
          <a:xfrm>
            <a:off x="4632325" y="6045200"/>
            <a:ext cx="866775" cy="0"/>
          </a:xfrm>
          <a:prstGeom prst="straightConnector1">
            <a:avLst/>
          </a:prstGeom>
          <a:noFill/>
          <a:ln cap="flat" cmpd="sng" w="38100">
            <a:solidFill>
              <a:srgbClr val="008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73" name="Google Shape;673;p25"/>
          <p:cNvSpPr txBox="1"/>
          <p:nvPr/>
        </p:nvSpPr>
        <p:spPr>
          <a:xfrm>
            <a:off x="5338763" y="4454525"/>
            <a:ext cx="4048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grpSp>
        <p:nvGrpSpPr>
          <p:cNvPr id="674" name="Google Shape;674;p25"/>
          <p:cNvGrpSpPr/>
          <p:nvPr/>
        </p:nvGrpSpPr>
        <p:grpSpPr>
          <a:xfrm>
            <a:off x="4486275" y="4752975"/>
            <a:ext cx="968375" cy="1400175"/>
            <a:chOff x="3546" y="864"/>
            <a:chExt cx="610" cy="882"/>
          </a:xfrm>
        </p:grpSpPr>
        <p:grpSp>
          <p:nvGrpSpPr>
            <p:cNvPr id="675" name="Google Shape;675;p25"/>
            <p:cNvGrpSpPr/>
            <p:nvPr/>
          </p:nvGrpSpPr>
          <p:grpSpPr>
            <a:xfrm>
              <a:off x="3546" y="864"/>
              <a:ext cx="292" cy="882"/>
              <a:chOff x="4802" y="1006"/>
              <a:chExt cx="292" cy="882"/>
            </a:xfrm>
          </p:grpSpPr>
          <p:sp>
            <p:nvSpPr>
              <p:cNvPr id="676" name="Google Shape;676;p25"/>
              <p:cNvSpPr/>
              <p:nvPr/>
            </p:nvSpPr>
            <p:spPr>
              <a:xfrm>
                <a:off x="4802" y="1006"/>
                <a:ext cx="292" cy="882"/>
              </a:xfrm>
              <a:custGeom>
                <a:rect b="b" l="l" r="r" t="t"/>
                <a:pathLst>
                  <a:path extrusionOk="0" h="882" w="292">
                    <a:moveTo>
                      <a:pt x="292" y="0"/>
                    </a:moveTo>
                    <a:lnTo>
                      <a:pt x="0" y="169"/>
                    </a:lnTo>
                    <a:lnTo>
                      <a:pt x="0" y="882"/>
                    </a:lnTo>
                    <a:lnTo>
                      <a:pt x="289" y="715"/>
                    </a:lnTo>
                    <a:lnTo>
                      <a:pt x="292" y="0"/>
                    </a:lnTo>
                    <a:close/>
                  </a:path>
                </a:pathLst>
              </a:custGeom>
              <a:solidFill>
                <a:srgbClr val="BBE0E3">
                  <a:alpha val="56862"/>
                </a:srgbClr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677" name="Google Shape;677;p25"/>
              <p:cNvCxnSpPr/>
              <p:nvPr/>
            </p:nvCxnSpPr>
            <p:spPr>
              <a:xfrm>
                <a:off x="4948" y="1083"/>
                <a:ext cx="0" cy="71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lgDashDot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78" name="Google Shape;678;p25"/>
              <p:cNvCxnSpPr/>
              <p:nvPr/>
            </p:nvCxnSpPr>
            <p:spPr>
              <a:xfrm flipH="1">
                <a:off x="4811" y="1367"/>
                <a:ext cx="276" cy="16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lgDashDot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679" name="Google Shape;679;p25"/>
            <p:cNvCxnSpPr/>
            <p:nvPr/>
          </p:nvCxnSpPr>
          <p:spPr>
            <a:xfrm>
              <a:off x="3691" y="1299"/>
              <a:ext cx="465" cy="0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80" name="Google Shape;680;p25"/>
            <p:cNvSpPr/>
            <p:nvPr/>
          </p:nvSpPr>
          <p:spPr>
            <a:xfrm>
              <a:off x="3699" y="1300"/>
              <a:ext cx="145" cy="145"/>
            </a:xfrm>
            <a:prstGeom prst="rect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1" name="Google Shape;681;p25"/>
          <p:cNvSpPr txBox="1"/>
          <p:nvPr/>
        </p:nvSpPr>
        <p:spPr>
          <a:xfrm>
            <a:off x="1262063" y="4679950"/>
            <a:ext cx="1193800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direction of circle</a:t>
            </a:r>
            <a:endParaRPr/>
          </a:p>
        </p:txBody>
      </p:sp>
      <p:sp>
        <p:nvSpPr>
          <p:cNvPr id="682" name="Google Shape;682;p25"/>
          <p:cNvSpPr txBox="1"/>
          <p:nvPr/>
        </p:nvSpPr>
        <p:spPr>
          <a:xfrm>
            <a:off x="1487488" y="5368925"/>
            <a:ext cx="4048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683" name="Google Shape;683;p25"/>
          <p:cNvSpPr txBox="1"/>
          <p:nvPr/>
        </p:nvSpPr>
        <p:spPr>
          <a:xfrm>
            <a:off x="3255963" y="5362575"/>
            <a:ext cx="4048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684" name="Google Shape;684;p25"/>
          <p:cNvSpPr txBox="1"/>
          <p:nvPr/>
        </p:nvSpPr>
        <p:spPr>
          <a:xfrm>
            <a:off x="5335588" y="5980113"/>
            <a:ext cx="4048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685" name="Google Shape;685;p25"/>
          <p:cNvSpPr txBox="1"/>
          <p:nvPr/>
        </p:nvSpPr>
        <p:spPr>
          <a:xfrm>
            <a:off x="6067425" y="4495800"/>
            <a:ext cx="2428875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∙Note that as    θ → 90º, Φ → 0.</a:t>
            </a:r>
            <a:endParaRPr/>
          </a:p>
        </p:txBody>
      </p:sp>
      <p:sp>
        <p:nvSpPr>
          <p:cNvPr id="686" name="Google Shape;686;p25"/>
          <p:cNvSpPr txBox="1"/>
          <p:nvPr/>
        </p:nvSpPr>
        <p:spPr>
          <a:xfrm>
            <a:off x="6067425" y="5197475"/>
            <a:ext cx="2428875" cy="1187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∙At θ = 90º, no </a:t>
            </a:r>
            <a:r>
              <a:rPr lang="en-US" sz="24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-field lines “pierce” </a:t>
            </a:r>
            <a:r>
              <a:rPr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687" name="Google Shape;687;p25"/>
          <p:cNvSpPr/>
          <p:nvPr/>
        </p:nvSpPr>
        <p:spPr>
          <a:xfrm>
            <a:off x="685800" y="409575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Topic D: Fields AHL</a:t>
            </a:r>
            <a:b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D.4 – Induction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6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6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5000" fill="hold"/>
                                        <p:tgtEl>
                                          <p:spTgt spid="6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26"/>
          <p:cNvSpPr/>
          <p:nvPr/>
        </p:nvSpPr>
        <p:spPr>
          <a:xfrm>
            <a:off x="687388" y="1736725"/>
            <a:ext cx="7772400" cy="5121275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PRACTICE: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 the magnetic flux in each case. In each case the strength of the B-field is 1.5 T and the area is 0.20 m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96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 Use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Φ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θ.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(1) θ =     0º 	so  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Φ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1.5(0.20)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0º 	= 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0.30 T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(2) θ =   30º 	so  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Φ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1.5(0.20)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30º 	=  0.26 T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(3) θ =   90º 	so  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Φ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1.5(0.20)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90º 	=  0.0   T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(4) θ = 150º 	so  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Φ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1.5(0.20)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150º = 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0.26 T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(5) θ = 180º 	so  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Φ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1.5(0.20)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180º = 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0.30 T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</p:txBody>
      </p:sp>
      <p:grpSp>
        <p:nvGrpSpPr>
          <p:cNvPr id="693" name="Google Shape;693;p26"/>
          <p:cNvGrpSpPr/>
          <p:nvPr/>
        </p:nvGrpSpPr>
        <p:grpSpPr>
          <a:xfrm>
            <a:off x="995363" y="3044825"/>
            <a:ext cx="1350962" cy="1289050"/>
            <a:chOff x="655" y="1958"/>
            <a:chExt cx="851" cy="812"/>
          </a:xfrm>
        </p:grpSpPr>
        <p:grpSp>
          <p:nvGrpSpPr>
            <p:cNvPr id="694" name="Google Shape;694;p26"/>
            <p:cNvGrpSpPr/>
            <p:nvPr/>
          </p:nvGrpSpPr>
          <p:grpSpPr>
            <a:xfrm>
              <a:off x="656" y="1958"/>
              <a:ext cx="850" cy="812"/>
              <a:chOff x="656" y="1958"/>
              <a:chExt cx="850" cy="812"/>
            </a:xfrm>
          </p:grpSpPr>
          <p:grpSp>
            <p:nvGrpSpPr>
              <p:cNvPr id="695" name="Google Shape;695;p26"/>
              <p:cNvGrpSpPr/>
              <p:nvPr/>
            </p:nvGrpSpPr>
            <p:grpSpPr>
              <a:xfrm>
                <a:off x="656" y="1958"/>
                <a:ext cx="632" cy="812"/>
                <a:chOff x="656" y="1958"/>
                <a:chExt cx="632" cy="812"/>
              </a:xfrm>
            </p:grpSpPr>
            <p:grpSp>
              <p:nvGrpSpPr>
                <p:cNvPr id="696" name="Google Shape;696;p26"/>
                <p:cNvGrpSpPr/>
                <p:nvPr/>
              </p:nvGrpSpPr>
              <p:grpSpPr>
                <a:xfrm>
                  <a:off x="656" y="1958"/>
                  <a:ext cx="340" cy="812"/>
                  <a:chOff x="4219" y="1096"/>
                  <a:chExt cx="340" cy="812"/>
                </a:xfrm>
              </p:grpSpPr>
              <p:sp>
                <p:nvSpPr>
                  <p:cNvPr id="697" name="Google Shape;697;p26"/>
                  <p:cNvSpPr/>
                  <p:nvPr/>
                </p:nvSpPr>
                <p:spPr>
                  <a:xfrm>
                    <a:off x="4219" y="1096"/>
                    <a:ext cx="340" cy="805"/>
                  </a:xfrm>
                  <a:prstGeom prst="ellipse">
                    <a:avLst/>
                  </a:prstGeom>
                  <a:solidFill>
                    <a:schemeClr val="accent1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4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698" name="Google Shape;698;p26"/>
                  <p:cNvCxnSpPr/>
                  <p:nvPr/>
                </p:nvCxnSpPr>
                <p:spPr>
                  <a:xfrm>
                    <a:off x="4386" y="1096"/>
                    <a:ext cx="0" cy="812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lgDashDot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99" name="Google Shape;699;p26"/>
                  <p:cNvCxnSpPr/>
                  <p:nvPr/>
                </p:nvCxnSpPr>
                <p:spPr>
                  <a:xfrm flipH="1">
                    <a:off x="4226" y="1395"/>
                    <a:ext cx="326" cy="201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lgDashDot"/>
                    <a:round/>
                    <a:headEnd len="med" w="med" type="none"/>
                    <a:tailEnd len="med" w="med" type="none"/>
                  </a:ln>
                </p:spPr>
              </p:cxnSp>
            </p:grpSp>
            <p:cxnSp>
              <p:nvCxnSpPr>
                <p:cNvPr id="700" name="Google Shape;700;p26"/>
                <p:cNvCxnSpPr/>
                <p:nvPr/>
              </p:nvCxnSpPr>
              <p:spPr>
                <a:xfrm>
                  <a:off x="823" y="2355"/>
                  <a:ext cx="465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  <p:sp>
              <p:nvSpPr>
                <p:cNvPr id="701" name="Google Shape;701;p26"/>
                <p:cNvSpPr/>
                <p:nvPr/>
              </p:nvSpPr>
              <p:spPr>
                <a:xfrm>
                  <a:off x="819" y="2355"/>
                  <a:ext cx="145" cy="145"/>
                </a:xfrm>
                <a:prstGeom prst="rect">
                  <a:avLst/>
                </a:prstGeom>
                <a:noFill/>
                <a:ln cap="flat" cmpd="sng" w="1905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02" name="Google Shape;702;p26"/>
              <p:cNvSpPr txBox="1"/>
              <p:nvPr/>
            </p:nvSpPr>
            <p:spPr>
              <a:xfrm>
                <a:off x="1251" y="2184"/>
                <a:ext cx="255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A</a:t>
                </a:r>
                <a:endParaRPr/>
              </a:p>
            </p:txBody>
          </p:sp>
        </p:grpSp>
        <p:sp>
          <p:nvSpPr>
            <p:cNvPr id="703" name="Google Shape;703;p26"/>
            <p:cNvSpPr txBox="1"/>
            <p:nvPr/>
          </p:nvSpPr>
          <p:spPr>
            <a:xfrm>
              <a:off x="655" y="2070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704" name="Google Shape;704;p26"/>
          <p:cNvGrpSpPr/>
          <p:nvPr/>
        </p:nvGrpSpPr>
        <p:grpSpPr>
          <a:xfrm>
            <a:off x="2555875" y="3036888"/>
            <a:ext cx="1363663" cy="1289050"/>
            <a:chOff x="2263" y="1975"/>
            <a:chExt cx="859" cy="812"/>
          </a:xfrm>
        </p:grpSpPr>
        <p:grpSp>
          <p:nvGrpSpPr>
            <p:cNvPr id="705" name="Google Shape;705;p26"/>
            <p:cNvGrpSpPr/>
            <p:nvPr/>
          </p:nvGrpSpPr>
          <p:grpSpPr>
            <a:xfrm>
              <a:off x="2272" y="1975"/>
              <a:ext cx="850" cy="812"/>
              <a:chOff x="656" y="1958"/>
              <a:chExt cx="850" cy="812"/>
            </a:xfrm>
          </p:grpSpPr>
          <p:grpSp>
            <p:nvGrpSpPr>
              <p:cNvPr id="706" name="Google Shape;706;p26"/>
              <p:cNvGrpSpPr/>
              <p:nvPr/>
            </p:nvGrpSpPr>
            <p:grpSpPr>
              <a:xfrm>
                <a:off x="656" y="1958"/>
                <a:ext cx="632" cy="812"/>
                <a:chOff x="656" y="1958"/>
                <a:chExt cx="632" cy="812"/>
              </a:xfrm>
            </p:grpSpPr>
            <p:grpSp>
              <p:nvGrpSpPr>
                <p:cNvPr id="707" name="Google Shape;707;p26"/>
                <p:cNvGrpSpPr/>
                <p:nvPr/>
              </p:nvGrpSpPr>
              <p:grpSpPr>
                <a:xfrm>
                  <a:off x="656" y="1958"/>
                  <a:ext cx="340" cy="812"/>
                  <a:chOff x="4219" y="1096"/>
                  <a:chExt cx="340" cy="812"/>
                </a:xfrm>
              </p:grpSpPr>
              <p:sp>
                <p:nvSpPr>
                  <p:cNvPr id="708" name="Google Shape;708;p26"/>
                  <p:cNvSpPr/>
                  <p:nvPr/>
                </p:nvSpPr>
                <p:spPr>
                  <a:xfrm>
                    <a:off x="4219" y="1096"/>
                    <a:ext cx="340" cy="805"/>
                  </a:xfrm>
                  <a:prstGeom prst="ellipse">
                    <a:avLst/>
                  </a:prstGeom>
                  <a:solidFill>
                    <a:schemeClr val="accent1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4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709" name="Google Shape;709;p26"/>
                  <p:cNvCxnSpPr/>
                  <p:nvPr/>
                </p:nvCxnSpPr>
                <p:spPr>
                  <a:xfrm>
                    <a:off x="4386" y="1096"/>
                    <a:ext cx="0" cy="812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lgDashDot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710" name="Google Shape;710;p26"/>
                  <p:cNvCxnSpPr/>
                  <p:nvPr/>
                </p:nvCxnSpPr>
                <p:spPr>
                  <a:xfrm flipH="1">
                    <a:off x="4226" y="1395"/>
                    <a:ext cx="326" cy="201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lgDashDot"/>
                    <a:round/>
                    <a:headEnd len="med" w="med" type="none"/>
                    <a:tailEnd len="med" w="med" type="none"/>
                  </a:ln>
                </p:spPr>
              </p:cxnSp>
            </p:grpSp>
            <p:cxnSp>
              <p:nvCxnSpPr>
                <p:cNvPr id="711" name="Google Shape;711;p26"/>
                <p:cNvCxnSpPr/>
                <p:nvPr/>
              </p:nvCxnSpPr>
              <p:spPr>
                <a:xfrm>
                  <a:off x="823" y="2355"/>
                  <a:ext cx="465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  <p:sp>
              <p:nvSpPr>
                <p:cNvPr id="712" name="Google Shape;712;p26"/>
                <p:cNvSpPr/>
                <p:nvPr/>
              </p:nvSpPr>
              <p:spPr>
                <a:xfrm>
                  <a:off x="819" y="2355"/>
                  <a:ext cx="145" cy="145"/>
                </a:xfrm>
                <a:prstGeom prst="rect">
                  <a:avLst/>
                </a:prstGeom>
                <a:noFill/>
                <a:ln cap="flat" cmpd="sng" w="1905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13" name="Google Shape;713;p26"/>
              <p:cNvSpPr txBox="1"/>
              <p:nvPr/>
            </p:nvSpPr>
            <p:spPr>
              <a:xfrm>
                <a:off x="1251" y="2184"/>
                <a:ext cx="255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A</a:t>
                </a:r>
                <a:endParaRPr/>
              </a:p>
            </p:txBody>
          </p:sp>
        </p:grpSp>
        <p:sp>
          <p:nvSpPr>
            <p:cNvPr id="714" name="Google Shape;714;p26"/>
            <p:cNvSpPr txBox="1"/>
            <p:nvPr/>
          </p:nvSpPr>
          <p:spPr>
            <a:xfrm>
              <a:off x="2263" y="2072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grpSp>
        <p:nvGrpSpPr>
          <p:cNvPr id="715" name="Google Shape;715;p26"/>
          <p:cNvGrpSpPr/>
          <p:nvPr/>
        </p:nvGrpSpPr>
        <p:grpSpPr>
          <a:xfrm>
            <a:off x="5692775" y="3035300"/>
            <a:ext cx="1373188" cy="1289050"/>
            <a:chOff x="3681" y="1959"/>
            <a:chExt cx="865" cy="812"/>
          </a:xfrm>
        </p:grpSpPr>
        <p:grpSp>
          <p:nvGrpSpPr>
            <p:cNvPr id="716" name="Google Shape;716;p26"/>
            <p:cNvGrpSpPr/>
            <p:nvPr/>
          </p:nvGrpSpPr>
          <p:grpSpPr>
            <a:xfrm>
              <a:off x="3696" y="1959"/>
              <a:ext cx="850" cy="812"/>
              <a:chOff x="656" y="1958"/>
              <a:chExt cx="850" cy="812"/>
            </a:xfrm>
          </p:grpSpPr>
          <p:grpSp>
            <p:nvGrpSpPr>
              <p:cNvPr id="717" name="Google Shape;717;p26"/>
              <p:cNvGrpSpPr/>
              <p:nvPr/>
            </p:nvGrpSpPr>
            <p:grpSpPr>
              <a:xfrm>
                <a:off x="656" y="1958"/>
                <a:ext cx="632" cy="812"/>
                <a:chOff x="656" y="1958"/>
                <a:chExt cx="632" cy="812"/>
              </a:xfrm>
            </p:grpSpPr>
            <p:grpSp>
              <p:nvGrpSpPr>
                <p:cNvPr id="718" name="Google Shape;718;p26"/>
                <p:cNvGrpSpPr/>
                <p:nvPr/>
              </p:nvGrpSpPr>
              <p:grpSpPr>
                <a:xfrm>
                  <a:off x="656" y="1958"/>
                  <a:ext cx="340" cy="812"/>
                  <a:chOff x="4219" y="1096"/>
                  <a:chExt cx="340" cy="812"/>
                </a:xfrm>
              </p:grpSpPr>
              <p:sp>
                <p:nvSpPr>
                  <p:cNvPr id="719" name="Google Shape;719;p26"/>
                  <p:cNvSpPr/>
                  <p:nvPr/>
                </p:nvSpPr>
                <p:spPr>
                  <a:xfrm>
                    <a:off x="4219" y="1096"/>
                    <a:ext cx="340" cy="805"/>
                  </a:xfrm>
                  <a:prstGeom prst="ellipse">
                    <a:avLst/>
                  </a:prstGeom>
                  <a:solidFill>
                    <a:schemeClr val="accent1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4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720" name="Google Shape;720;p26"/>
                  <p:cNvCxnSpPr/>
                  <p:nvPr/>
                </p:nvCxnSpPr>
                <p:spPr>
                  <a:xfrm>
                    <a:off x="4386" y="1096"/>
                    <a:ext cx="0" cy="812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lgDashDot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721" name="Google Shape;721;p26"/>
                  <p:cNvCxnSpPr/>
                  <p:nvPr/>
                </p:nvCxnSpPr>
                <p:spPr>
                  <a:xfrm flipH="1">
                    <a:off x="4226" y="1395"/>
                    <a:ext cx="326" cy="201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lgDashDot"/>
                    <a:round/>
                    <a:headEnd len="med" w="med" type="none"/>
                    <a:tailEnd len="med" w="med" type="none"/>
                  </a:ln>
                </p:spPr>
              </p:cxnSp>
            </p:grpSp>
            <p:cxnSp>
              <p:nvCxnSpPr>
                <p:cNvPr id="722" name="Google Shape;722;p26"/>
                <p:cNvCxnSpPr/>
                <p:nvPr/>
              </p:nvCxnSpPr>
              <p:spPr>
                <a:xfrm>
                  <a:off x="823" y="2355"/>
                  <a:ext cx="465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  <p:sp>
              <p:nvSpPr>
                <p:cNvPr id="723" name="Google Shape;723;p26"/>
                <p:cNvSpPr/>
                <p:nvPr/>
              </p:nvSpPr>
              <p:spPr>
                <a:xfrm>
                  <a:off x="819" y="2355"/>
                  <a:ext cx="145" cy="145"/>
                </a:xfrm>
                <a:prstGeom prst="rect">
                  <a:avLst/>
                </a:prstGeom>
                <a:noFill/>
                <a:ln cap="flat" cmpd="sng" w="1905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24" name="Google Shape;724;p26"/>
              <p:cNvSpPr txBox="1"/>
              <p:nvPr/>
            </p:nvSpPr>
            <p:spPr>
              <a:xfrm>
                <a:off x="1251" y="2184"/>
                <a:ext cx="255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A</a:t>
                </a:r>
                <a:endParaRPr/>
              </a:p>
            </p:txBody>
          </p:sp>
        </p:grpSp>
        <p:sp>
          <p:nvSpPr>
            <p:cNvPr id="725" name="Google Shape;725;p26"/>
            <p:cNvSpPr txBox="1"/>
            <p:nvPr/>
          </p:nvSpPr>
          <p:spPr>
            <a:xfrm>
              <a:off x="3681" y="2049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</p:grpSp>
      <p:grpSp>
        <p:nvGrpSpPr>
          <p:cNvPr id="726" name="Google Shape;726;p26"/>
          <p:cNvGrpSpPr/>
          <p:nvPr/>
        </p:nvGrpSpPr>
        <p:grpSpPr>
          <a:xfrm>
            <a:off x="7345363" y="3011488"/>
            <a:ext cx="1373187" cy="1289050"/>
            <a:chOff x="3681" y="1959"/>
            <a:chExt cx="865" cy="812"/>
          </a:xfrm>
        </p:grpSpPr>
        <p:grpSp>
          <p:nvGrpSpPr>
            <p:cNvPr id="727" name="Google Shape;727;p26"/>
            <p:cNvGrpSpPr/>
            <p:nvPr/>
          </p:nvGrpSpPr>
          <p:grpSpPr>
            <a:xfrm>
              <a:off x="3696" y="1959"/>
              <a:ext cx="850" cy="812"/>
              <a:chOff x="656" y="1958"/>
              <a:chExt cx="850" cy="812"/>
            </a:xfrm>
          </p:grpSpPr>
          <p:grpSp>
            <p:nvGrpSpPr>
              <p:cNvPr id="728" name="Google Shape;728;p26"/>
              <p:cNvGrpSpPr/>
              <p:nvPr/>
            </p:nvGrpSpPr>
            <p:grpSpPr>
              <a:xfrm>
                <a:off x="656" y="1958"/>
                <a:ext cx="632" cy="812"/>
                <a:chOff x="656" y="1958"/>
                <a:chExt cx="632" cy="812"/>
              </a:xfrm>
            </p:grpSpPr>
            <p:grpSp>
              <p:nvGrpSpPr>
                <p:cNvPr id="729" name="Google Shape;729;p26"/>
                <p:cNvGrpSpPr/>
                <p:nvPr/>
              </p:nvGrpSpPr>
              <p:grpSpPr>
                <a:xfrm>
                  <a:off x="656" y="1958"/>
                  <a:ext cx="340" cy="812"/>
                  <a:chOff x="4219" y="1096"/>
                  <a:chExt cx="340" cy="812"/>
                </a:xfrm>
              </p:grpSpPr>
              <p:sp>
                <p:nvSpPr>
                  <p:cNvPr id="730" name="Google Shape;730;p26"/>
                  <p:cNvSpPr/>
                  <p:nvPr/>
                </p:nvSpPr>
                <p:spPr>
                  <a:xfrm>
                    <a:off x="4219" y="1096"/>
                    <a:ext cx="340" cy="805"/>
                  </a:xfrm>
                  <a:prstGeom prst="ellipse">
                    <a:avLst/>
                  </a:prstGeom>
                  <a:solidFill>
                    <a:schemeClr val="accent1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4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731" name="Google Shape;731;p26"/>
                  <p:cNvCxnSpPr/>
                  <p:nvPr/>
                </p:nvCxnSpPr>
                <p:spPr>
                  <a:xfrm>
                    <a:off x="4386" y="1096"/>
                    <a:ext cx="0" cy="812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lgDashDot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732" name="Google Shape;732;p26"/>
                  <p:cNvCxnSpPr/>
                  <p:nvPr/>
                </p:nvCxnSpPr>
                <p:spPr>
                  <a:xfrm flipH="1">
                    <a:off x="4226" y="1395"/>
                    <a:ext cx="326" cy="201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lgDashDot"/>
                    <a:round/>
                    <a:headEnd len="med" w="med" type="none"/>
                    <a:tailEnd len="med" w="med" type="none"/>
                  </a:ln>
                </p:spPr>
              </p:cxnSp>
            </p:grpSp>
            <p:cxnSp>
              <p:nvCxnSpPr>
                <p:cNvPr id="733" name="Google Shape;733;p26"/>
                <p:cNvCxnSpPr/>
                <p:nvPr/>
              </p:nvCxnSpPr>
              <p:spPr>
                <a:xfrm>
                  <a:off x="823" y="2355"/>
                  <a:ext cx="465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  <p:sp>
              <p:nvSpPr>
                <p:cNvPr id="734" name="Google Shape;734;p26"/>
                <p:cNvSpPr/>
                <p:nvPr/>
              </p:nvSpPr>
              <p:spPr>
                <a:xfrm>
                  <a:off x="819" y="2355"/>
                  <a:ext cx="145" cy="145"/>
                </a:xfrm>
                <a:prstGeom prst="rect">
                  <a:avLst/>
                </a:prstGeom>
                <a:noFill/>
                <a:ln cap="flat" cmpd="sng" w="1905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35" name="Google Shape;735;p26"/>
              <p:cNvSpPr txBox="1"/>
              <p:nvPr/>
            </p:nvSpPr>
            <p:spPr>
              <a:xfrm>
                <a:off x="1251" y="2184"/>
                <a:ext cx="255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A</a:t>
                </a:r>
                <a:endParaRPr/>
              </a:p>
            </p:txBody>
          </p:sp>
        </p:grpSp>
        <p:sp>
          <p:nvSpPr>
            <p:cNvPr id="736" name="Google Shape;736;p26"/>
            <p:cNvSpPr txBox="1"/>
            <p:nvPr/>
          </p:nvSpPr>
          <p:spPr>
            <a:xfrm>
              <a:off x="3681" y="2049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/>
            </a:p>
          </p:txBody>
        </p:sp>
      </p:grpSp>
      <p:grpSp>
        <p:nvGrpSpPr>
          <p:cNvPr id="737" name="Google Shape;737;p26"/>
          <p:cNvGrpSpPr/>
          <p:nvPr/>
        </p:nvGrpSpPr>
        <p:grpSpPr>
          <a:xfrm>
            <a:off x="1257300" y="2979738"/>
            <a:ext cx="1190625" cy="457200"/>
            <a:chOff x="933" y="1902"/>
            <a:chExt cx="750" cy="288"/>
          </a:xfrm>
        </p:grpSpPr>
        <p:cxnSp>
          <p:nvCxnSpPr>
            <p:cNvPr id="738" name="Google Shape;738;p26"/>
            <p:cNvCxnSpPr/>
            <p:nvPr/>
          </p:nvCxnSpPr>
          <p:spPr>
            <a:xfrm>
              <a:off x="933" y="2076"/>
              <a:ext cx="522" cy="0"/>
            </a:xfrm>
            <a:prstGeom prst="straightConnector1">
              <a:avLst/>
            </a:prstGeom>
            <a:noFill/>
            <a:ln cap="flat" cmpd="sng" w="38100">
              <a:solidFill>
                <a:srgbClr val="0066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39" name="Google Shape;739;p26"/>
            <p:cNvSpPr txBox="1"/>
            <p:nvPr/>
          </p:nvSpPr>
          <p:spPr>
            <a:xfrm>
              <a:off x="1428" y="1902"/>
              <a:ext cx="255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066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</p:grpSp>
      <p:grpSp>
        <p:nvGrpSpPr>
          <p:cNvPr id="740" name="Google Shape;740;p26"/>
          <p:cNvGrpSpPr/>
          <p:nvPr/>
        </p:nvGrpSpPr>
        <p:grpSpPr>
          <a:xfrm>
            <a:off x="2840038" y="2922588"/>
            <a:ext cx="1131887" cy="806450"/>
            <a:chOff x="2101" y="1873"/>
            <a:chExt cx="713" cy="508"/>
          </a:xfrm>
        </p:grpSpPr>
        <p:cxnSp>
          <p:nvCxnSpPr>
            <p:cNvPr id="741" name="Google Shape;741;p26"/>
            <p:cNvCxnSpPr/>
            <p:nvPr/>
          </p:nvCxnSpPr>
          <p:spPr>
            <a:xfrm flipH="1" rot="10800000">
              <a:off x="2101" y="2048"/>
              <a:ext cx="477" cy="280"/>
            </a:xfrm>
            <a:prstGeom prst="straightConnector1">
              <a:avLst/>
            </a:prstGeom>
            <a:noFill/>
            <a:ln cap="flat" cmpd="sng" w="38100">
              <a:solidFill>
                <a:srgbClr val="0066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42" name="Google Shape;742;p26"/>
            <p:cNvSpPr txBox="1"/>
            <p:nvPr/>
          </p:nvSpPr>
          <p:spPr>
            <a:xfrm>
              <a:off x="2559" y="1873"/>
              <a:ext cx="255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066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  <p:sp>
          <p:nvSpPr>
            <p:cNvPr id="743" name="Google Shape;743;p26"/>
            <p:cNvSpPr txBox="1"/>
            <p:nvPr/>
          </p:nvSpPr>
          <p:spPr>
            <a:xfrm>
              <a:off x="2253" y="2131"/>
              <a:ext cx="352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30º</a:t>
              </a:r>
              <a:endParaRPr/>
            </a:p>
          </p:txBody>
        </p:sp>
      </p:grpSp>
      <p:grpSp>
        <p:nvGrpSpPr>
          <p:cNvPr id="744" name="Google Shape;744;p26"/>
          <p:cNvGrpSpPr/>
          <p:nvPr/>
        </p:nvGrpSpPr>
        <p:grpSpPr>
          <a:xfrm>
            <a:off x="7623175" y="3114675"/>
            <a:ext cx="1181100" cy="457200"/>
            <a:chOff x="4290" y="1994"/>
            <a:chExt cx="744" cy="288"/>
          </a:xfrm>
        </p:grpSpPr>
        <p:cxnSp>
          <p:nvCxnSpPr>
            <p:cNvPr id="745" name="Google Shape;745;p26"/>
            <p:cNvCxnSpPr/>
            <p:nvPr/>
          </p:nvCxnSpPr>
          <p:spPr>
            <a:xfrm>
              <a:off x="4290" y="2160"/>
              <a:ext cx="522" cy="0"/>
            </a:xfrm>
            <a:prstGeom prst="straightConnector1">
              <a:avLst/>
            </a:prstGeom>
            <a:noFill/>
            <a:ln cap="flat" cmpd="sng" w="38100">
              <a:solidFill>
                <a:srgbClr val="0066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746" name="Google Shape;746;p26"/>
            <p:cNvSpPr txBox="1"/>
            <p:nvPr/>
          </p:nvSpPr>
          <p:spPr>
            <a:xfrm>
              <a:off x="4779" y="1994"/>
              <a:ext cx="255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066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</p:grpSp>
      <p:grpSp>
        <p:nvGrpSpPr>
          <p:cNvPr id="747" name="Google Shape;747;p26"/>
          <p:cNvGrpSpPr/>
          <p:nvPr/>
        </p:nvGrpSpPr>
        <p:grpSpPr>
          <a:xfrm>
            <a:off x="5951538" y="2936875"/>
            <a:ext cx="1131887" cy="806450"/>
            <a:chOff x="2101" y="1873"/>
            <a:chExt cx="713" cy="508"/>
          </a:xfrm>
        </p:grpSpPr>
        <p:cxnSp>
          <p:nvCxnSpPr>
            <p:cNvPr id="748" name="Google Shape;748;p26"/>
            <p:cNvCxnSpPr/>
            <p:nvPr/>
          </p:nvCxnSpPr>
          <p:spPr>
            <a:xfrm flipH="1" rot="10800000">
              <a:off x="2101" y="2048"/>
              <a:ext cx="477" cy="280"/>
            </a:xfrm>
            <a:prstGeom prst="straightConnector1">
              <a:avLst/>
            </a:prstGeom>
            <a:noFill/>
            <a:ln cap="flat" cmpd="sng" w="38100">
              <a:solidFill>
                <a:srgbClr val="0066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749" name="Google Shape;749;p26"/>
            <p:cNvSpPr txBox="1"/>
            <p:nvPr/>
          </p:nvSpPr>
          <p:spPr>
            <a:xfrm>
              <a:off x="2559" y="1873"/>
              <a:ext cx="255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066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  <p:sp>
          <p:nvSpPr>
            <p:cNvPr id="750" name="Google Shape;750;p26"/>
            <p:cNvSpPr txBox="1"/>
            <p:nvPr/>
          </p:nvSpPr>
          <p:spPr>
            <a:xfrm>
              <a:off x="2253" y="2131"/>
              <a:ext cx="352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30º</a:t>
              </a:r>
              <a:endParaRPr/>
            </a:p>
          </p:txBody>
        </p:sp>
      </p:grpSp>
      <p:grpSp>
        <p:nvGrpSpPr>
          <p:cNvPr id="751" name="Google Shape;751;p26"/>
          <p:cNvGrpSpPr/>
          <p:nvPr/>
        </p:nvGrpSpPr>
        <p:grpSpPr>
          <a:xfrm>
            <a:off x="4170363" y="3040063"/>
            <a:ext cx="1363662" cy="1289050"/>
            <a:chOff x="2263" y="1975"/>
            <a:chExt cx="859" cy="812"/>
          </a:xfrm>
        </p:grpSpPr>
        <p:grpSp>
          <p:nvGrpSpPr>
            <p:cNvPr id="752" name="Google Shape;752;p26"/>
            <p:cNvGrpSpPr/>
            <p:nvPr/>
          </p:nvGrpSpPr>
          <p:grpSpPr>
            <a:xfrm>
              <a:off x="2272" y="1975"/>
              <a:ext cx="850" cy="812"/>
              <a:chOff x="656" y="1958"/>
              <a:chExt cx="850" cy="812"/>
            </a:xfrm>
          </p:grpSpPr>
          <p:grpSp>
            <p:nvGrpSpPr>
              <p:cNvPr id="753" name="Google Shape;753;p26"/>
              <p:cNvGrpSpPr/>
              <p:nvPr/>
            </p:nvGrpSpPr>
            <p:grpSpPr>
              <a:xfrm>
                <a:off x="656" y="1958"/>
                <a:ext cx="632" cy="812"/>
                <a:chOff x="656" y="1958"/>
                <a:chExt cx="632" cy="812"/>
              </a:xfrm>
            </p:grpSpPr>
            <p:grpSp>
              <p:nvGrpSpPr>
                <p:cNvPr id="754" name="Google Shape;754;p26"/>
                <p:cNvGrpSpPr/>
                <p:nvPr/>
              </p:nvGrpSpPr>
              <p:grpSpPr>
                <a:xfrm>
                  <a:off x="656" y="1958"/>
                  <a:ext cx="340" cy="812"/>
                  <a:chOff x="4219" y="1096"/>
                  <a:chExt cx="340" cy="812"/>
                </a:xfrm>
              </p:grpSpPr>
              <p:sp>
                <p:nvSpPr>
                  <p:cNvPr id="755" name="Google Shape;755;p26"/>
                  <p:cNvSpPr/>
                  <p:nvPr/>
                </p:nvSpPr>
                <p:spPr>
                  <a:xfrm>
                    <a:off x="4219" y="1096"/>
                    <a:ext cx="340" cy="805"/>
                  </a:xfrm>
                  <a:prstGeom prst="ellipse">
                    <a:avLst/>
                  </a:prstGeom>
                  <a:solidFill>
                    <a:schemeClr val="accent1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4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756" name="Google Shape;756;p26"/>
                  <p:cNvCxnSpPr/>
                  <p:nvPr/>
                </p:nvCxnSpPr>
                <p:spPr>
                  <a:xfrm>
                    <a:off x="4386" y="1096"/>
                    <a:ext cx="0" cy="812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lgDashDot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757" name="Google Shape;757;p26"/>
                  <p:cNvCxnSpPr/>
                  <p:nvPr/>
                </p:nvCxnSpPr>
                <p:spPr>
                  <a:xfrm flipH="1">
                    <a:off x="4226" y="1395"/>
                    <a:ext cx="326" cy="201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lgDashDot"/>
                    <a:round/>
                    <a:headEnd len="med" w="med" type="none"/>
                    <a:tailEnd len="med" w="med" type="none"/>
                  </a:ln>
                </p:spPr>
              </p:cxnSp>
            </p:grpSp>
            <p:cxnSp>
              <p:nvCxnSpPr>
                <p:cNvPr id="758" name="Google Shape;758;p26"/>
                <p:cNvCxnSpPr/>
                <p:nvPr/>
              </p:nvCxnSpPr>
              <p:spPr>
                <a:xfrm>
                  <a:off x="823" y="2355"/>
                  <a:ext cx="465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  <p:sp>
              <p:nvSpPr>
                <p:cNvPr id="759" name="Google Shape;759;p26"/>
                <p:cNvSpPr/>
                <p:nvPr/>
              </p:nvSpPr>
              <p:spPr>
                <a:xfrm>
                  <a:off x="819" y="2355"/>
                  <a:ext cx="145" cy="145"/>
                </a:xfrm>
                <a:prstGeom prst="rect">
                  <a:avLst/>
                </a:prstGeom>
                <a:noFill/>
                <a:ln cap="flat" cmpd="sng" w="1905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60" name="Google Shape;760;p26"/>
              <p:cNvSpPr txBox="1"/>
              <p:nvPr/>
            </p:nvSpPr>
            <p:spPr>
              <a:xfrm>
                <a:off x="1251" y="2184"/>
                <a:ext cx="255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A</a:t>
                </a:r>
                <a:endParaRPr/>
              </a:p>
            </p:txBody>
          </p:sp>
        </p:grpSp>
        <p:sp>
          <p:nvSpPr>
            <p:cNvPr id="761" name="Google Shape;761;p26"/>
            <p:cNvSpPr txBox="1"/>
            <p:nvPr/>
          </p:nvSpPr>
          <p:spPr>
            <a:xfrm>
              <a:off x="2263" y="2072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grpSp>
        <p:nvGrpSpPr>
          <p:cNvPr id="762" name="Google Shape;762;p26"/>
          <p:cNvGrpSpPr/>
          <p:nvPr/>
        </p:nvGrpSpPr>
        <p:grpSpPr>
          <a:xfrm>
            <a:off x="4464050" y="2746375"/>
            <a:ext cx="433388" cy="903288"/>
            <a:chOff x="2876" y="1840"/>
            <a:chExt cx="273" cy="569"/>
          </a:xfrm>
        </p:grpSpPr>
        <p:cxnSp>
          <p:nvCxnSpPr>
            <p:cNvPr id="763" name="Google Shape;763;p26"/>
            <p:cNvCxnSpPr/>
            <p:nvPr/>
          </p:nvCxnSpPr>
          <p:spPr>
            <a:xfrm rot="10800000">
              <a:off x="2876" y="1916"/>
              <a:ext cx="0" cy="493"/>
            </a:xfrm>
            <a:prstGeom prst="straightConnector1">
              <a:avLst/>
            </a:prstGeom>
            <a:noFill/>
            <a:ln cap="flat" cmpd="sng" w="38100">
              <a:solidFill>
                <a:srgbClr val="0066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64" name="Google Shape;764;p26"/>
            <p:cNvSpPr txBox="1"/>
            <p:nvPr/>
          </p:nvSpPr>
          <p:spPr>
            <a:xfrm>
              <a:off x="2894" y="1840"/>
              <a:ext cx="255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066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</p:grpSp>
      <p:sp>
        <p:nvSpPr>
          <p:cNvPr id="765" name="Google Shape;765;p26"/>
          <p:cNvSpPr/>
          <p:nvPr/>
        </p:nvSpPr>
        <p:spPr>
          <a:xfrm>
            <a:off x="685800" y="409575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Topic D: Fields AHL</a:t>
            </a:r>
            <a:b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D.4 – Induction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26"/>
          <p:cNvSpPr/>
          <p:nvPr/>
        </p:nvSpPr>
        <p:spPr>
          <a:xfrm>
            <a:off x="685800" y="1354138"/>
            <a:ext cx="7772400" cy="43815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Magnetic flux</a:t>
            </a:r>
            <a:r>
              <a:rPr lang="en-US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/>
          </a:p>
        </p:txBody>
      </p:sp>
      <p:sp>
        <p:nvSpPr>
          <p:cNvPr id="767" name="Google Shape;767;p26"/>
          <p:cNvSpPr txBox="1"/>
          <p:nvPr/>
        </p:nvSpPr>
        <p:spPr>
          <a:xfrm>
            <a:off x="2501900" y="1760538"/>
            <a:ext cx="6000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Note that Φ can be negative.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9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9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9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9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9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9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9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27"/>
          <p:cNvSpPr/>
          <p:nvPr/>
        </p:nvSpPr>
        <p:spPr>
          <a:xfrm>
            <a:off x="5091113" y="6310313"/>
            <a:ext cx="1990725" cy="490537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27"/>
          <p:cNvSpPr/>
          <p:nvPr/>
        </p:nvSpPr>
        <p:spPr>
          <a:xfrm>
            <a:off x="5102225" y="5570538"/>
            <a:ext cx="1990725" cy="490537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27"/>
          <p:cNvSpPr/>
          <p:nvPr/>
        </p:nvSpPr>
        <p:spPr>
          <a:xfrm>
            <a:off x="5091113" y="4830763"/>
            <a:ext cx="1990725" cy="490537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27"/>
          <p:cNvSpPr/>
          <p:nvPr/>
        </p:nvSpPr>
        <p:spPr>
          <a:xfrm rot="5400000">
            <a:off x="4723606" y="4947445"/>
            <a:ext cx="479425" cy="271462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27"/>
          <p:cNvSpPr/>
          <p:nvPr/>
        </p:nvSpPr>
        <p:spPr>
          <a:xfrm rot="5400000">
            <a:off x="4723606" y="5688807"/>
            <a:ext cx="479425" cy="271462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27"/>
          <p:cNvSpPr/>
          <p:nvPr/>
        </p:nvSpPr>
        <p:spPr>
          <a:xfrm rot="5400000">
            <a:off x="4723606" y="6426995"/>
            <a:ext cx="479425" cy="271462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arth view-white background" id="778" name="Google Shape;778;p27"/>
          <p:cNvPicPr preferRelativeResize="0"/>
          <p:nvPr/>
        </p:nvPicPr>
        <p:blipFill rotWithShape="1">
          <a:blip r:embed="rId3">
            <a:alphaModFix/>
          </a:blip>
          <a:srcRect b="35893" l="0" r="0" t="0"/>
          <a:stretch/>
        </p:blipFill>
        <p:spPr>
          <a:xfrm>
            <a:off x="5449888" y="4838700"/>
            <a:ext cx="3267075" cy="202723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79" name="Google Shape;779;p27"/>
          <p:cNvCxnSpPr/>
          <p:nvPr/>
        </p:nvCxnSpPr>
        <p:spPr>
          <a:xfrm>
            <a:off x="976313" y="5827713"/>
            <a:ext cx="4005262" cy="0"/>
          </a:xfrm>
          <a:prstGeom prst="straightConnector1">
            <a:avLst/>
          </a:prstGeom>
          <a:noFill/>
          <a:ln cap="flat" cmpd="sng" w="7620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80" name="Google Shape;780;p27"/>
          <p:cNvCxnSpPr/>
          <p:nvPr/>
        </p:nvCxnSpPr>
        <p:spPr>
          <a:xfrm>
            <a:off x="976313" y="5065713"/>
            <a:ext cx="4005262" cy="0"/>
          </a:xfrm>
          <a:prstGeom prst="straightConnector1">
            <a:avLst/>
          </a:prstGeom>
          <a:noFill/>
          <a:ln cap="flat" cmpd="sng" w="7620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81" name="Google Shape;781;p27"/>
          <p:cNvCxnSpPr/>
          <p:nvPr/>
        </p:nvCxnSpPr>
        <p:spPr>
          <a:xfrm>
            <a:off x="965200" y="6562725"/>
            <a:ext cx="4005263" cy="0"/>
          </a:xfrm>
          <a:prstGeom prst="straightConnector1">
            <a:avLst/>
          </a:prstGeom>
          <a:noFill/>
          <a:ln cap="flat" cmpd="sng" w="7620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82" name="Google Shape;782;p27"/>
          <p:cNvSpPr/>
          <p:nvPr/>
        </p:nvSpPr>
        <p:spPr>
          <a:xfrm>
            <a:off x="5919788" y="4833938"/>
            <a:ext cx="1162050" cy="1620837"/>
          </a:xfrm>
          <a:custGeom>
            <a:rect b="b" l="l" r="r" t="t"/>
            <a:pathLst>
              <a:path extrusionOk="0" fill="none" h="21582" w="15481">
                <a:moveTo>
                  <a:pt x="-1" y="6518"/>
                </a:moveTo>
                <a:cubicBezTo>
                  <a:pt x="3854" y="2557"/>
                  <a:pt x="9080" y="224"/>
                  <a:pt x="14602" y="-1"/>
                </a:cubicBezTo>
              </a:path>
              <a:path extrusionOk="0" h="21582" w="15481">
                <a:moveTo>
                  <a:pt x="-1" y="6518"/>
                </a:moveTo>
                <a:cubicBezTo>
                  <a:pt x="3854" y="2557"/>
                  <a:pt x="9080" y="224"/>
                  <a:pt x="14602" y="-1"/>
                </a:cubicBezTo>
                <a:lnTo>
                  <a:pt x="15481" y="21582"/>
                </a:lnTo>
                <a:close/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3" name="Google Shape;783;p27"/>
          <p:cNvCxnSpPr/>
          <p:nvPr/>
        </p:nvCxnSpPr>
        <p:spPr>
          <a:xfrm>
            <a:off x="5111750" y="4830763"/>
            <a:ext cx="0" cy="490537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4" name="Google Shape;784;p27"/>
          <p:cNvCxnSpPr/>
          <p:nvPr/>
        </p:nvCxnSpPr>
        <p:spPr>
          <a:xfrm>
            <a:off x="5100638" y="5570538"/>
            <a:ext cx="0" cy="490537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5" name="Google Shape;785;p27"/>
          <p:cNvCxnSpPr/>
          <p:nvPr/>
        </p:nvCxnSpPr>
        <p:spPr>
          <a:xfrm>
            <a:off x="5099050" y="6323013"/>
            <a:ext cx="0" cy="490537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6" name="Google Shape;786;p27"/>
          <p:cNvSpPr/>
          <p:nvPr/>
        </p:nvSpPr>
        <p:spPr>
          <a:xfrm>
            <a:off x="5505450" y="5573713"/>
            <a:ext cx="1565275" cy="892175"/>
          </a:xfrm>
          <a:custGeom>
            <a:rect b="b" l="l" r="r" t="t"/>
            <a:pathLst>
              <a:path extrusionOk="0" fill="none" h="11882" w="20855">
                <a:moveTo>
                  <a:pt x="0" y="6256"/>
                </a:moveTo>
                <a:cubicBezTo>
                  <a:pt x="599" y="4034"/>
                  <a:pt x="1550" y="1922"/>
                  <a:pt x="2816" y="0"/>
                </a:cubicBezTo>
              </a:path>
              <a:path extrusionOk="0" h="11882" w="20855">
                <a:moveTo>
                  <a:pt x="0" y="6256"/>
                </a:moveTo>
                <a:cubicBezTo>
                  <a:pt x="599" y="4034"/>
                  <a:pt x="1550" y="1922"/>
                  <a:pt x="2816" y="0"/>
                </a:cubicBezTo>
                <a:lnTo>
                  <a:pt x="20855" y="11882"/>
                </a:lnTo>
                <a:close/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27"/>
          <p:cNvSpPr/>
          <p:nvPr/>
        </p:nvSpPr>
        <p:spPr>
          <a:xfrm>
            <a:off x="5454650" y="6308725"/>
            <a:ext cx="1620838" cy="504825"/>
          </a:xfrm>
          <a:custGeom>
            <a:rect b="b" l="l" r="r" t="t"/>
            <a:pathLst>
              <a:path extrusionOk="0" fill="none" h="6715" w="21600">
                <a:moveTo>
                  <a:pt x="482" y="6715"/>
                </a:moveTo>
                <a:cubicBezTo>
                  <a:pt x="161" y="5222"/>
                  <a:pt x="0" y="3700"/>
                  <a:pt x="0" y="2174"/>
                </a:cubicBezTo>
                <a:cubicBezTo>
                  <a:pt x="-1" y="1447"/>
                  <a:pt x="36" y="722"/>
                  <a:pt x="109" y="-1"/>
                </a:cubicBezTo>
              </a:path>
              <a:path extrusionOk="0" h="6715" w="21600">
                <a:moveTo>
                  <a:pt x="482" y="6715"/>
                </a:moveTo>
                <a:cubicBezTo>
                  <a:pt x="161" y="5222"/>
                  <a:pt x="0" y="3700"/>
                  <a:pt x="0" y="2174"/>
                </a:cubicBezTo>
                <a:cubicBezTo>
                  <a:pt x="-1" y="1447"/>
                  <a:pt x="36" y="722"/>
                  <a:pt x="109" y="-1"/>
                </a:cubicBezTo>
                <a:lnTo>
                  <a:pt x="21600" y="2174"/>
                </a:lnTo>
                <a:close/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27"/>
          <p:cNvSpPr/>
          <p:nvPr/>
        </p:nvSpPr>
        <p:spPr>
          <a:xfrm rot="5400000">
            <a:off x="3440112" y="5653088"/>
            <a:ext cx="1927225" cy="342900"/>
          </a:xfrm>
          <a:prstGeom prst="rect">
            <a:avLst/>
          </a:prstGeom>
          <a:solidFill>
            <a:srgbClr val="FFCC00">
              <a:alpha val="4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1380</a:t>
            </a:r>
            <a:r>
              <a:rPr b="1" baseline="30000"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W/m</a:t>
            </a:r>
            <a:r>
              <a:rPr b="1" baseline="30000"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/>
          </a:p>
        </p:txBody>
      </p:sp>
      <p:sp>
        <p:nvSpPr>
          <p:cNvPr id="789" name="Google Shape;789;p27"/>
          <p:cNvSpPr/>
          <p:nvPr/>
        </p:nvSpPr>
        <p:spPr>
          <a:xfrm>
            <a:off x="685800" y="409575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Topic D: Fields AHL</a:t>
            </a:r>
            <a:b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D.4 – Induction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0" name="Google Shape;790;p27"/>
          <p:cNvCxnSpPr/>
          <p:nvPr/>
        </p:nvCxnSpPr>
        <p:spPr>
          <a:xfrm rot="10800000">
            <a:off x="5981700" y="4667250"/>
            <a:ext cx="1095375" cy="1743075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791" name="Google Shape;791;p27"/>
          <p:cNvSpPr txBox="1"/>
          <p:nvPr/>
        </p:nvSpPr>
        <p:spPr>
          <a:xfrm>
            <a:off x="3375025" y="4659313"/>
            <a:ext cx="2682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FF9933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/>
          </a:p>
        </p:txBody>
      </p:sp>
      <p:sp>
        <p:nvSpPr>
          <p:cNvPr id="792" name="Google Shape;792;p27"/>
          <p:cNvSpPr txBox="1"/>
          <p:nvPr/>
        </p:nvSpPr>
        <p:spPr>
          <a:xfrm>
            <a:off x="6089650" y="4449763"/>
            <a:ext cx="387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cxnSp>
        <p:nvCxnSpPr>
          <p:cNvPr id="793" name="Google Shape;793;p27"/>
          <p:cNvCxnSpPr/>
          <p:nvPr/>
        </p:nvCxnSpPr>
        <p:spPr>
          <a:xfrm>
            <a:off x="4972050" y="5067300"/>
            <a:ext cx="127635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round/>
            <a:headEnd len="med" w="med" type="none"/>
            <a:tailEnd len="med" w="med" type="none"/>
          </a:ln>
        </p:spPr>
      </p:cxnSp>
      <p:sp>
        <p:nvSpPr>
          <p:cNvPr id="794" name="Google Shape;794;p27"/>
          <p:cNvSpPr txBox="1"/>
          <p:nvPr/>
        </p:nvSpPr>
        <p:spPr>
          <a:xfrm>
            <a:off x="5822950" y="4702175"/>
            <a:ext cx="342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θ</a:t>
            </a:r>
            <a:endParaRPr/>
          </a:p>
        </p:txBody>
      </p:sp>
      <p:sp>
        <p:nvSpPr>
          <p:cNvPr id="795" name="Google Shape;795;p27"/>
          <p:cNvSpPr/>
          <p:nvPr/>
        </p:nvSpPr>
        <p:spPr>
          <a:xfrm>
            <a:off x="685800" y="1354138"/>
            <a:ext cx="7772400" cy="3140075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Solar flux – a comparison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∙Recall from Topic 8.5 that although the intensity of radiation from the sun is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=1380 W m</a:t>
            </a:r>
            <a:r>
              <a:rPr baseline="30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-2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when it reaches our orbit, it is spread out over progressively larger areas.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∙We define the </a:t>
            </a:r>
            <a:r>
              <a:rPr b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solar radiation flux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be Φ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IA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θ. The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vector has a value of 1380 W m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 The area vector has a magnitude of 1.00 m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θ is the latitude.</a:t>
            </a:r>
            <a:endParaRPr/>
          </a:p>
        </p:txBody>
      </p:sp>
      <p:cxnSp>
        <p:nvCxnSpPr>
          <p:cNvPr id="796" name="Google Shape;796;p27"/>
          <p:cNvCxnSpPr/>
          <p:nvPr/>
        </p:nvCxnSpPr>
        <p:spPr>
          <a:xfrm rot="10800000">
            <a:off x="5951538" y="4610100"/>
            <a:ext cx="287337" cy="447675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28"/>
          <p:cNvSpPr/>
          <p:nvPr/>
        </p:nvSpPr>
        <p:spPr>
          <a:xfrm>
            <a:off x="682625" y="3424238"/>
            <a:ext cx="7766050" cy="1171575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FYI   </a:t>
            </a:r>
            <a:endParaRPr/>
          </a:p>
          <a:p>
            <a:pPr indent="0" lvl="0" marL="0" marR="0" rtl="0" algn="l">
              <a:spcBef>
                <a:spcPts val="24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significance of the (-) sign is that the flux ENTERED the surface, rather than exited it.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28"/>
          <p:cNvSpPr/>
          <p:nvPr/>
        </p:nvSpPr>
        <p:spPr>
          <a:xfrm>
            <a:off x="687388" y="1736725"/>
            <a:ext cx="7772400" cy="1716088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PRACTICE: Find the solar flux per square meter at latitude 40° N. Ignore the tilt of Earth for this calculation.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 </a:t>
            </a:r>
            <a:endParaRPr/>
          </a:p>
          <a:p>
            <a:pPr indent="0" lvl="0" marL="0" marR="0" rtl="0" algn="ctr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Φ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IA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θ = 1380(1) cos (180° – 40°) = -1057 W m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803" name="Google Shape;803;p28"/>
          <p:cNvSpPr/>
          <p:nvPr/>
        </p:nvSpPr>
        <p:spPr>
          <a:xfrm>
            <a:off x="5091113" y="6310313"/>
            <a:ext cx="1990725" cy="490537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28"/>
          <p:cNvSpPr/>
          <p:nvPr/>
        </p:nvSpPr>
        <p:spPr>
          <a:xfrm>
            <a:off x="5102225" y="5570538"/>
            <a:ext cx="1990725" cy="490537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28"/>
          <p:cNvSpPr/>
          <p:nvPr/>
        </p:nvSpPr>
        <p:spPr>
          <a:xfrm>
            <a:off x="5091113" y="4830763"/>
            <a:ext cx="1990725" cy="490537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28"/>
          <p:cNvSpPr/>
          <p:nvPr/>
        </p:nvSpPr>
        <p:spPr>
          <a:xfrm rot="5400000">
            <a:off x="4723606" y="4947445"/>
            <a:ext cx="479425" cy="271462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28"/>
          <p:cNvSpPr/>
          <p:nvPr/>
        </p:nvSpPr>
        <p:spPr>
          <a:xfrm rot="5400000">
            <a:off x="4723606" y="5688807"/>
            <a:ext cx="479425" cy="271462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28"/>
          <p:cNvSpPr/>
          <p:nvPr/>
        </p:nvSpPr>
        <p:spPr>
          <a:xfrm rot="5400000">
            <a:off x="4723606" y="6426995"/>
            <a:ext cx="479425" cy="271462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arth view-white background" id="809" name="Google Shape;809;p28"/>
          <p:cNvPicPr preferRelativeResize="0"/>
          <p:nvPr/>
        </p:nvPicPr>
        <p:blipFill rotWithShape="1">
          <a:blip r:embed="rId3">
            <a:alphaModFix/>
          </a:blip>
          <a:srcRect b="35893" l="0" r="0" t="0"/>
          <a:stretch/>
        </p:blipFill>
        <p:spPr>
          <a:xfrm>
            <a:off x="5449888" y="4838700"/>
            <a:ext cx="3267075" cy="202723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10" name="Google Shape;810;p28"/>
          <p:cNvCxnSpPr/>
          <p:nvPr/>
        </p:nvCxnSpPr>
        <p:spPr>
          <a:xfrm>
            <a:off x="976313" y="5827713"/>
            <a:ext cx="4005262" cy="0"/>
          </a:xfrm>
          <a:prstGeom prst="straightConnector1">
            <a:avLst/>
          </a:prstGeom>
          <a:noFill/>
          <a:ln cap="flat" cmpd="sng" w="7620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1" name="Google Shape;811;p28"/>
          <p:cNvCxnSpPr/>
          <p:nvPr/>
        </p:nvCxnSpPr>
        <p:spPr>
          <a:xfrm>
            <a:off x="976313" y="5065713"/>
            <a:ext cx="4005262" cy="0"/>
          </a:xfrm>
          <a:prstGeom prst="straightConnector1">
            <a:avLst/>
          </a:prstGeom>
          <a:noFill/>
          <a:ln cap="flat" cmpd="sng" w="7620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2" name="Google Shape;812;p28"/>
          <p:cNvCxnSpPr/>
          <p:nvPr/>
        </p:nvCxnSpPr>
        <p:spPr>
          <a:xfrm>
            <a:off x="965200" y="6562725"/>
            <a:ext cx="4005263" cy="0"/>
          </a:xfrm>
          <a:prstGeom prst="straightConnector1">
            <a:avLst/>
          </a:prstGeom>
          <a:noFill/>
          <a:ln cap="flat" cmpd="sng" w="7620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13" name="Google Shape;813;p28"/>
          <p:cNvSpPr/>
          <p:nvPr/>
        </p:nvSpPr>
        <p:spPr>
          <a:xfrm>
            <a:off x="5919788" y="4833938"/>
            <a:ext cx="1162050" cy="1620837"/>
          </a:xfrm>
          <a:custGeom>
            <a:rect b="b" l="l" r="r" t="t"/>
            <a:pathLst>
              <a:path extrusionOk="0" fill="none" h="21582" w="15481">
                <a:moveTo>
                  <a:pt x="-1" y="6518"/>
                </a:moveTo>
                <a:cubicBezTo>
                  <a:pt x="3854" y="2557"/>
                  <a:pt x="9080" y="224"/>
                  <a:pt x="14602" y="-1"/>
                </a:cubicBezTo>
              </a:path>
              <a:path extrusionOk="0" h="21582" w="15481">
                <a:moveTo>
                  <a:pt x="-1" y="6518"/>
                </a:moveTo>
                <a:cubicBezTo>
                  <a:pt x="3854" y="2557"/>
                  <a:pt x="9080" y="224"/>
                  <a:pt x="14602" y="-1"/>
                </a:cubicBezTo>
                <a:lnTo>
                  <a:pt x="15481" y="21582"/>
                </a:lnTo>
                <a:close/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4" name="Google Shape;814;p28"/>
          <p:cNvCxnSpPr/>
          <p:nvPr/>
        </p:nvCxnSpPr>
        <p:spPr>
          <a:xfrm>
            <a:off x="5111750" y="4830763"/>
            <a:ext cx="0" cy="490537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5" name="Google Shape;815;p28"/>
          <p:cNvCxnSpPr/>
          <p:nvPr/>
        </p:nvCxnSpPr>
        <p:spPr>
          <a:xfrm>
            <a:off x="5100638" y="5570538"/>
            <a:ext cx="0" cy="490537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6" name="Google Shape;816;p28"/>
          <p:cNvCxnSpPr/>
          <p:nvPr/>
        </p:nvCxnSpPr>
        <p:spPr>
          <a:xfrm>
            <a:off x="5099050" y="6323013"/>
            <a:ext cx="0" cy="490537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7" name="Google Shape;817;p28"/>
          <p:cNvSpPr/>
          <p:nvPr/>
        </p:nvSpPr>
        <p:spPr>
          <a:xfrm>
            <a:off x="5505450" y="5573713"/>
            <a:ext cx="1565275" cy="892175"/>
          </a:xfrm>
          <a:custGeom>
            <a:rect b="b" l="l" r="r" t="t"/>
            <a:pathLst>
              <a:path extrusionOk="0" fill="none" h="11882" w="20855">
                <a:moveTo>
                  <a:pt x="0" y="6256"/>
                </a:moveTo>
                <a:cubicBezTo>
                  <a:pt x="599" y="4034"/>
                  <a:pt x="1550" y="1922"/>
                  <a:pt x="2816" y="0"/>
                </a:cubicBezTo>
              </a:path>
              <a:path extrusionOk="0" h="11882" w="20855">
                <a:moveTo>
                  <a:pt x="0" y="6256"/>
                </a:moveTo>
                <a:cubicBezTo>
                  <a:pt x="599" y="4034"/>
                  <a:pt x="1550" y="1922"/>
                  <a:pt x="2816" y="0"/>
                </a:cubicBezTo>
                <a:lnTo>
                  <a:pt x="20855" y="11882"/>
                </a:lnTo>
                <a:close/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p28"/>
          <p:cNvSpPr/>
          <p:nvPr/>
        </p:nvSpPr>
        <p:spPr>
          <a:xfrm>
            <a:off x="5454650" y="6308725"/>
            <a:ext cx="1620838" cy="504825"/>
          </a:xfrm>
          <a:custGeom>
            <a:rect b="b" l="l" r="r" t="t"/>
            <a:pathLst>
              <a:path extrusionOk="0" fill="none" h="6715" w="21600">
                <a:moveTo>
                  <a:pt x="482" y="6715"/>
                </a:moveTo>
                <a:cubicBezTo>
                  <a:pt x="161" y="5222"/>
                  <a:pt x="0" y="3700"/>
                  <a:pt x="0" y="2174"/>
                </a:cubicBezTo>
                <a:cubicBezTo>
                  <a:pt x="-1" y="1447"/>
                  <a:pt x="36" y="722"/>
                  <a:pt x="109" y="-1"/>
                </a:cubicBezTo>
              </a:path>
              <a:path extrusionOk="0" h="6715" w="21600">
                <a:moveTo>
                  <a:pt x="482" y="6715"/>
                </a:moveTo>
                <a:cubicBezTo>
                  <a:pt x="161" y="5222"/>
                  <a:pt x="0" y="3700"/>
                  <a:pt x="0" y="2174"/>
                </a:cubicBezTo>
                <a:cubicBezTo>
                  <a:pt x="-1" y="1447"/>
                  <a:pt x="36" y="722"/>
                  <a:pt x="109" y="-1"/>
                </a:cubicBezTo>
                <a:lnTo>
                  <a:pt x="21600" y="2174"/>
                </a:lnTo>
                <a:close/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28"/>
          <p:cNvSpPr/>
          <p:nvPr/>
        </p:nvSpPr>
        <p:spPr>
          <a:xfrm rot="5400000">
            <a:off x="3440112" y="5653088"/>
            <a:ext cx="1927225" cy="342900"/>
          </a:xfrm>
          <a:prstGeom prst="rect">
            <a:avLst/>
          </a:prstGeom>
          <a:solidFill>
            <a:srgbClr val="FFCC00">
              <a:alpha val="4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1380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 / m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820" name="Google Shape;820;p28"/>
          <p:cNvSpPr/>
          <p:nvPr/>
        </p:nvSpPr>
        <p:spPr>
          <a:xfrm>
            <a:off x="685800" y="409575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Topic D: Fields AHL</a:t>
            </a:r>
            <a:b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D.4 – Induction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28"/>
          <p:cNvSpPr txBox="1"/>
          <p:nvPr/>
        </p:nvSpPr>
        <p:spPr>
          <a:xfrm>
            <a:off x="3375025" y="4659313"/>
            <a:ext cx="2682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FF9933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/>
          </a:p>
        </p:txBody>
      </p:sp>
      <p:sp>
        <p:nvSpPr>
          <p:cNvPr id="822" name="Google Shape;822;p28"/>
          <p:cNvSpPr txBox="1"/>
          <p:nvPr/>
        </p:nvSpPr>
        <p:spPr>
          <a:xfrm>
            <a:off x="6089650" y="4449763"/>
            <a:ext cx="387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cxnSp>
        <p:nvCxnSpPr>
          <p:cNvPr id="823" name="Google Shape;823;p28"/>
          <p:cNvCxnSpPr/>
          <p:nvPr/>
        </p:nvCxnSpPr>
        <p:spPr>
          <a:xfrm>
            <a:off x="4972050" y="5067300"/>
            <a:ext cx="127635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round/>
            <a:headEnd len="med" w="med" type="none"/>
            <a:tailEnd len="med" w="med" type="none"/>
          </a:ln>
        </p:spPr>
      </p:cxnSp>
      <p:sp>
        <p:nvSpPr>
          <p:cNvPr id="824" name="Google Shape;824;p28"/>
          <p:cNvSpPr txBox="1"/>
          <p:nvPr/>
        </p:nvSpPr>
        <p:spPr>
          <a:xfrm>
            <a:off x="5822950" y="4702175"/>
            <a:ext cx="342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θ</a:t>
            </a:r>
            <a:endParaRPr/>
          </a:p>
        </p:txBody>
      </p:sp>
      <p:sp>
        <p:nvSpPr>
          <p:cNvPr id="825" name="Google Shape;825;p28"/>
          <p:cNvSpPr/>
          <p:nvPr/>
        </p:nvSpPr>
        <p:spPr>
          <a:xfrm>
            <a:off x="685800" y="1354138"/>
            <a:ext cx="7772400" cy="4445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Solar flux – a comparison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</p:txBody>
      </p:sp>
      <p:cxnSp>
        <p:nvCxnSpPr>
          <p:cNvPr id="826" name="Google Shape;826;p28"/>
          <p:cNvCxnSpPr/>
          <p:nvPr/>
        </p:nvCxnSpPr>
        <p:spPr>
          <a:xfrm rot="10800000">
            <a:off x="5981700" y="4667250"/>
            <a:ext cx="1095375" cy="1743075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827" name="Google Shape;827;p28"/>
          <p:cNvCxnSpPr/>
          <p:nvPr/>
        </p:nvCxnSpPr>
        <p:spPr>
          <a:xfrm rot="10800000">
            <a:off x="5951538" y="4610100"/>
            <a:ext cx="287337" cy="447675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8" name="Google Shape;828;p28"/>
          <p:cNvCxnSpPr/>
          <p:nvPr/>
        </p:nvCxnSpPr>
        <p:spPr>
          <a:xfrm>
            <a:off x="6242050" y="5062538"/>
            <a:ext cx="1477963" cy="0"/>
          </a:xfrm>
          <a:prstGeom prst="straightConnector1">
            <a:avLst/>
          </a:prstGeom>
          <a:noFill/>
          <a:ln cap="flat" cmpd="sng" w="5715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29"/>
          <p:cNvSpPr/>
          <p:nvPr/>
        </p:nvSpPr>
        <p:spPr>
          <a:xfrm>
            <a:off x="687388" y="1736725"/>
            <a:ext cx="7772400" cy="5121275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PRACTICE: Find the solar flux per square meter at latitude 40° N in the northern hemispheric winter and summer. This time include the 22.5 ° tilt. Then label the images “summer” and “winter”.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 Use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Φ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IA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θ with “corrected” θ: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Φ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win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1380(1) cos [180° – (40° + 22.5°)] = -637 W m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Φ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sum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1380(1) cos [180° – (40° – 22.5°)] = -1316 W m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834" name="Google Shape;834;p29"/>
          <p:cNvSpPr/>
          <p:nvPr/>
        </p:nvSpPr>
        <p:spPr>
          <a:xfrm>
            <a:off x="685800" y="409575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Topic D: Fields AHL</a:t>
            </a:r>
            <a:b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D.4 – Induction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29"/>
          <p:cNvSpPr/>
          <p:nvPr/>
        </p:nvSpPr>
        <p:spPr>
          <a:xfrm>
            <a:off x="685800" y="1354138"/>
            <a:ext cx="7772400" cy="4445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Solar flux – a comparison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</p:txBody>
      </p:sp>
      <p:pic>
        <p:nvPicPr>
          <p:cNvPr id="836" name="Google Shape;83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42188" y="3446463"/>
            <a:ext cx="1023937" cy="138430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pic>
        <p:nvPicPr>
          <p:cNvPr id="837" name="Google Shape;837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7563" y="3451225"/>
            <a:ext cx="1003300" cy="138430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pic>
        <p:nvPicPr>
          <p:cNvPr id="838" name="Google Shape;838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43338" y="3257550"/>
            <a:ext cx="1852612" cy="1776413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sp>
        <p:nvSpPr>
          <p:cNvPr id="839" name="Google Shape;839;p29"/>
          <p:cNvSpPr txBox="1"/>
          <p:nvPr/>
        </p:nvSpPr>
        <p:spPr>
          <a:xfrm>
            <a:off x="712788" y="4775200"/>
            <a:ext cx="12858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summer</a:t>
            </a:r>
            <a:endParaRPr/>
          </a:p>
        </p:txBody>
      </p:sp>
      <p:sp>
        <p:nvSpPr>
          <p:cNvPr id="840" name="Google Shape;840;p29"/>
          <p:cNvSpPr txBox="1"/>
          <p:nvPr/>
        </p:nvSpPr>
        <p:spPr>
          <a:xfrm>
            <a:off x="7362825" y="4775200"/>
            <a:ext cx="99853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winter</a:t>
            </a:r>
            <a:endParaRPr/>
          </a:p>
        </p:txBody>
      </p:sp>
      <p:sp>
        <p:nvSpPr>
          <p:cNvPr id="841" name="Google Shape;841;p29"/>
          <p:cNvSpPr txBox="1"/>
          <p:nvPr/>
        </p:nvSpPr>
        <p:spPr>
          <a:xfrm>
            <a:off x="2286000" y="5105400"/>
            <a:ext cx="6000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Note that Φ</a:t>
            </a:r>
            <a:r>
              <a:rPr baseline="-25000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sum</a:t>
            </a: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is twice that of Φ</a:t>
            </a:r>
            <a:r>
              <a:rPr baseline="-25000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win</a:t>
            </a: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3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3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3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3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3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30"/>
          <p:cNvSpPr/>
          <p:nvPr/>
        </p:nvSpPr>
        <p:spPr>
          <a:xfrm>
            <a:off x="682625" y="5513388"/>
            <a:ext cx="7766050" cy="1247775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FYI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 aware that the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magnetic flux density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magnetic field strength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are the same thing-namely the B-field.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30"/>
          <p:cNvSpPr/>
          <p:nvPr/>
        </p:nvSpPr>
        <p:spPr>
          <a:xfrm>
            <a:off x="685800" y="1354138"/>
            <a:ext cx="7772400" cy="4168775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Define </a:t>
            </a:r>
            <a:r>
              <a:rPr b="1" lang="en-US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magnetic flux</a:t>
            </a:r>
            <a:r>
              <a:rPr lang="en-US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and magnetic flux linkage.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∙Magnetic flux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measured in T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which are also known as webers (Wb). Thus 1 T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1 Wb.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∙We define the </a:t>
            </a:r>
            <a:r>
              <a:rPr b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magnetic flux density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as the magnetic flux per unit area. Thus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	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magnetic flux density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Φ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[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θ].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∙But from the definition of magnetic flux we see that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	magnetic flux density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Φ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[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θ]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	magnetic flux density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θ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[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θ]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	magnetic flux density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30"/>
          <p:cNvSpPr/>
          <p:nvPr/>
        </p:nvSpPr>
        <p:spPr>
          <a:xfrm>
            <a:off x="685800" y="409575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Topic D: Fields AHL</a:t>
            </a:r>
            <a:b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D.4 – Induction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30"/>
          <p:cNvSpPr/>
          <p:nvPr/>
        </p:nvSpPr>
        <p:spPr>
          <a:xfrm>
            <a:off x="685800" y="1354138"/>
            <a:ext cx="7772400" cy="43815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Magnetic flux density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31"/>
          <p:cNvSpPr/>
          <p:nvPr/>
        </p:nvSpPr>
        <p:spPr>
          <a:xfrm>
            <a:off x="685800" y="1354138"/>
            <a:ext cx="7772400" cy="479425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Magnetic flux linkage</a:t>
            </a:r>
            <a:endParaRPr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∙If instead of a single loop we make a coil of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loops, the flux Φ through each loop is “linked” to each of the other loops in what is termed </a:t>
            </a:r>
            <a:r>
              <a:rPr b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flux linkage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loop produces its                                                       own emf, and the emfs                                                     from each loop add to                                                    the total emf.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 that an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emf is                                                          only produced while the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flux is changing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</p:txBody>
      </p:sp>
      <p:grpSp>
        <p:nvGrpSpPr>
          <p:cNvPr id="855" name="Google Shape;855;p31"/>
          <p:cNvGrpSpPr/>
          <p:nvPr/>
        </p:nvGrpSpPr>
        <p:grpSpPr>
          <a:xfrm>
            <a:off x="7766050" y="5041900"/>
            <a:ext cx="1035050" cy="827088"/>
            <a:chOff x="4100" y="2950"/>
            <a:chExt cx="652" cy="521"/>
          </a:xfrm>
        </p:grpSpPr>
        <p:grpSp>
          <p:nvGrpSpPr>
            <p:cNvPr id="856" name="Google Shape;856;p31"/>
            <p:cNvGrpSpPr/>
            <p:nvPr/>
          </p:nvGrpSpPr>
          <p:grpSpPr>
            <a:xfrm>
              <a:off x="4100" y="2950"/>
              <a:ext cx="652" cy="521"/>
              <a:chOff x="3140" y="3132"/>
              <a:chExt cx="652" cy="521"/>
            </a:xfrm>
          </p:grpSpPr>
          <p:sp>
            <p:nvSpPr>
              <p:cNvPr id="857" name="Google Shape;857;p31"/>
              <p:cNvSpPr/>
              <p:nvPr/>
            </p:nvSpPr>
            <p:spPr>
              <a:xfrm>
                <a:off x="3140" y="3132"/>
                <a:ext cx="652" cy="521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8" name="Google Shape;858;p31"/>
              <p:cNvSpPr/>
              <p:nvPr/>
            </p:nvSpPr>
            <p:spPr>
              <a:xfrm>
                <a:off x="3339" y="3298"/>
                <a:ext cx="261" cy="261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9" name="Google Shape;859;p31"/>
              <p:cNvSpPr txBox="1"/>
              <p:nvPr/>
            </p:nvSpPr>
            <p:spPr>
              <a:xfrm>
                <a:off x="3175" y="3305"/>
                <a:ext cx="178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-</a:t>
                </a:r>
                <a:endParaRPr/>
              </a:p>
            </p:txBody>
          </p:sp>
          <p:sp>
            <p:nvSpPr>
              <p:cNvPr id="860" name="Google Shape;860;p31"/>
              <p:cNvSpPr txBox="1"/>
              <p:nvPr/>
            </p:nvSpPr>
            <p:spPr>
              <a:xfrm>
                <a:off x="3375" y="3162"/>
                <a:ext cx="240" cy="1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0</a:t>
                </a:r>
                <a:endParaRPr/>
              </a:p>
            </p:txBody>
          </p:sp>
          <p:sp>
            <p:nvSpPr>
              <p:cNvPr id="861" name="Google Shape;861;p31"/>
              <p:cNvSpPr txBox="1"/>
              <p:nvPr/>
            </p:nvSpPr>
            <p:spPr>
              <a:xfrm>
                <a:off x="3573" y="3312"/>
                <a:ext cx="178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+</a:t>
                </a:r>
                <a:endParaRPr/>
              </a:p>
            </p:txBody>
          </p:sp>
          <p:sp>
            <p:nvSpPr>
              <p:cNvPr id="862" name="Google Shape;862;p31"/>
              <p:cNvSpPr/>
              <p:nvPr/>
            </p:nvSpPr>
            <p:spPr>
              <a:xfrm>
                <a:off x="3196" y="3573"/>
                <a:ext cx="56" cy="56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3" name="Google Shape;863;p31"/>
              <p:cNvSpPr/>
              <p:nvPr/>
            </p:nvSpPr>
            <p:spPr>
              <a:xfrm>
                <a:off x="3682" y="3573"/>
                <a:ext cx="56" cy="56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64" name="Google Shape;864;p31"/>
            <p:cNvGrpSpPr/>
            <p:nvPr/>
          </p:nvGrpSpPr>
          <p:grpSpPr>
            <a:xfrm>
              <a:off x="4321" y="3134"/>
              <a:ext cx="219" cy="220"/>
              <a:chOff x="3614" y="2770"/>
              <a:chExt cx="219" cy="220"/>
            </a:xfrm>
          </p:grpSpPr>
          <p:sp>
            <p:nvSpPr>
              <p:cNvPr id="865" name="Google Shape;865;p31"/>
              <p:cNvSpPr/>
              <p:nvPr/>
            </p:nvSpPr>
            <p:spPr>
              <a:xfrm>
                <a:off x="3614" y="2770"/>
                <a:ext cx="219" cy="219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866" name="Google Shape;866;p31"/>
              <p:cNvCxnSpPr/>
              <p:nvPr/>
            </p:nvCxnSpPr>
            <p:spPr>
              <a:xfrm rot="10800000">
                <a:off x="3723" y="2770"/>
                <a:ext cx="0" cy="22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</p:grpSp>
      <p:grpSp>
        <p:nvGrpSpPr>
          <p:cNvPr id="867" name="Google Shape;867;p31"/>
          <p:cNvGrpSpPr/>
          <p:nvPr/>
        </p:nvGrpSpPr>
        <p:grpSpPr>
          <a:xfrm>
            <a:off x="5803900" y="2514600"/>
            <a:ext cx="4132263" cy="2922174"/>
            <a:chOff x="2059" y="1289"/>
            <a:chExt cx="2603" cy="1841"/>
          </a:xfrm>
        </p:grpSpPr>
        <p:grpSp>
          <p:nvGrpSpPr>
            <p:cNvPr id="868" name="Google Shape;868;p31"/>
            <p:cNvGrpSpPr/>
            <p:nvPr/>
          </p:nvGrpSpPr>
          <p:grpSpPr>
            <a:xfrm>
              <a:off x="2894" y="1289"/>
              <a:ext cx="1768" cy="987"/>
              <a:chOff x="3525" y="1447"/>
              <a:chExt cx="1768" cy="987"/>
            </a:xfrm>
          </p:grpSpPr>
          <p:grpSp>
            <p:nvGrpSpPr>
              <p:cNvPr id="869" name="Google Shape;869;p31"/>
              <p:cNvGrpSpPr/>
              <p:nvPr/>
            </p:nvGrpSpPr>
            <p:grpSpPr>
              <a:xfrm>
                <a:off x="4183" y="1447"/>
                <a:ext cx="1110" cy="603"/>
                <a:chOff x="3525" y="1831"/>
                <a:chExt cx="1110" cy="603"/>
              </a:xfrm>
            </p:grpSpPr>
            <p:sp>
              <p:nvSpPr>
                <p:cNvPr id="870" name="Google Shape;870;p31"/>
                <p:cNvSpPr/>
                <p:nvPr/>
              </p:nvSpPr>
              <p:spPr>
                <a:xfrm>
                  <a:off x="3525" y="2228"/>
                  <a:ext cx="452" cy="206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71" name="Google Shape;871;p31"/>
                <p:cNvSpPr/>
                <p:nvPr/>
              </p:nvSpPr>
              <p:spPr>
                <a:xfrm>
                  <a:off x="3525" y="1838"/>
                  <a:ext cx="1110" cy="384"/>
                </a:xfrm>
                <a:custGeom>
                  <a:rect b="b" l="l" r="r" t="t"/>
                  <a:pathLst>
                    <a:path extrusionOk="0" h="384" w="1110">
                      <a:moveTo>
                        <a:pt x="0" y="384"/>
                      </a:moveTo>
                      <a:lnTo>
                        <a:pt x="665" y="0"/>
                      </a:lnTo>
                      <a:lnTo>
                        <a:pt x="1110" y="0"/>
                      </a:lnTo>
                      <a:lnTo>
                        <a:pt x="445" y="384"/>
                      </a:lnTo>
                      <a:lnTo>
                        <a:pt x="0" y="38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72" name="Google Shape;872;p31"/>
                <p:cNvSpPr/>
                <p:nvPr/>
              </p:nvSpPr>
              <p:spPr>
                <a:xfrm>
                  <a:off x="3970" y="1831"/>
                  <a:ext cx="665" cy="597"/>
                </a:xfrm>
                <a:custGeom>
                  <a:rect b="b" l="l" r="r" t="t"/>
                  <a:pathLst>
                    <a:path extrusionOk="0" h="597" w="665">
                      <a:moveTo>
                        <a:pt x="0" y="597"/>
                      </a:moveTo>
                      <a:lnTo>
                        <a:pt x="0" y="384"/>
                      </a:lnTo>
                      <a:lnTo>
                        <a:pt x="665" y="0"/>
                      </a:lnTo>
                      <a:lnTo>
                        <a:pt x="665" y="213"/>
                      </a:lnTo>
                      <a:lnTo>
                        <a:pt x="0" y="59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73" name="Google Shape;873;p31"/>
              <p:cNvGrpSpPr/>
              <p:nvPr/>
            </p:nvGrpSpPr>
            <p:grpSpPr>
              <a:xfrm>
                <a:off x="3525" y="1831"/>
                <a:ext cx="1110" cy="603"/>
                <a:chOff x="3525" y="1831"/>
                <a:chExt cx="1110" cy="603"/>
              </a:xfrm>
            </p:grpSpPr>
            <p:sp>
              <p:nvSpPr>
                <p:cNvPr id="874" name="Google Shape;874;p31"/>
                <p:cNvSpPr/>
                <p:nvPr/>
              </p:nvSpPr>
              <p:spPr>
                <a:xfrm>
                  <a:off x="3525" y="2228"/>
                  <a:ext cx="452" cy="206"/>
                </a:xfrm>
                <a:prstGeom prst="rect">
                  <a:avLst/>
                </a:prstGeom>
                <a:solidFill>
                  <a:srgbClr val="FF7C80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75" name="Google Shape;875;p31"/>
                <p:cNvSpPr/>
                <p:nvPr/>
              </p:nvSpPr>
              <p:spPr>
                <a:xfrm>
                  <a:off x="3525" y="1838"/>
                  <a:ext cx="1110" cy="384"/>
                </a:xfrm>
                <a:custGeom>
                  <a:rect b="b" l="l" r="r" t="t"/>
                  <a:pathLst>
                    <a:path extrusionOk="0" h="384" w="1110">
                      <a:moveTo>
                        <a:pt x="0" y="384"/>
                      </a:moveTo>
                      <a:lnTo>
                        <a:pt x="665" y="0"/>
                      </a:lnTo>
                      <a:lnTo>
                        <a:pt x="1110" y="0"/>
                      </a:lnTo>
                      <a:lnTo>
                        <a:pt x="445" y="384"/>
                      </a:lnTo>
                      <a:lnTo>
                        <a:pt x="0" y="384"/>
                      </a:lnTo>
                      <a:close/>
                    </a:path>
                  </a:pathLst>
                </a:custGeom>
                <a:solidFill>
                  <a:srgbClr val="FF7C80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76" name="Google Shape;876;p31"/>
                <p:cNvSpPr/>
                <p:nvPr/>
              </p:nvSpPr>
              <p:spPr>
                <a:xfrm>
                  <a:off x="3970" y="1831"/>
                  <a:ext cx="665" cy="597"/>
                </a:xfrm>
                <a:custGeom>
                  <a:rect b="b" l="l" r="r" t="t"/>
                  <a:pathLst>
                    <a:path extrusionOk="0" h="597" w="665">
                      <a:moveTo>
                        <a:pt x="0" y="597"/>
                      </a:moveTo>
                      <a:lnTo>
                        <a:pt x="0" y="384"/>
                      </a:lnTo>
                      <a:lnTo>
                        <a:pt x="665" y="0"/>
                      </a:lnTo>
                      <a:lnTo>
                        <a:pt x="665" y="213"/>
                      </a:lnTo>
                      <a:lnTo>
                        <a:pt x="0" y="597"/>
                      </a:lnTo>
                      <a:close/>
                    </a:path>
                  </a:pathLst>
                </a:custGeom>
                <a:solidFill>
                  <a:srgbClr val="FF7C80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77" name="Google Shape;877;p31"/>
              <p:cNvSpPr/>
              <p:nvPr/>
            </p:nvSpPr>
            <p:spPr>
              <a:xfrm>
                <a:off x="3703" y="2030"/>
                <a:ext cx="487" cy="139"/>
              </a:xfrm>
              <a:custGeom>
                <a:rect b="b" l="l" r="r" t="t"/>
                <a:pathLst>
                  <a:path extrusionOk="0" h="172" w="603">
                    <a:moveTo>
                      <a:pt x="0" y="172"/>
                    </a:moveTo>
                    <a:lnTo>
                      <a:pt x="274" y="0"/>
                    </a:lnTo>
                    <a:lnTo>
                      <a:pt x="329" y="165"/>
                    </a:lnTo>
                    <a:lnTo>
                      <a:pt x="603" y="7"/>
                    </a:lnTo>
                  </a:path>
                </a:pathLst>
              </a:cu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8" name="Google Shape;878;p31"/>
              <p:cNvSpPr/>
              <p:nvPr/>
            </p:nvSpPr>
            <p:spPr>
              <a:xfrm>
                <a:off x="4662" y="1487"/>
                <a:ext cx="391" cy="181"/>
              </a:xfrm>
              <a:custGeom>
                <a:rect b="b" l="l" r="r" t="t"/>
                <a:pathLst>
                  <a:path extrusionOk="0" h="181" w="391">
                    <a:moveTo>
                      <a:pt x="391" y="42"/>
                    </a:moveTo>
                    <a:cubicBezTo>
                      <a:pt x="387" y="37"/>
                      <a:pt x="388" y="21"/>
                      <a:pt x="370" y="14"/>
                    </a:cubicBezTo>
                    <a:cubicBezTo>
                      <a:pt x="352" y="7"/>
                      <a:pt x="314" y="0"/>
                      <a:pt x="281" y="0"/>
                    </a:cubicBezTo>
                    <a:cubicBezTo>
                      <a:pt x="248" y="0"/>
                      <a:pt x="199" y="7"/>
                      <a:pt x="172" y="14"/>
                    </a:cubicBezTo>
                    <a:cubicBezTo>
                      <a:pt x="145" y="21"/>
                      <a:pt x="123" y="33"/>
                      <a:pt x="117" y="42"/>
                    </a:cubicBezTo>
                    <a:cubicBezTo>
                      <a:pt x="111" y="51"/>
                      <a:pt x="121" y="64"/>
                      <a:pt x="138" y="70"/>
                    </a:cubicBezTo>
                    <a:cubicBezTo>
                      <a:pt x="155" y="76"/>
                      <a:pt x="196" y="69"/>
                      <a:pt x="220" y="76"/>
                    </a:cubicBezTo>
                    <a:cubicBezTo>
                      <a:pt x="244" y="83"/>
                      <a:pt x="280" y="99"/>
                      <a:pt x="282" y="111"/>
                    </a:cubicBezTo>
                    <a:cubicBezTo>
                      <a:pt x="284" y="123"/>
                      <a:pt x="258" y="140"/>
                      <a:pt x="233" y="151"/>
                    </a:cubicBezTo>
                    <a:cubicBezTo>
                      <a:pt x="208" y="162"/>
                      <a:pt x="164" y="177"/>
                      <a:pt x="130" y="179"/>
                    </a:cubicBezTo>
                    <a:cubicBezTo>
                      <a:pt x="96" y="181"/>
                      <a:pt x="50" y="175"/>
                      <a:pt x="28" y="165"/>
                    </a:cubicBezTo>
                    <a:cubicBezTo>
                      <a:pt x="6" y="155"/>
                      <a:pt x="3" y="136"/>
                      <a:pt x="0" y="117"/>
                    </a:cubicBezTo>
                  </a:path>
                </a:pathLst>
              </a:cu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79" name="Google Shape;879;p31"/>
            <p:cNvGrpSpPr/>
            <p:nvPr/>
          </p:nvGrpSpPr>
          <p:grpSpPr>
            <a:xfrm>
              <a:off x="2059" y="2086"/>
              <a:ext cx="1252" cy="1044"/>
              <a:chOff x="2059" y="2086"/>
              <a:chExt cx="1252" cy="1044"/>
            </a:xfrm>
          </p:grpSpPr>
          <p:sp>
            <p:nvSpPr>
              <p:cNvPr id="880" name="Google Shape;880;p31"/>
              <p:cNvSpPr/>
              <p:nvPr/>
            </p:nvSpPr>
            <p:spPr>
              <a:xfrm rot="-346116">
                <a:off x="2253" y="2218"/>
                <a:ext cx="713" cy="775"/>
              </a:xfrm>
              <a:custGeom>
                <a:rect b="b" l="l" r="r" t="t"/>
                <a:pathLst>
                  <a:path extrusionOk="0" h="858" w="713">
                    <a:moveTo>
                      <a:pt x="713" y="0"/>
                    </a:moveTo>
                    <a:cubicBezTo>
                      <a:pt x="594" y="66"/>
                      <a:pt x="476" y="132"/>
                      <a:pt x="377" y="220"/>
                    </a:cubicBezTo>
                    <a:cubicBezTo>
                      <a:pt x="278" y="308"/>
                      <a:pt x="180" y="422"/>
                      <a:pt x="117" y="528"/>
                    </a:cubicBezTo>
                    <a:cubicBezTo>
                      <a:pt x="54" y="634"/>
                      <a:pt x="27" y="746"/>
                      <a:pt x="0" y="858"/>
                    </a:cubicBezTo>
                  </a:path>
                </a:pathLst>
              </a:custGeom>
              <a:noFill/>
              <a:ln cap="flat" cmpd="sng" w="190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1" name="Google Shape;881;p31"/>
              <p:cNvSpPr/>
              <p:nvPr/>
            </p:nvSpPr>
            <p:spPr>
              <a:xfrm rot="-224057">
                <a:off x="2416" y="2239"/>
                <a:ext cx="542" cy="858"/>
              </a:xfrm>
              <a:custGeom>
                <a:rect b="b" l="l" r="r" t="t"/>
                <a:pathLst>
                  <a:path extrusionOk="0" h="858" w="713">
                    <a:moveTo>
                      <a:pt x="713" y="0"/>
                    </a:moveTo>
                    <a:cubicBezTo>
                      <a:pt x="594" y="66"/>
                      <a:pt x="476" y="132"/>
                      <a:pt x="377" y="220"/>
                    </a:cubicBezTo>
                    <a:cubicBezTo>
                      <a:pt x="278" y="308"/>
                      <a:pt x="180" y="422"/>
                      <a:pt x="117" y="528"/>
                    </a:cubicBezTo>
                    <a:cubicBezTo>
                      <a:pt x="54" y="634"/>
                      <a:pt x="27" y="746"/>
                      <a:pt x="0" y="858"/>
                    </a:cubicBezTo>
                  </a:path>
                </a:pathLst>
              </a:custGeom>
              <a:noFill/>
              <a:ln cap="flat" cmpd="sng" w="190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2" name="Google Shape;882;p31"/>
              <p:cNvSpPr/>
              <p:nvPr/>
            </p:nvSpPr>
            <p:spPr>
              <a:xfrm>
                <a:off x="2167" y="2149"/>
                <a:ext cx="759" cy="627"/>
              </a:xfrm>
              <a:custGeom>
                <a:rect b="b" l="l" r="r" t="t"/>
                <a:pathLst>
                  <a:path extrusionOk="0" h="627" w="759">
                    <a:moveTo>
                      <a:pt x="759" y="0"/>
                    </a:moveTo>
                    <a:cubicBezTo>
                      <a:pt x="599" y="84"/>
                      <a:pt x="440" y="169"/>
                      <a:pt x="314" y="273"/>
                    </a:cubicBezTo>
                    <a:cubicBezTo>
                      <a:pt x="188" y="377"/>
                      <a:pt x="94" y="502"/>
                      <a:pt x="0" y="627"/>
                    </a:cubicBezTo>
                  </a:path>
                </a:pathLst>
              </a:custGeom>
              <a:noFill/>
              <a:ln cap="flat" cmpd="sng" w="190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3" name="Google Shape;883;p31"/>
              <p:cNvSpPr/>
              <p:nvPr/>
            </p:nvSpPr>
            <p:spPr>
              <a:xfrm>
                <a:off x="2059" y="2120"/>
                <a:ext cx="867" cy="331"/>
              </a:xfrm>
              <a:custGeom>
                <a:rect b="b" l="l" r="r" t="t"/>
                <a:pathLst>
                  <a:path extrusionOk="0" h="331" w="867">
                    <a:moveTo>
                      <a:pt x="867" y="0"/>
                    </a:moveTo>
                    <a:cubicBezTo>
                      <a:pt x="682" y="89"/>
                      <a:pt x="497" y="179"/>
                      <a:pt x="353" y="234"/>
                    </a:cubicBezTo>
                    <a:cubicBezTo>
                      <a:pt x="209" y="289"/>
                      <a:pt x="104" y="310"/>
                      <a:pt x="0" y="331"/>
                    </a:cubicBezTo>
                  </a:path>
                </a:pathLst>
              </a:custGeom>
              <a:noFill/>
              <a:ln cap="flat" cmpd="sng" w="190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4" name="Google Shape;884;p31"/>
              <p:cNvSpPr/>
              <p:nvPr/>
            </p:nvSpPr>
            <p:spPr>
              <a:xfrm>
                <a:off x="2082" y="2087"/>
                <a:ext cx="850" cy="201"/>
              </a:xfrm>
              <a:custGeom>
                <a:rect b="b" l="l" r="r" t="t"/>
                <a:pathLst>
                  <a:path extrusionOk="0" h="201" w="850">
                    <a:moveTo>
                      <a:pt x="850" y="0"/>
                    </a:moveTo>
                    <a:cubicBezTo>
                      <a:pt x="672" y="82"/>
                      <a:pt x="495" y="165"/>
                      <a:pt x="353" y="183"/>
                    </a:cubicBezTo>
                    <a:cubicBezTo>
                      <a:pt x="211" y="201"/>
                      <a:pt x="105" y="155"/>
                      <a:pt x="0" y="109"/>
                    </a:cubicBezTo>
                  </a:path>
                </a:pathLst>
              </a:custGeom>
              <a:noFill/>
              <a:ln cap="flat" cmpd="sng" w="190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5" name="Google Shape;885;p31"/>
              <p:cNvSpPr/>
              <p:nvPr/>
            </p:nvSpPr>
            <p:spPr>
              <a:xfrm rot="-224057">
                <a:off x="2484" y="2249"/>
                <a:ext cx="542" cy="858"/>
              </a:xfrm>
              <a:custGeom>
                <a:rect b="b" l="l" r="r" t="t"/>
                <a:pathLst>
                  <a:path extrusionOk="0" h="858" w="713">
                    <a:moveTo>
                      <a:pt x="713" y="0"/>
                    </a:moveTo>
                    <a:cubicBezTo>
                      <a:pt x="594" y="66"/>
                      <a:pt x="476" y="132"/>
                      <a:pt x="377" y="220"/>
                    </a:cubicBezTo>
                    <a:cubicBezTo>
                      <a:pt x="278" y="308"/>
                      <a:pt x="180" y="422"/>
                      <a:pt x="117" y="528"/>
                    </a:cubicBezTo>
                    <a:cubicBezTo>
                      <a:pt x="54" y="634"/>
                      <a:pt x="27" y="746"/>
                      <a:pt x="0" y="858"/>
                    </a:cubicBezTo>
                  </a:path>
                </a:pathLst>
              </a:custGeom>
              <a:noFill/>
              <a:ln cap="flat" cmpd="sng" w="190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6" name="Google Shape;886;p31"/>
              <p:cNvSpPr/>
              <p:nvPr/>
            </p:nvSpPr>
            <p:spPr>
              <a:xfrm rot="-224057">
                <a:off x="2574" y="2255"/>
                <a:ext cx="542" cy="858"/>
              </a:xfrm>
              <a:custGeom>
                <a:rect b="b" l="l" r="r" t="t"/>
                <a:pathLst>
                  <a:path extrusionOk="0" h="858" w="713">
                    <a:moveTo>
                      <a:pt x="713" y="0"/>
                    </a:moveTo>
                    <a:cubicBezTo>
                      <a:pt x="594" y="66"/>
                      <a:pt x="476" y="132"/>
                      <a:pt x="377" y="220"/>
                    </a:cubicBezTo>
                    <a:cubicBezTo>
                      <a:pt x="278" y="308"/>
                      <a:pt x="180" y="422"/>
                      <a:pt x="117" y="528"/>
                    </a:cubicBezTo>
                    <a:cubicBezTo>
                      <a:pt x="54" y="634"/>
                      <a:pt x="27" y="746"/>
                      <a:pt x="0" y="858"/>
                    </a:cubicBezTo>
                  </a:path>
                </a:pathLst>
              </a:custGeom>
              <a:noFill/>
              <a:ln cap="flat" cmpd="sng" w="190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7" name="Google Shape;887;p31"/>
              <p:cNvSpPr/>
              <p:nvPr/>
            </p:nvSpPr>
            <p:spPr>
              <a:xfrm rot="-224057">
                <a:off x="2658" y="2253"/>
                <a:ext cx="542" cy="858"/>
              </a:xfrm>
              <a:custGeom>
                <a:rect b="b" l="l" r="r" t="t"/>
                <a:pathLst>
                  <a:path extrusionOk="0" h="858" w="713">
                    <a:moveTo>
                      <a:pt x="713" y="0"/>
                    </a:moveTo>
                    <a:cubicBezTo>
                      <a:pt x="594" y="66"/>
                      <a:pt x="476" y="132"/>
                      <a:pt x="377" y="220"/>
                    </a:cubicBezTo>
                    <a:cubicBezTo>
                      <a:pt x="278" y="308"/>
                      <a:pt x="180" y="422"/>
                      <a:pt x="117" y="528"/>
                    </a:cubicBezTo>
                    <a:cubicBezTo>
                      <a:pt x="54" y="634"/>
                      <a:pt x="27" y="746"/>
                      <a:pt x="0" y="858"/>
                    </a:cubicBezTo>
                  </a:path>
                </a:pathLst>
              </a:custGeom>
              <a:noFill/>
              <a:ln cap="flat" cmpd="sng" w="190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8" name="Google Shape;888;p31"/>
              <p:cNvSpPr/>
              <p:nvPr/>
            </p:nvSpPr>
            <p:spPr>
              <a:xfrm rot="-224057">
                <a:off x="2742" y="2253"/>
                <a:ext cx="542" cy="858"/>
              </a:xfrm>
              <a:custGeom>
                <a:rect b="b" l="l" r="r" t="t"/>
                <a:pathLst>
                  <a:path extrusionOk="0" h="858" w="713">
                    <a:moveTo>
                      <a:pt x="713" y="0"/>
                    </a:moveTo>
                    <a:cubicBezTo>
                      <a:pt x="594" y="66"/>
                      <a:pt x="476" y="132"/>
                      <a:pt x="377" y="220"/>
                    </a:cubicBezTo>
                    <a:cubicBezTo>
                      <a:pt x="278" y="308"/>
                      <a:pt x="180" y="422"/>
                      <a:pt x="117" y="528"/>
                    </a:cubicBezTo>
                    <a:cubicBezTo>
                      <a:pt x="54" y="634"/>
                      <a:pt x="27" y="746"/>
                      <a:pt x="0" y="858"/>
                    </a:cubicBezTo>
                  </a:path>
                </a:pathLst>
              </a:custGeom>
              <a:noFill/>
              <a:ln cap="flat" cmpd="sng" w="190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9" name="Google Shape;889;p31"/>
              <p:cNvSpPr/>
              <p:nvPr/>
            </p:nvSpPr>
            <p:spPr>
              <a:xfrm>
                <a:off x="2156" y="2092"/>
                <a:ext cx="850" cy="201"/>
              </a:xfrm>
              <a:custGeom>
                <a:rect b="b" l="l" r="r" t="t"/>
                <a:pathLst>
                  <a:path extrusionOk="0" h="201" w="850">
                    <a:moveTo>
                      <a:pt x="850" y="0"/>
                    </a:moveTo>
                    <a:cubicBezTo>
                      <a:pt x="672" y="82"/>
                      <a:pt x="495" y="165"/>
                      <a:pt x="353" y="183"/>
                    </a:cubicBezTo>
                    <a:cubicBezTo>
                      <a:pt x="211" y="201"/>
                      <a:pt x="105" y="155"/>
                      <a:pt x="0" y="109"/>
                    </a:cubicBezTo>
                  </a:path>
                </a:pathLst>
              </a:custGeom>
              <a:noFill/>
              <a:ln cap="flat" cmpd="sng" w="190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0" name="Google Shape;890;p31"/>
              <p:cNvSpPr/>
              <p:nvPr/>
            </p:nvSpPr>
            <p:spPr>
              <a:xfrm>
                <a:off x="2252" y="2092"/>
                <a:ext cx="850" cy="201"/>
              </a:xfrm>
              <a:custGeom>
                <a:rect b="b" l="l" r="r" t="t"/>
                <a:pathLst>
                  <a:path extrusionOk="0" h="201" w="850">
                    <a:moveTo>
                      <a:pt x="850" y="0"/>
                    </a:moveTo>
                    <a:cubicBezTo>
                      <a:pt x="672" y="82"/>
                      <a:pt x="495" y="165"/>
                      <a:pt x="353" y="183"/>
                    </a:cubicBezTo>
                    <a:cubicBezTo>
                      <a:pt x="211" y="201"/>
                      <a:pt x="105" y="155"/>
                      <a:pt x="0" y="109"/>
                    </a:cubicBezTo>
                  </a:path>
                </a:pathLst>
              </a:custGeom>
              <a:noFill/>
              <a:ln cap="flat" cmpd="sng" w="190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1" name="Google Shape;891;p31"/>
              <p:cNvSpPr/>
              <p:nvPr/>
            </p:nvSpPr>
            <p:spPr>
              <a:xfrm>
                <a:off x="2348" y="2086"/>
                <a:ext cx="850" cy="201"/>
              </a:xfrm>
              <a:custGeom>
                <a:rect b="b" l="l" r="r" t="t"/>
                <a:pathLst>
                  <a:path extrusionOk="0" h="201" w="850">
                    <a:moveTo>
                      <a:pt x="850" y="0"/>
                    </a:moveTo>
                    <a:cubicBezTo>
                      <a:pt x="672" y="82"/>
                      <a:pt x="495" y="165"/>
                      <a:pt x="353" y="183"/>
                    </a:cubicBezTo>
                    <a:cubicBezTo>
                      <a:pt x="211" y="201"/>
                      <a:pt x="105" y="155"/>
                      <a:pt x="0" y="109"/>
                    </a:cubicBezTo>
                  </a:path>
                </a:pathLst>
              </a:custGeom>
              <a:noFill/>
              <a:ln cap="flat" cmpd="sng" w="190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2" name="Google Shape;892;p31"/>
              <p:cNvSpPr/>
              <p:nvPr/>
            </p:nvSpPr>
            <p:spPr>
              <a:xfrm>
                <a:off x="2432" y="2086"/>
                <a:ext cx="850" cy="201"/>
              </a:xfrm>
              <a:custGeom>
                <a:rect b="b" l="l" r="r" t="t"/>
                <a:pathLst>
                  <a:path extrusionOk="0" h="201" w="850">
                    <a:moveTo>
                      <a:pt x="850" y="0"/>
                    </a:moveTo>
                    <a:cubicBezTo>
                      <a:pt x="672" y="82"/>
                      <a:pt x="495" y="165"/>
                      <a:pt x="353" y="183"/>
                    </a:cubicBezTo>
                    <a:cubicBezTo>
                      <a:pt x="211" y="201"/>
                      <a:pt x="105" y="155"/>
                      <a:pt x="0" y="109"/>
                    </a:cubicBezTo>
                  </a:path>
                </a:pathLst>
              </a:custGeom>
              <a:noFill/>
              <a:ln cap="flat" cmpd="sng" w="190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3" name="Google Shape;893;p31"/>
              <p:cNvSpPr/>
              <p:nvPr/>
            </p:nvSpPr>
            <p:spPr>
              <a:xfrm>
                <a:off x="2980" y="2207"/>
                <a:ext cx="276" cy="684"/>
              </a:xfrm>
              <a:custGeom>
                <a:rect b="b" l="l" r="r" t="t"/>
                <a:pathLst>
                  <a:path extrusionOk="0" h="684" w="276">
                    <a:moveTo>
                      <a:pt x="276" y="0"/>
                    </a:moveTo>
                    <a:cubicBezTo>
                      <a:pt x="225" y="26"/>
                      <a:pt x="175" y="52"/>
                      <a:pt x="139" y="80"/>
                    </a:cubicBezTo>
                    <a:cubicBezTo>
                      <a:pt x="103" y="108"/>
                      <a:pt x="82" y="121"/>
                      <a:pt x="59" y="171"/>
                    </a:cubicBezTo>
                    <a:cubicBezTo>
                      <a:pt x="36" y="221"/>
                      <a:pt x="4" y="297"/>
                      <a:pt x="2" y="382"/>
                    </a:cubicBezTo>
                    <a:cubicBezTo>
                      <a:pt x="0" y="467"/>
                      <a:pt x="24" y="575"/>
                      <a:pt x="48" y="684"/>
                    </a:cubicBezTo>
                  </a:path>
                </a:pathLst>
              </a:custGeom>
              <a:noFill/>
              <a:ln cap="flat" cmpd="sng" w="190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4" name="Google Shape;894;p31"/>
              <p:cNvSpPr/>
              <p:nvPr/>
            </p:nvSpPr>
            <p:spPr>
              <a:xfrm>
                <a:off x="2851" y="2166"/>
                <a:ext cx="410" cy="743"/>
              </a:xfrm>
              <a:custGeom>
                <a:rect b="b" l="l" r="r" t="t"/>
                <a:pathLst>
                  <a:path extrusionOk="0" h="743" w="410">
                    <a:moveTo>
                      <a:pt x="410" y="0"/>
                    </a:moveTo>
                    <a:cubicBezTo>
                      <a:pt x="381" y="15"/>
                      <a:pt x="282" y="49"/>
                      <a:pt x="234" y="92"/>
                    </a:cubicBezTo>
                    <a:cubicBezTo>
                      <a:pt x="186" y="135"/>
                      <a:pt x="151" y="192"/>
                      <a:pt x="120" y="258"/>
                    </a:cubicBezTo>
                    <a:cubicBezTo>
                      <a:pt x="89" y="324"/>
                      <a:pt x="66" y="405"/>
                      <a:pt x="46" y="486"/>
                    </a:cubicBezTo>
                    <a:cubicBezTo>
                      <a:pt x="26" y="567"/>
                      <a:pt x="10" y="690"/>
                      <a:pt x="0" y="743"/>
                    </a:cubicBezTo>
                  </a:path>
                </a:pathLst>
              </a:custGeom>
              <a:noFill/>
              <a:ln cap="flat" cmpd="sng" w="190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5" name="Google Shape;895;p31"/>
              <p:cNvSpPr/>
              <p:nvPr/>
            </p:nvSpPr>
            <p:spPr>
              <a:xfrm>
                <a:off x="2589" y="2139"/>
                <a:ext cx="673" cy="724"/>
              </a:xfrm>
              <a:custGeom>
                <a:rect b="b" l="l" r="r" t="t"/>
                <a:pathLst>
                  <a:path extrusionOk="0" h="724" w="673">
                    <a:moveTo>
                      <a:pt x="673" y="0"/>
                    </a:moveTo>
                    <a:cubicBezTo>
                      <a:pt x="643" y="13"/>
                      <a:pt x="550" y="46"/>
                      <a:pt x="491" y="79"/>
                    </a:cubicBezTo>
                    <a:cubicBezTo>
                      <a:pt x="432" y="112"/>
                      <a:pt x="375" y="144"/>
                      <a:pt x="320" y="199"/>
                    </a:cubicBezTo>
                    <a:cubicBezTo>
                      <a:pt x="265" y="254"/>
                      <a:pt x="213" y="323"/>
                      <a:pt x="160" y="410"/>
                    </a:cubicBezTo>
                    <a:cubicBezTo>
                      <a:pt x="107" y="497"/>
                      <a:pt x="33" y="659"/>
                      <a:pt x="0" y="724"/>
                    </a:cubicBezTo>
                  </a:path>
                </a:pathLst>
              </a:custGeom>
              <a:noFill/>
              <a:ln cap="flat" cmpd="sng" w="190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896" name="Google Shape;896;p31"/>
          <p:cNvGrpSpPr/>
          <p:nvPr/>
        </p:nvGrpSpPr>
        <p:grpSpPr>
          <a:xfrm>
            <a:off x="4872038" y="4260850"/>
            <a:ext cx="3803650" cy="2425700"/>
            <a:chOff x="3069" y="2714"/>
            <a:chExt cx="2396" cy="1528"/>
          </a:xfrm>
        </p:grpSpPr>
        <p:sp>
          <p:nvSpPr>
            <p:cNvPr id="897" name="Google Shape;897;p31"/>
            <p:cNvSpPr/>
            <p:nvPr/>
          </p:nvSpPr>
          <p:spPr>
            <a:xfrm>
              <a:off x="3069" y="2714"/>
              <a:ext cx="1014" cy="983"/>
            </a:xfrm>
            <a:custGeom>
              <a:rect b="b" l="l" r="r" t="t"/>
              <a:pathLst>
                <a:path extrusionOk="0" fill="none" h="42469" w="43200">
                  <a:moveTo>
                    <a:pt x="12063" y="40981"/>
                  </a:moveTo>
                  <a:cubicBezTo>
                    <a:pt x="4678" y="37347"/>
                    <a:pt x="0" y="29831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1384"/>
                    <a:pt x="36623" y="39946"/>
                    <a:pt x="27170" y="42469"/>
                  </a:cubicBezTo>
                </a:path>
                <a:path extrusionOk="0" h="42469" w="43200">
                  <a:moveTo>
                    <a:pt x="12063" y="40981"/>
                  </a:moveTo>
                  <a:cubicBezTo>
                    <a:pt x="4678" y="37347"/>
                    <a:pt x="0" y="29831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1384"/>
                    <a:pt x="36623" y="39946"/>
                    <a:pt x="27170" y="42469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cap="flat" cmpd="sng" w="5715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p31"/>
            <p:cNvSpPr/>
            <p:nvPr/>
          </p:nvSpPr>
          <p:spPr>
            <a:xfrm>
              <a:off x="3361" y="3666"/>
              <a:ext cx="2104" cy="576"/>
            </a:xfrm>
            <a:custGeom>
              <a:rect b="b" l="l" r="r" t="t"/>
              <a:pathLst>
                <a:path extrusionOk="0" h="576" w="2104">
                  <a:moveTo>
                    <a:pt x="1" y="84"/>
                  </a:moveTo>
                  <a:lnTo>
                    <a:pt x="0" y="576"/>
                  </a:lnTo>
                  <a:lnTo>
                    <a:pt x="2104" y="576"/>
                  </a:lnTo>
                  <a:lnTo>
                    <a:pt x="2104" y="0"/>
                  </a:lnTo>
                </a:path>
              </a:pathLst>
            </a:custGeom>
            <a:noFill/>
            <a:ln cap="flat" cmpd="sng" w="57150">
              <a:solidFill>
                <a:srgbClr val="FF99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" name="Google Shape;899;p31"/>
            <p:cNvSpPr/>
            <p:nvPr/>
          </p:nvSpPr>
          <p:spPr>
            <a:xfrm>
              <a:off x="3703" y="3666"/>
              <a:ext cx="1275" cy="295"/>
            </a:xfrm>
            <a:custGeom>
              <a:rect b="b" l="l" r="r" t="t"/>
              <a:pathLst>
                <a:path extrusionOk="0" h="295" w="1275">
                  <a:moveTo>
                    <a:pt x="0" y="41"/>
                  </a:moveTo>
                  <a:lnTo>
                    <a:pt x="0" y="295"/>
                  </a:lnTo>
                  <a:lnTo>
                    <a:pt x="1275" y="295"/>
                  </a:lnTo>
                  <a:lnTo>
                    <a:pt x="1275" y="0"/>
                  </a:lnTo>
                </a:path>
              </a:pathLst>
            </a:custGeom>
            <a:noFill/>
            <a:ln cap="flat" cmpd="sng" w="57150">
              <a:solidFill>
                <a:srgbClr val="FF99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0" name="Google Shape;900;p31"/>
          <p:cNvGrpSpPr/>
          <p:nvPr/>
        </p:nvGrpSpPr>
        <p:grpSpPr>
          <a:xfrm>
            <a:off x="8126413" y="5345113"/>
            <a:ext cx="347662" cy="349250"/>
            <a:chOff x="3614" y="2770"/>
            <a:chExt cx="219" cy="220"/>
          </a:xfrm>
        </p:grpSpPr>
        <p:sp>
          <p:nvSpPr>
            <p:cNvPr id="901" name="Google Shape;901;p31"/>
            <p:cNvSpPr/>
            <p:nvPr/>
          </p:nvSpPr>
          <p:spPr>
            <a:xfrm>
              <a:off x="3614" y="2770"/>
              <a:ext cx="219" cy="219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02" name="Google Shape;902;p31"/>
            <p:cNvCxnSpPr/>
            <p:nvPr/>
          </p:nvCxnSpPr>
          <p:spPr>
            <a:xfrm rot="10800000">
              <a:off x="3723" y="2770"/>
              <a:ext cx="0" cy="22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903" name="Google Shape;903;p31"/>
          <p:cNvGrpSpPr/>
          <p:nvPr/>
        </p:nvGrpSpPr>
        <p:grpSpPr>
          <a:xfrm rot="5400000">
            <a:off x="8128793" y="5342732"/>
            <a:ext cx="347663" cy="349250"/>
            <a:chOff x="3614" y="2770"/>
            <a:chExt cx="219" cy="220"/>
          </a:xfrm>
        </p:grpSpPr>
        <p:sp>
          <p:nvSpPr>
            <p:cNvPr id="904" name="Google Shape;904;p31"/>
            <p:cNvSpPr/>
            <p:nvPr/>
          </p:nvSpPr>
          <p:spPr>
            <a:xfrm>
              <a:off x="3614" y="2770"/>
              <a:ext cx="219" cy="219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05" name="Google Shape;905;p31"/>
            <p:cNvCxnSpPr/>
            <p:nvPr/>
          </p:nvCxnSpPr>
          <p:spPr>
            <a:xfrm rot="10800000">
              <a:off x="3723" y="2770"/>
              <a:ext cx="0" cy="22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906" name="Google Shape;906;p31"/>
          <p:cNvGrpSpPr/>
          <p:nvPr/>
        </p:nvGrpSpPr>
        <p:grpSpPr>
          <a:xfrm>
            <a:off x="8115300" y="5334000"/>
            <a:ext cx="347663" cy="349250"/>
            <a:chOff x="3614" y="2770"/>
            <a:chExt cx="219" cy="220"/>
          </a:xfrm>
        </p:grpSpPr>
        <p:sp>
          <p:nvSpPr>
            <p:cNvPr id="907" name="Google Shape;907;p31"/>
            <p:cNvSpPr/>
            <p:nvPr/>
          </p:nvSpPr>
          <p:spPr>
            <a:xfrm>
              <a:off x="3614" y="2770"/>
              <a:ext cx="219" cy="219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08" name="Google Shape;908;p31"/>
            <p:cNvCxnSpPr/>
            <p:nvPr/>
          </p:nvCxnSpPr>
          <p:spPr>
            <a:xfrm rot="10800000">
              <a:off x="3723" y="2770"/>
              <a:ext cx="0" cy="22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909" name="Google Shape;909;p31"/>
          <p:cNvGrpSpPr/>
          <p:nvPr/>
        </p:nvGrpSpPr>
        <p:grpSpPr>
          <a:xfrm rot="-5400000">
            <a:off x="8117682" y="5331619"/>
            <a:ext cx="347662" cy="349250"/>
            <a:chOff x="3614" y="2770"/>
            <a:chExt cx="219" cy="220"/>
          </a:xfrm>
        </p:grpSpPr>
        <p:sp>
          <p:nvSpPr>
            <p:cNvPr id="910" name="Google Shape;910;p31"/>
            <p:cNvSpPr/>
            <p:nvPr/>
          </p:nvSpPr>
          <p:spPr>
            <a:xfrm>
              <a:off x="3614" y="2770"/>
              <a:ext cx="219" cy="219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11" name="Google Shape;911;p31"/>
            <p:cNvCxnSpPr/>
            <p:nvPr/>
          </p:nvCxnSpPr>
          <p:spPr>
            <a:xfrm rot="10800000">
              <a:off x="3723" y="2770"/>
              <a:ext cx="0" cy="22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912" name="Google Shape;912;p31"/>
          <p:cNvSpPr/>
          <p:nvPr/>
        </p:nvSpPr>
        <p:spPr>
          <a:xfrm>
            <a:off x="4872038" y="4256088"/>
            <a:ext cx="1601787" cy="806450"/>
          </a:xfrm>
          <a:custGeom>
            <a:rect b="b" l="l" r="r" t="t"/>
            <a:pathLst>
              <a:path extrusionOk="0" fill="none" h="21600" w="42885">
                <a:moveTo>
                  <a:pt x="0" y="17923"/>
                </a:moveTo>
                <a:cubicBezTo>
                  <a:pt x="1789" y="7565"/>
                  <a:pt x="10774" y="-1"/>
                  <a:pt x="21285" y="0"/>
                </a:cubicBezTo>
                <a:cubicBezTo>
                  <a:pt x="33214" y="0"/>
                  <a:pt x="42885" y="9670"/>
                  <a:pt x="42885" y="21600"/>
                </a:cubicBezTo>
              </a:path>
              <a:path extrusionOk="0" h="21600" w="42885">
                <a:moveTo>
                  <a:pt x="0" y="17923"/>
                </a:moveTo>
                <a:cubicBezTo>
                  <a:pt x="1789" y="7565"/>
                  <a:pt x="10774" y="-1"/>
                  <a:pt x="21285" y="0"/>
                </a:cubicBezTo>
                <a:cubicBezTo>
                  <a:pt x="33214" y="0"/>
                  <a:pt x="42885" y="9670"/>
                  <a:pt x="42885" y="21600"/>
                </a:cubicBezTo>
                <a:lnTo>
                  <a:pt x="21285" y="21600"/>
                </a:lnTo>
                <a:close/>
              </a:path>
            </a:pathLst>
          </a:cu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p31"/>
          <p:cNvSpPr/>
          <p:nvPr/>
        </p:nvSpPr>
        <p:spPr>
          <a:xfrm flipH="1">
            <a:off x="4852988" y="4232275"/>
            <a:ext cx="1612900" cy="806450"/>
          </a:xfrm>
          <a:custGeom>
            <a:rect b="b" l="l" r="r" t="t"/>
            <a:pathLst>
              <a:path extrusionOk="0" fill="none" h="21600" w="43193">
                <a:moveTo>
                  <a:pt x="0" y="21034"/>
                </a:moveTo>
                <a:cubicBezTo>
                  <a:pt x="307" y="9329"/>
                  <a:pt x="9884" y="-1"/>
                  <a:pt x="21593" y="0"/>
                </a:cubicBezTo>
                <a:cubicBezTo>
                  <a:pt x="33522" y="0"/>
                  <a:pt x="43193" y="9670"/>
                  <a:pt x="43193" y="21600"/>
                </a:cubicBezTo>
              </a:path>
              <a:path extrusionOk="0" h="21600" w="43193">
                <a:moveTo>
                  <a:pt x="0" y="21034"/>
                </a:moveTo>
                <a:cubicBezTo>
                  <a:pt x="307" y="9329"/>
                  <a:pt x="9884" y="-1"/>
                  <a:pt x="21593" y="0"/>
                </a:cubicBezTo>
                <a:cubicBezTo>
                  <a:pt x="33522" y="0"/>
                  <a:pt x="43193" y="9670"/>
                  <a:pt x="43193" y="21600"/>
                </a:cubicBezTo>
                <a:lnTo>
                  <a:pt x="21593" y="21600"/>
                </a:lnTo>
                <a:close/>
              </a:path>
            </a:pathLst>
          </a:cu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4" name="Google Shape;914;p31"/>
          <p:cNvCxnSpPr/>
          <p:nvPr/>
        </p:nvCxnSpPr>
        <p:spPr>
          <a:xfrm>
            <a:off x="6330950" y="6199188"/>
            <a:ext cx="1154113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5" name="Google Shape;915;p31"/>
          <p:cNvCxnSpPr/>
          <p:nvPr/>
        </p:nvCxnSpPr>
        <p:spPr>
          <a:xfrm>
            <a:off x="6327775" y="6640513"/>
            <a:ext cx="1154113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916" name="Google Shape;916;p31"/>
          <p:cNvCxnSpPr/>
          <p:nvPr/>
        </p:nvCxnSpPr>
        <p:spPr>
          <a:xfrm>
            <a:off x="6353175" y="6650038"/>
            <a:ext cx="1154113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7" name="Google Shape;917;p31"/>
          <p:cNvCxnSpPr/>
          <p:nvPr/>
        </p:nvCxnSpPr>
        <p:spPr>
          <a:xfrm>
            <a:off x="6327775" y="6197600"/>
            <a:ext cx="1154113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grpSp>
        <p:nvGrpSpPr>
          <p:cNvPr id="918" name="Google Shape;918;p31"/>
          <p:cNvGrpSpPr/>
          <p:nvPr/>
        </p:nvGrpSpPr>
        <p:grpSpPr>
          <a:xfrm>
            <a:off x="817563" y="2968625"/>
            <a:ext cx="7464425" cy="514350"/>
            <a:chOff x="515" y="1870"/>
            <a:chExt cx="4702" cy="324"/>
          </a:xfrm>
        </p:grpSpPr>
        <p:sp>
          <p:nvSpPr>
            <p:cNvPr id="919" name="Google Shape;919;p31"/>
            <p:cNvSpPr txBox="1"/>
            <p:nvPr/>
          </p:nvSpPr>
          <p:spPr>
            <a:xfrm>
              <a:off x="4100" y="1885"/>
              <a:ext cx="1117" cy="28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flux linkage</a:t>
              </a:r>
              <a:endParaRPr/>
            </a:p>
          </p:txBody>
        </p:sp>
        <p:sp>
          <p:nvSpPr>
            <p:cNvPr id="920" name="Google Shape;920;p31"/>
            <p:cNvSpPr/>
            <p:nvPr/>
          </p:nvSpPr>
          <p:spPr>
            <a:xfrm>
              <a:off x="515" y="1887"/>
              <a:ext cx="4701" cy="28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" name="Google Shape;921;p31"/>
            <p:cNvSpPr txBox="1"/>
            <p:nvPr/>
          </p:nvSpPr>
          <p:spPr>
            <a:xfrm>
              <a:off x="655" y="1870"/>
              <a:ext cx="3586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flux linkage</a:t>
              </a:r>
              <a:r>
                <a:rPr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= </a:t>
              </a:r>
              <a:r>
                <a:rPr i="1"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r>
                <a:rPr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Φ</a:t>
              </a:r>
              <a:endParaRPr i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31"/>
            <p:cNvSpPr txBox="1"/>
            <p:nvPr/>
          </p:nvSpPr>
          <p:spPr>
            <a:xfrm>
              <a:off x="2278" y="1944"/>
              <a:ext cx="235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000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</a:rPr>
                <a:t>N </a:t>
              </a:r>
              <a:r>
                <a:rPr lang="en-US" sz="2000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</a:rPr>
                <a:t>is the number of loops</a:t>
              </a:r>
              <a:endParaRPr/>
            </a:p>
          </p:txBody>
        </p:sp>
      </p:grpSp>
      <p:grpSp>
        <p:nvGrpSpPr>
          <p:cNvPr id="923" name="Google Shape;923;p31"/>
          <p:cNvGrpSpPr/>
          <p:nvPr/>
        </p:nvGrpSpPr>
        <p:grpSpPr>
          <a:xfrm>
            <a:off x="4721225" y="4256088"/>
            <a:ext cx="1655763" cy="1666875"/>
            <a:chOff x="2974" y="2711"/>
            <a:chExt cx="1043" cy="1050"/>
          </a:xfrm>
        </p:grpSpPr>
        <p:sp>
          <p:nvSpPr>
            <p:cNvPr id="924" name="Google Shape;924;p31"/>
            <p:cNvSpPr/>
            <p:nvPr/>
          </p:nvSpPr>
          <p:spPr>
            <a:xfrm>
              <a:off x="3331" y="2714"/>
              <a:ext cx="686" cy="976"/>
            </a:xfrm>
            <a:custGeom>
              <a:rect b="b" l="l" r="r" t="t"/>
              <a:pathLst>
                <a:path extrusionOk="0" fill="none" h="43200" w="29208">
                  <a:moveTo>
                    <a:pt x="7295" y="2"/>
                  </a:moveTo>
                  <a:cubicBezTo>
                    <a:pt x="7399" y="0"/>
                    <a:pt x="7503" y="-1"/>
                    <a:pt x="7608" y="0"/>
                  </a:cubicBezTo>
                  <a:cubicBezTo>
                    <a:pt x="19537" y="0"/>
                    <a:pt x="29208" y="9670"/>
                    <a:pt x="29208" y="21600"/>
                  </a:cubicBezTo>
                  <a:cubicBezTo>
                    <a:pt x="29208" y="33529"/>
                    <a:pt x="19537" y="43200"/>
                    <a:pt x="7608" y="43200"/>
                  </a:cubicBezTo>
                  <a:cubicBezTo>
                    <a:pt x="5009" y="43200"/>
                    <a:pt x="2432" y="42731"/>
                    <a:pt x="0" y="41815"/>
                  </a:cubicBezTo>
                </a:path>
                <a:path extrusionOk="0" h="43200" w="29208">
                  <a:moveTo>
                    <a:pt x="7295" y="2"/>
                  </a:moveTo>
                  <a:cubicBezTo>
                    <a:pt x="7399" y="0"/>
                    <a:pt x="7503" y="-1"/>
                    <a:pt x="7608" y="0"/>
                  </a:cubicBezTo>
                  <a:cubicBezTo>
                    <a:pt x="19537" y="0"/>
                    <a:pt x="29208" y="9670"/>
                    <a:pt x="29208" y="21600"/>
                  </a:cubicBezTo>
                  <a:cubicBezTo>
                    <a:pt x="29208" y="33529"/>
                    <a:pt x="19537" y="43200"/>
                    <a:pt x="7608" y="43200"/>
                  </a:cubicBezTo>
                  <a:cubicBezTo>
                    <a:pt x="5009" y="43200"/>
                    <a:pt x="2432" y="42731"/>
                    <a:pt x="0" y="41815"/>
                  </a:cubicBezTo>
                  <a:lnTo>
                    <a:pt x="7608" y="21600"/>
                  </a:lnTo>
                  <a:close/>
                </a:path>
              </a:pathLst>
            </a:custGeom>
            <a:noFill/>
            <a:ln cap="flat" cmpd="sng" w="57150">
              <a:solidFill>
                <a:srgbClr val="CC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31"/>
            <p:cNvSpPr/>
            <p:nvPr/>
          </p:nvSpPr>
          <p:spPr>
            <a:xfrm flipH="1">
              <a:off x="2974" y="2711"/>
              <a:ext cx="535" cy="1050"/>
            </a:xfrm>
            <a:custGeom>
              <a:rect b="b" l="l" r="r" t="t"/>
              <a:pathLst>
                <a:path extrusionOk="0" fill="none" h="42397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1282"/>
                    <a:pt x="15156" y="39782"/>
                    <a:pt x="5834" y="42397"/>
                  </a:cubicBezTo>
                </a:path>
                <a:path extrusionOk="0" h="42397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1282"/>
                    <a:pt x="15156" y="39782"/>
                    <a:pt x="5834" y="42397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cap="flat" cmpd="sng" w="57150">
              <a:solidFill>
                <a:srgbClr val="CC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26" name="Google Shape;926;p31"/>
          <p:cNvSpPr/>
          <p:nvPr/>
        </p:nvSpPr>
        <p:spPr>
          <a:xfrm>
            <a:off x="4762500" y="4260850"/>
            <a:ext cx="1601788" cy="806450"/>
          </a:xfrm>
          <a:custGeom>
            <a:rect b="b" l="l" r="r" t="t"/>
            <a:pathLst>
              <a:path extrusionOk="0" fill="none" h="21600" w="42885">
                <a:moveTo>
                  <a:pt x="0" y="17923"/>
                </a:moveTo>
                <a:cubicBezTo>
                  <a:pt x="1789" y="7565"/>
                  <a:pt x="10774" y="-1"/>
                  <a:pt x="21285" y="0"/>
                </a:cubicBezTo>
                <a:cubicBezTo>
                  <a:pt x="33214" y="0"/>
                  <a:pt x="42885" y="9670"/>
                  <a:pt x="42885" y="21600"/>
                </a:cubicBezTo>
              </a:path>
              <a:path extrusionOk="0" h="21600" w="42885">
                <a:moveTo>
                  <a:pt x="0" y="17923"/>
                </a:moveTo>
                <a:cubicBezTo>
                  <a:pt x="1789" y="7565"/>
                  <a:pt x="10774" y="-1"/>
                  <a:pt x="21285" y="0"/>
                </a:cubicBezTo>
                <a:cubicBezTo>
                  <a:pt x="33214" y="0"/>
                  <a:pt x="42885" y="9670"/>
                  <a:pt x="42885" y="21600"/>
                </a:cubicBezTo>
                <a:lnTo>
                  <a:pt x="21285" y="21600"/>
                </a:lnTo>
                <a:close/>
              </a:path>
            </a:pathLst>
          </a:custGeom>
          <a:noFill/>
          <a:ln cap="flat" cmpd="sng" w="571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p31"/>
          <p:cNvSpPr/>
          <p:nvPr/>
        </p:nvSpPr>
        <p:spPr>
          <a:xfrm flipH="1">
            <a:off x="4745038" y="4221163"/>
            <a:ext cx="1612900" cy="806450"/>
          </a:xfrm>
          <a:custGeom>
            <a:rect b="b" l="l" r="r" t="t"/>
            <a:pathLst>
              <a:path extrusionOk="0" fill="none" h="21600" w="43193">
                <a:moveTo>
                  <a:pt x="0" y="21034"/>
                </a:moveTo>
                <a:cubicBezTo>
                  <a:pt x="307" y="9329"/>
                  <a:pt x="9884" y="-1"/>
                  <a:pt x="21593" y="0"/>
                </a:cubicBezTo>
                <a:cubicBezTo>
                  <a:pt x="33522" y="0"/>
                  <a:pt x="43193" y="9670"/>
                  <a:pt x="43193" y="21600"/>
                </a:cubicBezTo>
              </a:path>
              <a:path extrusionOk="0" h="21600" w="43193">
                <a:moveTo>
                  <a:pt x="0" y="21034"/>
                </a:moveTo>
                <a:cubicBezTo>
                  <a:pt x="307" y="9329"/>
                  <a:pt x="9884" y="-1"/>
                  <a:pt x="21593" y="0"/>
                </a:cubicBezTo>
                <a:cubicBezTo>
                  <a:pt x="33522" y="0"/>
                  <a:pt x="43193" y="9670"/>
                  <a:pt x="43193" y="21600"/>
                </a:cubicBezTo>
                <a:lnTo>
                  <a:pt x="21593" y="21600"/>
                </a:lnTo>
                <a:close/>
              </a:path>
            </a:pathLst>
          </a:custGeom>
          <a:noFill/>
          <a:ln cap="flat" cmpd="sng" w="571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28" name="Google Shape;928;p31"/>
          <p:cNvCxnSpPr/>
          <p:nvPr/>
        </p:nvCxnSpPr>
        <p:spPr>
          <a:xfrm>
            <a:off x="6513513" y="6305550"/>
            <a:ext cx="1154112" cy="0"/>
          </a:xfrm>
          <a:prstGeom prst="straightConnector1">
            <a:avLst/>
          </a:prstGeom>
          <a:noFill/>
          <a:ln cap="flat" cmpd="sng" w="5715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9" name="Google Shape;929;p31"/>
          <p:cNvCxnSpPr/>
          <p:nvPr/>
        </p:nvCxnSpPr>
        <p:spPr>
          <a:xfrm>
            <a:off x="6481763" y="6751638"/>
            <a:ext cx="1154112" cy="0"/>
          </a:xfrm>
          <a:prstGeom prst="straightConnector1">
            <a:avLst/>
          </a:prstGeom>
          <a:noFill/>
          <a:ln cap="flat" cmpd="sng" w="57150">
            <a:solidFill>
              <a:srgbClr val="CC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930" name="Google Shape;930;p31"/>
          <p:cNvCxnSpPr/>
          <p:nvPr/>
        </p:nvCxnSpPr>
        <p:spPr>
          <a:xfrm>
            <a:off x="6505575" y="6762750"/>
            <a:ext cx="1154113" cy="0"/>
          </a:xfrm>
          <a:prstGeom prst="straightConnector1">
            <a:avLst/>
          </a:prstGeom>
          <a:noFill/>
          <a:ln cap="flat" cmpd="sng" w="5715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1" name="Google Shape;931;p31"/>
          <p:cNvCxnSpPr/>
          <p:nvPr/>
        </p:nvCxnSpPr>
        <p:spPr>
          <a:xfrm>
            <a:off x="6494463" y="6305550"/>
            <a:ext cx="1154112" cy="0"/>
          </a:xfrm>
          <a:prstGeom prst="straightConnector1">
            <a:avLst/>
          </a:prstGeom>
          <a:noFill/>
          <a:ln cap="flat" cmpd="sng" w="57150">
            <a:solidFill>
              <a:srgbClr val="CC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932" name="Google Shape;932;p31"/>
          <p:cNvSpPr/>
          <p:nvPr/>
        </p:nvSpPr>
        <p:spPr>
          <a:xfrm>
            <a:off x="685800" y="409575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Topic D: Fields AHL</a:t>
            </a:r>
            <a:b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D.4 – Induction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90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90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90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90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32"/>
          <p:cNvSpPr/>
          <p:nvPr/>
        </p:nvSpPr>
        <p:spPr>
          <a:xfrm>
            <a:off x="682625" y="5321300"/>
            <a:ext cx="7766050" cy="15367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FYI</a:t>
            </a:r>
            <a:endParaRPr/>
          </a:p>
          <a:p>
            <a:pPr indent="0" lvl="0" marL="0" marR="0" rtl="0" algn="l">
              <a:spcBef>
                <a:spcPts val="12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Recall that (3) is the way a generator produces electricity at a power plant. A coil in a generator is rotated by a turbine, thus changing θ.</a:t>
            </a:r>
            <a:endParaRPr/>
          </a:p>
        </p:txBody>
      </p:sp>
      <p:sp>
        <p:nvSpPr>
          <p:cNvPr id="938" name="Google Shape;938;p32"/>
          <p:cNvSpPr/>
          <p:nvPr/>
        </p:nvSpPr>
        <p:spPr>
          <a:xfrm>
            <a:off x="685800" y="1354138"/>
            <a:ext cx="7772400" cy="40005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Induced electromotive force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∙As all of our demonstrations have shown, only while the flux is changing does an emf get produced.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∙Since flux Φ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i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aseline="-25000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θ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                                               there are three ways to                                                 change the flux:                                 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(1) Change the </a:t>
            </a:r>
            <a:r>
              <a:rPr lang="en-US" sz="24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-field.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(2) Change the area </a:t>
            </a:r>
            <a:r>
              <a:rPr i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(3) Change the relative                                            orientation θ of </a:t>
            </a:r>
            <a:r>
              <a:rPr b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US" sz="24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grpSp>
        <p:nvGrpSpPr>
          <p:cNvPr id="939" name="Google Shape;939;p32"/>
          <p:cNvGrpSpPr/>
          <p:nvPr/>
        </p:nvGrpSpPr>
        <p:grpSpPr>
          <a:xfrm>
            <a:off x="7600950" y="4095750"/>
            <a:ext cx="1035050" cy="827088"/>
            <a:chOff x="4100" y="2950"/>
            <a:chExt cx="652" cy="521"/>
          </a:xfrm>
        </p:grpSpPr>
        <p:grpSp>
          <p:nvGrpSpPr>
            <p:cNvPr id="940" name="Google Shape;940;p32"/>
            <p:cNvGrpSpPr/>
            <p:nvPr/>
          </p:nvGrpSpPr>
          <p:grpSpPr>
            <a:xfrm>
              <a:off x="4100" y="2950"/>
              <a:ext cx="652" cy="521"/>
              <a:chOff x="3140" y="3132"/>
              <a:chExt cx="652" cy="521"/>
            </a:xfrm>
          </p:grpSpPr>
          <p:sp>
            <p:nvSpPr>
              <p:cNvPr id="941" name="Google Shape;941;p32"/>
              <p:cNvSpPr/>
              <p:nvPr/>
            </p:nvSpPr>
            <p:spPr>
              <a:xfrm>
                <a:off x="3140" y="3132"/>
                <a:ext cx="652" cy="521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2" name="Google Shape;942;p32"/>
              <p:cNvSpPr/>
              <p:nvPr/>
            </p:nvSpPr>
            <p:spPr>
              <a:xfrm>
                <a:off x="3339" y="3298"/>
                <a:ext cx="261" cy="261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3" name="Google Shape;943;p32"/>
              <p:cNvSpPr txBox="1"/>
              <p:nvPr/>
            </p:nvSpPr>
            <p:spPr>
              <a:xfrm>
                <a:off x="3175" y="3305"/>
                <a:ext cx="178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-</a:t>
                </a:r>
                <a:endParaRPr/>
              </a:p>
            </p:txBody>
          </p:sp>
          <p:sp>
            <p:nvSpPr>
              <p:cNvPr id="944" name="Google Shape;944;p32"/>
              <p:cNvSpPr txBox="1"/>
              <p:nvPr/>
            </p:nvSpPr>
            <p:spPr>
              <a:xfrm>
                <a:off x="3375" y="3162"/>
                <a:ext cx="240" cy="1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0</a:t>
                </a:r>
                <a:endParaRPr/>
              </a:p>
            </p:txBody>
          </p:sp>
          <p:sp>
            <p:nvSpPr>
              <p:cNvPr id="945" name="Google Shape;945;p32"/>
              <p:cNvSpPr txBox="1"/>
              <p:nvPr/>
            </p:nvSpPr>
            <p:spPr>
              <a:xfrm>
                <a:off x="3573" y="3312"/>
                <a:ext cx="178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+</a:t>
                </a:r>
                <a:endParaRPr/>
              </a:p>
            </p:txBody>
          </p:sp>
          <p:sp>
            <p:nvSpPr>
              <p:cNvPr id="946" name="Google Shape;946;p32"/>
              <p:cNvSpPr/>
              <p:nvPr/>
            </p:nvSpPr>
            <p:spPr>
              <a:xfrm>
                <a:off x="3196" y="3573"/>
                <a:ext cx="56" cy="56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7" name="Google Shape;947;p32"/>
              <p:cNvSpPr/>
              <p:nvPr/>
            </p:nvSpPr>
            <p:spPr>
              <a:xfrm>
                <a:off x="3682" y="3573"/>
                <a:ext cx="56" cy="56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48" name="Google Shape;948;p32"/>
            <p:cNvGrpSpPr/>
            <p:nvPr/>
          </p:nvGrpSpPr>
          <p:grpSpPr>
            <a:xfrm>
              <a:off x="4321" y="3134"/>
              <a:ext cx="219" cy="220"/>
              <a:chOff x="3614" y="2770"/>
              <a:chExt cx="219" cy="220"/>
            </a:xfrm>
          </p:grpSpPr>
          <p:sp>
            <p:nvSpPr>
              <p:cNvPr id="949" name="Google Shape;949;p32"/>
              <p:cNvSpPr/>
              <p:nvPr/>
            </p:nvSpPr>
            <p:spPr>
              <a:xfrm>
                <a:off x="3614" y="2770"/>
                <a:ext cx="219" cy="219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950" name="Google Shape;950;p32"/>
              <p:cNvCxnSpPr/>
              <p:nvPr/>
            </p:nvCxnSpPr>
            <p:spPr>
              <a:xfrm rot="10800000">
                <a:off x="3723" y="2770"/>
                <a:ext cx="0" cy="22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</p:grpSp>
      <p:grpSp>
        <p:nvGrpSpPr>
          <p:cNvPr id="951" name="Google Shape;951;p32"/>
          <p:cNvGrpSpPr/>
          <p:nvPr/>
        </p:nvGrpSpPr>
        <p:grpSpPr>
          <a:xfrm>
            <a:off x="5638800" y="1568450"/>
            <a:ext cx="4132263" cy="2922174"/>
            <a:chOff x="2059" y="1289"/>
            <a:chExt cx="2603" cy="1841"/>
          </a:xfrm>
        </p:grpSpPr>
        <p:grpSp>
          <p:nvGrpSpPr>
            <p:cNvPr id="952" name="Google Shape;952;p32"/>
            <p:cNvGrpSpPr/>
            <p:nvPr/>
          </p:nvGrpSpPr>
          <p:grpSpPr>
            <a:xfrm>
              <a:off x="2894" y="1289"/>
              <a:ext cx="1768" cy="987"/>
              <a:chOff x="3525" y="1447"/>
              <a:chExt cx="1768" cy="987"/>
            </a:xfrm>
          </p:grpSpPr>
          <p:grpSp>
            <p:nvGrpSpPr>
              <p:cNvPr id="953" name="Google Shape;953;p32"/>
              <p:cNvGrpSpPr/>
              <p:nvPr/>
            </p:nvGrpSpPr>
            <p:grpSpPr>
              <a:xfrm>
                <a:off x="4183" y="1447"/>
                <a:ext cx="1110" cy="603"/>
                <a:chOff x="3525" y="1831"/>
                <a:chExt cx="1110" cy="603"/>
              </a:xfrm>
            </p:grpSpPr>
            <p:sp>
              <p:nvSpPr>
                <p:cNvPr id="954" name="Google Shape;954;p32"/>
                <p:cNvSpPr/>
                <p:nvPr/>
              </p:nvSpPr>
              <p:spPr>
                <a:xfrm>
                  <a:off x="3525" y="2228"/>
                  <a:ext cx="452" cy="206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5" name="Google Shape;955;p32"/>
                <p:cNvSpPr/>
                <p:nvPr/>
              </p:nvSpPr>
              <p:spPr>
                <a:xfrm>
                  <a:off x="3525" y="1838"/>
                  <a:ext cx="1110" cy="384"/>
                </a:xfrm>
                <a:custGeom>
                  <a:rect b="b" l="l" r="r" t="t"/>
                  <a:pathLst>
                    <a:path extrusionOk="0" h="384" w="1110">
                      <a:moveTo>
                        <a:pt x="0" y="384"/>
                      </a:moveTo>
                      <a:lnTo>
                        <a:pt x="665" y="0"/>
                      </a:lnTo>
                      <a:lnTo>
                        <a:pt x="1110" y="0"/>
                      </a:lnTo>
                      <a:lnTo>
                        <a:pt x="445" y="384"/>
                      </a:lnTo>
                      <a:lnTo>
                        <a:pt x="0" y="38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6" name="Google Shape;956;p32"/>
                <p:cNvSpPr/>
                <p:nvPr/>
              </p:nvSpPr>
              <p:spPr>
                <a:xfrm>
                  <a:off x="3970" y="1831"/>
                  <a:ext cx="665" cy="597"/>
                </a:xfrm>
                <a:custGeom>
                  <a:rect b="b" l="l" r="r" t="t"/>
                  <a:pathLst>
                    <a:path extrusionOk="0" h="597" w="665">
                      <a:moveTo>
                        <a:pt x="0" y="597"/>
                      </a:moveTo>
                      <a:lnTo>
                        <a:pt x="0" y="384"/>
                      </a:lnTo>
                      <a:lnTo>
                        <a:pt x="665" y="0"/>
                      </a:lnTo>
                      <a:lnTo>
                        <a:pt x="665" y="213"/>
                      </a:lnTo>
                      <a:lnTo>
                        <a:pt x="0" y="59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57" name="Google Shape;957;p32"/>
              <p:cNvGrpSpPr/>
              <p:nvPr/>
            </p:nvGrpSpPr>
            <p:grpSpPr>
              <a:xfrm>
                <a:off x="3525" y="1831"/>
                <a:ext cx="1110" cy="603"/>
                <a:chOff x="3525" y="1831"/>
                <a:chExt cx="1110" cy="603"/>
              </a:xfrm>
            </p:grpSpPr>
            <p:sp>
              <p:nvSpPr>
                <p:cNvPr id="958" name="Google Shape;958;p32"/>
                <p:cNvSpPr/>
                <p:nvPr/>
              </p:nvSpPr>
              <p:spPr>
                <a:xfrm>
                  <a:off x="3525" y="2228"/>
                  <a:ext cx="452" cy="206"/>
                </a:xfrm>
                <a:prstGeom prst="rect">
                  <a:avLst/>
                </a:prstGeom>
                <a:solidFill>
                  <a:srgbClr val="FF7C80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9" name="Google Shape;959;p32"/>
                <p:cNvSpPr/>
                <p:nvPr/>
              </p:nvSpPr>
              <p:spPr>
                <a:xfrm>
                  <a:off x="3525" y="1838"/>
                  <a:ext cx="1110" cy="384"/>
                </a:xfrm>
                <a:custGeom>
                  <a:rect b="b" l="l" r="r" t="t"/>
                  <a:pathLst>
                    <a:path extrusionOk="0" h="384" w="1110">
                      <a:moveTo>
                        <a:pt x="0" y="384"/>
                      </a:moveTo>
                      <a:lnTo>
                        <a:pt x="665" y="0"/>
                      </a:lnTo>
                      <a:lnTo>
                        <a:pt x="1110" y="0"/>
                      </a:lnTo>
                      <a:lnTo>
                        <a:pt x="445" y="384"/>
                      </a:lnTo>
                      <a:lnTo>
                        <a:pt x="0" y="384"/>
                      </a:lnTo>
                      <a:close/>
                    </a:path>
                  </a:pathLst>
                </a:custGeom>
                <a:solidFill>
                  <a:srgbClr val="FF7C80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60" name="Google Shape;960;p32"/>
                <p:cNvSpPr/>
                <p:nvPr/>
              </p:nvSpPr>
              <p:spPr>
                <a:xfrm>
                  <a:off x="3970" y="1831"/>
                  <a:ext cx="665" cy="597"/>
                </a:xfrm>
                <a:custGeom>
                  <a:rect b="b" l="l" r="r" t="t"/>
                  <a:pathLst>
                    <a:path extrusionOk="0" h="597" w="665">
                      <a:moveTo>
                        <a:pt x="0" y="597"/>
                      </a:moveTo>
                      <a:lnTo>
                        <a:pt x="0" y="384"/>
                      </a:lnTo>
                      <a:lnTo>
                        <a:pt x="665" y="0"/>
                      </a:lnTo>
                      <a:lnTo>
                        <a:pt x="665" y="213"/>
                      </a:lnTo>
                      <a:lnTo>
                        <a:pt x="0" y="597"/>
                      </a:lnTo>
                      <a:close/>
                    </a:path>
                  </a:pathLst>
                </a:custGeom>
                <a:solidFill>
                  <a:srgbClr val="FF7C80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61" name="Google Shape;961;p32"/>
              <p:cNvSpPr/>
              <p:nvPr/>
            </p:nvSpPr>
            <p:spPr>
              <a:xfrm>
                <a:off x="3703" y="2030"/>
                <a:ext cx="487" cy="139"/>
              </a:xfrm>
              <a:custGeom>
                <a:rect b="b" l="l" r="r" t="t"/>
                <a:pathLst>
                  <a:path extrusionOk="0" h="172" w="603">
                    <a:moveTo>
                      <a:pt x="0" y="172"/>
                    </a:moveTo>
                    <a:lnTo>
                      <a:pt x="274" y="0"/>
                    </a:lnTo>
                    <a:lnTo>
                      <a:pt x="329" y="165"/>
                    </a:lnTo>
                    <a:lnTo>
                      <a:pt x="603" y="7"/>
                    </a:lnTo>
                  </a:path>
                </a:pathLst>
              </a:cu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2" name="Google Shape;962;p32"/>
              <p:cNvSpPr/>
              <p:nvPr/>
            </p:nvSpPr>
            <p:spPr>
              <a:xfrm>
                <a:off x="4662" y="1487"/>
                <a:ext cx="391" cy="181"/>
              </a:xfrm>
              <a:custGeom>
                <a:rect b="b" l="l" r="r" t="t"/>
                <a:pathLst>
                  <a:path extrusionOk="0" h="181" w="391">
                    <a:moveTo>
                      <a:pt x="391" y="42"/>
                    </a:moveTo>
                    <a:cubicBezTo>
                      <a:pt x="387" y="37"/>
                      <a:pt x="388" y="21"/>
                      <a:pt x="370" y="14"/>
                    </a:cubicBezTo>
                    <a:cubicBezTo>
                      <a:pt x="352" y="7"/>
                      <a:pt x="314" y="0"/>
                      <a:pt x="281" y="0"/>
                    </a:cubicBezTo>
                    <a:cubicBezTo>
                      <a:pt x="248" y="0"/>
                      <a:pt x="199" y="7"/>
                      <a:pt x="172" y="14"/>
                    </a:cubicBezTo>
                    <a:cubicBezTo>
                      <a:pt x="145" y="21"/>
                      <a:pt x="123" y="33"/>
                      <a:pt x="117" y="42"/>
                    </a:cubicBezTo>
                    <a:cubicBezTo>
                      <a:pt x="111" y="51"/>
                      <a:pt x="121" y="64"/>
                      <a:pt x="138" y="70"/>
                    </a:cubicBezTo>
                    <a:cubicBezTo>
                      <a:pt x="155" y="76"/>
                      <a:pt x="196" y="69"/>
                      <a:pt x="220" y="76"/>
                    </a:cubicBezTo>
                    <a:cubicBezTo>
                      <a:pt x="244" y="83"/>
                      <a:pt x="280" y="99"/>
                      <a:pt x="282" y="111"/>
                    </a:cubicBezTo>
                    <a:cubicBezTo>
                      <a:pt x="284" y="123"/>
                      <a:pt x="258" y="140"/>
                      <a:pt x="233" y="151"/>
                    </a:cubicBezTo>
                    <a:cubicBezTo>
                      <a:pt x="208" y="162"/>
                      <a:pt x="164" y="177"/>
                      <a:pt x="130" y="179"/>
                    </a:cubicBezTo>
                    <a:cubicBezTo>
                      <a:pt x="96" y="181"/>
                      <a:pt x="50" y="175"/>
                      <a:pt x="28" y="165"/>
                    </a:cubicBezTo>
                    <a:cubicBezTo>
                      <a:pt x="6" y="155"/>
                      <a:pt x="3" y="136"/>
                      <a:pt x="0" y="117"/>
                    </a:cubicBezTo>
                  </a:path>
                </a:pathLst>
              </a:cu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63" name="Google Shape;963;p32"/>
            <p:cNvGrpSpPr/>
            <p:nvPr/>
          </p:nvGrpSpPr>
          <p:grpSpPr>
            <a:xfrm>
              <a:off x="2059" y="2086"/>
              <a:ext cx="1252" cy="1044"/>
              <a:chOff x="2059" y="2086"/>
              <a:chExt cx="1252" cy="1044"/>
            </a:xfrm>
          </p:grpSpPr>
          <p:sp>
            <p:nvSpPr>
              <p:cNvPr id="964" name="Google Shape;964;p32"/>
              <p:cNvSpPr/>
              <p:nvPr/>
            </p:nvSpPr>
            <p:spPr>
              <a:xfrm rot="-346116">
                <a:off x="2253" y="2218"/>
                <a:ext cx="713" cy="775"/>
              </a:xfrm>
              <a:custGeom>
                <a:rect b="b" l="l" r="r" t="t"/>
                <a:pathLst>
                  <a:path extrusionOk="0" h="858" w="713">
                    <a:moveTo>
                      <a:pt x="713" y="0"/>
                    </a:moveTo>
                    <a:cubicBezTo>
                      <a:pt x="594" y="66"/>
                      <a:pt x="476" y="132"/>
                      <a:pt x="377" y="220"/>
                    </a:cubicBezTo>
                    <a:cubicBezTo>
                      <a:pt x="278" y="308"/>
                      <a:pt x="180" y="422"/>
                      <a:pt x="117" y="528"/>
                    </a:cubicBezTo>
                    <a:cubicBezTo>
                      <a:pt x="54" y="634"/>
                      <a:pt x="27" y="746"/>
                      <a:pt x="0" y="858"/>
                    </a:cubicBezTo>
                  </a:path>
                </a:pathLst>
              </a:custGeom>
              <a:noFill/>
              <a:ln cap="flat" cmpd="sng" w="190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5" name="Google Shape;965;p32"/>
              <p:cNvSpPr/>
              <p:nvPr/>
            </p:nvSpPr>
            <p:spPr>
              <a:xfrm rot="-224057">
                <a:off x="2416" y="2239"/>
                <a:ext cx="542" cy="858"/>
              </a:xfrm>
              <a:custGeom>
                <a:rect b="b" l="l" r="r" t="t"/>
                <a:pathLst>
                  <a:path extrusionOk="0" h="858" w="713">
                    <a:moveTo>
                      <a:pt x="713" y="0"/>
                    </a:moveTo>
                    <a:cubicBezTo>
                      <a:pt x="594" y="66"/>
                      <a:pt x="476" y="132"/>
                      <a:pt x="377" y="220"/>
                    </a:cubicBezTo>
                    <a:cubicBezTo>
                      <a:pt x="278" y="308"/>
                      <a:pt x="180" y="422"/>
                      <a:pt x="117" y="528"/>
                    </a:cubicBezTo>
                    <a:cubicBezTo>
                      <a:pt x="54" y="634"/>
                      <a:pt x="27" y="746"/>
                      <a:pt x="0" y="858"/>
                    </a:cubicBezTo>
                  </a:path>
                </a:pathLst>
              </a:custGeom>
              <a:noFill/>
              <a:ln cap="flat" cmpd="sng" w="190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6" name="Google Shape;966;p32"/>
              <p:cNvSpPr/>
              <p:nvPr/>
            </p:nvSpPr>
            <p:spPr>
              <a:xfrm>
                <a:off x="2167" y="2149"/>
                <a:ext cx="759" cy="627"/>
              </a:xfrm>
              <a:custGeom>
                <a:rect b="b" l="l" r="r" t="t"/>
                <a:pathLst>
                  <a:path extrusionOk="0" h="627" w="759">
                    <a:moveTo>
                      <a:pt x="759" y="0"/>
                    </a:moveTo>
                    <a:cubicBezTo>
                      <a:pt x="599" y="84"/>
                      <a:pt x="440" y="169"/>
                      <a:pt x="314" y="273"/>
                    </a:cubicBezTo>
                    <a:cubicBezTo>
                      <a:pt x="188" y="377"/>
                      <a:pt x="94" y="502"/>
                      <a:pt x="0" y="627"/>
                    </a:cubicBezTo>
                  </a:path>
                </a:pathLst>
              </a:custGeom>
              <a:noFill/>
              <a:ln cap="flat" cmpd="sng" w="190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7" name="Google Shape;967;p32"/>
              <p:cNvSpPr/>
              <p:nvPr/>
            </p:nvSpPr>
            <p:spPr>
              <a:xfrm>
                <a:off x="2059" y="2120"/>
                <a:ext cx="867" cy="331"/>
              </a:xfrm>
              <a:custGeom>
                <a:rect b="b" l="l" r="r" t="t"/>
                <a:pathLst>
                  <a:path extrusionOk="0" h="331" w="867">
                    <a:moveTo>
                      <a:pt x="867" y="0"/>
                    </a:moveTo>
                    <a:cubicBezTo>
                      <a:pt x="682" y="89"/>
                      <a:pt x="497" y="179"/>
                      <a:pt x="353" y="234"/>
                    </a:cubicBezTo>
                    <a:cubicBezTo>
                      <a:pt x="209" y="289"/>
                      <a:pt x="104" y="310"/>
                      <a:pt x="0" y="331"/>
                    </a:cubicBezTo>
                  </a:path>
                </a:pathLst>
              </a:custGeom>
              <a:noFill/>
              <a:ln cap="flat" cmpd="sng" w="190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8" name="Google Shape;968;p32"/>
              <p:cNvSpPr/>
              <p:nvPr/>
            </p:nvSpPr>
            <p:spPr>
              <a:xfrm>
                <a:off x="2082" y="2087"/>
                <a:ext cx="850" cy="201"/>
              </a:xfrm>
              <a:custGeom>
                <a:rect b="b" l="l" r="r" t="t"/>
                <a:pathLst>
                  <a:path extrusionOk="0" h="201" w="850">
                    <a:moveTo>
                      <a:pt x="850" y="0"/>
                    </a:moveTo>
                    <a:cubicBezTo>
                      <a:pt x="672" y="82"/>
                      <a:pt x="495" y="165"/>
                      <a:pt x="353" y="183"/>
                    </a:cubicBezTo>
                    <a:cubicBezTo>
                      <a:pt x="211" y="201"/>
                      <a:pt x="105" y="155"/>
                      <a:pt x="0" y="109"/>
                    </a:cubicBezTo>
                  </a:path>
                </a:pathLst>
              </a:custGeom>
              <a:noFill/>
              <a:ln cap="flat" cmpd="sng" w="190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9" name="Google Shape;969;p32"/>
              <p:cNvSpPr/>
              <p:nvPr/>
            </p:nvSpPr>
            <p:spPr>
              <a:xfrm rot="-224057">
                <a:off x="2484" y="2249"/>
                <a:ext cx="542" cy="858"/>
              </a:xfrm>
              <a:custGeom>
                <a:rect b="b" l="l" r="r" t="t"/>
                <a:pathLst>
                  <a:path extrusionOk="0" h="858" w="713">
                    <a:moveTo>
                      <a:pt x="713" y="0"/>
                    </a:moveTo>
                    <a:cubicBezTo>
                      <a:pt x="594" y="66"/>
                      <a:pt x="476" y="132"/>
                      <a:pt x="377" y="220"/>
                    </a:cubicBezTo>
                    <a:cubicBezTo>
                      <a:pt x="278" y="308"/>
                      <a:pt x="180" y="422"/>
                      <a:pt x="117" y="528"/>
                    </a:cubicBezTo>
                    <a:cubicBezTo>
                      <a:pt x="54" y="634"/>
                      <a:pt x="27" y="746"/>
                      <a:pt x="0" y="858"/>
                    </a:cubicBezTo>
                  </a:path>
                </a:pathLst>
              </a:custGeom>
              <a:noFill/>
              <a:ln cap="flat" cmpd="sng" w="190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0" name="Google Shape;970;p32"/>
              <p:cNvSpPr/>
              <p:nvPr/>
            </p:nvSpPr>
            <p:spPr>
              <a:xfrm rot="-224057">
                <a:off x="2574" y="2255"/>
                <a:ext cx="542" cy="858"/>
              </a:xfrm>
              <a:custGeom>
                <a:rect b="b" l="l" r="r" t="t"/>
                <a:pathLst>
                  <a:path extrusionOk="0" h="858" w="713">
                    <a:moveTo>
                      <a:pt x="713" y="0"/>
                    </a:moveTo>
                    <a:cubicBezTo>
                      <a:pt x="594" y="66"/>
                      <a:pt x="476" y="132"/>
                      <a:pt x="377" y="220"/>
                    </a:cubicBezTo>
                    <a:cubicBezTo>
                      <a:pt x="278" y="308"/>
                      <a:pt x="180" y="422"/>
                      <a:pt x="117" y="528"/>
                    </a:cubicBezTo>
                    <a:cubicBezTo>
                      <a:pt x="54" y="634"/>
                      <a:pt x="27" y="746"/>
                      <a:pt x="0" y="858"/>
                    </a:cubicBezTo>
                  </a:path>
                </a:pathLst>
              </a:custGeom>
              <a:noFill/>
              <a:ln cap="flat" cmpd="sng" w="190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1" name="Google Shape;971;p32"/>
              <p:cNvSpPr/>
              <p:nvPr/>
            </p:nvSpPr>
            <p:spPr>
              <a:xfrm rot="-224057">
                <a:off x="2658" y="2253"/>
                <a:ext cx="542" cy="858"/>
              </a:xfrm>
              <a:custGeom>
                <a:rect b="b" l="l" r="r" t="t"/>
                <a:pathLst>
                  <a:path extrusionOk="0" h="858" w="713">
                    <a:moveTo>
                      <a:pt x="713" y="0"/>
                    </a:moveTo>
                    <a:cubicBezTo>
                      <a:pt x="594" y="66"/>
                      <a:pt x="476" y="132"/>
                      <a:pt x="377" y="220"/>
                    </a:cubicBezTo>
                    <a:cubicBezTo>
                      <a:pt x="278" y="308"/>
                      <a:pt x="180" y="422"/>
                      <a:pt x="117" y="528"/>
                    </a:cubicBezTo>
                    <a:cubicBezTo>
                      <a:pt x="54" y="634"/>
                      <a:pt x="27" y="746"/>
                      <a:pt x="0" y="858"/>
                    </a:cubicBezTo>
                  </a:path>
                </a:pathLst>
              </a:custGeom>
              <a:noFill/>
              <a:ln cap="flat" cmpd="sng" w="190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2" name="Google Shape;972;p32"/>
              <p:cNvSpPr/>
              <p:nvPr/>
            </p:nvSpPr>
            <p:spPr>
              <a:xfrm rot="-224057">
                <a:off x="2742" y="2253"/>
                <a:ext cx="542" cy="858"/>
              </a:xfrm>
              <a:custGeom>
                <a:rect b="b" l="l" r="r" t="t"/>
                <a:pathLst>
                  <a:path extrusionOk="0" h="858" w="713">
                    <a:moveTo>
                      <a:pt x="713" y="0"/>
                    </a:moveTo>
                    <a:cubicBezTo>
                      <a:pt x="594" y="66"/>
                      <a:pt x="476" y="132"/>
                      <a:pt x="377" y="220"/>
                    </a:cubicBezTo>
                    <a:cubicBezTo>
                      <a:pt x="278" y="308"/>
                      <a:pt x="180" y="422"/>
                      <a:pt x="117" y="528"/>
                    </a:cubicBezTo>
                    <a:cubicBezTo>
                      <a:pt x="54" y="634"/>
                      <a:pt x="27" y="746"/>
                      <a:pt x="0" y="858"/>
                    </a:cubicBezTo>
                  </a:path>
                </a:pathLst>
              </a:custGeom>
              <a:noFill/>
              <a:ln cap="flat" cmpd="sng" w="190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3" name="Google Shape;973;p32"/>
              <p:cNvSpPr/>
              <p:nvPr/>
            </p:nvSpPr>
            <p:spPr>
              <a:xfrm>
                <a:off x="2156" y="2092"/>
                <a:ext cx="850" cy="201"/>
              </a:xfrm>
              <a:custGeom>
                <a:rect b="b" l="l" r="r" t="t"/>
                <a:pathLst>
                  <a:path extrusionOk="0" h="201" w="850">
                    <a:moveTo>
                      <a:pt x="850" y="0"/>
                    </a:moveTo>
                    <a:cubicBezTo>
                      <a:pt x="672" y="82"/>
                      <a:pt x="495" y="165"/>
                      <a:pt x="353" y="183"/>
                    </a:cubicBezTo>
                    <a:cubicBezTo>
                      <a:pt x="211" y="201"/>
                      <a:pt x="105" y="155"/>
                      <a:pt x="0" y="109"/>
                    </a:cubicBezTo>
                  </a:path>
                </a:pathLst>
              </a:custGeom>
              <a:noFill/>
              <a:ln cap="flat" cmpd="sng" w="190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4" name="Google Shape;974;p32"/>
              <p:cNvSpPr/>
              <p:nvPr/>
            </p:nvSpPr>
            <p:spPr>
              <a:xfrm>
                <a:off x="2252" y="2092"/>
                <a:ext cx="850" cy="201"/>
              </a:xfrm>
              <a:custGeom>
                <a:rect b="b" l="l" r="r" t="t"/>
                <a:pathLst>
                  <a:path extrusionOk="0" h="201" w="850">
                    <a:moveTo>
                      <a:pt x="850" y="0"/>
                    </a:moveTo>
                    <a:cubicBezTo>
                      <a:pt x="672" y="82"/>
                      <a:pt x="495" y="165"/>
                      <a:pt x="353" y="183"/>
                    </a:cubicBezTo>
                    <a:cubicBezTo>
                      <a:pt x="211" y="201"/>
                      <a:pt x="105" y="155"/>
                      <a:pt x="0" y="109"/>
                    </a:cubicBezTo>
                  </a:path>
                </a:pathLst>
              </a:custGeom>
              <a:noFill/>
              <a:ln cap="flat" cmpd="sng" w="190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5" name="Google Shape;975;p32"/>
              <p:cNvSpPr/>
              <p:nvPr/>
            </p:nvSpPr>
            <p:spPr>
              <a:xfrm>
                <a:off x="2348" y="2086"/>
                <a:ext cx="850" cy="201"/>
              </a:xfrm>
              <a:custGeom>
                <a:rect b="b" l="l" r="r" t="t"/>
                <a:pathLst>
                  <a:path extrusionOk="0" h="201" w="850">
                    <a:moveTo>
                      <a:pt x="850" y="0"/>
                    </a:moveTo>
                    <a:cubicBezTo>
                      <a:pt x="672" y="82"/>
                      <a:pt x="495" y="165"/>
                      <a:pt x="353" y="183"/>
                    </a:cubicBezTo>
                    <a:cubicBezTo>
                      <a:pt x="211" y="201"/>
                      <a:pt x="105" y="155"/>
                      <a:pt x="0" y="109"/>
                    </a:cubicBezTo>
                  </a:path>
                </a:pathLst>
              </a:custGeom>
              <a:noFill/>
              <a:ln cap="flat" cmpd="sng" w="190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6" name="Google Shape;976;p32"/>
              <p:cNvSpPr/>
              <p:nvPr/>
            </p:nvSpPr>
            <p:spPr>
              <a:xfrm>
                <a:off x="2432" y="2086"/>
                <a:ext cx="850" cy="201"/>
              </a:xfrm>
              <a:custGeom>
                <a:rect b="b" l="l" r="r" t="t"/>
                <a:pathLst>
                  <a:path extrusionOk="0" h="201" w="850">
                    <a:moveTo>
                      <a:pt x="850" y="0"/>
                    </a:moveTo>
                    <a:cubicBezTo>
                      <a:pt x="672" y="82"/>
                      <a:pt x="495" y="165"/>
                      <a:pt x="353" y="183"/>
                    </a:cubicBezTo>
                    <a:cubicBezTo>
                      <a:pt x="211" y="201"/>
                      <a:pt x="105" y="155"/>
                      <a:pt x="0" y="109"/>
                    </a:cubicBezTo>
                  </a:path>
                </a:pathLst>
              </a:custGeom>
              <a:noFill/>
              <a:ln cap="flat" cmpd="sng" w="190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7" name="Google Shape;977;p32"/>
              <p:cNvSpPr/>
              <p:nvPr/>
            </p:nvSpPr>
            <p:spPr>
              <a:xfrm>
                <a:off x="2980" y="2207"/>
                <a:ext cx="276" cy="684"/>
              </a:xfrm>
              <a:custGeom>
                <a:rect b="b" l="l" r="r" t="t"/>
                <a:pathLst>
                  <a:path extrusionOk="0" h="684" w="276">
                    <a:moveTo>
                      <a:pt x="276" y="0"/>
                    </a:moveTo>
                    <a:cubicBezTo>
                      <a:pt x="225" y="26"/>
                      <a:pt x="175" y="52"/>
                      <a:pt x="139" y="80"/>
                    </a:cubicBezTo>
                    <a:cubicBezTo>
                      <a:pt x="103" y="108"/>
                      <a:pt x="82" y="121"/>
                      <a:pt x="59" y="171"/>
                    </a:cubicBezTo>
                    <a:cubicBezTo>
                      <a:pt x="36" y="221"/>
                      <a:pt x="4" y="297"/>
                      <a:pt x="2" y="382"/>
                    </a:cubicBezTo>
                    <a:cubicBezTo>
                      <a:pt x="0" y="467"/>
                      <a:pt x="24" y="575"/>
                      <a:pt x="48" y="684"/>
                    </a:cubicBezTo>
                  </a:path>
                </a:pathLst>
              </a:custGeom>
              <a:noFill/>
              <a:ln cap="flat" cmpd="sng" w="190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8" name="Google Shape;978;p32"/>
              <p:cNvSpPr/>
              <p:nvPr/>
            </p:nvSpPr>
            <p:spPr>
              <a:xfrm>
                <a:off x="2851" y="2166"/>
                <a:ext cx="410" cy="743"/>
              </a:xfrm>
              <a:custGeom>
                <a:rect b="b" l="l" r="r" t="t"/>
                <a:pathLst>
                  <a:path extrusionOk="0" h="743" w="410">
                    <a:moveTo>
                      <a:pt x="410" y="0"/>
                    </a:moveTo>
                    <a:cubicBezTo>
                      <a:pt x="381" y="15"/>
                      <a:pt x="282" y="49"/>
                      <a:pt x="234" y="92"/>
                    </a:cubicBezTo>
                    <a:cubicBezTo>
                      <a:pt x="186" y="135"/>
                      <a:pt x="151" y="192"/>
                      <a:pt x="120" y="258"/>
                    </a:cubicBezTo>
                    <a:cubicBezTo>
                      <a:pt x="89" y="324"/>
                      <a:pt x="66" y="405"/>
                      <a:pt x="46" y="486"/>
                    </a:cubicBezTo>
                    <a:cubicBezTo>
                      <a:pt x="26" y="567"/>
                      <a:pt x="10" y="690"/>
                      <a:pt x="0" y="743"/>
                    </a:cubicBezTo>
                  </a:path>
                </a:pathLst>
              </a:custGeom>
              <a:noFill/>
              <a:ln cap="flat" cmpd="sng" w="190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9" name="Google Shape;979;p32"/>
              <p:cNvSpPr/>
              <p:nvPr/>
            </p:nvSpPr>
            <p:spPr>
              <a:xfrm>
                <a:off x="2589" y="2139"/>
                <a:ext cx="673" cy="724"/>
              </a:xfrm>
              <a:custGeom>
                <a:rect b="b" l="l" r="r" t="t"/>
                <a:pathLst>
                  <a:path extrusionOk="0" h="724" w="673">
                    <a:moveTo>
                      <a:pt x="673" y="0"/>
                    </a:moveTo>
                    <a:cubicBezTo>
                      <a:pt x="643" y="13"/>
                      <a:pt x="550" y="46"/>
                      <a:pt x="491" y="79"/>
                    </a:cubicBezTo>
                    <a:cubicBezTo>
                      <a:pt x="432" y="112"/>
                      <a:pt x="375" y="144"/>
                      <a:pt x="320" y="199"/>
                    </a:cubicBezTo>
                    <a:cubicBezTo>
                      <a:pt x="265" y="254"/>
                      <a:pt x="213" y="323"/>
                      <a:pt x="160" y="410"/>
                    </a:cubicBezTo>
                    <a:cubicBezTo>
                      <a:pt x="107" y="497"/>
                      <a:pt x="33" y="659"/>
                      <a:pt x="0" y="724"/>
                    </a:cubicBezTo>
                  </a:path>
                </a:pathLst>
              </a:custGeom>
              <a:noFill/>
              <a:ln cap="flat" cmpd="sng" w="190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980" name="Google Shape;980;p32"/>
          <p:cNvGrpSpPr/>
          <p:nvPr/>
        </p:nvGrpSpPr>
        <p:grpSpPr>
          <a:xfrm>
            <a:off x="4703763" y="3313113"/>
            <a:ext cx="3806825" cy="2427287"/>
            <a:chOff x="1092" y="1824"/>
            <a:chExt cx="2398" cy="1529"/>
          </a:xfrm>
        </p:grpSpPr>
        <p:sp>
          <p:nvSpPr>
            <p:cNvPr id="981" name="Google Shape;981;p32"/>
            <p:cNvSpPr/>
            <p:nvPr/>
          </p:nvSpPr>
          <p:spPr>
            <a:xfrm>
              <a:off x="1092" y="1824"/>
              <a:ext cx="1014" cy="997"/>
            </a:xfrm>
            <a:custGeom>
              <a:rect b="b" l="l" r="r" t="t"/>
              <a:pathLst>
                <a:path extrusionOk="0" fill="none" h="42469" w="43200">
                  <a:moveTo>
                    <a:pt x="15937" y="42444"/>
                  </a:moveTo>
                  <a:cubicBezTo>
                    <a:pt x="6529" y="39888"/>
                    <a:pt x="0" y="3134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1384"/>
                    <a:pt x="36623" y="39946"/>
                    <a:pt x="27170" y="42469"/>
                  </a:cubicBezTo>
                </a:path>
                <a:path extrusionOk="0" h="42469" w="43200">
                  <a:moveTo>
                    <a:pt x="15937" y="42444"/>
                  </a:moveTo>
                  <a:cubicBezTo>
                    <a:pt x="6529" y="39888"/>
                    <a:pt x="0" y="3134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1384"/>
                    <a:pt x="36623" y="39946"/>
                    <a:pt x="27170" y="42469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cap="flat" cmpd="sng" w="5715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p32"/>
            <p:cNvSpPr/>
            <p:nvPr/>
          </p:nvSpPr>
          <p:spPr>
            <a:xfrm>
              <a:off x="1467" y="2777"/>
              <a:ext cx="2023" cy="576"/>
            </a:xfrm>
            <a:custGeom>
              <a:rect b="b" l="l" r="r" t="t"/>
              <a:pathLst>
                <a:path extrusionOk="0" h="576" w="2023">
                  <a:moveTo>
                    <a:pt x="0" y="41"/>
                  </a:moveTo>
                  <a:lnTo>
                    <a:pt x="0" y="576"/>
                  </a:lnTo>
                  <a:lnTo>
                    <a:pt x="2023" y="576"/>
                  </a:lnTo>
                  <a:lnTo>
                    <a:pt x="2023" y="0"/>
                  </a:lnTo>
                </a:path>
              </a:pathLst>
            </a:custGeom>
            <a:noFill/>
            <a:ln cap="flat" cmpd="sng" w="57150">
              <a:solidFill>
                <a:srgbClr val="FF99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" name="Google Shape;983;p32"/>
            <p:cNvSpPr/>
            <p:nvPr/>
          </p:nvSpPr>
          <p:spPr>
            <a:xfrm>
              <a:off x="1728" y="2777"/>
              <a:ext cx="1275" cy="295"/>
            </a:xfrm>
            <a:custGeom>
              <a:rect b="b" l="l" r="r" t="t"/>
              <a:pathLst>
                <a:path extrusionOk="0" h="295" w="1275">
                  <a:moveTo>
                    <a:pt x="0" y="41"/>
                  </a:moveTo>
                  <a:lnTo>
                    <a:pt x="0" y="295"/>
                  </a:lnTo>
                  <a:lnTo>
                    <a:pt x="1275" y="295"/>
                  </a:lnTo>
                  <a:lnTo>
                    <a:pt x="1275" y="0"/>
                  </a:lnTo>
                </a:path>
              </a:pathLst>
            </a:custGeom>
            <a:noFill/>
            <a:ln cap="flat" cmpd="sng" w="57150">
              <a:solidFill>
                <a:srgbClr val="FF99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84" name="Google Shape;984;p32"/>
          <p:cNvGrpSpPr/>
          <p:nvPr/>
        </p:nvGrpSpPr>
        <p:grpSpPr>
          <a:xfrm>
            <a:off x="7961313" y="4398963"/>
            <a:ext cx="347662" cy="349250"/>
            <a:chOff x="3614" y="2770"/>
            <a:chExt cx="219" cy="220"/>
          </a:xfrm>
        </p:grpSpPr>
        <p:sp>
          <p:nvSpPr>
            <p:cNvPr id="985" name="Google Shape;985;p32"/>
            <p:cNvSpPr/>
            <p:nvPr/>
          </p:nvSpPr>
          <p:spPr>
            <a:xfrm>
              <a:off x="3614" y="2770"/>
              <a:ext cx="219" cy="219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86" name="Google Shape;986;p32"/>
            <p:cNvCxnSpPr/>
            <p:nvPr/>
          </p:nvCxnSpPr>
          <p:spPr>
            <a:xfrm rot="10800000">
              <a:off x="3723" y="2770"/>
              <a:ext cx="0" cy="22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987" name="Google Shape;987;p32"/>
          <p:cNvGrpSpPr/>
          <p:nvPr/>
        </p:nvGrpSpPr>
        <p:grpSpPr>
          <a:xfrm rot="5400000">
            <a:off x="7963693" y="4396582"/>
            <a:ext cx="347663" cy="349250"/>
            <a:chOff x="3614" y="2770"/>
            <a:chExt cx="219" cy="220"/>
          </a:xfrm>
        </p:grpSpPr>
        <p:sp>
          <p:nvSpPr>
            <p:cNvPr id="988" name="Google Shape;988;p32"/>
            <p:cNvSpPr/>
            <p:nvPr/>
          </p:nvSpPr>
          <p:spPr>
            <a:xfrm>
              <a:off x="3614" y="2770"/>
              <a:ext cx="219" cy="219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89" name="Google Shape;989;p32"/>
            <p:cNvCxnSpPr/>
            <p:nvPr/>
          </p:nvCxnSpPr>
          <p:spPr>
            <a:xfrm rot="10800000">
              <a:off x="3723" y="2770"/>
              <a:ext cx="0" cy="22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990" name="Google Shape;990;p32"/>
          <p:cNvGrpSpPr/>
          <p:nvPr/>
        </p:nvGrpSpPr>
        <p:grpSpPr>
          <a:xfrm>
            <a:off x="7950200" y="4387850"/>
            <a:ext cx="347663" cy="349250"/>
            <a:chOff x="3614" y="2770"/>
            <a:chExt cx="219" cy="220"/>
          </a:xfrm>
        </p:grpSpPr>
        <p:sp>
          <p:nvSpPr>
            <p:cNvPr id="991" name="Google Shape;991;p32"/>
            <p:cNvSpPr/>
            <p:nvPr/>
          </p:nvSpPr>
          <p:spPr>
            <a:xfrm>
              <a:off x="3614" y="2770"/>
              <a:ext cx="219" cy="219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92" name="Google Shape;992;p32"/>
            <p:cNvCxnSpPr/>
            <p:nvPr/>
          </p:nvCxnSpPr>
          <p:spPr>
            <a:xfrm rot="10800000">
              <a:off x="3723" y="2770"/>
              <a:ext cx="0" cy="22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993" name="Google Shape;993;p32"/>
          <p:cNvGrpSpPr/>
          <p:nvPr/>
        </p:nvGrpSpPr>
        <p:grpSpPr>
          <a:xfrm rot="-5400000">
            <a:off x="7952582" y="4385469"/>
            <a:ext cx="347662" cy="349250"/>
            <a:chOff x="3614" y="2770"/>
            <a:chExt cx="219" cy="220"/>
          </a:xfrm>
        </p:grpSpPr>
        <p:sp>
          <p:nvSpPr>
            <p:cNvPr id="994" name="Google Shape;994;p32"/>
            <p:cNvSpPr/>
            <p:nvPr/>
          </p:nvSpPr>
          <p:spPr>
            <a:xfrm>
              <a:off x="3614" y="2770"/>
              <a:ext cx="219" cy="219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95" name="Google Shape;995;p32"/>
            <p:cNvCxnSpPr/>
            <p:nvPr/>
          </p:nvCxnSpPr>
          <p:spPr>
            <a:xfrm rot="10800000">
              <a:off x="3723" y="2770"/>
              <a:ext cx="0" cy="22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996" name="Google Shape;996;p32"/>
          <p:cNvSpPr/>
          <p:nvPr/>
        </p:nvSpPr>
        <p:spPr>
          <a:xfrm>
            <a:off x="4706938" y="3309938"/>
            <a:ext cx="1601787" cy="806450"/>
          </a:xfrm>
          <a:custGeom>
            <a:rect b="b" l="l" r="r" t="t"/>
            <a:pathLst>
              <a:path extrusionOk="0" fill="none" h="21600" w="42885">
                <a:moveTo>
                  <a:pt x="0" y="17923"/>
                </a:moveTo>
                <a:cubicBezTo>
                  <a:pt x="1789" y="7565"/>
                  <a:pt x="10774" y="-1"/>
                  <a:pt x="21285" y="0"/>
                </a:cubicBezTo>
                <a:cubicBezTo>
                  <a:pt x="33214" y="0"/>
                  <a:pt x="42885" y="9670"/>
                  <a:pt x="42885" y="21600"/>
                </a:cubicBezTo>
              </a:path>
              <a:path extrusionOk="0" h="21600" w="42885">
                <a:moveTo>
                  <a:pt x="0" y="17923"/>
                </a:moveTo>
                <a:cubicBezTo>
                  <a:pt x="1789" y="7565"/>
                  <a:pt x="10774" y="-1"/>
                  <a:pt x="21285" y="0"/>
                </a:cubicBezTo>
                <a:cubicBezTo>
                  <a:pt x="33214" y="0"/>
                  <a:pt x="42885" y="9670"/>
                  <a:pt x="42885" y="21600"/>
                </a:cubicBezTo>
                <a:lnTo>
                  <a:pt x="21285" y="21600"/>
                </a:lnTo>
                <a:close/>
              </a:path>
            </a:pathLst>
          </a:cu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7" name="Google Shape;997;p32"/>
          <p:cNvSpPr/>
          <p:nvPr/>
        </p:nvSpPr>
        <p:spPr>
          <a:xfrm flipH="1">
            <a:off x="4705350" y="3298825"/>
            <a:ext cx="1612900" cy="806450"/>
          </a:xfrm>
          <a:custGeom>
            <a:rect b="b" l="l" r="r" t="t"/>
            <a:pathLst>
              <a:path extrusionOk="0" fill="none" h="21600" w="43193">
                <a:moveTo>
                  <a:pt x="0" y="21034"/>
                </a:moveTo>
                <a:cubicBezTo>
                  <a:pt x="307" y="9329"/>
                  <a:pt x="9884" y="-1"/>
                  <a:pt x="21593" y="0"/>
                </a:cubicBezTo>
                <a:cubicBezTo>
                  <a:pt x="33522" y="0"/>
                  <a:pt x="43193" y="9670"/>
                  <a:pt x="43193" y="21600"/>
                </a:cubicBezTo>
              </a:path>
              <a:path extrusionOk="0" h="21600" w="43193">
                <a:moveTo>
                  <a:pt x="0" y="21034"/>
                </a:moveTo>
                <a:cubicBezTo>
                  <a:pt x="307" y="9329"/>
                  <a:pt x="9884" y="-1"/>
                  <a:pt x="21593" y="0"/>
                </a:cubicBezTo>
                <a:cubicBezTo>
                  <a:pt x="33522" y="0"/>
                  <a:pt x="43193" y="9670"/>
                  <a:pt x="43193" y="21600"/>
                </a:cubicBezTo>
                <a:lnTo>
                  <a:pt x="21593" y="21600"/>
                </a:lnTo>
                <a:close/>
              </a:path>
            </a:pathLst>
          </a:cu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98" name="Google Shape;998;p32"/>
          <p:cNvCxnSpPr/>
          <p:nvPr/>
        </p:nvCxnSpPr>
        <p:spPr>
          <a:xfrm>
            <a:off x="6165850" y="5291138"/>
            <a:ext cx="1154113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9" name="Google Shape;999;p32"/>
          <p:cNvCxnSpPr/>
          <p:nvPr/>
        </p:nvCxnSpPr>
        <p:spPr>
          <a:xfrm>
            <a:off x="6134100" y="5737225"/>
            <a:ext cx="1154113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000" name="Google Shape;1000;p32"/>
          <p:cNvCxnSpPr/>
          <p:nvPr/>
        </p:nvCxnSpPr>
        <p:spPr>
          <a:xfrm>
            <a:off x="6176963" y="5737225"/>
            <a:ext cx="1154112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01" name="Google Shape;1001;p32"/>
          <p:cNvCxnSpPr/>
          <p:nvPr/>
        </p:nvCxnSpPr>
        <p:spPr>
          <a:xfrm>
            <a:off x="6143625" y="5291138"/>
            <a:ext cx="1154113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002" name="Google Shape;1002;p32"/>
          <p:cNvSpPr/>
          <p:nvPr/>
        </p:nvSpPr>
        <p:spPr>
          <a:xfrm>
            <a:off x="685800" y="409575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Topic D: Fields AHL</a:t>
            </a:r>
            <a:b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D.4 – Induction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3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98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98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99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500" fill="hold"/>
                                        <p:tgtEl>
                                          <p:spTgt spid="99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33"/>
          <p:cNvSpPr/>
          <p:nvPr/>
        </p:nvSpPr>
        <p:spPr>
          <a:xfrm>
            <a:off x="674688" y="1728788"/>
            <a:ext cx="7764462" cy="5129212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Explain why when the                                   switch is closed in the first circuit, the                           ammeter in the second reads a current for an instant.</a:t>
            </a:r>
            <a:endParaRPr/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While the switch is open there is no current through the black coil and thus no B-field.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instant the switch is closed, current flows and a B-field is created by the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black coil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52400" lvl="0" marL="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While the B-field is growing, the blue coil intercepts it, and its magnetic flux begins to grow, too, thus inducing an emf in the </a:t>
            </a:r>
            <a:r>
              <a:rPr b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blue coil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52400" lvl="0" marL="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Once the B-field becomes steady the flux stops changing, and the induced emf drops back to zero.</a:t>
            </a:r>
            <a:endParaRPr/>
          </a:p>
        </p:txBody>
      </p:sp>
      <p:sp>
        <p:nvSpPr>
          <p:cNvPr id="1008" name="Google Shape;1008;p33"/>
          <p:cNvSpPr/>
          <p:nvPr/>
        </p:nvSpPr>
        <p:spPr>
          <a:xfrm>
            <a:off x="685800" y="1354138"/>
            <a:ext cx="7772400" cy="390525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Induced electromotive force</a:t>
            </a:r>
            <a:endParaRPr i="1" sz="240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09" name="Google Shape;1009;p33"/>
          <p:cNvGrpSpPr/>
          <p:nvPr/>
        </p:nvGrpSpPr>
        <p:grpSpPr>
          <a:xfrm>
            <a:off x="5764213" y="1082675"/>
            <a:ext cx="1606550" cy="1333500"/>
            <a:chOff x="743" y="2255"/>
            <a:chExt cx="1239" cy="1120"/>
          </a:xfrm>
        </p:grpSpPr>
        <p:sp>
          <p:nvSpPr>
            <p:cNvPr id="1010" name="Google Shape;1010;p33"/>
            <p:cNvSpPr/>
            <p:nvPr/>
          </p:nvSpPr>
          <p:spPr>
            <a:xfrm>
              <a:off x="1169" y="2552"/>
              <a:ext cx="807" cy="668"/>
            </a:xfrm>
            <a:custGeom>
              <a:rect b="b" l="l" r="r" t="t"/>
              <a:pathLst>
                <a:path extrusionOk="0" h="668" w="807">
                  <a:moveTo>
                    <a:pt x="807" y="0"/>
                  </a:moveTo>
                  <a:lnTo>
                    <a:pt x="807" y="668"/>
                  </a:lnTo>
                  <a:lnTo>
                    <a:pt x="0" y="668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1" name="Google Shape;1011;p33"/>
            <p:cNvSpPr/>
            <p:nvPr/>
          </p:nvSpPr>
          <p:spPr>
            <a:xfrm>
              <a:off x="1544" y="2255"/>
              <a:ext cx="438" cy="630"/>
            </a:xfrm>
            <a:custGeom>
              <a:rect b="b" l="l" r="r" t="t"/>
              <a:pathLst>
                <a:path extrusionOk="0" h="630" w="530">
                  <a:moveTo>
                    <a:pt x="530" y="303"/>
                  </a:moveTo>
                  <a:cubicBezTo>
                    <a:pt x="522" y="223"/>
                    <a:pt x="514" y="143"/>
                    <a:pt x="496" y="95"/>
                  </a:cubicBezTo>
                  <a:cubicBezTo>
                    <a:pt x="478" y="47"/>
                    <a:pt x="451" y="12"/>
                    <a:pt x="421" y="15"/>
                  </a:cubicBezTo>
                  <a:cubicBezTo>
                    <a:pt x="391" y="18"/>
                    <a:pt x="337" y="63"/>
                    <a:pt x="317" y="113"/>
                  </a:cubicBezTo>
                  <a:cubicBezTo>
                    <a:pt x="297" y="163"/>
                    <a:pt x="299" y="234"/>
                    <a:pt x="300" y="314"/>
                  </a:cubicBezTo>
                  <a:cubicBezTo>
                    <a:pt x="301" y="394"/>
                    <a:pt x="307" y="562"/>
                    <a:pt x="323" y="596"/>
                  </a:cubicBezTo>
                  <a:cubicBezTo>
                    <a:pt x="339" y="630"/>
                    <a:pt x="379" y="563"/>
                    <a:pt x="398" y="516"/>
                  </a:cubicBezTo>
                  <a:cubicBezTo>
                    <a:pt x="417" y="469"/>
                    <a:pt x="435" y="380"/>
                    <a:pt x="438" y="314"/>
                  </a:cubicBezTo>
                  <a:cubicBezTo>
                    <a:pt x="441" y="248"/>
                    <a:pt x="435" y="169"/>
                    <a:pt x="415" y="118"/>
                  </a:cubicBezTo>
                  <a:cubicBezTo>
                    <a:pt x="395" y="67"/>
                    <a:pt x="350" y="10"/>
                    <a:pt x="317" y="9"/>
                  </a:cubicBezTo>
                  <a:cubicBezTo>
                    <a:pt x="284" y="8"/>
                    <a:pt x="240" y="65"/>
                    <a:pt x="219" y="113"/>
                  </a:cubicBezTo>
                  <a:cubicBezTo>
                    <a:pt x="198" y="161"/>
                    <a:pt x="193" y="237"/>
                    <a:pt x="190" y="297"/>
                  </a:cubicBezTo>
                  <a:cubicBezTo>
                    <a:pt x="187" y="357"/>
                    <a:pt x="196" y="424"/>
                    <a:pt x="202" y="475"/>
                  </a:cubicBezTo>
                  <a:cubicBezTo>
                    <a:pt x="208" y="526"/>
                    <a:pt x="207" y="596"/>
                    <a:pt x="225" y="602"/>
                  </a:cubicBezTo>
                  <a:cubicBezTo>
                    <a:pt x="243" y="608"/>
                    <a:pt x="291" y="557"/>
                    <a:pt x="311" y="510"/>
                  </a:cubicBezTo>
                  <a:cubicBezTo>
                    <a:pt x="331" y="463"/>
                    <a:pt x="346" y="388"/>
                    <a:pt x="346" y="320"/>
                  </a:cubicBezTo>
                  <a:cubicBezTo>
                    <a:pt x="346" y="252"/>
                    <a:pt x="333" y="153"/>
                    <a:pt x="311" y="101"/>
                  </a:cubicBezTo>
                  <a:cubicBezTo>
                    <a:pt x="289" y="49"/>
                    <a:pt x="245" y="1"/>
                    <a:pt x="213" y="9"/>
                  </a:cubicBezTo>
                  <a:cubicBezTo>
                    <a:pt x="181" y="17"/>
                    <a:pt x="135" y="92"/>
                    <a:pt x="116" y="147"/>
                  </a:cubicBezTo>
                  <a:cubicBezTo>
                    <a:pt x="97" y="202"/>
                    <a:pt x="98" y="270"/>
                    <a:pt x="98" y="337"/>
                  </a:cubicBezTo>
                  <a:cubicBezTo>
                    <a:pt x="98" y="404"/>
                    <a:pt x="108" y="507"/>
                    <a:pt x="116" y="550"/>
                  </a:cubicBezTo>
                  <a:cubicBezTo>
                    <a:pt x="124" y="593"/>
                    <a:pt x="129" y="602"/>
                    <a:pt x="144" y="596"/>
                  </a:cubicBezTo>
                  <a:cubicBezTo>
                    <a:pt x="159" y="590"/>
                    <a:pt x="191" y="564"/>
                    <a:pt x="208" y="516"/>
                  </a:cubicBezTo>
                  <a:cubicBezTo>
                    <a:pt x="225" y="468"/>
                    <a:pt x="247" y="376"/>
                    <a:pt x="248" y="308"/>
                  </a:cubicBezTo>
                  <a:cubicBezTo>
                    <a:pt x="249" y="240"/>
                    <a:pt x="231" y="158"/>
                    <a:pt x="213" y="107"/>
                  </a:cubicBezTo>
                  <a:cubicBezTo>
                    <a:pt x="195" y="56"/>
                    <a:pt x="171" y="0"/>
                    <a:pt x="139" y="3"/>
                  </a:cubicBezTo>
                  <a:cubicBezTo>
                    <a:pt x="107" y="6"/>
                    <a:pt x="46" y="76"/>
                    <a:pt x="23" y="124"/>
                  </a:cubicBezTo>
                  <a:cubicBezTo>
                    <a:pt x="0" y="172"/>
                    <a:pt x="0" y="231"/>
                    <a:pt x="0" y="291"/>
                  </a:cubicBezTo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12" name="Google Shape;1012;p33"/>
            <p:cNvGrpSpPr/>
            <p:nvPr/>
          </p:nvGrpSpPr>
          <p:grpSpPr>
            <a:xfrm>
              <a:off x="748" y="3087"/>
              <a:ext cx="543" cy="288"/>
              <a:chOff x="748" y="3087"/>
              <a:chExt cx="543" cy="288"/>
            </a:xfrm>
          </p:grpSpPr>
          <p:cxnSp>
            <p:nvCxnSpPr>
              <p:cNvPr id="1013" name="Google Shape;1013;p33"/>
              <p:cNvCxnSpPr/>
              <p:nvPr/>
            </p:nvCxnSpPr>
            <p:spPr>
              <a:xfrm flipH="1" rot="10800000">
                <a:off x="1043" y="3157"/>
                <a:ext cx="115" cy="6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4" name="Google Shape;1014;p33"/>
              <p:cNvCxnSpPr/>
              <p:nvPr/>
            </p:nvCxnSpPr>
            <p:spPr>
              <a:xfrm>
                <a:off x="1187" y="3224"/>
                <a:ext cx="104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5" name="Google Shape;1015;p33"/>
              <p:cNvCxnSpPr/>
              <p:nvPr/>
            </p:nvCxnSpPr>
            <p:spPr>
              <a:xfrm>
                <a:off x="916" y="3087"/>
                <a:ext cx="0" cy="28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6" name="Google Shape;1016;p33"/>
              <p:cNvCxnSpPr/>
              <p:nvPr/>
            </p:nvCxnSpPr>
            <p:spPr>
              <a:xfrm>
                <a:off x="858" y="3180"/>
                <a:ext cx="0" cy="97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7" name="Google Shape;1017;p33"/>
              <p:cNvCxnSpPr/>
              <p:nvPr/>
            </p:nvCxnSpPr>
            <p:spPr>
              <a:xfrm>
                <a:off x="916" y="3220"/>
                <a:ext cx="104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18" name="Google Shape;1018;p33"/>
              <p:cNvSpPr/>
              <p:nvPr/>
            </p:nvSpPr>
            <p:spPr>
              <a:xfrm>
                <a:off x="1003" y="3203"/>
                <a:ext cx="46" cy="46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9" name="Google Shape;1019;p33"/>
              <p:cNvSpPr/>
              <p:nvPr/>
            </p:nvSpPr>
            <p:spPr>
              <a:xfrm>
                <a:off x="1153" y="3203"/>
                <a:ext cx="46" cy="46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020" name="Google Shape;1020;p33"/>
              <p:cNvCxnSpPr/>
              <p:nvPr/>
            </p:nvCxnSpPr>
            <p:spPr>
              <a:xfrm>
                <a:off x="748" y="3222"/>
                <a:ext cx="104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021" name="Google Shape;1021;p33"/>
            <p:cNvSpPr/>
            <p:nvPr/>
          </p:nvSpPr>
          <p:spPr>
            <a:xfrm>
              <a:off x="743" y="2528"/>
              <a:ext cx="795" cy="692"/>
            </a:xfrm>
            <a:custGeom>
              <a:rect b="b" l="l" r="r" t="t"/>
              <a:pathLst>
                <a:path extrusionOk="0" h="692" w="795">
                  <a:moveTo>
                    <a:pt x="795" y="0"/>
                  </a:moveTo>
                  <a:lnTo>
                    <a:pt x="795" y="317"/>
                  </a:lnTo>
                  <a:lnTo>
                    <a:pt x="0" y="317"/>
                  </a:lnTo>
                  <a:lnTo>
                    <a:pt x="0" y="692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22" name="Google Shape;1022;p33"/>
          <p:cNvGrpSpPr/>
          <p:nvPr/>
        </p:nvGrpSpPr>
        <p:grpSpPr>
          <a:xfrm>
            <a:off x="7518400" y="1081088"/>
            <a:ext cx="1527175" cy="1317625"/>
            <a:chOff x="2169" y="2260"/>
            <a:chExt cx="1200" cy="1106"/>
          </a:xfrm>
        </p:grpSpPr>
        <p:sp>
          <p:nvSpPr>
            <p:cNvPr id="1023" name="Google Shape;1023;p33"/>
            <p:cNvSpPr/>
            <p:nvPr/>
          </p:nvSpPr>
          <p:spPr>
            <a:xfrm>
              <a:off x="2609" y="2546"/>
              <a:ext cx="760" cy="680"/>
            </a:xfrm>
            <a:custGeom>
              <a:rect b="b" l="l" r="r" t="t"/>
              <a:pathLst>
                <a:path extrusionOk="0" h="680" w="760">
                  <a:moveTo>
                    <a:pt x="547" y="680"/>
                  </a:moveTo>
                  <a:lnTo>
                    <a:pt x="760" y="680"/>
                  </a:lnTo>
                  <a:lnTo>
                    <a:pt x="760" y="305"/>
                  </a:lnTo>
                  <a:lnTo>
                    <a:pt x="0" y="305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p33"/>
            <p:cNvSpPr/>
            <p:nvPr/>
          </p:nvSpPr>
          <p:spPr>
            <a:xfrm flipH="1">
              <a:off x="2175" y="2557"/>
              <a:ext cx="807" cy="668"/>
            </a:xfrm>
            <a:custGeom>
              <a:rect b="b" l="l" r="r" t="t"/>
              <a:pathLst>
                <a:path extrusionOk="0" h="668" w="807">
                  <a:moveTo>
                    <a:pt x="807" y="0"/>
                  </a:moveTo>
                  <a:lnTo>
                    <a:pt x="807" y="668"/>
                  </a:lnTo>
                  <a:lnTo>
                    <a:pt x="0" y="668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p33"/>
            <p:cNvSpPr/>
            <p:nvPr/>
          </p:nvSpPr>
          <p:spPr>
            <a:xfrm flipH="1">
              <a:off x="2169" y="2260"/>
              <a:ext cx="438" cy="630"/>
            </a:xfrm>
            <a:custGeom>
              <a:rect b="b" l="l" r="r" t="t"/>
              <a:pathLst>
                <a:path extrusionOk="0" h="630" w="530">
                  <a:moveTo>
                    <a:pt x="530" y="303"/>
                  </a:moveTo>
                  <a:cubicBezTo>
                    <a:pt x="522" y="223"/>
                    <a:pt x="514" y="143"/>
                    <a:pt x="496" y="95"/>
                  </a:cubicBezTo>
                  <a:cubicBezTo>
                    <a:pt x="478" y="47"/>
                    <a:pt x="451" y="12"/>
                    <a:pt x="421" y="15"/>
                  </a:cubicBezTo>
                  <a:cubicBezTo>
                    <a:pt x="391" y="18"/>
                    <a:pt x="337" y="63"/>
                    <a:pt x="317" y="113"/>
                  </a:cubicBezTo>
                  <a:cubicBezTo>
                    <a:pt x="297" y="163"/>
                    <a:pt x="299" y="234"/>
                    <a:pt x="300" y="314"/>
                  </a:cubicBezTo>
                  <a:cubicBezTo>
                    <a:pt x="301" y="394"/>
                    <a:pt x="307" y="562"/>
                    <a:pt x="323" y="596"/>
                  </a:cubicBezTo>
                  <a:cubicBezTo>
                    <a:pt x="339" y="630"/>
                    <a:pt x="379" y="563"/>
                    <a:pt x="398" y="516"/>
                  </a:cubicBezTo>
                  <a:cubicBezTo>
                    <a:pt x="417" y="469"/>
                    <a:pt x="435" y="380"/>
                    <a:pt x="438" y="314"/>
                  </a:cubicBezTo>
                  <a:cubicBezTo>
                    <a:pt x="441" y="248"/>
                    <a:pt x="435" y="169"/>
                    <a:pt x="415" y="118"/>
                  </a:cubicBezTo>
                  <a:cubicBezTo>
                    <a:pt x="395" y="67"/>
                    <a:pt x="350" y="10"/>
                    <a:pt x="317" y="9"/>
                  </a:cubicBezTo>
                  <a:cubicBezTo>
                    <a:pt x="284" y="8"/>
                    <a:pt x="240" y="65"/>
                    <a:pt x="219" y="113"/>
                  </a:cubicBezTo>
                  <a:cubicBezTo>
                    <a:pt x="198" y="161"/>
                    <a:pt x="193" y="237"/>
                    <a:pt x="190" y="297"/>
                  </a:cubicBezTo>
                  <a:cubicBezTo>
                    <a:pt x="187" y="357"/>
                    <a:pt x="196" y="424"/>
                    <a:pt x="202" y="475"/>
                  </a:cubicBezTo>
                  <a:cubicBezTo>
                    <a:pt x="208" y="526"/>
                    <a:pt x="207" y="596"/>
                    <a:pt x="225" y="602"/>
                  </a:cubicBezTo>
                  <a:cubicBezTo>
                    <a:pt x="243" y="608"/>
                    <a:pt x="291" y="557"/>
                    <a:pt x="311" y="510"/>
                  </a:cubicBezTo>
                  <a:cubicBezTo>
                    <a:pt x="331" y="463"/>
                    <a:pt x="346" y="388"/>
                    <a:pt x="346" y="320"/>
                  </a:cubicBezTo>
                  <a:cubicBezTo>
                    <a:pt x="346" y="252"/>
                    <a:pt x="333" y="153"/>
                    <a:pt x="311" y="101"/>
                  </a:cubicBezTo>
                  <a:cubicBezTo>
                    <a:pt x="289" y="49"/>
                    <a:pt x="245" y="1"/>
                    <a:pt x="213" y="9"/>
                  </a:cubicBezTo>
                  <a:cubicBezTo>
                    <a:pt x="181" y="17"/>
                    <a:pt x="135" y="92"/>
                    <a:pt x="116" y="147"/>
                  </a:cubicBezTo>
                  <a:cubicBezTo>
                    <a:pt x="97" y="202"/>
                    <a:pt x="98" y="270"/>
                    <a:pt x="98" y="337"/>
                  </a:cubicBezTo>
                  <a:cubicBezTo>
                    <a:pt x="98" y="404"/>
                    <a:pt x="108" y="507"/>
                    <a:pt x="116" y="550"/>
                  </a:cubicBezTo>
                  <a:cubicBezTo>
                    <a:pt x="124" y="593"/>
                    <a:pt x="129" y="602"/>
                    <a:pt x="144" y="596"/>
                  </a:cubicBezTo>
                  <a:cubicBezTo>
                    <a:pt x="159" y="590"/>
                    <a:pt x="191" y="564"/>
                    <a:pt x="208" y="516"/>
                  </a:cubicBezTo>
                  <a:cubicBezTo>
                    <a:pt x="225" y="468"/>
                    <a:pt x="247" y="376"/>
                    <a:pt x="248" y="308"/>
                  </a:cubicBezTo>
                  <a:cubicBezTo>
                    <a:pt x="249" y="240"/>
                    <a:pt x="231" y="158"/>
                    <a:pt x="213" y="107"/>
                  </a:cubicBezTo>
                  <a:cubicBezTo>
                    <a:pt x="195" y="56"/>
                    <a:pt x="171" y="0"/>
                    <a:pt x="139" y="3"/>
                  </a:cubicBezTo>
                  <a:cubicBezTo>
                    <a:pt x="107" y="6"/>
                    <a:pt x="46" y="76"/>
                    <a:pt x="23" y="124"/>
                  </a:cubicBezTo>
                  <a:cubicBezTo>
                    <a:pt x="0" y="172"/>
                    <a:pt x="0" y="231"/>
                    <a:pt x="0" y="291"/>
                  </a:cubicBezTo>
                </a:path>
              </a:pathLst>
            </a:cu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p33"/>
            <p:cNvSpPr/>
            <p:nvPr/>
          </p:nvSpPr>
          <p:spPr>
            <a:xfrm>
              <a:off x="2976" y="3127"/>
              <a:ext cx="201" cy="201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33"/>
            <p:cNvSpPr txBox="1"/>
            <p:nvPr/>
          </p:nvSpPr>
          <p:spPr>
            <a:xfrm>
              <a:off x="2976" y="3110"/>
              <a:ext cx="253" cy="2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</p:grpSp>
      <p:sp>
        <p:nvSpPr>
          <p:cNvPr id="1028" name="Google Shape;1028;p33"/>
          <p:cNvSpPr txBox="1"/>
          <p:nvPr/>
        </p:nvSpPr>
        <p:spPr>
          <a:xfrm>
            <a:off x="2374900" y="2854325"/>
            <a:ext cx="6067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This is the principle behind radio and TV.</a:t>
            </a:r>
            <a:endParaRPr/>
          </a:p>
        </p:txBody>
      </p:sp>
      <p:sp>
        <p:nvSpPr>
          <p:cNvPr id="1029" name="Google Shape;1029;p33"/>
          <p:cNvSpPr/>
          <p:nvPr/>
        </p:nvSpPr>
        <p:spPr>
          <a:xfrm>
            <a:off x="685800" y="409575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Topic D: Fields AHL</a:t>
            </a:r>
            <a:b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D.4 – Induction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0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0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34"/>
          <p:cNvSpPr/>
          <p:nvPr/>
        </p:nvSpPr>
        <p:spPr>
          <a:xfrm>
            <a:off x="687388" y="4551363"/>
            <a:ext cx="7772400" cy="2306637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PRACTICE: Suppose the magnetic flux in the                 presence of a coil having 240 loops is changing                   at a rate of 0.25 Wb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aseline="30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What is the induced                      emf?</a:t>
            </a:r>
            <a:endParaRPr/>
          </a:p>
          <a:p>
            <a:pPr indent="0" lvl="0" marL="0" marR="0" rtl="0" algn="l">
              <a:spcBef>
                <a:spcPts val="24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 Use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240 and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ΔΦ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Δ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0.25. </a:t>
            </a:r>
            <a:endParaRPr/>
          </a:p>
          <a:p>
            <a:pPr indent="0" lvl="0" marL="0" marR="0" rtl="0" algn="l">
              <a:spcBef>
                <a:spcPts val="24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ε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aseline="-25000"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ΔΦ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Δ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240(0.25) = 60. V.</a:t>
            </a:r>
            <a:endParaRPr/>
          </a:p>
        </p:txBody>
      </p:sp>
      <p:sp>
        <p:nvSpPr>
          <p:cNvPr id="1035" name="Google Shape;1035;p34"/>
          <p:cNvSpPr/>
          <p:nvPr/>
        </p:nvSpPr>
        <p:spPr>
          <a:xfrm>
            <a:off x="685800" y="1354138"/>
            <a:ext cx="7772400" cy="3217862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Faraday’s law of induction 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Lenz’s law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b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Faraday’s law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states that </a:t>
            </a: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the emf induced in a coil is equal to the rate of change in the flux linkage in the coil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Lenz’s law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states that </a:t>
            </a: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an induced current will have a direction such that it will oppose the change in flux that produced it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This is the significance of the (-) sign in Faraday’s law.</a:t>
            </a:r>
            <a:endParaRPr/>
          </a:p>
        </p:txBody>
      </p:sp>
      <p:grpSp>
        <p:nvGrpSpPr>
          <p:cNvPr id="1036" name="Google Shape;1036;p34"/>
          <p:cNvGrpSpPr/>
          <p:nvPr/>
        </p:nvGrpSpPr>
        <p:grpSpPr>
          <a:xfrm>
            <a:off x="817563" y="2576513"/>
            <a:ext cx="7464425" cy="485775"/>
            <a:chOff x="515" y="1711"/>
            <a:chExt cx="4702" cy="306"/>
          </a:xfrm>
        </p:grpSpPr>
        <p:sp>
          <p:nvSpPr>
            <p:cNvPr id="1037" name="Google Shape;1037;p34"/>
            <p:cNvSpPr txBox="1"/>
            <p:nvPr/>
          </p:nvSpPr>
          <p:spPr>
            <a:xfrm>
              <a:off x="3797" y="1726"/>
              <a:ext cx="1420" cy="28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Faraday’s law</a:t>
              </a:r>
              <a:endParaRPr/>
            </a:p>
          </p:txBody>
        </p:sp>
        <p:sp>
          <p:nvSpPr>
            <p:cNvPr id="1038" name="Google Shape;1038;p34"/>
            <p:cNvSpPr/>
            <p:nvPr/>
          </p:nvSpPr>
          <p:spPr>
            <a:xfrm>
              <a:off x="515" y="1728"/>
              <a:ext cx="4701" cy="289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" name="Google Shape;1039;p34"/>
            <p:cNvSpPr txBox="1"/>
            <p:nvPr/>
          </p:nvSpPr>
          <p:spPr>
            <a:xfrm>
              <a:off x="655" y="1711"/>
              <a:ext cx="3586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ε</a:t>
              </a:r>
              <a:r>
                <a:rPr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= – </a:t>
              </a:r>
              <a:r>
                <a:rPr i="1"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r>
                <a:rPr baseline="-25000" i="1"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ΔΦ </a:t>
              </a:r>
              <a:r>
                <a:rPr i="1"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/ </a:t>
              </a:r>
              <a:r>
                <a:rPr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Δ</a:t>
              </a:r>
              <a:r>
                <a:rPr i="1"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i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40" name="Google Shape;1040;p34"/>
          <p:cNvSpPr txBox="1"/>
          <p:nvPr/>
        </p:nvSpPr>
        <p:spPr>
          <a:xfrm>
            <a:off x="2806700" y="4125913"/>
            <a:ext cx="609441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Ignore the (-) if direction is not needed.</a:t>
            </a:r>
            <a:endParaRPr/>
          </a:p>
        </p:txBody>
      </p:sp>
      <p:pic>
        <p:nvPicPr>
          <p:cNvPr id="1041" name="Google Shape;104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73938" y="4681538"/>
            <a:ext cx="1541462" cy="189547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pic>
        <p:nvPicPr>
          <p:cNvPr id="1042" name="Google Shape;1042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77113" y="25400"/>
            <a:ext cx="1549400" cy="183832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sp>
        <p:nvSpPr>
          <p:cNvPr id="1043" name="Google Shape;1043;p34"/>
          <p:cNvSpPr/>
          <p:nvPr/>
        </p:nvSpPr>
        <p:spPr>
          <a:xfrm>
            <a:off x="685800" y="409575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Topic D: Fields AHL</a:t>
            </a:r>
            <a:b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D.4 – Induction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p35"/>
          <p:cNvSpPr/>
          <p:nvPr/>
        </p:nvSpPr>
        <p:spPr>
          <a:xfrm>
            <a:off x="674688" y="1774825"/>
            <a:ext cx="7764462" cy="5083175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Explain why when the                                   switch is closed in the first circuit,                                      the induced current produces a flux                            change that is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opposite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the original flux change.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∙Suppose the induced flux change were NOT            opposite.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∙Then the induced flux change would ADD to the original, thus inducing a runaway flux change leading to infinite induced current!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∙Clearly this is NOT possible. It violates conservation of energy. Thus by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reductio ad absurdum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we see that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Lenz’s law is a statement of conservation of energy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1049" name="Google Shape;1049;p35"/>
          <p:cNvSpPr/>
          <p:nvPr/>
        </p:nvSpPr>
        <p:spPr>
          <a:xfrm>
            <a:off x="685800" y="1354138"/>
            <a:ext cx="7772400" cy="449262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Faraday’s law of induction 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Lenz’s law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</p:txBody>
      </p:sp>
      <p:sp>
        <p:nvSpPr>
          <p:cNvPr id="1050" name="Google Shape;1050;p35"/>
          <p:cNvSpPr/>
          <p:nvPr/>
        </p:nvSpPr>
        <p:spPr>
          <a:xfrm>
            <a:off x="685800" y="409575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Topic D: Fields AHL</a:t>
            </a:r>
            <a:b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D.4 – Induction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51" name="Google Shape;1051;p35"/>
          <p:cNvGrpSpPr/>
          <p:nvPr/>
        </p:nvGrpSpPr>
        <p:grpSpPr>
          <a:xfrm>
            <a:off x="5764213" y="1222375"/>
            <a:ext cx="1606550" cy="1333500"/>
            <a:chOff x="743" y="2255"/>
            <a:chExt cx="1239" cy="1120"/>
          </a:xfrm>
        </p:grpSpPr>
        <p:sp>
          <p:nvSpPr>
            <p:cNvPr id="1052" name="Google Shape;1052;p35"/>
            <p:cNvSpPr/>
            <p:nvPr/>
          </p:nvSpPr>
          <p:spPr>
            <a:xfrm>
              <a:off x="1169" y="2552"/>
              <a:ext cx="807" cy="668"/>
            </a:xfrm>
            <a:custGeom>
              <a:rect b="b" l="l" r="r" t="t"/>
              <a:pathLst>
                <a:path extrusionOk="0" h="668" w="807">
                  <a:moveTo>
                    <a:pt x="807" y="0"/>
                  </a:moveTo>
                  <a:lnTo>
                    <a:pt x="807" y="668"/>
                  </a:lnTo>
                  <a:lnTo>
                    <a:pt x="0" y="668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3" name="Google Shape;1053;p35"/>
            <p:cNvSpPr/>
            <p:nvPr/>
          </p:nvSpPr>
          <p:spPr>
            <a:xfrm>
              <a:off x="1544" y="2255"/>
              <a:ext cx="438" cy="630"/>
            </a:xfrm>
            <a:custGeom>
              <a:rect b="b" l="l" r="r" t="t"/>
              <a:pathLst>
                <a:path extrusionOk="0" h="630" w="530">
                  <a:moveTo>
                    <a:pt x="530" y="303"/>
                  </a:moveTo>
                  <a:cubicBezTo>
                    <a:pt x="522" y="223"/>
                    <a:pt x="514" y="143"/>
                    <a:pt x="496" y="95"/>
                  </a:cubicBezTo>
                  <a:cubicBezTo>
                    <a:pt x="478" y="47"/>
                    <a:pt x="451" y="12"/>
                    <a:pt x="421" y="15"/>
                  </a:cubicBezTo>
                  <a:cubicBezTo>
                    <a:pt x="391" y="18"/>
                    <a:pt x="337" y="63"/>
                    <a:pt x="317" y="113"/>
                  </a:cubicBezTo>
                  <a:cubicBezTo>
                    <a:pt x="297" y="163"/>
                    <a:pt x="299" y="234"/>
                    <a:pt x="300" y="314"/>
                  </a:cubicBezTo>
                  <a:cubicBezTo>
                    <a:pt x="301" y="394"/>
                    <a:pt x="307" y="562"/>
                    <a:pt x="323" y="596"/>
                  </a:cubicBezTo>
                  <a:cubicBezTo>
                    <a:pt x="339" y="630"/>
                    <a:pt x="379" y="563"/>
                    <a:pt x="398" y="516"/>
                  </a:cubicBezTo>
                  <a:cubicBezTo>
                    <a:pt x="417" y="469"/>
                    <a:pt x="435" y="380"/>
                    <a:pt x="438" y="314"/>
                  </a:cubicBezTo>
                  <a:cubicBezTo>
                    <a:pt x="441" y="248"/>
                    <a:pt x="435" y="169"/>
                    <a:pt x="415" y="118"/>
                  </a:cubicBezTo>
                  <a:cubicBezTo>
                    <a:pt x="395" y="67"/>
                    <a:pt x="350" y="10"/>
                    <a:pt x="317" y="9"/>
                  </a:cubicBezTo>
                  <a:cubicBezTo>
                    <a:pt x="284" y="8"/>
                    <a:pt x="240" y="65"/>
                    <a:pt x="219" y="113"/>
                  </a:cubicBezTo>
                  <a:cubicBezTo>
                    <a:pt x="198" y="161"/>
                    <a:pt x="193" y="237"/>
                    <a:pt x="190" y="297"/>
                  </a:cubicBezTo>
                  <a:cubicBezTo>
                    <a:pt x="187" y="357"/>
                    <a:pt x="196" y="424"/>
                    <a:pt x="202" y="475"/>
                  </a:cubicBezTo>
                  <a:cubicBezTo>
                    <a:pt x="208" y="526"/>
                    <a:pt x="207" y="596"/>
                    <a:pt x="225" y="602"/>
                  </a:cubicBezTo>
                  <a:cubicBezTo>
                    <a:pt x="243" y="608"/>
                    <a:pt x="291" y="557"/>
                    <a:pt x="311" y="510"/>
                  </a:cubicBezTo>
                  <a:cubicBezTo>
                    <a:pt x="331" y="463"/>
                    <a:pt x="346" y="388"/>
                    <a:pt x="346" y="320"/>
                  </a:cubicBezTo>
                  <a:cubicBezTo>
                    <a:pt x="346" y="252"/>
                    <a:pt x="333" y="153"/>
                    <a:pt x="311" y="101"/>
                  </a:cubicBezTo>
                  <a:cubicBezTo>
                    <a:pt x="289" y="49"/>
                    <a:pt x="245" y="1"/>
                    <a:pt x="213" y="9"/>
                  </a:cubicBezTo>
                  <a:cubicBezTo>
                    <a:pt x="181" y="17"/>
                    <a:pt x="135" y="92"/>
                    <a:pt x="116" y="147"/>
                  </a:cubicBezTo>
                  <a:cubicBezTo>
                    <a:pt x="97" y="202"/>
                    <a:pt x="98" y="270"/>
                    <a:pt x="98" y="337"/>
                  </a:cubicBezTo>
                  <a:cubicBezTo>
                    <a:pt x="98" y="404"/>
                    <a:pt x="108" y="507"/>
                    <a:pt x="116" y="550"/>
                  </a:cubicBezTo>
                  <a:cubicBezTo>
                    <a:pt x="124" y="593"/>
                    <a:pt x="129" y="602"/>
                    <a:pt x="144" y="596"/>
                  </a:cubicBezTo>
                  <a:cubicBezTo>
                    <a:pt x="159" y="590"/>
                    <a:pt x="191" y="564"/>
                    <a:pt x="208" y="516"/>
                  </a:cubicBezTo>
                  <a:cubicBezTo>
                    <a:pt x="225" y="468"/>
                    <a:pt x="247" y="376"/>
                    <a:pt x="248" y="308"/>
                  </a:cubicBezTo>
                  <a:cubicBezTo>
                    <a:pt x="249" y="240"/>
                    <a:pt x="231" y="158"/>
                    <a:pt x="213" y="107"/>
                  </a:cubicBezTo>
                  <a:cubicBezTo>
                    <a:pt x="195" y="56"/>
                    <a:pt x="171" y="0"/>
                    <a:pt x="139" y="3"/>
                  </a:cubicBezTo>
                  <a:cubicBezTo>
                    <a:pt x="107" y="6"/>
                    <a:pt x="46" y="76"/>
                    <a:pt x="23" y="124"/>
                  </a:cubicBezTo>
                  <a:cubicBezTo>
                    <a:pt x="0" y="172"/>
                    <a:pt x="0" y="231"/>
                    <a:pt x="0" y="291"/>
                  </a:cubicBezTo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54" name="Google Shape;1054;p35"/>
            <p:cNvGrpSpPr/>
            <p:nvPr/>
          </p:nvGrpSpPr>
          <p:grpSpPr>
            <a:xfrm>
              <a:off x="748" y="3087"/>
              <a:ext cx="543" cy="288"/>
              <a:chOff x="748" y="3087"/>
              <a:chExt cx="543" cy="288"/>
            </a:xfrm>
          </p:grpSpPr>
          <p:cxnSp>
            <p:nvCxnSpPr>
              <p:cNvPr id="1055" name="Google Shape;1055;p35"/>
              <p:cNvCxnSpPr/>
              <p:nvPr/>
            </p:nvCxnSpPr>
            <p:spPr>
              <a:xfrm flipH="1" rot="10800000">
                <a:off x="1043" y="3157"/>
                <a:ext cx="115" cy="69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6" name="Google Shape;1056;p35"/>
              <p:cNvCxnSpPr/>
              <p:nvPr/>
            </p:nvCxnSpPr>
            <p:spPr>
              <a:xfrm>
                <a:off x="1187" y="3224"/>
                <a:ext cx="104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7" name="Google Shape;1057;p35"/>
              <p:cNvCxnSpPr/>
              <p:nvPr/>
            </p:nvCxnSpPr>
            <p:spPr>
              <a:xfrm>
                <a:off x="916" y="3087"/>
                <a:ext cx="0" cy="28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8" name="Google Shape;1058;p35"/>
              <p:cNvCxnSpPr/>
              <p:nvPr/>
            </p:nvCxnSpPr>
            <p:spPr>
              <a:xfrm>
                <a:off x="858" y="3180"/>
                <a:ext cx="0" cy="97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9" name="Google Shape;1059;p35"/>
              <p:cNvCxnSpPr/>
              <p:nvPr/>
            </p:nvCxnSpPr>
            <p:spPr>
              <a:xfrm>
                <a:off x="916" y="3220"/>
                <a:ext cx="104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60" name="Google Shape;1060;p35"/>
              <p:cNvSpPr/>
              <p:nvPr/>
            </p:nvSpPr>
            <p:spPr>
              <a:xfrm>
                <a:off x="1003" y="3203"/>
                <a:ext cx="46" cy="46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1" name="Google Shape;1061;p35"/>
              <p:cNvSpPr/>
              <p:nvPr/>
            </p:nvSpPr>
            <p:spPr>
              <a:xfrm>
                <a:off x="1153" y="3203"/>
                <a:ext cx="46" cy="46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062" name="Google Shape;1062;p35"/>
              <p:cNvCxnSpPr/>
              <p:nvPr/>
            </p:nvCxnSpPr>
            <p:spPr>
              <a:xfrm>
                <a:off x="748" y="3222"/>
                <a:ext cx="104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063" name="Google Shape;1063;p35"/>
            <p:cNvSpPr/>
            <p:nvPr/>
          </p:nvSpPr>
          <p:spPr>
            <a:xfrm>
              <a:off x="743" y="2528"/>
              <a:ext cx="795" cy="692"/>
            </a:xfrm>
            <a:custGeom>
              <a:rect b="b" l="l" r="r" t="t"/>
              <a:pathLst>
                <a:path extrusionOk="0" h="692" w="795">
                  <a:moveTo>
                    <a:pt x="795" y="0"/>
                  </a:moveTo>
                  <a:lnTo>
                    <a:pt x="795" y="317"/>
                  </a:lnTo>
                  <a:lnTo>
                    <a:pt x="0" y="317"/>
                  </a:lnTo>
                  <a:lnTo>
                    <a:pt x="0" y="692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64" name="Google Shape;1064;p35"/>
          <p:cNvGrpSpPr/>
          <p:nvPr/>
        </p:nvGrpSpPr>
        <p:grpSpPr>
          <a:xfrm>
            <a:off x="7518400" y="1220788"/>
            <a:ext cx="1527175" cy="1317625"/>
            <a:chOff x="2169" y="2260"/>
            <a:chExt cx="1200" cy="1106"/>
          </a:xfrm>
        </p:grpSpPr>
        <p:sp>
          <p:nvSpPr>
            <p:cNvPr id="1065" name="Google Shape;1065;p35"/>
            <p:cNvSpPr/>
            <p:nvPr/>
          </p:nvSpPr>
          <p:spPr>
            <a:xfrm>
              <a:off x="2609" y="2546"/>
              <a:ext cx="760" cy="680"/>
            </a:xfrm>
            <a:custGeom>
              <a:rect b="b" l="l" r="r" t="t"/>
              <a:pathLst>
                <a:path extrusionOk="0" h="680" w="760">
                  <a:moveTo>
                    <a:pt x="547" y="680"/>
                  </a:moveTo>
                  <a:lnTo>
                    <a:pt x="760" y="680"/>
                  </a:lnTo>
                  <a:lnTo>
                    <a:pt x="760" y="305"/>
                  </a:lnTo>
                  <a:lnTo>
                    <a:pt x="0" y="305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6" name="Google Shape;1066;p35"/>
            <p:cNvSpPr/>
            <p:nvPr/>
          </p:nvSpPr>
          <p:spPr>
            <a:xfrm flipH="1">
              <a:off x="2175" y="2557"/>
              <a:ext cx="807" cy="668"/>
            </a:xfrm>
            <a:custGeom>
              <a:rect b="b" l="l" r="r" t="t"/>
              <a:pathLst>
                <a:path extrusionOk="0" h="668" w="807">
                  <a:moveTo>
                    <a:pt x="807" y="0"/>
                  </a:moveTo>
                  <a:lnTo>
                    <a:pt x="807" y="668"/>
                  </a:lnTo>
                  <a:lnTo>
                    <a:pt x="0" y="668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7" name="Google Shape;1067;p35"/>
            <p:cNvSpPr/>
            <p:nvPr/>
          </p:nvSpPr>
          <p:spPr>
            <a:xfrm flipH="1">
              <a:off x="2169" y="2260"/>
              <a:ext cx="438" cy="630"/>
            </a:xfrm>
            <a:custGeom>
              <a:rect b="b" l="l" r="r" t="t"/>
              <a:pathLst>
                <a:path extrusionOk="0" h="630" w="530">
                  <a:moveTo>
                    <a:pt x="530" y="303"/>
                  </a:moveTo>
                  <a:cubicBezTo>
                    <a:pt x="522" y="223"/>
                    <a:pt x="514" y="143"/>
                    <a:pt x="496" y="95"/>
                  </a:cubicBezTo>
                  <a:cubicBezTo>
                    <a:pt x="478" y="47"/>
                    <a:pt x="451" y="12"/>
                    <a:pt x="421" y="15"/>
                  </a:cubicBezTo>
                  <a:cubicBezTo>
                    <a:pt x="391" y="18"/>
                    <a:pt x="337" y="63"/>
                    <a:pt x="317" y="113"/>
                  </a:cubicBezTo>
                  <a:cubicBezTo>
                    <a:pt x="297" y="163"/>
                    <a:pt x="299" y="234"/>
                    <a:pt x="300" y="314"/>
                  </a:cubicBezTo>
                  <a:cubicBezTo>
                    <a:pt x="301" y="394"/>
                    <a:pt x="307" y="562"/>
                    <a:pt x="323" y="596"/>
                  </a:cubicBezTo>
                  <a:cubicBezTo>
                    <a:pt x="339" y="630"/>
                    <a:pt x="379" y="563"/>
                    <a:pt x="398" y="516"/>
                  </a:cubicBezTo>
                  <a:cubicBezTo>
                    <a:pt x="417" y="469"/>
                    <a:pt x="435" y="380"/>
                    <a:pt x="438" y="314"/>
                  </a:cubicBezTo>
                  <a:cubicBezTo>
                    <a:pt x="441" y="248"/>
                    <a:pt x="435" y="169"/>
                    <a:pt x="415" y="118"/>
                  </a:cubicBezTo>
                  <a:cubicBezTo>
                    <a:pt x="395" y="67"/>
                    <a:pt x="350" y="10"/>
                    <a:pt x="317" y="9"/>
                  </a:cubicBezTo>
                  <a:cubicBezTo>
                    <a:pt x="284" y="8"/>
                    <a:pt x="240" y="65"/>
                    <a:pt x="219" y="113"/>
                  </a:cubicBezTo>
                  <a:cubicBezTo>
                    <a:pt x="198" y="161"/>
                    <a:pt x="193" y="237"/>
                    <a:pt x="190" y="297"/>
                  </a:cubicBezTo>
                  <a:cubicBezTo>
                    <a:pt x="187" y="357"/>
                    <a:pt x="196" y="424"/>
                    <a:pt x="202" y="475"/>
                  </a:cubicBezTo>
                  <a:cubicBezTo>
                    <a:pt x="208" y="526"/>
                    <a:pt x="207" y="596"/>
                    <a:pt x="225" y="602"/>
                  </a:cubicBezTo>
                  <a:cubicBezTo>
                    <a:pt x="243" y="608"/>
                    <a:pt x="291" y="557"/>
                    <a:pt x="311" y="510"/>
                  </a:cubicBezTo>
                  <a:cubicBezTo>
                    <a:pt x="331" y="463"/>
                    <a:pt x="346" y="388"/>
                    <a:pt x="346" y="320"/>
                  </a:cubicBezTo>
                  <a:cubicBezTo>
                    <a:pt x="346" y="252"/>
                    <a:pt x="333" y="153"/>
                    <a:pt x="311" y="101"/>
                  </a:cubicBezTo>
                  <a:cubicBezTo>
                    <a:pt x="289" y="49"/>
                    <a:pt x="245" y="1"/>
                    <a:pt x="213" y="9"/>
                  </a:cubicBezTo>
                  <a:cubicBezTo>
                    <a:pt x="181" y="17"/>
                    <a:pt x="135" y="92"/>
                    <a:pt x="116" y="147"/>
                  </a:cubicBezTo>
                  <a:cubicBezTo>
                    <a:pt x="97" y="202"/>
                    <a:pt x="98" y="270"/>
                    <a:pt x="98" y="337"/>
                  </a:cubicBezTo>
                  <a:cubicBezTo>
                    <a:pt x="98" y="404"/>
                    <a:pt x="108" y="507"/>
                    <a:pt x="116" y="550"/>
                  </a:cubicBezTo>
                  <a:cubicBezTo>
                    <a:pt x="124" y="593"/>
                    <a:pt x="129" y="602"/>
                    <a:pt x="144" y="596"/>
                  </a:cubicBezTo>
                  <a:cubicBezTo>
                    <a:pt x="159" y="590"/>
                    <a:pt x="191" y="564"/>
                    <a:pt x="208" y="516"/>
                  </a:cubicBezTo>
                  <a:cubicBezTo>
                    <a:pt x="225" y="468"/>
                    <a:pt x="247" y="376"/>
                    <a:pt x="248" y="308"/>
                  </a:cubicBezTo>
                  <a:cubicBezTo>
                    <a:pt x="249" y="240"/>
                    <a:pt x="231" y="158"/>
                    <a:pt x="213" y="107"/>
                  </a:cubicBezTo>
                  <a:cubicBezTo>
                    <a:pt x="195" y="56"/>
                    <a:pt x="171" y="0"/>
                    <a:pt x="139" y="3"/>
                  </a:cubicBezTo>
                  <a:cubicBezTo>
                    <a:pt x="107" y="6"/>
                    <a:pt x="46" y="76"/>
                    <a:pt x="23" y="124"/>
                  </a:cubicBezTo>
                  <a:cubicBezTo>
                    <a:pt x="0" y="172"/>
                    <a:pt x="0" y="231"/>
                    <a:pt x="0" y="291"/>
                  </a:cubicBezTo>
                </a:path>
              </a:pathLst>
            </a:cu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8" name="Google Shape;1068;p35"/>
            <p:cNvSpPr/>
            <p:nvPr/>
          </p:nvSpPr>
          <p:spPr>
            <a:xfrm>
              <a:off x="2976" y="3127"/>
              <a:ext cx="201" cy="201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9" name="Google Shape;1069;p35"/>
            <p:cNvSpPr txBox="1"/>
            <p:nvPr/>
          </p:nvSpPr>
          <p:spPr>
            <a:xfrm>
              <a:off x="2976" y="3110"/>
              <a:ext cx="253" cy="2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</p:grpSp>
      <p:pic>
        <p:nvPicPr>
          <p:cNvPr id="1070" name="Google Shape;107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36427" y="3225186"/>
            <a:ext cx="1417074" cy="1741891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4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4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36"/>
          <p:cNvSpPr/>
          <p:nvPr/>
        </p:nvSpPr>
        <p:spPr>
          <a:xfrm>
            <a:off x="687388" y="1782763"/>
            <a:ext cx="7772400" cy="5075237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PRACTICE: Watch the experiment.                                 The maximum voltage is about 18 V.</a:t>
            </a:r>
            <a:endParaRPr/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(a) What would be the effect, if any, of                      reversing the magnetic so that the                                south pole goes in first?</a:t>
            </a:r>
            <a:endParaRPr/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(b) What would be the effect of doubling                           the oscillation speed of the magnet?</a:t>
            </a:r>
            <a:endParaRPr/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 </a:t>
            </a:r>
            <a:endParaRPr/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(a) The sign of the flux would be reversed so that the meter would reverse. Thus on moving the magnet to the right the meter would deflect left.</a:t>
            </a:r>
            <a:endParaRPr/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Since the Δ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ΔΦ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Δ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would be cut in half, so the emf would double to about 36 V.</a:t>
            </a:r>
            <a:endParaRPr/>
          </a:p>
        </p:txBody>
      </p:sp>
      <p:sp>
        <p:nvSpPr>
          <p:cNvPr id="1076" name="Google Shape;1076;p36"/>
          <p:cNvSpPr/>
          <p:nvPr/>
        </p:nvSpPr>
        <p:spPr>
          <a:xfrm>
            <a:off x="685800" y="1354138"/>
            <a:ext cx="7772400" cy="452437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Faraday’s law of induction 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Lenz’s law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/>
          </a:p>
        </p:txBody>
      </p:sp>
      <p:sp>
        <p:nvSpPr>
          <p:cNvPr id="1077" name="Google Shape;1077;p36"/>
          <p:cNvSpPr txBox="1"/>
          <p:nvPr/>
        </p:nvSpPr>
        <p:spPr>
          <a:xfrm>
            <a:off x="2466975" y="4497388"/>
            <a:ext cx="645636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Magnet reversal → cos(180º+ θ) = - cos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θ.</a:t>
            </a:r>
            <a:endParaRPr/>
          </a:p>
        </p:txBody>
      </p:sp>
      <p:pic>
        <p:nvPicPr>
          <p:cNvPr descr="faradyanim" id="1078" name="Google Shape;107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7125" y="1830388"/>
            <a:ext cx="2936875" cy="2681287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grpSp>
        <p:nvGrpSpPr>
          <p:cNvPr id="1079" name="Google Shape;1079;p36"/>
          <p:cNvGrpSpPr/>
          <p:nvPr/>
        </p:nvGrpSpPr>
        <p:grpSpPr>
          <a:xfrm>
            <a:off x="6192838" y="3556000"/>
            <a:ext cx="1601787" cy="701675"/>
            <a:chOff x="3602" y="2597"/>
            <a:chExt cx="1009" cy="442"/>
          </a:xfrm>
        </p:grpSpPr>
        <p:sp>
          <p:nvSpPr>
            <p:cNvPr id="1080" name="Google Shape;1080;p36"/>
            <p:cNvSpPr txBox="1"/>
            <p:nvPr/>
          </p:nvSpPr>
          <p:spPr>
            <a:xfrm>
              <a:off x="3602" y="2681"/>
              <a:ext cx="717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5F5F5F"/>
                  </a:solidFill>
                  <a:latin typeface="Arial"/>
                  <a:ea typeface="Arial"/>
                  <a:cs typeface="Arial"/>
                  <a:sym typeface="Arial"/>
                </a:rPr>
                <a:t>   ε = -</a:t>
              </a:r>
              <a:r>
                <a:rPr i="1" lang="en-US" sz="2000">
                  <a:solidFill>
                    <a:srgbClr val="5F5F5F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sz="20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1" name="Google Shape;1081;p36"/>
            <p:cNvSpPr txBox="1"/>
            <p:nvPr/>
          </p:nvSpPr>
          <p:spPr>
            <a:xfrm>
              <a:off x="4224" y="2597"/>
              <a:ext cx="387" cy="4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u="sng">
                  <a:solidFill>
                    <a:srgbClr val="5F5F5F"/>
                  </a:solidFill>
                  <a:latin typeface="Arial"/>
                  <a:ea typeface="Arial"/>
                  <a:cs typeface="Arial"/>
                  <a:sym typeface="Arial"/>
                </a:rPr>
                <a:t>ΔΦ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5F5F5F"/>
                  </a:solidFill>
                  <a:latin typeface="Arial"/>
                  <a:ea typeface="Arial"/>
                  <a:cs typeface="Arial"/>
                  <a:sym typeface="Arial"/>
                </a:rPr>
                <a:t>Δ</a:t>
              </a:r>
              <a:r>
                <a:rPr i="1" lang="en-US" sz="2000">
                  <a:solidFill>
                    <a:srgbClr val="5F5F5F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sz="20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82" name="Google Shape;1082;p36"/>
          <p:cNvSpPr/>
          <p:nvPr/>
        </p:nvSpPr>
        <p:spPr>
          <a:xfrm>
            <a:off x="685800" y="409575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Topic D: Fields AHL</a:t>
            </a:r>
            <a:b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D.4 – Induction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7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7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7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37"/>
          <p:cNvSpPr/>
          <p:nvPr/>
        </p:nvSpPr>
        <p:spPr>
          <a:xfrm>
            <a:off x="687388" y="1784350"/>
            <a:ext cx="7772400" cy="5051425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PRACTICE: Watch the experiment.                                 The maximum voltage is about 18 V.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(c) At the original oscillation rate, what                          would you predict the voltage induced                                in a single loop to be?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(d) If there were 150 loops, what would                            the voltage be?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 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(c) From ε =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aseline="-25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ΔΦ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Δ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see that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18	=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7( ΔΦ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Δ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2.6 V	=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ΔΦ 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Δ</a:t>
            </a:r>
            <a:r>
              <a:rPr i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(the emf for each loop)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(d) 150×2.6 = 390 V.</a:t>
            </a:r>
            <a:endParaRPr/>
          </a:p>
        </p:txBody>
      </p:sp>
      <p:pic>
        <p:nvPicPr>
          <p:cNvPr descr="faradyanim" id="1088" name="Google Shape;1088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7125" y="1830388"/>
            <a:ext cx="2936875" cy="2681287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sp>
        <p:nvSpPr>
          <p:cNvPr id="1089" name="Google Shape;1089;p37"/>
          <p:cNvSpPr/>
          <p:nvPr/>
        </p:nvSpPr>
        <p:spPr>
          <a:xfrm>
            <a:off x="685800" y="409575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Topic D: Fields AHL</a:t>
            </a:r>
            <a:b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D.4 – Induction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0" name="Google Shape;1090;p37"/>
          <p:cNvSpPr/>
          <p:nvPr/>
        </p:nvSpPr>
        <p:spPr>
          <a:xfrm>
            <a:off x="685800" y="1354138"/>
            <a:ext cx="7772400" cy="452437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Faraday’s law of induction 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Lenz’s law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/>
          </a:p>
        </p:txBody>
      </p:sp>
      <p:grpSp>
        <p:nvGrpSpPr>
          <p:cNvPr id="1091" name="Google Shape;1091;p37"/>
          <p:cNvGrpSpPr/>
          <p:nvPr/>
        </p:nvGrpSpPr>
        <p:grpSpPr>
          <a:xfrm>
            <a:off x="6192838" y="3556000"/>
            <a:ext cx="1601787" cy="701675"/>
            <a:chOff x="3602" y="2597"/>
            <a:chExt cx="1009" cy="442"/>
          </a:xfrm>
        </p:grpSpPr>
        <p:sp>
          <p:nvSpPr>
            <p:cNvPr id="1092" name="Google Shape;1092;p37"/>
            <p:cNvSpPr txBox="1"/>
            <p:nvPr/>
          </p:nvSpPr>
          <p:spPr>
            <a:xfrm>
              <a:off x="3602" y="2681"/>
              <a:ext cx="717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5F5F5F"/>
                  </a:solidFill>
                  <a:latin typeface="Arial"/>
                  <a:ea typeface="Arial"/>
                  <a:cs typeface="Arial"/>
                  <a:sym typeface="Arial"/>
                </a:rPr>
                <a:t>   ε = -</a:t>
              </a:r>
              <a:r>
                <a:rPr i="1" lang="en-US" sz="2000">
                  <a:solidFill>
                    <a:srgbClr val="5F5F5F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sz="20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3" name="Google Shape;1093;p37"/>
            <p:cNvSpPr txBox="1"/>
            <p:nvPr/>
          </p:nvSpPr>
          <p:spPr>
            <a:xfrm>
              <a:off x="4224" y="2597"/>
              <a:ext cx="387" cy="4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u="sng">
                  <a:solidFill>
                    <a:srgbClr val="5F5F5F"/>
                  </a:solidFill>
                  <a:latin typeface="Arial"/>
                  <a:ea typeface="Arial"/>
                  <a:cs typeface="Arial"/>
                  <a:sym typeface="Arial"/>
                </a:rPr>
                <a:t>ΔΦ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5F5F5F"/>
                  </a:solidFill>
                  <a:latin typeface="Arial"/>
                  <a:ea typeface="Arial"/>
                  <a:cs typeface="Arial"/>
                  <a:sym typeface="Arial"/>
                </a:rPr>
                <a:t>Δ</a:t>
              </a:r>
              <a:r>
                <a:rPr i="1" lang="en-US" sz="2000">
                  <a:solidFill>
                    <a:srgbClr val="5F5F5F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sz="20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94" name="Google Shape;1094;p37"/>
          <p:cNvSpPr txBox="1"/>
          <p:nvPr/>
        </p:nvSpPr>
        <p:spPr>
          <a:xfrm rot="-549741">
            <a:off x="7527925" y="2222500"/>
            <a:ext cx="1039813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en-US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1" lang="en-US" sz="160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1" lang="en-US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1" lang="en-US" sz="160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b="1" lang="en-US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b="1" lang="en-US" sz="160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p38"/>
          <p:cNvSpPr/>
          <p:nvPr/>
        </p:nvSpPr>
        <p:spPr>
          <a:xfrm>
            <a:off x="687388" y="1774825"/>
            <a:ext cx="7772400" cy="5099050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PRACTICE: Watch the experiment.                                  The maximum voltage is about 18 V.</a:t>
            </a:r>
            <a:endParaRPr/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(d) Determine the direction of the                                 induced current in the first loop of the                               coil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while the magnet is moving right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 </a:t>
            </a:r>
            <a:endParaRPr/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(d) Lenz’s law states that the induced                           current will try to oppose the flux increase.</a:t>
            </a:r>
            <a:endParaRPr/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∙Since the B-field is increasing right, the                            B-field created by the induced current will                        point left.</a:t>
            </a:r>
            <a:endParaRPr/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∙Using the right hand rule for coils, the current              should flow anticlockwise as seen from the left.</a:t>
            </a:r>
            <a:endParaRPr/>
          </a:p>
        </p:txBody>
      </p:sp>
      <p:sp>
        <p:nvSpPr>
          <p:cNvPr id="1100" name="Google Shape;1100;p38"/>
          <p:cNvSpPr/>
          <p:nvPr/>
        </p:nvSpPr>
        <p:spPr>
          <a:xfrm>
            <a:off x="685800" y="409575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Topic D: Fields AHL</a:t>
            </a:r>
            <a:b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D.4 – Induction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1" name="Google Shape;1101;p38"/>
          <p:cNvSpPr/>
          <p:nvPr/>
        </p:nvSpPr>
        <p:spPr>
          <a:xfrm>
            <a:off x="685800" y="1354138"/>
            <a:ext cx="7772400" cy="452437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Faraday’s law of induction 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Lenz’s law</a:t>
            </a: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/>
          </a:p>
        </p:txBody>
      </p:sp>
      <p:pic>
        <p:nvPicPr>
          <p:cNvPr descr="faradyanim" id="1102" name="Google Shape;110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7125" y="1830388"/>
            <a:ext cx="2936875" cy="2681287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grpSp>
        <p:nvGrpSpPr>
          <p:cNvPr id="1103" name="Google Shape;1103;p38"/>
          <p:cNvGrpSpPr/>
          <p:nvPr/>
        </p:nvGrpSpPr>
        <p:grpSpPr>
          <a:xfrm>
            <a:off x="6192838" y="3556000"/>
            <a:ext cx="1601787" cy="701675"/>
            <a:chOff x="3602" y="2597"/>
            <a:chExt cx="1009" cy="442"/>
          </a:xfrm>
        </p:grpSpPr>
        <p:sp>
          <p:nvSpPr>
            <p:cNvPr id="1104" name="Google Shape;1104;p38"/>
            <p:cNvSpPr txBox="1"/>
            <p:nvPr/>
          </p:nvSpPr>
          <p:spPr>
            <a:xfrm>
              <a:off x="3602" y="2681"/>
              <a:ext cx="717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5F5F5F"/>
                  </a:solidFill>
                  <a:latin typeface="Arial"/>
                  <a:ea typeface="Arial"/>
                  <a:cs typeface="Arial"/>
                  <a:sym typeface="Arial"/>
                </a:rPr>
                <a:t>   ε = -</a:t>
              </a:r>
              <a:r>
                <a:rPr i="1" lang="en-US" sz="2000">
                  <a:solidFill>
                    <a:srgbClr val="5F5F5F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sz="20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5" name="Google Shape;1105;p38"/>
            <p:cNvSpPr txBox="1"/>
            <p:nvPr/>
          </p:nvSpPr>
          <p:spPr>
            <a:xfrm>
              <a:off x="4224" y="2597"/>
              <a:ext cx="387" cy="4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u="sng">
                  <a:solidFill>
                    <a:srgbClr val="5F5F5F"/>
                  </a:solidFill>
                  <a:latin typeface="Arial"/>
                  <a:ea typeface="Arial"/>
                  <a:cs typeface="Arial"/>
                  <a:sym typeface="Arial"/>
                </a:rPr>
                <a:t>ΔΦ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5F5F5F"/>
                  </a:solidFill>
                  <a:latin typeface="Arial"/>
                  <a:ea typeface="Arial"/>
                  <a:cs typeface="Arial"/>
                  <a:sym typeface="Arial"/>
                </a:rPr>
                <a:t>Δ</a:t>
              </a:r>
              <a:r>
                <a:rPr i="1" lang="en-US" sz="2000">
                  <a:solidFill>
                    <a:srgbClr val="5F5F5F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sz="20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06" name="Google Shape;1106;p38"/>
          <p:cNvSpPr/>
          <p:nvPr/>
        </p:nvSpPr>
        <p:spPr>
          <a:xfrm rot="-539937">
            <a:off x="7553325" y="2571750"/>
            <a:ext cx="215900" cy="784225"/>
          </a:xfrm>
          <a:custGeom>
            <a:rect b="b" l="l" r="r" t="t"/>
            <a:pathLst>
              <a:path extrusionOk="0" fill="none" h="43200" w="41014">
                <a:moveTo>
                  <a:pt x="0" y="12131"/>
                </a:moveTo>
                <a:cubicBezTo>
                  <a:pt x="3620" y="4708"/>
                  <a:pt x="11155" y="-1"/>
                  <a:pt x="19414" y="0"/>
                </a:cubicBezTo>
                <a:cubicBezTo>
                  <a:pt x="31343" y="0"/>
                  <a:pt x="41014" y="9670"/>
                  <a:pt x="41014" y="21600"/>
                </a:cubicBezTo>
                <a:cubicBezTo>
                  <a:pt x="41014" y="33529"/>
                  <a:pt x="31343" y="43200"/>
                  <a:pt x="19414" y="43200"/>
                </a:cubicBezTo>
                <a:cubicBezTo>
                  <a:pt x="13911" y="43200"/>
                  <a:pt x="8616" y="41099"/>
                  <a:pt x="4609" y="37328"/>
                </a:cubicBezTo>
              </a:path>
              <a:path extrusionOk="0" h="43200" w="41014">
                <a:moveTo>
                  <a:pt x="0" y="12131"/>
                </a:moveTo>
                <a:cubicBezTo>
                  <a:pt x="3620" y="4708"/>
                  <a:pt x="11155" y="-1"/>
                  <a:pt x="19414" y="0"/>
                </a:cubicBezTo>
                <a:cubicBezTo>
                  <a:pt x="31343" y="0"/>
                  <a:pt x="41014" y="9670"/>
                  <a:pt x="41014" y="21600"/>
                </a:cubicBezTo>
                <a:cubicBezTo>
                  <a:pt x="41014" y="33529"/>
                  <a:pt x="31343" y="43200"/>
                  <a:pt x="19414" y="43200"/>
                </a:cubicBezTo>
                <a:cubicBezTo>
                  <a:pt x="13911" y="43200"/>
                  <a:pt x="8616" y="41099"/>
                  <a:pt x="4609" y="37328"/>
                </a:cubicBezTo>
                <a:lnTo>
                  <a:pt x="19414" y="21600"/>
                </a:lnTo>
                <a:close/>
              </a:path>
            </a:pathLst>
          </a:cu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07" name="Google Shape;1107;p38"/>
          <p:cNvGrpSpPr/>
          <p:nvPr/>
        </p:nvGrpSpPr>
        <p:grpSpPr>
          <a:xfrm>
            <a:off x="7151688" y="4597400"/>
            <a:ext cx="1687512" cy="2117742"/>
            <a:chOff x="4697" y="2626"/>
            <a:chExt cx="1063" cy="1334"/>
          </a:xfrm>
        </p:grpSpPr>
        <p:sp>
          <p:nvSpPr>
            <p:cNvPr id="1108" name="Google Shape;1108;p38"/>
            <p:cNvSpPr/>
            <p:nvPr/>
          </p:nvSpPr>
          <p:spPr>
            <a:xfrm flipH="1">
              <a:off x="4732" y="2776"/>
              <a:ext cx="376" cy="400"/>
            </a:xfrm>
            <a:custGeom>
              <a:rect b="b" l="l" r="r" t="t"/>
              <a:pathLst>
                <a:path extrusionOk="0" fill="none" h="20145" w="18952">
                  <a:moveTo>
                    <a:pt x="7793" y="0"/>
                  </a:moveTo>
                  <a:cubicBezTo>
                    <a:pt x="12551" y="1840"/>
                    <a:pt x="16504" y="5306"/>
                    <a:pt x="18951" y="9782"/>
                  </a:cubicBezTo>
                </a:path>
                <a:path extrusionOk="0" h="20145" w="18952">
                  <a:moveTo>
                    <a:pt x="7793" y="0"/>
                  </a:moveTo>
                  <a:cubicBezTo>
                    <a:pt x="12551" y="1840"/>
                    <a:pt x="16504" y="5306"/>
                    <a:pt x="18951" y="9782"/>
                  </a:cubicBezTo>
                  <a:lnTo>
                    <a:pt x="0" y="20145"/>
                  </a:ln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09" name="Google Shape;1109;p38"/>
            <p:cNvCxnSpPr/>
            <p:nvPr/>
          </p:nvCxnSpPr>
          <p:spPr>
            <a:xfrm>
              <a:off x="5286" y="3790"/>
              <a:ext cx="0" cy="71"/>
            </a:xfrm>
            <a:prstGeom prst="straightConnector1">
              <a:avLst/>
            </a:prstGeom>
            <a:noFill/>
            <a:ln cap="flat" cmpd="sng" w="57150">
              <a:solidFill>
                <a:srgbClr val="FFFF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0" name="Google Shape;1110;p38"/>
            <p:cNvCxnSpPr/>
            <p:nvPr/>
          </p:nvCxnSpPr>
          <p:spPr>
            <a:xfrm>
              <a:off x="5200" y="3797"/>
              <a:ext cx="0" cy="71"/>
            </a:xfrm>
            <a:prstGeom prst="straightConnector1">
              <a:avLst/>
            </a:prstGeom>
            <a:noFill/>
            <a:ln cap="flat" cmpd="sng" w="57150">
              <a:solidFill>
                <a:srgbClr val="FFFF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111" name="Google Shape;1111;p38"/>
            <p:cNvGrpSpPr/>
            <p:nvPr/>
          </p:nvGrpSpPr>
          <p:grpSpPr>
            <a:xfrm>
              <a:off x="4697" y="2768"/>
              <a:ext cx="1063" cy="1038"/>
              <a:chOff x="2010" y="1896"/>
              <a:chExt cx="2502" cy="2444"/>
            </a:xfrm>
          </p:grpSpPr>
          <p:sp>
            <p:nvSpPr>
              <p:cNvPr id="1112" name="Google Shape;1112;p38"/>
              <p:cNvSpPr/>
              <p:nvPr/>
            </p:nvSpPr>
            <p:spPr>
              <a:xfrm flipH="1">
                <a:off x="2035" y="1928"/>
                <a:ext cx="2449" cy="2394"/>
              </a:xfrm>
              <a:custGeom>
                <a:rect b="b" l="l" r="r" t="t"/>
                <a:pathLst>
                  <a:path extrusionOk="0" fill="none" h="43197" w="43200">
                    <a:moveTo>
                      <a:pt x="19058" y="43050"/>
                    </a:moveTo>
                    <a:cubicBezTo>
                      <a:pt x="8188" y="41762"/>
                      <a:pt x="0" y="325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391"/>
                      <a:pt x="33743" y="43004"/>
                      <a:pt x="21953" y="43197"/>
                    </a:cubicBezTo>
                  </a:path>
                  <a:path extrusionOk="0" h="43197" w="43200">
                    <a:moveTo>
                      <a:pt x="19058" y="43050"/>
                    </a:moveTo>
                    <a:cubicBezTo>
                      <a:pt x="8188" y="41762"/>
                      <a:pt x="0" y="3254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391"/>
                      <a:pt x="33743" y="43004"/>
                      <a:pt x="21953" y="43197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cap="flat" cmpd="sng" w="76200">
                <a:solidFill>
                  <a:srgbClr val="FFFF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3" name="Google Shape;1113;p38"/>
              <p:cNvSpPr/>
              <p:nvPr/>
            </p:nvSpPr>
            <p:spPr>
              <a:xfrm flipH="1">
                <a:off x="2010" y="1896"/>
                <a:ext cx="2502" cy="2444"/>
              </a:xfrm>
              <a:custGeom>
                <a:rect b="b" l="l" r="r" t="t"/>
                <a:pathLst>
                  <a:path extrusionOk="0" fill="none" h="43145" w="43200">
                    <a:moveTo>
                      <a:pt x="18758" y="43012"/>
                    </a:moveTo>
                    <a:cubicBezTo>
                      <a:pt x="8021" y="41587"/>
                      <a:pt x="0" y="32431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2929"/>
                      <a:pt x="34446" y="42333"/>
                      <a:pt x="23145" y="43144"/>
                    </a:cubicBezTo>
                  </a:path>
                  <a:path extrusionOk="0" h="43145" w="43200">
                    <a:moveTo>
                      <a:pt x="18758" y="43012"/>
                    </a:moveTo>
                    <a:cubicBezTo>
                      <a:pt x="8021" y="41587"/>
                      <a:pt x="0" y="32431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2929"/>
                      <a:pt x="34446" y="42333"/>
                      <a:pt x="23145" y="43144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4" name="Google Shape;1114;p38"/>
              <p:cNvSpPr/>
              <p:nvPr/>
            </p:nvSpPr>
            <p:spPr>
              <a:xfrm flipH="1">
                <a:off x="2051" y="1939"/>
                <a:ext cx="2414" cy="2359"/>
              </a:xfrm>
              <a:custGeom>
                <a:rect b="b" l="l" r="r" t="t"/>
                <a:pathLst>
                  <a:path extrusionOk="0" fill="none" h="43184" w="43200">
                    <a:moveTo>
                      <a:pt x="19401" y="43087"/>
                    </a:moveTo>
                    <a:cubicBezTo>
                      <a:pt x="8380" y="41959"/>
                      <a:pt x="0" y="32677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208"/>
                      <a:pt x="34024" y="42740"/>
                      <a:pt x="22425" y="43184"/>
                    </a:cubicBezTo>
                  </a:path>
                  <a:path extrusionOk="0" h="43184" w="43200">
                    <a:moveTo>
                      <a:pt x="19401" y="43087"/>
                    </a:moveTo>
                    <a:cubicBezTo>
                      <a:pt x="8380" y="41959"/>
                      <a:pt x="0" y="32677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208"/>
                      <a:pt x="34024" y="42740"/>
                      <a:pt x="22425" y="43184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115" name="Google Shape;1115;p38"/>
            <p:cNvCxnSpPr/>
            <p:nvPr/>
          </p:nvCxnSpPr>
          <p:spPr>
            <a:xfrm>
              <a:off x="5210" y="3788"/>
              <a:ext cx="0" cy="9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6" name="Google Shape;1116;p38"/>
            <p:cNvCxnSpPr/>
            <p:nvPr/>
          </p:nvCxnSpPr>
          <p:spPr>
            <a:xfrm>
              <a:off x="5277" y="3785"/>
              <a:ext cx="0" cy="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7" name="Google Shape;1117;p38"/>
            <p:cNvCxnSpPr/>
            <p:nvPr/>
          </p:nvCxnSpPr>
          <p:spPr>
            <a:xfrm>
              <a:off x="5192" y="3804"/>
              <a:ext cx="0" cy="7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8" name="Google Shape;1118;p38"/>
            <p:cNvCxnSpPr/>
            <p:nvPr/>
          </p:nvCxnSpPr>
          <p:spPr>
            <a:xfrm>
              <a:off x="5296" y="3803"/>
              <a:ext cx="0" cy="7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19" name="Google Shape;1119;p38"/>
            <p:cNvSpPr/>
            <p:nvPr/>
          </p:nvSpPr>
          <p:spPr>
            <a:xfrm flipH="1" rot="-10344868">
              <a:off x="5178" y="3615"/>
              <a:ext cx="56" cy="12"/>
            </a:xfrm>
            <a:prstGeom prst="ellipse">
              <a:avLst/>
            </a:prstGeom>
            <a:solidFill>
              <a:srgbClr val="008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p38"/>
            <p:cNvSpPr txBox="1"/>
            <p:nvPr/>
          </p:nvSpPr>
          <p:spPr>
            <a:xfrm>
              <a:off x="4919" y="2626"/>
              <a:ext cx="174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2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</a:t>
              </a:r>
              <a:endParaRPr/>
            </a:p>
          </p:txBody>
        </p:sp>
        <p:pic>
          <p:nvPicPr>
            <p:cNvPr descr="right hand" id="1121" name="Google Shape;1121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652278">
              <a:off x="4939" y="2925"/>
              <a:ext cx="561" cy="991"/>
            </a:xfrm>
            <a:prstGeom prst="rect">
              <a:avLst/>
            </a:prstGeom>
            <a:noFill/>
            <a:ln>
              <a:noFill/>
            </a:ln>
            <a:effectLst>
              <a:outerShdw blurRad="292100" rotWithShape="0" algn="tl" dir="2700000" dist="139700">
                <a:srgbClr val="333333">
                  <a:alpha val="64705"/>
                </a:srgbClr>
              </a:outerShdw>
            </a:effectLst>
          </p:spPr>
        </p:pic>
        <p:sp>
          <p:nvSpPr>
            <p:cNvPr id="1122" name="Google Shape;1122;p38"/>
            <p:cNvSpPr/>
            <p:nvPr/>
          </p:nvSpPr>
          <p:spPr>
            <a:xfrm flipH="1" rot="-10344868">
              <a:off x="5197" y="3297"/>
              <a:ext cx="57" cy="326"/>
            </a:xfrm>
            <a:prstGeom prst="rect">
              <a:avLst/>
            </a:prstGeom>
            <a:gradFill>
              <a:gsLst>
                <a:gs pos="0">
                  <a:srgbClr val="005A00"/>
                </a:gs>
                <a:gs pos="50000">
                  <a:srgbClr val="008000"/>
                </a:gs>
                <a:gs pos="100000">
                  <a:srgbClr val="005A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3" name="Google Shape;1123;p38"/>
            <p:cNvSpPr/>
            <p:nvPr/>
          </p:nvSpPr>
          <p:spPr>
            <a:xfrm flipH="1" rot="-10344868">
              <a:off x="5221" y="3276"/>
              <a:ext cx="56" cy="40"/>
            </a:xfrm>
            <a:prstGeom prst="ellipse">
              <a:avLst/>
            </a:prstGeom>
            <a:gradFill>
              <a:gsLst>
                <a:gs pos="0">
                  <a:srgbClr val="005A00"/>
                </a:gs>
                <a:gs pos="50000">
                  <a:srgbClr val="008000"/>
                </a:gs>
                <a:gs pos="100000">
                  <a:srgbClr val="005A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4" name="Google Shape;1124;p38"/>
            <p:cNvSpPr/>
            <p:nvPr/>
          </p:nvSpPr>
          <p:spPr>
            <a:xfrm flipH="1" rot="-10344868">
              <a:off x="5093" y="3626"/>
              <a:ext cx="186" cy="241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rgbClr val="005A00"/>
                </a:gs>
                <a:gs pos="50000">
                  <a:srgbClr val="008000"/>
                </a:gs>
                <a:gs pos="100000">
                  <a:srgbClr val="005A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38"/>
            <p:cNvSpPr/>
            <p:nvPr/>
          </p:nvSpPr>
          <p:spPr>
            <a:xfrm flipH="1" rot="-10344868">
              <a:off x="5108" y="3590"/>
              <a:ext cx="189" cy="70"/>
            </a:xfrm>
            <a:prstGeom prst="ellipse">
              <a:avLst/>
            </a:prstGeom>
            <a:gradFill>
              <a:gsLst>
                <a:gs pos="0">
                  <a:srgbClr val="005A00"/>
                </a:gs>
                <a:gs pos="50000">
                  <a:srgbClr val="008000"/>
                </a:gs>
                <a:gs pos="100000">
                  <a:srgbClr val="005A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39"/>
          <p:cNvSpPr/>
          <p:nvPr/>
        </p:nvSpPr>
        <p:spPr>
          <a:xfrm>
            <a:off x="687388" y="1763713"/>
            <a:ext cx="7772400" cy="5094287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131" name="Google Shape;1131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313" y="1839913"/>
            <a:ext cx="7764462" cy="4878387"/>
          </a:xfrm>
          <a:prstGeom prst="rect">
            <a:avLst/>
          </a:prstGeom>
          <a:noFill/>
          <a:ln>
            <a:noFill/>
          </a:ln>
        </p:spPr>
      </p:pic>
      <p:sp>
        <p:nvSpPr>
          <p:cNvPr id="1132" name="Google Shape;1132;p39"/>
          <p:cNvSpPr txBox="1"/>
          <p:nvPr/>
        </p:nvSpPr>
        <p:spPr>
          <a:xfrm>
            <a:off x="763588" y="2811463"/>
            <a:ext cx="46275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∙ΔΦ </a:t>
            </a:r>
            <a:r>
              <a:rPr i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/ </a:t>
            </a: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Δt = 2×10</a:t>
            </a:r>
            <a:r>
              <a:rPr baseline="30000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-3 </a:t>
            </a:r>
            <a:r>
              <a:rPr i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4×10</a:t>
            </a:r>
            <a:r>
              <a:rPr baseline="30000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-3 </a:t>
            </a: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= 0.5.</a:t>
            </a:r>
            <a:endParaRPr/>
          </a:p>
        </p:txBody>
      </p:sp>
      <p:sp>
        <p:nvSpPr>
          <p:cNvPr id="1133" name="Google Shape;1133;p39"/>
          <p:cNvSpPr/>
          <p:nvPr/>
        </p:nvSpPr>
        <p:spPr>
          <a:xfrm>
            <a:off x="5619750" y="1968500"/>
            <a:ext cx="2201863" cy="4356100"/>
          </a:xfrm>
          <a:custGeom>
            <a:rect b="b" l="l" r="r" t="t"/>
            <a:pathLst>
              <a:path extrusionOk="0" h="2744" w="1387">
                <a:moveTo>
                  <a:pt x="0" y="2744"/>
                </a:moveTo>
                <a:lnTo>
                  <a:pt x="1387" y="0"/>
                </a:lnTo>
                <a:lnTo>
                  <a:pt x="1387" y="2744"/>
                </a:lnTo>
                <a:lnTo>
                  <a:pt x="0" y="2744"/>
                </a:lnTo>
                <a:close/>
              </a:path>
            </a:pathLst>
          </a:custGeom>
          <a:noFill/>
          <a:ln cap="flat" cmpd="sng" w="57150">
            <a:solidFill>
              <a:srgbClr val="FF6600">
                <a:alpha val="6392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4" name="Google Shape;1134;p39"/>
          <p:cNvSpPr txBox="1"/>
          <p:nvPr/>
        </p:nvSpPr>
        <p:spPr>
          <a:xfrm>
            <a:off x="765175" y="3246438"/>
            <a:ext cx="2571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i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= 500.</a:t>
            </a:r>
            <a:endParaRPr/>
          </a:p>
        </p:txBody>
      </p:sp>
      <p:sp>
        <p:nvSpPr>
          <p:cNvPr id="1135" name="Google Shape;1135;p39"/>
          <p:cNvSpPr txBox="1"/>
          <p:nvPr/>
        </p:nvSpPr>
        <p:spPr>
          <a:xfrm>
            <a:off x="2636838" y="4762500"/>
            <a:ext cx="23415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∙ε = </a:t>
            </a:r>
            <a:r>
              <a:rPr i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aseline="-25000" i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ΔΦ </a:t>
            </a:r>
            <a:r>
              <a:rPr i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Δt </a:t>
            </a:r>
            <a:endParaRPr/>
          </a:p>
        </p:txBody>
      </p:sp>
      <p:sp>
        <p:nvSpPr>
          <p:cNvPr id="1136" name="Google Shape;1136;p39"/>
          <p:cNvSpPr txBox="1"/>
          <p:nvPr/>
        </p:nvSpPr>
        <p:spPr>
          <a:xfrm>
            <a:off x="2986088" y="5199063"/>
            <a:ext cx="2101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= 500(0.5)</a:t>
            </a:r>
            <a:endParaRPr/>
          </a:p>
        </p:txBody>
      </p:sp>
      <p:sp>
        <p:nvSpPr>
          <p:cNvPr id="1137" name="Google Shape;1137;p39"/>
          <p:cNvSpPr txBox="1"/>
          <p:nvPr/>
        </p:nvSpPr>
        <p:spPr>
          <a:xfrm>
            <a:off x="2990850" y="5627688"/>
            <a:ext cx="16922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= 250 V</a:t>
            </a:r>
            <a:endParaRPr/>
          </a:p>
        </p:txBody>
      </p:sp>
      <p:sp>
        <p:nvSpPr>
          <p:cNvPr id="1138" name="Google Shape;1138;p39"/>
          <p:cNvSpPr/>
          <p:nvPr/>
        </p:nvSpPr>
        <p:spPr>
          <a:xfrm>
            <a:off x="723900" y="5699125"/>
            <a:ext cx="360363" cy="360363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9" name="Google Shape;1139;p39"/>
          <p:cNvSpPr/>
          <p:nvPr/>
        </p:nvSpPr>
        <p:spPr>
          <a:xfrm>
            <a:off x="685800" y="409575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Topic D: Fields AHL</a:t>
            </a:r>
            <a:b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D.4 – Induction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0" name="Google Shape;1140;p39"/>
          <p:cNvSpPr/>
          <p:nvPr/>
        </p:nvSpPr>
        <p:spPr>
          <a:xfrm>
            <a:off x="685800" y="1354138"/>
            <a:ext cx="7772400" cy="452437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Electromagnetic induction problems</a:t>
            </a:r>
            <a:endParaRPr i="1" sz="240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40"/>
          <p:cNvSpPr/>
          <p:nvPr/>
        </p:nvSpPr>
        <p:spPr>
          <a:xfrm>
            <a:off x="687388" y="1738313"/>
            <a:ext cx="7772400" cy="5122862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146" name="Google Shape;114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8500" y="1824038"/>
            <a:ext cx="7740650" cy="281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7" name="Google Shape;1147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37225" y="4727575"/>
            <a:ext cx="2636838" cy="16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8" name="Google Shape;1148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1200" y="4673600"/>
            <a:ext cx="2546350" cy="37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9" name="Google Shape;1149;p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89050" y="5035550"/>
            <a:ext cx="3802063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0" name="Google Shape;1150;p40"/>
          <p:cNvSpPr txBox="1"/>
          <p:nvPr/>
        </p:nvSpPr>
        <p:spPr>
          <a:xfrm>
            <a:off x="1257300" y="6438900"/>
            <a:ext cx="773271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∙Change in flux is maximum when </a:t>
            </a:r>
            <a:r>
              <a:rPr i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is maximum.</a:t>
            </a:r>
            <a:endParaRPr sz="24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1" name="Google Shape;1151;p40"/>
          <p:cNvSpPr txBox="1"/>
          <p:nvPr/>
        </p:nvSpPr>
        <p:spPr>
          <a:xfrm>
            <a:off x="6296025" y="4792663"/>
            <a:ext cx="60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 sz="24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2" name="Google Shape;1152;p40"/>
          <p:cNvSpPr txBox="1"/>
          <p:nvPr/>
        </p:nvSpPr>
        <p:spPr>
          <a:xfrm>
            <a:off x="7421563" y="5922963"/>
            <a:ext cx="60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 sz="24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3" name="Google Shape;1153;p40"/>
          <p:cNvSpPr/>
          <p:nvPr/>
        </p:nvSpPr>
        <p:spPr>
          <a:xfrm>
            <a:off x="685800" y="409575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Topic D: Fields AHL</a:t>
            </a:r>
            <a:b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D.4 – Induction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4" name="Google Shape;1154;p40"/>
          <p:cNvSpPr/>
          <p:nvPr/>
        </p:nvSpPr>
        <p:spPr>
          <a:xfrm>
            <a:off x="685800" y="1354138"/>
            <a:ext cx="7772400" cy="452437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Electromagnetic induction problems</a:t>
            </a:r>
            <a:endParaRPr i="1" sz="240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5" name="Google Shape;1155;p40"/>
          <p:cNvSpPr txBox="1"/>
          <p:nvPr/>
        </p:nvSpPr>
        <p:spPr>
          <a:xfrm>
            <a:off x="6499225" y="715963"/>
            <a:ext cx="2644775" cy="1187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∙ε is maximum when change in flux is maximum.</a:t>
            </a:r>
            <a:endParaRPr sz="24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p41"/>
          <p:cNvSpPr/>
          <p:nvPr/>
        </p:nvSpPr>
        <p:spPr>
          <a:xfrm>
            <a:off x="687388" y="1751013"/>
            <a:ext cx="7772400" cy="5122862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161" name="Google Shape;1161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8500" y="1824038"/>
            <a:ext cx="7740650" cy="281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2" name="Google Shape;1162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37225" y="4727575"/>
            <a:ext cx="2636838" cy="16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3" name="Google Shape;1163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1200" y="4673600"/>
            <a:ext cx="2546350" cy="37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4" name="Google Shape;1164;p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19213" y="5021263"/>
            <a:ext cx="4075112" cy="1019175"/>
          </a:xfrm>
          <a:prstGeom prst="rect">
            <a:avLst/>
          </a:prstGeom>
          <a:noFill/>
          <a:ln>
            <a:noFill/>
          </a:ln>
        </p:spPr>
      </p:pic>
      <p:sp>
        <p:nvSpPr>
          <p:cNvPr id="1165" name="Google Shape;1165;p41"/>
          <p:cNvSpPr txBox="1"/>
          <p:nvPr/>
        </p:nvSpPr>
        <p:spPr>
          <a:xfrm>
            <a:off x="1473200" y="6350000"/>
            <a:ext cx="733583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∙Change in flux is zero when </a:t>
            </a:r>
            <a:r>
              <a:rPr i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is zero.</a:t>
            </a:r>
            <a:endParaRPr sz="24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6" name="Google Shape;1166;p41"/>
          <p:cNvSpPr txBox="1"/>
          <p:nvPr/>
        </p:nvSpPr>
        <p:spPr>
          <a:xfrm>
            <a:off x="5921375" y="5246688"/>
            <a:ext cx="60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Z</a:t>
            </a:r>
            <a:endParaRPr b="1" sz="2400">
              <a:solidFill>
                <a:schemeClr val="hlink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67" name="Google Shape;1167;p41"/>
          <p:cNvSpPr txBox="1"/>
          <p:nvPr/>
        </p:nvSpPr>
        <p:spPr>
          <a:xfrm>
            <a:off x="6972300" y="5237163"/>
            <a:ext cx="60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Z</a:t>
            </a:r>
            <a:endParaRPr b="1" sz="2400">
              <a:solidFill>
                <a:schemeClr val="hlink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68" name="Google Shape;1168;p41"/>
          <p:cNvSpPr txBox="1"/>
          <p:nvPr/>
        </p:nvSpPr>
        <p:spPr>
          <a:xfrm>
            <a:off x="7905750" y="5235575"/>
            <a:ext cx="60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Z</a:t>
            </a:r>
            <a:endParaRPr b="1" sz="2400">
              <a:solidFill>
                <a:schemeClr val="hlink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69" name="Google Shape;1169;p41"/>
          <p:cNvSpPr/>
          <p:nvPr/>
        </p:nvSpPr>
        <p:spPr>
          <a:xfrm>
            <a:off x="685800" y="409575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Topic D: Fields AHL</a:t>
            </a:r>
            <a:b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D.4 – Induction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0" name="Google Shape;1170;p41"/>
          <p:cNvSpPr/>
          <p:nvPr/>
        </p:nvSpPr>
        <p:spPr>
          <a:xfrm>
            <a:off x="685800" y="1354138"/>
            <a:ext cx="7772400" cy="452437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Electromagnetic induction problems</a:t>
            </a:r>
            <a:endParaRPr i="1" sz="240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1" name="Google Shape;1171;p41"/>
          <p:cNvSpPr txBox="1"/>
          <p:nvPr/>
        </p:nvSpPr>
        <p:spPr>
          <a:xfrm>
            <a:off x="6475413" y="733425"/>
            <a:ext cx="2668587" cy="1187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∙ε is zero when change in flux is zero.</a:t>
            </a:r>
            <a:endParaRPr sz="24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p42"/>
          <p:cNvSpPr/>
          <p:nvPr/>
        </p:nvSpPr>
        <p:spPr>
          <a:xfrm>
            <a:off x="687388" y="1751013"/>
            <a:ext cx="7772400" cy="5122862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177" name="Google Shape;117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8500" y="1824038"/>
            <a:ext cx="7740650" cy="281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8" name="Google Shape;1178;p42"/>
          <p:cNvPicPr preferRelativeResize="0"/>
          <p:nvPr/>
        </p:nvPicPr>
        <p:blipFill rotWithShape="1">
          <a:blip r:embed="rId4">
            <a:alphaModFix/>
          </a:blip>
          <a:srcRect b="38332" l="0" r="0" t="0"/>
          <a:stretch/>
        </p:blipFill>
        <p:spPr>
          <a:xfrm>
            <a:off x="711200" y="4668838"/>
            <a:ext cx="7727950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1179" name="Google Shape;1179;p42"/>
          <p:cNvSpPr txBox="1"/>
          <p:nvPr/>
        </p:nvSpPr>
        <p:spPr>
          <a:xfrm>
            <a:off x="1412875" y="5227638"/>
            <a:ext cx="7731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∙The magnet is oscillating because of the spring.</a:t>
            </a:r>
            <a:endParaRPr sz="24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0" name="Google Shape;1180;p42"/>
          <p:cNvSpPr txBox="1"/>
          <p:nvPr/>
        </p:nvSpPr>
        <p:spPr>
          <a:xfrm>
            <a:off x="1412875" y="5570538"/>
            <a:ext cx="7731125" cy="7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∙Thus the B-field is oscillating, and hence the flux linkage is oscillating.</a:t>
            </a:r>
            <a:endParaRPr sz="24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1" name="Google Shape;1181;p42"/>
          <p:cNvSpPr txBox="1"/>
          <p:nvPr/>
        </p:nvSpPr>
        <p:spPr>
          <a:xfrm>
            <a:off x="1412875" y="6173788"/>
            <a:ext cx="7731125" cy="7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∙Hence the induced emf is oscillating because of Faraday’s law (and Lenz’s law).</a:t>
            </a:r>
            <a:endParaRPr sz="24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2" name="Google Shape;1182;p42"/>
          <p:cNvSpPr/>
          <p:nvPr/>
        </p:nvSpPr>
        <p:spPr>
          <a:xfrm>
            <a:off x="685800" y="409575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Topic D: Fields AHL</a:t>
            </a:r>
            <a:b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D.4 – Induction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3" name="Google Shape;1183;p42"/>
          <p:cNvSpPr/>
          <p:nvPr/>
        </p:nvSpPr>
        <p:spPr>
          <a:xfrm>
            <a:off x="685800" y="1354138"/>
            <a:ext cx="7772400" cy="452437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Electromagnetic induction problems</a:t>
            </a:r>
            <a:endParaRPr i="1" sz="240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p43"/>
          <p:cNvSpPr/>
          <p:nvPr/>
        </p:nvSpPr>
        <p:spPr>
          <a:xfrm>
            <a:off x="682625" y="5165725"/>
            <a:ext cx="7766050" cy="1692275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FYI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Beware of the IBO. They will try to catch you off of your guard. No, really.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∙Don’t forget the identity cos( 90º –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φ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) = sin</a:t>
            </a:r>
            <a:r>
              <a:rPr baseline="-2500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φ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1189" name="Google Shape;1189;p43"/>
          <p:cNvSpPr/>
          <p:nvPr/>
        </p:nvSpPr>
        <p:spPr>
          <a:xfrm>
            <a:off x="687388" y="1763713"/>
            <a:ext cx="7772400" cy="3427412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190" name="Google Shape;1190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7863" y="1838325"/>
            <a:ext cx="7767637" cy="2090738"/>
          </a:xfrm>
          <a:prstGeom prst="rect">
            <a:avLst/>
          </a:prstGeom>
          <a:noFill/>
          <a:ln>
            <a:noFill/>
          </a:ln>
        </p:spPr>
      </p:pic>
      <p:sp>
        <p:nvSpPr>
          <p:cNvPr id="1191" name="Google Shape;1191;p43"/>
          <p:cNvSpPr txBox="1"/>
          <p:nvPr/>
        </p:nvSpPr>
        <p:spPr>
          <a:xfrm>
            <a:off x="739775" y="3962400"/>
            <a:ext cx="7972425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∙Magnetic flux is given by Φ = </a:t>
            </a:r>
            <a:r>
              <a:rPr i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BA</a:t>
            </a:r>
            <a:r>
              <a:rPr baseline="-25000" i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cos</a:t>
            </a:r>
            <a:r>
              <a:rPr baseline="-25000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θ where θ is the angle between the B-field and the NORMAL to the area.</a:t>
            </a:r>
            <a:endParaRPr/>
          </a:p>
        </p:txBody>
      </p:sp>
      <p:cxnSp>
        <p:nvCxnSpPr>
          <p:cNvPr id="1192" name="Google Shape;1192;p43"/>
          <p:cNvCxnSpPr/>
          <p:nvPr/>
        </p:nvCxnSpPr>
        <p:spPr>
          <a:xfrm rot="10800000">
            <a:off x="7099300" y="2185988"/>
            <a:ext cx="0" cy="9271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93" name="Google Shape;1193;p43"/>
          <p:cNvSpPr txBox="1"/>
          <p:nvPr/>
        </p:nvSpPr>
        <p:spPr>
          <a:xfrm>
            <a:off x="7131050" y="2368550"/>
            <a:ext cx="4286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θ</a:t>
            </a:r>
            <a:endParaRPr/>
          </a:p>
        </p:txBody>
      </p:sp>
      <p:sp>
        <p:nvSpPr>
          <p:cNvPr id="1194" name="Google Shape;1194;p43"/>
          <p:cNvSpPr txBox="1"/>
          <p:nvPr/>
        </p:nvSpPr>
        <p:spPr>
          <a:xfrm>
            <a:off x="720725" y="4719638"/>
            <a:ext cx="7731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∙Thus Φ = </a:t>
            </a:r>
            <a:r>
              <a:rPr i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BS</a:t>
            </a:r>
            <a:r>
              <a:rPr baseline="-25000" i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cos</a:t>
            </a:r>
            <a:r>
              <a:rPr baseline="-25000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θ = </a:t>
            </a:r>
            <a:r>
              <a:rPr i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BS </a:t>
            </a: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cos( 90º – </a:t>
            </a:r>
            <a:r>
              <a:rPr i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φ </a:t>
            </a: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) = </a:t>
            </a:r>
            <a:r>
              <a:rPr i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BS </a:t>
            </a: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sin</a:t>
            </a:r>
            <a:r>
              <a:rPr baseline="-25000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φ</a:t>
            </a: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195" name="Google Shape;1195;p43"/>
          <p:cNvSpPr/>
          <p:nvPr/>
        </p:nvSpPr>
        <p:spPr>
          <a:xfrm>
            <a:off x="4451350" y="3557588"/>
            <a:ext cx="360363" cy="360362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6" name="Google Shape;1196;p43"/>
          <p:cNvSpPr/>
          <p:nvPr/>
        </p:nvSpPr>
        <p:spPr>
          <a:xfrm>
            <a:off x="685800" y="409575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Topic D: Fields AHL</a:t>
            </a:r>
            <a:b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D.4 – Induction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7" name="Google Shape;1197;p43"/>
          <p:cNvSpPr/>
          <p:nvPr/>
        </p:nvSpPr>
        <p:spPr>
          <a:xfrm>
            <a:off x="685800" y="1354138"/>
            <a:ext cx="7772400" cy="452437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Electromagnetic induction problems</a:t>
            </a:r>
            <a:endParaRPr i="1" sz="240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p44"/>
          <p:cNvSpPr/>
          <p:nvPr/>
        </p:nvSpPr>
        <p:spPr>
          <a:xfrm>
            <a:off x="687388" y="1751013"/>
            <a:ext cx="7772400" cy="5122862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203" name="Google Shape;1203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1675" y="1800225"/>
            <a:ext cx="7634288" cy="5102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4" name="Google Shape;1204;p44"/>
          <p:cNvSpPr/>
          <p:nvPr/>
        </p:nvSpPr>
        <p:spPr>
          <a:xfrm>
            <a:off x="2249488" y="2868613"/>
            <a:ext cx="2925762" cy="3008312"/>
          </a:xfrm>
          <a:custGeom>
            <a:rect b="b" l="l" r="r" t="t"/>
            <a:pathLst>
              <a:path extrusionOk="0" h="1895" w="1843">
                <a:moveTo>
                  <a:pt x="0" y="1895"/>
                </a:moveTo>
                <a:cubicBezTo>
                  <a:pt x="10" y="1737"/>
                  <a:pt x="20" y="1579"/>
                  <a:pt x="75" y="1399"/>
                </a:cubicBezTo>
                <a:cubicBezTo>
                  <a:pt x="130" y="1219"/>
                  <a:pt x="227" y="972"/>
                  <a:pt x="328" y="812"/>
                </a:cubicBezTo>
                <a:cubicBezTo>
                  <a:pt x="429" y="652"/>
                  <a:pt x="561" y="539"/>
                  <a:pt x="680" y="438"/>
                </a:cubicBezTo>
                <a:cubicBezTo>
                  <a:pt x="799" y="337"/>
                  <a:pt x="915" y="268"/>
                  <a:pt x="1043" y="207"/>
                </a:cubicBezTo>
                <a:cubicBezTo>
                  <a:pt x="1171" y="146"/>
                  <a:pt x="1318" y="103"/>
                  <a:pt x="1451" y="69"/>
                </a:cubicBezTo>
                <a:cubicBezTo>
                  <a:pt x="1584" y="35"/>
                  <a:pt x="1713" y="17"/>
                  <a:pt x="1843" y="0"/>
                </a:cubicBezTo>
              </a:path>
            </a:pathLst>
          </a:custGeom>
          <a:noFill/>
          <a:ln cap="flat" cmpd="sng" w="76200">
            <a:solidFill>
              <a:srgbClr val="FF6600">
                <a:alpha val="5764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5" name="Google Shape;1205;p44"/>
          <p:cNvSpPr/>
          <p:nvPr/>
        </p:nvSpPr>
        <p:spPr>
          <a:xfrm>
            <a:off x="2249488" y="2497138"/>
            <a:ext cx="2911475" cy="325437"/>
          </a:xfrm>
          <a:prstGeom prst="rect">
            <a:avLst/>
          </a:prstGeom>
          <a:solidFill>
            <a:srgbClr val="FF6600">
              <a:alpha val="3372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6" name="Google Shape;1206;p44"/>
          <p:cNvSpPr txBox="1"/>
          <p:nvPr/>
        </p:nvSpPr>
        <p:spPr>
          <a:xfrm>
            <a:off x="3027363" y="4043363"/>
            <a:ext cx="5567362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∙A current will be induced if the magnetic flux is changing.</a:t>
            </a:r>
            <a:endParaRPr sz="24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7" name="Google Shape;1207;p44"/>
          <p:cNvSpPr txBox="1"/>
          <p:nvPr/>
        </p:nvSpPr>
        <p:spPr>
          <a:xfrm>
            <a:off x="3043238" y="4837113"/>
            <a:ext cx="5554662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∙The magnetic flux is changing whenever the magnetic field is.</a:t>
            </a:r>
            <a:endParaRPr sz="24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8" name="Google Shape;1208;p44"/>
          <p:cNvSpPr/>
          <p:nvPr/>
        </p:nvSpPr>
        <p:spPr>
          <a:xfrm>
            <a:off x="6219825" y="2509838"/>
            <a:ext cx="1046163" cy="325437"/>
          </a:xfrm>
          <a:prstGeom prst="rect">
            <a:avLst/>
          </a:prstGeom>
          <a:solidFill>
            <a:srgbClr val="FF6600">
              <a:alpha val="3372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9" name="Google Shape;1209;p44"/>
          <p:cNvSpPr/>
          <p:nvPr/>
        </p:nvSpPr>
        <p:spPr>
          <a:xfrm>
            <a:off x="6232525" y="2882900"/>
            <a:ext cx="1069975" cy="935038"/>
          </a:xfrm>
          <a:custGeom>
            <a:rect b="b" l="l" r="r" t="t"/>
            <a:pathLst>
              <a:path extrusionOk="0" h="589" w="674">
                <a:moveTo>
                  <a:pt x="0" y="0"/>
                </a:moveTo>
                <a:cubicBezTo>
                  <a:pt x="9" y="95"/>
                  <a:pt x="19" y="190"/>
                  <a:pt x="68" y="273"/>
                </a:cubicBezTo>
                <a:cubicBezTo>
                  <a:pt x="117" y="356"/>
                  <a:pt x="217" y="450"/>
                  <a:pt x="295" y="500"/>
                </a:cubicBezTo>
                <a:cubicBezTo>
                  <a:pt x="373" y="550"/>
                  <a:pt x="475" y="563"/>
                  <a:pt x="538" y="576"/>
                </a:cubicBezTo>
                <a:cubicBezTo>
                  <a:pt x="601" y="589"/>
                  <a:pt x="637" y="582"/>
                  <a:pt x="674" y="576"/>
                </a:cubicBezTo>
              </a:path>
            </a:pathLst>
          </a:custGeom>
          <a:noFill/>
          <a:ln cap="flat" cmpd="sng" w="76200">
            <a:solidFill>
              <a:srgbClr val="FF6600">
                <a:alpha val="51764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0" name="Google Shape;1210;p44"/>
          <p:cNvSpPr/>
          <p:nvPr/>
        </p:nvSpPr>
        <p:spPr>
          <a:xfrm>
            <a:off x="6256338" y="6516688"/>
            <a:ext cx="360362" cy="360362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1" name="Google Shape;1211;p44"/>
          <p:cNvSpPr/>
          <p:nvPr/>
        </p:nvSpPr>
        <p:spPr>
          <a:xfrm>
            <a:off x="685800" y="409575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Topic D: Fields AHL</a:t>
            </a:r>
            <a:b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D.4 – Induction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2" name="Google Shape;1212;p44"/>
          <p:cNvSpPr/>
          <p:nvPr/>
        </p:nvSpPr>
        <p:spPr>
          <a:xfrm>
            <a:off x="685800" y="1354138"/>
            <a:ext cx="7772400" cy="452437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Electromagnetic induction problems</a:t>
            </a:r>
            <a:endParaRPr i="1" sz="240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p45"/>
          <p:cNvSpPr/>
          <p:nvPr/>
        </p:nvSpPr>
        <p:spPr>
          <a:xfrm>
            <a:off x="687388" y="1751013"/>
            <a:ext cx="7772400" cy="5122862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218" name="Google Shape;1218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038" y="1871663"/>
            <a:ext cx="7789862" cy="4316412"/>
          </a:xfrm>
          <a:prstGeom prst="rect">
            <a:avLst/>
          </a:prstGeom>
          <a:noFill/>
          <a:ln>
            <a:noFill/>
          </a:ln>
        </p:spPr>
      </p:pic>
      <p:sp>
        <p:nvSpPr>
          <p:cNvPr id="1219" name="Google Shape;1219;p45"/>
          <p:cNvSpPr txBox="1"/>
          <p:nvPr/>
        </p:nvSpPr>
        <p:spPr>
          <a:xfrm>
            <a:off x="788988" y="6127750"/>
            <a:ext cx="76247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∙Reversed pole → reversed deflection: LEFT.</a:t>
            </a:r>
            <a:endParaRPr sz="24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0" name="Google Shape;1220;p45"/>
          <p:cNvSpPr/>
          <p:nvPr/>
        </p:nvSpPr>
        <p:spPr>
          <a:xfrm>
            <a:off x="722313" y="3282950"/>
            <a:ext cx="1900237" cy="325438"/>
          </a:xfrm>
          <a:prstGeom prst="rect">
            <a:avLst/>
          </a:prstGeom>
          <a:solidFill>
            <a:srgbClr val="FF6600">
              <a:alpha val="3372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1" name="Google Shape;1221;p45"/>
          <p:cNvSpPr txBox="1"/>
          <p:nvPr/>
        </p:nvSpPr>
        <p:spPr>
          <a:xfrm>
            <a:off x="781050" y="6453188"/>
            <a:ext cx="762476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∙Doubled speed → doubled emf: 16 units.</a:t>
            </a:r>
            <a:endParaRPr sz="24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2" name="Google Shape;1222;p45"/>
          <p:cNvSpPr/>
          <p:nvPr/>
        </p:nvSpPr>
        <p:spPr>
          <a:xfrm>
            <a:off x="2889250" y="3586163"/>
            <a:ext cx="744538" cy="288925"/>
          </a:xfrm>
          <a:prstGeom prst="rect">
            <a:avLst/>
          </a:prstGeom>
          <a:solidFill>
            <a:srgbClr val="FF6600">
              <a:alpha val="3372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3" name="Google Shape;1223;p45"/>
          <p:cNvSpPr/>
          <p:nvPr/>
        </p:nvSpPr>
        <p:spPr>
          <a:xfrm>
            <a:off x="4703763" y="5870575"/>
            <a:ext cx="360362" cy="360363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4" name="Google Shape;1224;p45"/>
          <p:cNvSpPr/>
          <p:nvPr/>
        </p:nvSpPr>
        <p:spPr>
          <a:xfrm>
            <a:off x="685800" y="409575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Topic D: Fields AHL</a:t>
            </a:r>
            <a:b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D.4 – Induction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5" name="Google Shape;1225;p45"/>
          <p:cNvSpPr/>
          <p:nvPr/>
        </p:nvSpPr>
        <p:spPr>
          <a:xfrm>
            <a:off x="685800" y="1354138"/>
            <a:ext cx="7772400" cy="452437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Electromagnetic induction problems</a:t>
            </a:r>
            <a:endParaRPr i="1" sz="240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9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p46"/>
          <p:cNvSpPr/>
          <p:nvPr/>
        </p:nvSpPr>
        <p:spPr>
          <a:xfrm>
            <a:off x="682625" y="5222875"/>
            <a:ext cx="7766050" cy="16510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FYI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Only one choice is a RATE.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Remember that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flux linkage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has the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 it whereas 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flux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does not.</a:t>
            </a:r>
            <a:endParaRPr/>
          </a:p>
        </p:txBody>
      </p:sp>
      <p:sp>
        <p:nvSpPr>
          <p:cNvPr id="1231" name="Google Shape;1231;p46"/>
          <p:cNvSpPr/>
          <p:nvPr/>
        </p:nvSpPr>
        <p:spPr>
          <a:xfrm>
            <a:off x="687388" y="1751013"/>
            <a:ext cx="7772400" cy="3535362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232" name="Google Shape;1232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6438" y="1846263"/>
            <a:ext cx="7688262" cy="2238375"/>
          </a:xfrm>
          <a:prstGeom prst="rect">
            <a:avLst/>
          </a:prstGeom>
          <a:noFill/>
          <a:ln>
            <a:noFill/>
          </a:ln>
        </p:spPr>
      </p:pic>
      <p:sp>
        <p:nvSpPr>
          <p:cNvPr id="1233" name="Google Shape;1233;p46"/>
          <p:cNvSpPr/>
          <p:nvPr/>
        </p:nvSpPr>
        <p:spPr>
          <a:xfrm>
            <a:off x="4427538" y="4144963"/>
            <a:ext cx="774700" cy="288925"/>
          </a:xfrm>
          <a:prstGeom prst="rect">
            <a:avLst/>
          </a:prstGeom>
          <a:noFill/>
          <a:ln cap="flat" cmpd="sng" w="28575">
            <a:solidFill>
              <a:srgbClr val="CC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4" name="Google Shape;1234;p46"/>
          <p:cNvSpPr txBox="1"/>
          <p:nvPr/>
        </p:nvSpPr>
        <p:spPr>
          <a:xfrm>
            <a:off x="3438525" y="4851400"/>
            <a:ext cx="5194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change in magnetic flux linkage</a:t>
            </a:r>
            <a:endParaRPr sz="2400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35" name="Google Shape;1235;p46"/>
          <p:cNvCxnSpPr/>
          <p:nvPr/>
        </p:nvCxnSpPr>
        <p:spPr>
          <a:xfrm rot="10800000">
            <a:off x="5197475" y="4448175"/>
            <a:ext cx="409575" cy="492125"/>
          </a:xfrm>
          <a:prstGeom prst="straightConnector1">
            <a:avLst/>
          </a:prstGeom>
          <a:noFill/>
          <a:ln cap="flat" cmpd="sng" w="1270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36" name="Google Shape;1236;p46"/>
          <p:cNvSpPr/>
          <p:nvPr/>
        </p:nvSpPr>
        <p:spPr>
          <a:xfrm>
            <a:off x="5386388" y="4146550"/>
            <a:ext cx="377825" cy="288925"/>
          </a:xfrm>
          <a:prstGeom prst="rect">
            <a:avLst/>
          </a:prstGeom>
          <a:noFill/>
          <a:ln cap="flat" cmpd="sng" w="2857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7" name="Google Shape;1237;p46"/>
          <p:cNvSpPr txBox="1"/>
          <p:nvPr/>
        </p:nvSpPr>
        <p:spPr>
          <a:xfrm>
            <a:off x="6491288" y="4476750"/>
            <a:ext cx="16414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time rate</a:t>
            </a:r>
            <a:endParaRPr sz="240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38" name="Google Shape;1238;p46"/>
          <p:cNvCxnSpPr/>
          <p:nvPr/>
        </p:nvCxnSpPr>
        <p:spPr>
          <a:xfrm rot="10800000">
            <a:off x="5775325" y="4445000"/>
            <a:ext cx="730250" cy="254000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39" name="Google Shape;1239;p46"/>
          <p:cNvSpPr/>
          <p:nvPr/>
        </p:nvSpPr>
        <p:spPr>
          <a:xfrm>
            <a:off x="685800" y="2832100"/>
            <a:ext cx="360363" cy="360363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0" name="Google Shape;1240;p46"/>
          <p:cNvSpPr/>
          <p:nvPr/>
        </p:nvSpPr>
        <p:spPr>
          <a:xfrm>
            <a:off x="685800" y="409575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Topic D: Fields AHL</a:t>
            </a:r>
            <a:b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D.4 – Induction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1" name="Google Shape;1241;p46"/>
          <p:cNvSpPr/>
          <p:nvPr/>
        </p:nvSpPr>
        <p:spPr>
          <a:xfrm>
            <a:off x="685800" y="1354138"/>
            <a:ext cx="7772400" cy="452437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Electromagnetic induction problems</a:t>
            </a:r>
            <a:endParaRPr i="1" sz="240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2" name="Google Shape;1242;p46"/>
          <p:cNvSpPr txBox="1"/>
          <p:nvPr/>
        </p:nvSpPr>
        <p:spPr>
          <a:xfrm>
            <a:off x="788988" y="4046538"/>
            <a:ext cx="76247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∙Use Faraday’s law: </a:t>
            </a:r>
            <a:r>
              <a:rPr i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ε</a:t>
            </a: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= – </a:t>
            </a:r>
            <a:r>
              <a:rPr i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ΔΦ </a:t>
            </a:r>
            <a:r>
              <a:rPr i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/ </a:t>
            </a: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Δ</a:t>
            </a:r>
            <a:r>
              <a:rPr i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p47"/>
          <p:cNvSpPr/>
          <p:nvPr/>
        </p:nvSpPr>
        <p:spPr>
          <a:xfrm>
            <a:off x="687388" y="1751013"/>
            <a:ext cx="7772400" cy="5122862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248" name="Google Shape;1248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4225" y="1863725"/>
            <a:ext cx="7132638" cy="463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9" name="Google Shape;1249;p47"/>
          <p:cNvSpPr txBox="1"/>
          <p:nvPr/>
        </p:nvSpPr>
        <p:spPr>
          <a:xfrm>
            <a:off x="1860550" y="3481388"/>
            <a:ext cx="698341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∙E is proportional to the slopes (</a:t>
            </a:r>
            <a:r>
              <a:rPr i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=ΔΦ </a:t>
            </a:r>
            <a:r>
              <a:rPr i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Δ</a:t>
            </a:r>
            <a:r>
              <a:rPr i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/>
          </a:p>
        </p:txBody>
      </p:sp>
      <p:sp>
        <p:nvSpPr>
          <p:cNvPr id="1250" name="Google Shape;1250;p47"/>
          <p:cNvSpPr txBox="1"/>
          <p:nvPr/>
        </p:nvSpPr>
        <p:spPr>
          <a:xfrm>
            <a:off x="1862138" y="6400800"/>
            <a:ext cx="58308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∙E is thus constant where the slopes are.</a:t>
            </a:r>
            <a:endParaRPr sz="24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51" name="Google Shape;1251;p47"/>
          <p:cNvCxnSpPr/>
          <p:nvPr/>
        </p:nvCxnSpPr>
        <p:spPr>
          <a:xfrm>
            <a:off x="857250" y="5373688"/>
            <a:ext cx="2674938" cy="1019175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2" name="Google Shape;1252;p47"/>
          <p:cNvCxnSpPr/>
          <p:nvPr/>
        </p:nvCxnSpPr>
        <p:spPr>
          <a:xfrm>
            <a:off x="4519613" y="5302250"/>
            <a:ext cx="2808287" cy="900113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3" name="Google Shape;1253;p47"/>
          <p:cNvCxnSpPr/>
          <p:nvPr/>
        </p:nvCxnSpPr>
        <p:spPr>
          <a:xfrm flipH="1" rot="10800000">
            <a:off x="5648325" y="1970088"/>
            <a:ext cx="746125" cy="758825"/>
          </a:xfrm>
          <a:prstGeom prst="straightConnector1">
            <a:avLst/>
          </a:prstGeom>
          <a:noFill/>
          <a:ln cap="flat" cmpd="sng" w="76200">
            <a:solidFill>
              <a:srgbClr val="FF6600">
                <a:alpha val="49803"/>
              </a:srgbClr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4" name="Google Shape;1254;p47"/>
          <p:cNvCxnSpPr/>
          <p:nvPr/>
        </p:nvCxnSpPr>
        <p:spPr>
          <a:xfrm rot="10800000">
            <a:off x="6794500" y="1971675"/>
            <a:ext cx="287338" cy="758825"/>
          </a:xfrm>
          <a:prstGeom prst="straightConnector1">
            <a:avLst/>
          </a:prstGeom>
          <a:noFill/>
          <a:ln cap="flat" cmpd="sng" w="76200">
            <a:solidFill>
              <a:srgbClr val="CC0000">
                <a:alpha val="49803"/>
              </a:srgbClr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5" name="Google Shape;1255;p47"/>
          <p:cNvCxnSpPr/>
          <p:nvPr/>
        </p:nvCxnSpPr>
        <p:spPr>
          <a:xfrm>
            <a:off x="1954213" y="4124325"/>
            <a:ext cx="733425" cy="0"/>
          </a:xfrm>
          <a:prstGeom prst="straightConnector1">
            <a:avLst/>
          </a:prstGeom>
          <a:noFill/>
          <a:ln cap="flat" cmpd="sng" w="76200">
            <a:solidFill>
              <a:srgbClr val="FF6600">
                <a:alpha val="46666"/>
              </a:srgbClr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6" name="Google Shape;1256;p47"/>
          <p:cNvCxnSpPr/>
          <p:nvPr/>
        </p:nvCxnSpPr>
        <p:spPr>
          <a:xfrm>
            <a:off x="5745163" y="4151313"/>
            <a:ext cx="733425" cy="0"/>
          </a:xfrm>
          <a:prstGeom prst="straightConnector1">
            <a:avLst/>
          </a:prstGeom>
          <a:noFill/>
          <a:ln cap="flat" cmpd="sng" w="76200">
            <a:solidFill>
              <a:srgbClr val="FF6600">
                <a:alpha val="46666"/>
              </a:srgbClr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7" name="Google Shape;1257;p47"/>
          <p:cNvCxnSpPr/>
          <p:nvPr/>
        </p:nvCxnSpPr>
        <p:spPr>
          <a:xfrm>
            <a:off x="3146425" y="5113338"/>
            <a:ext cx="396875" cy="0"/>
          </a:xfrm>
          <a:prstGeom prst="straightConnector1">
            <a:avLst/>
          </a:prstGeom>
          <a:noFill/>
          <a:ln cap="flat" cmpd="sng" w="76200">
            <a:solidFill>
              <a:srgbClr val="CC0000">
                <a:alpha val="46666"/>
              </a:srgbClr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8" name="Google Shape;1258;p47"/>
          <p:cNvCxnSpPr/>
          <p:nvPr/>
        </p:nvCxnSpPr>
        <p:spPr>
          <a:xfrm>
            <a:off x="6878638" y="4789488"/>
            <a:ext cx="396875" cy="0"/>
          </a:xfrm>
          <a:prstGeom prst="straightConnector1">
            <a:avLst/>
          </a:prstGeom>
          <a:noFill/>
          <a:ln cap="flat" cmpd="sng" w="76200">
            <a:solidFill>
              <a:srgbClr val="CC0000">
                <a:alpha val="46666"/>
              </a:srgbClr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9" name="Google Shape;1259;p47"/>
          <p:cNvCxnSpPr/>
          <p:nvPr/>
        </p:nvCxnSpPr>
        <p:spPr>
          <a:xfrm>
            <a:off x="4546600" y="4052888"/>
            <a:ext cx="3084513" cy="706437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0" name="Google Shape;1260;p47"/>
          <p:cNvSpPr/>
          <p:nvPr/>
        </p:nvSpPr>
        <p:spPr>
          <a:xfrm>
            <a:off x="736600" y="3933825"/>
            <a:ext cx="360363" cy="360363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1" name="Google Shape;1261;p47"/>
          <p:cNvSpPr/>
          <p:nvPr/>
        </p:nvSpPr>
        <p:spPr>
          <a:xfrm>
            <a:off x="685800" y="409575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Topic D: Fields AHL</a:t>
            </a:r>
            <a:b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D.4 – Induction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2" name="Google Shape;1262;p47"/>
          <p:cNvSpPr/>
          <p:nvPr/>
        </p:nvSpPr>
        <p:spPr>
          <a:xfrm>
            <a:off x="685800" y="1354138"/>
            <a:ext cx="7772400" cy="452437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Electromagnetic induction problems</a:t>
            </a:r>
            <a:endParaRPr i="1" sz="240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3" name="Google Shape;1263;p47"/>
          <p:cNvSpPr txBox="1"/>
          <p:nvPr/>
        </p:nvSpPr>
        <p:spPr>
          <a:xfrm rot="-2784287">
            <a:off x="5324475" y="1557338"/>
            <a:ext cx="1101725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less steep</a:t>
            </a:r>
            <a:endParaRPr sz="24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4" name="Google Shape;1264;p47"/>
          <p:cNvSpPr txBox="1"/>
          <p:nvPr/>
        </p:nvSpPr>
        <p:spPr>
          <a:xfrm rot="4121529">
            <a:off x="6743700" y="1798638"/>
            <a:ext cx="1101725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more steep</a:t>
            </a:r>
            <a:endParaRPr sz="24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p48"/>
          <p:cNvSpPr/>
          <p:nvPr/>
        </p:nvSpPr>
        <p:spPr>
          <a:xfrm>
            <a:off x="687388" y="1751013"/>
            <a:ext cx="7772400" cy="5122862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270" name="Google Shape;1270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2150" y="1838325"/>
            <a:ext cx="7753350" cy="2271713"/>
          </a:xfrm>
          <a:prstGeom prst="rect">
            <a:avLst/>
          </a:prstGeom>
          <a:noFill/>
          <a:ln>
            <a:noFill/>
          </a:ln>
        </p:spPr>
      </p:pic>
      <p:sp>
        <p:nvSpPr>
          <p:cNvPr id="1271" name="Google Shape;1271;p48"/>
          <p:cNvSpPr txBox="1"/>
          <p:nvPr/>
        </p:nvSpPr>
        <p:spPr>
          <a:xfrm>
            <a:off x="723900" y="4057650"/>
            <a:ext cx="7693025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∙Faraday’s law says that the induced emf is equal to the rate of change of the magnetic flux.</a:t>
            </a:r>
            <a:endParaRPr sz="24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2" name="Google Shape;1272;p48"/>
          <p:cNvSpPr/>
          <p:nvPr/>
        </p:nvSpPr>
        <p:spPr>
          <a:xfrm>
            <a:off x="3765550" y="2151063"/>
            <a:ext cx="3957638" cy="300037"/>
          </a:xfrm>
          <a:prstGeom prst="rect">
            <a:avLst/>
          </a:prstGeom>
          <a:solidFill>
            <a:srgbClr val="FF6600">
              <a:alpha val="3372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3" name="Google Shape;1273;p48"/>
          <p:cNvSpPr/>
          <p:nvPr/>
        </p:nvSpPr>
        <p:spPr>
          <a:xfrm>
            <a:off x="3394075" y="2465388"/>
            <a:ext cx="528638" cy="265112"/>
          </a:xfrm>
          <a:prstGeom prst="rect">
            <a:avLst/>
          </a:prstGeom>
          <a:solidFill>
            <a:srgbClr val="FF6600">
              <a:alpha val="3372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4" name="Google Shape;1274;p48"/>
          <p:cNvSpPr txBox="1"/>
          <p:nvPr/>
        </p:nvSpPr>
        <p:spPr>
          <a:xfrm>
            <a:off x="715963" y="4852988"/>
            <a:ext cx="7693025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∙Be sure to read the questions CAREFULLY and COMPLETELY.</a:t>
            </a:r>
            <a:endParaRPr sz="24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5" name="Google Shape;1275;p48"/>
          <p:cNvSpPr/>
          <p:nvPr/>
        </p:nvSpPr>
        <p:spPr>
          <a:xfrm>
            <a:off x="660400" y="3546475"/>
            <a:ext cx="360363" cy="360363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6" name="Google Shape;1276;p48"/>
          <p:cNvSpPr/>
          <p:nvPr/>
        </p:nvSpPr>
        <p:spPr>
          <a:xfrm>
            <a:off x="685800" y="409575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Topic D: Fields AHL</a:t>
            </a:r>
            <a:b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D.4 – Induction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7" name="Google Shape;1277;p48"/>
          <p:cNvSpPr/>
          <p:nvPr/>
        </p:nvSpPr>
        <p:spPr>
          <a:xfrm>
            <a:off x="685800" y="1354138"/>
            <a:ext cx="7772400" cy="452437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Electromagnetic induction problems</a:t>
            </a:r>
            <a:endParaRPr i="1" sz="240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p49"/>
          <p:cNvSpPr/>
          <p:nvPr/>
        </p:nvSpPr>
        <p:spPr>
          <a:xfrm>
            <a:off x="687388" y="1751013"/>
            <a:ext cx="7772400" cy="5122862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283" name="Google Shape;1283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3738" y="1835150"/>
            <a:ext cx="7754937" cy="24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4" name="Google Shape;1284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32438" y="4265613"/>
            <a:ext cx="3611562" cy="2295525"/>
          </a:xfrm>
          <a:prstGeom prst="rect">
            <a:avLst/>
          </a:prstGeom>
          <a:noFill/>
          <a:ln>
            <a:noFill/>
          </a:ln>
        </p:spPr>
      </p:pic>
      <p:sp>
        <p:nvSpPr>
          <p:cNvPr id="1285" name="Google Shape;1285;p49"/>
          <p:cNvSpPr/>
          <p:nvPr/>
        </p:nvSpPr>
        <p:spPr>
          <a:xfrm>
            <a:off x="5775325" y="4462463"/>
            <a:ext cx="360363" cy="1936750"/>
          </a:xfrm>
          <a:custGeom>
            <a:rect b="b" l="l" r="r" t="t"/>
            <a:pathLst>
              <a:path extrusionOk="0" h="1167" w="280">
                <a:moveTo>
                  <a:pt x="280" y="1167"/>
                </a:moveTo>
                <a:lnTo>
                  <a:pt x="280" y="0"/>
                </a:ln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86" name="Google Shape;1286;p49"/>
          <p:cNvCxnSpPr/>
          <p:nvPr/>
        </p:nvCxnSpPr>
        <p:spPr>
          <a:xfrm>
            <a:off x="6954838" y="2643188"/>
            <a:ext cx="744537" cy="0"/>
          </a:xfrm>
          <a:prstGeom prst="straightConnector1">
            <a:avLst/>
          </a:prstGeom>
          <a:noFill/>
          <a:ln cap="flat" cmpd="sng" w="38100">
            <a:solidFill>
              <a:srgbClr val="008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87" name="Google Shape;1287;p49"/>
          <p:cNvSpPr txBox="1"/>
          <p:nvPr/>
        </p:nvSpPr>
        <p:spPr>
          <a:xfrm>
            <a:off x="7421563" y="2635250"/>
            <a:ext cx="3571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1" i="1" sz="2400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88" name="Google Shape;1288;p49"/>
          <p:cNvCxnSpPr/>
          <p:nvPr/>
        </p:nvCxnSpPr>
        <p:spPr>
          <a:xfrm>
            <a:off x="6965950" y="2740025"/>
            <a:ext cx="395288" cy="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89" name="Google Shape;1289;p49"/>
          <p:cNvSpPr txBox="1"/>
          <p:nvPr/>
        </p:nvSpPr>
        <p:spPr>
          <a:xfrm>
            <a:off x="6619875" y="2568575"/>
            <a:ext cx="3571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1" i="1" sz="2400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0" name="Google Shape;1290;p49"/>
          <p:cNvSpPr/>
          <p:nvPr/>
        </p:nvSpPr>
        <p:spPr>
          <a:xfrm>
            <a:off x="685800" y="409575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Topic D: Fields AHL</a:t>
            </a:r>
            <a:b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D.4 – Induction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1" name="Google Shape;1291;p49"/>
          <p:cNvSpPr/>
          <p:nvPr/>
        </p:nvSpPr>
        <p:spPr>
          <a:xfrm>
            <a:off x="685800" y="1354138"/>
            <a:ext cx="7772400" cy="452437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Electromagnetic induction problems</a:t>
            </a:r>
            <a:endParaRPr i="1" sz="240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2" name="Google Shape;1292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1200" y="4257675"/>
            <a:ext cx="4911725" cy="2239963"/>
          </a:xfrm>
          <a:prstGeom prst="rect">
            <a:avLst/>
          </a:prstGeom>
          <a:noFill/>
          <a:ln>
            <a:noFill/>
          </a:ln>
        </p:spPr>
      </p:pic>
      <p:sp>
        <p:nvSpPr>
          <p:cNvPr id="1293" name="Google Shape;1293;p49"/>
          <p:cNvSpPr txBox="1"/>
          <p:nvPr/>
        </p:nvSpPr>
        <p:spPr>
          <a:xfrm>
            <a:off x="1846263" y="5456238"/>
            <a:ext cx="28225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i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= 3.3×10</a:t>
            </a:r>
            <a:r>
              <a:rPr baseline="30000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-2</a:t>
            </a: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T.</a:t>
            </a:r>
            <a:endParaRPr i="1" sz="24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4" name="Google Shape;1294;p49"/>
          <p:cNvSpPr txBox="1"/>
          <p:nvPr/>
        </p:nvSpPr>
        <p:spPr>
          <a:xfrm>
            <a:off x="1743075" y="6438900"/>
            <a:ext cx="67071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i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NBA</a:t>
            </a: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= 250(3.3×10</a:t>
            </a:r>
            <a:r>
              <a:rPr baseline="30000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-2</a:t>
            </a: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)(1.7×10</a:t>
            </a:r>
            <a:r>
              <a:rPr baseline="30000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-4</a:t>
            </a: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) = 0.0014 Wb.</a:t>
            </a:r>
            <a:endParaRPr baseline="30000" sz="24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5" name="Google Shape;1295;p49"/>
          <p:cNvSpPr txBox="1"/>
          <p:nvPr/>
        </p:nvSpPr>
        <p:spPr>
          <a:xfrm>
            <a:off x="5949950" y="965200"/>
            <a:ext cx="30495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i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flux link. </a:t>
            </a: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i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N</a:t>
            </a: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Φ</a:t>
            </a:r>
            <a:endParaRPr i="1" sz="24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6" name="Google Shape;1296;p49"/>
          <p:cNvSpPr txBox="1"/>
          <p:nvPr/>
        </p:nvSpPr>
        <p:spPr>
          <a:xfrm>
            <a:off x="7200900" y="1296988"/>
            <a:ext cx="20986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i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NBA</a:t>
            </a:r>
            <a:r>
              <a:rPr baseline="-25000" i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cos</a:t>
            </a:r>
            <a:r>
              <a:rPr baseline="-25000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0º</a:t>
            </a:r>
            <a:endParaRPr/>
          </a:p>
        </p:txBody>
      </p:sp>
      <p:sp>
        <p:nvSpPr>
          <p:cNvPr id="1297" name="Google Shape;1297;p49"/>
          <p:cNvSpPr txBox="1"/>
          <p:nvPr/>
        </p:nvSpPr>
        <p:spPr>
          <a:xfrm>
            <a:off x="7197725" y="1601788"/>
            <a:ext cx="16652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i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NBA</a:t>
            </a:r>
            <a:endParaRPr sz="24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p50"/>
          <p:cNvSpPr/>
          <p:nvPr/>
        </p:nvSpPr>
        <p:spPr>
          <a:xfrm>
            <a:off x="687388" y="1687513"/>
            <a:ext cx="7772400" cy="5170487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03" name="Google Shape;1303;p50"/>
          <p:cNvSpPr/>
          <p:nvPr/>
        </p:nvSpPr>
        <p:spPr>
          <a:xfrm>
            <a:off x="685800" y="409575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Topic D: Fields AHL</a:t>
            </a:r>
            <a:b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D.4 – Induction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4" name="Google Shape;1304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3738" y="1835150"/>
            <a:ext cx="7754937" cy="24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5" name="Google Shape;1305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32438" y="4265613"/>
            <a:ext cx="3611562" cy="2295525"/>
          </a:xfrm>
          <a:prstGeom prst="rect">
            <a:avLst/>
          </a:prstGeom>
          <a:noFill/>
          <a:ln>
            <a:noFill/>
          </a:ln>
        </p:spPr>
      </p:pic>
      <p:sp>
        <p:nvSpPr>
          <p:cNvPr id="1306" name="Google Shape;1306;p50"/>
          <p:cNvSpPr/>
          <p:nvPr/>
        </p:nvSpPr>
        <p:spPr>
          <a:xfrm>
            <a:off x="685800" y="1354138"/>
            <a:ext cx="7772400" cy="452437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Electromagnetic induction problems</a:t>
            </a:r>
            <a:endParaRPr i="1" sz="240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7" name="Google Shape;1307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6913" y="4268788"/>
            <a:ext cx="4584700" cy="99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8" name="Google Shape;1308;p5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96975" y="5295900"/>
            <a:ext cx="4219575" cy="9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9" name="Google Shape;1309;p50"/>
          <p:cNvSpPr/>
          <p:nvPr/>
        </p:nvSpPr>
        <p:spPr>
          <a:xfrm>
            <a:off x="5775325" y="5748338"/>
            <a:ext cx="2297113" cy="638175"/>
          </a:xfrm>
          <a:custGeom>
            <a:rect b="b" l="l" r="r" t="t"/>
            <a:pathLst>
              <a:path extrusionOk="0" h="1167" w="280">
                <a:moveTo>
                  <a:pt x="280" y="1167"/>
                </a:moveTo>
                <a:lnTo>
                  <a:pt x="280" y="0"/>
                </a:ln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0" name="Google Shape;1310;p50"/>
          <p:cNvSpPr/>
          <p:nvPr/>
        </p:nvSpPr>
        <p:spPr>
          <a:xfrm>
            <a:off x="5541963" y="6186488"/>
            <a:ext cx="2203450" cy="300037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1" name="Google Shape;1311;p50"/>
          <p:cNvSpPr txBox="1"/>
          <p:nvPr/>
        </p:nvSpPr>
        <p:spPr>
          <a:xfrm>
            <a:off x="1338263" y="6100763"/>
            <a:ext cx="67071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∙</a:t>
            </a:r>
            <a:r>
              <a:rPr i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NBA</a:t>
            </a: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= 250(1.7×10</a:t>
            </a:r>
            <a:r>
              <a:rPr baseline="30000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-2</a:t>
            </a: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)(1.7×10</a:t>
            </a:r>
            <a:r>
              <a:rPr baseline="30000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-4</a:t>
            </a: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) = 0.0007 Wb.</a:t>
            </a:r>
            <a:endParaRPr baseline="30000" sz="24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2" name="Google Shape;1312;p50"/>
          <p:cNvSpPr txBox="1"/>
          <p:nvPr/>
        </p:nvSpPr>
        <p:spPr>
          <a:xfrm>
            <a:off x="1336675" y="6445250"/>
            <a:ext cx="71278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∙Δ</a:t>
            </a:r>
            <a:r>
              <a:rPr i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NBA</a:t>
            </a: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= 0.0014 - 0.0007 = 0.0007 Wb.</a:t>
            </a:r>
            <a:endParaRPr baseline="30000" sz="24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3" name="Google Shape;1313;p50"/>
          <p:cNvSpPr/>
          <p:nvPr/>
        </p:nvSpPr>
        <p:spPr>
          <a:xfrm>
            <a:off x="6450013" y="5327650"/>
            <a:ext cx="2203450" cy="300038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4" name="Google Shape;1314;p50"/>
          <p:cNvSpPr txBox="1"/>
          <p:nvPr/>
        </p:nvSpPr>
        <p:spPr>
          <a:xfrm>
            <a:off x="6448425" y="5272088"/>
            <a:ext cx="247491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= 1.7×10</a:t>
            </a:r>
            <a:r>
              <a:rPr baseline="30000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-2</a:t>
            </a: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T.</a:t>
            </a:r>
            <a:endParaRPr i="1" sz="24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8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p51"/>
          <p:cNvSpPr/>
          <p:nvPr/>
        </p:nvSpPr>
        <p:spPr>
          <a:xfrm>
            <a:off x="687388" y="1725613"/>
            <a:ext cx="7772400" cy="5122862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20" name="Google Shape;1320;p51"/>
          <p:cNvSpPr/>
          <p:nvPr/>
        </p:nvSpPr>
        <p:spPr>
          <a:xfrm>
            <a:off x="685800" y="409575"/>
            <a:ext cx="7772400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Topic D: Fields AHL</a:t>
            </a:r>
            <a:b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D.4 – Induction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1" name="Google Shape;1321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3738" y="1835150"/>
            <a:ext cx="7754937" cy="24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2" name="Google Shape;1322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32438" y="4265613"/>
            <a:ext cx="3611562" cy="22955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3" name="Google Shape;1323;p51"/>
          <p:cNvSpPr/>
          <p:nvPr/>
        </p:nvSpPr>
        <p:spPr>
          <a:xfrm>
            <a:off x="685800" y="1354138"/>
            <a:ext cx="7772400" cy="452437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Electromagnetic induction problems</a:t>
            </a:r>
            <a:endParaRPr i="1" sz="240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4" name="Google Shape;1324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6913" y="4268788"/>
            <a:ext cx="4584700" cy="99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5" name="Google Shape;1325;p5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50" y="5273675"/>
            <a:ext cx="4354513" cy="6111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6" name="Google Shape;1326;p51"/>
          <p:cNvSpPr txBox="1"/>
          <p:nvPr/>
        </p:nvSpPr>
        <p:spPr>
          <a:xfrm>
            <a:off x="1454150" y="5848350"/>
            <a:ext cx="28225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∙ε = </a:t>
            </a:r>
            <a:r>
              <a:rPr i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aseline="-25000" i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ΔΦ </a:t>
            </a:r>
            <a:r>
              <a:rPr i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Δ</a:t>
            </a:r>
            <a:r>
              <a:rPr i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/>
          </a:p>
        </p:txBody>
      </p:sp>
      <p:sp>
        <p:nvSpPr>
          <p:cNvPr id="1327" name="Google Shape;1327;p51"/>
          <p:cNvSpPr txBox="1"/>
          <p:nvPr/>
        </p:nvSpPr>
        <p:spPr>
          <a:xfrm>
            <a:off x="1454150" y="6275388"/>
            <a:ext cx="430053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∙ε = 0.0007 </a:t>
            </a:r>
            <a:r>
              <a:rPr i="1"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0.35 = 0.002 V.</a:t>
            </a:r>
            <a:endParaRPr i="1" sz="240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
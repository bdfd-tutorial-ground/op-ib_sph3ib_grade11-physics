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2014 By Timothy K. Lund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93" name="Google Shape;9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2014 By Timothy K. Lund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00" name="Google Shape;10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2014 By Timothy K. Lund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07" name="Google Shape;10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2014 By Timothy K. Lund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2014 By Timothy K. Lund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2014 By Timothy K. Lund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2014 By Timothy K. Lund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2014 By Timothy K. Lund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2014 By Timothy K. Lund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2014 By Timothy K. Lund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2014 By Timothy K. Lund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2014 By Timothy K. Lund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2014 By Timothy K. Lund</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2014 By Timothy K. Lund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2014 By Timothy K. Lund</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2014 By Timothy K. Lund</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2014 By Timothy K. Lund</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6" name="Google Shape;526;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9" name="Google Shape;549;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0" name="Google Shape;600;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6" name="Google Shape;696;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2" name="Google Shape;752;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8" name="Google Shape;808;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5" name="Google Shape;815;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4" name="Google Shape;834;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7" name="Google Shape;847;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2" name="Google Shape;862;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7" name="Google Shape;877;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1" name="Google Shape;891;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8" name="Google Shape;898;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5" name="Google Shape;905;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6" name="Google Shape;926;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4" name="Google Shape;944;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5" name="Google Shape;955;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3" name="Google Shape;973;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9" name="Google Shape;989;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5" name="Google Shape;1015;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5" name="Google Shape;1035;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51" name="Google Shape;1051;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2" name="Google Shape;1052;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58" name="Google Shape;1058;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9" name="Google Shape;1059;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67" name="Google Shape;1067;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8" name="Google Shape;1068;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76" name="Google Shape;1076;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7" name="Google Shape;1077;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86" name="Google Shape;1086;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7" name="Google Shape;1087;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96" name="Google Shape;1096;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7" name="Google Shape;1097;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p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07" name="Google Shape;1107;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8" name="Google Shape;1108;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16" name="Google Shape;1116;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7" name="Google Shape;1117;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p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25" name="Google Shape;1125;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6" name="Google Shape;1126;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34" name="Google Shape;1134;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5" name="Google Shape;1135;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18" name="Google Shape;18;p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marR="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marR="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marR="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marR="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marR="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marR="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marR="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marR="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marR="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marR="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marR="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marR="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marR="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marR="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marR="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marR="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34" name="Google Shape;34;p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41" name="Google Shape;41;p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50" name="Google Shape;50;p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62" name="Google Shape;62;p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69" name="Google Shape;69;p1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gif"/><Relationship Id="rId5" Type="http://schemas.openxmlformats.org/officeDocument/2006/relationships/image" Target="../media/image6.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0.jpg"/><Relationship Id="rId4" Type="http://schemas.openxmlformats.org/officeDocument/2006/relationships/image" Target="../media/image11.png"/><Relationship Id="rId5" Type="http://schemas.openxmlformats.org/officeDocument/2006/relationships/image" Target="../media/image18.png"/><Relationship Id="rId6"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8.png"/><Relationship Id="rId4" Type="http://schemas.openxmlformats.org/officeDocument/2006/relationships/image" Target="../media/image23.png"/><Relationship Id="rId5"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5.png"/><Relationship Id="rId4" Type="http://schemas.openxmlformats.org/officeDocument/2006/relationships/image" Target="../media/image2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4.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4.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24.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24.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24.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24.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24.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24.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2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p:nvPr/>
        </p:nvSpPr>
        <p:spPr>
          <a:xfrm>
            <a:off x="685800" y="1549400"/>
            <a:ext cx="7772400" cy="4059238"/>
          </a:xfrm>
          <a:prstGeom prst="rect">
            <a:avLst/>
          </a:prstGeom>
          <a:solidFill>
            <a:srgbClr val="EAEAEA"/>
          </a:solidFill>
          <a:ln>
            <a:noFill/>
          </a:ln>
        </p:spPr>
        <p:txBody>
          <a:bodyPr anchorCtr="0" anchor="t" bIns="45700" lIns="91425" spcFirstLastPara="1" rIns="91425" wrap="square" tIns="45700">
            <a:noAutofit/>
          </a:bodyPr>
          <a:lstStyle/>
          <a:p>
            <a:pPr indent="-625475" lvl="0" marL="625475" marR="0" rtl="0" algn="l">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Guiding questions</a:t>
            </a:r>
            <a:endParaRPr/>
          </a:p>
          <a:p>
            <a:pPr indent="-625475" lvl="0" marL="625475" marR="0" rtl="0" algn="l">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Which experiments provided evidence to determine the nature of the electron?</a:t>
            </a:r>
            <a:endParaRPr/>
          </a:p>
          <a:p>
            <a:pPr indent="-625475" lvl="0" marL="625475" marR="0" rtl="0" algn="l">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How can the properties of fields be understood using both an algebraic approach and a visual</a:t>
            </a:r>
            <a:endParaRPr/>
          </a:p>
          <a:p>
            <a:pPr indent="-625475" lvl="0" marL="625475" marR="0" rtl="0" algn="l">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representation?</a:t>
            </a:r>
            <a:endParaRPr/>
          </a:p>
        </p:txBody>
      </p:sp>
      <p:sp>
        <p:nvSpPr>
          <p:cNvPr id="90" name="Google Shape;90;p13"/>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
                                            <p:txEl>
                                              <p:pRg end="0" st="0"/>
                                            </p:txEl>
                                          </p:spTgt>
                                        </p:tgtEl>
                                        <p:attrNameLst>
                                          <p:attrName>style.visibility</p:attrName>
                                        </p:attrNameLst>
                                      </p:cBhvr>
                                      <p:to>
                                        <p:strVal val="visible"/>
                                      </p:to>
                                    </p:set>
                                    <p:anim calcmode="lin" valueType="num">
                                      <p:cBhvr additive="base">
                                        <p:cTn dur="500"/>
                                        <p:tgtEl>
                                          <p:spTgt spid="8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
                                            <p:txEl>
                                              <p:pRg end="1" st="1"/>
                                            </p:txEl>
                                          </p:spTgt>
                                        </p:tgtEl>
                                        <p:attrNameLst>
                                          <p:attrName>style.visibility</p:attrName>
                                        </p:attrNameLst>
                                      </p:cBhvr>
                                      <p:to>
                                        <p:strVal val="visible"/>
                                      </p:to>
                                    </p:set>
                                    <p:anim calcmode="lin" valueType="num">
                                      <p:cBhvr additive="base">
                                        <p:cTn dur="500"/>
                                        <p:tgtEl>
                                          <p:spTgt spid="8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
                                            <p:txEl>
                                              <p:pRg end="2" st="2"/>
                                            </p:txEl>
                                          </p:spTgt>
                                        </p:tgtEl>
                                        <p:attrNameLst>
                                          <p:attrName>style.visibility</p:attrName>
                                        </p:attrNameLst>
                                      </p:cBhvr>
                                      <p:to>
                                        <p:strVal val="visible"/>
                                      </p:to>
                                    </p:set>
                                    <p:anim calcmode="lin" valueType="num">
                                      <p:cBhvr additive="base">
                                        <p:cTn dur="500"/>
                                        <p:tgtEl>
                                          <p:spTgt spid="8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
                                            <p:txEl>
                                              <p:pRg end="3" st="3"/>
                                            </p:txEl>
                                          </p:spTgt>
                                        </p:tgtEl>
                                        <p:attrNameLst>
                                          <p:attrName>style.visibility</p:attrName>
                                        </p:attrNameLst>
                                      </p:cBhvr>
                                      <p:to>
                                        <p:strVal val="visible"/>
                                      </p:to>
                                    </p:set>
                                    <p:anim calcmode="lin" valueType="num">
                                      <p:cBhvr additive="base">
                                        <p:cTn dur="500"/>
                                        <p:tgtEl>
                                          <p:spTgt spid="8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p:nvPr/>
        </p:nvSpPr>
        <p:spPr>
          <a:xfrm>
            <a:off x="685800" y="1549400"/>
            <a:ext cx="7772400" cy="3418700"/>
          </a:xfrm>
          <a:prstGeom prst="rect">
            <a:avLst/>
          </a:prstGeom>
          <a:solidFill>
            <a:srgbClr val="EAEAEA"/>
          </a:solidFill>
          <a:ln>
            <a:noFill/>
          </a:ln>
        </p:spPr>
        <p:txBody>
          <a:bodyPr anchorCtr="0" anchor="t" bIns="45700" lIns="91425" spcFirstLastPara="1" rIns="91425" wrap="square" tIns="45700">
            <a:noAutofit/>
          </a:bodyPr>
          <a:lstStyle/>
          <a:p>
            <a:pPr indent="-625475" lvl="0" marL="625475" marR="0" rtl="0" algn="l">
              <a:spcBef>
                <a:spcPts val="0"/>
              </a:spcBef>
              <a:spcAft>
                <a:spcPts val="0"/>
              </a:spcAft>
              <a:buClr>
                <a:schemeClr val="accent2"/>
              </a:buClr>
              <a:buSzPts val="2400"/>
              <a:buFont typeface="Arial"/>
              <a:buNone/>
            </a:pPr>
            <a:r>
              <a:rPr b="1" i="0" lang="en-US" sz="2400" u="none" cap="none" strike="noStrike">
                <a:solidFill>
                  <a:schemeClr val="accent2"/>
                </a:solidFill>
                <a:latin typeface="Arial"/>
                <a:ea typeface="Arial"/>
                <a:cs typeface="Arial"/>
                <a:sym typeface="Arial"/>
              </a:rPr>
              <a:t>Understandings: </a:t>
            </a:r>
            <a:endParaRPr b="0" i="0" sz="2400" u="none" cap="none" strike="noStrike">
              <a:solidFill>
                <a:schemeClr val="accent2"/>
              </a:solidFill>
              <a:latin typeface="Arial"/>
              <a:ea typeface="Arial"/>
              <a:cs typeface="Arial"/>
              <a:sym typeface="Arial"/>
            </a:endParaRPr>
          </a:p>
          <a:p>
            <a:pPr indent="-625475" lvl="0" marL="625475" marR="0" rtl="0" algn="l">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Students should understand:</a:t>
            </a:r>
            <a:endParaRPr/>
          </a:p>
          <a:p>
            <a:pPr indent="-625475" lvl="0" marL="625475" marR="0" rtl="0" algn="l">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the direction of forces between the two types of electric charge</a:t>
            </a:r>
            <a:endParaRPr/>
          </a:p>
          <a:p>
            <a:pPr indent="-625475" lvl="0" marL="625475" marR="0" rtl="0" algn="l">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•Coulomb’s law as given by F = kq</a:t>
            </a:r>
            <a:r>
              <a:rPr b="0" baseline="-25000" i="0" lang="en-US" sz="2400" u="none" cap="none" strike="noStrike">
                <a:solidFill>
                  <a:schemeClr val="accent2"/>
                </a:solidFill>
                <a:latin typeface="Arial"/>
                <a:ea typeface="Arial"/>
                <a:cs typeface="Arial"/>
                <a:sym typeface="Arial"/>
              </a:rPr>
              <a:t>1</a:t>
            </a:r>
            <a:r>
              <a:rPr b="0" i="0" lang="en-US" sz="2400" u="none" cap="none" strike="noStrike">
                <a:solidFill>
                  <a:schemeClr val="accent2"/>
                </a:solidFill>
                <a:latin typeface="Arial"/>
                <a:ea typeface="Arial"/>
                <a:cs typeface="Arial"/>
                <a:sym typeface="Arial"/>
              </a:rPr>
              <a:t>q</a:t>
            </a:r>
            <a:r>
              <a:rPr b="0" baseline="-25000" i="0" lang="en-US" sz="2400" u="none" cap="none" strike="noStrike">
                <a:solidFill>
                  <a:schemeClr val="accent2"/>
                </a:solidFill>
                <a:latin typeface="Arial"/>
                <a:ea typeface="Arial"/>
                <a:cs typeface="Arial"/>
                <a:sym typeface="Arial"/>
              </a:rPr>
              <a:t>2</a:t>
            </a:r>
            <a:r>
              <a:rPr b="0" i="0" lang="en-US" sz="2400" u="none" cap="none" strike="noStrike">
                <a:solidFill>
                  <a:schemeClr val="accent2"/>
                </a:solidFill>
                <a:latin typeface="Arial"/>
                <a:ea typeface="Arial"/>
                <a:cs typeface="Arial"/>
                <a:sym typeface="Arial"/>
              </a:rPr>
              <a:t>/r</a:t>
            </a:r>
            <a:r>
              <a:rPr b="0" baseline="30000" i="0" lang="en-US" sz="2400" u="none" cap="none" strike="noStrike">
                <a:solidFill>
                  <a:schemeClr val="accent2"/>
                </a:solidFill>
                <a:latin typeface="Arial"/>
                <a:ea typeface="Arial"/>
                <a:cs typeface="Arial"/>
                <a:sym typeface="Arial"/>
              </a:rPr>
              <a:t>2</a:t>
            </a:r>
            <a:r>
              <a:rPr b="0" i="0" lang="en-US" sz="2400" u="none" cap="none" strike="noStrike">
                <a:solidFill>
                  <a:schemeClr val="accent2"/>
                </a:solidFill>
                <a:latin typeface="Arial"/>
                <a:ea typeface="Arial"/>
                <a:cs typeface="Arial"/>
                <a:sym typeface="Arial"/>
              </a:rPr>
              <a:t> for charged bodies treated as point charges where k = 1/4πε</a:t>
            </a:r>
            <a:r>
              <a:rPr b="0" baseline="-25000" i="0" lang="en-US" sz="2400" u="none" cap="none" strike="noStrike">
                <a:solidFill>
                  <a:schemeClr val="accent2"/>
                </a:solidFill>
                <a:latin typeface="Arial"/>
                <a:ea typeface="Arial"/>
                <a:cs typeface="Arial"/>
                <a:sym typeface="Arial"/>
              </a:rPr>
              <a:t>0</a:t>
            </a:r>
            <a:endParaRPr/>
          </a:p>
          <a:p>
            <a:pPr indent="-625475" lvl="0" marL="625475" marR="0" rtl="0" algn="l">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the conservation of electric charge</a:t>
            </a:r>
            <a:endParaRPr/>
          </a:p>
          <a:p>
            <a:pPr indent="-625475" lvl="0" marL="625475" marR="0" rtl="0" algn="l">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Millikan’s experiment as evidence for quantization of electric charge</a:t>
            </a:r>
            <a:endParaRPr/>
          </a:p>
        </p:txBody>
      </p:sp>
      <p:sp>
        <p:nvSpPr>
          <p:cNvPr id="97" name="Google Shape;97;p14"/>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D: Fields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D.2 – Electric fields (SL)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anim calcmode="lin" valueType="num">
                                      <p:cBhvr additive="base">
                                        <p:cTn dur="500"/>
                                        <p:tgtEl>
                                          <p:spTgt spid="9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1" st="1"/>
                                            </p:txEl>
                                          </p:spTgt>
                                        </p:tgtEl>
                                        <p:attrNameLst>
                                          <p:attrName>style.visibility</p:attrName>
                                        </p:attrNameLst>
                                      </p:cBhvr>
                                      <p:to>
                                        <p:strVal val="visible"/>
                                      </p:to>
                                    </p:set>
                                    <p:anim calcmode="lin" valueType="num">
                                      <p:cBhvr additive="base">
                                        <p:cTn dur="500"/>
                                        <p:tgtEl>
                                          <p:spTgt spid="9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2" st="2"/>
                                            </p:txEl>
                                          </p:spTgt>
                                        </p:tgtEl>
                                        <p:attrNameLst>
                                          <p:attrName>style.visibility</p:attrName>
                                        </p:attrNameLst>
                                      </p:cBhvr>
                                      <p:to>
                                        <p:strVal val="visible"/>
                                      </p:to>
                                    </p:set>
                                    <p:anim calcmode="lin" valueType="num">
                                      <p:cBhvr additive="base">
                                        <p:cTn dur="500"/>
                                        <p:tgtEl>
                                          <p:spTgt spid="9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3" st="3"/>
                                            </p:txEl>
                                          </p:spTgt>
                                        </p:tgtEl>
                                        <p:attrNameLst>
                                          <p:attrName>style.visibility</p:attrName>
                                        </p:attrNameLst>
                                      </p:cBhvr>
                                      <p:to>
                                        <p:strVal val="visible"/>
                                      </p:to>
                                    </p:set>
                                    <p:anim calcmode="lin" valueType="num">
                                      <p:cBhvr additive="base">
                                        <p:cTn dur="500"/>
                                        <p:tgtEl>
                                          <p:spTgt spid="9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4" st="4"/>
                                            </p:txEl>
                                          </p:spTgt>
                                        </p:tgtEl>
                                        <p:attrNameLst>
                                          <p:attrName>style.visibility</p:attrName>
                                        </p:attrNameLst>
                                      </p:cBhvr>
                                      <p:to>
                                        <p:strVal val="visible"/>
                                      </p:to>
                                    </p:set>
                                    <p:anim calcmode="lin" valueType="num">
                                      <p:cBhvr additive="base">
                                        <p:cTn dur="500"/>
                                        <p:tgtEl>
                                          <p:spTgt spid="9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5" st="5"/>
                                            </p:txEl>
                                          </p:spTgt>
                                        </p:tgtEl>
                                        <p:attrNameLst>
                                          <p:attrName>style.visibility</p:attrName>
                                        </p:attrNameLst>
                                      </p:cBhvr>
                                      <p:to>
                                        <p:strVal val="visible"/>
                                      </p:to>
                                    </p:set>
                                    <p:anim calcmode="lin" valueType="num">
                                      <p:cBhvr additive="base">
                                        <p:cTn dur="500"/>
                                        <p:tgtEl>
                                          <p:spTgt spid="9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p:nvPr/>
        </p:nvSpPr>
        <p:spPr>
          <a:xfrm>
            <a:off x="685800" y="1549400"/>
            <a:ext cx="7772400" cy="4076056"/>
          </a:xfrm>
          <a:prstGeom prst="rect">
            <a:avLst/>
          </a:prstGeom>
          <a:solidFill>
            <a:srgbClr val="EAEAEA"/>
          </a:solidFill>
          <a:ln>
            <a:noFill/>
          </a:ln>
        </p:spPr>
        <p:txBody>
          <a:bodyPr anchorCtr="0" anchor="t" bIns="45700" lIns="91425" spcFirstLastPara="1" rIns="91425" wrap="square" tIns="45700">
            <a:noAutofit/>
          </a:bodyPr>
          <a:lstStyle/>
          <a:p>
            <a:pPr indent="-625475" lvl="0" marL="625475" marR="0" rtl="0" algn="l">
              <a:spcBef>
                <a:spcPts val="0"/>
              </a:spcBef>
              <a:spcAft>
                <a:spcPts val="0"/>
              </a:spcAft>
              <a:buClr>
                <a:schemeClr val="accent2"/>
              </a:buClr>
              <a:buSzPts val="2400"/>
              <a:buFont typeface="Arial"/>
              <a:buNone/>
            </a:pPr>
            <a:r>
              <a:rPr b="1" i="0" lang="en-US" sz="2400" u="none" cap="none" strike="noStrike">
                <a:solidFill>
                  <a:schemeClr val="accent2"/>
                </a:solidFill>
                <a:latin typeface="Arial"/>
                <a:ea typeface="Arial"/>
                <a:cs typeface="Arial"/>
                <a:sym typeface="Arial"/>
              </a:rPr>
              <a:t>Understandings: </a:t>
            </a:r>
            <a:endParaRPr b="0" i="0" sz="2400" u="none" cap="none" strike="noStrike">
              <a:solidFill>
                <a:schemeClr val="accent2"/>
              </a:solidFill>
              <a:latin typeface="Arial"/>
              <a:ea typeface="Arial"/>
              <a:cs typeface="Arial"/>
              <a:sym typeface="Arial"/>
            </a:endParaRPr>
          </a:p>
          <a:p>
            <a:pPr indent="-625475" lvl="0" marL="625475" marR="0" rtl="0" algn="l">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Students should understand:</a:t>
            </a:r>
            <a:endParaRPr/>
          </a:p>
          <a:p>
            <a:pPr indent="-625475" lvl="0" marL="625475" marR="0" rtl="0" algn="l">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that the electric charge can be transferred between bodies using friction, electrostatic induction and by contact, including the role of grounding (earthing)</a:t>
            </a:r>
            <a:endParaRPr/>
          </a:p>
          <a:p>
            <a:pPr indent="-625475" lvl="0" marL="625475" marR="0" rtl="0" algn="l">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the electric field strength as given by E = F/q</a:t>
            </a:r>
            <a:endParaRPr/>
          </a:p>
          <a:p>
            <a:pPr indent="-625475" lvl="0" marL="625475" marR="0" rtl="0" algn="l">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electric field lines</a:t>
            </a:r>
            <a:endParaRPr/>
          </a:p>
          <a:p>
            <a:pPr indent="-625475" lvl="0" marL="625475" marR="0" rtl="0" algn="l">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the relationship between field line density and field strength</a:t>
            </a:r>
            <a:endParaRPr/>
          </a:p>
          <a:p>
            <a:pPr indent="-625475" lvl="0" marL="625475" marR="0" rtl="0" algn="l">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the uniform electric field strength between parallel plates as given by E = V/d</a:t>
            </a:r>
            <a:endParaRPr b="1" i="0" sz="2400" u="none" cap="none" strike="noStrike">
              <a:solidFill>
                <a:schemeClr val="accent2"/>
              </a:solidFill>
              <a:latin typeface="Arial"/>
              <a:ea typeface="Arial"/>
              <a:cs typeface="Arial"/>
              <a:sym typeface="Arial"/>
            </a:endParaRPr>
          </a:p>
        </p:txBody>
      </p:sp>
      <p:sp>
        <p:nvSpPr>
          <p:cNvPr id="104" name="Google Shape;104;p15"/>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D: Fields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D.2 – Electric fields (SL)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anim calcmode="lin" valueType="num">
                                      <p:cBhvr additive="base">
                                        <p:cTn dur="500"/>
                                        <p:tgtEl>
                                          <p:spTgt spid="10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anim calcmode="lin" valueType="num">
                                      <p:cBhvr additive="base">
                                        <p:cTn dur="500"/>
                                        <p:tgtEl>
                                          <p:spTgt spid="10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anim calcmode="lin" valueType="num">
                                      <p:cBhvr additive="base">
                                        <p:cTn dur="500"/>
                                        <p:tgtEl>
                                          <p:spTgt spid="10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anim calcmode="lin" valueType="num">
                                      <p:cBhvr additive="base">
                                        <p:cTn dur="500"/>
                                        <p:tgtEl>
                                          <p:spTgt spid="10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anim calcmode="lin" valueType="num">
                                      <p:cBhvr additive="base">
                                        <p:cTn dur="500"/>
                                        <p:tgtEl>
                                          <p:spTgt spid="10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anim calcmode="lin" valueType="num">
                                      <p:cBhvr additive="base">
                                        <p:cTn dur="500"/>
                                        <p:tgtEl>
                                          <p:spTgt spid="10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6" st="6"/>
                                            </p:txEl>
                                          </p:spTgt>
                                        </p:tgtEl>
                                        <p:attrNameLst>
                                          <p:attrName>style.visibility</p:attrName>
                                        </p:attrNameLst>
                                      </p:cBhvr>
                                      <p:to>
                                        <p:strVal val="visible"/>
                                      </p:to>
                                    </p:set>
                                    <p:anim calcmode="lin" valueType="num">
                                      <p:cBhvr additive="base">
                                        <p:cTn dur="500"/>
                                        <p:tgtEl>
                                          <p:spTgt spid="10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p:nvPr/>
        </p:nvSpPr>
        <p:spPr>
          <a:xfrm>
            <a:off x="685800" y="1549400"/>
            <a:ext cx="7772400" cy="3748088"/>
          </a:xfrm>
          <a:prstGeom prst="rect">
            <a:avLst/>
          </a:prstGeom>
          <a:solidFill>
            <a:srgbClr val="EAEAEA"/>
          </a:solidFill>
          <a:ln>
            <a:noFill/>
          </a:ln>
        </p:spPr>
        <p:txBody>
          <a:bodyPr anchorCtr="0" anchor="t" bIns="45700" lIns="91425" spcFirstLastPara="1" rIns="91425" wrap="square" tIns="45700">
            <a:noAutofit/>
          </a:bodyPr>
          <a:lstStyle/>
          <a:p>
            <a:pPr indent="-625475" lvl="0" marL="625475" marR="0" rtl="0" algn="l">
              <a:spcBef>
                <a:spcPts val="0"/>
              </a:spcBef>
              <a:spcAft>
                <a:spcPts val="0"/>
              </a:spcAft>
              <a:buClr>
                <a:srgbClr val="FF0000"/>
              </a:buClr>
              <a:buSzPts val="2400"/>
              <a:buFont typeface="Arial"/>
              <a:buNone/>
            </a:pPr>
            <a:r>
              <a:rPr b="1" i="0" lang="en-US" sz="2400" u="none" cap="none" strike="noStrike">
                <a:solidFill>
                  <a:srgbClr val="FF0000"/>
                </a:solidFill>
                <a:latin typeface="Arial"/>
                <a:ea typeface="Arial"/>
                <a:cs typeface="Arial"/>
                <a:sym typeface="Arial"/>
              </a:rPr>
              <a:t>Data booklet reference: </a:t>
            </a:r>
            <a:endParaRPr b="0" i="0" sz="2400" u="none" cap="none" strike="noStrike">
              <a:solidFill>
                <a:srgbClr val="FF0000"/>
              </a:solidFill>
              <a:latin typeface="Arial"/>
              <a:ea typeface="Arial"/>
              <a:cs typeface="Arial"/>
              <a:sym typeface="Arial"/>
            </a:endParaRPr>
          </a:p>
          <a:p>
            <a:pPr indent="-625475" lvl="0" marL="625475" marR="0" rtl="0" algn="l">
              <a:spcBef>
                <a:spcPts val="0"/>
              </a:spcBef>
              <a:spcAft>
                <a:spcPts val="0"/>
              </a:spcAft>
              <a:buClr>
                <a:schemeClr val="dk1"/>
              </a:buClr>
              <a:buSzPts val="2400"/>
              <a:buFont typeface="Arial"/>
              <a:buNone/>
            </a:pPr>
            <a:r>
              <a:t/>
            </a:r>
            <a:endParaRPr b="1" i="1" sz="2400" u="none" cap="none" strike="noStrike">
              <a:solidFill>
                <a:srgbClr val="000000"/>
              </a:solidFill>
              <a:latin typeface="Arial"/>
              <a:ea typeface="Arial"/>
              <a:cs typeface="Arial"/>
              <a:sym typeface="Arial"/>
            </a:endParaRPr>
          </a:p>
        </p:txBody>
      </p:sp>
      <p:sp>
        <p:nvSpPr>
          <p:cNvPr id="111" name="Google Shape;111;p16"/>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D: Fields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D.2 – Electric fields (SL)</a:t>
            </a:r>
            <a:endParaRPr/>
          </a:p>
        </p:txBody>
      </p:sp>
      <p:pic>
        <p:nvPicPr>
          <p:cNvPr id="112" name="Google Shape;112;p16"/>
          <p:cNvPicPr preferRelativeResize="0"/>
          <p:nvPr/>
        </p:nvPicPr>
        <p:blipFill rotWithShape="1">
          <a:blip r:embed="rId3">
            <a:alphaModFix/>
          </a:blip>
          <a:srcRect b="0" l="0" r="0" t="0"/>
          <a:stretch/>
        </p:blipFill>
        <p:spPr>
          <a:xfrm>
            <a:off x="2550920" y="2115245"/>
            <a:ext cx="3656044" cy="249791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anim calcmode="lin" valueType="num">
                                      <p:cBhvr additive="base">
                                        <p:cTn dur="500"/>
                                        <p:tgtEl>
                                          <p:spTgt spid="11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anim calcmode="lin" valueType="num">
                                      <p:cBhvr additive="base">
                                        <p:cTn dur="500"/>
                                        <p:tgtEl>
                                          <p:spTgt spid="11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p:nvPr/>
        </p:nvSpPr>
        <p:spPr>
          <a:xfrm>
            <a:off x="685800" y="1549400"/>
            <a:ext cx="8104782"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b="0" i="1" lang="en-US" sz="2400" u="none" cap="none" strike="noStrike">
                <a:solidFill>
                  <a:schemeClr val="accent2"/>
                </a:solidFill>
                <a:latin typeface="Arial"/>
                <a:ea typeface="Arial"/>
                <a:cs typeface="Arial"/>
                <a:sym typeface="Arial"/>
              </a:rPr>
              <a:t>Coulomb’s law </a:t>
            </a:r>
            <a:r>
              <a:rPr b="0" i="1" lang="en-US" sz="2000" u="none" cap="none" strike="noStrike">
                <a:solidFill>
                  <a:srgbClr val="000000"/>
                </a:solidFill>
                <a:latin typeface="Courier New"/>
                <a:ea typeface="Courier New"/>
                <a:cs typeface="Courier New"/>
                <a:sym typeface="Courier New"/>
              </a:rPr>
              <a:t>	</a:t>
            </a:r>
            <a:endParaRPr/>
          </a:p>
          <a:p>
            <a:pPr indent="0" lvl="0" marL="0" marR="0" rtl="0" algn="l">
              <a:spcBef>
                <a:spcPts val="48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∙Charles-Augustin de Coulomb studied                                charge, and discovered the following relationship (now called “Coulomb’s Law”):</a:t>
            </a:r>
            <a:endParaRPr/>
          </a:p>
          <a:p>
            <a:pPr indent="-342900" lvl="1" marL="1085850" marR="0" rtl="0" algn="l">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The magnitude of the </a:t>
            </a:r>
            <a:r>
              <a:rPr b="1" i="0" lang="en-US" sz="2800" u="none" cap="none" strike="noStrike">
                <a:solidFill>
                  <a:schemeClr val="dk1"/>
                </a:solidFill>
                <a:latin typeface="Arial"/>
                <a:ea typeface="Arial"/>
                <a:cs typeface="Arial"/>
                <a:sym typeface="Arial"/>
              </a:rPr>
              <a:t>electrostatic force</a:t>
            </a:r>
            <a:r>
              <a:rPr b="0" i="0" lang="en-US" sz="2800" u="none" cap="none" strike="noStrike">
                <a:solidFill>
                  <a:schemeClr val="dk1"/>
                </a:solidFill>
                <a:latin typeface="Arial"/>
                <a:ea typeface="Arial"/>
                <a:cs typeface="Arial"/>
                <a:sym typeface="Arial"/>
              </a:rPr>
              <a:t> of interaction between two point charges is </a:t>
            </a:r>
            <a:r>
              <a:rPr b="0" i="0" lang="en-US" sz="2800" u="sng" cap="none" strike="noStrike">
                <a:solidFill>
                  <a:schemeClr val="dk1"/>
                </a:solidFill>
                <a:latin typeface="Arial"/>
                <a:ea typeface="Arial"/>
                <a:cs typeface="Arial"/>
                <a:sym typeface="Arial"/>
              </a:rPr>
              <a:t>directly proportional</a:t>
            </a:r>
            <a:r>
              <a:rPr b="0" i="0" lang="en-US" sz="2800" u="none" cap="none" strike="noStrike">
                <a:solidFill>
                  <a:schemeClr val="dk1"/>
                </a:solidFill>
                <a:latin typeface="Arial"/>
                <a:ea typeface="Arial"/>
                <a:cs typeface="Arial"/>
                <a:sym typeface="Arial"/>
              </a:rPr>
              <a:t> to the scalar </a:t>
            </a:r>
            <a:r>
              <a:rPr b="1" i="0" lang="en-US" sz="2800" u="none" cap="none" strike="noStrike">
                <a:solidFill>
                  <a:schemeClr val="dk1"/>
                </a:solidFill>
                <a:latin typeface="Arial"/>
                <a:ea typeface="Arial"/>
                <a:cs typeface="Arial"/>
                <a:sym typeface="Arial"/>
              </a:rPr>
              <a:t>multiplication of the magnitudes of charges</a:t>
            </a:r>
            <a:r>
              <a:rPr b="0" i="0" lang="en-US" sz="2800" u="none" cap="none" strike="noStrike">
                <a:solidFill>
                  <a:schemeClr val="dk1"/>
                </a:solidFill>
                <a:latin typeface="Arial"/>
                <a:ea typeface="Arial"/>
                <a:cs typeface="Arial"/>
                <a:sym typeface="Arial"/>
              </a:rPr>
              <a:t> and </a:t>
            </a:r>
            <a:r>
              <a:rPr b="0" i="0" lang="en-US" sz="2800" u="sng" cap="none" strike="noStrike">
                <a:solidFill>
                  <a:schemeClr val="dk1"/>
                </a:solidFill>
                <a:latin typeface="Arial"/>
                <a:ea typeface="Arial"/>
                <a:cs typeface="Arial"/>
                <a:sym typeface="Arial"/>
              </a:rPr>
              <a:t>inversely proportional </a:t>
            </a:r>
            <a:r>
              <a:rPr b="0" i="0" lang="en-US" sz="2800" u="none" cap="none" strike="noStrike">
                <a:solidFill>
                  <a:schemeClr val="dk1"/>
                </a:solidFill>
                <a:latin typeface="Arial"/>
                <a:ea typeface="Arial"/>
                <a:cs typeface="Arial"/>
                <a:sym typeface="Arial"/>
              </a:rPr>
              <a:t>to the </a:t>
            </a:r>
            <a:r>
              <a:rPr b="1" i="0" lang="en-US" sz="2800" u="none" cap="none" strike="noStrike">
                <a:solidFill>
                  <a:schemeClr val="dk1"/>
                </a:solidFill>
                <a:latin typeface="Arial"/>
                <a:ea typeface="Arial"/>
                <a:cs typeface="Arial"/>
                <a:sym typeface="Arial"/>
              </a:rPr>
              <a:t>square of the distance </a:t>
            </a:r>
            <a:r>
              <a:rPr b="0" i="0" lang="en-US" sz="2800" u="none" cap="none" strike="noStrike">
                <a:solidFill>
                  <a:schemeClr val="dk1"/>
                </a:solidFill>
                <a:latin typeface="Arial"/>
                <a:ea typeface="Arial"/>
                <a:cs typeface="Arial"/>
                <a:sym typeface="Arial"/>
              </a:rPr>
              <a:t>between them.</a:t>
            </a:r>
            <a:endParaRPr b="0" i="0" sz="2800" u="none" cap="none" strike="noStrike">
              <a:solidFill>
                <a:srgbClr val="000000"/>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pic>
        <p:nvPicPr>
          <p:cNvPr id="118" name="Google Shape;118;p17"/>
          <p:cNvPicPr preferRelativeResize="0"/>
          <p:nvPr/>
        </p:nvPicPr>
        <p:blipFill rotWithShape="1">
          <a:blip r:embed="rId3">
            <a:alphaModFix/>
          </a:blip>
          <a:srcRect b="0" l="0" r="0" t="0"/>
          <a:stretch/>
        </p:blipFill>
        <p:spPr>
          <a:xfrm rot="762272">
            <a:off x="5921375" y="307975"/>
            <a:ext cx="3054350" cy="2017713"/>
          </a:xfrm>
          <a:prstGeom prst="rect">
            <a:avLst/>
          </a:prstGeom>
          <a:noFill/>
          <a:ln>
            <a:noFill/>
          </a:ln>
          <a:effectLst>
            <a:outerShdw blurRad="292100" rotWithShape="0" algn="tl" dir="2700000" dist="139700">
              <a:srgbClr val="333333">
                <a:alpha val="64705"/>
              </a:srgbClr>
            </a:outerShdw>
          </a:effectLst>
        </p:spPr>
      </p:pic>
      <p:sp>
        <p:nvSpPr>
          <p:cNvPr id="119" name="Google Shape;119;p17"/>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pic>
        <p:nvPicPr>
          <p:cNvPr id="120" name="Google Shape;120;p17"/>
          <p:cNvPicPr preferRelativeResize="0"/>
          <p:nvPr/>
        </p:nvPicPr>
        <p:blipFill rotWithShape="1">
          <a:blip r:embed="rId4">
            <a:alphaModFix/>
          </a:blip>
          <a:srcRect b="0" l="0" r="0" t="0"/>
          <a:stretch/>
        </p:blipFill>
        <p:spPr>
          <a:xfrm>
            <a:off x="3221114" y="5759236"/>
            <a:ext cx="1638080" cy="994982"/>
          </a:xfrm>
          <a:prstGeom prst="rect">
            <a:avLst/>
          </a:prstGeom>
          <a:noFill/>
          <a:ln>
            <a:noFill/>
          </a:ln>
        </p:spPr>
      </p:pic>
      <p:pic>
        <p:nvPicPr>
          <p:cNvPr id="121" name="Google Shape;121;p17"/>
          <p:cNvPicPr preferRelativeResize="0"/>
          <p:nvPr/>
        </p:nvPicPr>
        <p:blipFill rotWithShape="1">
          <a:blip r:embed="rId5">
            <a:alphaModFix/>
          </a:blip>
          <a:srcRect b="0" l="0" r="0" t="0"/>
          <a:stretch/>
        </p:blipFill>
        <p:spPr>
          <a:xfrm>
            <a:off x="5344445" y="5759236"/>
            <a:ext cx="1832223" cy="9949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anim calcmode="lin" valueType="num">
                                      <p:cBhvr additive="base">
                                        <p:cTn dur="500"/>
                                        <p:tgtEl>
                                          <p:spTgt spid="11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anim calcmode="lin" valueType="num">
                                      <p:cBhvr additive="base">
                                        <p:cTn dur="500"/>
                                        <p:tgtEl>
                                          <p:spTgt spid="11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anim calcmode="lin" valueType="num">
                                      <p:cBhvr additive="base">
                                        <p:cTn dur="500"/>
                                        <p:tgtEl>
                                          <p:spTgt spid="11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anim calcmode="lin" valueType="num">
                                      <p:cBhvr additive="base">
                                        <p:cTn dur="500"/>
                                        <p:tgtEl>
                                          <p:spTgt spid="11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anim calcmode="lin" valueType="num">
                                      <p:cBhvr additive="base">
                                        <p:cTn dur="500"/>
                                        <p:tgtEl>
                                          <p:spTgt spid="11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8"/>
                                        </p:tgtEl>
                                        <p:attrNameLst>
                                          <p:attrName>style.visibility</p:attrName>
                                        </p:attrNameLst>
                                      </p:cBhvr>
                                      <p:to>
                                        <p:strVal val="visible"/>
                                      </p:to>
                                    </p:set>
                                    <p:anim calcmode="lin" valueType="num">
                                      <p:cBhvr additive="base">
                                        <p:cTn dur="500"/>
                                        <p:tgtEl>
                                          <p:spTgt spid="118"/>
                                        </p:tgtEl>
                                        <p:attrNameLst>
                                          <p:attrName>ppt_w</p:attrName>
                                        </p:attrNameLst>
                                      </p:cBhvr>
                                      <p:tavLst>
                                        <p:tav fmla="" tm="0">
                                          <p:val>
                                            <p:strVal val="0"/>
                                          </p:val>
                                        </p:tav>
                                        <p:tav fmla="" tm="100000">
                                          <p:val>
                                            <p:strVal val="#ppt_w"/>
                                          </p:val>
                                        </p:tav>
                                      </p:tavLst>
                                    </p:anim>
                                    <p:anim calcmode="lin" valueType="num">
                                      <p:cBhvr additive="base">
                                        <p:cTn dur="500"/>
                                        <p:tgtEl>
                                          <p:spTgt spid="11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500"/>
                                        <p:tgtEl>
                                          <p:spTgt spid="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5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8"/>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b="0" i="1" lang="en-US" sz="2400" u="none" cap="none" strike="noStrike">
                <a:solidFill>
                  <a:schemeClr val="accent2"/>
                </a:solidFill>
                <a:latin typeface="Arial"/>
                <a:ea typeface="Arial"/>
                <a:cs typeface="Arial"/>
                <a:sym typeface="Arial"/>
              </a:rPr>
              <a:t>Coulomb’s law </a:t>
            </a:r>
            <a:r>
              <a:rPr b="0" i="1" lang="en-US" sz="2000" u="none" cap="none" strike="noStrike">
                <a:solidFill>
                  <a:srgbClr val="000000"/>
                </a:solidFill>
                <a:latin typeface="Courier New"/>
                <a:ea typeface="Courier New"/>
                <a:cs typeface="Courier New"/>
                <a:sym typeface="Courier New"/>
              </a:rPr>
              <a:t>	</a:t>
            </a:r>
            <a:endParaRPr/>
          </a:p>
          <a:p>
            <a:pPr indent="0" lvl="0" marL="0" marR="0" rtl="0" algn="l">
              <a:spcBef>
                <a:spcPts val="48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∙The inverse square law:</a:t>
            </a:r>
            <a:endParaRPr/>
          </a:p>
          <a:p>
            <a:pPr indent="-457200" lvl="1" marL="1200150" marR="0" rtl="0" algn="l">
              <a:spcBef>
                <a:spcPts val="56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As distance increases, the same amount of energy is “spread out” over a larger (surface) area </a:t>
            </a:r>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pic>
        <p:nvPicPr>
          <p:cNvPr id="127" name="Google Shape;127;p18"/>
          <p:cNvPicPr preferRelativeResize="0"/>
          <p:nvPr/>
        </p:nvPicPr>
        <p:blipFill rotWithShape="1">
          <a:blip r:embed="rId3">
            <a:alphaModFix/>
          </a:blip>
          <a:srcRect b="0" l="0" r="0" t="0"/>
          <a:stretch/>
        </p:blipFill>
        <p:spPr>
          <a:xfrm rot="762272">
            <a:off x="5921375" y="307975"/>
            <a:ext cx="3054350" cy="2017713"/>
          </a:xfrm>
          <a:prstGeom prst="rect">
            <a:avLst/>
          </a:prstGeom>
          <a:noFill/>
          <a:ln>
            <a:noFill/>
          </a:ln>
          <a:effectLst>
            <a:outerShdw blurRad="292100" rotWithShape="0" algn="tl" dir="2700000" dist="139700">
              <a:srgbClr val="333333">
                <a:alpha val="64705"/>
              </a:srgbClr>
            </a:outerShdw>
          </a:effectLst>
        </p:spPr>
      </p:pic>
      <p:sp>
        <p:nvSpPr>
          <p:cNvPr id="128" name="Google Shape;128;p18"/>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pic>
        <p:nvPicPr>
          <p:cNvPr id="129" name="Google Shape;129;p18"/>
          <p:cNvPicPr preferRelativeResize="0"/>
          <p:nvPr/>
        </p:nvPicPr>
        <p:blipFill rotWithShape="1">
          <a:blip r:embed="rId4">
            <a:alphaModFix/>
          </a:blip>
          <a:srcRect b="0" l="0" r="0" t="0"/>
          <a:stretch/>
        </p:blipFill>
        <p:spPr>
          <a:xfrm>
            <a:off x="2161003" y="3895165"/>
            <a:ext cx="4432134" cy="308189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xEl>
                                              <p:pRg end="0" st="0"/>
                                            </p:txEl>
                                          </p:spTgt>
                                        </p:tgtEl>
                                        <p:attrNameLst>
                                          <p:attrName>style.visibility</p:attrName>
                                        </p:attrNameLst>
                                      </p:cBhvr>
                                      <p:to>
                                        <p:strVal val="visible"/>
                                      </p:to>
                                    </p:set>
                                    <p:anim calcmode="lin" valueType="num">
                                      <p:cBhvr additive="base">
                                        <p:cTn dur="500"/>
                                        <p:tgtEl>
                                          <p:spTgt spid="12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xEl>
                                              <p:pRg end="1" st="1"/>
                                            </p:txEl>
                                          </p:spTgt>
                                        </p:tgtEl>
                                        <p:attrNameLst>
                                          <p:attrName>style.visibility</p:attrName>
                                        </p:attrNameLst>
                                      </p:cBhvr>
                                      <p:to>
                                        <p:strVal val="visible"/>
                                      </p:to>
                                    </p:set>
                                    <p:anim calcmode="lin" valueType="num">
                                      <p:cBhvr additive="base">
                                        <p:cTn dur="500"/>
                                        <p:tgtEl>
                                          <p:spTgt spid="12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xEl>
                                              <p:pRg end="2" st="2"/>
                                            </p:txEl>
                                          </p:spTgt>
                                        </p:tgtEl>
                                        <p:attrNameLst>
                                          <p:attrName>style.visibility</p:attrName>
                                        </p:attrNameLst>
                                      </p:cBhvr>
                                      <p:to>
                                        <p:strVal val="visible"/>
                                      </p:to>
                                    </p:set>
                                    <p:anim calcmode="lin" valueType="num">
                                      <p:cBhvr additive="base">
                                        <p:cTn dur="500"/>
                                        <p:tgtEl>
                                          <p:spTgt spid="12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xEl>
                                              <p:pRg end="3" st="3"/>
                                            </p:txEl>
                                          </p:spTgt>
                                        </p:tgtEl>
                                        <p:attrNameLst>
                                          <p:attrName>style.visibility</p:attrName>
                                        </p:attrNameLst>
                                      </p:cBhvr>
                                      <p:to>
                                        <p:strVal val="visible"/>
                                      </p:to>
                                    </p:set>
                                    <p:anim calcmode="lin" valueType="num">
                                      <p:cBhvr additive="base">
                                        <p:cTn dur="500"/>
                                        <p:tgtEl>
                                          <p:spTgt spid="12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xEl>
                                              <p:pRg end="4" st="4"/>
                                            </p:txEl>
                                          </p:spTgt>
                                        </p:tgtEl>
                                        <p:attrNameLst>
                                          <p:attrName>style.visibility</p:attrName>
                                        </p:attrNameLst>
                                      </p:cBhvr>
                                      <p:to>
                                        <p:strVal val="visible"/>
                                      </p:to>
                                    </p:set>
                                    <p:anim calcmode="lin" valueType="num">
                                      <p:cBhvr additive="base">
                                        <p:cTn dur="500"/>
                                        <p:tgtEl>
                                          <p:spTgt spid="12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7"/>
                                        </p:tgtEl>
                                        <p:attrNameLst>
                                          <p:attrName>style.visibility</p:attrName>
                                        </p:attrNameLst>
                                      </p:cBhvr>
                                      <p:to>
                                        <p:strVal val="visible"/>
                                      </p:to>
                                    </p:set>
                                    <p:anim calcmode="lin" valueType="num">
                                      <p:cBhvr additive="base">
                                        <p:cTn dur="500"/>
                                        <p:tgtEl>
                                          <p:spTgt spid="127"/>
                                        </p:tgtEl>
                                        <p:attrNameLst>
                                          <p:attrName>ppt_w</p:attrName>
                                        </p:attrNameLst>
                                      </p:cBhvr>
                                      <p:tavLst>
                                        <p:tav fmla="" tm="0">
                                          <p:val>
                                            <p:strVal val="0"/>
                                          </p:val>
                                        </p:tav>
                                        <p:tav fmla="" tm="100000">
                                          <p:val>
                                            <p:strVal val="#ppt_w"/>
                                          </p:val>
                                        </p:tav>
                                      </p:tavLst>
                                    </p:anim>
                                    <p:anim calcmode="lin" valueType="num">
                                      <p:cBhvr additive="base">
                                        <p:cTn dur="500"/>
                                        <p:tgtEl>
                                          <p:spTgt spid="12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9"/>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b="0" i="1" lang="en-US" sz="2400" u="none" cap="none" strike="noStrike">
                <a:solidFill>
                  <a:schemeClr val="accent2"/>
                </a:solidFill>
                <a:latin typeface="Arial"/>
                <a:ea typeface="Arial"/>
                <a:cs typeface="Arial"/>
                <a:sym typeface="Arial"/>
              </a:rPr>
              <a:t>Coulomb’s law </a:t>
            </a:r>
            <a:r>
              <a:rPr b="0" i="1" lang="en-US" sz="2000" u="none" cap="none" strike="noStrike">
                <a:solidFill>
                  <a:srgbClr val="000000"/>
                </a:solidFill>
                <a:latin typeface="Courier New"/>
                <a:ea typeface="Courier New"/>
                <a:cs typeface="Courier New"/>
                <a:sym typeface="Courier New"/>
              </a:rPr>
              <a:t>	</a:t>
            </a:r>
            <a:endParaRPr/>
          </a:p>
          <a:p>
            <a:pPr indent="0" lvl="0" marL="0" marR="0" rtl="0" algn="l">
              <a:spcBef>
                <a:spcPts val="48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∙Charles-Augustin de Coulomb studied                                charge, and discovered an inverse square law for the electric force </a:t>
            </a:r>
            <a:r>
              <a:rPr b="0" i="1" lang="en-US" sz="2400" u="none" cap="none" strike="noStrike">
                <a:solidFill>
                  <a:srgbClr val="000000"/>
                </a:solidFill>
                <a:latin typeface="Arial"/>
                <a:ea typeface="Arial"/>
                <a:cs typeface="Arial"/>
                <a:sym typeface="Arial"/>
              </a:rPr>
              <a:t>F </a:t>
            </a:r>
            <a:r>
              <a:rPr b="0" i="0" lang="en-US" sz="2400" u="none" cap="none" strike="noStrike">
                <a:solidFill>
                  <a:srgbClr val="000000"/>
                </a:solidFill>
                <a:latin typeface="Arial"/>
                <a:ea typeface="Arial"/>
                <a:cs typeface="Arial"/>
                <a:sym typeface="Arial"/>
              </a:rPr>
              <a:t>between two point charges </a:t>
            </a:r>
            <a:r>
              <a:rPr b="0" i="1" lang="en-US" sz="2400" u="none" cap="none" strike="noStrike">
                <a:solidFill>
                  <a:srgbClr val="000000"/>
                </a:solidFill>
                <a:latin typeface="Arial"/>
                <a:ea typeface="Arial"/>
                <a:cs typeface="Arial"/>
                <a:sym typeface="Arial"/>
              </a:rPr>
              <a:t>q</a:t>
            </a:r>
            <a:r>
              <a:rPr b="0" baseline="-25000" i="0" lang="en-US" sz="2400" u="none" cap="none" strike="noStrike">
                <a:solidFill>
                  <a:srgbClr val="000000"/>
                </a:solidFill>
                <a:latin typeface="Arial"/>
                <a:ea typeface="Arial"/>
                <a:cs typeface="Arial"/>
                <a:sym typeface="Arial"/>
              </a:rPr>
              <a:t>1</a:t>
            </a:r>
            <a:r>
              <a:rPr b="0" i="0" lang="en-US" sz="2400" u="none" cap="none" strike="noStrike">
                <a:solidFill>
                  <a:srgbClr val="000000"/>
                </a:solidFill>
                <a:latin typeface="Arial"/>
                <a:ea typeface="Arial"/>
                <a:cs typeface="Arial"/>
                <a:sym typeface="Arial"/>
              </a:rPr>
              <a:t> and </a:t>
            </a:r>
            <a:r>
              <a:rPr b="0" i="1" lang="en-US" sz="2400" u="none" cap="none" strike="noStrike">
                <a:solidFill>
                  <a:srgbClr val="000000"/>
                </a:solidFill>
                <a:latin typeface="Arial"/>
                <a:ea typeface="Arial"/>
                <a:cs typeface="Arial"/>
                <a:sym typeface="Arial"/>
              </a:rPr>
              <a:t>q</a:t>
            </a:r>
            <a:r>
              <a:rPr b="0" baseline="-25000" i="0" lang="en-US" sz="2400" u="none" cap="none" strike="noStrike">
                <a:solidFill>
                  <a:srgbClr val="000000"/>
                </a:solidFill>
                <a:latin typeface="Arial"/>
                <a:ea typeface="Arial"/>
                <a:cs typeface="Arial"/>
                <a:sym typeface="Arial"/>
              </a:rPr>
              <a:t>2</a:t>
            </a:r>
            <a:r>
              <a:rPr b="0" i="0" lang="en-US" sz="2400" u="none" cap="none" strike="noStrike">
                <a:solidFill>
                  <a:srgbClr val="000000"/>
                </a:solidFill>
                <a:latin typeface="Arial"/>
                <a:ea typeface="Arial"/>
                <a:cs typeface="Arial"/>
                <a:sym typeface="Arial"/>
              </a:rPr>
              <a:t> separated by distance </a:t>
            </a:r>
            <a:r>
              <a:rPr b="0" i="1" lang="en-US" sz="2400" u="none" cap="none" strike="noStrike">
                <a:solidFill>
                  <a:srgbClr val="000000"/>
                </a:solidFill>
                <a:latin typeface="Arial"/>
                <a:ea typeface="Arial"/>
                <a:cs typeface="Arial"/>
                <a:sym typeface="Arial"/>
              </a:rPr>
              <a:t>r </a:t>
            </a:r>
            <a:r>
              <a:rPr b="0" i="0" lang="en-US" sz="2400" u="none" cap="none" strike="noStrike">
                <a:solidFill>
                  <a:srgbClr val="000000"/>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spcBef>
                <a:spcPts val="48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a:t>
            </a:r>
            <a:r>
              <a:rPr b="0" i="1" lang="en-US" sz="2400" u="none" cap="none" strike="noStrike">
                <a:solidFill>
                  <a:srgbClr val="000000"/>
                </a:solidFill>
                <a:latin typeface="Arial"/>
                <a:ea typeface="Arial"/>
                <a:cs typeface="Arial"/>
                <a:sym typeface="Arial"/>
              </a:rPr>
              <a:t>k</a:t>
            </a:r>
            <a:r>
              <a:rPr b="0" i="0" lang="en-US" sz="2400" u="none" cap="none" strike="noStrike">
                <a:solidFill>
                  <a:srgbClr val="000000"/>
                </a:solidFill>
                <a:latin typeface="Arial"/>
                <a:ea typeface="Arial"/>
                <a:cs typeface="Arial"/>
                <a:sym typeface="Arial"/>
              </a:rPr>
              <a:t> is called Coulomb’s constant. Beware. There is another constant that is designated </a:t>
            </a:r>
            <a:r>
              <a:rPr b="0" i="1" lang="en-US" sz="2400" u="none" cap="none" strike="noStrike">
                <a:solidFill>
                  <a:srgbClr val="000000"/>
                </a:solidFill>
                <a:latin typeface="Arial"/>
                <a:ea typeface="Arial"/>
                <a:cs typeface="Arial"/>
                <a:sym typeface="Arial"/>
              </a:rPr>
              <a:t>k</a:t>
            </a:r>
            <a:r>
              <a:rPr b="0" i="0" lang="en-US" sz="2400" u="none" cap="none" strike="noStrike">
                <a:solidFill>
                  <a:srgbClr val="000000"/>
                </a:solidFill>
                <a:latin typeface="Arial"/>
                <a:ea typeface="Arial"/>
                <a:cs typeface="Arial"/>
                <a:sym typeface="Arial"/>
              </a:rPr>
              <a:t> called Boltzmann’s constant used in thermodynamics.</a:t>
            </a:r>
            <a:endParaRPr/>
          </a:p>
          <a:p>
            <a:pPr indent="0" lvl="0" marL="0" marR="0" rtl="0" algn="l">
              <a:spcBef>
                <a:spcPts val="48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∙There is an alternate form of Coulomb’s law:</a:t>
            </a:r>
            <a:endParaRPr/>
          </a:p>
        </p:txBody>
      </p:sp>
      <p:pic>
        <p:nvPicPr>
          <p:cNvPr id="135" name="Google Shape;135;p19"/>
          <p:cNvPicPr preferRelativeResize="0"/>
          <p:nvPr/>
        </p:nvPicPr>
        <p:blipFill rotWithShape="1">
          <a:blip r:embed="rId3">
            <a:alphaModFix/>
          </a:blip>
          <a:srcRect b="0" l="0" r="0" t="0"/>
          <a:stretch/>
        </p:blipFill>
        <p:spPr>
          <a:xfrm rot="762272">
            <a:off x="5921375" y="307975"/>
            <a:ext cx="3054350" cy="2017713"/>
          </a:xfrm>
          <a:prstGeom prst="rect">
            <a:avLst/>
          </a:prstGeom>
          <a:noFill/>
          <a:ln>
            <a:noFill/>
          </a:ln>
          <a:effectLst>
            <a:outerShdw blurRad="292100" rotWithShape="0" algn="tl" dir="2700000" dist="139700">
              <a:srgbClr val="333333">
                <a:alpha val="64705"/>
              </a:srgbClr>
            </a:outerShdw>
          </a:effectLst>
        </p:spPr>
      </p:pic>
      <p:grpSp>
        <p:nvGrpSpPr>
          <p:cNvPr id="136" name="Google Shape;136;p19"/>
          <p:cNvGrpSpPr/>
          <p:nvPr/>
        </p:nvGrpSpPr>
        <p:grpSpPr>
          <a:xfrm>
            <a:off x="809625" y="3530600"/>
            <a:ext cx="7464425" cy="822325"/>
            <a:chOff x="510" y="2224"/>
            <a:chExt cx="4702" cy="518"/>
          </a:xfrm>
        </p:grpSpPr>
        <p:sp>
          <p:nvSpPr>
            <p:cNvPr id="137" name="Google Shape;137;p19"/>
            <p:cNvSpPr/>
            <p:nvPr/>
          </p:nvSpPr>
          <p:spPr>
            <a:xfrm>
              <a:off x="592" y="2237"/>
              <a:ext cx="1340"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0" i="1" lang="en-US" sz="2400" u="none" cap="none" strike="noStrike">
                  <a:solidFill>
                    <a:schemeClr val="dk1"/>
                  </a:solidFill>
                  <a:latin typeface="Arial"/>
                  <a:ea typeface="Arial"/>
                  <a:cs typeface="Arial"/>
                  <a:sym typeface="Arial"/>
                </a:rPr>
                <a:t>F</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kq</a:t>
              </a:r>
              <a:r>
                <a:rPr b="0" baseline="-25000" i="0" lang="en-US" sz="2400" u="none" cap="none" strike="noStrike">
                  <a:solidFill>
                    <a:schemeClr val="dk1"/>
                  </a:solidFill>
                  <a:latin typeface="Arial"/>
                  <a:ea typeface="Arial"/>
                  <a:cs typeface="Arial"/>
                  <a:sym typeface="Arial"/>
                </a:rPr>
                <a:t>1</a:t>
              </a:r>
              <a:r>
                <a:rPr b="0" i="1"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2 </a:t>
              </a:r>
              <a:r>
                <a:rPr b="0" i="1" lang="en-US" sz="2400" u="none" cap="none" strike="noStrike">
                  <a:solidFill>
                    <a:schemeClr val="dk1"/>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r</a:t>
              </a:r>
              <a:r>
                <a:rPr b="0" baseline="30000" i="0" lang="en-US" sz="2400" u="none" cap="none" strike="noStrike">
                  <a:solidFill>
                    <a:schemeClr val="dk1"/>
                  </a:solidFill>
                  <a:latin typeface="Arial"/>
                  <a:ea typeface="Arial"/>
                  <a:cs typeface="Arial"/>
                  <a:sym typeface="Arial"/>
                </a:rPr>
                <a:t> 2</a:t>
              </a:r>
              <a:endParaRPr b="0" i="1" sz="2400" u="none" cap="none" strike="noStrike">
                <a:solidFill>
                  <a:schemeClr val="dk1"/>
                </a:solidFill>
                <a:latin typeface="Arial"/>
                <a:ea typeface="Arial"/>
                <a:cs typeface="Arial"/>
                <a:sym typeface="Arial"/>
              </a:endParaRPr>
            </a:p>
          </p:txBody>
        </p:sp>
        <p:sp>
          <p:nvSpPr>
            <p:cNvPr id="138" name="Google Shape;138;p19"/>
            <p:cNvSpPr txBox="1"/>
            <p:nvPr/>
          </p:nvSpPr>
          <p:spPr>
            <a:xfrm>
              <a:off x="3982" y="2224"/>
              <a:ext cx="1230" cy="51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Coulomb’s law</a:t>
              </a:r>
              <a:endParaRPr/>
            </a:p>
          </p:txBody>
        </p:sp>
        <p:sp>
          <p:nvSpPr>
            <p:cNvPr id="139" name="Google Shape;139;p19"/>
            <p:cNvSpPr/>
            <p:nvPr/>
          </p:nvSpPr>
          <p:spPr>
            <a:xfrm>
              <a:off x="510" y="2226"/>
              <a:ext cx="4701" cy="511"/>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0" name="Google Shape;140;p19"/>
            <p:cNvSpPr/>
            <p:nvPr/>
          </p:nvSpPr>
          <p:spPr>
            <a:xfrm>
              <a:off x="1274" y="2457"/>
              <a:ext cx="2977"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hlink"/>
                </a:buClr>
                <a:buSzPts val="2400"/>
                <a:buFont typeface="Arial"/>
                <a:buNone/>
              </a:pPr>
              <a:r>
                <a:rPr b="0" i="1" lang="en-US" sz="2400" u="none" cap="none" strike="noStrike">
                  <a:solidFill>
                    <a:schemeClr val="hlink"/>
                  </a:solidFill>
                  <a:latin typeface="Arial"/>
                  <a:ea typeface="Arial"/>
                  <a:cs typeface="Arial"/>
                  <a:sym typeface="Arial"/>
                </a:rPr>
                <a:t>where </a:t>
              </a:r>
              <a:r>
                <a:rPr b="0" i="1" lang="en-US" sz="2400" u="none" cap="none" strike="noStrike">
                  <a:solidFill>
                    <a:srgbClr val="009999"/>
                  </a:solidFill>
                  <a:latin typeface="Arial"/>
                  <a:ea typeface="Arial"/>
                  <a:cs typeface="Arial"/>
                  <a:sym typeface="Arial"/>
                </a:rPr>
                <a:t>k</a:t>
              </a:r>
              <a:r>
                <a:rPr b="0" i="0" lang="en-US" sz="2400" u="none" cap="none" strike="noStrike">
                  <a:solidFill>
                    <a:schemeClr val="hlink"/>
                  </a:solidFill>
                  <a:latin typeface="Arial"/>
                  <a:ea typeface="Arial"/>
                  <a:cs typeface="Arial"/>
                  <a:sym typeface="Arial"/>
                </a:rPr>
                <a:t> = 8.99</a:t>
              </a:r>
              <a:r>
                <a:rPr b="0" i="0" lang="en-US" sz="2400" u="none" cap="none" strike="noStrike">
                  <a:solidFill>
                    <a:srgbClr val="009999"/>
                  </a:solidFill>
                  <a:latin typeface="Arial"/>
                  <a:ea typeface="Arial"/>
                  <a:cs typeface="Arial"/>
                  <a:sym typeface="Arial"/>
                </a:rPr>
                <a:t>×1</a:t>
              </a:r>
              <a:r>
                <a:rPr b="0" i="0" lang="en-US" sz="2400" u="none" cap="none" strike="noStrike">
                  <a:solidFill>
                    <a:schemeClr val="hlink"/>
                  </a:solidFill>
                  <a:latin typeface="Arial"/>
                  <a:ea typeface="Arial"/>
                  <a:cs typeface="Arial"/>
                  <a:sym typeface="Arial"/>
                </a:rPr>
                <a:t>0</a:t>
              </a:r>
              <a:r>
                <a:rPr b="0" baseline="30000" i="0" lang="en-US" sz="2400" u="none" cap="none" strike="noStrike">
                  <a:solidFill>
                    <a:schemeClr val="hlink"/>
                  </a:solidFill>
                  <a:latin typeface="Arial"/>
                  <a:ea typeface="Arial"/>
                  <a:cs typeface="Arial"/>
                  <a:sym typeface="Arial"/>
                </a:rPr>
                <a:t>9</a:t>
              </a:r>
              <a:r>
                <a:rPr b="0" i="0" lang="en-US" sz="2400" u="none" cap="none" strike="noStrike">
                  <a:solidFill>
                    <a:schemeClr val="hlink"/>
                  </a:solidFill>
                  <a:latin typeface="Arial"/>
                  <a:ea typeface="Arial"/>
                  <a:cs typeface="Arial"/>
                  <a:sym typeface="Arial"/>
                </a:rPr>
                <a:t> N</a:t>
              </a:r>
              <a:r>
                <a:rPr b="0" baseline="-25000" i="0" lang="en-US" sz="2400" u="none" cap="none" strike="noStrike">
                  <a:solidFill>
                    <a:schemeClr val="hlink"/>
                  </a:solidFill>
                  <a:latin typeface="Arial"/>
                  <a:ea typeface="Arial"/>
                  <a:cs typeface="Arial"/>
                  <a:sym typeface="Arial"/>
                </a:rPr>
                <a:t> </a:t>
              </a:r>
              <a:r>
                <a:rPr b="0" i="0" lang="en-US" sz="2400" u="none" cap="none" strike="noStrike">
                  <a:solidFill>
                    <a:schemeClr val="hlink"/>
                  </a:solidFill>
                  <a:latin typeface="Arial"/>
                  <a:ea typeface="Arial"/>
                  <a:cs typeface="Arial"/>
                  <a:sym typeface="Arial"/>
                </a:rPr>
                <a:t>m</a:t>
              </a:r>
              <a:r>
                <a:rPr b="0" baseline="30000" i="0" lang="en-US" sz="2400" u="none" cap="none" strike="noStrike">
                  <a:solidFill>
                    <a:schemeClr val="hlink"/>
                  </a:solidFill>
                  <a:latin typeface="Arial"/>
                  <a:ea typeface="Arial"/>
                  <a:cs typeface="Arial"/>
                  <a:sym typeface="Arial"/>
                </a:rPr>
                <a:t>2</a:t>
              </a:r>
              <a:r>
                <a:rPr b="0" baseline="-25000" i="0" lang="en-US" sz="2400" u="none" cap="none" strike="noStrike">
                  <a:solidFill>
                    <a:schemeClr val="hlink"/>
                  </a:solidFill>
                  <a:latin typeface="Arial"/>
                  <a:ea typeface="Arial"/>
                  <a:cs typeface="Arial"/>
                  <a:sym typeface="Arial"/>
                </a:rPr>
                <a:t> </a:t>
              </a:r>
              <a:r>
                <a:rPr b="0" i="0" lang="en-US" sz="2400" u="none" cap="none" strike="noStrike">
                  <a:solidFill>
                    <a:schemeClr val="hlink"/>
                  </a:solidFill>
                  <a:latin typeface="Arial"/>
                  <a:ea typeface="Arial"/>
                  <a:cs typeface="Arial"/>
                  <a:sym typeface="Arial"/>
                </a:rPr>
                <a:t>C</a:t>
              </a:r>
              <a:r>
                <a:rPr b="0" baseline="30000" i="0" lang="en-US" sz="2400" u="none" cap="none" strike="noStrike">
                  <a:solidFill>
                    <a:schemeClr val="hlink"/>
                  </a:solidFill>
                  <a:latin typeface="Arial"/>
                  <a:ea typeface="Arial"/>
                  <a:cs typeface="Arial"/>
                  <a:sym typeface="Arial"/>
                </a:rPr>
                <a:t>−2</a:t>
              </a:r>
              <a:endParaRPr/>
            </a:p>
          </p:txBody>
        </p:sp>
      </p:grpSp>
      <p:grpSp>
        <p:nvGrpSpPr>
          <p:cNvPr id="141" name="Google Shape;141;p19"/>
          <p:cNvGrpSpPr/>
          <p:nvPr/>
        </p:nvGrpSpPr>
        <p:grpSpPr>
          <a:xfrm>
            <a:off x="811213" y="5989638"/>
            <a:ext cx="7464425" cy="827087"/>
            <a:chOff x="511" y="3733"/>
            <a:chExt cx="4702" cy="521"/>
          </a:xfrm>
        </p:grpSpPr>
        <p:sp>
          <p:nvSpPr>
            <p:cNvPr id="142" name="Google Shape;142;p19"/>
            <p:cNvSpPr/>
            <p:nvPr/>
          </p:nvSpPr>
          <p:spPr>
            <a:xfrm>
              <a:off x="593" y="3749"/>
              <a:ext cx="2575"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0" i="1" lang="en-US" sz="2400" u="none" cap="none" strike="noStrike">
                  <a:solidFill>
                    <a:schemeClr val="dk1"/>
                  </a:solidFill>
                  <a:latin typeface="Arial"/>
                  <a:ea typeface="Arial"/>
                  <a:cs typeface="Arial"/>
                  <a:sym typeface="Arial"/>
                </a:rPr>
                <a:t>F</a:t>
              </a:r>
              <a:r>
                <a:rPr b="0" i="0" lang="en-US" sz="2400" u="none" cap="none" strike="noStrike">
                  <a:solidFill>
                    <a:schemeClr val="dk1"/>
                  </a:solidFill>
                  <a:latin typeface="Arial"/>
                  <a:ea typeface="Arial"/>
                  <a:cs typeface="Arial"/>
                  <a:sym typeface="Arial"/>
                </a:rPr>
                <a:t> = (1/[4πε</a:t>
              </a:r>
              <a:r>
                <a:rPr b="0" baseline="-25000" i="0" lang="en-US" sz="2400" u="none" cap="none" strike="noStrike">
                  <a:solidFill>
                    <a:schemeClr val="dk1"/>
                  </a:solidFill>
                  <a:latin typeface="Arial"/>
                  <a:ea typeface="Arial"/>
                  <a:cs typeface="Arial"/>
                  <a:sym typeface="Arial"/>
                </a:rPr>
                <a:t>0</a:t>
              </a:r>
              <a:r>
                <a:rPr b="0" i="0" lang="en-US" sz="2400" u="none" cap="none" strike="noStrike">
                  <a:solidFill>
                    <a:schemeClr val="dk1"/>
                  </a:solidFill>
                  <a:latin typeface="Arial"/>
                  <a:ea typeface="Arial"/>
                  <a:cs typeface="Arial"/>
                  <a:sym typeface="Arial"/>
                </a:rPr>
                <a:t>])</a:t>
              </a:r>
              <a:r>
                <a:rPr b="0" i="1"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1</a:t>
              </a:r>
              <a:r>
                <a:rPr b="0" i="1"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2 </a:t>
              </a:r>
              <a:r>
                <a:rPr b="0" i="1" lang="en-US" sz="2400" u="none" cap="none" strike="noStrike">
                  <a:solidFill>
                    <a:schemeClr val="dk1"/>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r</a:t>
              </a:r>
              <a:r>
                <a:rPr b="0" baseline="30000" i="0" lang="en-US" sz="2400" u="none" cap="none" strike="noStrike">
                  <a:solidFill>
                    <a:schemeClr val="dk1"/>
                  </a:solidFill>
                  <a:latin typeface="Arial"/>
                  <a:ea typeface="Arial"/>
                  <a:cs typeface="Arial"/>
                  <a:sym typeface="Arial"/>
                </a:rPr>
                <a:t> 2</a:t>
              </a:r>
              <a:endParaRPr b="0" baseline="30000" i="1" sz="2400" u="none" cap="none" strike="noStrike">
                <a:solidFill>
                  <a:schemeClr val="dk1"/>
                </a:solidFill>
                <a:latin typeface="Arial"/>
                <a:ea typeface="Arial"/>
                <a:cs typeface="Arial"/>
                <a:sym typeface="Arial"/>
              </a:endParaRPr>
            </a:p>
          </p:txBody>
        </p:sp>
        <p:sp>
          <p:nvSpPr>
            <p:cNvPr id="143" name="Google Shape;143;p19"/>
            <p:cNvSpPr txBox="1"/>
            <p:nvPr/>
          </p:nvSpPr>
          <p:spPr>
            <a:xfrm>
              <a:off x="3983" y="3736"/>
              <a:ext cx="1230" cy="51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Coulomb’s law</a:t>
              </a:r>
              <a:endParaRPr/>
            </a:p>
          </p:txBody>
        </p:sp>
        <p:sp>
          <p:nvSpPr>
            <p:cNvPr id="144" name="Google Shape;144;p19"/>
            <p:cNvSpPr/>
            <p:nvPr/>
          </p:nvSpPr>
          <p:spPr>
            <a:xfrm>
              <a:off x="511" y="3733"/>
              <a:ext cx="4701" cy="519"/>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5" name="Google Shape;145;p19"/>
            <p:cNvSpPr/>
            <p:nvPr/>
          </p:nvSpPr>
          <p:spPr>
            <a:xfrm>
              <a:off x="1074" y="3968"/>
              <a:ext cx="2977"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hlink"/>
                </a:buClr>
                <a:buSzPts val="2400"/>
                <a:buFont typeface="Arial"/>
                <a:buNone/>
              </a:pPr>
              <a:r>
                <a:rPr b="0" i="1" lang="en-US" sz="2400" u="none" cap="none" strike="noStrike">
                  <a:solidFill>
                    <a:schemeClr val="hlink"/>
                  </a:solidFill>
                  <a:latin typeface="Arial"/>
                  <a:ea typeface="Arial"/>
                  <a:cs typeface="Arial"/>
                  <a:sym typeface="Arial"/>
                </a:rPr>
                <a:t>where </a:t>
              </a:r>
              <a:r>
                <a:rPr b="0" i="0" lang="en-US" sz="2400" u="none" cap="none" strike="noStrike">
                  <a:solidFill>
                    <a:schemeClr val="hlink"/>
                  </a:solidFill>
                  <a:latin typeface="Arial"/>
                  <a:ea typeface="Arial"/>
                  <a:cs typeface="Arial"/>
                  <a:sym typeface="Arial"/>
                </a:rPr>
                <a:t>ε</a:t>
              </a:r>
              <a:r>
                <a:rPr b="0" baseline="-25000" i="0" lang="en-US" sz="2400" u="none" cap="none" strike="noStrike">
                  <a:solidFill>
                    <a:schemeClr val="hlink"/>
                  </a:solidFill>
                  <a:latin typeface="Arial"/>
                  <a:ea typeface="Arial"/>
                  <a:cs typeface="Arial"/>
                  <a:sym typeface="Arial"/>
                </a:rPr>
                <a:t>0</a:t>
              </a:r>
              <a:r>
                <a:rPr b="0" i="0" lang="en-US" sz="2400" u="none" cap="none" strike="noStrike">
                  <a:solidFill>
                    <a:schemeClr val="hlink"/>
                  </a:solidFill>
                  <a:latin typeface="Arial"/>
                  <a:ea typeface="Arial"/>
                  <a:cs typeface="Arial"/>
                  <a:sym typeface="Arial"/>
                </a:rPr>
                <a:t> = 8.85</a:t>
              </a:r>
              <a:r>
                <a:rPr b="0" i="0" lang="en-US" sz="2400" u="none" cap="none" strike="noStrike">
                  <a:solidFill>
                    <a:srgbClr val="009999"/>
                  </a:solidFill>
                  <a:latin typeface="Arial"/>
                  <a:ea typeface="Arial"/>
                  <a:cs typeface="Arial"/>
                  <a:sym typeface="Arial"/>
                </a:rPr>
                <a:t>×</a:t>
              </a:r>
              <a:r>
                <a:rPr b="0" i="0" lang="en-US" sz="2400" u="none" cap="none" strike="noStrike">
                  <a:solidFill>
                    <a:schemeClr val="hlink"/>
                  </a:solidFill>
                  <a:latin typeface="Arial"/>
                  <a:ea typeface="Arial"/>
                  <a:cs typeface="Arial"/>
                  <a:sym typeface="Arial"/>
                </a:rPr>
                <a:t>10</a:t>
              </a:r>
              <a:r>
                <a:rPr b="0" baseline="30000" i="0" lang="en-US" sz="2400" u="none" cap="none" strike="noStrike">
                  <a:solidFill>
                    <a:schemeClr val="hlink"/>
                  </a:solidFill>
                  <a:latin typeface="Arial"/>
                  <a:ea typeface="Arial"/>
                  <a:cs typeface="Arial"/>
                  <a:sym typeface="Arial"/>
                </a:rPr>
                <a:t>-12</a:t>
              </a:r>
              <a:r>
                <a:rPr b="0" i="0" lang="en-US" sz="2400" u="none" cap="none" strike="noStrike">
                  <a:solidFill>
                    <a:schemeClr val="hlink"/>
                  </a:solidFill>
                  <a:latin typeface="Arial"/>
                  <a:ea typeface="Arial"/>
                  <a:cs typeface="Arial"/>
                  <a:sym typeface="Arial"/>
                </a:rPr>
                <a:t> C</a:t>
              </a:r>
              <a:r>
                <a:rPr b="0" baseline="30000" i="0" lang="en-US" sz="2400" u="none" cap="none" strike="noStrike">
                  <a:solidFill>
                    <a:schemeClr val="hlink"/>
                  </a:solidFill>
                  <a:latin typeface="Arial"/>
                  <a:ea typeface="Arial"/>
                  <a:cs typeface="Arial"/>
                  <a:sym typeface="Arial"/>
                </a:rPr>
                <a:t>2</a:t>
              </a:r>
              <a:r>
                <a:rPr b="0" baseline="-25000" i="0" lang="en-US" sz="2400" u="none" cap="none" strike="noStrike">
                  <a:solidFill>
                    <a:schemeClr val="hlink"/>
                  </a:solidFill>
                  <a:latin typeface="Arial"/>
                  <a:ea typeface="Arial"/>
                  <a:cs typeface="Arial"/>
                  <a:sym typeface="Arial"/>
                </a:rPr>
                <a:t> </a:t>
              </a:r>
              <a:r>
                <a:rPr b="0" i="0" lang="en-US" sz="2400" u="none" cap="none" strike="noStrike">
                  <a:solidFill>
                    <a:schemeClr val="hlink"/>
                  </a:solidFill>
                  <a:latin typeface="Arial"/>
                  <a:ea typeface="Arial"/>
                  <a:cs typeface="Arial"/>
                  <a:sym typeface="Arial"/>
                </a:rPr>
                <a:t>N</a:t>
              </a:r>
              <a:r>
                <a:rPr b="0" baseline="30000" i="0" lang="en-US" sz="2400" u="none" cap="none" strike="noStrike">
                  <a:solidFill>
                    <a:schemeClr val="hlink"/>
                  </a:solidFill>
                  <a:latin typeface="Arial"/>
                  <a:ea typeface="Arial"/>
                  <a:cs typeface="Arial"/>
                  <a:sym typeface="Arial"/>
                </a:rPr>
                <a:t>-1</a:t>
              </a:r>
              <a:r>
                <a:rPr b="0" baseline="-25000" i="0" lang="en-US" sz="2400" u="none" cap="none" strike="noStrike">
                  <a:solidFill>
                    <a:schemeClr val="hlink"/>
                  </a:solidFill>
                  <a:latin typeface="Arial"/>
                  <a:ea typeface="Arial"/>
                  <a:cs typeface="Arial"/>
                  <a:sym typeface="Arial"/>
                </a:rPr>
                <a:t> </a:t>
              </a:r>
              <a:r>
                <a:rPr b="0" i="0" lang="en-US" sz="2400" u="none" cap="none" strike="noStrike">
                  <a:solidFill>
                    <a:schemeClr val="hlink"/>
                  </a:solidFill>
                  <a:latin typeface="Arial"/>
                  <a:ea typeface="Arial"/>
                  <a:cs typeface="Arial"/>
                  <a:sym typeface="Arial"/>
                </a:rPr>
                <a:t>m</a:t>
              </a:r>
              <a:r>
                <a:rPr b="0" baseline="30000" i="0" lang="en-US" sz="2400" u="none" cap="none" strike="noStrike">
                  <a:solidFill>
                    <a:schemeClr val="hlink"/>
                  </a:solidFill>
                  <a:latin typeface="Arial"/>
                  <a:ea typeface="Arial"/>
                  <a:cs typeface="Arial"/>
                  <a:sym typeface="Arial"/>
                </a:rPr>
                <a:t>−2</a:t>
              </a:r>
              <a:endParaRPr/>
            </a:p>
          </p:txBody>
        </p:sp>
      </p:grpSp>
      <p:sp>
        <p:nvSpPr>
          <p:cNvPr id="146" name="Google Shape;146;p19"/>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5: Electricity and magnetism</a:t>
            </a:r>
            <a:br>
              <a:rPr b="1" lang="en-US" sz="2800"/>
            </a:br>
            <a:r>
              <a:rPr lang="en-US" sz="2800">
                <a:solidFill>
                  <a:schemeClr val="dk1"/>
                </a:solidFill>
              </a:rPr>
              <a:t>5.1 – Electric fields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anim calcmode="lin" valueType="num">
                                      <p:cBhvr additive="base">
                                        <p:cTn dur="500"/>
                                        <p:tgtEl>
                                          <p:spTgt spid="13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anim calcmode="lin" valueType="num">
                                      <p:cBhvr additive="base">
                                        <p:cTn dur="500"/>
                                        <p:tgtEl>
                                          <p:spTgt spid="13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4">
                                            <p:txEl>
                                              <p:pRg end="2" st="2"/>
                                            </p:txEl>
                                          </p:spTgt>
                                        </p:tgtEl>
                                        <p:attrNameLst>
                                          <p:attrName>style.visibility</p:attrName>
                                        </p:attrNameLst>
                                      </p:cBhvr>
                                      <p:to>
                                        <p:strVal val="visible"/>
                                      </p:to>
                                    </p:set>
                                    <p:anim calcmode="lin" valueType="num">
                                      <p:cBhvr additive="base">
                                        <p:cTn dur="500"/>
                                        <p:tgtEl>
                                          <p:spTgt spid="13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4">
                                            <p:txEl>
                                              <p:pRg end="3" st="3"/>
                                            </p:txEl>
                                          </p:spTgt>
                                        </p:tgtEl>
                                        <p:attrNameLst>
                                          <p:attrName>style.visibility</p:attrName>
                                        </p:attrNameLst>
                                      </p:cBhvr>
                                      <p:to>
                                        <p:strVal val="visible"/>
                                      </p:to>
                                    </p:set>
                                    <p:anim calcmode="lin" valueType="num">
                                      <p:cBhvr additive="base">
                                        <p:cTn dur="500"/>
                                        <p:tgtEl>
                                          <p:spTgt spid="13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4">
                                            <p:txEl>
                                              <p:pRg end="4" st="4"/>
                                            </p:txEl>
                                          </p:spTgt>
                                        </p:tgtEl>
                                        <p:attrNameLst>
                                          <p:attrName>style.visibility</p:attrName>
                                        </p:attrNameLst>
                                      </p:cBhvr>
                                      <p:to>
                                        <p:strVal val="visible"/>
                                      </p:to>
                                    </p:set>
                                    <p:anim calcmode="lin" valueType="num">
                                      <p:cBhvr additive="base">
                                        <p:cTn dur="500"/>
                                        <p:tgtEl>
                                          <p:spTgt spid="13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4">
                                            <p:txEl>
                                              <p:pRg end="5" st="5"/>
                                            </p:txEl>
                                          </p:spTgt>
                                        </p:tgtEl>
                                        <p:attrNameLst>
                                          <p:attrName>style.visibility</p:attrName>
                                        </p:attrNameLst>
                                      </p:cBhvr>
                                      <p:to>
                                        <p:strVal val="visible"/>
                                      </p:to>
                                    </p:set>
                                    <p:anim calcmode="lin" valueType="num">
                                      <p:cBhvr additive="base">
                                        <p:cTn dur="500"/>
                                        <p:tgtEl>
                                          <p:spTgt spid="13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35"/>
                                        </p:tgtEl>
                                        <p:attrNameLst>
                                          <p:attrName>style.visibility</p:attrName>
                                        </p:attrNameLst>
                                      </p:cBhvr>
                                      <p:to>
                                        <p:strVal val="visible"/>
                                      </p:to>
                                    </p:set>
                                    <p:anim calcmode="lin" valueType="num">
                                      <p:cBhvr additive="base">
                                        <p:cTn dur="500"/>
                                        <p:tgtEl>
                                          <p:spTgt spid="135"/>
                                        </p:tgtEl>
                                        <p:attrNameLst>
                                          <p:attrName>ppt_w</p:attrName>
                                        </p:attrNameLst>
                                      </p:cBhvr>
                                      <p:tavLst>
                                        <p:tav fmla="" tm="0">
                                          <p:val>
                                            <p:strVal val="0"/>
                                          </p:val>
                                        </p:tav>
                                        <p:tav fmla="" tm="100000">
                                          <p:val>
                                            <p:strVal val="#ppt_w"/>
                                          </p:val>
                                        </p:tav>
                                      </p:tavLst>
                                    </p:anim>
                                    <p:anim calcmode="lin" valueType="num">
                                      <p:cBhvr additive="base">
                                        <p:cTn dur="500"/>
                                        <p:tgtEl>
                                          <p:spTgt spid="13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ppt_w</p:attrName>
                                        </p:attrNameLst>
                                      </p:cBhvr>
                                      <p:tavLst>
                                        <p:tav fmla="" tm="0">
                                          <p:val>
                                            <p:strVal val="0"/>
                                          </p:val>
                                        </p:tav>
                                        <p:tav fmla="" tm="100000">
                                          <p:val>
                                            <p:strVal val="#ppt_w"/>
                                          </p:val>
                                        </p:tav>
                                      </p:tavLst>
                                    </p:anim>
                                    <p:anim calcmode="lin" valueType="num">
                                      <p:cBhvr additive="base">
                                        <p:cTn dur="500"/>
                                        <p:tgtEl>
                                          <p:spTgt spid="13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1"/>
                                        </p:tgtEl>
                                        <p:attrNameLst>
                                          <p:attrName>style.visibility</p:attrName>
                                        </p:attrNameLst>
                                      </p:cBhvr>
                                      <p:to>
                                        <p:strVal val="visible"/>
                                      </p:to>
                                    </p:set>
                                    <p:anim calcmode="lin" valueType="num">
                                      <p:cBhvr additive="base">
                                        <p:cTn dur="500"/>
                                        <p:tgtEl>
                                          <p:spTgt spid="141"/>
                                        </p:tgtEl>
                                        <p:attrNameLst>
                                          <p:attrName>ppt_w</p:attrName>
                                        </p:attrNameLst>
                                      </p:cBhvr>
                                      <p:tavLst>
                                        <p:tav fmla="" tm="0">
                                          <p:val>
                                            <p:strVal val="0"/>
                                          </p:val>
                                        </p:tav>
                                        <p:tav fmla="" tm="100000">
                                          <p:val>
                                            <p:strVal val="#ppt_w"/>
                                          </p:val>
                                        </p:tav>
                                      </p:tavLst>
                                    </p:anim>
                                    <p:anim calcmode="lin" valueType="num">
                                      <p:cBhvr additive="base">
                                        <p:cTn dur="500"/>
                                        <p:tgtEl>
                                          <p:spTgt spid="14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0"/>
          <p:cNvSpPr/>
          <p:nvPr/>
        </p:nvSpPr>
        <p:spPr>
          <a:xfrm>
            <a:off x="688975" y="4775200"/>
            <a:ext cx="7759700" cy="2082800"/>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1" i="1" lang="en-US" sz="2400" u="none" cap="none" strike="noStrike">
                <a:solidFill>
                  <a:schemeClr val="dk1"/>
                </a:solidFill>
                <a:latin typeface="Arial"/>
                <a:ea typeface="Arial"/>
                <a:cs typeface="Arial"/>
                <a:sym typeface="Arial"/>
              </a:rPr>
              <a:t>FYI</a:t>
            </a:r>
            <a:endParaRPr/>
          </a:p>
          <a:p>
            <a:pPr indent="-152400" lvl="0" marL="0" marR="0" rtl="0" algn="l">
              <a:spcBef>
                <a:spcPts val="48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Either </a:t>
            </a:r>
            <a:r>
              <a:rPr b="0" i="1" lang="en-US" sz="2400" u="none" cap="none" strike="noStrike">
                <a:solidFill>
                  <a:schemeClr val="dk1"/>
                </a:solidFill>
                <a:latin typeface="Arial"/>
                <a:ea typeface="Arial"/>
                <a:cs typeface="Arial"/>
                <a:sym typeface="Arial"/>
              </a:rPr>
              <a:t>F</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kq</a:t>
            </a:r>
            <a:r>
              <a:rPr b="0" baseline="-25000" i="0" lang="en-US" sz="2400" u="none" cap="none" strike="noStrike">
                <a:solidFill>
                  <a:schemeClr val="dk1"/>
                </a:solidFill>
                <a:latin typeface="Arial"/>
                <a:ea typeface="Arial"/>
                <a:cs typeface="Arial"/>
                <a:sym typeface="Arial"/>
              </a:rPr>
              <a:t>1</a:t>
            </a:r>
            <a:r>
              <a:rPr b="0" i="1"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2 </a:t>
            </a:r>
            <a:r>
              <a:rPr b="0" i="1" lang="en-US" sz="2400" u="none" cap="none" strike="noStrike">
                <a:solidFill>
                  <a:schemeClr val="dk1"/>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r</a:t>
            </a:r>
            <a:r>
              <a:rPr b="0" baseline="30000" i="0" lang="en-US" sz="2400" u="none" cap="none" strike="noStrike">
                <a:solidFill>
                  <a:schemeClr val="dk1"/>
                </a:solidFill>
                <a:latin typeface="Arial"/>
                <a:ea typeface="Arial"/>
                <a:cs typeface="Arial"/>
                <a:sym typeface="Arial"/>
              </a:rPr>
              <a:t> 2</a:t>
            </a:r>
            <a:r>
              <a:rPr b="0" i="0" lang="en-US" sz="2400" u="none" cap="none" strike="noStrike">
                <a:solidFill>
                  <a:schemeClr val="dk1"/>
                </a:solidFill>
                <a:latin typeface="Arial"/>
                <a:ea typeface="Arial"/>
                <a:cs typeface="Arial"/>
                <a:sym typeface="Arial"/>
              </a:rPr>
              <a:t> or </a:t>
            </a:r>
            <a:r>
              <a:rPr b="0" i="1" lang="en-US" sz="2400" u="none" cap="none" strike="noStrike">
                <a:solidFill>
                  <a:schemeClr val="dk1"/>
                </a:solidFill>
                <a:latin typeface="Arial"/>
                <a:ea typeface="Arial"/>
                <a:cs typeface="Arial"/>
                <a:sym typeface="Arial"/>
              </a:rPr>
              <a:t>F</a:t>
            </a:r>
            <a:r>
              <a:rPr b="0" i="0" lang="en-US" sz="2400" u="none" cap="none" strike="noStrike">
                <a:solidFill>
                  <a:schemeClr val="dk1"/>
                </a:solidFill>
                <a:latin typeface="Arial"/>
                <a:ea typeface="Arial"/>
                <a:cs typeface="Arial"/>
                <a:sym typeface="Arial"/>
              </a:rPr>
              <a:t> = (1/[4πε</a:t>
            </a:r>
            <a:r>
              <a:rPr b="0" baseline="-25000" i="0" lang="en-US" sz="2400" u="none" cap="none" strike="noStrike">
                <a:solidFill>
                  <a:schemeClr val="dk1"/>
                </a:solidFill>
                <a:latin typeface="Arial"/>
                <a:ea typeface="Arial"/>
                <a:cs typeface="Arial"/>
                <a:sym typeface="Arial"/>
              </a:rPr>
              <a:t>0</a:t>
            </a:r>
            <a:r>
              <a:rPr b="0" i="0" lang="en-US" sz="2400" u="none" cap="none" strike="noStrike">
                <a:solidFill>
                  <a:schemeClr val="dk1"/>
                </a:solidFill>
                <a:latin typeface="Arial"/>
                <a:ea typeface="Arial"/>
                <a:cs typeface="Arial"/>
                <a:sym typeface="Arial"/>
              </a:rPr>
              <a:t>])</a:t>
            </a:r>
            <a:r>
              <a:rPr b="0" i="1"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1</a:t>
            </a:r>
            <a:r>
              <a:rPr b="0" i="1"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2 </a:t>
            </a:r>
            <a:r>
              <a:rPr b="0" i="1" lang="en-US" sz="2400" u="none" cap="none" strike="noStrike">
                <a:solidFill>
                  <a:schemeClr val="dk1"/>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r</a:t>
            </a:r>
            <a:r>
              <a:rPr b="0" baseline="30000" i="0" lang="en-US" sz="2400" u="none" cap="none" strike="noStrike">
                <a:solidFill>
                  <a:schemeClr val="dk1"/>
                </a:solidFill>
                <a:latin typeface="Arial"/>
                <a:ea typeface="Arial"/>
                <a:cs typeface="Arial"/>
                <a:sym typeface="Arial"/>
              </a:rPr>
              <a:t>  2</a:t>
            </a:r>
            <a:r>
              <a:rPr b="0" i="0" lang="en-US" sz="2400" u="none" cap="none" strike="noStrike">
                <a:solidFill>
                  <a:schemeClr val="dk1"/>
                </a:solidFill>
                <a:latin typeface="Arial"/>
                <a:ea typeface="Arial"/>
                <a:cs typeface="Arial"/>
                <a:sym typeface="Arial"/>
              </a:rPr>
              <a:t> can be used. It is your choice. The first is easiest, though.</a:t>
            </a:r>
            <a:endParaRPr/>
          </a:p>
          <a:p>
            <a:pPr indent="-152400" lvl="0" marL="0" marR="0" rtl="0" algn="l">
              <a:spcBef>
                <a:spcPts val="48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In Topic D.1, we discovered that the gravitational force is also an </a:t>
            </a:r>
            <a:r>
              <a:rPr b="1" i="0" lang="en-US" sz="2400" u="none" cap="none" strike="noStrike">
                <a:solidFill>
                  <a:schemeClr val="dk1"/>
                </a:solidFill>
                <a:latin typeface="Arial"/>
                <a:ea typeface="Arial"/>
                <a:cs typeface="Arial"/>
                <a:sym typeface="Arial"/>
              </a:rPr>
              <a:t>inverse square law</a:t>
            </a:r>
            <a:r>
              <a:rPr b="0" i="0" lang="en-US" sz="2400" u="none" cap="none" strike="noStrike">
                <a:solidFill>
                  <a:schemeClr val="dk1"/>
                </a:solidFill>
                <a:latin typeface="Arial"/>
                <a:ea typeface="Arial"/>
                <a:cs typeface="Arial"/>
                <a:sym typeface="Arial"/>
              </a:rPr>
              <a:t>.</a:t>
            </a:r>
            <a:endParaRPr/>
          </a:p>
        </p:txBody>
      </p:sp>
      <p:sp>
        <p:nvSpPr>
          <p:cNvPr id="152" name="Google Shape;152;p20"/>
          <p:cNvSpPr/>
          <p:nvPr/>
        </p:nvSpPr>
        <p:spPr>
          <a:xfrm>
            <a:off x="685800" y="1549400"/>
            <a:ext cx="7772400" cy="41275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b="0" i="1" lang="en-US" sz="2400" u="none" cap="none" strike="noStrike">
                <a:solidFill>
                  <a:schemeClr val="accent2"/>
                </a:solidFill>
                <a:latin typeface="Arial"/>
                <a:ea typeface="Arial"/>
                <a:cs typeface="Arial"/>
                <a:sym typeface="Arial"/>
              </a:rPr>
              <a:t>Coulomb’s law </a:t>
            </a:r>
            <a:r>
              <a:rPr b="0" i="1" lang="en-US" sz="2000" u="none" cap="none" strike="noStrike">
                <a:solidFill>
                  <a:srgbClr val="000000"/>
                </a:solidFill>
                <a:latin typeface="Courier New"/>
                <a:ea typeface="Courier New"/>
                <a:cs typeface="Courier New"/>
                <a:sym typeface="Courier New"/>
              </a:rPr>
              <a:t>	</a:t>
            </a:r>
            <a:r>
              <a:rPr b="0" i="0" lang="en-US" sz="2000" u="none" cap="none" strike="noStrike">
                <a:solidFill>
                  <a:srgbClr val="000000"/>
                </a:solidFill>
                <a:latin typeface="Courier New"/>
                <a:ea typeface="Courier New"/>
                <a:cs typeface="Courier New"/>
                <a:sym typeface="Courier New"/>
              </a:rPr>
              <a:t>	</a:t>
            </a:r>
            <a:endParaRPr/>
          </a:p>
        </p:txBody>
      </p:sp>
      <p:sp>
        <p:nvSpPr>
          <p:cNvPr id="153" name="Google Shape;153;p20"/>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sp>
        <p:nvSpPr>
          <p:cNvPr id="154" name="Google Shape;154;p20"/>
          <p:cNvSpPr/>
          <p:nvPr/>
        </p:nvSpPr>
        <p:spPr>
          <a:xfrm>
            <a:off x="687388" y="1963738"/>
            <a:ext cx="7772400" cy="28257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PRACTICE: Show that the numeric value of 1/[4πε</a:t>
            </a:r>
            <a:r>
              <a:rPr b="0" baseline="-25000" i="0" lang="en-US" sz="2400" u="none" cap="none" strike="noStrike">
                <a:solidFill>
                  <a:schemeClr val="dk1"/>
                </a:solidFill>
                <a:latin typeface="Arial"/>
                <a:ea typeface="Arial"/>
                <a:cs typeface="Arial"/>
                <a:sym typeface="Arial"/>
              </a:rPr>
              <a:t>0</a:t>
            </a:r>
            <a:r>
              <a:rPr b="0" i="0" lang="en-US" sz="2400" u="none" cap="none" strike="noStrike">
                <a:solidFill>
                  <a:schemeClr val="dk1"/>
                </a:solidFill>
                <a:latin typeface="Arial"/>
                <a:ea typeface="Arial"/>
                <a:cs typeface="Arial"/>
                <a:sym typeface="Arial"/>
              </a:rPr>
              <a:t>] equals the numeric value of </a:t>
            </a:r>
            <a:r>
              <a:rPr b="0" i="1" lang="en-US" sz="2400" u="none" cap="none" strike="noStrike">
                <a:solidFill>
                  <a:schemeClr val="dk1"/>
                </a:solidFill>
                <a:latin typeface="Arial"/>
                <a:ea typeface="Arial"/>
                <a:cs typeface="Arial"/>
                <a:sym typeface="Arial"/>
              </a:rPr>
              <a:t>k</a:t>
            </a:r>
            <a:r>
              <a:rPr b="0" i="0" lang="en-US" sz="2400" u="none" cap="none" strike="noStrike">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SOLUTION: </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∙We know that </a:t>
            </a:r>
            <a:r>
              <a:rPr b="0" i="1" lang="en-US" sz="2400" u="none" cap="none" strike="noStrike">
                <a:solidFill>
                  <a:schemeClr val="dk1"/>
                </a:solidFill>
                <a:latin typeface="Arial"/>
                <a:ea typeface="Arial"/>
                <a:cs typeface="Arial"/>
                <a:sym typeface="Arial"/>
              </a:rPr>
              <a:t>k</a:t>
            </a:r>
            <a:r>
              <a:rPr b="0" i="0" lang="en-US" sz="2400" u="none" cap="none" strike="noStrike">
                <a:solidFill>
                  <a:schemeClr val="dk1"/>
                </a:solidFill>
                <a:latin typeface="Arial"/>
                <a:ea typeface="Arial"/>
                <a:cs typeface="Arial"/>
                <a:sym typeface="Arial"/>
              </a:rPr>
              <a:t> = 8.99×10</a:t>
            </a:r>
            <a:r>
              <a:rPr b="0" baseline="30000" i="0" lang="en-US" sz="2400" u="none" cap="none" strike="noStrike">
                <a:solidFill>
                  <a:schemeClr val="dk1"/>
                </a:solidFill>
                <a:latin typeface="Arial"/>
                <a:ea typeface="Arial"/>
                <a:cs typeface="Arial"/>
                <a:sym typeface="Arial"/>
              </a:rPr>
              <a:t>9</a:t>
            </a:r>
            <a:r>
              <a:rPr b="0" i="0" lang="en-US" sz="2400" u="none" cap="none" strike="noStrike">
                <a:solidFill>
                  <a:schemeClr val="dk1"/>
                </a:solidFill>
                <a:latin typeface="Arial"/>
                <a:ea typeface="Arial"/>
                <a:cs typeface="Arial"/>
                <a:sym typeface="Arial"/>
              </a:rPr>
              <a:t>. </a:t>
            </a:r>
            <a:endParaRPr b="0" i="0" sz="2400" u="none" cap="none" strike="noStrike">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∙We know that ε</a:t>
            </a:r>
            <a:r>
              <a:rPr b="0" baseline="-25000" i="0" lang="en-US" sz="2400" u="none" cap="none" strike="noStrike">
                <a:solidFill>
                  <a:schemeClr val="dk1"/>
                </a:solidFill>
                <a:latin typeface="Arial"/>
                <a:ea typeface="Arial"/>
                <a:cs typeface="Arial"/>
                <a:sym typeface="Arial"/>
              </a:rPr>
              <a:t>0</a:t>
            </a:r>
            <a:r>
              <a:rPr b="0" i="0" lang="en-US" sz="2400" u="none" cap="none" strike="noStrike">
                <a:solidFill>
                  <a:schemeClr val="dk1"/>
                </a:solidFill>
                <a:latin typeface="Arial"/>
                <a:ea typeface="Arial"/>
                <a:cs typeface="Arial"/>
                <a:sym typeface="Arial"/>
              </a:rPr>
              <a:t> = 8.85×10</a:t>
            </a:r>
            <a:r>
              <a:rPr b="0" baseline="30000" i="0" lang="en-US" sz="2400" u="none" cap="none" strike="noStrike">
                <a:solidFill>
                  <a:schemeClr val="dk1"/>
                </a:solidFill>
                <a:latin typeface="Arial"/>
                <a:ea typeface="Arial"/>
                <a:cs typeface="Arial"/>
                <a:sym typeface="Arial"/>
              </a:rPr>
              <a:t>-12</a:t>
            </a:r>
            <a:r>
              <a:rPr b="0" i="0" lang="en-US" sz="2400" u="none" cap="none" strike="noStrike">
                <a:solidFill>
                  <a:schemeClr val="dk1"/>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∙Then   1/[4πε</a:t>
            </a:r>
            <a:r>
              <a:rPr b="0" baseline="-25000" i="0" lang="en-US" sz="2400" u="none" cap="none" strike="noStrike">
                <a:solidFill>
                  <a:schemeClr val="dk1"/>
                </a:solidFill>
                <a:latin typeface="Arial"/>
                <a:ea typeface="Arial"/>
                <a:cs typeface="Arial"/>
                <a:sym typeface="Arial"/>
              </a:rPr>
              <a:t>0</a:t>
            </a:r>
            <a:r>
              <a:rPr b="0" i="0" lang="en-US" sz="2400" u="none" cap="none" strike="noStrike">
                <a:solidFill>
                  <a:schemeClr val="dk1"/>
                </a:solidFill>
                <a:latin typeface="Arial"/>
                <a:ea typeface="Arial"/>
                <a:cs typeface="Arial"/>
                <a:sym typeface="Arial"/>
              </a:rPr>
              <a:t>] = 1 </a:t>
            </a:r>
            <a:r>
              <a:rPr b="0" i="1" lang="en-US" sz="2400" u="none" cap="none" strike="noStrike">
                <a:solidFill>
                  <a:schemeClr val="dk1"/>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 [4π×8.85×10</a:t>
            </a:r>
            <a:r>
              <a:rPr b="0" baseline="30000" i="0" lang="en-US" sz="2400" u="none" cap="none" strike="noStrike">
                <a:solidFill>
                  <a:schemeClr val="dk1"/>
                </a:solidFill>
                <a:latin typeface="Arial"/>
                <a:ea typeface="Arial"/>
                <a:cs typeface="Arial"/>
                <a:sym typeface="Arial"/>
              </a:rPr>
              <a:t>-12</a:t>
            </a:r>
            <a:r>
              <a:rPr b="0" i="0" lang="en-US" sz="2400" u="none" cap="none" strike="noStrike">
                <a:solidFill>
                  <a:schemeClr val="dk1"/>
                </a:solidFill>
                <a:latin typeface="Arial"/>
                <a:ea typeface="Arial"/>
                <a:cs typeface="Arial"/>
                <a:sym typeface="Arial"/>
              </a:rPr>
              <a:t>] = 8.99×10</a:t>
            </a:r>
            <a:r>
              <a:rPr b="0" baseline="30000" i="0" lang="en-US" sz="2400" u="none" cap="none" strike="noStrike">
                <a:solidFill>
                  <a:schemeClr val="dk1"/>
                </a:solidFill>
                <a:latin typeface="Arial"/>
                <a:ea typeface="Arial"/>
                <a:cs typeface="Arial"/>
                <a:sym typeface="Arial"/>
              </a:rPr>
              <a:t>9</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k</a:t>
            </a:r>
            <a:r>
              <a:rPr b="0" i="0" lang="en-US" sz="2400" u="none" cap="none" strike="noStrike">
                <a:solidFill>
                  <a:schemeClr val="dk1"/>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4">
                                            <p:txEl>
                                              <p:pRg end="0" st="0"/>
                                            </p:txEl>
                                          </p:spTgt>
                                        </p:tgtEl>
                                        <p:attrNameLst>
                                          <p:attrName>style.visibility</p:attrName>
                                        </p:attrNameLst>
                                      </p:cBhvr>
                                      <p:to>
                                        <p:strVal val="visible"/>
                                      </p:to>
                                    </p:set>
                                    <p:anim calcmode="lin" valueType="num">
                                      <p:cBhvr additive="base">
                                        <p:cTn dur="500"/>
                                        <p:tgtEl>
                                          <p:spTgt spid="15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4">
                                            <p:txEl>
                                              <p:pRg end="1" st="1"/>
                                            </p:txEl>
                                          </p:spTgt>
                                        </p:tgtEl>
                                        <p:attrNameLst>
                                          <p:attrName>style.visibility</p:attrName>
                                        </p:attrNameLst>
                                      </p:cBhvr>
                                      <p:to>
                                        <p:strVal val="visible"/>
                                      </p:to>
                                    </p:set>
                                    <p:anim calcmode="lin" valueType="num">
                                      <p:cBhvr additive="base">
                                        <p:cTn dur="500"/>
                                        <p:tgtEl>
                                          <p:spTgt spid="15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4">
                                            <p:txEl>
                                              <p:pRg end="2" st="2"/>
                                            </p:txEl>
                                          </p:spTgt>
                                        </p:tgtEl>
                                        <p:attrNameLst>
                                          <p:attrName>style.visibility</p:attrName>
                                        </p:attrNameLst>
                                      </p:cBhvr>
                                      <p:to>
                                        <p:strVal val="visible"/>
                                      </p:to>
                                    </p:set>
                                    <p:anim calcmode="lin" valueType="num">
                                      <p:cBhvr additive="base">
                                        <p:cTn dur="500"/>
                                        <p:tgtEl>
                                          <p:spTgt spid="15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4">
                                            <p:txEl>
                                              <p:pRg end="3" st="3"/>
                                            </p:txEl>
                                          </p:spTgt>
                                        </p:tgtEl>
                                        <p:attrNameLst>
                                          <p:attrName>style.visibility</p:attrName>
                                        </p:attrNameLst>
                                      </p:cBhvr>
                                      <p:to>
                                        <p:strVal val="visible"/>
                                      </p:to>
                                    </p:set>
                                    <p:anim calcmode="lin" valueType="num">
                                      <p:cBhvr additive="base">
                                        <p:cTn dur="500"/>
                                        <p:tgtEl>
                                          <p:spTgt spid="15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4">
                                            <p:txEl>
                                              <p:pRg end="4" st="4"/>
                                            </p:txEl>
                                          </p:spTgt>
                                        </p:tgtEl>
                                        <p:attrNameLst>
                                          <p:attrName>style.visibility</p:attrName>
                                        </p:attrNameLst>
                                      </p:cBhvr>
                                      <p:to>
                                        <p:strVal val="visible"/>
                                      </p:to>
                                    </p:set>
                                    <p:anim calcmode="lin" valueType="num">
                                      <p:cBhvr additive="base">
                                        <p:cTn dur="500"/>
                                        <p:tgtEl>
                                          <p:spTgt spid="15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1"/>
          <p:cNvSpPr/>
          <p:nvPr/>
        </p:nvSpPr>
        <p:spPr>
          <a:xfrm>
            <a:off x="687388" y="1936750"/>
            <a:ext cx="7772400" cy="49212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PRACTICE: </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Find the Coulomb force between two electrons located 1.0 cm apart. </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SOLUTION: </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∙Note </a:t>
            </a:r>
            <a:r>
              <a:rPr b="0" i="1" lang="en-US" sz="2400" u="none" cap="none" strike="noStrike">
                <a:solidFill>
                  <a:schemeClr val="dk1"/>
                </a:solidFill>
                <a:latin typeface="Arial"/>
                <a:ea typeface="Arial"/>
                <a:cs typeface="Arial"/>
                <a:sym typeface="Arial"/>
              </a:rPr>
              <a:t>r</a:t>
            </a:r>
            <a:r>
              <a:rPr b="0" i="0" lang="en-US" sz="2400" u="none" cap="none" strike="noStrike">
                <a:solidFill>
                  <a:schemeClr val="dk1"/>
                </a:solidFill>
                <a:latin typeface="Arial"/>
                <a:ea typeface="Arial"/>
                <a:cs typeface="Arial"/>
                <a:sym typeface="Arial"/>
              </a:rPr>
              <a:t> = 1.0 cm = 0.010 m.</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∙Note </a:t>
            </a:r>
            <a:r>
              <a:rPr b="0" i="1"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1</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e </a:t>
            </a:r>
            <a:r>
              <a:rPr b="0" i="0" lang="en-US" sz="2400" u="none" cap="none" strike="noStrike">
                <a:solidFill>
                  <a:schemeClr val="dk1"/>
                </a:solidFill>
                <a:latin typeface="Arial"/>
                <a:ea typeface="Arial"/>
                <a:cs typeface="Arial"/>
                <a:sym typeface="Arial"/>
              </a:rPr>
              <a:t>= 1.60×10</a:t>
            </a:r>
            <a:r>
              <a:rPr b="0" baseline="30000" i="0" lang="en-US" sz="2400" u="none" cap="none" strike="noStrike">
                <a:solidFill>
                  <a:schemeClr val="dk1"/>
                </a:solidFill>
                <a:latin typeface="Arial"/>
                <a:ea typeface="Arial"/>
                <a:cs typeface="Arial"/>
                <a:sym typeface="Arial"/>
              </a:rPr>
              <a:t>-19 </a:t>
            </a:r>
            <a:r>
              <a:rPr b="0" i="0" lang="en-US" sz="2400" u="none" cap="none" strike="noStrike">
                <a:solidFill>
                  <a:schemeClr val="dk1"/>
                </a:solidFill>
                <a:latin typeface="Arial"/>
                <a:ea typeface="Arial"/>
                <a:cs typeface="Arial"/>
                <a:sym typeface="Arial"/>
              </a:rPr>
              <a:t>C.</a:t>
            </a:r>
            <a:endParaRPr b="0" i="0" sz="2400" u="none" cap="none" strike="noStrike">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∙Note </a:t>
            </a:r>
            <a:r>
              <a:rPr b="0" i="1"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2</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e </a:t>
            </a:r>
            <a:r>
              <a:rPr b="0" i="0" lang="en-US" sz="2400" u="none" cap="none" strike="noStrike">
                <a:solidFill>
                  <a:schemeClr val="dk1"/>
                </a:solidFill>
                <a:latin typeface="Arial"/>
                <a:ea typeface="Arial"/>
                <a:cs typeface="Arial"/>
                <a:sym typeface="Arial"/>
              </a:rPr>
              <a:t>= 1.60×10</a:t>
            </a:r>
            <a:r>
              <a:rPr b="0" baseline="30000" i="0" lang="en-US" sz="2400" u="none" cap="none" strike="noStrike">
                <a:solidFill>
                  <a:schemeClr val="dk1"/>
                </a:solidFill>
                <a:latin typeface="Arial"/>
                <a:ea typeface="Arial"/>
                <a:cs typeface="Arial"/>
                <a:sym typeface="Arial"/>
              </a:rPr>
              <a:t>-19 </a:t>
            </a:r>
            <a:r>
              <a:rPr b="0" i="0" lang="en-US" sz="2400" u="none" cap="none" strike="noStrike">
                <a:solidFill>
                  <a:schemeClr val="dk1"/>
                </a:solidFill>
                <a:latin typeface="Arial"/>
                <a:ea typeface="Arial"/>
                <a:cs typeface="Arial"/>
                <a:sym typeface="Arial"/>
              </a:rPr>
              <a:t>C. </a:t>
            </a:r>
            <a:endParaRPr b="0" i="0" sz="2400" u="none" cap="none" strike="noStrike">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∙From </a:t>
            </a:r>
            <a:r>
              <a:rPr b="0" i="1" lang="en-US" sz="2400" u="none" cap="none" strike="noStrike">
                <a:solidFill>
                  <a:schemeClr val="dk1"/>
                </a:solidFill>
                <a:latin typeface="Arial"/>
                <a:ea typeface="Arial"/>
                <a:cs typeface="Arial"/>
                <a:sym typeface="Arial"/>
              </a:rPr>
              <a:t>F</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kq</a:t>
            </a:r>
            <a:r>
              <a:rPr b="0" baseline="-25000" i="0" lang="en-US" sz="2400" u="none" cap="none" strike="noStrike">
                <a:solidFill>
                  <a:schemeClr val="dk1"/>
                </a:solidFill>
                <a:latin typeface="Arial"/>
                <a:ea typeface="Arial"/>
                <a:cs typeface="Arial"/>
                <a:sym typeface="Arial"/>
              </a:rPr>
              <a:t>1</a:t>
            </a:r>
            <a:r>
              <a:rPr b="0" i="1"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2 </a:t>
            </a:r>
            <a:r>
              <a:rPr b="0" i="1" lang="en-US" sz="2400" u="none" cap="none" strike="noStrike">
                <a:solidFill>
                  <a:schemeClr val="dk1"/>
                </a:solidFill>
                <a:latin typeface="Arial"/>
                <a:ea typeface="Arial"/>
                <a:cs typeface="Arial"/>
                <a:sym typeface="Arial"/>
              </a:rPr>
              <a:t>/ r</a:t>
            </a:r>
            <a:r>
              <a:rPr b="0" baseline="30000" i="0" lang="en-US" sz="2400" u="none" cap="none" strike="noStrike">
                <a:solidFill>
                  <a:schemeClr val="dk1"/>
                </a:solidFill>
                <a:latin typeface="Arial"/>
                <a:ea typeface="Arial"/>
                <a:cs typeface="Arial"/>
                <a:sym typeface="Arial"/>
              </a:rPr>
              <a:t> 2</a:t>
            </a:r>
            <a:endParaRPr b="0" i="0" sz="2400" u="none" cap="none" strike="noStrike">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b="0" i="1" lang="en-US" sz="2400" u="none" cap="none" strike="noStrike">
                <a:solidFill>
                  <a:schemeClr val="dk1"/>
                </a:solidFill>
                <a:latin typeface="Arial"/>
                <a:ea typeface="Arial"/>
                <a:cs typeface="Arial"/>
                <a:sym typeface="Arial"/>
              </a:rPr>
              <a:t>	       F</a:t>
            </a:r>
            <a:r>
              <a:rPr b="0" i="0" lang="en-US" sz="2400" u="none" cap="none" strike="noStrike">
                <a:solidFill>
                  <a:schemeClr val="dk1"/>
                </a:solidFill>
                <a:latin typeface="Arial"/>
                <a:ea typeface="Arial"/>
                <a:cs typeface="Arial"/>
                <a:sym typeface="Arial"/>
              </a:rPr>
              <a:t>	= 8.99×10</a:t>
            </a:r>
            <a:r>
              <a:rPr b="0" baseline="30000" i="0" lang="en-US" sz="2400" u="none" cap="none" strike="noStrike">
                <a:solidFill>
                  <a:schemeClr val="dk1"/>
                </a:solidFill>
                <a:latin typeface="Arial"/>
                <a:ea typeface="Arial"/>
                <a:cs typeface="Arial"/>
                <a:sym typeface="Arial"/>
              </a:rPr>
              <a:t>9</a:t>
            </a:r>
            <a:r>
              <a:rPr b="0" i="0" lang="en-US" sz="2400" u="none" cap="none" strike="noStrike">
                <a:solidFill>
                  <a:schemeClr val="dk1"/>
                </a:solidFill>
                <a:latin typeface="Arial"/>
                <a:ea typeface="Arial"/>
                <a:cs typeface="Arial"/>
                <a:sym typeface="Arial"/>
              </a:rPr>
              <a:t>×(1.60×10</a:t>
            </a:r>
            <a:r>
              <a:rPr b="0" baseline="30000" i="0" lang="en-US" sz="2400" u="none" cap="none" strike="noStrike">
                <a:solidFill>
                  <a:schemeClr val="dk1"/>
                </a:solidFill>
                <a:latin typeface="Arial"/>
                <a:ea typeface="Arial"/>
                <a:cs typeface="Arial"/>
                <a:sym typeface="Arial"/>
              </a:rPr>
              <a:t>-19</a:t>
            </a:r>
            <a:r>
              <a:rPr b="0" i="0" lang="en-US" sz="2400" u="none" cap="none" strike="noStrike">
                <a:solidFill>
                  <a:schemeClr val="dk1"/>
                </a:solidFill>
                <a:latin typeface="Arial"/>
                <a:ea typeface="Arial"/>
                <a:cs typeface="Arial"/>
                <a:sym typeface="Arial"/>
              </a:rPr>
              <a:t>)</a:t>
            </a:r>
            <a:r>
              <a:rPr b="0" baseline="30000" i="0" lang="en-US" sz="2400" u="none" cap="none" strike="noStrike">
                <a:solidFill>
                  <a:schemeClr val="dk1"/>
                </a:solidFill>
                <a:latin typeface="Arial"/>
                <a:ea typeface="Arial"/>
                <a:cs typeface="Arial"/>
                <a:sym typeface="Arial"/>
              </a:rPr>
              <a:t>2 </a:t>
            </a:r>
            <a:r>
              <a:rPr b="0" i="1"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0.010</a:t>
            </a:r>
            <a:r>
              <a:rPr b="0" baseline="30000" i="0" lang="en-US" sz="2400" u="none" cap="none" strike="noStrike">
                <a:solidFill>
                  <a:schemeClr val="dk1"/>
                </a:solidFill>
                <a:latin typeface="Arial"/>
                <a:ea typeface="Arial"/>
                <a:cs typeface="Arial"/>
                <a:sym typeface="Arial"/>
              </a:rPr>
              <a:t>2 </a:t>
            </a:r>
            <a:endParaRPr/>
          </a:p>
          <a:p>
            <a:pPr indent="0" lvl="0" marL="0" marR="0" rtl="0" algn="l">
              <a:spcBef>
                <a:spcPts val="480"/>
              </a:spcBef>
              <a:spcAft>
                <a:spcPts val="0"/>
              </a:spcAft>
              <a:buClr>
                <a:schemeClr val="dk1"/>
              </a:buClr>
              <a:buSzPts val="2400"/>
              <a:buFont typeface="Arial"/>
              <a:buNone/>
            </a:pPr>
            <a:r>
              <a:rPr b="0" baseline="30000" i="0"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 2.30×10</a:t>
            </a:r>
            <a:r>
              <a:rPr b="0" baseline="30000" i="0" lang="en-US" sz="2400" u="none" cap="none" strike="noStrike">
                <a:solidFill>
                  <a:schemeClr val="dk1"/>
                </a:solidFill>
                <a:latin typeface="Arial"/>
                <a:ea typeface="Arial"/>
                <a:cs typeface="Arial"/>
                <a:sym typeface="Arial"/>
              </a:rPr>
              <a:t>-24</a:t>
            </a:r>
            <a:r>
              <a:rPr b="0" i="0" lang="en-US" sz="2400" u="none" cap="none" strike="noStrike">
                <a:solidFill>
                  <a:schemeClr val="dk1"/>
                </a:solidFill>
                <a:latin typeface="Arial"/>
                <a:ea typeface="Arial"/>
                <a:cs typeface="Arial"/>
                <a:sym typeface="Arial"/>
              </a:rPr>
              <a:t> N.</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∙Since like charges repel the electrons repel.</a:t>
            </a:r>
            <a:endParaRPr b="0" i="0" sz="2400" u="none" cap="none" strike="noStrike">
              <a:solidFill>
                <a:schemeClr val="dk1"/>
              </a:solidFill>
              <a:latin typeface="Arial"/>
              <a:ea typeface="Arial"/>
              <a:cs typeface="Arial"/>
              <a:sym typeface="Arial"/>
            </a:endParaRPr>
          </a:p>
        </p:txBody>
      </p:sp>
      <p:sp>
        <p:nvSpPr>
          <p:cNvPr id="160" name="Google Shape;160;p21"/>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sp>
        <p:nvSpPr>
          <p:cNvPr id="161" name="Google Shape;161;p21"/>
          <p:cNvSpPr/>
          <p:nvPr/>
        </p:nvSpPr>
        <p:spPr>
          <a:xfrm>
            <a:off x="685800" y="1549400"/>
            <a:ext cx="7772400" cy="41275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b="0" i="1" lang="en-US" sz="2400" u="none" cap="none" strike="noStrike">
                <a:solidFill>
                  <a:schemeClr val="accent2"/>
                </a:solidFill>
                <a:latin typeface="Arial"/>
                <a:ea typeface="Arial"/>
                <a:cs typeface="Arial"/>
                <a:sym typeface="Arial"/>
              </a:rPr>
              <a:t>Coulomb’s law </a:t>
            </a:r>
            <a:r>
              <a:rPr b="0" i="1" lang="en-US" sz="2000" u="none" cap="none" strike="noStrike">
                <a:solidFill>
                  <a:srgbClr val="000000"/>
                </a:solidFill>
                <a:latin typeface="Courier New"/>
                <a:ea typeface="Courier New"/>
                <a:cs typeface="Courier New"/>
                <a:sym typeface="Courier New"/>
              </a:rPr>
              <a:t>	</a:t>
            </a:r>
            <a:r>
              <a:rPr b="0" i="0" lang="en-US" sz="2000" u="none" cap="none" strike="noStrike">
                <a:solidFill>
                  <a:srgbClr val="000000"/>
                </a:solidFill>
                <a:latin typeface="Courier New"/>
                <a:ea typeface="Courier New"/>
                <a:cs typeface="Courier New"/>
                <a:sym typeface="Courier New"/>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anim calcmode="lin" valueType="num">
                                      <p:cBhvr additive="base">
                                        <p:cTn dur="500"/>
                                        <p:tgtEl>
                                          <p:spTgt spid="15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
                                            <p:txEl>
                                              <p:pRg end="1" st="1"/>
                                            </p:txEl>
                                          </p:spTgt>
                                        </p:tgtEl>
                                        <p:attrNameLst>
                                          <p:attrName>style.visibility</p:attrName>
                                        </p:attrNameLst>
                                      </p:cBhvr>
                                      <p:to>
                                        <p:strVal val="visible"/>
                                      </p:to>
                                    </p:set>
                                    <p:anim calcmode="lin" valueType="num">
                                      <p:cBhvr additive="base">
                                        <p:cTn dur="500"/>
                                        <p:tgtEl>
                                          <p:spTgt spid="15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
                                            <p:txEl>
                                              <p:pRg end="2" st="2"/>
                                            </p:txEl>
                                          </p:spTgt>
                                        </p:tgtEl>
                                        <p:attrNameLst>
                                          <p:attrName>style.visibility</p:attrName>
                                        </p:attrNameLst>
                                      </p:cBhvr>
                                      <p:to>
                                        <p:strVal val="visible"/>
                                      </p:to>
                                    </p:set>
                                    <p:anim calcmode="lin" valueType="num">
                                      <p:cBhvr additive="base">
                                        <p:cTn dur="500"/>
                                        <p:tgtEl>
                                          <p:spTgt spid="15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
                                            <p:txEl>
                                              <p:pRg end="3" st="3"/>
                                            </p:txEl>
                                          </p:spTgt>
                                        </p:tgtEl>
                                        <p:attrNameLst>
                                          <p:attrName>style.visibility</p:attrName>
                                        </p:attrNameLst>
                                      </p:cBhvr>
                                      <p:to>
                                        <p:strVal val="visible"/>
                                      </p:to>
                                    </p:set>
                                    <p:anim calcmode="lin" valueType="num">
                                      <p:cBhvr additive="base">
                                        <p:cTn dur="500"/>
                                        <p:tgtEl>
                                          <p:spTgt spid="15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
                                            <p:txEl>
                                              <p:pRg end="4" st="4"/>
                                            </p:txEl>
                                          </p:spTgt>
                                        </p:tgtEl>
                                        <p:attrNameLst>
                                          <p:attrName>style.visibility</p:attrName>
                                        </p:attrNameLst>
                                      </p:cBhvr>
                                      <p:to>
                                        <p:strVal val="visible"/>
                                      </p:to>
                                    </p:set>
                                    <p:anim calcmode="lin" valueType="num">
                                      <p:cBhvr additive="base">
                                        <p:cTn dur="500"/>
                                        <p:tgtEl>
                                          <p:spTgt spid="15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
                                            <p:txEl>
                                              <p:pRg end="5" st="5"/>
                                            </p:txEl>
                                          </p:spTgt>
                                        </p:tgtEl>
                                        <p:attrNameLst>
                                          <p:attrName>style.visibility</p:attrName>
                                        </p:attrNameLst>
                                      </p:cBhvr>
                                      <p:to>
                                        <p:strVal val="visible"/>
                                      </p:to>
                                    </p:set>
                                    <p:anim calcmode="lin" valueType="num">
                                      <p:cBhvr additive="base">
                                        <p:cTn dur="500"/>
                                        <p:tgtEl>
                                          <p:spTgt spid="15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
                                            <p:txEl>
                                              <p:pRg end="6" st="6"/>
                                            </p:txEl>
                                          </p:spTgt>
                                        </p:tgtEl>
                                        <p:attrNameLst>
                                          <p:attrName>style.visibility</p:attrName>
                                        </p:attrNameLst>
                                      </p:cBhvr>
                                      <p:to>
                                        <p:strVal val="visible"/>
                                      </p:to>
                                    </p:set>
                                    <p:anim calcmode="lin" valueType="num">
                                      <p:cBhvr additive="base">
                                        <p:cTn dur="500"/>
                                        <p:tgtEl>
                                          <p:spTgt spid="15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
                                            <p:txEl>
                                              <p:pRg end="7" st="7"/>
                                            </p:txEl>
                                          </p:spTgt>
                                        </p:tgtEl>
                                        <p:attrNameLst>
                                          <p:attrName>style.visibility</p:attrName>
                                        </p:attrNameLst>
                                      </p:cBhvr>
                                      <p:to>
                                        <p:strVal val="visible"/>
                                      </p:to>
                                    </p:set>
                                    <p:anim calcmode="lin" valueType="num">
                                      <p:cBhvr additive="base">
                                        <p:cTn dur="500"/>
                                        <p:tgtEl>
                                          <p:spTgt spid="159">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
                                            <p:txEl>
                                              <p:pRg end="8" st="8"/>
                                            </p:txEl>
                                          </p:spTgt>
                                        </p:tgtEl>
                                        <p:attrNameLst>
                                          <p:attrName>style.visibility</p:attrName>
                                        </p:attrNameLst>
                                      </p:cBhvr>
                                      <p:to>
                                        <p:strVal val="visible"/>
                                      </p:to>
                                    </p:set>
                                    <p:anim calcmode="lin" valueType="num">
                                      <p:cBhvr additive="base">
                                        <p:cTn dur="500"/>
                                        <p:tgtEl>
                                          <p:spTgt spid="159">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
                                            <p:txEl>
                                              <p:pRg end="9" st="9"/>
                                            </p:txEl>
                                          </p:spTgt>
                                        </p:tgtEl>
                                        <p:attrNameLst>
                                          <p:attrName>style.visibility</p:attrName>
                                        </p:attrNameLst>
                                      </p:cBhvr>
                                      <p:to>
                                        <p:strVal val="visible"/>
                                      </p:to>
                                    </p:set>
                                    <p:anim calcmode="lin" valueType="num">
                                      <p:cBhvr additive="base">
                                        <p:cTn dur="500"/>
                                        <p:tgtEl>
                                          <p:spTgt spid="159">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2"/>
          <p:cNvSpPr/>
          <p:nvPr/>
        </p:nvSpPr>
        <p:spPr>
          <a:xfrm>
            <a:off x="687388" y="1936750"/>
            <a:ext cx="7772400" cy="49212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PRACTICE:  The ε</a:t>
            </a:r>
            <a:r>
              <a:rPr b="0" baseline="-25000" i="0" lang="en-US" sz="2400" u="none" cap="none" strike="noStrike">
                <a:solidFill>
                  <a:schemeClr val="dk1"/>
                </a:solidFill>
                <a:latin typeface="Arial"/>
                <a:ea typeface="Arial"/>
                <a:cs typeface="Arial"/>
                <a:sym typeface="Arial"/>
              </a:rPr>
              <a:t>0</a:t>
            </a:r>
            <a:r>
              <a:rPr b="0" i="0" lang="en-US" sz="2400" u="none" cap="none" strike="noStrike">
                <a:solidFill>
                  <a:schemeClr val="dk1"/>
                </a:solidFill>
                <a:latin typeface="Arial"/>
                <a:ea typeface="Arial"/>
                <a:cs typeface="Arial"/>
                <a:sym typeface="Arial"/>
              </a:rPr>
              <a:t> in Coulomb’s law                                        </a:t>
            </a:r>
            <a:r>
              <a:rPr b="0" i="1" lang="en-US" sz="2400" u="none" cap="none" strike="noStrike">
                <a:solidFill>
                  <a:schemeClr val="dk1"/>
                </a:solidFill>
                <a:latin typeface="Arial"/>
                <a:ea typeface="Arial"/>
                <a:cs typeface="Arial"/>
                <a:sym typeface="Arial"/>
              </a:rPr>
              <a:t>F</a:t>
            </a:r>
            <a:r>
              <a:rPr b="0" i="0" lang="en-US" sz="2400" u="none" cap="none" strike="noStrike">
                <a:solidFill>
                  <a:schemeClr val="dk1"/>
                </a:solidFill>
                <a:latin typeface="Arial"/>
                <a:ea typeface="Arial"/>
                <a:cs typeface="Arial"/>
                <a:sym typeface="Arial"/>
              </a:rPr>
              <a:t> = (1/[4πε</a:t>
            </a:r>
            <a:r>
              <a:rPr b="0" baseline="-25000" i="0" lang="en-US" sz="2400" u="none" cap="none" strike="noStrike">
                <a:solidFill>
                  <a:schemeClr val="dk1"/>
                </a:solidFill>
                <a:latin typeface="Arial"/>
                <a:ea typeface="Arial"/>
                <a:cs typeface="Arial"/>
                <a:sym typeface="Arial"/>
              </a:rPr>
              <a:t>0</a:t>
            </a:r>
            <a:r>
              <a:rPr b="0" i="0" lang="en-US" sz="2400" u="none" cap="none" strike="noStrike">
                <a:solidFill>
                  <a:schemeClr val="dk1"/>
                </a:solidFill>
                <a:latin typeface="Arial"/>
                <a:ea typeface="Arial"/>
                <a:cs typeface="Arial"/>
                <a:sym typeface="Arial"/>
              </a:rPr>
              <a:t>])</a:t>
            </a:r>
            <a:r>
              <a:rPr b="0" i="1"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1</a:t>
            </a:r>
            <a:r>
              <a:rPr b="0" i="1"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2 </a:t>
            </a:r>
            <a:r>
              <a:rPr b="0" i="1" lang="en-US" sz="2400" u="none" cap="none" strike="noStrike">
                <a:solidFill>
                  <a:schemeClr val="dk1"/>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r</a:t>
            </a:r>
            <a:r>
              <a:rPr b="0" baseline="30000" i="0" lang="en-US" sz="2400" u="none" cap="none" strike="noStrike">
                <a:solidFill>
                  <a:schemeClr val="dk1"/>
                </a:solidFill>
                <a:latin typeface="Arial"/>
                <a:ea typeface="Arial"/>
                <a:cs typeface="Arial"/>
                <a:sym typeface="Arial"/>
              </a:rPr>
              <a:t>  2</a:t>
            </a:r>
            <a:r>
              <a:rPr b="0" i="0" lang="en-US" sz="2400" u="none" cap="none" strike="noStrike">
                <a:solidFill>
                  <a:schemeClr val="dk1"/>
                </a:solidFill>
                <a:latin typeface="Arial"/>
                <a:ea typeface="Arial"/>
                <a:cs typeface="Arial"/>
                <a:sym typeface="Arial"/>
              </a:rPr>
              <a:t> is called the </a:t>
            </a:r>
            <a:r>
              <a:rPr b="1" i="0" lang="en-US" sz="2400" u="none" cap="none" strike="noStrike">
                <a:solidFill>
                  <a:schemeClr val="dk1"/>
                </a:solidFill>
                <a:latin typeface="Arial"/>
                <a:ea typeface="Arial"/>
                <a:cs typeface="Arial"/>
                <a:sym typeface="Arial"/>
              </a:rPr>
              <a:t>permittivity                          of free space</a:t>
            </a:r>
            <a:r>
              <a:rPr b="0" i="0" lang="en-US" sz="2400" u="none" cap="none" strike="noStrike">
                <a:solidFill>
                  <a:schemeClr val="dk1"/>
                </a:solidFill>
                <a:latin typeface="Arial"/>
                <a:ea typeface="Arial"/>
                <a:cs typeface="Arial"/>
                <a:sym typeface="Arial"/>
              </a:rPr>
              <a:t>. In general, different materials                          have different permittivities ε, and Coulomb’s law has a more general form: </a:t>
            </a:r>
            <a:r>
              <a:rPr b="0" i="1" lang="en-US" sz="2400" u="none" cap="none" strike="noStrike">
                <a:solidFill>
                  <a:schemeClr val="dk1"/>
                </a:solidFill>
                <a:latin typeface="Arial"/>
                <a:ea typeface="Arial"/>
                <a:cs typeface="Arial"/>
                <a:sym typeface="Arial"/>
              </a:rPr>
              <a:t>F</a:t>
            </a:r>
            <a:r>
              <a:rPr b="0" i="0" lang="en-US" sz="2400" u="none" cap="none" strike="noStrike">
                <a:solidFill>
                  <a:schemeClr val="dk1"/>
                </a:solidFill>
                <a:latin typeface="Arial"/>
                <a:ea typeface="Arial"/>
                <a:cs typeface="Arial"/>
                <a:sym typeface="Arial"/>
              </a:rPr>
              <a:t> = (1/[4πε])</a:t>
            </a:r>
            <a:r>
              <a:rPr b="0" i="1"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1</a:t>
            </a:r>
            <a:r>
              <a:rPr b="0" i="1"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2 </a:t>
            </a:r>
            <a:r>
              <a:rPr b="0" i="1" lang="en-US" sz="2400" u="none" cap="none" strike="noStrike">
                <a:solidFill>
                  <a:schemeClr val="dk1"/>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r</a:t>
            </a:r>
            <a:r>
              <a:rPr b="0" baseline="30000" i="0" lang="en-US" sz="2400" u="none" cap="none" strike="noStrike">
                <a:solidFill>
                  <a:schemeClr val="dk1"/>
                </a:solidFill>
                <a:latin typeface="Arial"/>
                <a:ea typeface="Arial"/>
                <a:cs typeface="Arial"/>
                <a:sym typeface="Arial"/>
              </a:rPr>
              <a:t> 2</a:t>
            </a:r>
            <a:r>
              <a:rPr b="0" i="0" lang="en-US" sz="2400" u="none" cap="none" strike="noStrike">
                <a:solidFill>
                  <a:schemeClr val="dk1"/>
                </a:solidFill>
                <a:latin typeface="Arial"/>
                <a:ea typeface="Arial"/>
                <a:cs typeface="Arial"/>
                <a:sym typeface="Arial"/>
              </a:rPr>
              <a:t>. If the two electrons are embedded in a chunk of quartz, having a permittivity of 12ε</a:t>
            </a:r>
            <a:r>
              <a:rPr b="0" baseline="-25000" i="0" lang="en-US" sz="2400" u="none" cap="none" strike="noStrike">
                <a:solidFill>
                  <a:schemeClr val="dk1"/>
                </a:solidFill>
                <a:latin typeface="Arial"/>
                <a:ea typeface="Arial"/>
                <a:cs typeface="Arial"/>
                <a:sym typeface="Arial"/>
              </a:rPr>
              <a:t>0</a:t>
            </a:r>
            <a:r>
              <a:rPr b="0" i="0" lang="en-US" sz="2400" u="none" cap="none" strike="noStrike">
                <a:solidFill>
                  <a:schemeClr val="dk1"/>
                </a:solidFill>
                <a:latin typeface="Arial"/>
                <a:ea typeface="Arial"/>
                <a:cs typeface="Arial"/>
                <a:sym typeface="Arial"/>
              </a:rPr>
              <a:t>, what will the Coulomb force be between them if they are 1.0 cm apart?</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SOLUTION: </a:t>
            </a:r>
            <a:endParaRPr/>
          </a:p>
          <a:p>
            <a:pPr indent="0" lvl="0" marL="0" marR="0" rtl="0" algn="l">
              <a:spcBef>
                <a:spcPts val="480"/>
              </a:spcBef>
              <a:spcAft>
                <a:spcPts val="0"/>
              </a:spcAft>
              <a:buClr>
                <a:schemeClr val="dk1"/>
              </a:buClr>
              <a:buSzPts val="2400"/>
              <a:buFont typeface="Arial"/>
              <a:buNone/>
            </a:pPr>
            <a:r>
              <a:rPr b="0" i="1" lang="en-US" sz="2400" u="none" cap="none" strike="noStrike">
                <a:solidFill>
                  <a:schemeClr val="dk1"/>
                </a:solidFill>
                <a:latin typeface="Arial"/>
                <a:ea typeface="Arial"/>
                <a:cs typeface="Arial"/>
                <a:sym typeface="Arial"/>
              </a:rPr>
              <a:t>       F</a:t>
            </a:r>
            <a:r>
              <a:rPr b="0" i="0" lang="en-US" sz="2400" u="none" cap="none" strike="noStrike">
                <a:solidFill>
                  <a:schemeClr val="dk1"/>
                </a:solidFill>
                <a:latin typeface="Arial"/>
                <a:ea typeface="Arial"/>
                <a:cs typeface="Arial"/>
                <a:sym typeface="Arial"/>
              </a:rPr>
              <a:t> 	= (1/[4πε])</a:t>
            </a:r>
            <a:r>
              <a:rPr b="0" i="1"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1</a:t>
            </a:r>
            <a:r>
              <a:rPr b="0" i="1"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2 </a:t>
            </a:r>
            <a:r>
              <a:rPr b="0" i="1" lang="en-US" sz="2400" u="none" cap="none" strike="noStrike">
                <a:solidFill>
                  <a:schemeClr val="dk1"/>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r</a:t>
            </a:r>
            <a:r>
              <a:rPr b="0" baseline="30000" i="0" lang="en-US" sz="2400" u="none" cap="none" strike="noStrike">
                <a:solidFill>
                  <a:schemeClr val="dk1"/>
                </a:solidFill>
                <a:latin typeface="Arial"/>
                <a:ea typeface="Arial"/>
                <a:cs typeface="Arial"/>
                <a:sym typeface="Arial"/>
              </a:rPr>
              <a:t> 2</a:t>
            </a:r>
            <a:endParaRPr b="0" i="0" sz="2400" u="none" cap="none" strike="noStrike">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b="0" i="1"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 (1/[4π×12×8.85×10</a:t>
            </a:r>
            <a:r>
              <a:rPr b="0" baseline="30000" i="0" lang="en-US" sz="2400" u="none" cap="none" strike="noStrike">
                <a:solidFill>
                  <a:schemeClr val="dk1"/>
                </a:solidFill>
                <a:latin typeface="Arial"/>
                <a:ea typeface="Arial"/>
                <a:cs typeface="Arial"/>
                <a:sym typeface="Arial"/>
              </a:rPr>
              <a:t>-12</a:t>
            </a:r>
            <a:r>
              <a:rPr b="0" i="0" lang="en-US" sz="2400" u="none" cap="none" strike="noStrike">
                <a:solidFill>
                  <a:schemeClr val="dk1"/>
                </a:solidFill>
                <a:latin typeface="Arial"/>
                <a:ea typeface="Arial"/>
                <a:cs typeface="Arial"/>
                <a:sym typeface="Arial"/>
              </a:rPr>
              <a:t>]) (1.60×10</a:t>
            </a:r>
            <a:r>
              <a:rPr b="0" baseline="30000" i="0" lang="en-US" sz="2400" u="none" cap="none" strike="noStrike">
                <a:solidFill>
                  <a:schemeClr val="dk1"/>
                </a:solidFill>
                <a:latin typeface="Arial"/>
                <a:ea typeface="Arial"/>
                <a:cs typeface="Arial"/>
                <a:sym typeface="Arial"/>
              </a:rPr>
              <a:t>-19</a:t>
            </a:r>
            <a:r>
              <a:rPr b="0" i="0" lang="en-US" sz="2400" u="none" cap="none" strike="noStrike">
                <a:solidFill>
                  <a:schemeClr val="dk1"/>
                </a:solidFill>
                <a:latin typeface="Arial"/>
                <a:ea typeface="Arial"/>
                <a:cs typeface="Arial"/>
                <a:sym typeface="Arial"/>
              </a:rPr>
              <a:t>)</a:t>
            </a:r>
            <a:r>
              <a:rPr b="0" baseline="30000" i="0" lang="en-US" sz="2400" u="none" cap="none" strike="noStrike">
                <a:solidFill>
                  <a:schemeClr val="dk1"/>
                </a:solidFill>
                <a:latin typeface="Arial"/>
                <a:ea typeface="Arial"/>
                <a:cs typeface="Arial"/>
                <a:sym typeface="Arial"/>
              </a:rPr>
              <a:t>2 </a:t>
            </a:r>
            <a:r>
              <a:rPr b="0" i="1"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0.010</a:t>
            </a:r>
            <a:r>
              <a:rPr b="0" baseline="30000" i="0" lang="en-US" sz="2400" u="none" cap="none" strike="noStrike">
                <a:solidFill>
                  <a:schemeClr val="dk1"/>
                </a:solidFill>
                <a:latin typeface="Arial"/>
                <a:ea typeface="Arial"/>
                <a:cs typeface="Arial"/>
                <a:sym typeface="Arial"/>
              </a:rPr>
              <a:t>2 </a:t>
            </a:r>
            <a:endParaRPr/>
          </a:p>
          <a:p>
            <a:pPr indent="0" lvl="0" marL="0" marR="0" rtl="0" algn="l">
              <a:spcBef>
                <a:spcPts val="480"/>
              </a:spcBef>
              <a:spcAft>
                <a:spcPts val="0"/>
              </a:spcAft>
              <a:buClr>
                <a:schemeClr val="dk1"/>
              </a:buClr>
              <a:buSzPts val="2400"/>
              <a:buFont typeface="Arial"/>
              <a:buNone/>
            </a:pPr>
            <a:r>
              <a:rPr b="0" baseline="30000" i="0"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 1.92×10</a:t>
            </a:r>
            <a:r>
              <a:rPr b="0" baseline="30000" i="0" lang="en-US" sz="2400" u="none" cap="none" strike="noStrike">
                <a:solidFill>
                  <a:schemeClr val="dk1"/>
                </a:solidFill>
                <a:latin typeface="Arial"/>
                <a:ea typeface="Arial"/>
                <a:cs typeface="Arial"/>
                <a:sym typeface="Arial"/>
              </a:rPr>
              <a:t>-25</a:t>
            </a:r>
            <a:r>
              <a:rPr b="0" i="0" lang="en-US" sz="2400" u="none" cap="none" strike="noStrike">
                <a:solidFill>
                  <a:schemeClr val="dk1"/>
                </a:solidFill>
                <a:latin typeface="Arial"/>
                <a:ea typeface="Arial"/>
                <a:cs typeface="Arial"/>
                <a:sym typeface="Arial"/>
              </a:rPr>
              <a:t> N.</a:t>
            </a:r>
            <a:endParaRPr/>
          </a:p>
        </p:txBody>
      </p:sp>
      <p:sp>
        <p:nvSpPr>
          <p:cNvPr id="167" name="Google Shape;167;p22"/>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sp>
        <p:nvSpPr>
          <p:cNvPr id="168" name="Google Shape;168;p22"/>
          <p:cNvSpPr/>
          <p:nvPr/>
        </p:nvSpPr>
        <p:spPr>
          <a:xfrm>
            <a:off x="685800" y="1549400"/>
            <a:ext cx="7772400" cy="41275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b="0" i="1" lang="en-US" sz="2400" u="none" cap="none" strike="noStrike">
                <a:solidFill>
                  <a:schemeClr val="accent2"/>
                </a:solidFill>
                <a:latin typeface="Arial"/>
                <a:ea typeface="Arial"/>
                <a:cs typeface="Arial"/>
                <a:sym typeface="Arial"/>
              </a:rPr>
              <a:t>Coulomb’s law </a:t>
            </a:r>
            <a:r>
              <a:rPr b="0" i="0" lang="en-US" sz="2400" u="none" cap="none" strike="noStrike">
                <a:solidFill>
                  <a:schemeClr val="accent2"/>
                </a:solidFill>
                <a:latin typeface="Arial"/>
                <a:ea typeface="Arial"/>
                <a:cs typeface="Arial"/>
                <a:sym typeface="Arial"/>
              </a:rPr>
              <a:t>- permittivity</a:t>
            </a:r>
            <a:r>
              <a:rPr b="0" i="1" lang="en-US" sz="2000" u="none" cap="none" strike="noStrike">
                <a:solidFill>
                  <a:srgbClr val="000000"/>
                </a:solidFill>
                <a:latin typeface="Courier New"/>
                <a:ea typeface="Courier New"/>
                <a:cs typeface="Courier New"/>
                <a:sym typeface="Courier New"/>
              </a:rPr>
              <a:t>	</a:t>
            </a:r>
            <a:r>
              <a:rPr b="0" i="0" lang="en-US" sz="2000" u="none" cap="none" strike="noStrike">
                <a:solidFill>
                  <a:srgbClr val="000000"/>
                </a:solidFill>
                <a:latin typeface="Courier New"/>
                <a:ea typeface="Courier New"/>
                <a:cs typeface="Courier New"/>
                <a:sym typeface="Courier New"/>
              </a:rPr>
              <a:t>	</a:t>
            </a:r>
            <a:endParaRPr/>
          </a:p>
        </p:txBody>
      </p:sp>
      <p:pic>
        <p:nvPicPr>
          <p:cNvPr id="169" name="Google Shape;169;p22"/>
          <p:cNvPicPr preferRelativeResize="0"/>
          <p:nvPr/>
        </p:nvPicPr>
        <p:blipFill rotWithShape="1">
          <a:blip r:embed="rId3">
            <a:alphaModFix/>
          </a:blip>
          <a:srcRect b="0" l="0" r="0" t="0"/>
          <a:stretch/>
        </p:blipFill>
        <p:spPr>
          <a:xfrm rot="-642340">
            <a:off x="6954838" y="55563"/>
            <a:ext cx="1616075" cy="3041650"/>
          </a:xfrm>
          <a:prstGeom prst="rect">
            <a:avLst/>
          </a:prstGeom>
          <a:noFill/>
          <a:ln>
            <a:noFill/>
          </a:ln>
          <a:effectLst>
            <a:outerShdw blurRad="292100" rotWithShape="0" algn="tl" dir="2700000" dist="139700">
              <a:srgbClr val="333333">
                <a:alpha val="64705"/>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6">
                                            <p:txEl>
                                              <p:pRg end="0" st="0"/>
                                            </p:txEl>
                                          </p:spTgt>
                                        </p:tgtEl>
                                        <p:attrNameLst>
                                          <p:attrName>style.visibility</p:attrName>
                                        </p:attrNameLst>
                                      </p:cBhvr>
                                      <p:to>
                                        <p:strVal val="visible"/>
                                      </p:to>
                                    </p:set>
                                    <p:anim calcmode="lin" valueType="num">
                                      <p:cBhvr additive="base">
                                        <p:cTn dur="500"/>
                                        <p:tgtEl>
                                          <p:spTgt spid="16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6">
                                            <p:txEl>
                                              <p:pRg end="1" st="1"/>
                                            </p:txEl>
                                          </p:spTgt>
                                        </p:tgtEl>
                                        <p:attrNameLst>
                                          <p:attrName>style.visibility</p:attrName>
                                        </p:attrNameLst>
                                      </p:cBhvr>
                                      <p:to>
                                        <p:strVal val="visible"/>
                                      </p:to>
                                    </p:set>
                                    <p:anim calcmode="lin" valueType="num">
                                      <p:cBhvr additive="base">
                                        <p:cTn dur="500"/>
                                        <p:tgtEl>
                                          <p:spTgt spid="16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6">
                                            <p:txEl>
                                              <p:pRg end="2" st="2"/>
                                            </p:txEl>
                                          </p:spTgt>
                                        </p:tgtEl>
                                        <p:attrNameLst>
                                          <p:attrName>style.visibility</p:attrName>
                                        </p:attrNameLst>
                                      </p:cBhvr>
                                      <p:to>
                                        <p:strVal val="visible"/>
                                      </p:to>
                                    </p:set>
                                    <p:anim calcmode="lin" valueType="num">
                                      <p:cBhvr additive="base">
                                        <p:cTn dur="500"/>
                                        <p:tgtEl>
                                          <p:spTgt spid="16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6">
                                            <p:txEl>
                                              <p:pRg end="3" st="3"/>
                                            </p:txEl>
                                          </p:spTgt>
                                        </p:tgtEl>
                                        <p:attrNameLst>
                                          <p:attrName>style.visibility</p:attrName>
                                        </p:attrNameLst>
                                      </p:cBhvr>
                                      <p:to>
                                        <p:strVal val="visible"/>
                                      </p:to>
                                    </p:set>
                                    <p:anim calcmode="lin" valueType="num">
                                      <p:cBhvr additive="base">
                                        <p:cTn dur="500"/>
                                        <p:tgtEl>
                                          <p:spTgt spid="16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6">
                                            <p:txEl>
                                              <p:pRg end="4" st="4"/>
                                            </p:txEl>
                                          </p:spTgt>
                                        </p:tgtEl>
                                        <p:attrNameLst>
                                          <p:attrName>style.visibility</p:attrName>
                                        </p:attrNameLst>
                                      </p:cBhvr>
                                      <p:to>
                                        <p:strVal val="visible"/>
                                      </p:to>
                                    </p:set>
                                    <p:anim calcmode="lin" valueType="num">
                                      <p:cBhvr additive="base">
                                        <p:cTn dur="500"/>
                                        <p:tgtEl>
                                          <p:spTgt spid="166">
                                            <p:txEl>
                                              <p:pRg end="4" st="4"/>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500"/>
                                        <p:tgtEl>
                                          <p:spTgt spid="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3"/>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b="0" i="1" lang="en-US" sz="2400" u="none" cap="none" strike="noStrike">
                <a:solidFill>
                  <a:schemeClr val="accent2"/>
                </a:solidFill>
                <a:latin typeface="Arial"/>
                <a:ea typeface="Arial"/>
                <a:cs typeface="Arial"/>
                <a:sym typeface="Arial"/>
              </a:rPr>
              <a:t>Coulomb’s law </a:t>
            </a:r>
            <a:r>
              <a:rPr b="0" i="0" lang="en-US" sz="2400" u="none" cap="none" strike="noStrike">
                <a:solidFill>
                  <a:schemeClr val="accent2"/>
                </a:solidFill>
                <a:latin typeface="Arial"/>
                <a:ea typeface="Arial"/>
                <a:cs typeface="Arial"/>
                <a:sym typeface="Arial"/>
              </a:rPr>
              <a:t>– extended distribution</a:t>
            </a:r>
            <a:endParaRPr/>
          </a:p>
          <a:p>
            <a:pPr indent="0" lvl="0" marL="0" marR="0" rtl="0" algn="l">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∙We can use integral calculus to prove that a </a:t>
            </a:r>
            <a:r>
              <a:rPr b="0" i="0" lang="en-US" sz="2400" u="none" cap="none" strike="noStrike">
                <a:solidFill>
                  <a:schemeClr val="hlink"/>
                </a:solidFill>
                <a:latin typeface="Arial"/>
                <a:ea typeface="Arial"/>
                <a:cs typeface="Arial"/>
                <a:sym typeface="Arial"/>
              </a:rPr>
              <a:t>spherically symmetric shell of charge </a:t>
            </a:r>
            <a:r>
              <a:rPr b="0" i="1" lang="en-US" sz="2400" u="none" cap="none" strike="noStrike">
                <a:solidFill>
                  <a:schemeClr val="hlink"/>
                </a:solidFill>
                <a:latin typeface="Arial"/>
                <a:ea typeface="Arial"/>
                <a:cs typeface="Arial"/>
                <a:sym typeface="Arial"/>
              </a:rPr>
              <a:t>Q</a:t>
            </a:r>
            <a:r>
              <a:rPr b="0" i="0" lang="en-US" sz="2400" u="none" cap="none" strike="noStrike">
                <a:solidFill>
                  <a:schemeClr val="hlink"/>
                </a:solidFill>
                <a:latin typeface="Arial"/>
                <a:ea typeface="Arial"/>
                <a:cs typeface="Arial"/>
                <a:sym typeface="Arial"/>
              </a:rPr>
              <a:t> acts as if all of its charge is located at its center</a:t>
            </a:r>
            <a:r>
              <a:rPr b="0" i="0" lang="en-US" sz="2400" u="none" cap="none" strike="noStrike">
                <a:solidFill>
                  <a:srgbClr val="000000"/>
                </a:solidFill>
                <a:latin typeface="Arial"/>
                <a:ea typeface="Arial"/>
                <a:cs typeface="Arial"/>
                <a:sym typeface="Arial"/>
              </a:rPr>
              <a:t>.</a:t>
            </a:r>
            <a:endParaRPr/>
          </a:p>
          <a:p>
            <a:pPr indent="0" lvl="0" marL="0" marR="0" rtl="0" algn="l">
              <a:spcBef>
                <a:spcPts val="48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∙Thus Coulomb’s law works not only for point charges, which have no radii, but for any spherical distribution of charge at any radius.</a:t>
            </a:r>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spcBef>
                <a:spcPts val="48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∙Be very clear that </a:t>
            </a:r>
            <a:r>
              <a:rPr b="0" i="1" lang="en-US" sz="2400" u="none" cap="none" strike="noStrike">
                <a:solidFill>
                  <a:schemeClr val="accent2"/>
                </a:solidFill>
                <a:latin typeface="Arial"/>
                <a:ea typeface="Arial"/>
                <a:cs typeface="Arial"/>
                <a:sym typeface="Arial"/>
              </a:rPr>
              <a:t>r</a:t>
            </a:r>
            <a:r>
              <a:rPr b="0" i="0" lang="en-US" sz="2400" u="none" cap="none" strike="noStrike">
                <a:solidFill>
                  <a:srgbClr val="000000"/>
                </a:solidFill>
                <a:latin typeface="Arial"/>
                <a:ea typeface="Arial"/>
                <a:cs typeface="Arial"/>
                <a:sym typeface="Arial"/>
              </a:rPr>
              <a:t> is the </a:t>
            </a:r>
            <a:r>
              <a:rPr b="1" i="0" lang="en-US" sz="2400" u="none" cap="none" strike="noStrike">
                <a:solidFill>
                  <a:srgbClr val="000000"/>
                </a:solidFill>
                <a:latin typeface="Arial"/>
                <a:ea typeface="Arial"/>
                <a:cs typeface="Arial"/>
                <a:sym typeface="Arial"/>
              </a:rPr>
              <a:t>distance between the centers</a:t>
            </a:r>
            <a:r>
              <a:rPr b="0" i="0" lang="en-US" sz="2400" u="none" cap="none" strike="noStrike">
                <a:solidFill>
                  <a:srgbClr val="000000"/>
                </a:solidFill>
                <a:latin typeface="Arial"/>
                <a:ea typeface="Arial"/>
                <a:cs typeface="Arial"/>
                <a:sym typeface="Arial"/>
              </a:rPr>
              <a:t> of the charges. 	</a:t>
            </a:r>
            <a:endParaRPr/>
          </a:p>
        </p:txBody>
      </p:sp>
      <p:sp>
        <p:nvSpPr>
          <p:cNvPr id="175" name="Google Shape;175;p23"/>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sp>
        <p:nvSpPr>
          <p:cNvPr id="176" name="Google Shape;176;p23"/>
          <p:cNvSpPr/>
          <p:nvPr/>
        </p:nvSpPr>
        <p:spPr>
          <a:xfrm>
            <a:off x="3687763" y="4143375"/>
            <a:ext cx="1760537" cy="1760538"/>
          </a:xfrm>
          <a:prstGeom prst="ellipse">
            <a:avLst/>
          </a:prstGeom>
          <a:gradFill>
            <a:gsLst>
              <a:gs pos="0">
                <a:srgbClr val="FF9999"/>
              </a:gs>
              <a:gs pos="100000">
                <a:srgbClr val="764747"/>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7" name="Google Shape;177;p23"/>
          <p:cNvSpPr txBox="1"/>
          <p:nvPr/>
        </p:nvSpPr>
        <p:spPr>
          <a:xfrm>
            <a:off x="7943850" y="4475163"/>
            <a:ext cx="3540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hlink"/>
              </a:buClr>
              <a:buSzPts val="2400"/>
              <a:buFont typeface="Arial"/>
              <a:buNone/>
            </a:pPr>
            <a:r>
              <a:rPr b="0" i="1" lang="en-US" sz="2400" u="none" cap="none" strike="noStrike">
                <a:solidFill>
                  <a:schemeClr val="hlink"/>
                </a:solidFill>
                <a:latin typeface="Arial"/>
                <a:ea typeface="Arial"/>
                <a:cs typeface="Arial"/>
                <a:sym typeface="Arial"/>
              </a:rPr>
              <a:t>q</a:t>
            </a:r>
            <a:endParaRPr/>
          </a:p>
        </p:txBody>
      </p:sp>
      <p:sp>
        <p:nvSpPr>
          <p:cNvPr id="178" name="Google Shape;178;p23"/>
          <p:cNvSpPr txBox="1"/>
          <p:nvPr/>
        </p:nvSpPr>
        <p:spPr>
          <a:xfrm>
            <a:off x="5092700" y="3887788"/>
            <a:ext cx="4206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FF0000"/>
              </a:buClr>
              <a:buSzPts val="2400"/>
              <a:buFont typeface="Arial"/>
              <a:buNone/>
            </a:pPr>
            <a:r>
              <a:rPr b="0" i="1" lang="en-US" sz="2400" u="none" cap="none" strike="noStrike">
                <a:solidFill>
                  <a:srgbClr val="FF0000"/>
                </a:solidFill>
                <a:latin typeface="Arial"/>
                <a:ea typeface="Arial"/>
                <a:cs typeface="Arial"/>
                <a:sym typeface="Arial"/>
              </a:rPr>
              <a:t>Q</a:t>
            </a:r>
            <a:endParaRPr/>
          </a:p>
        </p:txBody>
      </p:sp>
      <p:sp>
        <p:nvSpPr>
          <p:cNvPr id="179" name="Google Shape;179;p23"/>
          <p:cNvSpPr txBox="1"/>
          <p:nvPr/>
        </p:nvSpPr>
        <p:spPr>
          <a:xfrm>
            <a:off x="6138863" y="5592763"/>
            <a:ext cx="3587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2"/>
              </a:buClr>
              <a:buSzPts val="2400"/>
              <a:buFont typeface="Arial"/>
              <a:buNone/>
            </a:pPr>
            <a:r>
              <a:rPr b="0" i="1" lang="en-US" sz="2400" u="none" cap="none" strike="noStrike">
                <a:solidFill>
                  <a:schemeClr val="accent2"/>
                </a:solidFill>
                <a:latin typeface="Arial"/>
                <a:ea typeface="Arial"/>
                <a:cs typeface="Arial"/>
                <a:sym typeface="Arial"/>
              </a:rPr>
              <a:t>r</a:t>
            </a:r>
            <a:r>
              <a:rPr b="0" i="0" lang="en-US" sz="2400" u="none" cap="none" strike="noStrike">
                <a:solidFill>
                  <a:schemeClr val="dk1"/>
                </a:solidFill>
                <a:latin typeface="Arial"/>
                <a:ea typeface="Arial"/>
                <a:cs typeface="Arial"/>
                <a:sym typeface="Arial"/>
              </a:rPr>
              <a:t> </a:t>
            </a:r>
            <a:endParaRPr/>
          </a:p>
        </p:txBody>
      </p:sp>
      <p:cxnSp>
        <p:nvCxnSpPr>
          <p:cNvPr id="180" name="Google Shape;180;p23"/>
          <p:cNvCxnSpPr/>
          <p:nvPr/>
        </p:nvCxnSpPr>
        <p:spPr>
          <a:xfrm>
            <a:off x="4562475" y="5011738"/>
            <a:ext cx="4354513" cy="0"/>
          </a:xfrm>
          <a:prstGeom prst="straightConnector1">
            <a:avLst/>
          </a:prstGeom>
          <a:noFill/>
          <a:ln cap="flat" cmpd="sng" w="28575">
            <a:solidFill>
              <a:srgbClr val="FF0000"/>
            </a:solidFill>
            <a:prstDash val="dash"/>
            <a:round/>
            <a:headEnd len="med" w="med" type="none"/>
            <a:tailEnd len="med" w="med" type="stealth"/>
          </a:ln>
        </p:spPr>
      </p:cxnSp>
      <p:grpSp>
        <p:nvGrpSpPr>
          <p:cNvPr id="181" name="Google Shape;181;p23"/>
          <p:cNvGrpSpPr/>
          <p:nvPr/>
        </p:nvGrpSpPr>
        <p:grpSpPr>
          <a:xfrm>
            <a:off x="4403725" y="4865688"/>
            <a:ext cx="347663" cy="333375"/>
            <a:chOff x="1344" y="2331"/>
            <a:chExt cx="219" cy="210"/>
          </a:xfrm>
        </p:grpSpPr>
        <p:cxnSp>
          <p:nvCxnSpPr>
            <p:cNvPr id="182" name="Google Shape;182;p23"/>
            <p:cNvCxnSpPr/>
            <p:nvPr/>
          </p:nvCxnSpPr>
          <p:spPr>
            <a:xfrm>
              <a:off x="1344" y="2423"/>
              <a:ext cx="219" cy="0"/>
            </a:xfrm>
            <a:prstGeom prst="straightConnector1">
              <a:avLst/>
            </a:prstGeom>
            <a:noFill/>
            <a:ln cap="flat" cmpd="sng" w="9525">
              <a:solidFill>
                <a:schemeClr val="dk1"/>
              </a:solidFill>
              <a:prstDash val="solid"/>
              <a:round/>
              <a:headEnd len="med" w="med" type="none"/>
              <a:tailEnd len="med" w="med" type="none"/>
            </a:ln>
          </p:spPr>
        </p:cxnSp>
        <p:cxnSp>
          <p:nvCxnSpPr>
            <p:cNvPr id="183" name="Google Shape;183;p23"/>
            <p:cNvCxnSpPr/>
            <p:nvPr/>
          </p:nvCxnSpPr>
          <p:spPr>
            <a:xfrm>
              <a:off x="1445" y="2331"/>
              <a:ext cx="0" cy="210"/>
            </a:xfrm>
            <a:prstGeom prst="straightConnector1">
              <a:avLst/>
            </a:prstGeom>
            <a:noFill/>
            <a:ln cap="flat" cmpd="sng" w="9525">
              <a:solidFill>
                <a:schemeClr val="dk1"/>
              </a:solidFill>
              <a:prstDash val="solid"/>
              <a:round/>
              <a:headEnd len="med" w="med" type="none"/>
              <a:tailEnd len="med" w="med" type="none"/>
            </a:ln>
          </p:spPr>
        </p:cxnSp>
      </p:grpSp>
      <p:sp>
        <p:nvSpPr>
          <p:cNvPr id="184" name="Google Shape;184;p23"/>
          <p:cNvSpPr/>
          <p:nvPr/>
        </p:nvSpPr>
        <p:spPr>
          <a:xfrm rot="-5400000">
            <a:off x="6066631" y="3566320"/>
            <a:ext cx="485775" cy="3484562"/>
          </a:xfrm>
          <a:prstGeom prst="leftBrace">
            <a:avLst>
              <a:gd fmla="val 59777"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3"/>
          <p:cNvSpPr txBox="1"/>
          <p:nvPr/>
        </p:nvSpPr>
        <p:spPr>
          <a:xfrm>
            <a:off x="4652282" y="5065694"/>
            <a:ext cx="3314460" cy="17174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6" name="Google Shape;186;p23"/>
          <p:cNvSpPr/>
          <p:nvPr/>
        </p:nvSpPr>
        <p:spPr>
          <a:xfrm>
            <a:off x="8007350" y="4930775"/>
            <a:ext cx="150813" cy="150813"/>
          </a:xfrm>
          <a:prstGeom prst="ellipse">
            <a:avLst/>
          </a:prstGeom>
          <a:gradFill>
            <a:gsLst>
              <a:gs pos="0">
                <a:schemeClr val="accent1"/>
              </a:gs>
              <a:gs pos="100000">
                <a:srgbClr val="839D9F"/>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1"/>
                                        </p:tgtEl>
                                        <p:attrNameLst>
                                          <p:attrName>style.visibility</p:attrName>
                                        </p:attrNameLst>
                                      </p:cBhvr>
                                      <p:to>
                                        <p:strVal val="visible"/>
                                      </p:to>
                                    </p:set>
                                    <p:anim calcmode="lin" valueType="num">
                                      <p:cBhvr additive="base">
                                        <p:cTn dur="500"/>
                                        <p:tgtEl>
                                          <p:spTgt spid="18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500"/>
                                        <p:tgtEl>
                                          <p:spTgt spid="180"/>
                                        </p:tgtEl>
                                      </p:cBhvr>
                                    </p:animEffect>
                                  </p:childTnLst>
                                </p:cTn>
                              </p:par>
                              <p:par>
                                <p:cTn fill="hold" nodeType="with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2000"/>
                                        <p:tgtEl>
                                          <p:spTgt spid="179"/>
                                        </p:tgtEl>
                                      </p:cBhvr>
                                    </p:animEffect>
                                  </p:childTnLst>
                                </p:cTn>
                              </p:par>
                              <p:par>
                                <p:cTn fill="hold" nodeType="with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2000"/>
                                        <p:tgtEl>
                                          <p:spTgt spid="1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4"/>
          <p:cNvSpPr/>
          <p:nvPr/>
        </p:nvSpPr>
        <p:spPr>
          <a:xfrm>
            <a:off x="674688" y="1955800"/>
            <a:ext cx="7772400" cy="4902200"/>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EXAMPLE: A conducting sphere of radius 0.10 m holds an electric charge of </a:t>
            </a:r>
            <a:r>
              <a:rPr b="0" i="1" lang="en-US" sz="2400" u="none" cap="none" strike="noStrike">
                <a:solidFill>
                  <a:schemeClr val="dk1"/>
                </a:solidFill>
                <a:latin typeface="Arial"/>
                <a:ea typeface="Arial"/>
                <a:cs typeface="Arial"/>
                <a:sym typeface="Arial"/>
              </a:rPr>
              <a:t>Q </a:t>
            </a:r>
            <a:r>
              <a:rPr b="0" i="0" lang="en-US" sz="2400" u="none" cap="none" strike="noStrike">
                <a:solidFill>
                  <a:schemeClr val="dk1"/>
                </a:solidFill>
                <a:latin typeface="Arial"/>
                <a:ea typeface="Arial"/>
                <a:cs typeface="Arial"/>
                <a:sym typeface="Arial"/>
              </a:rPr>
              <a:t>= </a:t>
            </a:r>
            <a:r>
              <a:rPr b="0" baseline="30000" i="0" lang="en-US" sz="2400" u="none" cap="none" strike="noStrike">
                <a:solidFill>
                  <a:schemeClr val="dk1"/>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125  μC. A charge </a:t>
            </a:r>
            <a:r>
              <a:rPr b="0" i="1" lang="en-US" sz="2400" u="none" cap="none" strike="noStrike">
                <a:solidFill>
                  <a:schemeClr val="dk1"/>
                </a:solidFill>
                <a:latin typeface="Arial"/>
                <a:ea typeface="Arial"/>
                <a:cs typeface="Arial"/>
                <a:sym typeface="Arial"/>
              </a:rPr>
              <a:t>q</a:t>
            </a:r>
            <a:r>
              <a:rPr b="0" i="0" lang="en-US" sz="2400" u="none" cap="none" strike="noStrike">
                <a:solidFill>
                  <a:schemeClr val="dk1"/>
                </a:solidFill>
                <a:latin typeface="Arial"/>
                <a:ea typeface="Arial"/>
                <a:cs typeface="Arial"/>
                <a:sym typeface="Arial"/>
              </a:rPr>
              <a:t> = -5.0 μC is located 0.30 m from the surface of </a:t>
            </a:r>
            <a:r>
              <a:rPr b="0" i="1" lang="en-US" sz="2400" u="none" cap="none" strike="noStrike">
                <a:solidFill>
                  <a:schemeClr val="dk1"/>
                </a:solidFill>
                <a:latin typeface="Arial"/>
                <a:ea typeface="Arial"/>
                <a:cs typeface="Arial"/>
                <a:sym typeface="Arial"/>
              </a:rPr>
              <a:t>Q</a:t>
            </a:r>
            <a:r>
              <a:rPr b="0" i="0" lang="en-US" sz="2400" u="none" cap="none" strike="noStrike">
                <a:solidFill>
                  <a:schemeClr val="dk1"/>
                </a:solidFill>
                <a:latin typeface="Arial"/>
                <a:ea typeface="Arial"/>
                <a:cs typeface="Arial"/>
                <a:sym typeface="Arial"/>
              </a:rPr>
              <a:t>. Find the electric force between the two                                                     charges.</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SOLUTION: </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∙Use </a:t>
            </a:r>
            <a:r>
              <a:rPr b="0" i="1" lang="en-US" sz="2400" u="none" cap="none" strike="noStrike">
                <a:solidFill>
                  <a:schemeClr val="dk1"/>
                </a:solidFill>
                <a:latin typeface="Arial"/>
                <a:ea typeface="Arial"/>
                <a:cs typeface="Arial"/>
                <a:sym typeface="Arial"/>
              </a:rPr>
              <a:t>F</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kQq / r</a:t>
            </a:r>
            <a:r>
              <a:rPr b="0" baseline="30000" i="0" lang="en-US" sz="2400" u="none" cap="none" strike="noStrike">
                <a:solidFill>
                  <a:schemeClr val="dk1"/>
                </a:solidFill>
                <a:latin typeface="Arial"/>
                <a:ea typeface="Arial"/>
                <a:cs typeface="Arial"/>
                <a:sym typeface="Arial"/>
              </a:rPr>
              <a:t> 2</a:t>
            </a:r>
            <a:r>
              <a:rPr b="0" i="0" lang="en-US" sz="2400" u="none" cap="none" strike="noStrike">
                <a:solidFill>
                  <a:schemeClr val="dk1"/>
                </a:solidFill>
                <a:latin typeface="Arial"/>
                <a:ea typeface="Arial"/>
                <a:cs typeface="Arial"/>
                <a:sym typeface="Arial"/>
              </a:rPr>
              <a:t>, where                                                        </a:t>
            </a:r>
            <a:r>
              <a:rPr b="0" i="1" lang="en-US" sz="2400" u="none" cap="none" strike="noStrike">
                <a:solidFill>
                  <a:schemeClr val="dk1"/>
                </a:solidFill>
                <a:latin typeface="Arial"/>
                <a:ea typeface="Arial"/>
                <a:cs typeface="Arial"/>
                <a:sym typeface="Arial"/>
              </a:rPr>
              <a:t>r</a:t>
            </a:r>
            <a:r>
              <a:rPr b="0" i="0" lang="en-US" sz="2400" u="none" cap="none" strike="noStrike">
                <a:solidFill>
                  <a:schemeClr val="dk1"/>
                </a:solidFill>
                <a:latin typeface="Arial"/>
                <a:ea typeface="Arial"/>
                <a:cs typeface="Arial"/>
                <a:sym typeface="Arial"/>
              </a:rPr>
              <a:t> is the distance </a:t>
            </a:r>
            <a:r>
              <a:rPr b="1" i="0" lang="en-US" sz="2400" u="none" cap="none" strike="noStrike">
                <a:solidFill>
                  <a:schemeClr val="dk1"/>
                </a:solidFill>
                <a:latin typeface="Arial"/>
                <a:ea typeface="Arial"/>
                <a:cs typeface="Arial"/>
                <a:sym typeface="Arial"/>
              </a:rPr>
              <a:t>between the centers</a:t>
            </a:r>
            <a:r>
              <a:rPr b="0" i="0" lang="en-US" sz="2400" u="none" cap="none" strike="noStrike">
                <a:solidFill>
                  <a:schemeClr val="dk1"/>
                </a:solidFill>
                <a:latin typeface="Arial"/>
                <a:ea typeface="Arial"/>
                <a:cs typeface="Arial"/>
                <a:sym typeface="Arial"/>
              </a:rPr>
              <a:t> of the charges.</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∙Then </a:t>
            </a:r>
            <a:r>
              <a:rPr b="0" i="1" lang="en-US" sz="2400" u="none" cap="none" strike="noStrike">
                <a:solidFill>
                  <a:schemeClr val="dk1"/>
                </a:solidFill>
                <a:latin typeface="Arial"/>
                <a:ea typeface="Arial"/>
                <a:cs typeface="Arial"/>
                <a:sym typeface="Arial"/>
              </a:rPr>
              <a:t>r</a:t>
            </a:r>
            <a:r>
              <a:rPr b="0" i="0" lang="en-US" sz="2400" u="none" cap="none" strike="noStrike">
                <a:solidFill>
                  <a:schemeClr val="dk1"/>
                </a:solidFill>
                <a:latin typeface="Arial"/>
                <a:ea typeface="Arial"/>
                <a:cs typeface="Arial"/>
                <a:sym typeface="Arial"/>
              </a:rPr>
              <a:t> = 0.10 + 0.30 = 0.40 m. Thus</a:t>
            </a:r>
            <a:endParaRPr b="0" i="1" sz="2400" u="none" cap="none" strike="noStrike">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F</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kQq / r</a:t>
            </a:r>
            <a:r>
              <a:rPr b="0" baseline="30000" i="0" lang="en-US" sz="2400" u="none" cap="none" strike="noStrike">
                <a:solidFill>
                  <a:schemeClr val="dk1"/>
                </a:solidFill>
                <a:latin typeface="Arial"/>
                <a:ea typeface="Arial"/>
                <a:cs typeface="Arial"/>
                <a:sym typeface="Arial"/>
              </a:rPr>
              <a:t> 2</a:t>
            </a:r>
            <a:endParaRPr b="0" i="0" sz="2400" u="none" cap="none" strike="noStrike">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b="0" i="1"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 8.99×10</a:t>
            </a:r>
            <a:r>
              <a:rPr b="0" baseline="30000" i="0" lang="en-US" sz="2400" u="none" cap="none" strike="noStrike">
                <a:solidFill>
                  <a:schemeClr val="dk1"/>
                </a:solidFill>
                <a:latin typeface="Arial"/>
                <a:ea typeface="Arial"/>
                <a:cs typeface="Arial"/>
                <a:sym typeface="Arial"/>
              </a:rPr>
              <a:t>9</a:t>
            </a:r>
            <a:r>
              <a:rPr b="0" i="0" lang="en-US" sz="2400" u="none" cap="none" strike="noStrike">
                <a:solidFill>
                  <a:schemeClr val="dk1"/>
                </a:solidFill>
                <a:latin typeface="Arial"/>
                <a:ea typeface="Arial"/>
                <a:cs typeface="Arial"/>
                <a:sym typeface="Arial"/>
              </a:rPr>
              <a:t>×125×10</a:t>
            </a:r>
            <a:r>
              <a:rPr b="0" baseline="30000" i="0" lang="en-US" sz="2400" u="none" cap="none" strike="noStrike">
                <a:solidFill>
                  <a:schemeClr val="dk1"/>
                </a:solidFill>
                <a:latin typeface="Arial"/>
                <a:ea typeface="Arial"/>
                <a:cs typeface="Arial"/>
                <a:sym typeface="Arial"/>
              </a:rPr>
              <a:t>-6</a:t>
            </a:r>
            <a:r>
              <a:rPr b="0" i="0" lang="en-US" sz="2400" u="none" cap="none" strike="noStrike">
                <a:solidFill>
                  <a:schemeClr val="dk1"/>
                </a:solidFill>
                <a:latin typeface="Arial"/>
                <a:ea typeface="Arial"/>
                <a:cs typeface="Arial"/>
                <a:sym typeface="Arial"/>
              </a:rPr>
              <a:t>× </a:t>
            </a:r>
            <a:r>
              <a:rPr b="0" baseline="30000" i="0" lang="en-US" sz="2400" u="none" cap="none" strike="noStrike">
                <a:solidFill>
                  <a:schemeClr val="dk1"/>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5.0×10</a:t>
            </a:r>
            <a:r>
              <a:rPr b="0" baseline="30000" i="0" lang="en-US" sz="2400" u="none" cap="none" strike="noStrike">
                <a:solidFill>
                  <a:schemeClr val="dk1"/>
                </a:solidFill>
                <a:latin typeface="Arial"/>
                <a:ea typeface="Arial"/>
                <a:cs typeface="Arial"/>
                <a:sym typeface="Arial"/>
              </a:rPr>
              <a:t>-6</a:t>
            </a:r>
            <a:r>
              <a:rPr b="0" i="1" lang="en-US" sz="2400" u="none" cap="none" strike="noStrike">
                <a:solidFill>
                  <a:schemeClr val="dk1"/>
                </a:solidFill>
                <a:latin typeface="Arial"/>
                <a:ea typeface="Arial"/>
                <a:cs typeface="Arial"/>
                <a:sym typeface="Arial"/>
              </a:rPr>
              <a:t> / </a:t>
            </a:r>
            <a:r>
              <a:rPr b="0" i="0" lang="en-US" sz="2400" u="none" cap="none" strike="noStrike">
                <a:solidFill>
                  <a:schemeClr val="dk1"/>
                </a:solidFill>
                <a:latin typeface="Arial"/>
                <a:ea typeface="Arial"/>
                <a:cs typeface="Arial"/>
                <a:sym typeface="Arial"/>
              </a:rPr>
              <a:t>0.40</a:t>
            </a:r>
            <a:r>
              <a:rPr b="0" baseline="30000" i="0" lang="en-US" sz="2400" u="none" cap="none" strike="noStrike">
                <a:solidFill>
                  <a:schemeClr val="dk1"/>
                </a:solidFill>
                <a:latin typeface="Arial"/>
                <a:ea typeface="Arial"/>
                <a:cs typeface="Arial"/>
                <a:sym typeface="Arial"/>
              </a:rPr>
              <a:t> 2</a:t>
            </a:r>
            <a:endParaRPr b="0" baseline="-25000" i="0" sz="2400" u="none" cap="none" strike="noStrike">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b="0" baseline="-25000" i="0"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 </a:t>
            </a:r>
            <a:r>
              <a:rPr b="0" baseline="30000" i="0" lang="en-US" sz="2400" u="none" cap="none" strike="noStrike">
                <a:solidFill>
                  <a:schemeClr val="dk1"/>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35 N.</a:t>
            </a:r>
            <a:endParaRPr/>
          </a:p>
        </p:txBody>
      </p:sp>
      <p:sp>
        <p:nvSpPr>
          <p:cNvPr id="192" name="Google Shape;192;p24"/>
          <p:cNvSpPr/>
          <p:nvPr/>
        </p:nvSpPr>
        <p:spPr>
          <a:xfrm>
            <a:off x="685800" y="1549400"/>
            <a:ext cx="7772400" cy="4476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b="0" i="1" lang="en-US" sz="2400" u="none" cap="none" strike="noStrike">
                <a:solidFill>
                  <a:schemeClr val="accent2"/>
                </a:solidFill>
                <a:latin typeface="Arial"/>
                <a:ea typeface="Arial"/>
                <a:cs typeface="Arial"/>
                <a:sym typeface="Arial"/>
              </a:rPr>
              <a:t>Coulomb’s law </a:t>
            </a:r>
            <a:r>
              <a:rPr b="0" i="0" lang="en-US" sz="2400" u="none" cap="none" strike="noStrike">
                <a:solidFill>
                  <a:schemeClr val="accent2"/>
                </a:solidFill>
                <a:latin typeface="Arial"/>
                <a:ea typeface="Arial"/>
                <a:cs typeface="Arial"/>
                <a:sym typeface="Arial"/>
              </a:rPr>
              <a:t>– extended distribution</a:t>
            </a:r>
            <a:endParaRPr/>
          </a:p>
        </p:txBody>
      </p:sp>
      <p:sp>
        <p:nvSpPr>
          <p:cNvPr id="193" name="Google Shape;193;p24"/>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D: Fields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D.2 – Electric fields (SL)</a:t>
            </a:r>
            <a:endParaRPr/>
          </a:p>
        </p:txBody>
      </p:sp>
      <p:pic>
        <p:nvPicPr>
          <p:cNvPr id="194" name="Google Shape;194;p24"/>
          <p:cNvPicPr preferRelativeResize="0"/>
          <p:nvPr/>
        </p:nvPicPr>
        <p:blipFill rotWithShape="1">
          <a:blip r:embed="rId3">
            <a:alphaModFix/>
          </a:blip>
          <a:srcRect b="0" l="0" r="0" t="0"/>
          <a:stretch/>
        </p:blipFill>
        <p:spPr>
          <a:xfrm>
            <a:off x="4075113" y="3149600"/>
            <a:ext cx="4633912" cy="1684338"/>
          </a:xfrm>
          <a:prstGeom prst="rect">
            <a:avLst/>
          </a:prstGeom>
          <a:noFill/>
          <a:ln>
            <a:noFill/>
          </a:ln>
          <a:effectLst>
            <a:outerShdw blurRad="292100" rotWithShape="0" algn="tl" dir="2700000" dist="139700">
              <a:srgbClr val="333333">
                <a:alpha val="64705"/>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0" st="0"/>
                                            </p:txEl>
                                          </p:spTgt>
                                        </p:tgtEl>
                                        <p:attrNameLst>
                                          <p:attrName>style.visibility</p:attrName>
                                        </p:attrNameLst>
                                      </p:cBhvr>
                                      <p:to>
                                        <p:strVal val="visible"/>
                                      </p:to>
                                    </p:set>
                                    <p:anim calcmode="lin" valueType="num">
                                      <p:cBhvr additive="base">
                                        <p:cTn dur="500"/>
                                        <p:tgtEl>
                                          <p:spTgt spid="19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1" st="1"/>
                                            </p:txEl>
                                          </p:spTgt>
                                        </p:tgtEl>
                                        <p:attrNameLst>
                                          <p:attrName>style.visibility</p:attrName>
                                        </p:attrNameLst>
                                      </p:cBhvr>
                                      <p:to>
                                        <p:strVal val="visible"/>
                                      </p:to>
                                    </p:set>
                                    <p:anim calcmode="lin" valueType="num">
                                      <p:cBhvr additive="base">
                                        <p:cTn dur="500"/>
                                        <p:tgtEl>
                                          <p:spTgt spid="19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2" st="2"/>
                                            </p:txEl>
                                          </p:spTgt>
                                        </p:tgtEl>
                                        <p:attrNameLst>
                                          <p:attrName>style.visibility</p:attrName>
                                        </p:attrNameLst>
                                      </p:cBhvr>
                                      <p:to>
                                        <p:strVal val="visible"/>
                                      </p:to>
                                    </p:set>
                                    <p:anim calcmode="lin" valueType="num">
                                      <p:cBhvr additive="base">
                                        <p:cTn dur="500"/>
                                        <p:tgtEl>
                                          <p:spTgt spid="19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3" st="3"/>
                                            </p:txEl>
                                          </p:spTgt>
                                        </p:tgtEl>
                                        <p:attrNameLst>
                                          <p:attrName>style.visibility</p:attrName>
                                        </p:attrNameLst>
                                      </p:cBhvr>
                                      <p:to>
                                        <p:strVal val="visible"/>
                                      </p:to>
                                    </p:set>
                                    <p:anim calcmode="lin" valueType="num">
                                      <p:cBhvr additive="base">
                                        <p:cTn dur="500"/>
                                        <p:tgtEl>
                                          <p:spTgt spid="19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4" st="4"/>
                                            </p:txEl>
                                          </p:spTgt>
                                        </p:tgtEl>
                                        <p:attrNameLst>
                                          <p:attrName>style.visibility</p:attrName>
                                        </p:attrNameLst>
                                      </p:cBhvr>
                                      <p:to>
                                        <p:strVal val="visible"/>
                                      </p:to>
                                    </p:set>
                                    <p:anim calcmode="lin" valueType="num">
                                      <p:cBhvr additive="base">
                                        <p:cTn dur="500"/>
                                        <p:tgtEl>
                                          <p:spTgt spid="19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5" st="5"/>
                                            </p:txEl>
                                          </p:spTgt>
                                        </p:tgtEl>
                                        <p:attrNameLst>
                                          <p:attrName>style.visibility</p:attrName>
                                        </p:attrNameLst>
                                      </p:cBhvr>
                                      <p:to>
                                        <p:strVal val="visible"/>
                                      </p:to>
                                    </p:set>
                                    <p:anim calcmode="lin" valueType="num">
                                      <p:cBhvr additive="base">
                                        <p:cTn dur="500"/>
                                        <p:tgtEl>
                                          <p:spTgt spid="19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6" st="6"/>
                                            </p:txEl>
                                          </p:spTgt>
                                        </p:tgtEl>
                                        <p:attrNameLst>
                                          <p:attrName>style.visibility</p:attrName>
                                        </p:attrNameLst>
                                      </p:cBhvr>
                                      <p:to>
                                        <p:strVal val="visible"/>
                                      </p:to>
                                    </p:set>
                                    <p:anim calcmode="lin" valueType="num">
                                      <p:cBhvr additive="base">
                                        <p:cTn dur="500"/>
                                        <p:tgtEl>
                                          <p:spTgt spid="191">
                                            <p:txEl>
                                              <p:pRg end="6" st="6"/>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0"/>
                                  </p:stCondLst>
                                  <p:childTnLst>
                                    <p:set>
                                      <p:cBhvr>
                                        <p:cTn dur="1" fill="hold">
                                          <p:stCondLst>
                                            <p:cond delay="0"/>
                                          </p:stCondLst>
                                        </p:cTn>
                                        <p:tgtEl>
                                          <p:spTgt spid="194"/>
                                        </p:tgtEl>
                                        <p:attrNameLst>
                                          <p:attrName>style.visibility</p:attrName>
                                        </p:attrNameLst>
                                      </p:cBhvr>
                                      <p:to>
                                        <p:strVal val="visible"/>
                                      </p:to>
                                    </p:set>
                                    <p:anim calcmode="lin" valueType="num">
                                      <p:cBhvr additive="base">
                                        <p:cTn dur="500"/>
                                        <p:tgtEl>
                                          <p:spTgt spid="194"/>
                                        </p:tgtEl>
                                        <p:attrNameLst>
                                          <p:attrName>ppt_w</p:attrName>
                                        </p:attrNameLst>
                                      </p:cBhvr>
                                      <p:tavLst>
                                        <p:tav fmla="" tm="0">
                                          <p:val>
                                            <p:strVal val="0"/>
                                          </p:val>
                                        </p:tav>
                                        <p:tav fmla="" tm="100000">
                                          <p:val>
                                            <p:strVal val="#ppt_w"/>
                                          </p:val>
                                        </p:tav>
                                      </p:tavLst>
                                    </p:anim>
                                    <p:anim calcmode="lin" valueType="num">
                                      <p:cBhvr additive="base">
                                        <p:cTn dur="500"/>
                                        <p:tgtEl>
                                          <p:spTgt spid="19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5"/>
          <p:cNvSpPr/>
          <p:nvPr/>
        </p:nvSpPr>
        <p:spPr>
          <a:xfrm>
            <a:off x="687388" y="4473575"/>
            <a:ext cx="7772400" cy="2384425"/>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PRACTICE: Find the electric field strength 1.0 cm from an electron.</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SOLUTION: We have already found the Coulomb force between two electrons located 1.0 cm apart. We just divide our previous answer by one of the charges:</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∙Then </a:t>
            </a:r>
            <a:r>
              <a:rPr b="0" i="1" lang="en-US" sz="2400" u="none" cap="none" strike="noStrike">
                <a:solidFill>
                  <a:schemeClr val="dk1"/>
                </a:solidFill>
                <a:latin typeface="Arial"/>
                <a:ea typeface="Arial"/>
                <a:cs typeface="Arial"/>
                <a:sym typeface="Arial"/>
              </a:rPr>
              <a:t>E</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F / q</a:t>
            </a:r>
            <a:r>
              <a:rPr b="0" i="0" lang="en-US" sz="2400" u="none" cap="none" strike="noStrike">
                <a:solidFill>
                  <a:schemeClr val="dk1"/>
                </a:solidFill>
                <a:latin typeface="Arial"/>
                <a:ea typeface="Arial"/>
                <a:cs typeface="Arial"/>
                <a:sym typeface="Arial"/>
              </a:rPr>
              <a:t> = 2.3×10</a:t>
            </a:r>
            <a:r>
              <a:rPr b="0" baseline="30000" i="0" lang="en-US" sz="2400" u="none" cap="none" strike="noStrike">
                <a:solidFill>
                  <a:schemeClr val="dk1"/>
                </a:solidFill>
                <a:latin typeface="Arial"/>
                <a:ea typeface="Arial"/>
                <a:cs typeface="Arial"/>
                <a:sym typeface="Arial"/>
              </a:rPr>
              <a:t>-24 </a:t>
            </a:r>
            <a:r>
              <a:rPr b="0" i="1"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1.6×10</a:t>
            </a:r>
            <a:r>
              <a:rPr b="0" baseline="30000" i="0" lang="en-US" sz="2400" u="none" cap="none" strike="noStrike">
                <a:solidFill>
                  <a:schemeClr val="dk1"/>
                </a:solidFill>
                <a:latin typeface="Arial"/>
                <a:ea typeface="Arial"/>
                <a:cs typeface="Arial"/>
                <a:sym typeface="Arial"/>
              </a:rPr>
              <a:t>-19</a:t>
            </a:r>
            <a:r>
              <a:rPr b="0" i="0" lang="en-US" sz="2400" u="none" cap="none" strike="noStrike">
                <a:solidFill>
                  <a:schemeClr val="dk1"/>
                </a:solidFill>
                <a:latin typeface="Arial"/>
                <a:ea typeface="Arial"/>
                <a:cs typeface="Arial"/>
                <a:sym typeface="Arial"/>
              </a:rPr>
              <a:t> = 1.4×10</a:t>
            </a:r>
            <a:r>
              <a:rPr b="0" baseline="30000" i="0" lang="en-US" sz="2400" u="none" cap="none" strike="noStrike">
                <a:solidFill>
                  <a:schemeClr val="dk1"/>
                </a:solidFill>
                <a:latin typeface="Arial"/>
                <a:ea typeface="Arial"/>
                <a:cs typeface="Arial"/>
                <a:sym typeface="Arial"/>
              </a:rPr>
              <a:t>-5</a:t>
            </a:r>
            <a:r>
              <a:rPr b="0" i="0" lang="en-US" sz="2400" u="none" cap="none" strike="noStrike">
                <a:solidFill>
                  <a:schemeClr val="dk1"/>
                </a:solidFill>
                <a:latin typeface="Arial"/>
                <a:ea typeface="Arial"/>
                <a:cs typeface="Arial"/>
                <a:sym typeface="Arial"/>
              </a:rPr>
              <a:t> N</a:t>
            </a:r>
            <a:r>
              <a:rPr b="0" baseline="-25000" i="0"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C</a:t>
            </a:r>
            <a:r>
              <a:rPr b="0" baseline="30000" i="0" lang="en-US" sz="2400" u="none" cap="none" strike="noStrike">
                <a:solidFill>
                  <a:schemeClr val="dk1"/>
                </a:solidFill>
                <a:latin typeface="Arial"/>
                <a:ea typeface="Arial"/>
                <a:cs typeface="Arial"/>
                <a:sym typeface="Arial"/>
              </a:rPr>
              <a:t>-1</a:t>
            </a:r>
            <a:r>
              <a:rPr b="0" i="0" lang="en-US" sz="2400" u="none" cap="none" strike="noStrike">
                <a:solidFill>
                  <a:schemeClr val="dk1"/>
                </a:solidFill>
                <a:latin typeface="Arial"/>
                <a:ea typeface="Arial"/>
                <a:cs typeface="Arial"/>
                <a:sym typeface="Arial"/>
              </a:rPr>
              <a:t>.</a:t>
            </a:r>
            <a:endParaRPr/>
          </a:p>
        </p:txBody>
      </p:sp>
      <p:sp>
        <p:nvSpPr>
          <p:cNvPr id="200" name="Google Shape;200;p25"/>
          <p:cNvSpPr/>
          <p:nvPr/>
        </p:nvSpPr>
        <p:spPr>
          <a:xfrm>
            <a:off x="685800" y="1549400"/>
            <a:ext cx="7772400" cy="293528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b="0" i="1" lang="en-US" sz="2400" u="none" cap="none" strike="noStrike">
                <a:solidFill>
                  <a:schemeClr val="accent2"/>
                </a:solidFill>
                <a:latin typeface="Arial"/>
                <a:ea typeface="Arial"/>
                <a:cs typeface="Arial"/>
                <a:sym typeface="Arial"/>
              </a:rPr>
              <a:t>Electric field </a:t>
            </a:r>
            <a:r>
              <a:rPr b="0" i="0" lang="en-US" sz="2400" u="none" cap="none" strike="noStrike">
                <a:solidFill>
                  <a:schemeClr val="accent2"/>
                </a:solidFill>
                <a:latin typeface="Arial"/>
                <a:ea typeface="Arial"/>
                <a:cs typeface="Arial"/>
                <a:sym typeface="Arial"/>
              </a:rPr>
              <a:t>- definition</a:t>
            </a:r>
            <a:r>
              <a:rPr b="0" i="1" lang="en-US" sz="2000" u="none" cap="none" strike="noStrike">
                <a:solidFill>
                  <a:srgbClr val="000000"/>
                </a:solidFill>
                <a:latin typeface="Courier New"/>
                <a:ea typeface="Courier New"/>
                <a:cs typeface="Courier New"/>
                <a:sym typeface="Courier New"/>
              </a:rPr>
              <a:t>	</a:t>
            </a:r>
            <a:endParaRPr/>
          </a:p>
          <a:p>
            <a:pPr indent="0" lvl="0" marL="0" marR="0" rtl="0" algn="l">
              <a:spcBef>
                <a:spcPts val="48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∙Suppose a charge </a:t>
            </a:r>
            <a:r>
              <a:rPr b="0" i="1" lang="en-US" sz="2400" u="none" cap="none" strike="noStrike">
                <a:solidFill>
                  <a:srgbClr val="000000"/>
                </a:solidFill>
                <a:latin typeface="Arial"/>
                <a:ea typeface="Arial"/>
                <a:cs typeface="Arial"/>
                <a:sym typeface="Arial"/>
              </a:rPr>
              <a:t>q </a:t>
            </a:r>
            <a:r>
              <a:rPr b="0" i="0" lang="en-US" sz="2400" u="none" cap="none" strike="noStrike">
                <a:solidFill>
                  <a:srgbClr val="000000"/>
                </a:solidFill>
                <a:latin typeface="Arial"/>
                <a:ea typeface="Arial"/>
                <a:cs typeface="Arial"/>
                <a:sym typeface="Arial"/>
              </a:rPr>
              <a:t>is located a distance </a:t>
            </a:r>
            <a:r>
              <a:rPr b="0" i="1" lang="en-US" sz="2400" u="none" cap="none" strike="noStrike">
                <a:solidFill>
                  <a:srgbClr val="000000"/>
                </a:solidFill>
                <a:latin typeface="Arial"/>
                <a:ea typeface="Arial"/>
                <a:cs typeface="Arial"/>
                <a:sym typeface="Arial"/>
              </a:rPr>
              <a:t>r</a:t>
            </a:r>
            <a:r>
              <a:rPr b="0" i="0" lang="en-US" sz="2400" u="none" cap="none" strike="noStrike">
                <a:solidFill>
                  <a:srgbClr val="000000"/>
                </a:solidFill>
                <a:latin typeface="Arial"/>
                <a:ea typeface="Arial"/>
                <a:cs typeface="Arial"/>
                <a:sym typeface="Arial"/>
              </a:rPr>
              <a:t> from a another charge </a:t>
            </a:r>
            <a:r>
              <a:rPr b="0" i="1" lang="en-US" sz="2400" u="none" cap="none" strike="noStrike">
                <a:solidFill>
                  <a:srgbClr val="000000"/>
                </a:solidFill>
                <a:latin typeface="Arial"/>
                <a:ea typeface="Arial"/>
                <a:cs typeface="Arial"/>
                <a:sym typeface="Arial"/>
              </a:rPr>
              <a:t>Q</a:t>
            </a:r>
            <a:r>
              <a:rPr b="0" i="0" lang="en-US" sz="2400" u="none" cap="none" strike="noStrike">
                <a:solidFill>
                  <a:srgbClr val="000000"/>
                </a:solidFill>
                <a:latin typeface="Arial"/>
                <a:ea typeface="Arial"/>
                <a:cs typeface="Arial"/>
                <a:sym typeface="Arial"/>
              </a:rPr>
              <a:t>.</a:t>
            </a:r>
            <a:endParaRPr/>
          </a:p>
          <a:p>
            <a:pPr indent="0" lvl="0" marL="0" marR="0" rtl="0" algn="l">
              <a:spcBef>
                <a:spcPts val="48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∙We define the </a:t>
            </a:r>
            <a:r>
              <a:rPr b="1" i="0" lang="en-US" sz="2400" u="none" cap="none" strike="noStrike">
                <a:solidFill>
                  <a:srgbClr val="000000"/>
                </a:solidFill>
                <a:latin typeface="Arial"/>
                <a:ea typeface="Arial"/>
                <a:cs typeface="Arial"/>
                <a:sym typeface="Arial"/>
              </a:rPr>
              <a:t>electric field strength</a:t>
            </a:r>
            <a:r>
              <a:rPr b="0" i="0" lang="en-US" sz="2400" u="none" cap="none" strike="noStrike">
                <a:solidFill>
                  <a:srgbClr val="000000"/>
                </a:solidFill>
                <a:latin typeface="Arial"/>
                <a:ea typeface="Arial"/>
                <a:cs typeface="Arial"/>
                <a:sym typeface="Arial"/>
              </a:rPr>
              <a:t> </a:t>
            </a:r>
            <a:r>
              <a:rPr b="0" i="1" lang="en-US" sz="2400" u="none" cap="none" strike="noStrike">
                <a:solidFill>
                  <a:srgbClr val="000000"/>
                </a:solidFill>
                <a:latin typeface="Arial"/>
                <a:ea typeface="Arial"/>
                <a:cs typeface="Arial"/>
                <a:sym typeface="Arial"/>
              </a:rPr>
              <a:t>E</a:t>
            </a:r>
            <a:r>
              <a:rPr b="0" i="0" lang="en-US" sz="2400" u="none" cap="none" strike="noStrike">
                <a:solidFill>
                  <a:srgbClr val="000000"/>
                </a:solidFill>
                <a:latin typeface="Arial"/>
                <a:ea typeface="Arial"/>
                <a:cs typeface="Arial"/>
                <a:sym typeface="Arial"/>
              </a:rPr>
              <a:t> as </a:t>
            </a:r>
            <a:r>
              <a:rPr b="0" i="0" lang="en-US" sz="2400" u="sng" cap="none" strike="noStrike">
                <a:solidFill>
                  <a:srgbClr val="000000"/>
                </a:solidFill>
                <a:latin typeface="Arial"/>
                <a:ea typeface="Arial"/>
                <a:cs typeface="Arial"/>
                <a:sym typeface="Arial"/>
              </a:rPr>
              <a:t>the force per unit charge</a:t>
            </a:r>
            <a:r>
              <a:rPr b="0" i="0" lang="en-US" sz="2400" u="none" cap="none" strike="noStrike">
                <a:solidFill>
                  <a:srgbClr val="000000"/>
                </a:solidFill>
                <a:latin typeface="Arial"/>
                <a:ea typeface="Arial"/>
                <a:cs typeface="Arial"/>
                <a:sym typeface="Arial"/>
              </a:rPr>
              <a:t> acting on </a:t>
            </a:r>
            <a:r>
              <a:rPr b="0" i="1" lang="en-US" sz="2400" u="none" cap="none" strike="noStrike">
                <a:solidFill>
                  <a:srgbClr val="000000"/>
                </a:solidFill>
                <a:latin typeface="Arial"/>
                <a:ea typeface="Arial"/>
                <a:cs typeface="Arial"/>
                <a:sym typeface="Arial"/>
              </a:rPr>
              <a:t>q</a:t>
            </a:r>
            <a:r>
              <a:rPr b="0" i="0" lang="en-US" sz="2400" u="none" cap="none" strike="noStrike">
                <a:solidFill>
                  <a:srgbClr val="000000"/>
                </a:solidFill>
                <a:latin typeface="Arial"/>
                <a:ea typeface="Arial"/>
                <a:cs typeface="Arial"/>
                <a:sym typeface="Arial"/>
              </a:rPr>
              <a:t> due to the presence of </a:t>
            </a:r>
            <a:r>
              <a:rPr b="0" i="1" lang="en-US" sz="2400" u="none" cap="none" strike="noStrike">
                <a:solidFill>
                  <a:srgbClr val="000000"/>
                </a:solidFill>
                <a:latin typeface="Arial"/>
                <a:ea typeface="Arial"/>
                <a:cs typeface="Arial"/>
                <a:sym typeface="Arial"/>
              </a:rPr>
              <a:t>Q</a:t>
            </a:r>
            <a:r>
              <a:rPr b="0" i="0" lang="en-US" sz="2400" u="none" cap="none" strike="noStrike">
                <a:solidFill>
                  <a:srgbClr val="000000"/>
                </a:solidFill>
                <a:latin typeface="Arial"/>
                <a:ea typeface="Arial"/>
                <a:cs typeface="Arial"/>
                <a:sym typeface="Arial"/>
              </a:rPr>
              <a:t>. </a:t>
            </a:r>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spcBef>
                <a:spcPts val="48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The units are Newtons per Coulomb (N</a:t>
            </a:r>
            <a:r>
              <a:rPr b="0" baseline="-25000" i="0"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C</a:t>
            </a:r>
            <a:r>
              <a:rPr b="0" baseline="30000" i="0" lang="en-US" sz="2400" u="none" cap="none" strike="noStrike">
                <a:solidFill>
                  <a:schemeClr val="dk1"/>
                </a:solidFill>
                <a:latin typeface="Arial"/>
                <a:ea typeface="Arial"/>
                <a:cs typeface="Arial"/>
                <a:sym typeface="Arial"/>
              </a:rPr>
              <a:t>-1</a:t>
            </a:r>
            <a:r>
              <a:rPr b="0" i="0" lang="en-US" sz="2400" u="none" cap="none" strike="noStrike">
                <a:solidFill>
                  <a:schemeClr val="dk1"/>
                </a:solidFill>
                <a:latin typeface="Arial"/>
                <a:ea typeface="Arial"/>
                <a:cs typeface="Arial"/>
                <a:sym typeface="Arial"/>
              </a:rPr>
              <a:t>).</a:t>
            </a:r>
            <a:endParaRPr/>
          </a:p>
        </p:txBody>
      </p:sp>
      <p:sp>
        <p:nvSpPr>
          <p:cNvPr id="201" name="Google Shape;201;p25"/>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5: Electricity and magnetism</a:t>
            </a:r>
            <a:br>
              <a:rPr b="1" lang="en-US" sz="2800"/>
            </a:br>
            <a:r>
              <a:rPr lang="en-US" sz="2800">
                <a:solidFill>
                  <a:schemeClr val="dk1"/>
                </a:solidFill>
              </a:rPr>
              <a:t>5.1 – Electric fields</a:t>
            </a:r>
            <a:endParaRPr/>
          </a:p>
        </p:txBody>
      </p:sp>
      <p:grpSp>
        <p:nvGrpSpPr>
          <p:cNvPr id="202" name="Google Shape;202;p25"/>
          <p:cNvGrpSpPr/>
          <p:nvPr/>
        </p:nvGrpSpPr>
        <p:grpSpPr>
          <a:xfrm>
            <a:off x="809625" y="3597275"/>
            <a:ext cx="7464425" cy="457200"/>
            <a:chOff x="510" y="2266"/>
            <a:chExt cx="4702" cy="288"/>
          </a:xfrm>
        </p:grpSpPr>
        <p:sp>
          <p:nvSpPr>
            <p:cNvPr id="203" name="Google Shape;203;p25"/>
            <p:cNvSpPr/>
            <p:nvPr/>
          </p:nvSpPr>
          <p:spPr>
            <a:xfrm>
              <a:off x="592" y="2279"/>
              <a:ext cx="1795"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0" i="1" lang="en-US" sz="2400" u="none" cap="none" strike="noStrike">
                  <a:solidFill>
                    <a:schemeClr val="dk1"/>
                  </a:solidFill>
                  <a:latin typeface="Arial"/>
                  <a:ea typeface="Arial"/>
                  <a:cs typeface="Arial"/>
                  <a:sym typeface="Arial"/>
                </a:rPr>
                <a:t>E</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F /</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q</a:t>
              </a:r>
              <a:endParaRPr b="0" i="1" sz="2400" u="none" cap="none" strike="noStrike">
                <a:solidFill>
                  <a:schemeClr val="dk1"/>
                </a:solidFill>
                <a:latin typeface="Arial"/>
                <a:ea typeface="Arial"/>
                <a:cs typeface="Arial"/>
                <a:sym typeface="Arial"/>
              </a:endParaRPr>
            </a:p>
          </p:txBody>
        </p:sp>
        <p:sp>
          <p:nvSpPr>
            <p:cNvPr id="204" name="Google Shape;204;p25"/>
            <p:cNvSpPr txBox="1"/>
            <p:nvPr/>
          </p:nvSpPr>
          <p:spPr>
            <a:xfrm>
              <a:off x="2951" y="2266"/>
              <a:ext cx="2261" cy="28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electric field strength</a:t>
              </a:r>
              <a:endParaRPr/>
            </a:p>
          </p:txBody>
        </p:sp>
        <p:sp>
          <p:nvSpPr>
            <p:cNvPr id="205" name="Google Shape;205;p25"/>
            <p:cNvSpPr/>
            <p:nvPr/>
          </p:nvSpPr>
          <p:spPr>
            <a:xfrm>
              <a:off x="510" y="2268"/>
              <a:ext cx="4701" cy="284"/>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0" st="0"/>
                                            </p:txEl>
                                          </p:spTgt>
                                        </p:tgtEl>
                                        <p:attrNameLst>
                                          <p:attrName>style.visibility</p:attrName>
                                        </p:attrNameLst>
                                      </p:cBhvr>
                                      <p:to>
                                        <p:strVal val="visible"/>
                                      </p:to>
                                    </p:set>
                                    <p:anim calcmode="lin" valueType="num">
                                      <p:cBhvr additive="base">
                                        <p:cTn dur="500"/>
                                        <p:tgtEl>
                                          <p:spTgt spid="20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1" st="1"/>
                                            </p:txEl>
                                          </p:spTgt>
                                        </p:tgtEl>
                                        <p:attrNameLst>
                                          <p:attrName>style.visibility</p:attrName>
                                        </p:attrNameLst>
                                      </p:cBhvr>
                                      <p:to>
                                        <p:strVal val="visible"/>
                                      </p:to>
                                    </p:set>
                                    <p:anim calcmode="lin" valueType="num">
                                      <p:cBhvr additive="base">
                                        <p:cTn dur="500"/>
                                        <p:tgtEl>
                                          <p:spTgt spid="20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2" st="2"/>
                                            </p:txEl>
                                          </p:spTgt>
                                        </p:tgtEl>
                                        <p:attrNameLst>
                                          <p:attrName>style.visibility</p:attrName>
                                        </p:attrNameLst>
                                      </p:cBhvr>
                                      <p:to>
                                        <p:strVal val="visible"/>
                                      </p:to>
                                    </p:set>
                                    <p:anim calcmode="lin" valueType="num">
                                      <p:cBhvr additive="base">
                                        <p:cTn dur="500"/>
                                        <p:tgtEl>
                                          <p:spTgt spid="20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3" st="3"/>
                                            </p:txEl>
                                          </p:spTgt>
                                        </p:tgtEl>
                                        <p:attrNameLst>
                                          <p:attrName>style.visibility</p:attrName>
                                        </p:attrNameLst>
                                      </p:cBhvr>
                                      <p:to>
                                        <p:strVal val="visible"/>
                                      </p:to>
                                    </p:set>
                                    <p:anim calcmode="lin" valueType="num">
                                      <p:cBhvr additive="base">
                                        <p:cTn dur="500"/>
                                        <p:tgtEl>
                                          <p:spTgt spid="20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4" st="4"/>
                                            </p:txEl>
                                          </p:spTgt>
                                        </p:tgtEl>
                                        <p:attrNameLst>
                                          <p:attrName>style.visibility</p:attrName>
                                        </p:attrNameLst>
                                      </p:cBhvr>
                                      <p:to>
                                        <p:strVal val="visible"/>
                                      </p:to>
                                    </p:set>
                                    <p:anim calcmode="lin" valueType="num">
                                      <p:cBhvr additive="base">
                                        <p:cTn dur="500"/>
                                        <p:tgtEl>
                                          <p:spTgt spid="20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02"/>
                                        </p:tgtEl>
                                        <p:attrNameLst>
                                          <p:attrName>style.visibility</p:attrName>
                                        </p:attrNameLst>
                                      </p:cBhvr>
                                      <p:to>
                                        <p:strVal val="visible"/>
                                      </p:to>
                                    </p:set>
                                    <p:anim calcmode="lin" valueType="num">
                                      <p:cBhvr additive="base">
                                        <p:cTn dur="500"/>
                                        <p:tgtEl>
                                          <p:spTgt spid="202"/>
                                        </p:tgtEl>
                                        <p:attrNameLst>
                                          <p:attrName>ppt_w</p:attrName>
                                        </p:attrNameLst>
                                      </p:cBhvr>
                                      <p:tavLst>
                                        <p:tav fmla="" tm="0">
                                          <p:val>
                                            <p:strVal val="0"/>
                                          </p:val>
                                        </p:tav>
                                        <p:tav fmla="" tm="100000">
                                          <p:val>
                                            <p:strVal val="#ppt_w"/>
                                          </p:val>
                                        </p:tav>
                                      </p:tavLst>
                                    </p:anim>
                                    <p:anim calcmode="lin" valueType="num">
                                      <p:cBhvr additive="base">
                                        <p:cTn dur="500"/>
                                        <p:tgtEl>
                                          <p:spTgt spid="20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9">
                                            <p:txEl>
                                              <p:pRg end="0" st="0"/>
                                            </p:txEl>
                                          </p:spTgt>
                                        </p:tgtEl>
                                        <p:attrNameLst>
                                          <p:attrName>style.visibility</p:attrName>
                                        </p:attrNameLst>
                                      </p:cBhvr>
                                      <p:to>
                                        <p:strVal val="visible"/>
                                      </p:to>
                                    </p:set>
                                    <p:anim calcmode="lin" valueType="num">
                                      <p:cBhvr additive="base">
                                        <p:cTn dur="500"/>
                                        <p:tgtEl>
                                          <p:spTgt spid="19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9">
                                            <p:txEl>
                                              <p:pRg end="1" st="1"/>
                                            </p:txEl>
                                          </p:spTgt>
                                        </p:tgtEl>
                                        <p:attrNameLst>
                                          <p:attrName>style.visibility</p:attrName>
                                        </p:attrNameLst>
                                      </p:cBhvr>
                                      <p:to>
                                        <p:strVal val="visible"/>
                                      </p:to>
                                    </p:set>
                                    <p:anim calcmode="lin" valueType="num">
                                      <p:cBhvr additive="base">
                                        <p:cTn dur="500"/>
                                        <p:tgtEl>
                                          <p:spTgt spid="19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9">
                                            <p:txEl>
                                              <p:pRg end="2" st="2"/>
                                            </p:txEl>
                                          </p:spTgt>
                                        </p:tgtEl>
                                        <p:attrNameLst>
                                          <p:attrName>style.visibility</p:attrName>
                                        </p:attrNameLst>
                                      </p:cBhvr>
                                      <p:to>
                                        <p:strVal val="visible"/>
                                      </p:to>
                                    </p:set>
                                    <p:anim calcmode="lin" valueType="num">
                                      <p:cBhvr additive="base">
                                        <p:cTn dur="500"/>
                                        <p:tgtEl>
                                          <p:spTgt spid="19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6"/>
          <p:cNvSpPr/>
          <p:nvPr/>
        </p:nvSpPr>
        <p:spPr>
          <a:xfrm>
            <a:off x="674688" y="1955800"/>
            <a:ext cx="7772400" cy="4902200"/>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EXAMPLE: Let </a:t>
            </a:r>
            <a:r>
              <a:rPr b="0" i="1" lang="en-US" sz="2400" u="none" cap="none" strike="noStrike">
                <a:solidFill>
                  <a:schemeClr val="dk1"/>
                </a:solidFill>
                <a:latin typeface="Arial"/>
                <a:ea typeface="Arial"/>
                <a:cs typeface="Arial"/>
                <a:sym typeface="Arial"/>
              </a:rPr>
              <a:t>q</a:t>
            </a:r>
            <a:r>
              <a:rPr b="0" i="0" lang="en-US" sz="2400" u="none" cap="none" strike="noStrike">
                <a:solidFill>
                  <a:schemeClr val="dk1"/>
                </a:solidFill>
                <a:latin typeface="Arial"/>
                <a:ea typeface="Arial"/>
                <a:cs typeface="Arial"/>
                <a:sym typeface="Arial"/>
              </a:rPr>
              <a:t> be a small charge located a distance </a:t>
            </a:r>
            <a:r>
              <a:rPr b="0" i="1" lang="en-US" sz="2400" u="none" cap="none" strike="noStrike">
                <a:solidFill>
                  <a:schemeClr val="dk1"/>
                </a:solidFill>
                <a:latin typeface="Arial"/>
                <a:ea typeface="Arial"/>
                <a:cs typeface="Arial"/>
                <a:sym typeface="Arial"/>
              </a:rPr>
              <a:t>r</a:t>
            </a:r>
            <a:r>
              <a:rPr b="0" i="0" lang="en-US" sz="2400" u="none" cap="none" strike="noStrike">
                <a:solidFill>
                  <a:schemeClr val="dk1"/>
                </a:solidFill>
                <a:latin typeface="Arial"/>
                <a:ea typeface="Arial"/>
                <a:cs typeface="Arial"/>
                <a:sym typeface="Arial"/>
              </a:rPr>
              <a:t> from a larger charge </a:t>
            </a:r>
            <a:r>
              <a:rPr b="0" i="1" lang="en-US" sz="2400" u="none" cap="none" strike="noStrike">
                <a:solidFill>
                  <a:schemeClr val="dk1"/>
                </a:solidFill>
                <a:latin typeface="Arial"/>
                <a:ea typeface="Arial"/>
                <a:cs typeface="Arial"/>
                <a:sym typeface="Arial"/>
              </a:rPr>
              <a:t>Q</a:t>
            </a:r>
            <a:r>
              <a:rPr b="0" i="0" lang="en-US" sz="2400" u="none" cap="none" strike="noStrike">
                <a:solidFill>
                  <a:schemeClr val="dk1"/>
                </a:solidFill>
                <a:latin typeface="Arial"/>
                <a:ea typeface="Arial"/>
                <a:cs typeface="Arial"/>
                <a:sym typeface="Arial"/>
              </a:rPr>
              <a:t>. Find the electric field strength due to </a:t>
            </a:r>
            <a:r>
              <a:rPr b="0" i="1" lang="en-US" sz="2400" u="none" cap="none" strike="noStrike">
                <a:solidFill>
                  <a:schemeClr val="dk1"/>
                </a:solidFill>
                <a:latin typeface="Arial"/>
                <a:ea typeface="Arial"/>
                <a:cs typeface="Arial"/>
                <a:sym typeface="Arial"/>
              </a:rPr>
              <a:t>Q </a:t>
            </a:r>
            <a:r>
              <a:rPr b="0" i="0" lang="en-US" sz="2400" u="none" cap="none" strike="noStrike">
                <a:solidFill>
                  <a:schemeClr val="dk1"/>
                </a:solidFill>
                <a:latin typeface="Arial"/>
                <a:ea typeface="Arial"/>
                <a:cs typeface="Arial"/>
                <a:sym typeface="Arial"/>
              </a:rPr>
              <a:t>at a distance </a:t>
            </a:r>
            <a:r>
              <a:rPr b="0" i="1" lang="en-US" sz="2400" u="none" cap="none" strike="noStrike">
                <a:solidFill>
                  <a:schemeClr val="dk1"/>
                </a:solidFill>
                <a:latin typeface="Arial"/>
                <a:ea typeface="Arial"/>
                <a:cs typeface="Arial"/>
                <a:sym typeface="Arial"/>
              </a:rPr>
              <a:t>r</a:t>
            </a:r>
            <a:r>
              <a:rPr b="0" i="0" lang="en-US" sz="2400" u="none" cap="none" strike="noStrike">
                <a:solidFill>
                  <a:schemeClr val="dk1"/>
                </a:solidFill>
                <a:latin typeface="Arial"/>
                <a:ea typeface="Arial"/>
                <a:cs typeface="Arial"/>
                <a:sym typeface="Arial"/>
              </a:rPr>
              <a:t> from the center of </a:t>
            </a:r>
            <a:r>
              <a:rPr b="0" i="1" lang="en-US" sz="2400" u="none" cap="none" strike="noStrike">
                <a:solidFill>
                  <a:schemeClr val="dk1"/>
                </a:solidFill>
                <a:latin typeface="Arial"/>
                <a:ea typeface="Arial"/>
                <a:cs typeface="Arial"/>
                <a:sym typeface="Arial"/>
              </a:rPr>
              <a:t>Q</a:t>
            </a:r>
            <a:r>
              <a:rPr b="0" i="0" lang="en-US" sz="2400" u="none" cap="none" strike="noStrike">
                <a:solidFill>
                  <a:schemeClr val="dk1"/>
                </a:solidFill>
                <a:latin typeface="Arial"/>
                <a:ea typeface="Arial"/>
                <a:cs typeface="Arial"/>
                <a:sym typeface="Arial"/>
              </a:rPr>
              <a:t>.</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SOLUTION: Use </a:t>
            </a:r>
            <a:r>
              <a:rPr b="0" i="1" lang="en-US" sz="2400" u="none" cap="none" strike="noStrike">
                <a:solidFill>
                  <a:schemeClr val="dk1"/>
                </a:solidFill>
                <a:latin typeface="Arial"/>
                <a:ea typeface="Arial"/>
                <a:cs typeface="Arial"/>
                <a:sym typeface="Arial"/>
              </a:rPr>
              <a:t>E</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F /</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q</a:t>
            </a:r>
            <a:r>
              <a:rPr b="0" i="0" lang="en-US" sz="2400" u="none" cap="none" strike="noStrike">
                <a:solidFill>
                  <a:schemeClr val="dk1"/>
                </a:solidFill>
                <a:latin typeface="Arial"/>
                <a:ea typeface="Arial"/>
                <a:cs typeface="Arial"/>
                <a:sym typeface="Arial"/>
              </a:rPr>
              <a:t> and </a:t>
            </a:r>
            <a:r>
              <a:rPr b="0" i="1" lang="en-US" sz="2400" u="none" cap="none" strike="noStrike">
                <a:solidFill>
                  <a:schemeClr val="dk1"/>
                </a:solidFill>
                <a:latin typeface="Arial"/>
                <a:ea typeface="Arial"/>
                <a:cs typeface="Arial"/>
                <a:sym typeface="Arial"/>
              </a:rPr>
              <a:t>F</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kQq / r</a:t>
            </a:r>
            <a:r>
              <a:rPr b="0" baseline="30000" i="0" lang="en-US" sz="2400" u="none" cap="none" strike="noStrike">
                <a:solidFill>
                  <a:schemeClr val="dk1"/>
                </a:solidFill>
                <a:latin typeface="Arial"/>
                <a:ea typeface="Arial"/>
                <a:cs typeface="Arial"/>
                <a:sym typeface="Arial"/>
              </a:rPr>
              <a:t> 2</a:t>
            </a:r>
            <a:r>
              <a:rPr b="0" i="0" lang="en-US" sz="2400" u="none" cap="none" strike="noStrike">
                <a:solidFill>
                  <a:schemeClr val="dk1"/>
                </a:solidFill>
                <a:latin typeface="Arial"/>
                <a:ea typeface="Arial"/>
                <a:cs typeface="Arial"/>
                <a:sym typeface="Arial"/>
              </a:rPr>
              <a:t>.</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∙From </a:t>
            </a:r>
            <a:r>
              <a:rPr b="0" i="1" lang="en-US" sz="2400" u="none" cap="none" strike="noStrike">
                <a:solidFill>
                  <a:schemeClr val="dk1"/>
                </a:solidFill>
                <a:latin typeface="Arial"/>
                <a:ea typeface="Arial"/>
                <a:cs typeface="Arial"/>
                <a:sym typeface="Arial"/>
              </a:rPr>
              <a:t>E</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F / q</a:t>
            </a:r>
            <a:r>
              <a:rPr b="0" i="0" lang="en-US" sz="2400" u="none" cap="none" strike="noStrike">
                <a:solidFill>
                  <a:schemeClr val="dk1"/>
                </a:solidFill>
                <a:latin typeface="Arial"/>
                <a:ea typeface="Arial"/>
                <a:cs typeface="Arial"/>
                <a:sym typeface="Arial"/>
              </a:rPr>
              <a:t> we have </a:t>
            </a:r>
            <a:r>
              <a:rPr b="0" i="1" lang="en-US" sz="2400" u="none" cap="none" strike="noStrike">
                <a:solidFill>
                  <a:schemeClr val="dk1"/>
                </a:solidFill>
                <a:latin typeface="Arial"/>
                <a:ea typeface="Arial"/>
                <a:cs typeface="Arial"/>
                <a:sym typeface="Arial"/>
              </a:rPr>
              <a:t>Eq</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F</a:t>
            </a:r>
            <a:r>
              <a:rPr b="0" i="0" lang="en-US" sz="2400" u="none" cap="none" strike="noStrike">
                <a:solidFill>
                  <a:schemeClr val="dk1"/>
                </a:solidFill>
                <a:latin typeface="Arial"/>
                <a:ea typeface="Arial"/>
                <a:cs typeface="Arial"/>
                <a:sym typeface="Arial"/>
              </a:rPr>
              <a:t>.</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∙And from Coulomb’s law we can write</a:t>
            </a:r>
            <a:endParaRPr/>
          </a:p>
          <a:p>
            <a:pPr indent="0" lvl="0" marL="0" marR="0" rtl="0" algn="l">
              <a:spcBef>
                <a:spcPts val="480"/>
              </a:spcBef>
              <a:spcAft>
                <a:spcPts val="0"/>
              </a:spcAft>
              <a:buNone/>
            </a:pPr>
            <a:r>
              <a:rPr b="0" i="1" lang="en-US" sz="2400" u="none" cap="none" strike="noStrike">
                <a:solidFill>
                  <a:schemeClr val="dk1"/>
                </a:solidFill>
                <a:latin typeface="Arial"/>
                <a:ea typeface="Arial"/>
                <a:cs typeface="Arial"/>
                <a:sym typeface="Arial"/>
              </a:rPr>
              <a:t>               	Eq</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F</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kQq / r</a:t>
            </a:r>
            <a:r>
              <a:rPr b="0" baseline="30000" i="0" lang="en-US" sz="2400" u="none" cap="none" strike="noStrike">
                <a:solidFill>
                  <a:schemeClr val="dk1"/>
                </a:solidFill>
                <a:latin typeface="Arial"/>
                <a:ea typeface="Arial"/>
                <a:cs typeface="Arial"/>
                <a:sym typeface="Arial"/>
              </a:rPr>
              <a:t> 2</a:t>
            </a:r>
            <a:endParaRPr b="0" i="0" sz="2400" u="none" cap="none" strike="noStrike">
              <a:solidFill>
                <a:schemeClr val="dk1"/>
              </a:solidFill>
              <a:latin typeface="Arial"/>
              <a:ea typeface="Arial"/>
              <a:cs typeface="Arial"/>
              <a:sym typeface="Arial"/>
            </a:endParaRPr>
          </a:p>
          <a:p>
            <a:pPr indent="0" lvl="0" marL="0" marR="0" rtl="0" algn="l">
              <a:spcBef>
                <a:spcPts val="480"/>
              </a:spcBef>
              <a:spcAft>
                <a:spcPts val="0"/>
              </a:spcAft>
              <a:buNone/>
            </a:pPr>
            <a:r>
              <a:rPr b="0" i="1" lang="en-US" sz="2400" u="none" cap="none" strike="noStrike">
                <a:solidFill>
                  <a:schemeClr val="dk1"/>
                </a:solidFill>
                <a:latin typeface="Arial"/>
                <a:ea typeface="Arial"/>
                <a:cs typeface="Arial"/>
                <a:sym typeface="Arial"/>
              </a:rPr>
              <a:t>                	Eq</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kQq / r</a:t>
            </a:r>
            <a:r>
              <a:rPr b="0" baseline="30000" i="0" lang="en-US" sz="2400" u="none" cap="none" strike="noStrike">
                <a:solidFill>
                  <a:schemeClr val="dk1"/>
                </a:solidFill>
                <a:latin typeface="Arial"/>
                <a:ea typeface="Arial"/>
                <a:cs typeface="Arial"/>
                <a:sym typeface="Arial"/>
              </a:rPr>
              <a:t> 2</a:t>
            </a:r>
            <a:endParaRPr b="0" i="0" sz="2400" u="none" cap="none" strike="noStrike">
              <a:solidFill>
                <a:schemeClr val="dk1"/>
              </a:solidFill>
              <a:latin typeface="Arial"/>
              <a:ea typeface="Arial"/>
              <a:cs typeface="Arial"/>
              <a:sym typeface="Arial"/>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∙Thus the electric field strength is given by</a:t>
            </a:r>
            <a:endParaRPr/>
          </a:p>
        </p:txBody>
      </p:sp>
      <p:sp>
        <p:nvSpPr>
          <p:cNvPr id="211" name="Google Shape;211;p26"/>
          <p:cNvSpPr/>
          <p:nvPr/>
        </p:nvSpPr>
        <p:spPr>
          <a:xfrm>
            <a:off x="685800" y="1549400"/>
            <a:ext cx="7772400" cy="4064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b="0" i="1" lang="en-US" sz="2400" u="none" cap="none" strike="noStrike">
                <a:solidFill>
                  <a:srgbClr val="333399"/>
                </a:solidFill>
                <a:latin typeface="Arial"/>
                <a:ea typeface="Arial"/>
                <a:cs typeface="Arial"/>
                <a:sym typeface="Arial"/>
              </a:rPr>
              <a:t>Electric field </a:t>
            </a:r>
            <a:r>
              <a:rPr b="0" i="0" lang="en-US" sz="2400" u="none" cap="none" strike="noStrike">
                <a:solidFill>
                  <a:srgbClr val="333399"/>
                </a:solidFill>
                <a:latin typeface="Arial"/>
                <a:ea typeface="Arial"/>
                <a:cs typeface="Arial"/>
                <a:sym typeface="Arial"/>
              </a:rPr>
              <a:t>– definition</a:t>
            </a:r>
            <a:endParaRPr b="0" i="0" sz="2000" u="none" cap="none" strike="noStrike">
              <a:solidFill>
                <a:srgbClr val="000000"/>
              </a:solidFill>
              <a:latin typeface="Courier New"/>
              <a:ea typeface="Courier New"/>
              <a:cs typeface="Courier New"/>
              <a:sym typeface="Courier New"/>
            </a:endParaRPr>
          </a:p>
        </p:txBody>
      </p:sp>
      <p:sp>
        <p:nvSpPr>
          <p:cNvPr id="212" name="Google Shape;212;p26"/>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cxnSp>
        <p:nvCxnSpPr>
          <p:cNvPr id="213" name="Google Shape;213;p26"/>
          <p:cNvCxnSpPr/>
          <p:nvPr/>
        </p:nvCxnSpPr>
        <p:spPr>
          <a:xfrm flipH="1">
            <a:off x="2814638" y="5013325"/>
            <a:ext cx="144462" cy="215900"/>
          </a:xfrm>
          <a:prstGeom prst="straightConnector1">
            <a:avLst/>
          </a:prstGeom>
          <a:noFill/>
          <a:ln cap="flat" cmpd="sng" w="28575">
            <a:solidFill>
              <a:srgbClr val="FF0000"/>
            </a:solidFill>
            <a:prstDash val="solid"/>
            <a:round/>
            <a:headEnd len="med" w="med" type="none"/>
            <a:tailEnd len="med" w="med" type="none"/>
          </a:ln>
        </p:spPr>
      </p:cxnSp>
      <p:cxnSp>
        <p:nvCxnSpPr>
          <p:cNvPr id="214" name="Google Shape;214;p26"/>
          <p:cNvCxnSpPr/>
          <p:nvPr/>
        </p:nvCxnSpPr>
        <p:spPr>
          <a:xfrm flipH="1">
            <a:off x="3703638" y="5027613"/>
            <a:ext cx="144462" cy="215900"/>
          </a:xfrm>
          <a:prstGeom prst="straightConnector1">
            <a:avLst/>
          </a:prstGeom>
          <a:noFill/>
          <a:ln cap="flat" cmpd="sng" w="28575">
            <a:solidFill>
              <a:srgbClr val="FF0000"/>
            </a:solidFill>
            <a:prstDash val="solid"/>
            <a:round/>
            <a:headEnd len="med" w="med" type="none"/>
            <a:tailEnd len="med" w="med" type="none"/>
          </a:ln>
        </p:spPr>
      </p:cxnSp>
      <p:grpSp>
        <p:nvGrpSpPr>
          <p:cNvPr id="215" name="Google Shape;215;p26"/>
          <p:cNvGrpSpPr/>
          <p:nvPr/>
        </p:nvGrpSpPr>
        <p:grpSpPr>
          <a:xfrm>
            <a:off x="806450" y="5761038"/>
            <a:ext cx="7464425" cy="830262"/>
            <a:chOff x="508" y="3703"/>
            <a:chExt cx="4702" cy="523"/>
          </a:xfrm>
        </p:grpSpPr>
        <p:sp>
          <p:nvSpPr>
            <p:cNvPr id="216" name="Google Shape;216;p26"/>
            <p:cNvSpPr/>
            <p:nvPr/>
          </p:nvSpPr>
          <p:spPr>
            <a:xfrm>
              <a:off x="590" y="3716"/>
              <a:ext cx="1795"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0" i="1" lang="en-US" sz="2400" u="none" cap="none" strike="noStrike">
                  <a:solidFill>
                    <a:schemeClr val="dk1"/>
                  </a:solidFill>
                  <a:latin typeface="Arial"/>
                  <a:ea typeface="Arial"/>
                  <a:cs typeface="Arial"/>
                  <a:sym typeface="Arial"/>
                </a:rPr>
                <a:t>E</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kQ /</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r</a:t>
              </a:r>
              <a:r>
                <a:rPr b="0" baseline="30000" i="0" lang="en-US" sz="2400" u="none" cap="none" strike="noStrike">
                  <a:solidFill>
                    <a:schemeClr val="dk1"/>
                  </a:solidFill>
                  <a:latin typeface="Arial"/>
                  <a:ea typeface="Arial"/>
                  <a:cs typeface="Arial"/>
                  <a:sym typeface="Arial"/>
                </a:rPr>
                <a:t> 2</a:t>
              </a:r>
              <a:endParaRPr b="0" i="1" sz="2400" u="none" cap="none" strike="noStrike">
                <a:solidFill>
                  <a:schemeClr val="dk1"/>
                </a:solidFill>
                <a:latin typeface="Arial"/>
                <a:ea typeface="Arial"/>
                <a:cs typeface="Arial"/>
                <a:sym typeface="Arial"/>
              </a:endParaRPr>
            </a:p>
          </p:txBody>
        </p:sp>
        <p:sp>
          <p:nvSpPr>
            <p:cNvPr id="217" name="Google Shape;217;p26"/>
            <p:cNvSpPr txBox="1"/>
            <p:nvPr/>
          </p:nvSpPr>
          <p:spPr>
            <a:xfrm>
              <a:off x="2163" y="3703"/>
              <a:ext cx="3047" cy="523"/>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lt1"/>
                  </a:solidFill>
                  <a:latin typeface="Arial"/>
                  <a:ea typeface="Arial"/>
                  <a:cs typeface="Arial"/>
                  <a:sym typeface="Arial"/>
                </a:rPr>
                <a:t>electric field strength at a distance </a:t>
              </a:r>
              <a:r>
                <a:rPr b="0" i="1" lang="en-US" sz="2400" u="none" cap="none" strike="noStrike">
                  <a:solidFill>
                    <a:schemeClr val="lt1"/>
                  </a:solidFill>
                  <a:latin typeface="Arial"/>
                  <a:ea typeface="Arial"/>
                  <a:cs typeface="Arial"/>
                  <a:sym typeface="Arial"/>
                </a:rPr>
                <a:t>r</a:t>
              </a:r>
              <a:r>
                <a:rPr b="0" i="0" lang="en-US" sz="2400" u="none" cap="none" strike="noStrike">
                  <a:solidFill>
                    <a:schemeClr val="lt1"/>
                  </a:solidFill>
                  <a:latin typeface="Arial"/>
                  <a:ea typeface="Arial"/>
                  <a:cs typeface="Arial"/>
                  <a:sym typeface="Arial"/>
                </a:rPr>
                <a:t> from the center of a charge </a:t>
              </a:r>
              <a:r>
                <a:rPr b="0" i="1" lang="en-US" sz="2400" u="none" cap="none" strike="noStrike">
                  <a:solidFill>
                    <a:schemeClr val="lt1"/>
                  </a:solidFill>
                  <a:latin typeface="Arial"/>
                  <a:ea typeface="Arial"/>
                  <a:cs typeface="Arial"/>
                  <a:sym typeface="Arial"/>
                </a:rPr>
                <a:t>Q</a:t>
              </a:r>
              <a:endParaRPr/>
            </a:p>
          </p:txBody>
        </p:sp>
        <p:sp>
          <p:nvSpPr>
            <p:cNvPr id="218" name="Google Shape;218;p26"/>
            <p:cNvSpPr/>
            <p:nvPr/>
          </p:nvSpPr>
          <p:spPr>
            <a:xfrm>
              <a:off x="508" y="3705"/>
              <a:ext cx="4701" cy="517"/>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0">
                                            <p:txEl>
                                              <p:pRg end="0" st="0"/>
                                            </p:txEl>
                                          </p:spTgt>
                                        </p:tgtEl>
                                        <p:attrNameLst>
                                          <p:attrName>style.visibility</p:attrName>
                                        </p:attrNameLst>
                                      </p:cBhvr>
                                      <p:to>
                                        <p:strVal val="visible"/>
                                      </p:to>
                                    </p:set>
                                    <p:anim calcmode="lin" valueType="num">
                                      <p:cBhvr additive="base">
                                        <p:cTn dur="500"/>
                                        <p:tgtEl>
                                          <p:spTgt spid="21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0">
                                            <p:txEl>
                                              <p:pRg end="1" st="1"/>
                                            </p:txEl>
                                          </p:spTgt>
                                        </p:tgtEl>
                                        <p:attrNameLst>
                                          <p:attrName>style.visibility</p:attrName>
                                        </p:attrNameLst>
                                      </p:cBhvr>
                                      <p:to>
                                        <p:strVal val="visible"/>
                                      </p:to>
                                    </p:set>
                                    <p:anim calcmode="lin" valueType="num">
                                      <p:cBhvr additive="base">
                                        <p:cTn dur="500"/>
                                        <p:tgtEl>
                                          <p:spTgt spid="21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0">
                                            <p:txEl>
                                              <p:pRg end="2" st="2"/>
                                            </p:txEl>
                                          </p:spTgt>
                                        </p:tgtEl>
                                        <p:attrNameLst>
                                          <p:attrName>style.visibility</p:attrName>
                                        </p:attrNameLst>
                                      </p:cBhvr>
                                      <p:to>
                                        <p:strVal val="visible"/>
                                      </p:to>
                                    </p:set>
                                    <p:anim calcmode="lin" valueType="num">
                                      <p:cBhvr additive="base">
                                        <p:cTn dur="500"/>
                                        <p:tgtEl>
                                          <p:spTgt spid="21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0">
                                            <p:txEl>
                                              <p:pRg end="3" st="3"/>
                                            </p:txEl>
                                          </p:spTgt>
                                        </p:tgtEl>
                                        <p:attrNameLst>
                                          <p:attrName>style.visibility</p:attrName>
                                        </p:attrNameLst>
                                      </p:cBhvr>
                                      <p:to>
                                        <p:strVal val="visible"/>
                                      </p:to>
                                    </p:set>
                                    <p:anim calcmode="lin" valueType="num">
                                      <p:cBhvr additive="base">
                                        <p:cTn dur="500"/>
                                        <p:tgtEl>
                                          <p:spTgt spid="21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0">
                                            <p:txEl>
                                              <p:pRg end="4" st="4"/>
                                            </p:txEl>
                                          </p:spTgt>
                                        </p:tgtEl>
                                        <p:attrNameLst>
                                          <p:attrName>style.visibility</p:attrName>
                                        </p:attrNameLst>
                                      </p:cBhvr>
                                      <p:to>
                                        <p:strVal val="visible"/>
                                      </p:to>
                                    </p:set>
                                    <p:anim calcmode="lin" valueType="num">
                                      <p:cBhvr additive="base">
                                        <p:cTn dur="500"/>
                                        <p:tgtEl>
                                          <p:spTgt spid="21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0">
                                            <p:txEl>
                                              <p:pRg end="5" st="5"/>
                                            </p:txEl>
                                          </p:spTgt>
                                        </p:tgtEl>
                                        <p:attrNameLst>
                                          <p:attrName>style.visibility</p:attrName>
                                        </p:attrNameLst>
                                      </p:cBhvr>
                                      <p:to>
                                        <p:strVal val="visible"/>
                                      </p:to>
                                    </p:set>
                                    <p:anim calcmode="lin" valueType="num">
                                      <p:cBhvr additive="base">
                                        <p:cTn dur="500"/>
                                        <p:tgtEl>
                                          <p:spTgt spid="21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0">
                                            <p:txEl>
                                              <p:pRg end="6" st="6"/>
                                            </p:txEl>
                                          </p:spTgt>
                                        </p:tgtEl>
                                        <p:attrNameLst>
                                          <p:attrName>style.visibility</p:attrName>
                                        </p:attrNameLst>
                                      </p:cBhvr>
                                      <p:to>
                                        <p:strVal val="visible"/>
                                      </p:to>
                                    </p:set>
                                    <p:anim calcmode="lin" valueType="num">
                                      <p:cBhvr additive="base">
                                        <p:cTn dur="500"/>
                                        <p:tgtEl>
                                          <p:spTgt spid="21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5"/>
                                        </p:tgtEl>
                                        <p:attrNameLst>
                                          <p:attrName>style.visibility</p:attrName>
                                        </p:attrNameLst>
                                      </p:cBhvr>
                                      <p:to>
                                        <p:strVal val="visible"/>
                                      </p:to>
                                    </p:set>
                                    <p:anim calcmode="lin" valueType="num">
                                      <p:cBhvr additive="base">
                                        <p:cTn dur="500"/>
                                        <p:tgtEl>
                                          <p:spTgt spid="215"/>
                                        </p:tgtEl>
                                        <p:attrNameLst>
                                          <p:attrName>ppt_w</p:attrName>
                                        </p:attrNameLst>
                                      </p:cBhvr>
                                      <p:tavLst>
                                        <p:tav fmla="" tm="0">
                                          <p:val>
                                            <p:strVal val="0"/>
                                          </p:val>
                                        </p:tav>
                                        <p:tav fmla="" tm="100000">
                                          <p:val>
                                            <p:strVal val="#ppt_w"/>
                                          </p:val>
                                        </p:tav>
                                      </p:tavLst>
                                    </p:anim>
                                    <p:anim calcmode="lin" valueType="num">
                                      <p:cBhvr additive="base">
                                        <p:cTn dur="500"/>
                                        <p:tgtEl>
                                          <p:spTgt spid="21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7"/>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1" lang="en-US" sz="2400" u="none" cap="none" strike="noStrike">
                <a:solidFill>
                  <a:schemeClr val="accent2"/>
                </a:solidFill>
                <a:latin typeface="Arial"/>
                <a:ea typeface="Arial"/>
                <a:cs typeface="Arial"/>
                <a:sym typeface="Arial"/>
              </a:rPr>
              <a:t>Electric field </a:t>
            </a:r>
            <a:r>
              <a:rPr b="0" i="0" lang="en-US" sz="2400" u="none" cap="none" strike="noStrike">
                <a:solidFill>
                  <a:schemeClr val="accent2"/>
                </a:solidFill>
                <a:latin typeface="Arial"/>
                <a:ea typeface="Arial"/>
                <a:cs typeface="Arial"/>
                <a:sym typeface="Arial"/>
              </a:rPr>
              <a:t>– the field model </a:t>
            </a:r>
            <a:endParaRPr b="0" i="0" sz="2000" u="none" cap="none" strike="noStrike">
              <a:solidFill>
                <a:srgbClr val="000000"/>
              </a:solidFill>
              <a:latin typeface="Courier New"/>
              <a:ea typeface="Courier New"/>
              <a:cs typeface="Courier New"/>
              <a:sym typeface="Courier New"/>
            </a:endParaRPr>
          </a:p>
          <a:p>
            <a:pPr indent="0" lvl="0" marL="0" marR="0" rtl="0" algn="l">
              <a:spcBef>
                <a:spcPts val="480"/>
              </a:spcBef>
              <a:spcAft>
                <a:spcPts val="0"/>
              </a:spcAft>
              <a:buNone/>
            </a:pPr>
            <a:r>
              <a:rPr b="0" i="0" lang="en-US" sz="2400" u="none" cap="none" strike="noStrike">
                <a:solidFill>
                  <a:srgbClr val="000000"/>
                </a:solidFill>
                <a:latin typeface="Arial"/>
                <a:ea typeface="Arial"/>
                <a:cs typeface="Arial"/>
                <a:sym typeface="Arial"/>
              </a:rPr>
              <a:t>∙In 1905 Albert Einstein published his                                 </a:t>
            </a:r>
            <a:r>
              <a:rPr b="1" i="0" lang="en-US" sz="2400" u="none" cap="none" strike="noStrike">
                <a:solidFill>
                  <a:srgbClr val="000000"/>
                </a:solidFill>
                <a:latin typeface="Arial"/>
                <a:ea typeface="Arial"/>
                <a:cs typeface="Arial"/>
                <a:sym typeface="Arial"/>
              </a:rPr>
              <a:t>Special Theory of Relativity</a:t>
            </a:r>
            <a:r>
              <a:rPr b="0" i="0" lang="en-US" sz="2400" u="none" cap="none" strike="noStrike">
                <a:solidFill>
                  <a:srgbClr val="000000"/>
                </a:solidFill>
                <a:latin typeface="Arial"/>
                <a:ea typeface="Arial"/>
                <a:cs typeface="Arial"/>
                <a:sym typeface="Arial"/>
              </a:rPr>
              <a:t>, which                            placed an upper bound on the speed                                anything in the universe could reach.</a:t>
            </a:r>
            <a:endParaRPr/>
          </a:p>
          <a:p>
            <a:pPr indent="0" lvl="0" marL="0" marR="0" rtl="0" algn="l">
              <a:spcBef>
                <a:spcPts val="480"/>
              </a:spcBef>
              <a:spcAft>
                <a:spcPts val="0"/>
              </a:spcAft>
              <a:buNone/>
            </a:pPr>
            <a:r>
              <a:rPr b="0" i="0" lang="en-US" sz="2400" u="none" cap="none" strike="noStrike">
                <a:solidFill>
                  <a:srgbClr val="000000"/>
                </a:solidFill>
                <a:latin typeface="Arial"/>
                <a:ea typeface="Arial"/>
                <a:cs typeface="Arial"/>
                <a:sym typeface="Arial"/>
              </a:rPr>
              <a:t>∙According to relativity, nothing can                                      travel faster than the speed of light </a:t>
            </a:r>
            <a:r>
              <a:rPr b="0" i="1" lang="en-US" sz="2400" u="none" cap="none" strike="noStrike">
                <a:solidFill>
                  <a:srgbClr val="000000"/>
                </a:solidFill>
                <a:latin typeface="Arial"/>
                <a:ea typeface="Arial"/>
                <a:cs typeface="Arial"/>
                <a:sym typeface="Arial"/>
              </a:rPr>
              <a:t>c</a:t>
            </a:r>
            <a:r>
              <a:rPr b="0" i="0" lang="en-US" sz="2400" u="none" cap="none" strike="noStrike">
                <a:solidFill>
                  <a:srgbClr val="000000"/>
                </a:solidFill>
                <a:latin typeface="Arial"/>
                <a:ea typeface="Arial"/>
                <a:cs typeface="Arial"/>
                <a:sym typeface="Arial"/>
              </a:rPr>
              <a:t> = 3.00</a:t>
            </a:r>
            <a:r>
              <a:rPr b="0" i="0" lang="en-US" sz="2400" u="none" cap="none" strike="noStrike">
                <a:solidFill>
                  <a:schemeClr val="dk1"/>
                </a:solidFill>
                <a:latin typeface="Arial"/>
                <a:ea typeface="Arial"/>
                <a:cs typeface="Arial"/>
                <a:sym typeface="Arial"/>
              </a:rPr>
              <a:t>×</a:t>
            </a:r>
            <a:r>
              <a:rPr b="0" i="0" lang="en-US" sz="2400" u="none" cap="none" strike="noStrike">
                <a:solidFill>
                  <a:srgbClr val="000000"/>
                </a:solidFill>
                <a:latin typeface="Arial"/>
                <a:ea typeface="Arial"/>
                <a:cs typeface="Arial"/>
                <a:sym typeface="Arial"/>
              </a:rPr>
              <a:t>10</a:t>
            </a:r>
            <a:r>
              <a:rPr b="0" baseline="30000" i="0" lang="en-US" sz="2400" u="none" cap="none" strike="noStrike">
                <a:solidFill>
                  <a:srgbClr val="000000"/>
                </a:solidFill>
                <a:latin typeface="Arial"/>
                <a:ea typeface="Arial"/>
                <a:cs typeface="Arial"/>
                <a:sym typeface="Arial"/>
              </a:rPr>
              <a:t>8 </a:t>
            </a:r>
            <a:r>
              <a:rPr b="0" i="0" lang="en-US" sz="2400" u="none" cap="none" strike="noStrike">
                <a:solidFill>
                  <a:srgbClr val="000000"/>
                </a:solidFill>
                <a:latin typeface="Arial"/>
                <a:ea typeface="Arial"/>
                <a:cs typeface="Arial"/>
                <a:sym typeface="Arial"/>
              </a:rPr>
              <a:t>ms</a:t>
            </a:r>
            <a:r>
              <a:rPr b="0" baseline="30000" i="0" lang="en-US" sz="2400" u="none" cap="none" strike="noStrike">
                <a:solidFill>
                  <a:srgbClr val="000000"/>
                </a:solidFill>
                <a:latin typeface="Arial"/>
                <a:ea typeface="Arial"/>
                <a:cs typeface="Arial"/>
                <a:sym typeface="Arial"/>
              </a:rPr>
              <a:t>-1</a:t>
            </a:r>
            <a:r>
              <a:rPr b="0" i="0" lang="en-US" sz="2400" u="none" cap="none" strike="noStrike">
                <a:solidFill>
                  <a:srgbClr val="000000"/>
                </a:solidFill>
                <a:latin typeface="Arial"/>
                <a:ea typeface="Arial"/>
                <a:cs typeface="Arial"/>
                <a:sym typeface="Arial"/>
              </a:rPr>
              <a:t>. </a:t>
            </a:r>
            <a:endParaRPr b="0" i="0" sz="2400" u="none" cap="none" strike="noStrike">
              <a:solidFill>
                <a:srgbClr val="000000"/>
              </a:solidFill>
              <a:latin typeface="Arial"/>
              <a:ea typeface="Arial"/>
              <a:cs typeface="Arial"/>
              <a:sym typeface="Arial"/>
            </a:endParaRPr>
          </a:p>
          <a:p>
            <a:pPr indent="0" lvl="0" marL="0" marR="0" rtl="0" algn="l">
              <a:spcBef>
                <a:spcPts val="480"/>
              </a:spcBef>
              <a:spcAft>
                <a:spcPts val="0"/>
              </a:spcAft>
              <a:buNone/>
            </a:pPr>
            <a:r>
              <a:rPr b="0" i="0" lang="en-US" sz="2400" u="none" cap="none" strike="noStrike">
                <a:solidFill>
                  <a:srgbClr val="000000"/>
                </a:solidFill>
                <a:latin typeface="Arial"/>
                <a:ea typeface="Arial"/>
                <a:cs typeface="Arial"/>
                <a:sym typeface="Arial"/>
              </a:rPr>
              <a:t>∙Thus the “Coulomb force signal” cannot propagate faster than the speed of light.</a:t>
            </a:r>
            <a:endParaRPr b="0" i="0" sz="2400" u="none" cap="none" strike="noStrike">
              <a:solidFill>
                <a:srgbClr val="000000"/>
              </a:solidFill>
              <a:latin typeface="Arial"/>
              <a:ea typeface="Arial"/>
              <a:cs typeface="Arial"/>
              <a:sym typeface="Arial"/>
            </a:endParaRPr>
          </a:p>
          <a:p>
            <a:pPr indent="0" lvl="0" marL="0" marR="0" rtl="0" algn="l">
              <a:spcBef>
                <a:spcPts val="480"/>
              </a:spcBef>
              <a:spcAft>
                <a:spcPts val="0"/>
              </a:spcAft>
              <a:buNone/>
            </a:pPr>
            <a:r>
              <a:rPr b="0" i="0" lang="en-US" sz="2400" u="none" cap="none" strike="noStrike">
                <a:solidFill>
                  <a:srgbClr val="000000"/>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Since the electric force was thought to be an </a:t>
            </a:r>
            <a:r>
              <a:rPr b="1" i="0" lang="en-US" sz="2400" u="none" cap="none" strike="noStrike">
                <a:solidFill>
                  <a:schemeClr val="dk1"/>
                </a:solidFill>
                <a:latin typeface="Arial"/>
                <a:ea typeface="Arial"/>
                <a:cs typeface="Arial"/>
                <a:sym typeface="Arial"/>
              </a:rPr>
              <a:t>action-at-a-distance</a:t>
            </a:r>
            <a:r>
              <a:rPr b="0" i="0" lang="en-US" sz="2400" u="none" cap="none" strike="noStrike">
                <a:solidFill>
                  <a:schemeClr val="dk1"/>
                </a:solidFill>
                <a:latin typeface="Arial"/>
                <a:ea typeface="Arial"/>
                <a:cs typeface="Arial"/>
                <a:sym typeface="Arial"/>
              </a:rPr>
              <a:t> force, a significant problem arose with the advent of relativity which required a paradigm shift from action-at-a-distance to the new idea of </a:t>
            </a:r>
            <a:r>
              <a:rPr b="1" i="0" lang="en-US" sz="2400" u="none" cap="none" strike="noStrike">
                <a:solidFill>
                  <a:schemeClr val="dk1"/>
                </a:solidFill>
                <a:latin typeface="Arial"/>
                <a:ea typeface="Arial"/>
                <a:cs typeface="Arial"/>
                <a:sym typeface="Arial"/>
              </a:rPr>
              <a:t>field</a:t>
            </a:r>
            <a:r>
              <a:rPr b="0" i="0" lang="en-US" sz="2400" u="none" cap="none" strike="noStrike">
                <a:solidFill>
                  <a:schemeClr val="dk1"/>
                </a:solidFill>
                <a:latin typeface="Arial"/>
                <a:ea typeface="Arial"/>
                <a:cs typeface="Arial"/>
                <a:sym typeface="Arial"/>
              </a:rPr>
              <a:t>.</a:t>
            </a:r>
            <a:endParaRPr/>
          </a:p>
        </p:txBody>
      </p:sp>
      <p:sp>
        <p:nvSpPr>
          <p:cNvPr id="224" name="Google Shape;224;p27"/>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pic>
        <p:nvPicPr>
          <p:cNvPr id="225" name="Google Shape;225;p27"/>
          <p:cNvPicPr preferRelativeResize="0"/>
          <p:nvPr/>
        </p:nvPicPr>
        <p:blipFill rotWithShape="1">
          <a:blip r:embed="rId3">
            <a:alphaModFix/>
          </a:blip>
          <a:srcRect b="0" l="0" r="0" t="8046"/>
          <a:stretch/>
        </p:blipFill>
        <p:spPr>
          <a:xfrm>
            <a:off x="6169025" y="987425"/>
            <a:ext cx="2430463" cy="2930525"/>
          </a:xfrm>
          <a:prstGeom prst="rect">
            <a:avLst/>
          </a:prstGeom>
          <a:noFill/>
          <a:ln>
            <a:noFill/>
          </a:ln>
          <a:effectLst>
            <a:outerShdw blurRad="292100" rotWithShape="0" algn="tl" dir="2700000" dist="139700">
              <a:srgbClr val="333333">
                <a:alpha val="64705"/>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5"/>
                                        </p:tgtEl>
                                        <p:attrNameLst>
                                          <p:attrName>style.visibility</p:attrName>
                                        </p:attrNameLst>
                                      </p:cBhvr>
                                      <p:to>
                                        <p:strVal val="visible"/>
                                      </p:to>
                                    </p:set>
                                    <p:anim calcmode="lin" valueType="num">
                                      <p:cBhvr additive="base">
                                        <p:cTn dur="500"/>
                                        <p:tgtEl>
                                          <p:spTgt spid="225"/>
                                        </p:tgtEl>
                                        <p:attrNameLst>
                                          <p:attrName>ppt_w</p:attrName>
                                        </p:attrNameLst>
                                      </p:cBhvr>
                                      <p:tavLst>
                                        <p:tav fmla="" tm="0">
                                          <p:val>
                                            <p:strVal val="0"/>
                                          </p:val>
                                        </p:tav>
                                        <p:tav fmla="" tm="100000">
                                          <p:val>
                                            <p:strVal val="#ppt_w"/>
                                          </p:val>
                                        </p:tav>
                                      </p:tavLst>
                                    </p:anim>
                                    <p:anim calcmode="lin" valueType="num">
                                      <p:cBhvr additive="base">
                                        <p:cTn dur="500"/>
                                        <p:tgtEl>
                                          <p:spTgt spid="22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8"/>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1" lang="en-US" sz="2400" u="none" cap="none" strike="noStrike">
                <a:solidFill>
                  <a:schemeClr val="accent2"/>
                </a:solidFill>
                <a:latin typeface="Arial"/>
                <a:ea typeface="Arial"/>
                <a:cs typeface="Arial"/>
                <a:sym typeface="Arial"/>
              </a:rPr>
              <a:t>Electric field </a:t>
            </a:r>
            <a:r>
              <a:rPr b="0" i="0" lang="en-US" sz="2400" u="none" cap="none" strike="noStrike">
                <a:solidFill>
                  <a:srgbClr val="333399"/>
                </a:solidFill>
                <a:latin typeface="Arial"/>
                <a:ea typeface="Arial"/>
                <a:cs typeface="Arial"/>
                <a:sym typeface="Arial"/>
              </a:rPr>
              <a:t>– the field model </a:t>
            </a:r>
            <a:r>
              <a:rPr b="0" i="0" lang="en-US" sz="2000" u="none" cap="none" strike="noStrike">
                <a:solidFill>
                  <a:srgbClr val="000000"/>
                </a:solidFill>
                <a:latin typeface="Courier New"/>
                <a:ea typeface="Courier New"/>
                <a:cs typeface="Courier New"/>
                <a:sym typeface="Courier New"/>
              </a:rPr>
              <a:t>	</a:t>
            </a:r>
            <a:endParaRPr/>
          </a:p>
          <a:p>
            <a:pPr indent="0" lvl="0" marL="0" marR="0" rtl="0" algn="l">
              <a:spcBef>
                <a:spcPts val="480"/>
              </a:spcBef>
              <a:spcAft>
                <a:spcPts val="0"/>
              </a:spcAft>
              <a:buNone/>
            </a:pPr>
            <a:r>
              <a:rPr b="0" i="0" lang="en-US" sz="2400" u="none" cap="none" strike="noStrike">
                <a:solidFill>
                  <a:srgbClr val="000000"/>
                </a:solidFill>
                <a:latin typeface="Arial"/>
                <a:ea typeface="Arial"/>
                <a:cs typeface="Arial"/>
                <a:sym typeface="Arial"/>
              </a:rPr>
              <a:t>∙In the action-at-a-distance model, if the                               Coulomb force signal cannot propagate                                    faster than the speed of light, electrons                             trapped in orbits about nuclei cannot instantaneously feel the Coulomb force, and thus cannot instantaneously adjust their motion on time to remain in a circular orbit.</a:t>
            </a:r>
            <a:endParaRPr b="0" i="0" sz="2400" u="none" cap="none" strike="noStrike">
              <a:solidFill>
                <a:srgbClr val="000000"/>
              </a:solidFill>
              <a:latin typeface="Arial"/>
              <a:ea typeface="Arial"/>
              <a:cs typeface="Arial"/>
              <a:sym typeface="Arial"/>
            </a:endParaRPr>
          </a:p>
          <a:p>
            <a:pPr indent="0" lvl="0" marL="0" marR="0" rtl="0" algn="l">
              <a:spcBef>
                <a:spcPts val="480"/>
              </a:spcBef>
              <a:spcAft>
                <a:spcPts val="0"/>
              </a:spcAft>
              <a:buNone/>
            </a:pPr>
            <a:r>
              <a:rPr b="0" i="0" lang="en-US" sz="2400" u="none" cap="none" strike="noStrike">
                <a:solidFill>
                  <a:srgbClr val="000000"/>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Since electrons in orbit around nuclei do not spiral away, a new model called the </a:t>
            </a:r>
            <a:r>
              <a:rPr b="1" i="0" lang="en-US" sz="2400" u="none" cap="none" strike="noStrike">
                <a:solidFill>
                  <a:schemeClr val="dk1"/>
                </a:solidFill>
                <a:latin typeface="Arial"/>
                <a:ea typeface="Arial"/>
                <a:cs typeface="Arial"/>
                <a:sym typeface="Arial"/>
              </a:rPr>
              <a:t>field model</a:t>
            </a:r>
            <a:r>
              <a:rPr b="0" i="0" lang="en-US" sz="2400" u="none" cap="none" strike="noStrike">
                <a:solidFill>
                  <a:schemeClr val="dk1"/>
                </a:solidFill>
                <a:latin typeface="Arial"/>
                <a:ea typeface="Arial"/>
                <a:cs typeface="Arial"/>
                <a:sym typeface="Arial"/>
              </a:rPr>
              <a:t> was developed which theorized that </a:t>
            </a:r>
            <a:r>
              <a:rPr b="0" i="0" lang="en-US" sz="2400" u="none" cap="none" strike="noStrike">
                <a:solidFill>
                  <a:schemeClr val="accent2"/>
                </a:solidFill>
                <a:latin typeface="Arial"/>
                <a:ea typeface="Arial"/>
                <a:cs typeface="Arial"/>
                <a:sym typeface="Arial"/>
              </a:rPr>
              <a:t>the space surrounding a nucleus is distorted by its charge in such a way that the electron “knows” how to act</a:t>
            </a:r>
            <a:r>
              <a:rPr b="0" i="0" lang="en-US" sz="2400" u="none" cap="none" strike="noStrike">
                <a:solidFill>
                  <a:schemeClr val="dk1"/>
                </a:solidFill>
                <a:latin typeface="Arial"/>
                <a:ea typeface="Arial"/>
                <a:cs typeface="Arial"/>
                <a:sym typeface="Arial"/>
              </a:rPr>
              <a:t>.</a:t>
            </a:r>
            <a:endParaRPr/>
          </a:p>
        </p:txBody>
      </p:sp>
      <p:sp>
        <p:nvSpPr>
          <p:cNvPr id="231" name="Google Shape;231;p28"/>
          <p:cNvSpPr/>
          <p:nvPr/>
        </p:nvSpPr>
        <p:spPr>
          <a:xfrm>
            <a:off x="6797675" y="1544638"/>
            <a:ext cx="1657350" cy="1546225"/>
          </a:xfrm>
          <a:prstGeom prst="rect">
            <a:avLst/>
          </a:prstGeom>
          <a:solidFill>
            <a:schemeClr val="lt1"/>
          </a:solidFill>
          <a:ln cap="flat" cmpd="sng" w="9525">
            <a:solidFill>
              <a:schemeClr va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32" name="Google Shape;232;p28"/>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sp>
        <p:nvSpPr>
          <p:cNvPr id="233" name="Google Shape;233;p28"/>
          <p:cNvSpPr/>
          <p:nvPr/>
        </p:nvSpPr>
        <p:spPr>
          <a:xfrm>
            <a:off x="7545388" y="2254250"/>
            <a:ext cx="201612" cy="201613"/>
          </a:xfrm>
          <a:prstGeom prst="ellipse">
            <a:avLst/>
          </a:prstGeom>
          <a:gradFill>
            <a:gsLst>
              <a:gs pos="0">
                <a:srgbClr val="FF0000"/>
              </a:gs>
              <a:gs pos="100000">
                <a:srgbClr val="76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34" name="Google Shape;234;p28"/>
          <p:cNvSpPr/>
          <p:nvPr/>
        </p:nvSpPr>
        <p:spPr>
          <a:xfrm>
            <a:off x="7799388" y="2751138"/>
            <a:ext cx="95250" cy="95250"/>
          </a:xfrm>
          <a:prstGeom prst="ellipse">
            <a:avLst/>
          </a:prstGeom>
          <a:gradFill>
            <a:gsLst>
              <a:gs pos="0">
                <a:srgbClr val="FFFFFF"/>
              </a:gs>
              <a:gs pos="100000">
                <a:schemeClr val="dk1"/>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235" name="Google Shape;235;p28"/>
          <p:cNvSpPr/>
          <p:nvPr/>
        </p:nvSpPr>
        <p:spPr>
          <a:xfrm>
            <a:off x="7067550" y="1754188"/>
            <a:ext cx="1141413" cy="1141412"/>
          </a:xfrm>
          <a:prstGeom prst="ellipse">
            <a:avLst/>
          </a:prstGeom>
          <a:solidFill>
            <a:srgbClr val="DDDDDD">
              <a:alpha val="39607"/>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2000"/>
                                        <p:tgtEl>
                                          <p:spTgt spid="231"/>
                                        </p:tgtEl>
                                      </p:cBhvr>
                                    </p:animEffect>
                                  </p:childTnLst>
                                </p:cTn>
                              </p:par>
                            </p:childTnLst>
                          </p:cTn>
                        </p:par>
                        <p:par>
                          <p:cTn fill="hold">
                            <p:stCondLst>
                              <p:cond delay="2000"/>
                            </p:stCondLst>
                            <p:childTnLst>
                              <p:par>
                                <p:cTn fill="hold" nodeType="afterEffect" presetClass="entr" presetID="2" presetSubtype="2">
                                  <p:stCondLst>
                                    <p:cond delay="0"/>
                                  </p:stCondLst>
                                  <p:childTnLst>
                                    <p:set>
                                      <p:cBhvr>
                                        <p:cTn dur="1" fill="hold">
                                          <p:stCondLst>
                                            <p:cond delay="0"/>
                                          </p:stCondLst>
                                        </p:cTn>
                                        <p:tgtEl>
                                          <p:spTgt spid="233"/>
                                        </p:tgtEl>
                                        <p:attrNameLst>
                                          <p:attrName>style.visibility</p:attrName>
                                        </p:attrNameLst>
                                      </p:cBhvr>
                                      <p:to>
                                        <p:strVal val="visible"/>
                                      </p:to>
                                    </p:set>
                                    <p:anim calcmode="lin" valueType="num">
                                      <p:cBhvr additive="base">
                                        <p:cTn dur="500"/>
                                        <p:tgtEl>
                                          <p:spTgt spid="233"/>
                                        </p:tgtEl>
                                        <p:attrNameLst>
                                          <p:attrName>ppt_x</p:attrName>
                                        </p:attrNameLst>
                                      </p:cBhvr>
                                      <p:tavLst>
                                        <p:tav fmla="" tm="0">
                                          <p:val>
                                            <p:strVal val="#ppt_x+1"/>
                                          </p:val>
                                        </p:tav>
                                        <p:tav fmla="" tm="100000">
                                          <p:val>
                                            <p:strVal val="#ppt_x"/>
                                          </p:val>
                                        </p:tav>
                                      </p:tavLst>
                                    </p:anim>
                                  </p:childTnLst>
                                </p:cTn>
                              </p:par>
                            </p:childTnLst>
                          </p:cTn>
                        </p:par>
                        <p:par>
                          <p:cTn fill="hold">
                            <p:stCondLst>
                              <p:cond delay="2500"/>
                            </p:stCondLst>
                            <p:childTnLst>
                              <p:par>
                                <p:cTn fill="hold" nodeType="afterEffect" presetClass="entr" presetID="2" presetSubtype="2">
                                  <p:stCondLst>
                                    <p:cond delay="0"/>
                                  </p:stCondLst>
                                  <p:childTnLst>
                                    <p:set>
                                      <p:cBhvr>
                                        <p:cTn dur="1" fill="hold">
                                          <p:stCondLst>
                                            <p:cond delay="0"/>
                                          </p:stCondLst>
                                        </p:cTn>
                                        <p:tgtEl>
                                          <p:spTgt spid="234"/>
                                        </p:tgtEl>
                                        <p:attrNameLst>
                                          <p:attrName>style.visibility</p:attrName>
                                        </p:attrNameLst>
                                      </p:cBhvr>
                                      <p:to>
                                        <p:strVal val="visible"/>
                                      </p:to>
                                    </p:set>
                                    <p:anim calcmode="lin" valueType="num">
                                      <p:cBhvr additive="base">
                                        <p:cTn dur="500"/>
                                        <p:tgtEl>
                                          <p:spTgt spid="234"/>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2000"/>
                                        <p:tgtEl>
                                          <p:spTgt spid="2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9"/>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1" lang="en-US" sz="2400" u="none" cap="none" strike="noStrike">
                <a:solidFill>
                  <a:srgbClr val="333399"/>
                </a:solidFill>
                <a:latin typeface="Arial"/>
                <a:ea typeface="Arial"/>
                <a:cs typeface="Arial"/>
                <a:sym typeface="Arial"/>
              </a:rPr>
              <a:t>Electric field </a:t>
            </a:r>
            <a:r>
              <a:rPr b="0" i="0" lang="en-US" sz="2400" u="none" cap="none" strike="noStrike">
                <a:solidFill>
                  <a:srgbClr val="333399"/>
                </a:solidFill>
                <a:latin typeface="Arial"/>
                <a:ea typeface="Arial"/>
                <a:cs typeface="Arial"/>
                <a:sym typeface="Arial"/>
              </a:rPr>
              <a:t>– the field model </a:t>
            </a:r>
            <a:r>
              <a:rPr b="0" i="0" lang="en-US" sz="2000" u="none" cap="none" strike="noStrike">
                <a:solidFill>
                  <a:srgbClr val="000000"/>
                </a:solidFill>
                <a:latin typeface="Courier New"/>
                <a:ea typeface="Courier New"/>
                <a:cs typeface="Courier New"/>
                <a:sym typeface="Courier New"/>
              </a:rPr>
              <a:t>	</a:t>
            </a:r>
            <a:endParaRPr/>
          </a:p>
          <a:p>
            <a:pPr indent="0" lvl="0" marL="0" marR="0" rtl="0" algn="l">
              <a:spcBef>
                <a:spcPts val="480"/>
              </a:spcBef>
              <a:spcAft>
                <a:spcPts val="0"/>
              </a:spcAft>
              <a:buNone/>
            </a:pPr>
            <a:r>
              <a:rPr b="0" i="0" lang="en-US" sz="2400" u="none" cap="none" strike="noStrike">
                <a:solidFill>
                  <a:srgbClr val="000000"/>
                </a:solidFill>
                <a:latin typeface="Arial"/>
                <a:ea typeface="Arial"/>
                <a:cs typeface="Arial"/>
                <a:sym typeface="Arial"/>
              </a:rPr>
              <a:t>∙In the field model the charge </a:t>
            </a:r>
            <a:r>
              <a:rPr b="0" i="1" lang="en-US" sz="2400" u="none" cap="none" strike="noStrike">
                <a:solidFill>
                  <a:srgbClr val="000000"/>
                </a:solidFill>
                <a:latin typeface="Arial"/>
                <a:ea typeface="Arial"/>
                <a:cs typeface="Arial"/>
                <a:sym typeface="Arial"/>
              </a:rPr>
              <a:t>Q</a:t>
            </a:r>
            <a:r>
              <a:rPr b="0" i="0" lang="en-US" sz="2400" u="none" cap="none" strike="noStrike">
                <a:solidFill>
                  <a:srgbClr val="000000"/>
                </a:solidFill>
                <a:latin typeface="Arial"/>
                <a:ea typeface="Arial"/>
                <a:cs typeface="Arial"/>
                <a:sym typeface="Arial"/>
              </a:rPr>
              <a:t> distorts its surrounding space.</a:t>
            </a:r>
            <a:endParaRPr/>
          </a:p>
          <a:p>
            <a:pPr indent="0" lvl="0" marL="0" marR="0" rtl="0" algn="l">
              <a:spcBef>
                <a:spcPts val="480"/>
              </a:spcBef>
              <a:spcAft>
                <a:spcPts val="0"/>
              </a:spcAft>
              <a:buNone/>
            </a:pPr>
            <a:r>
              <a:rPr b="0" i="0" lang="en-US" sz="2400" u="none" cap="none" strike="noStrike">
                <a:solidFill>
                  <a:srgbClr val="000000"/>
                </a:solidFill>
                <a:latin typeface="Arial"/>
                <a:ea typeface="Arial"/>
                <a:cs typeface="Arial"/>
                <a:sym typeface="Arial"/>
              </a:rPr>
              <a:t>∙Then the electrons know which way to curve in their orbits, not by knowing where </a:t>
            </a:r>
            <a:r>
              <a:rPr b="0" i="1" lang="en-US" sz="2400" u="none" cap="none" strike="noStrike">
                <a:solidFill>
                  <a:srgbClr val="000000"/>
                </a:solidFill>
                <a:latin typeface="Arial"/>
                <a:ea typeface="Arial"/>
                <a:cs typeface="Arial"/>
                <a:sym typeface="Arial"/>
              </a:rPr>
              <a:t>Q</a:t>
            </a:r>
            <a:r>
              <a:rPr b="0" i="0" lang="en-US" sz="2400" u="none" cap="none" strike="noStrike">
                <a:solidFill>
                  <a:srgbClr val="000000"/>
                </a:solidFill>
                <a:latin typeface="Arial"/>
                <a:ea typeface="Arial"/>
                <a:cs typeface="Arial"/>
                <a:sym typeface="Arial"/>
              </a:rPr>
              <a:t> is, but </a:t>
            </a:r>
            <a:r>
              <a:rPr b="1" i="0" lang="en-US" sz="2400" u="none" cap="none" strike="noStrike">
                <a:solidFill>
                  <a:srgbClr val="000000"/>
                </a:solidFill>
                <a:latin typeface="Arial"/>
                <a:ea typeface="Arial"/>
                <a:cs typeface="Arial"/>
                <a:sym typeface="Arial"/>
              </a:rPr>
              <a:t>by knowing the local curvature of their immediate environment</a:t>
            </a:r>
            <a:r>
              <a:rPr b="0" i="0" lang="en-US" sz="2400" u="none" cap="none" strike="noStrike">
                <a:solidFill>
                  <a:srgbClr val="000000"/>
                </a:solidFill>
                <a:latin typeface="Arial"/>
                <a:ea typeface="Arial"/>
                <a:cs typeface="Arial"/>
                <a:sym typeface="Arial"/>
              </a:rPr>
              <a:t>.</a:t>
            </a:r>
            <a:endParaRPr/>
          </a:p>
        </p:txBody>
      </p:sp>
      <p:sp>
        <p:nvSpPr>
          <p:cNvPr id="241" name="Google Shape;241;p29"/>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grpSp>
        <p:nvGrpSpPr>
          <p:cNvPr id="242" name="Google Shape;242;p29"/>
          <p:cNvGrpSpPr/>
          <p:nvPr/>
        </p:nvGrpSpPr>
        <p:grpSpPr>
          <a:xfrm>
            <a:off x="4811713" y="6130925"/>
            <a:ext cx="619125" cy="619125"/>
            <a:chOff x="2916" y="3376"/>
            <a:chExt cx="390" cy="390"/>
          </a:xfrm>
        </p:grpSpPr>
        <p:sp>
          <p:nvSpPr>
            <p:cNvPr id="243" name="Google Shape;243;p29"/>
            <p:cNvSpPr/>
            <p:nvPr/>
          </p:nvSpPr>
          <p:spPr>
            <a:xfrm>
              <a:off x="2916" y="3376"/>
              <a:ext cx="390" cy="39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244" name="Google Shape;244;p29"/>
            <p:cNvSpPr txBox="1"/>
            <p:nvPr/>
          </p:nvSpPr>
          <p:spPr>
            <a:xfrm>
              <a:off x="2968" y="3416"/>
              <a:ext cx="267"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400" u="none" cap="none" strike="noStrike">
                  <a:solidFill>
                    <a:schemeClr val="lt1"/>
                  </a:solidFill>
                  <a:latin typeface="Arial"/>
                  <a:ea typeface="Arial"/>
                  <a:cs typeface="Arial"/>
                  <a:sym typeface="Arial"/>
                </a:rPr>
                <a:t>Q</a:t>
              </a:r>
              <a:endParaRPr/>
            </a:p>
          </p:txBody>
        </p:sp>
      </p:grpSp>
      <p:pic>
        <p:nvPicPr>
          <p:cNvPr id="245" name="Google Shape;245;p29"/>
          <p:cNvPicPr preferRelativeResize="0"/>
          <p:nvPr/>
        </p:nvPicPr>
        <p:blipFill rotWithShape="1">
          <a:blip r:embed="rId3">
            <a:alphaModFix/>
          </a:blip>
          <a:srcRect b="0" l="0" r="0" t="0"/>
          <a:stretch/>
        </p:blipFill>
        <p:spPr>
          <a:xfrm>
            <a:off x="366713" y="4027488"/>
            <a:ext cx="8807450" cy="2774950"/>
          </a:xfrm>
          <a:prstGeom prst="rect">
            <a:avLst/>
          </a:prstGeom>
          <a:noFill/>
          <a:ln>
            <a:noFill/>
          </a:ln>
          <a:effectLst>
            <a:outerShdw blurRad="292100" rotWithShape="0" algn="tl" dir="2700000" dist="139700">
              <a:srgbClr val="333333">
                <a:alpha val="64705"/>
              </a:srgbClr>
            </a:outerShdw>
          </a:effectLst>
        </p:spPr>
      </p:pic>
      <p:sp>
        <p:nvSpPr>
          <p:cNvPr id="246" name="Google Shape;246;p29"/>
          <p:cNvSpPr/>
          <p:nvPr/>
        </p:nvSpPr>
        <p:spPr>
          <a:xfrm>
            <a:off x="5023754" y="3986313"/>
            <a:ext cx="217488" cy="217488"/>
          </a:xfrm>
          <a:prstGeom prst="ellipse">
            <a:avLst/>
          </a:prstGeom>
          <a:gradFill>
            <a:gsLst>
              <a:gs pos="0">
                <a:srgbClr val="6A8284"/>
              </a:gs>
              <a:gs pos="50000">
                <a:srgbClr val="99BDBF"/>
              </a:gs>
              <a:gs pos="100000">
                <a:srgbClr val="B8E2E5"/>
              </a:gs>
            </a:gsLst>
            <a:lin ang="54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247" name="Google Shape;247;p29"/>
          <p:cNvSpPr/>
          <p:nvPr/>
        </p:nvSpPr>
        <p:spPr>
          <a:xfrm>
            <a:off x="5022583" y="4259974"/>
            <a:ext cx="217488" cy="217488"/>
          </a:xfrm>
          <a:prstGeom prst="ellipse">
            <a:avLst/>
          </a:prstGeom>
          <a:gradFill>
            <a:gsLst>
              <a:gs pos="0">
                <a:srgbClr val="6A8284"/>
              </a:gs>
              <a:gs pos="50000">
                <a:srgbClr val="99BDBF"/>
              </a:gs>
              <a:gs pos="100000">
                <a:srgbClr val="B8E2E5"/>
              </a:gs>
            </a:gsLst>
            <a:lin ang="54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5"/>
                                        </p:tgtEl>
                                        <p:attrNameLst>
                                          <p:attrName>style.visibility</p:attrName>
                                        </p:attrNameLst>
                                      </p:cBhvr>
                                      <p:to>
                                        <p:strVal val="visible"/>
                                      </p:to>
                                    </p:set>
                                    <p:anim calcmode="lin" valueType="num">
                                      <p:cBhvr additive="base">
                                        <p:cTn dur="500"/>
                                        <p:tgtEl>
                                          <p:spTgt spid="245"/>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456"/>
                                        <p:tgtEl>
                                          <p:spTgt spid="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456"/>
                                        <p:tgtEl>
                                          <p:spTgt spid="2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456"/>
                                        <p:tgtEl>
                                          <p:spTgt spid="2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0"/>
          <p:cNvSpPr/>
          <p:nvPr/>
        </p:nvSpPr>
        <p:spPr>
          <a:xfrm>
            <a:off x="687388" y="2827338"/>
            <a:ext cx="7772400" cy="4030662"/>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PRACTICE: Observe the test charges as they are released. What is the sign of </a:t>
            </a:r>
            <a:r>
              <a:rPr b="0" i="1" lang="en-US" sz="2400" u="none" cap="none" strike="noStrike">
                <a:solidFill>
                  <a:schemeClr val="dk1"/>
                </a:solidFill>
                <a:latin typeface="Arial"/>
                <a:ea typeface="Arial"/>
                <a:cs typeface="Arial"/>
                <a:sym typeface="Arial"/>
              </a:rPr>
              <a:t>Q</a:t>
            </a:r>
            <a:r>
              <a:rPr b="0" i="0" lang="en-US" sz="2400" u="none" cap="none" strike="noStrike">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SOLUTION:  </a:t>
            </a:r>
            <a:r>
              <a:rPr b="0" i="1" lang="en-US" sz="2400" u="none" cap="none" strike="noStrike">
                <a:solidFill>
                  <a:schemeClr val="dk1"/>
                </a:solidFill>
                <a:latin typeface="Arial"/>
                <a:ea typeface="Arial"/>
                <a:cs typeface="Arial"/>
                <a:sym typeface="Arial"/>
              </a:rPr>
              <a:t>Q</a:t>
            </a:r>
            <a:r>
              <a:rPr b="0" i="0" lang="en-US" sz="2400" u="none" cap="none" strike="noStrike">
                <a:solidFill>
                  <a:schemeClr val="dk1"/>
                </a:solidFill>
                <a:latin typeface="Arial"/>
                <a:ea typeface="Arial"/>
                <a:cs typeface="Arial"/>
                <a:sym typeface="Arial"/>
              </a:rPr>
              <a:t> is attracting the test charges                   																																							</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and test charges are (+),                                                so </a:t>
            </a:r>
            <a:r>
              <a:rPr b="0" i="1" lang="en-US" sz="2400" u="none" cap="none" strike="noStrike">
                <a:solidFill>
                  <a:schemeClr val="dk1"/>
                </a:solidFill>
                <a:latin typeface="Arial"/>
                <a:ea typeface="Arial"/>
                <a:cs typeface="Arial"/>
                <a:sym typeface="Arial"/>
              </a:rPr>
              <a:t>Q</a:t>
            </a:r>
            <a:r>
              <a:rPr b="0" i="0" lang="en-US" sz="2400" u="none" cap="none" strike="noStrike">
                <a:solidFill>
                  <a:schemeClr val="dk1"/>
                </a:solidFill>
                <a:latin typeface="Arial"/>
                <a:ea typeface="Arial"/>
                <a:cs typeface="Arial"/>
                <a:sym typeface="Arial"/>
              </a:rPr>
              <a:t> must be (-). </a:t>
            </a:r>
            <a:endParaRPr b="0" i="0" sz="2400" u="none" cap="none" strike="noStrike">
              <a:solidFill>
                <a:schemeClr val="dk1"/>
              </a:solidFill>
              <a:latin typeface="Arial"/>
              <a:ea typeface="Arial"/>
              <a:cs typeface="Arial"/>
              <a:sym typeface="Arial"/>
            </a:endParaRPr>
          </a:p>
        </p:txBody>
      </p:sp>
      <p:sp>
        <p:nvSpPr>
          <p:cNvPr id="253" name="Google Shape;253;p30"/>
          <p:cNvSpPr/>
          <p:nvPr/>
        </p:nvSpPr>
        <p:spPr>
          <a:xfrm>
            <a:off x="685800" y="1549400"/>
            <a:ext cx="7772400" cy="1306513"/>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1" lang="en-US" sz="2400" u="none" cap="none" strike="noStrike">
                <a:solidFill>
                  <a:srgbClr val="333399"/>
                </a:solidFill>
                <a:latin typeface="Arial"/>
                <a:ea typeface="Arial"/>
                <a:cs typeface="Arial"/>
                <a:sym typeface="Arial"/>
              </a:rPr>
              <a:t>Electric field </a:t>
            </a:r>
            <a:r>
              <a:rPr b="0" i="0" lang="en-US" sz="2400" u="none" cap="none" strike="noStrike">
                <a:solidFill>
                  <a:srgbClr val="333399"/>
                </a:solidFill>
                <a:latin typeface="Arial"/>
                <a:ea typeface="Arial"/>
                <a:cs typeface="Arial"/>
                <a:sym typeface="Arial"/>
              </a:rPr>
              <a:t>– test charges</a:t>
            </a:r>
            <a:r>
              <a:rPr b="0" i="0" lang="en-US" sz="2000" u="none" cap="none" strike="noStrike">
                <a:solidFill>
                  <a:srgbClr val="000000"/>
                </a:solidFill>
                <a:latin typeface="Courier New"/>
                <a:ea typeface="Courier New"/>
                <a:cs typeface="Courier New"/>
                <a:sym typeface="Courier New"/>
              </a:rPr>
              <a:t>	</a:t>
            </a:r>
            <a:endParaRPr/>
          </a:p>
          <a:p>
            <a:pPr indent="0" lvl="0" marL="0" marR="0" rtl="0" algn="l">
              <a:spcBef>
                <a:spcPts val="480"/>
              </a:spcBef>
              <a:spcAft>
                <a:spcPts val="0"/>
              </a:spcAft>
              <a:buNone/>
            </a:pPr>
            <a:r>
              <a:rPr b="0" i="0" lang="en-US" sz="2400" u="none" cap="none" strike="noStrike">
                <a:solidFill>
                  <a:srgbClr val="000000"/>
                </a:solidFill>
                <a:latin typeface="Arial"/>
                <a:ea typeface="Arial"/>
                <a:cs typeface="Arial"/>
                <a:sym typeface="Arial"/>
              </a:rPr>
              <a:t>∙In order to explore the electric field in the surrounding a charge we use tiny POSITIVE </a:t>
            </a:r>
            <a:r>
              <a:rPr b="1" i="0" lang="en-US" sz="2400" u="none" cap="none" strike="noStrike">
                <a:solidFill>
                  <a:srgbClr val="000000"/>
                </a:solidFill>
                <a:latin typeface="Arial"/>
                <a:ea typeface="Arial"/>
                <a:cs typeface="Arial"/>
                <a:sym typeface="Arial"/>
              </a:rPr>
              <a:t>test charges</a:t>
            </a:r>
            <a:r>
              <a:rPr b="0" i="0" lang="en-US" sz="2400" u="none" cap="none" strike="noStrike">
                <a:solidFill>
                  <a:srgbClr val="000000"/>
                </a:solidFill>
                <a:latin typeface="Arial"/>
                <a:ea typeface="Arial"/>
                <a:cs typeface="Arial"/>
                <a:sym typeface="Arial"/>
              </a:rPr>
              <a:t>.</a:t>
            </a:r>
            <a:endParaRPr/>
          </a:p>
        </p:txBody>
      </p:sp>
      <p:sp>
        <p:nvSpPr>
          <p:cNvPr id="254" name="Google Shape;254;p30"/>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grpSp>
        <p:nvGrpSpPr>
          <p:cNvPr id="255" name="Google Shape;255;p30"/>
          <p:cNvGrpSpPr/>
          <p:nvPr/>
        </p:nvGrpSpPr>
        <p:grpSpPr>
          <a:xfrm>
            <a:off x="4811713" y="6188075"/>
            <a:ext cx="619125" cy="619125"/>
            <a:chOff x="2916" y="3376"/>
            <a:chExt cx="390" cy="390"/>
          </a:xfrm>
        </p:grpSpPr>
        <p:sp>
          <p:nvSpPr>
            <p:cNvPr id="256" name="Google Shape;256;p30"/>
            <p:cNvSpPr/>
            <p:nvPr/>
          </p:nvSpPr>
          <p:spPr>
            <a:xfrm>
              <a:off x="2916" y="3376"/>
              <a:ext cx="390" cy="390"/>
            </a:xfrm>
            <a:prstGeom prst="ellipse">
              <a:avLst/>
            </a:prstGeom>
            <a:gradFill>
              <a:gsLst>
                <a:gs pos="0">
                  <a:schemeClr val="accent2"/>
                </a:gs>
                <a:gs pos="100000">
                  <a:srgbClr val="23236B"/>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257" name="Google Shape;257;p30"/>
            <p:cNvSpPr txBox="1"/>
            <p:nvPr/>
          </p:nvSpPr>
          <p:spPr>
            <a:xfrm>
              <a:off x="2986" y="3434"/>
              <a:ext cx="267"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400" u="none" cap="none" strike="noStrike">
                  <a:solidFill>
                    <a:schemeClr val="lt1"/>
                  </a:solidFill>
                  <a:latin typeface="Arial"/>
                  <a:ea typeface="Arial"/>
                  <a:cs typeface="Arial"/>
                  <a:sym typeface="Arial"/>
                </a:rPr>
                <a:t>Q</a:t>
              </a:r>
              <a:endParaRPr/>
            </a:p>
          </p:txBody>
        </p:sp>
      </p:grpSp>
      <p:pic>
        <p:nvPicPr>
          <p:cNvPr id="258" name="Google Shape;258;p30"/>
          <p:cNvPicPr preferRelativeResize="0"/>
          <p:nvPr/>
        </p:nvPicPr>
        <p:blipFill rotWithShape="1">
          <a:blip r:embed="rId3">
            <a:alphaModFix/>
          </a:blip>
          <a:srcRect b="0" l="0" r="0" t="0"/>
          <a:stretch/>
        </p:blipFill>
        <p:spPr>
          <a:xfrm>
            <a:off x="366713" y="4070350"/>
            <a:ext cx="8807450" cy="2774950"/>
          </a:xfrm>
          <a:prstGeom prst="rect">
            <a:avLst/>
          </a:prstGeom>
          <a:noFill/>
          <a:ln>
            <a:noFill/>
          </a:ln>
          <a:effectLst>
            <a:outerShdw blurRad="292100" rotWithShape="0" algn="tl" dir="2700000" dist="139700">
              <a:srgbClr val="333333">
                <a:alpha val="64705"/>
              </a:srgbClr>
            </a:outerShdw>
          </a:effectLst>
        </p:spPr>
      </p:pic>
      <p:grpSp>
        <p:nvGrpSpPr>
          <p:cNvPr id="259" name="Google Shape;259;p30"/>
          <p:cNvGrpSpPr/>
          <p:nvPr/>
        </p:nvGrpSpPr>
        <p:grpSpPr>
          <a:xfrm>
            <a:off x="7316788" y="3519488"/>
            <a:ext cx="498475" cy="628650"/>
            <a:chOff x="4587" y="1236"/>
            <a:chExt cx="314" cy="396"/>
          </a:xfrm>
        </p:grpSpPr>
        <p:sp>
          <p:nvSpPr>
            <p:cNvPr id="260" name="Google Shape;260;p30"/>
            <p:cNvSpPr/>
            <p:nvPr/>
          </p:nvSpPr>
          <p:spPr>
            <a:xfrm>
              <a:off x="4587" y="1495"/>
              <a:ext cx="137" cy="137"/>
            </a:xfrm>
            <a:prstGeom prst="ellipse">
              <a:avLst/>
            </a:prstGeom>
            <a:gradFill>
              <a:gsLst>
                <a:gs pos="0">
                  <a:srgbClr val="FF9999"/>
                </a:gs>
                <a:gs pos="100000">
                  <a:srgbClr val="764747"/>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FF0000"/>
                </a:solidFill>
                <a:latin typeface="Arial"/>
                <a:ea typeface="Arial"/>
                <a:cs typeface="Arial"/>
                <a:sym typeface="Arial"/>
              </a:endParaRPr>
            </a:p>
          </p:txBody>
        </p:sp>
        <p:sp>
          <p:nvSpPr>
            <p:cNvPr id="261" name="Google Shape;261;p30"/>
            <p:cNvSpPr txBox="1"/>
            <p:nvPr/>
          </p:nvSpPr>
          <p:spPr>
            <a:xfrm>
              <a:off x="4595" y="1236"/>
              <a:ext cx="306"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400" u="none" cap="none" strike="noStrike">
                  <a:solidFill>
                    <a:srgbClr val="FF0000"/>
                  </a:solidFill>
                  <a:latin typeface="Arial"/>
                  <a:ea typeface="Arial"/>
                  <a:cs typeface="Arial"/>
                  <a:sym typeface="Arial"/>
                </a:rPr>
                <a:t>q</a:t>
              </a:r>
              <a:r>
                <a:rPr b="0" baseline="-25000" i="0" lang="en-US" sz="2400" u="none" cap="none" strike="noStrike">
                  <a:solidFill>
                    <a:srgbClr val="FF0000"/>
                  </a:solidFill>
                  <a:latin typeface="Arial"/>
                  <a:ea typeface="Arial"/>
                  <a:cs typeface="Arial"/>
                  <a:sym typeface="Arial"/>
                </a:rPr>
                <a:t>1</a:t>
              </a:r>
              <a:endParaRPr/>
            </a:p>
          </p:txBody>
        </p:sp>
      </p:grpSp>
      <p:grpSp>
        <p:nvGrpSpPr>
          <p:cNvPr id="262" name="Google Shape;262;p30"/>
          <p:cNvGrpSpPr/>
          <p:nvPr/>
        </p:nvGrpSpPr>
        <p:grpSpPr>
          <a:xfrm>
            <a:off x="3976688" y="3933825"/>
            <a:ext cx="469900" cy="628650"/>
            <a:chOff x="4451" y="1236"/>
            <a:chExt cx="296" cy="396"/>
          </a:xfrm>
        </p:grpSpPr>
        <p:sp>
          <p:nvSpPr>
            <p:cNvPr id="263" name="Google Shape;263;p30"/>
            <p:cNvSpPr/>
            <p:nvPr/>
          </p:nvSpPr>
          <p:spPr>
            <a:xfrm>
              <a:off x="4587" y="1495"/>
              <a:ext cx="137" cy="137"/>
            </a:xfrm>
            <a:prstGeom prst="ellipse">
              <a:avLst/>
            </a:prstGeom>
            <a:gradFill>
              <a:gsLst>
                <a:gs pos="0">
                  <a:srgbClr val="FF9999"/>
                </a:gs>
                <a:gs pos="100000">
                  <a:srgbClr val="764747"/>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FF0000"/>
                </a:solidFill>
                <a:latin typeface="Arial"/>
                <a:ea typeface="Arial"/>
                <a:cs typeface="Arial"/>
                <a:sym typeface="Arial"/>
              </a:endParaRPr>
            </a:p>
          </p:txBody>
        </p:sp>
        <p:sp>
          <p:nvSpPr>
            <p:cNvPr id="264" name="Google Shape;264;p30"/>
            <p:cNvSpPr txBox="1"/>
            <p:nvPr/>
          </p:nvSpPr>
          <p:spPr>
            <a:xfrm>
              <a:off x="4451" y="1236"/>
              <a:ext cx="296"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400" u="none" cap="none" strike="noStrike">
                  <a:solidFill>
                    <a:srgbClr val="FF0000"/>
                  </a:solidFill>
                  <a:latin typeface="Arial"/>
                  <a:ea typeface="Arial"/>
                  <a:cs typeface="Arial"/>
                  <a:sym typeface="Arial"/>
                </a:rPr>
                <a:t>q</a:t>
              </a:r>
              <a:r>
                <a:rPr b="0" baseline="-25000" i="0" lang="en-US" sz="2400" u="none" cap="none" strike="noStrike">
                  <a:solidFill>
                    <a:srgbClr val="FF0000"/>
                  </a:solidFill>
                  <a:latin typeface="Arial"/>
                  <a:ea typeface="Arial"/>
                  <a:cs typeface="Arial"/>
                  <a:sym typeface="Arial"/>
                </a:rPr>
                <a:t>2</a:t>
              </a:r>
              <a:endParaRPr/>
            </a:p>
          </p:txBody>
        </p:sp>
      </p:grpSp>
      <p:cxnSp>
        <p:nvCxnSpPr>
          <p:cNvPr id="265" name="Google Shape;265;p30"/>
          <p:cNvCxnSpPr/>
          <p:nvPr/>
        </p:nvCxnSpPr>
        <p:spPr>
          <a:xfrm flipH="1">
            <a:off x="7018338" y="4117975"/>
            <a:ext cx="385762" cy="117475"/>
          </a:xfrm>
          <a:prstGeom prst="straightConnector1">
            <a:avLst/>
          </a:prstGeom>
          <a:noFill/>
          <a:ln cap="flat" cmpd="sng" w="38100">
            <a:solidFill>
              <a:srgbClr val="FF0000"/>
            </a:solidFill>
            <a:prstDash val="solid"/>
            <a:round/>
            <a:headEnd len="med" w="med" type="none"/>
            <a:tailEnd len="med" w="med" type="stealth"/>
          </a:ln>
        </p:spPr>
      </p:cxnSp>
      <p:cxnSp>
        <p:nvCxnSpPr>
          <p:cNvPr id="266" name="Google Shape;266;p30"/>
          <p:cNvCxnSpPr/>
          <p:nvPr/>
        </p:nvCxnSpPr>
        <p:spPr>
          <a:xfrm>
            <a:off x="4279900" y="4475163"/>
            <a:ext cx="641350" cy="271462"/>
          </a:xfrm>
          <a:prstGeom prst="straightConnector1">
            <a:avLst/>
          </a:prstGeom>
          <a:noFill/>
          <a:ln cap="flat" cmpd="sng" w="38100">
            <a:solidFill>
              <a:srgbClr val="FF0000"/>
            </a:solidFill>
            <a:prstDash val="solid"/>
            <a:round/>
            <a:headEnd len="med" w="med" type="none"/>
            <a:tailEnd len="med" w="med" type="stealth"/>
          </a:ln>
        </p:spPr>
      </p:cxnSp>
      <p:sp>
        <p:nvSpPr>
          <p:cNvPr id="267" name="Google Shape;267;p30"/>
          <p:cNvSpPr txBox="1"/>
          <p:nvPr/>
        </p:nvSpPr>
        <p:spPr>
          <a:xfrm>
            <a:off x="7145338" y="4143375"/>
            <a:ext cx="50482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400" u="none" cap="none" strike="noStrike">
                <a:solidFill>
                  <a:srgbClr val="FF0000"/>
                </a:solidFill>
                <a:latin typeface="Arial"/>
                <a:ea typeface="Arial"/>
                <a:cs typeface="Arial"/>
                <a:sym typeface="Arial"/>
              </a:rPr>
              <a:t>E</a:t>
            </a:r>
            <a:r>
              <a:rPr b="0" baseline="-25000" i="0" lang="en-US" sz="2400" u="none" cap="none" strike="noStrike">
                <a:solidFill>
                  <a:srgbClr val="FF0000"/>
                </a:solidFill>
                <a:latin typeface="Arial"/>
                <a:ea typeface="Arial"/>
                <a:cs typeface="Arial"/>
                <a:sym typeface="Arial"/>
              </a:rPr>
              <a:t>1</a:t>
            </a:r>
            <a:endParaRPr b="0" i="1" sz="2400" u="none" cap="none" strike="noStrike">
              <a:solidFill>
                <a:srgbClr val="FF0000"/>
              </a:solidFill>
              <a:latin typeface="Arial"/>
              <a:ea typeface="Arial"/>
              <a:cs typeface="Arial"/>
              <a:sym typeface="Arial"/>
            </a:endParaRPr>
          </a:p>
        </p:txBody>
      </p:sp>
      <p:sp>
        <p:nvSpPr>
          <p:cNvPr id="268" name="Google Shape;268;p30"/>
          <p:cNvSpPr txBox="1"/>
          <p:nvPr/>
        </p:nvSpPr>
        <p:spPr>
          <a:xfrm>
            <a:off x="4749800" y="4321175"/>
            <a:ext cx="503238"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400" u="none" cap="none" strike="noStrike">
                <a:solidFill>
                  <a:srgbClr val="FF0000"/>
                </a:solidFill>
                <a:latin typeface="Arial"/>
                <a:ea typeface="Arial"/>
                <a:cs typeface="Arial"/>
                <a:sym typeface="Arial"/>
              </a:rPr>
              <a:t>E</a:t>
            </a:r>
            <a:r>
              <a:rPr b="0" baseline="-25000" i="0" lang="en-US" sz="2400" u="none" cap="none" strike="noStrike">
                <a:solidFill>
                  <a:srgbClr val="FF0000"/>
                </a:solidFill>
                <a:latin typeface="Arial"/>
                <a:ea typeface="Arial"/>
                <a:cs typeface="Arial"/>
                <a:sym typeface="Arial"/>
              </a:rPr>
              <a:t>2</a:t>
            </a:r>
            <a:endParaRPr b="0" i="1" sz="2400" u="none" cap="none" strike="noStrike">
              <a:solidFill>
                <a:srgbClr val="FF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5"/>
                                        </p:tgtEl>
                                        <p:attrNameLst>
                                          <p:attrName>style.visibility</p:attrName>
                                        </p:attrNameLst>
                                      </p:cBhvr>
                                      <p:to>
                                        <p:strVal val="visible"/>
                                      </p:to>
                                    </p:set>
                                    <p:anim calcmode="lin" valueType="num">
                                      <p:cBhvr additive="base">
                                        <p:cTn dur="500"/>
                                        <p:tgtEl>
                                          <p:spTgt spid="255"/>
                                        </p:tgtEl>
                                        <p:attrNameLst>
                                          <p:attrName>ppt_w</p:attrName>
                                        </p:attrNameLst>
                                      </p:cBhvr>
                                      <p:tavLst>
                                        <p:tav fmla="" tm="0">
                                          <p:val>
                                            <p:strVal val="0"/>
                                          </p:val>
                                        </p:tav>
                                        <p:tav fmla="" tm="100000">
                                          <p:val>
                                            <p:strVal val="#ppt_w"/>
                                          </p:val>
                                        </p:tav>
                                      </p:tavLst>
                                    </p:anim>
                                    <p:anim calcmode="lin" valueType="num">
                                      <p:cBhvr additive="base">
                                        <p:cTn dur="500"/>
                                        <p:tgtEl>
                                          <p:spTgt spid="2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58"/>
                                        </p:tgtEl>
                                        <p:attrNameLst>
                                          <p:attrName>style.visibility</p:attrName>
                                        </p:attrNameLst>
                                      </p:cBhvr>
                                      <p:to>
                                        <p:strVal val="visible"/>
                                      </p:to>
                                    </p:set>
                                    <p:anim calcmode="lin" valueType="num">
                                      <p:cBhvr additive="base">
                                        <p:cTn dur="500"/>
                                        <p:tgtEl>
                                          <p:spTgt spid="258"/>
                                        </p:tgtEl>
                                        <p:attrNameLst>
                                          <p:attrName>ppt_w</p:attrName>
                                        </p:attrNameLst>
                                      </p:cBhvr>
                                      <p:tavLst>
                                        <p:tav fmla="" tm="0">
                                          <p:val>
                                            <p:strVal val="0"/>
                                          </p:val>
                                        </p:tav>
                                        <p:tav fmla="" tm="100000">
                                          <p:val>
                                            <p:strVal val="#ppt_w"/>
                                          </p:val>
                                        </p:tav>
                                      </p:tavLst>
                                    </p:anim>
                                    <p:anim calcmode="lin" valueType="num">
                                      <p:cBhvr additive="base">
                                        <p:cTn dur="500"/>
                                        <p:tgtEl>
                                          <p:spTgt spid="25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2">
                                            <p:txEl>
                                              <p:pRg end="0" st="0"/>
                                            </p:txEl>
                                          </p:spTgt>
                                        </p:tgtEl>
                                        <p:attrNameLst>
                                          <p:attrName>style.visibility</p:attrName>
                                        </p:attrNameLst>
                                      </p:cBhvr>
                                      <p:to>
                                        <p:strVal val="visible"/>
                                      </p:to>
                                    </p:set>
                                    <p:anim calcmode="lin" valueType="num">
                                      <p:cBhvr additive="base">
                                        <p:cTn dur="500"/>
                                        <p:tgtEl>
                                          <p:spTgt spid="25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2">
                                            <p:txEl>
                                              <p:pRg end="1" st="1"/>
                                            </p:txEl>
                                          </p:spTgt>
                                        </p:tgtEl>
                                        <p:attrNameLst>
                                          <p:attrName>style.visibility</p:attrName>
                                        </p:attrNameLst>
                                      </p:cBhvr>
                                      <p:to>
                                        <p:strVal val="visible"/>
                                      </p:to>
                                    </p:set>
                                    <p:anim calcmode="lin" valueType="num">
                                      <p:cBhvr additive="base">
                                        <p:cTn dur="500"/>
                                        <p:tgtEl>
                                          <p:spTgt spid="25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2">
                                            <p:txEl>
                                              <p:pRg end="2" st="2"/>
                                            </p:txEl>
                                          </p:spTgt>
                                        </p:tgtEl>
                                        <p:attrNameLst>
                                          <p:attrName>style.visibility</p:attrName>
                                        </p:attrNameLst>
                                      </p:cBhvr>
                                      <p:to>
                                        <p:strVal val="visible"/>
                                      </p:to>
                                    </p:set>
                                    <p:anim calcmode="lin" valueType="num">
                                      <p:cBhvr additive="base">
                                        <p:cTn dur="500"/>
                                        <p:tgtEl>
                                          <p:spTgt spid="25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59"/>
                                        </p:tgtEl>
                                        <p:attrNameLst>
                                          <p:attrName>style.visibility</p:attrName>
                                        </p:attrNameLst>
                                      </p:cBhvr>
                                      <p:to>
                                        <p:strVal val="visible"/>
                                      </p:to>
                                    </p:set>
                                    <p:anim calcmode="lin" valueType="num">
                                      <p:cBhvr additive="base">
                                        <p:cTn dur="500"/>
                                        <p:tgtEl>
                                          <p:spTgt spid="25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62"/>
                                        </p:tgtEl>
                                        <p:attrNameLst>
                                          <p:attrName>style.visibility</p:attrName>
                                        </p:attrNameLst>
                                      </p:cBhvr>
                                      <p:to>
                                        <p:strVal val="visible"/>
                                      </p:to>
                                    </p:set>
                                    <p:anim calcmode="lin" valueType="num">
                                      <p:cBhvr additive="base">
                                        <p:cTn dur="500"/>
                                        <p:tgtEl>
                                          <p:spTgt spid="26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500"/>
                                        <p:tgtEl>
                                          <p:spTgt spid="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7"/>
                                        </p:tgtEl>
                                        <p:attrNameLst>
                                          <p:attrName>style.visibility</p:attrName>
                                        </p:attrNameLst>
                                      </p:cBhvr>
                                      <p:to>
                                        <p:strVal val="visible"/>
                                      </p:to>
                                    </p:set>
                                    <p:anim calcmode="lin" valueType="num">
                                      <p:cBhvr additive="base">
                                        <p:cTn dur="500"/>
                                        <p:tgtEl>
                                          <p:spTgt spid="267"/>
                                        </p:tgtEl>
                                        <p:attrNameLst>
                                          <p:attrName>ppt_w</p:attrName>
                                        </p:attrNameLst>
                                      </p:cBhvr>
                                      <p:tavLst>
                                        <p:tav fmla="" tm="0">
                                          <p:val>
                                            <p:strVal val="0"/>
                                          </p:val>
                                        </p:tav>
                                        <p:tav fmla="" tm="100000">
                                          <p:val>
                                            <p:strVal val="#ppt_w"/>
                                          </p:val>
                                        </p:tav>
                                      </p:tavLst>
                                    </p:anim>
                                    <p:anim calcmode="lin" valueType="num">
                                      <p:cBhvr additive="base">
                                        <p:cTn dur="500"/>
                                        <p:tgtEl>
                                          <p:spTgt spid="26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8"/>
                                        </p:tgtEl>
                                        <p:attrNameLst>
                                          <p:attrName>style.visibility</p:attrName>
                                        </p:attrNameLst>
                                      </p:cBhvr>
                                      <p:to>
                                        <p:strVal val="visible"/>
                                      </p:to>
                                    </p:set>
                                    <p:anim calcmode="lin" valueType="num">
                                      <p:cBhvr additive="base">
                                        <p:cTn dur="500"/>
                                        <p:tgtEl>
                                          <p:spTgt spid="268"/>
                                        </p:tgtEl>
                                        <p:attrNameLst>
                                          <p:attrName>ppt_w</p:attrName>
                                        </p:attrNameLst>
                                      </p:cBhvr>
                                      <p:tavLst>
                                        <p:tav fmla="" tm="0">
                                          <p:val>
                                            <p:strVal val="0"/>
                                          </p:val>
                                        </p:tav>
                                        <p:tav fmla="" tm="100000">
                                          <p:val>
                                            <p:strVal val="#ppt_w"/>
                                          </p:val>
                                        </p:tav>
                                      </p:tavLst>
                                    </p:anim>
                                    <p:anim calcmode="lin" valueType="num">
                                      <p:cBhvr additive="base">
                                        <p:cTn dur="500"/>
                                        <p:tgtEl>
                                          <p:spTgt spid="26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1"/>
          <p:cNvSpPr/>
          <p:nvPr/>
        </p:nvSpPr>
        <p:spPr>
          <a:xfrm>
            <a:off x="687388" y="1955800"/>
            <a:ext cx="7772400" cy="490220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PRACTICE: Observe the test charge as it is released. What is the sign of </a:t>
            </a:r>
            <a:r>
              <a:rPr b="0" i="1" lang="en-US" sz="2400" u="none" cap="none" strike="noStrike">
                <a:solidFill>
                  <a:schemeClr val="dk1"/>
                </a:solidFill>
                <a:latin typeface="Arial"/>
                <a:ea typeface="Arial"/>
                <a:cs typeface="Arial"/>
                <a:sym typeface="Arial"/>
              </a:rPr>
              <a:t>Q</a:t>
            </a:r>
            <a:r>
              <a:rPr b="0" i="0" lang="en-US" sz="2400" u="none" cap="none" strike="noStrike">
                <a:solidFill>
                  <a:schemeClr val="dk1"/>
                </a:solidFill>
                <a:latin typeface="Arial"/>
                <a:ea typeface="Arial"/>
                <a:cs typeface="Arial"/>
                <a:sym typeface="Arial"/>
              </a:rPr>
              <a:t>?</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SOLUTION:</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a:t>
            </a:r>
            <a:r>
              <a:rPr b="0" i="1" lang="en-US" sz="2400" u="none" cap="none" strike="noStrike">
                <a:solidFill>
                  <a:schemeClr val="dk1"/>
                </a:solidFill>
                <a:latin typeface="Arial"/>
                <a:ea typeface="Arial"/>
                <a:cs typeface="Arial"/>
                <a:sym typeface="Arial"/>
              </a:rPr>
              <a:t>Q</a:t>
            </a:r>
            <a:r>
              <a:rPr b="0" i="0" lang="en-US" sz="2400" u="none" cap="none" strike="noStrike">
                <a:solidFill>
                  <a:schemeClr val="dk1"/>
                </a:solidFill>
                <a:latin typeface="Arial"/>
                <a:ea typeface="Arial"/>
                <a:cs typeface="Arial"/>
                <a:sym typeface="Arial"/>
              </a:rPr>
              <a:t> is repelling the                                                                                                       test charge and since                                                              test charges are by                                                                          definition (+), </a:t>
            </a:r>
            <a:r>
              <a:rPr b="0" i="1" lang="en-US" sz="2400" u="none" cap="none" strike="noStrike">
                <a:solidFill>
                  <a:schemeClr val="dk1"/>
                </a:solidFill>
                <a:latin typeface="Arial"/>
                <a:ea typeface="Arial"/>
                <a:cs typeface="Arial"/>
                <a:sym typeface="Arial"/>
              </a:rPr>
              <a:t>Q</a:t>
            </a:r>
            <a:r>
              <a:rPr b="0" i="0" lang="en-US" sz="2400" u="none" cap="none" strike="noStrike">
                <a:solidFill>
                  <a:schemeClr val="dk1"/>
                </a:solidFill>
                <a:latin typeface="Arial"/>
                <a:ea typeface="Arial"/>
                <a:cs typeface="Arial"/>
                <a:sym typeface="Arial"/>
              </a:rPr>
              <a:t>                                                                       must also be (+). </a:t>
            </a:r>
            <a:endParaRPr b="0" i="0" sz="2400" u="none" cap="none" strike="noStrike">
              <a:solidFill>
                <a:schemeClr val="dk1"/>
              </a:solidFill>
              <a:latin typeface="Arial"/>
              <a:ea typeface="Arial"/>
              <a:cs typeface="Arial"/>
              <a:sym typeface="Arial"/>
            </a:endParaRPr>
          </a:p>
        </p:txBody>
      </p:sp>
      <p:sp>
        <p:nvSpPr>
          <p:cNvPr id="274" name="Google Shape;274;p31"/>
          <p:cNvSpPr/>
          <p:nvPr/>
        </p:nvSpPr>
        <p:spPr>
          <a:xfrm>
            <a:off x="3897313" y="2813050"/>
            <a:ext cx="5246687" cy="408781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Arial"/>
              <a:ea typeface="Arial"/>
              <a:cs typeface="Arial"/>
              <a:sym typeface="Arial"/>
            </a:endParaRPr>
          </a:p>
        </p:txBody>
      </p:sp>
      <p:sp>
        <p:nvSpPr>
          <p:cNvPr id="275" name="Google Shape;275;p31"/>
          <p:cNvSpPr/>
          <p:nvPr/>
        </p:nvSpPr>
        <p:spPr>
          <a:xfrm>
            <a:off x="685800" y="1549400"/>
            <a:ext cx="7772400" cy="4476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b="0" i="1" lang="en-US" sz="2400" u="none" cap="none" strike="noStrike">
                <a:solidFill>
                  <a:srgbClr val="333399"/>
                </a:solidFill>
                <a:latin typeface="Arial"/>
                <a:ea typeface="Arial"/>
                <a:cs typeface="Arial"/>
                <a:sym typeface="Arial"/>
              </a:rPr>
              <a:t>Electric field </a:t>
            </a:r>
            <a:r>
              <a:rPr b="0" i="0" lang="en-US" sz="2400" u="none" cap="none" strike="noStrike">
                <a:solidFill>
                  <a:srgbClr val="333399"/>
                </a:solidFill>
                <a:latin typeface="Arial"/>
                <a:ea typeface="Arial"/>
                <a:cs typeface="Arial"/>
                <a:sym typeface="Arial"/>
              </a:rPr>
              <a:t>– test charges</a:t>
            </a:r>
            <a:r>
              <a:rPr b="0" i="0" lang="en-US" sz="2400" u="none" cap="none" strike="noStrike">
                <a:solidFill>
                  <a:srgbClr val="000000"/>
                </a:solidFill>
                <a:latin typeface="Arial"/>
                <a:ea typeface="Arial"/>
                <a:cs typeface="Arial"/>
                <a:sym typeface="Arial"/>
              </a:rPr>
              <a:t>	</a:t>
            </a:r>
            <a:endParaRPr/>
          </a:p>
        </p:txBody>
      </p:sp>
      <p:sp>
        <p:nvSpPr>
          <p:cNvPr id="276" name="Google Shape;276;p31"/>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pic>
        <p:nvPicPr>
          <p:cNvPr id="277" name="Google Shape;277;p31"/>
          <p:cNvPicPr preferRelativeResize="0"/>
          <p:nvPr/>
        </p:nvPicPr>
        <p:blipFill rotWithShape="1">
          <a:blip r:embed="rId3">
            <a:alphaModFix/>
          </a:blip>
          <a:srcRect b="0" l="0" r="0" t="0"/>
          <a:stretch/>
        </p:blipFill>
        <p:spPr>
          <a:xfrm>
            <a:off x="3965575" y="3227388"/>
            <a:ext cx="5172075" cy="3694112"/>
          </a:xfrm>
          <a:prstGeom prst="rect">
            <a:avLst/>
          </a:prstGeom>
          <a:noFill/>
          <a:ln>
            <a:noFill/>
          </a:ln>
        </p:spPr>
      </p:pic>
      <p:sp>
        <p:nvSpPr>
          <p:cNvPr id="278" name="Google Shape;278;p31"/>
          <p:cNvSpPr/>
          <p:nvPr/>
        </p:nvSpPr>
        <p:spPr>
          <a:xfrm>
            <a:off x="6048375" y="3052763"/>
            <a:ext cx="296863" cy="295275"/>
          </a:xfrm>
          <a:prstGeom prst="ellipse">
            <a:avLst/>
          </a:prstGeom>
          <a:gradFill>
            <a:gsLst>
              <a:gs pos="0">
                <a:srgbClr val="FF0000"/>
              </a:gs>
              <a:gs pos="100000">
                <a:srgbClr val="B300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Arial"/>
              <a:ea typeface="Arial"/>
              <a:cs typeface="Arial"/>
              <a:sym typeface="Arial"/>
            </a:endParaRPr>
          </a:p>
        </p:txBody>
      </p:sp>
      <p:sp>
        <p:nvSpPr>
          <p:cNvPr id="279" name="Google Shape;279;p31"/>
          <p:cNvSpPr txBox="1"/>
          <p:nvPr/>
        </p:nvSpPr>
        <p:spPr>
          <a:xfrm>
            <a:off x="6386513" y="2954338"/>
            <a:ext cx="422275"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2400"/>
              <a:buFont typeface="Arial"/>
              <a:buNone/>
            </a:pPr>
            <a:r>
              <a:rPr b="0" i="1" lang="en-US" sz="2400" u="none" cap="none" strike="noStrike">
                <a:solidFill>
                  <a:schemeClr val="lt1"/>
                </a:solidFill>
                <a:latin typeface="Arial"/>
                <a:ea typeface="Arial"/>
                <a:cs typeface="Arial"/>
                <a:sym typeface="Arial"/>
              </a:rPr>
              <a:t>Q</a:t>
            </a:r>
            <a:endParaRPr/>
          </a:p>
        </p:txBody>
      </p:sp>
      <p:sp>
        <p:nvSpPr>
          <p:cNvPr id="280" name="Google Shape;280;p31"/>
          <p:cNvSpPr/>
          <p:nvPr/>
        </p:nvSpPr>
        <p:spPr>
          <a:xfrm>
            <a:off x="5964238" y="3629025"/>
            <a:ext cx="98425" cy="98425"/>
          </a:xfrm>
          <a:prstGeom prst="ellipse">
            <a:avLst/>
          </a:prstGeom>
          <a:gradFill>
            <a:gsLst>
              <a:gs pos="0">
                <a:srgbClr val="FF0000"/>
              </a:gs>
              <a:gs pos="100000">
                <a:srgbClr val="B300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3">
                                            <p:txEl>
                                              <p:pRg end="0" st="0"/>
                                            </p:txEl>
                                          </p:spTgt>
                                        </p:tgtEl>
                                        <p:attrNameLst>
                                          <p:attrName>style.visibility</p:attrName>
                                        </p:attrNameLst>
                                      </p:cBhvr>
                                      <p:to>
                                        <p:strVal val="visible"/>
                                      </p:to>
                                    </p:set>
                                    <p:anim calcmode="lin" valueType="num">
                                      <p:cBhvr additive="base">
                                        <p:cTn dur="500"/>
                                        <p:tgtEl>
                                          <p:spTgt spid="27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3">
                                            <p:txEl>
                                              <p:pRg end="1" st="1"/>
                                            </p:txEl>
                                          </p:spTgt>
                                        </p:tgtEl>
                                        <p:attrNameLst>
                                          <p:attrName>style.visibility</p:attrName>
                                        </p:attrNameLst>
                                      </p:cBhvr>
                                      <p:to>
                                        <p:strVal val="visible"/>
                                      </p:to>
                                    </p:set>
                                    <p:anim calcmode="lin" valueType="num">
                                      <p:cBhvr additive="base">
                                        <p:cTn dur="500"/>
                                        <p:tgtEl>
                                          <p:spTgt spid="27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3">
                                            <p:txEl>
                                              <p:pRg end="2" st="2"/>
                                            </p:txEl>
                                          </p:spTgt>
                                        </p:tgtEl>
                                        <p:attrNameLst>
                                          <p:attrName>style.visibility</p:attrName>
                                        </p:attrNameLst>
                                      </p:cBhvr>
                                      <p:to>
                                        <p:strVal val="visible"/>
                                      </p:to>
                                    </p:set>
                                    <p:anim calcmode="lin" valueType="num">
                                      <p:cBhvr additive="base">
                                        <p:cTn dur="500"/>
                                        <p:tgtEl>
                                          <p:spTgt spid="273">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2000"/>
                                        <p:tgtEl>
                                          <p:spTgt spid="27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2000"/>
                                        <p:tgtEl>
                                          <p:spTgt spid="278"/>
                                        </p:tgtEl>
                                      </p:cBhvr>
                                    </p:animEffect>
                                  </p:childTnLst>
                                </p:cTn>
                              </p:par>
                              <p:par>
                                <p:cTn fill="hold" nodeType="with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2000"/>
                                        <p:tgtEl>
                                          <p:spTgt spid="279"/>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2000"/>
                                        <p:tgtEl>
                                          <p:spTgt spid="2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0"/>
                                        </p:tgtEl>
                                        <p:attrNameLst>
                                          <p:attrName>style.visibility</p:attrName>
                                        </p:attrNameLst>
                                      </p:cBhvr>
                                      <p:to>
                                        <p:strVal val="visible"/>
                                      </p:to>
                                    </p:set>
                                    <p:anim calcmode="lin" valueType="num">
                                      <p:cBhvr additive="base">
                                        <p:cTn dur="500"/>
                                        <p:tgtEl>
                                          <p:spTgt spid="280"/>
                                        </p:tgtEl>
                                        <p:attrNameLst>
                                          <p:attrName>ppt_w</p:attrName>
                                        </p:attrNameLst>
                                      </p:cBhvr>
                                      <p:tavLst>
                                        <p:tav fmla="" tm="0">
                                          <p:val>
                                            <p:strVal val="0"/>
                                          </p:val>
                                        </p:tav>
                                        <p:tav fmla="" tm="100000">
                                          <p:val>
                                            <p:strVal val="#ppt_w"/>
                                          </p:val>
                                        </p:tav>
                                      </p:tavLst>
                                    </p:anim>
                                    <p:anim calcmode="lin" valueType="num">
                                      <p:cBhvr additive="base">
                                        <p:cTn dur="500"/>
                                        <p:tgtEl>
                                          <p:spTgt spid="28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2"/>
          <p:cNvSpPr/>
          <p:nvPr/>
        </p:nvSpPr>
        <p:spPr>
          <a:xfrm>
            <a:off x="682625" y="5303838"/>
            <a:ext cx="7777163" cy="1554162"/>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u="none" cap="none" strike="noStrike">
                <a:solidFill>
                  <a:schemeClr val="dk1"/>
                </a:solidFill>
                <a:latin typeface="Arial"/>
                <a:ea typeface="Arial"/>
                <a:cs typeface="Arial"/>
                <a:sym typeface="Arial"/>
              </a:rPr>
              <a:t>FYI</a:t>
            </a:r>
            <a:endParaRPr/>
          </a:p>
          <a:p>
            <a:pPr indent="0" lvl="0" marL="0" marR="0" rtl="0" algn="l">
              <a:spcBef>
                <a:spcPts val="480"/>
              </a:spcBef>
              <a:spcAft>
                <a:spcPts val="0"/>
              </a:spcAft>
              <a:buNone/>
            </a:pPr>
            <a:r>
              <a:rPr b="1" i="0" lang="en-US" sz="2400" u="none" cap="none" strike="noStrike">
                <a:solidFill>
                  <a:schemeClr val="dk1"/>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The field arrows of the inner ring are longer than the field arrows of the outer ring and all field arrows point to the centerline.</a:t>
            </a:r>
            <a:endParaRPr/>
          </a:p>
        </p:txBody>
      </p:sp>
      <p:sp>
        <p:nvSpPr>
          <p:cNvPr id="286" name="Google Shape;286;p32"/>
          <p:cNvSpPr/>
          <p:nvPr/>
        </p:nvSpPr>
        <p:spPr>
          <a:xfrm>
            <a:off x="685800" y="1549400"/>
            <a:ext cx="7772400" cy="1249363"/>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1" lang="en-US" sz="2400" u="none" cap="none" strike="noStrike">
                <a:solidFill>
                  <a:srgbClr val="333399"/>
                </a:solidFill>
                <a:latin typeface="Arial"/>
                <a:ea typeface="Arial"/>
                <a:cs typeface="Arial"/>
                <a:sym typeface="Arial"/>
              </a:rPr>
              <a:t>Electric field </a:t>
            </a:r>
            <a:r>
              <a:rPr b="0" i="0" lang="en-US" sz="2400" u="none" cap="none" strike="noStrike">
                <a:solidFill>
                  <a:srgbClr val="333399"/>
                </a:solidFill>
                <a:latin typeface="Arial"/>
                <a:ea typeface="Arial"/>
                <a:cs typeface="Arial"/>
                <a:sym typeface="Arial"/>
              </a:rPr>
              <a:t>– test charges</a:t>
            </a:r>
            <a:r>
              <a:rPr b="0" i="0" lang="en-US" sz="2400" u="none" cap="none" strike="noStrike">
                <a:solidFill>
                  <a:srgbClr val="000000"/>
                </a:solidFill>
                <a:latin typeface="Arial"/>
                <a:ea typeface="Arial"/>
                <a:cs typeface="Arial"/>
                <a:sym typeface="Arial"/>
              </a:rPr>
              <a:t>	</a:t>
            </a:r>
            <a:endParaRPr/>
          </a:p>
          <a:p>
            <a:pPr indent="0" lvl="0" marL="0" marR="0" rtl="0" algn="l">
              <a:spcBef>
                <a:spcPts val="480"/>
              </a:spcBef>
              <a:spcAft>
                <a:spcPts val="0"/>
              </a:spcAft>
              <a:buNone/>
            </a:pPr>
            <a:r>
              <a:rPr b="0" i="0" lang="en-US" sz="2400" u="none" cap="none" strike="noStrike">
                <a:solidFill>
                  <a:srgbClr val="000000"/>
                </a:solidFill>
                <a:latin typeface="Arial"/>
                <a:ea typeface="Arial"/>
                <a:cs typeface="Arial"/>
                <a:sym typeface="Arial"/>
              </a:rPr>
              <a:t>∙ By “placing” a series of test charges about a negative charge, we can map out its electric field:</a:t>
            </a:r>
            <a:endParaRPr/>
          </a:p>
        </p:txBody>
      </p:sp>
      <p:sp>
        <p:nvSpPr>
          <p:cNvPr id="287" name="Google Shape;287;p32"/>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grpSp>
        <p:nvGrpSpPr>
          <p:cNvPr id="288" name="Google Shape;288;p32"/>
          <p:cNvGrpSpPr/>
          <p:nvPr/>
        </p:nvGrpSpPr>
        <p:grpSpPr>
          <a:xfrm>
            <a:off x="4811713" y="5059363"/>
            <a:ext cx="619125" cy="619125"/>
            <a:chOff x="2916" y="3376"/>
            <a:chExt cx="390" cy="390"/>
          </a:xfrm>
        </p:grpSpPr>
        <p:sp>
          <p:nvSpPr>
            <p:cNvPr id="289" name="Google Shape;289;p32"/>
            <p:cNvSpPr/>
            <p:nvPr/>
          </p:nvSpPr>
          <p:spPr>
            <a:xfrm>
              <a:off x="2916" y="3376"/>
              <a:ext cx="390" cy="390"/>
            </a:xfrm>
            <a:prstGeom prst="ellipse">
              <a:avLst/>
            </a:prstGeom>
            <a:gradFill>
              <a:gsLst>
                <a:gs pos="0">
                  <a:schemeClr val="accent2"/>
                </a:gs>
                <a:gs pos="100000">
                  <a:srgbClr val="23236B"/>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290" name="Google Shape;290;p32"/>
            <p:cNvSpPr txBox="1"/>
            <p:nvPr/>
          </p:nvSpPr>
          <p:spPr>
            <a:xfrm>
              <a:off x="2986" y="3434"/>
              <a:ext cx="267"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400" u="none" cap="none" strike="noStrike">
                  <a:solidFill>
                    <a:schemeClr val="lt1"/>
                  </a:solidFill>
                  <a:latin typeface="Arial"/>
                  <a:ea typeface="Arial"/>
                  <a:cs typeface="Arial"/>
                  <a:sym typeface="Arial"/>
                </a:rPr>
                <a:t>Q</a:t>
              </a:r>
              <a:endParaRPr/>
            </a:p>
          </p:txBody>
        </p:sp>
      </p:grpSp>
      <p:pic>
        <p:nvPicPr>
          <p:cNvPr id="291" name="Google Shape;291;p32"/>
          <p:cNvPicPr preferRelativeResize="0"/>
          <p:nvPr/>
        </p:nvPicPr>
        <p:blipFill rotWithShape="1">
          <a:blip r:embed="rId3">
            <a:alphaModFix/>
          </a:blip>
          <a:srcRect b="0" l="0" r="0" t="0"/>
          <a:stretch/>
        </p:blipFill>
        <p:spPr>
          <a:xfrm>
            <a:off x="366713" y="2954338"/>
            <a:ext cx="8807450" cy="2774950"/>
          </a:xfrm>
          <a:prstGeom prst="rect">
            <a:avLst/>
          </a:prstGeom>
          <a:noFill/>
          <a:ln>
            <a:noFill/>
          </a:ln>
          <a:effectLst>
            <a:outerShdw blurRad="292100" rotWithShape="0" algn="tl" dir="2700000" dist="139700">
              <a:srgbClr val="333333">
                <a:alpha val="64705"/>
              </a:srgbClr>
            </a:outerShdw>
          </a:effectLst>
        </p:spPr>
      </p:pic>
      <p:sp>
        <p:nvSpPr>
          <p:cNvPr id="292" name="Google Shape;292;p32"/>
          <p:cNvSpPr/>
          <p:nvPr/>
        </p:nvSpPr>
        <p:spPr>
          <a:xfrm>
            <a:off x="3751263" y="3470275"/>
            <a:ext cx="2732087" cy="71913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293" name="Google Shape;293;p32"/>
          <p:cNvCxnSpPr/>
          <p:nvPr/>
        </p:nvCxnSpPr>
        <p:spPr>
          <a:xfrm rot="10800000">
            <a:off x="5121275" y="3319463"/>
            <a:ext cx="0" cy="457200"/>
          </a:xfrm>
          <a:prstGeom prst="straightConnector1">
            <a:avLst/>
          </a:prstGeom>
          <a:noFill/>
          <a:ln cap="flat" cmpd="sng" w="9525">
            <a:solidFill>
              <a:schemeClr val="dk1"/>
            </a:solidFill>
            <a:prstDash val="solid"/>
            <a:round/>
            <a:headEnd len="med" w="med" type="none"/>
            <a:tailEnd len="med" w="med" type="none"/>
          </a:ln>
        </p:spPr>
      </p:cxnSp>
      <p:cxnSp>
        <p:nvCxnSpPr>
          <p:cNvPr id="294" name="Google Shape;294;p32"/>
          <p:cNvCxnSpPr/>
          <p:nvPr/>
        </p:nvCxnSpPr>
        <p:spPr>
          <a:xfrm flipH="1">
            <a:off x="5424488" y="3492500"/>
            <a:ext cx="219075" cy="119063"/>
          </a:xfrm>
          <a:prstGeom prst="straightConnector1">
            <a:avLst/>
          </a:prstGeom>
          <a:noFill/>
          <a:ln cap="flat" cmpd="sng" w="9525">
            <a:solidFill>
              <a:srgbClr val="FF0000"/>
            </a:solidFill>
            <a:prstDash val="solid"/>
            <a:round/>
            <a:headEnd len="med" w="med" type="none"/>
            <a:tailEnd len="med" w="med" type="triangle"/>
          </a:ln>
        </p:spPr>
      </p:cxnSp>
      <p:cxnSp>
        <p:nvCxnSpPr>
          <p:cNvPr id="295" name="Google Shape;295;p32"/>
          <p:cNvCxnSpPr/>
          <p:nvPr/>
        </p:nvCxnSpPr>
        <p:spPr>
          <a:xfrm flipH="1">
            <a:off x="5153025" y="3481388"/>
            <a:ext cx="42863" cy="120650"/>
          </a:xfrm>
          <a:prstGeom prst="straightConnector1">
            <a:avLst/>
          </a:prstGeom>
          <a:noFill/>
          <a:ln cap="flat" cmpd="sng" w="9525">
            <a:solidFill>
              <a:srgbClr val="FF0000"/>
            </a:solidFill>
            <a:prstDash val="solid"/>
            <a:round/>
            <a:headEnd len="med" w="med" type="none"/>
            <a:tailEnd len="med" w="med" type="triangle"/>
          </a:ln>
        </p:spPr>
      </p:cxnSp>
      <p:cxnSp>
        <p:nvCxnSpPr>
          <p:cNvPr id="296" name="Google Shape;296;p32"/>
          <p:cNvCxnSpPr/>
          <p:nvPr/>
        </p:nvCxnSpPr>
        <p:spPr>
          <a:xfrm>
            <a:off x="4805363" y="3492500"/>
            <a:ext cx="128587" cy="107950"/>
          </a:xfrm>
          <a:prstGeom prst="straightConnector1">
            <a:avLst/>
          </a:prstGeom>
          <a:noFill/>
          <a:ln cap="flat" cmpd="sng" w="9525">
            <a:solidFill>
              <a:srgbClr val="FF0000"/>
            </a:solidFill>
            <a:prstDash val="solid"/>
            <a:round/>
            <a:headEnd len="med" w="med" type="none"/>
            <a:tailEnd len="med" w="med" type="triangle"/>
          </a:ln>
        </p:spPr>
      </p:cxnSp>
      <p:cxnSp>
        <p:nvCxnSpPr>
          <p:cNvPr id="297" name="Google Shape;297;p32"/>
          <p:cNvCxnSpPr/>
          <p:nvPr/>
        </p:nvCxnSpPr>
        <p:spPr>
          <a:xfrm>
            <a:off x="4424363" y="3538538"/>
            <a:ext cx="206375" cy="96837"/>
          </a:xfrm>
          <a:prstGeom prst="straightConnector1">
            <a:avLst/>
          </a:prstGeom>
          <a:noFill/>
          <a:ln cap="flat" cmpd="sng" w="9525">
            <a:solidFill>
              <a:srgbClr val="FF0000"/>
            </a:solidFill>
            <a:prstDash val="solid"/>
            <a:round/>
            <a:headEnd len="med" w="med" type="none"/>
            <a:tailEnd len="med" w="med" type="triangle"/>
          </a:ln>
        </p:spPr>
      </p:cxnSp>
      <p:cxnSp>
        <p:nvCxnSpPr>
          <p:cNvPr id="298" name="Google Shape;298;p32"/>
          <p:cNvCxnSpPr/>
          <p:nvPr/>
        </p:nvCxnSpPr>
        <p:spPr>
          <a:xfrm>
            <a:off x="4052888" y="3614738"/>
            <a:ext cx="369887" cy="66675"/>
          </a:xfrm>
          <a:prstGeom prst="straightConnector1">
            <a:avLst/>
          </a:prstGeom>
          <a:noFill/>
          <a:ln cap="flat" cmpd="sng" w="9525">
            <a:solidFill>
              <a:srgbClr val="FF0000"/>
            </a:solidFill>
            <a:prstDash val="solid"/>
            <a:round/>
            <a:headEnd len="med" w="med" type="none"/>
            <a:tailEnd len="med" w="med" type="triangle"/>
          </a:ln>
        </p:spPr>
      </p:cxnSp>
      <p:cxnSp>
        <p:nvCxnSpPr>
          <p:cNvPr id="299" name="Google Shape;299;p32"/>
          <p:cNvCxnSpPr/>
          <p:nvPr/>
        </p:nvCxnSpPr>
        <p:spPr>
          <a:xfrm>
            <a:off x="3803650" y="3743325"/>
            <a:ext cx="481013" cy="1588"/>
          </a:xfrm>
          <a:prstGeom prst="straightConnector1">
            <a:avLst/>
          </a:prstGeom>
          <a:noFill/>
          <a:ln cap="flat" cmpd="sng" w="9525">
            <a:solidFill>
              <a:srgbClr val="FF0000"/>
            </a:solidFill>
            <a:prstDash val="solid"/>
            <a:round/>
            <a:headEnd len="med" w="med" type="none"/>
            <a:tailEnd len="med" w="med" type="triangle"/>
          </a:ln>
        </p:spPr>
      </p:cxnSp>
      <p:cxnSp>
        <p:nvCxnSpPr>
          <p:cNvPr id="300" name="Google Shape;300;p32"/>
          <p:cNvCxnSpPr/>
          <p:nvPr/>
        </p:nvCxnSpPr>
        <p:spPr>
          <a:xfrm flipH="1" rot="10800000">
            <a:off x="3757613" y="3810000"/>
            <a:ext cx="512762" cy="65088"/>
          </a:xfrm>
          <a:prstGeom prst="straightConnector1">
            <a:avLst/>
          </a:prstGeom>
          <a:noFill/>
          <a:ln cap="flat" cmpd="sng" w="9525">
            <a:solidFill>
              <a:srgbClr val="FF0000"/>
            </a:solidFill>
            <a:prstDash val="solid"/>
            <a:round/>
            <a:headEnd len="med" w="med" type="none"/>
            <a:tailEnd len="med" w="med" type="triangle"/>
          </a:ln>
        </p:spPr>
      </p:cxnSp>
      <p:cxnSp>
        <p:nvCxnSpPr>
          <p:cNvPr id="301" name="Google Shape;301;p32"/>
          <p:cNvCxnSpPr/>
          <p:nvPr/>
        </p:nvCxnSpPr>
        <p:spPr>
          <a:xfrm flipH="1" rot="10800000">
            <a:off x="3848100" y="3863975"/>
            <a:ext cx="468313" cy="77788"/>
          </a:xfrm>
          <a:prstGeom prst="straightConnector1">
            <a:avLst/>
          </a:prstGeom>
          <a:noFill/>
          <a:ln cap="flat" cmpd="sng" w="9525">
            <a:solidFill>
              <a:srgbClr val="FF0000"/>
            </a:solidFill>
            <a:prstDash val="solid"/>
            <a:round/>
            <a:headEnd len="med" w="med" type="none"/>
            <a:tailEnd len="med" w="med" type="triangle"/>
          </a:ln>
        </p:spPr>
      </p:cxnSp>
      <p:cxnSp>
        <p:nvCxnSpPr>
          <p:cNvPr id="302" name="Google Shape;302;p32"/>
          <p:cNvCxnSpPr/>
          <p:nvPr/>
        </p:nvCxnSpPr>
        <p:spPr>
          <a:xfrm flipH="1" rot="10800000">
            <a:off x="3933825" y="3898900"/>
            <a:ext cx="481013" cy="96838"/>
          </a:xfrm>
          <a:prstGeom prst="straightConnector1">
            <a:avLst/>
          </a:prstGeom>
          <a:noFill/>
          <a:ln cap="flat" cmpd="sng" w="9525">
            <a:solidFill>
              <a:srgbClr val="FF0000"/>
            </a:solidFill>
            <a:prstDash val="solid"/>
            <a:round/>
            <a:headEnd len="med" w="med" type="none"/>
            <a:tailEnd len="med" w="med" type="triangle"/>
          </a:ln>
        </p:spPr>
      </p:cxnSp>
      <p:cxnSp>
        <p:nvCxnSpPr>
          <p:cNvPr id="303" name="Google Shape;303;p32"/>
          <p:cNvCxnSpPr/>
          <p:nvPr/>
        </p:nvCxnSpPr>
        <p:spPr>
          <a:xfrm flipH="1" rot="10800000">
            <a:off x="4052888" y="3929063"/>
            <a:ext cx="468312" cy="131762"/>
          </a:xfrm>
          <a:prstGeom prst="straightConnector1">
            <a:avLst/>
          </a:prstGeom>
          <a:noFill/>
          <a:ln cap="flat" cmpd="sng" w="9525">
            <a:solidFill>
              <a:srgbClr val="FF0000"/>
            </a:solidFill>
            <a:prstDash val="solid"/>
            <a:round/>
            <a:headEnd len="med" w="med" type="none"/>
            <a:tailEnd len="med" w="med" type="triangle"/>
          </a:ln>
        </p:spPr>
      </p:cxnSp>
      <p:cxnSp>
        <p:nvCxnSpPr>
          <p:cNvPr id="304" name="Google Shape;304;p32"/>
          <p:cNvCxnSpPr/>
          <p:nvPr/>
        </p:nvCxnSpPr>
        <p:spPr>
          <a:xfrm flipH="1" rot="10800000">
            <a:off x="4391025" y="3971925"/>
            <a:ext cx="338138" cy="142875"/>
          </a:xfrm>
          <a:prstGeom prst="straightConnector1">
            <a:avLst/>
          </a:prstGeom>
          <a:noFill/>
          <a:ln cap="flat" cmpd="sng" w="9525">
            <a:solidFill>
              <a:srgbClr val="FF0000"/>
            </a:solidFill>
            <a:prstDash val="solid"/>
            <a:round/>
            <a:headEnd len="med" w="med" type="none"/>
            <a:tailEnd len="med" w="med" type="triangle"/>
          </a:ln>
        </p:spPr>
      </p:cxnSp>
      <p:cxnSp>
        <p:nvCxnSpPr>
          <p:cNvPr id="305" name="Google Shape;305;p32"/>
          <p:cNvCxnSpPr/>
          <p:nvPr/>
        </p:nvCxnSpPr>
        <p:spPr>
          <a:xfrm flipH="1" rot="10800000">
            <a:off x="4848225" y="3973513"/>
            <a:ext cx="207963" cy="206375"/>
          </a:xfrm>
          <a:prstGeom prst="straightConnector1">
            <a:avLst/>
          </a:prstGeom>
          <a:noFill/>
          <a:ln cap="flat" cmpd="sng" w="9525">
            <a:solidFill>
              <a:srgbClr val="FF0000"/>
            </a:solidFill>
            <a:prstDash val="solid"/>
            <a:round/>
            <a:headEnd len="med" w="med" type="none"/>
            <a:tailEnd len="med" w="med" type="triangle"/>
          </a:ln>
        </p:spPr>
      </p:cxnSp>
      <p:cxnSp>
        <p:nvCxnSpPr>
          <p:cNvPr id="306" name="Google Shape;306;p32"/>
          <p:cNvCxnSpPr/>
          <p:nvPr/>
        </p:nvCxnSpPr>
        <p:spPr>
          <a:xfrm rot="10800000">
            <a:off x="5262563" y="3984625"/>
            <a:ext cx="195262" cy="195263"/>
          </a:xfrm>
          <a:prstGeom prst="straightConnector1">
            <a:avLst/>
          </a:prstGeom>
          <a:noFill/>
          <a:ln cap="flat" cmpd="sng" w="9525">
            <a:solidFill>
              <a:srgbClr val="FF0000"/>
            </a:solidFill>
            <a:prstDash val="solid"/>
            <a:round/>
            <a:headEnd len="med" w="med" type="none"/>
            <a:tailEnd len="med" w="med" type="triangle"/>
          </a:ln>
        </p:spPr>
      </p:cxnSp>
      <p:cxnSp>
        <p:nvCxnSpPr>
          <p:cNvPr id="307" name="Google Shape;307;p32"/>
          <p:cNvCxnSpPr/>
          <p:nvPr/>
        </p:nvCxnSpPr>
        <p:spPr>
          <a:xfrm rot="10800000">
            <a:off x="5645150" y="3952875"/>
            <a:ext cx="379413" cy="130175"/>
          </a:xfrm>
          <a:prstGeom prst="straightConnector1">
            <a:avLst/>
          </a:prstGeom>
          <a:noFill/>
          <a:ln cap="flat" cmpd="sng" w="9525">
            <a:solidFill>
              <a:srgbClr val="FF0000"/>
            </a:solidFill>
            <a:prstDash val="solid"/>
            <a:round/>
            <a:headEnd len="med" w="med" type="none"/>
            <a:tailEnd len="med" w="med" type="triangle"/>
          </a:ln>
        </p:spPr>
      </p:cxnSp>
      <p:cxnSp>
        <p:nvCxnSpPr>
          <p:cNvPr id="308" name="Google Shape;308;p32"/>
          <p:cNvCxnSpPr/>
          <p:nvPr/>
        </p:nvCxnSpPr>
        <p:spPr>
          <a:xfrm rot="10800000">
            <a:off x="5808663" y="3898900"/>
            <a:ext cx="444500" cy="119063"/>
          </a:xfrm>
          <a:prstGeom prst="straightConnector1">
            <a:avLst/>
          </a:prstGeom>
          <a:noFill/>
          <a:ln cap="flat" cmpd="sng" w="9525">
            <a:solidFill>
              <a:srgbClr val="FF0000"/>
            </a:solidFill>
            <a:prstDash val="solid"/>
            <a:round/>
            <a:headEnd len="med" w="med" type="none"/>
            <a:tailEnd len="med" w="med" type="triangle"/>
          </a:ln>
        </p:spPr>
      </p:cxnSp>
      <p:cxnSp>
        <p:nvCxnSpPr>
          <p:cNvPr id="309" name="Google Shape;309;p32"/>
          <p:cNvCxnSpPr/>
          <p:nvPr/>
        </p:nvCxnSpPr>
        <p:spPr>
          <a:xfrm rot="10800000">
            <a:off x="5929313" y="3867150"/>
            <a:ext cx="465137" cy="96838"/>
          </a:xfrm>
          <a:prstGeom prst="straightConnector1">
            <a:avLst/>
          </a:prstGeom>
          <a:noFill/>
          <a:ln cap="flat" cmpd="sng" w="9525">
            <a:solidFill>
              <a:srgbClr val="FF0000"/>
            </a:solidFill>
            <a:prstDash val="solid"/>
            <a:round/>
            <a:headEnd len="med" w="med" type="none"/>
            <a:tailEnd len="med" w="med" type="triangle"/>
          </a:ln>
        </p:spPr>
      </p:cxnSp>
      <p:cxnSp>
        <p:nvCxnSpPr>
          <p:cNvPr id="310" name="Google Shape;310;p32"/>
          <p:cNvCxnSpPr/>
          <p:nvPr/>
        </p:nvCxnSpPr>
        <p:spPr>
          <a:xfrm rot="10800000">
            <a:off x="5983288" y="3846513"/>
            <a:ext cx="487362" cy="52387"/>
          </a:xfrm>
          <a:prstGeom prst="straightConnector1">
            <a:avLst/>
          </a:prstGeom>
          <a:noFill/>
          <a:ln cap="flat" cmpd="sng" w="9525">
            <a:solidFill>
              <a:srgbClr val="FF0000"/>
            </a:solidFill>
            <a:prstDash val="solid"/>
            <a:round/>
            <a:headEnd len="med" w="med" type="none"/>
            <a:tailEnd len="med" w="med" type="triangle"/>
          </a:ln>
        </p:spPr>
      </p:cxnSp>
      <p:cxnSp>
        <p:nvCxnSpPr>
          <p:cNvPr id="311" name="Google Shape;311;p32"/>
          <p:cNvCxnSpPr/>
          <p:nvPr/>
        </p:nvCxnSpPr>
        <p:spPr>
          <a:xfrm flipH="1">
            <a:off x="6007100" y="3779838"/>
            <a:ext cx="463550" cy="1587"/>
          </a:xfrm>
          <a:prstGeom prst="straightConnector1">
            <a:avLst/>
          </a:prstGeom>
          <a:noFill/>
          <a:ln cap="flat" cmpd="sng" w="9525">
            <a:solidFill>
              <a:srgbClr val="FF0000"/>
            </a:solidFill>
            <a:prstDash val="solid"/>
            <a:round/>
            <a:headEnd len="med" w="med" type="none"/>
            <a:tailEnd len="med" w="med" type="triangle"/>
          </a:ln>
        </p:spPr>
      </p:cxnSp>
      <p:cxnSp>
        <p:nvCxnSpPr>
          <p:cNvPr id="312" name="Google Shape;312;p32"/>
          <p:cNvCxnSpPr/>
          <p:nvPr/>
        </p:nvCxnSpPr>
        <p:spPr>
          <a:xfrm flipH="1">
            <a:off x="5940425" y="3670300"/>
            <a:ext cx="388938" cy="34925"/>
          </a:xfrm>
          <a:prstGeom prst="straightConnector1">
            <a:avLst/>
          </a:prstGeom>
          <a:noFill/>
          <a:ln cap="flat" cmpd="sng" w="9525">
            <a:solidFill>
              <a:srgbClr val="FF0000"/>
            </a:solidFill>
            <a:prstDash val="solid"/>
            <a:round/>
            <a:headEnd len="med" w="med" type="none"/>
            <a:tailEnd len="med" w="med" type="triangle"/>
          </a:ln>
        </p:spPr>
      </p:cxnSp>
      <p:cxnSp>
        <p:nvCxnSpPr>
          <p:cNvPr id="313" name="Google Shape;313;p32"/>
          <p:cNvCxnSpPr/>
          <p:nvPr/>
        </p:nvCxnSpPr>
        <p:spPr>
          <a:xfrm flipH="1">
            <a:off x="5691188" y="3573463"/>
            <a:ext cx="344487" cy="66675"/>
          </a:xfrm>
          <a:prstGeom prst="straightConnector1">
            <a:avLst/>
          </a:prstGeom>
          <a:noFill/>
          <a:ln cap="flat" cmpd="sng" w="9525">
            <a:solidFill>
              <a:srgbClr val="FF0000"/>
            </a:solidFill>
            <a:prstDash val="solid"/>
            <a:round/>
            <a:headEnd len="med" w="med" type="none"/>
            <a:tailEnd len="med" w="med" type="triangle"/>
          </a:ln>
        </p:spPr>
      </p:cxnSp>
      <p:sp>
        <p:nvSpPr>
          <p:cNvPr id="314" name="Google Shape;314;p32"/>
          <p:cNvSpPr/>
          <p:nvPr/>
        </p:nvSpPr>
        <p:spPr>
          <a:xfrm>
            <a:off x="2573338" y="3116263"/>
            <a:ext cx="5040312" cy="1296987"/>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315" name="Google Shape;315;p32"/>
          <p:cNvCxnSpPr/>
          <p:nvPr/>
        </p:nvCxnSpPr>
        <p:spPr>
          <a:xfrm rot="10800000">
            <a:off x="5132388" y="3109913"/>
            <a:ext cx="0" cy="576262"/>
          </a:xfrm>
          <a:prstGeom prst="straightConnector1">
            <a:avLst/>
          </a:prstGeom>
          <a:noFill/>
          <a:ln cap="flat" cmpd="sng" w="9525">
            <a:solidFill>
              <a:schemeClr val="dk1"/>
            </a:solidFill>
            <a:prstDash val="solid"/>
            <a:round/>
            <a:headEnd len="med" w="med" type="none"/>
            <a:tailEnd len="med" w="med" type="none"/>
          </a:ln>
        </p:spPr>
      </p:cxnSp>
      <p:cxnSp>
        <p:nvCxnSpPr>
          <p:cNvPr id="316" name="Google Shape;316;p32"/>
          <p:cNvCxnSpPr/>
          <p:nvPr/>
        </p:nvCxnSpPr>
        <p:spPr>
          <a:xfrm flipH="1">
            <a:off x="5194300" y="3117850"/>
            <a:ext cx="79375" cy="125413"/>
          </a:xfrm>
          <a:prstGeom prst="straightConnector1">
            <a:avLst/>
          </a:prstGeom>
          <a:noFill/>
          <a:ln cap="flat" cmpd="sng" w="9525">
            <a:solidFill>
              <a:srgbClr val="FF0000"/>
            </a:solidFill>
            <a:prstDash val="solid"/>
            <a:round/>
            <a:headEnd len="med" w="med" type="none"/>
            <a:tailEnd len="med" w="med" type="triangle"/>
          </a:ln>
        </p:spPr>
      </p:cxnSp>
      <p:cxnSp>
        <p:nvCxnSpPr>
          <p:cNvPr id="317" name="Google Shape;317;p32"/>
          <p:cNvCxnSpPr/>
          <p:nvPr/>
        </p:nvCxnSpPr>
        <p:spPr>
          <a:xfrm>
            <a:off x="4660900" y="3127375"/>
            <a:ext cx="115888" cy="115888"/>
          </a:xfrm>
          <a:prstGeom prst="straightConnector1">
            <a:avLst/>
          </a:prstGeom>
          <a:noFill/>
          <a:ln cap="flat" cmpd="sng" w="9525">
            <a:solidFill>
              <a:srgbClr val="FF0000"/>
            </a:solidFill>
            <a:prstDash val="solid"/>
            <a:round/>
            <a:headEnd len="med" w="med" type="none"/>
            <a:tailEnd len="med" w="med" type="triangle"/>
          </a:ln>
        </p:spPr>
      </p:cxnSp>
      <p:cxnSp>
        <p:nvCxnSpPr>
          <p:cNvPr id="318" name="Google Shape;318;p32"/>
          <p:cNvCxnSpPr/>
          <p:nvPr/>
        </p:nvCxnSpPr>
        <p:spPr>
          <a:xfrm>
            <a:off x="4119563" y="3162300"/>
            <a:ext cx="222250" cy="98425"/>
          </a:xfrm>
          <a:prstGeom prst="straightConnector1">
            <a:avLst/>
          </a:prstGeom>
          <a:noFill/>
          <a:ln cap="flat" cmpd="sng" w="9525">
            <a:solidFill>
              <a:srgbClr val="FF0000"/>
            </a:solidFill>
            <a:prstDash val="solid"/>
            <a:round/>
            <a:headEnd len="med" w="med" type="none"/>
            <a:tailEnd len="med" w="med" type="triangle"/>
          </a:ln>
        </p:spPr>
      </p:cxnSp>
      <p:cxnSp>
        <p:nvCxnSpPr>
          <p:cNvPr id="319" name="Google Shape;319;p32"/>
          <p:cNvCxnSpPr/>
          <p:nvPr/>
        </p:nvCxnSpPr>
        <p:spPr>
          <a:xfrm>
            <a:off x="3595688" y="3243263"/>
            <a:ext cx="301625" cy="52387"/>
          </a:xfrm>
          <a:prstGeom prst="straightConnector1">
            <a:avLst/>
          </a:prstGeom>
          <a:noFill/>
          <a:ln cap="flat" cmpd="sng" w="9525">
            <a:solidFill>
              <a:srgbClr val="FF0000"/>
            </a:solidFill>
            <a:prstDash val="solid"/>
            <a:round/>
            <a:headEnd len="med" w="med" type="none"/>
            <a:tailEnd len="med" w="med" type="triangle"/>
          </a:ln>
        </p:spPr>
      </p:cxnSp>
      <p:cxnSp>
        <p:nvCxnSpPr>
          <p:cNvPr id="320" name="Google Shape;320;p32"/>
          <p:cNvCxnSpPr/>
          <p:nvPr/>
        </p:nvCxnSpPr>
        <p:spPr>
          <a:xfrm>
            <a:off x="3089275" y="3367088"/>
            <a:ext cx="276225" cy="26987"/>
          </a:xfrm>
          <a:prstGeom prst="straightConnector1">
            <a:avLst/>
          </a:prstGeom>
          <a:noFill/>
          <a:ln cap="flat" cmpd="sng" w="9525">
            <a:solidFill>
              <a:srgbClr val="FF0000"/>
            </a:solidFill>
            <a:prstDash val="solid"/>
            <a:round/>
            <a:headEnd len="med" w="med" type="none"/>
            <a:tailEnd len="med" w="med" type="triangle"/>
          </a:ln>
        </p:spPr>
      </p:cxnSp>
      <p:cxnSp>
        <p:nvCxnSpPr>
          <p:cNvPr id="321" name="Google Shape;321;p32"/>
          <p:cNvCxnSpPr/>
          <p:nvPr/>
        </p:nvCxnSpPr>
        <p:spPr>
          <a:xfrm>
            <a:off x="2609850" y="3668713"/>
            <a:ext cx="187325" cy="0"/>
          </a:xfrm>
          <a:prstGeom prst="straightConnector1">
            <a:avLst/>
          </a:prstGeom>
          <a:noFill/>
          <a:ln cap="flat" cmpd="sng" w="9525">
            <a:solidFill>
              <a:srgbClr val="FF0000"/>
            </a:solidFill>
            <a:prstDash val="solid"/>
            <a:round/>
            <a:headEnd len="med" w="med" type="none"/>
            <a:tailEnd len="med" w="med" type="triangle"/>
          </a:ln>
        </p:spPr>
      </p:cxnSp>
      <p:cxnSp>
        <p:nvCxnSpPr>
          <p:cNvPr id="322" name="Google Shape;322;p32"/>
          <p:cNvCxnSpPr/>
          <p:nvPr/>
        </p:nvCxnSpPr>
        <p:spPr>
          <a:xfrm flipH="1" rot="10800000">
            <a:off x="2708275" y="3935413"/>
            <a:ext cx="239713" cy="17462"/>
          </a:xfrm>
          <a:prstGeom prst="straightConnector1">
            <a:avLst/>
          </a:prstGeom>
          <a:noFill/>
          <a:ln cap="flat" cmpd="sng" w="9525">
            <a:solidFill>
              <a:srgbClr val="FF0000"/>
            </a:solidFill>
            <a:prstDash val="solid"/>
            <a:round/>
            <a:headEnd len="med" w="med" type="none"/>
            <a:tailEnd len="med" w="med" type="triangle"/>
          </a:ln>
        </p:spPr>
      </p:cxnSp>
      <p:cxnSp>
        <p:nvCxnSpPr>
          <p:cNvPr id="323" name="Google Shape;323;p32"/>
          <p:cNvCxnSpPr/>
          <p:nvPr/>
        </p:nvCxnSpPr>
        <p:spPr>
          <a:xfrm flipH="1" rot="10800000">
            <a:off x="2982913" y="4033838"/>
            <a:ext cx="284162" cy="79375"/>
          </a:xfrm>
          <a:prstGeom prst="straightConnector1">
            <a:avLst/>
          </a:prstGeom>
          <a:noFill/>
          <a:ln cap="flat" cmpd="sng" w="9525">
            <a:solidFill>
              <a:srgbClr val="FF0000"/>
            </a:solidFill>
            <a:prstDash val="solid"/>
            <a:round/>
            <a:headEnd len="med" w="med" type="none"/>
            <a:tailEnd len="med" w="med" type="triangle"/>
          </a:ln>
        </p:spPr>
      </p:cxnSp>
      <p:cxnSp>
        <p:nvCxnSpPr>
          <p:cNvPr id="324" name="Google Shape;324;p32"/>
          <p:cNvCxnSpPr/>
          <p:nvPr/>
        </p:nvCxnSpPr>
        <p:spPr>
          <a:xfrm flipH="1" rot="10800000">
            <a:off x="3390900" y="4130675"/>
            <a:ext cx="276225" cy="106363"/>
          </a:xfrm>
          <a:prstGeom prst="straightConnector1">
            <a:avLst/>
          </a:prstGeom>
          <a:noFill/>
          <a:ln cap="flat" cmpd="sng" w="9525">
            <a:solidFill>
              <a:srgbClr val="FF0000"/>
            </a:solidFill>
            <a:prstDash val="solid"/>
            <a:round/>
            <a:headEnd len="med" w="med" type="none"/>
            <a:tailEnd len="med" w="med" type="triangle"/>
          </a:ln>
        </p:spPr>
      </p:cxnSp>
      <p:cxnSp>
        <p:nvCxnSpPr>
          <p:cNvPr id="325" name="Google Shape;325;p32"/>
          <p:cNvCxnSpPr/>
          <p:nvPr/>
        </p:nvCxnSpPr>
        <p:spPr>
          <a:xfrm flipH="1" rot="10800000">
            <a:off x="3959225" y="4202113"/>
            <a:ext cx="293688" cy="141287"/>
          </a:xfrm>
          <a:prstGeom prst="straightConnector1">
            <a:avLst/>
          </a:prstGeom>
          <a:noFill/>
          <a:ln cap="flat" cmpd="sng" w="9525">
            <a:solidFill>
              <a:srgbClr val="FF0000"/>
            </a:solidFill>
            <a:prstDash val="solid"/>
            <a:round/>
            <a:headEnd len="med" w="med" type="none"/>
            <a:tailEnd len="med" w="med" type="triangle"/>
          </a:ln>
        </p:spPr>
      </p:cxnSp>
      <p:cxnSp>
        <p:nvCxnSpPr>
          <p:cNvPr id="326" name="Google Shape;326;p32"/>
          <p:cNvCxnSpPr/>
          <p:nvPr/>
        </p:nvCxnSpPr>
        <p:spPr>
          <a:xfrm flipH="1" rot="10800000">
            <a:off x="4767263" y="4237038"/>
            <a:ext cx="134937" cy="168275"/>
          </a:xfrm>
          <a:prstGeom prst="straightConnector1">
            <a:avLst/>
          </a:prstGeom>
          <a:noFill/>
          <a:ln cap="flat" cmpd="sng" w="9525">
            <a:solidFill>
              <a:srgbClr val="FF0000"/>
            </a:solidFill>
            <a:prstDash val="solid"/>
            <a:round/>
            <a:headEnd len="med" w="med" type="none"/>
            <a:tailEnd len="med" w="med" type="triangle"/>
          </a:ln>
        </p:spPr>
      </p:cxnSp>
      <p:cxnSp>
        <p:nvCxnSpPr>
          <p:cNvPr id="327" name="Google Shape;327;p32"/>
          <p:cNvCxnSpPr/>
          <p:nvPr/>
        </p:nvCxnSpPr>
        <p:spPr>
          <a:xfrm rot="10800000">
            <a:off x="5567363" y="4237038"/>
            <a:ext cx="185737" cy="150812"/>
          </a:xfrm>
          <a:prstGeom prst="straightConnector1">
            <a:avLst/>
          </a:prstGeom>
          <a:noFill/>
          <a:ln cap="flat" cmpd="sng" w="9525">
            <a:solidFill>
              <a:srgbClr val="FF0000"/>
            </a:solidFill>
            <a:prstDash val="solid"/>
            <a:round/>
            <a:headEnd len="med" w="med" type="none"/>
            <a:tailEnd len="med" w="med" type="triangle"/>
          </a:ln>
        </p:spPr>
      </p:cxnSp>
      <p:cxnSp>
        <p:nvCxnSpPr>
          <p:cNvPr id="328" name="Google Shape;328;p32"/>
          <p:cNvCxnSpPr/>
          <p:nvPr/>
        </p:nvCxnSpPr>
        <p:spPr>
          <a:xfrm rot="10800000">
            <a:off x="6232525" y="4165600"/>
            <a:ext cx="336550" cy="123825"/>
          </a:xfrm>
          <a:prstGeom prst="straightConnector1">
            <a:avLst/>
          </a:prstGeom>
          <a:noFill/>
          <a:ln cap="flat" cmpd="sng" w="9525">
            <a:solidFill>
              <a:srgbClr val="FF0000"/>
            </a:solidFill>
            <a:prstDash val="solid"/>
            <a:round/>
            <a:headEnd len="med" w="med" type="none"/>
            <a:tailEnd len="med" w="med" type="triangle"/>
          </a:ln>
        </p:spPr>
      </p:cxnSp>
      <p:cxnSp>
        <p:nvCxnSpPr>
          <p:cNvPr id="329" name="Google Shape;329;p32"/>
          <p:cNvCxnSpPr/>
          <p:nvPr/>
        </p:nvCxnSpPr>
        <p:spPr>
          <a:xfrm rot="10800000">
            <a:off x="6704013" y="4094163"/>
            <a:ext cx="381000" cy="63500"/>
          </a:xfrm>
          <a:prstGeom prst="straightConnector1">
            <a:avLst/>
          </a:prstGeom>
          <a:noFill/>
          <a:ln cap="flat" cmpd="sng" w="9525">
            <a:solidFill>
              <a:srgbClr val="FF0000"/>
            </a:solidFill>
            <a:prstDash val="solid"/>
            <a:round/>
            <a:headEnd len="med" w="med" type="none"/>
            <a:tailEnd len="med" w="med" type="triangle"/>
          </a:ln>
        </p:spPr>
      </p:cxnSp>
      <p:cxnSp>
        <p:nvCxnSpPr>
          <p:cNvPr id="330" name="Google Shape;330;p32"/>
          <p:cNvCxnSpPr/>
          <p:nvPr/>
        </p:nvCxnSpPr>
        <p:spPr>
          <a:xfrm rot="10800000">
            <a:off x="7172325" y="3952875"/>
            <a:ext cx="293688" cy="26988"/>
          </a:xfrm>
          <a:prstGeom prst="straightConnector1">
            <a:avLst/>
          </a:prstGeom>
          <a:noFill/>
          <a:ln cap="flat" cmpd="sng" w="9525">
            <a:solidFill>
              <a:srgbClr val="FF0000"/>
            </a:solidFill>
            <a:prstDash val="solid"/>
            <a:round/>
            <a:headEnd len="med" w="med" type="none"/>
            <a:tailEnd len="med" w="med" type="triangle"/>
          </a:ln>
        </p:spPr>
      </p:cxnSp>
      <p:cxnSp>
        <p:nvCxnSpPr>
          <p:cNvPr id="331" name="Google Shape;331;p32"/>
          <p:cNvCxnSpPr/>
          <p:nvPr/>
        </p:nvCxnSpPr>
        <p:spPr>
          <a:xfrm flipH="1">
            <a:off x="7404100" y="3668713"/>
            <a:ext cx="195263" cy="9525"/>
          </a:xfrm>
          <a:prstGeom prst="straightConnector1">
            <a:avLst/>
          </a:prstGeom>
          <a:noFill/>
          <a:ln cap="flat" cmpd="sng" w="9525">
            <a:solidFill>
              <a:srgbClr val="FF0000"/>
            </a:solidFill>
            <a:prstDash val="solid"/>
            <a:round/>
            <a:headEnd len="med" w="med" type="none"/>
            <a:tailEnd len="med" w="med" type="triangle"/>
          </a:ln>
        </p:spPr>
      </p:cxnSp>
      <p:cxnSp>
        <p:nvCxnSpPr>
          <p:cNvPr id="332" name="Google Shape;332;p32"/>
          <p:cNvCxnSpPr/>
          <p:nvPr/>
        </p:nvCxnSpPr>
        <p:spPr>
          <a:xfrm flipH="1">
            <a:off x="7058025" y="3411538"/>
            <a:ext cx="177800" cy="44450"/>
          </a:xfrm>
          <a:prstGeom prst="straightConnector1">
            <a:avLst/>
          </a:prstGeom>
          <a:noFill/>
          <a:ln cap="flat" cmpd="sng" w="9525">
            <a:solidFill>
              <a:srgbClr val="FF0000"/>
            </a:solidFill>
            <a:prstDash val="solid"/>
            <a:round/>
            <a:headEnd len="med" w="med" type="none"/>
            <a:tailEnd len="med" w="med" type="triangle"/>
          </a:ln>
        </p:spPr>
      </p:cxnSp>
      <p:cxnSp>
        <p:nvCxnSpPr>
          <p:cNvPr id="333" name="Google Shape;333;p32"/>
          <p:cNvCxnSpPr/>
          <p:nvPr/>
        </p:nvCxnSpPr>
        <p:spPr>
          <a:xfrm flipH="1">
            <a:off x="6569075" y="3287713"/>
            <a:ext cx="266700" cy="69850"/>
          </a:xfrm>
          <a:prstGeom prst="straightConnector1">
            <a:avLst/>
          </a:prstGeom>
          <a:noFill/>
          <a:ln cap="flat" cmpd="sng" w="9525">
            <a:solidFill>
              <a:srgbClr val="FF0000"/>
            </a:solidFill>
            <a:prstDash val="solid"/>
            <a:round/>
            <a:headEnd len="med" w="med" type="none"/>
            <a:tailEnd len="med" w="med" type="triangle"/>
          </a:ln>
        </p:spPr>
      </p:cxnSp>
      <p:cxnSp>
        <p:nvCxnSpPr>
          <p:cNvPr id="334" name="Google Shape;334;p32"/>
          <p:cNvCxnSpPr/>
          <p:nvPr/>
        </p:nvCxnSpPr>
        <p:spPr>
          <a:xfrm flipH="1">
            <a:off x="6215063" y="3206750"/>
            <a:ext cx="203200" cy="80963"/>
          </a:xfrm>
          <a:prstGeom prst="straightConnector1">
            <a:avLst/>
          </a:prstGeom>
          <a:noFill/>
          <a:ln cap="flat" cmpd="sng" w="9525">
            <a:solidFill>
              <a:srgbClr val="FF0000"/>
            </a:solidFill>
            <a:prstDash val="solid"/>
            <a:round/>
            <a:headEnd len="med" w="med" type="none"/>
            <a:tailEnd len="med" w="med" type="triangle"/>
          </a:ln>
        </p:spPr>
      </p:cxnSp>
      <p:cxnSp>
        <p:nvCxnSpPr>
          <p:cNvPr id="335" name="Google Shape;335;p32"/>
          <p:cNvCxnSpPr/>
          <p:nvPr/>
        </p:nvCxnSpPr>
        <p:spPr>
          <a:xfrm flipH="1">
            <a:off x="5753100" y="3144838"/>
            <a:ext cx="160338" cy="106362"/>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8"/>
                                        </p:tgtEl>
                                        <p:attrNameLst>
                                          <p:attrName>style.visibility</p:attrName>
                                        </p:attrNameLst>
                                      </p:cBhvr>
                                      <p:to>
                                        <p:strVal val="visible"/>
                                      </p:to>
                                    </p:set>
                                    <p:anim calcmode="lin" valueType="num">
                                      <p:cBhvr additive="base">
                                        <p:cTn dur="500"/>
                                        <p:tgtEl>
                                          <p:spTgt spid="288"/>
                                        </p:tgtEl>
                                        <p:attrNameLst>
                                          <p:attrName>ppt_w</p:attrName>
                                        </p:attrNameLst>
                                      </p:cBhvr>
                                      <p:tavLst>
                                        <p:tav fmla="" tm="0">
                                          <p:val>
                                            <p:strVal val="0"/>
                                          </p:val>
                                        </p:tav>
                                        <p:tav fmla="" tm="100000">
                                          <p:val>
                                            <p:strVal val="#ppt_w"/>
                                          </p:val>
                                        </p:tav>
                                      </p:tavLst>
                                    </p:anim>
                                    <p:anim calcmode="lin" valueType="num">
                                      <p:cBhvr additive="base">
                                        <p:cTn dur="500"/>
                                        <p:tgtEl>
                                          <p:spTgt spid="28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91"/>
                                        </p:tgtEl>
                                        <p:attrNameLst>
                                          <p:attrName>style.visibility</p:attrName>
                                        </p:attrNameLst>
                                      </p:cBhvr>
                                      <p:to>
                                        <p:strVal val="visible"/>
                                      </p:to>
                                    </p:set>
                                    <p:anim calcmode="lin" valueType="num">
                                      <p:cBhvr additive="base">
                                        <p:cTn dur="500"/>
                                        <p:tgtEl>
                                          <p:spTgt spid="291"/>
                                        </p:tgtEl>
                                        <p:attrNameLst>
                                          <p:attrName>ppt_w</p:attrName>
                                        </p:attrNameLst>
                                      </p:cBhvr>
                                      <p:tavLst>
                                        <p:tav fmla="" tm="0">
                                          <p:val>
                                            <p:strVal val="0"/>
                                          </p:val>
                                        </p:tav>
                                        <p:tav fmla="" tm="100000">
                                          <p:val>
                                            <p:strVal val="#ppt_w"/>
                                          </p:val>
                                        </p:tav>
                                      </p:tavLst>
                                    </p:anim>
                                    <p:anim calcmode="lin" valueType="num">
                                      <p:cBhvr additive="base">
                                        <p:cTn dur="500"/>
                                        <p:tgtEl>
                                          <p:spTgt spid="29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92"/>
                                        </p:tgtEl>
                                        <p:attrNameLst>
                                          <p:attrName>style.visibility</p:attrName>
                                        </p:attrNameLst>
                                      </p:cBhvr>
                                      <p:to>
                                        <p:strVal val="visible"/>
                                      </p:to>
                                    </p:set>
                                    <p:anim calcmode="lin" valueType="num">
                                      <p:cBhvr additive="base">
                                        <p:cTn dur="500"/>
                                        <p:tgtEl>
                                          <p:spTgt spid="29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93"/>
                                        </p:tgtEl>
                                        <p:attrNameLst>
                                          <p:attrName>style.visibility</p:attrName>
                                        </p:attrNameLst>
                                      </p:cBhvr>
                                      <p:to>
                                        <p:strVal val="visible"/>
                                      </p:to>
                                    </p:set>
                                    <p:anim calcmode="lin" valueType="num">
                                      <p:cBhvr additive="base">
                                        <p:cTn dur="500"/>
                                        <p:tgtEl>
                                          <p:spTgt spid="293"/>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2" presetSubtype="1">
                                  <p:stCondLst>
                                    <p:cond delay="0"/>
                                  </p:stCondLst>
                                  <p:childTnLst>
                                    <p:set>
                                      <p:cBhvr>
                                        <p:cTn dur="1" fill="hold">
                                          <p:stCondLst>
                                            <p:cond delay="0"/>
                                          </p:stCondLst>
                                        </p:cTn>
                                        <p:tgtEl>
                                          <p:spTgt spid="295"/>
                                        </p:tgtEl>
                                        <p:attrNameLst>
                                          <p:attrName>style.visibility</p:attrName>
                                        </p:attrNameLst>
                                      </p:cBhvr>
                                      <p:to>
                                        <p:strVal val="visible"/>
                                      </p:to>
                                    </p:set>
                                    <p:anim calcmode="lin" valueType="num">
                                      <p:cBhvr additive="base">
                                        <p:cTn dur="500"/>
                                        <p:tgtEl>
                                          <p:spTgt spid="295"/>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 presetSubtype="1">
                                  <p:stCondLst>
                                    <p:cond delay="0"/>
                                  </p:stCondLst>
                                  <p:childTnLst>
                                    <p:set>
                                      <p:cBhvr>
                                        <p:cTn dur="1" fill="hold">
                                          <p:stCondLst>
                                            <p:cond delay="0"/>
                                          </p:stCondLst>
                                        </p:cTn>
                                        <p:tgtEl>
                                          <p:spTgt spid="296"/>
                                        </p:tgtEl>
                                        <p:attrNameLst>
                                          <p:attrName>style.visibility</p:attrName>
                                        </p:attrNameLst>
                                      </p:cBhvr>
                                      <p:to>
                                        <p:strVal val="visible"/>
                                      </p:to>
                                    </p:set>
                                    <p:anim calcmode="lin" valueType="num">
                                      <p:cBhvr additive="base">
                                        <p:cTn dur="500"/>
                                        <p:tgtEl>
                                          <p:spTgt spid="296"/>
                                        </p:tgtEl>
                                        <p:attrNameLst>
                                          <p:attrName>ppt_y</p:attrName>
                                        </p:attrNameLst>
                                      </p:cBhvr>
                                      <p:tavLst>
                                        <p:tav fmla="" tm="0">
                                          <p:val>
                                            <p:strVal val="#ppt_y-1"/>
                                          </p:val>
                                        </p:tav>
                                        <p:tav fmla="" tm="100000">
                                          <p:val>
                                            <p:strVal val="#ppt_y"/>
                                          </p:val>
                                        </p:tav>
                                      </p:tavLst>
                                    </p:anim>
                                  </p:childTnLst>
                                </p:cTn>
                              </p:par>
                            </p:childTnLst>
                          </p:cTn>
                        </p:par>
                        <p:par>
                          <p:cTn fill="hold">
                            <p:stCondLst>
                              <p:cond delay="1500"/>
                            </p:stCondLst>
                            <p:childTnLst>
                              <p:par>
                                <p:cTn fill="hold" nodeType="afterEffect" presetClass="entr" presetID="2" presetSubtype="1">
                                  <p:stCondLst>
                                    <p:cond delay="0"/>
                                  </p:stCondLst>
                                  <p:childTnLst>
                                    <p:set>
                                      <p:cBhvr>
                                        <p:cTn dur="1" fill="hold">
                                          <p:stCondLst>
                                            <p:cond delay="0"/>
                                          </p:stCondLst>
                                        </p:cTn>
                                        <p:tgtEl>
                                          <p:spTgt spid="297"/>
                                        </p:tgtEl>
                                        <p:attrNameLst>
                                          <p:attrName>style.visibility</p:attrName>
                                        </p:attrNameLst>
                                      </p:cBhvr>
                                      <p:to>
                                        <p:strVal val="visible"/>
                                      </p:to>
                                    </p:set>
                                    <p:anim calcmode="lin" valueType="num">
                                      <p:cBhvr additive="base">
                                        <p:cTn dur="500"/>
                                        <p:tgtEl>
                                          <p:spTgt spid="297"/>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1">
                                  <p:stCondLst>
                                    <p:cond delay="0"/>
                                  </p:stCondLst>
                                  <p:childTnLst>
                                    <p:set>
                                      <p:cBhvr>
                                        <p:cTn dur="1" fill="hold">
                                          <p:stCondLst>
                                            <p:cond delay="0"/>
                                          </p:stCondLst>
                                        </p:cTn>
                                        <p:tgtEl>
                                          <p:spTgt spid="298"/>
                                        </p:tgtEl>
                                        <p:attrNameLst>
                                          <p:attrName>style.visibility</p:attrName>
                                        </p:attrNameLst>
                                      </p:cBhvr>
                                      <p:to>
                                        <p:strVal val="visible"/>
                                      </p:to>
                                    </p:set>
                                    <p:anim calcmode="lin" valueType="num">
                                      <p:cBhvr additive="base">
                                        <p:cTn dur="500"/>
                                        <p:tgtEl>
                                          <p:spTgt spid="298"/>
                                        </p:tgtEl>
                                        <p:attrNameLst>
                                          <p:attrName>ppt_y</p:attrName>
                                        </p:attrNameLst>
                                      </p:cBhvr>
                                      <p:tavLst>
                                        <p:tav fmla="" tm="0">
                                          <p:val>
                                            <p:strVal val="#ppt_y-1"/>
                                          </p:val>
                                        </p:tav>
                                        <p:tav fmla="" tm="100000">
                                          <p:val>
                                            <p:strVal val="#ppt_y"/>
                                          </p:val>
                                        </p:tav>
                                      </p:tavLst>
                                    </p:anim>
                                  </p:childTnLst>
                                </p:cTn>
                              </p:par>
                            </p:childTnLst>
                          </p:cTn>
                        </p:par>
                        <p:par>
                          <p:cTn fill="hold">
                            <p:stCondLst>
                              <p:cond delay="2500"/>
                            </p:stCondLst>
                            <p:childTnLst>
                              <p:par>
                                <p:cTn fill="hold" nodeType="afterEffect" presetClass="entr" presetID="2" presetSubtype="1">
                                  <p:stCondLst>
                                    <p:cond delay="0"/>
                                  </p:stCondLst>
                                  <p:childTnLst>
                                    <p:set>
                                      <p:cBhvr>
                                        <p:cTn dur="1" fill="hold">
                                          <p:stCondLst>
                                            <p:cond delay="0"/>
                                          </p:stCondLst>
                                        </p:cTn>
                                        <p:tgtEl>
                                          <p:spTgt spid="299"/>
                                        </p:tgtEl>
                                        <p:attrNameLst>
                                          <p:attrName>style.visibility</p:attrName>
                                        </p:attrNameLst>
                                      </p:cBhvr>
                                      <p:to>
                                        <p:strVal val="visible"/>
                                      </p:to>
                                    </p:set>
                                    <p:anim calcmode="lin" valueType="num">
                                      <p:cBhvr additive="base">
                                        <p:cTn dur="500"/>
                                        <p:tgtEl>
                                          <p:spTgt spid="299"/>
                                        </p:tgtEl>
                                        <p:attrNameLst>
                                          <p:attrName>ppt_y</p:attrName>
                                        </p:attrNameLst>
                                      </p:cBhvr>
                                      <p:tavLst>
                                        <p:tav fmla="" tm="0">
                                          <p:val>
                                            <p:strVal val="#ppt_y-1"/>
                                          </p:val>
                                        </p:tav>
                                        <p:tav fmla="" tm="100000">
                                          <p:val>
                                            <p:strVal val="#ppt_y"/>
                                          </p:val>
                                        </p:tav>
                                      </p:tavLst>
                                    </p:anim>
                                  </p:childTnLst>
                                </p:cTn>
                              </p:par>
                            </p:childTnLst>
                          </p:cTn>
                        </p:par>
                        <p:par>
                          <p:cTn fill="hold">
                            <p:stCondLst>
                              <p:cond delay="3000"/>
                            </p:stCondLst>
                            <p:childTnLst>
                              <p:par>
                                <p:cTn fill="hold" nodeType="afterEffect" presetClass="entr" presetID="2" presetSubtype="1">
                                  <p:stCondLst>
                                    <p:cond delay="0"/>
                                  </p:stCondLst>
                                  <p:childTnLst>
                                    <p:set>
                                      <p:cBhvr>
                                        <p:cTn dur="1" fill="hold">
                                          <p:stCondLst>
                                            <p:cond delay="0"/>
                                          </p:stCondLst>
                                        </p:cTn>
                                        <p:tgtEl>
                                          <p:spTgt spid="300"/>
                                        </p:tgtEl>
                                        <p:attrNameLst>
                                          <p:attrName>style.visibility</p:attrName>
                                        </p:attrNameLst>
                                      </p:cBhvr>
                                      <p:to>
                                        <p:strVal val="visible"/>
                                      </p:to>
                                    </p:set>
                                    <p:anim calcmode="lin" valueType="num">
                                      <p:cBhvr additive="base">
                                        <p:cTn dur="500"/>
                                        <p:tgtEl>
                                          <p:spTgt spid="300"/>
                                        </p:tgtEl>
                                        <p:attrNameLst>
                                          <p:attrName>ppt_y</p:attrName>
                                        </p:attrNameLst>
                                      </p:cBhvr>
                                      <p:tavLst>
                                        <p:tav fmla="" tm="0">
                                          <p:val>
                                            <p:strVal val="#ppt_y-1"/>
                                          </p:val>
                                        </p:tav>
                                        <p:tav fmla="" tm="100000">
                                          <p:val>
                                            <p:strVal val="#ppt_y"/>
                                          </p:val>
                                        </p:tav>
                                      </p:tavLst>
                                    </p:anim>
                                  </p:childTnLst>
                                </p:cTn>
                              </p:par>
                            </p:childTnLst>
                          </p:cTn>
                        </p:par>
                        <p:par>
                          <p:cTn fill="hold">
                            <p:stCondLst>
                              <p:cond delay="3500"/>
                            </p:stCondLst>
                            <p:childTnLst>
                              <p:par>
                                <p:cTn fill="hold" nodeType="afterEffect" presetClass="entr" presetID="2" presetSubtype="1">
                                  <p:stCondLst>
                                    <p:cond delay="0"/>
                                  </p:stCondLst>
                                  <p:childTnLst>
                                    <p:set>
                                      <p:cBhvr>
                                        <p:cTn dur="1" fill="hold">
                                          <p:stCondLst>
                                            <p:cond delay="0"/>
                                          </p:stCondLst>
                                        </p:cTn>
                                        <p:tgtEl>
                                          <p:spTgt spid="301"/>
                                        </p:tgtEl>
                                        <p:attrNameLst>
                                          <p:attrName>style.visibility</p:attrName>
                                        </p:attrNameLst>
                                      </p:cBhvr>
                                      <p:to>
                                        <p:strVal val="visible"/>
                                      </p:to>
                                    </p:set>
                                    <p:anim calcmode="lin" valueType="num">
                                      <p:cBhvr additive="base">
                                        <p:cTn dur="500"/>
                                        <p:tgtEl>
                                          <p:spTgt spid="301"/>
                                        </p:tgtEl>
                                        <p:attrNameLst>
                                          <p:attrName>ppt_y</p:attrName>
                                        </p:attrNameLst>
                                      </p:cBhvr>
                                      <p:tavLst>
                                        <p:tav fmla="" tm="0">
                                          <p:val>
                                            <p:strVal val="#ppt_y-1"/>
                                          </p:val>
                                        </p:tav>
                                        <p:tav fmla="" tm="100000">
                                          <p:val>
                                            <p:strVal val="#ppt_y"/>
                                          </p:val>
                                        </p:tav>
                                      </p:tavLst>
                                    </p:anim>
                                  </p:childTnLst>
                                </p:cTn>
                              </p:par>
                            </p:childTnLst>
                          </p:cTn>
                        </p:par>
                        <p:par>
                          <p:cTn fill="hold">
                            <p:stCondLst>
                              <p:cond delay="4000"/>
                            </p:stCondLst>
                            <p:childTnLst>
                              <p:par>
                                <p:cTn fill="hold" nodeType="afterEffect" presetClass="entr" presetID="2" presetSubtype="1">
                                  <p:stCondLst>
                                    <p:cond delay="0"/>
                                  </p:stCondLst>
                                  <p:childTnLst>
                                    <p:set>
                                      <p:cBhvr>
                                        <p:cTn dur="1" fill="hold">
                                          <p:stCondLst>
                                            <p:cond delay="0"/>
                                          </p:stCondLst>
                                        </p:cTn>
                                        <p:tgtEl>
                                          <p:spTgt spid="302"/>
                                        </p:tgtEl>
                                        <p:attrNameLst>
                                          <p:attrName>style.visibility</p:attrName>
                                        </p:attrNameLst>
                                      </p:cBhvr>
                                      <p:to>
                                        <p:strVal val="visible"/>
                                      </p:to>
                                    </p:set>
                                    <p:anim calcmode="lin" valueType="num">
                                      <p:cBhvr additive="base">
                                        <p:cTn dur="500"/>
                                        <p:tgtEl>
                                          <p:spTgt spid="302"/>
                                        </p:tgtEl>
                                        <p:attrNameLst>
                                          <p:attrName>ppt_y</p:attrName>
                                        </p:attrNameLst>
                                      </p:cBhvr>
                                      <p:tavLst>
                                        <p:tav fmla="" tm="0">
                                          <p:val>
                                            <p:strVal val="#ppt_y-1"/>
                                          </p:val>
                                        </p:tav>
                                        <p:tav fmla="" tm="100000">
                                          <p:val>
                                            <p:strVal val="#ppt_y"/>
                                          </p:val>
                                        </p:tav>
                                      </p:tavLst>
                                    </p:anim>
                                  </p:childTnLst>
                                </p:cTn>
                              </p:par>
                            </p:childTnLst>
                          </p:cTn>
                        </p:par>
                        <p:par>
                          <p:cTn fill="hold">
                            <p:stCondLst>
                              <p:cond delay="4500"/>
                            </p:stCondLst>
                            <p:childTnLst>
                              <p:par>
                                <p:cTn fill="hold" nodeType="afterEffect" presetClass="entr" presetID="2" presetSubtype="1">
                                  <p:stCondLst>
                                    <p:cond delay="0"/>
                                  </p:stCondLst>
                                  <p:childTnLst>
                                    <p:set>
                                      <p:cBhvr>
                                        <p:cTn dur="1" fill="hold">
                                          <p:stCondLst>
                                            <p:cond delay="0"/>
                                          </p:stCondLst>
                                        </p:cTn>
                                        <p:tgtEl>
                                          <p:spTgt spid="303"/>
                                        </p:tgtEl>
                                        <p:attrNameLst>
                                          <p:attrName>style.visibility</p:attrName>
                                        </p:attrNameLst>
                                      </p:cBhvr>
                                      <p:to>
                                        <p:strVal val="visible"/>
                                      </p:to>
                                    </p:set>
                                    <p:anim calcmode="lin" valueType="num">
                                      <p:cBhvr additive="base">
                                        <p:cTn dur="500"/>
                                        <p:tgtEl>
                                          <p:spTgt spid="303"/>
                                        </p:tgtEl>
                                        <p:attrNameLst>
                                          <p:attrName>ppt_y</p:attrName>
                                        </p:attrNameLst>
                                      </p:cBhvr>
                                      <p:tavLst>
                                        <p:tav fmla="" tm="0">
                                          <p:val>
                                            <p:strVal val="#ppt_y-1"/>
                                          </p:val>
                                        </p:tav>
                                        <p:tav fmla="" tm="100000">
                                          <p:val>
                                            <p:strVal val="#ppt_y"/>
                                          </p:val>
                                        </p:tav>
                                      </p:tavLst>
                                    </p:anim>
                                  </p:childTnLst>
                                </p:cTn>
                              </p:par>
                            </p:childTnLst>
                          </p:cTn>
                        </p:par>
                        <p:par>
                          <p:cTn fill="hold">
                            <p:stCondLst>
                              <p:cond delay="5000"/>
                            </p:stCondLst>
                            <p:childTnLst>
                              <p:par>
                                <p:cTn fill="hold" nodeType="afterEffect" presetClass="entr" presetID="2" presetSubtype="1">
                                  <p:stCondLst>
                                    <p:cond delay="0"/>
                                  </p:stCondLst>
                                  <p:childTnLst>
                                    <p:set>
                                      <p:cBhvr>
                                        <p:cTn dur="1" fill="hold">
                                          <p:stCondLst>
                                            <p:cond delay="0"/>
                                          </p:stCondLst>
                                        </p:cTn>
                                        <p:tgtEl>
                                          <p:spTgt spid="304"/>
                                        </p:tgtEl>
                                        <p:attrNameLst>
                                          <p:attrName>style.visibility</p:attrName>
                                        </p:attrNameLst>
                                      </p:cBhvr>
                                      <p:to>
                                        <p:strVal val="visible"/>
                                      </p:to>
                                    </p:set>
                                    <p:anim calcmode="lin" valueType="num">
                                      <p:cBhvr additive="base">
                                        <p:cTn dur="500"/>
                                        <p:tgtEl>
                                          <p:spTgt spid="304"/>
                                        </p:tgtEl>
                                        <p:attrNameLst>
                                          <p:attrName>ppt_y</p:attrName>
                                        </p:attrNameLst>
                                      </p:cBhvr>
                                      <p:tavLst>
                                        <p:tav fmla="" tm="0">
                                          <p:val>
                                            <p:strVal val="#ppt_y-1"/>
                                          </p:val>
                                        </p:tav>
                                        <p:tav fmla="" tm="100000">
                                          <p:val>
                                            <p:strVal val="#ppt_y"/>
                                          </p:val>
                                        </p:tav>
                                      </p:tavLst>
                                    </p:anim>
                                  </p:childTnLst>
                                </p:cTn>
                              </p:par>
                            </p:childTnLst>
                          </p:cTn>
                        </p:par>
                        <p:par>
                          <p:cTn fill="hold">
                            <p:stCondLst>
                              <p:cond delay="5500"/>
                            </p:stCondLst>
                            <p:childTnLst>
                              <p:par>
                                <p:cTn fill="hold" nodeType="afterEffect" presetClass="entr" presetID="2" presetSubtype="1">
                                  <p:stCondLst>
                                    <p:cond delay="0"/>
                                  </p:stCondLst>
                                  <p:childTnLst>
                                    <p:set>
                                      <p:cBhvr>
                                        <p:cTn dur="1" fill="hold">
                                          <p:stCondLst>
                                            <p:cond delay="0"/>
                                          </p:stCondLst>
                                        </p:cTn>
                                        <p:tgtEl>
                                          <p:spTgt spid="305"/>
                                        </p:tgtEl>
                                        <p:attrNameLst>
                                          <p:attrName>style.visibility</p:attrName>
                                        </p:attrNameLst>
                                      </p:cBhvr>
                                      <p:to>
                                        <p:strVal val="visible"/>
                                      </p:to>
                                    </p:set>
                                    <p:anim calcmode="lin" valueType="num">
                                      <p:cBhvr additive="base">
                                        <p:cTn dur="500"/>
                                        <p:tgtEl>
                                          <p:spTgt spid="305"/>
                                        </p:tgtEl>
                                        <p:attrNameLst>
                                          <p:attrName>ppt_y</p:attrName>
                                        </p:attrNameLst>
                                      </p:cBhvr>
                                      <p:tavLst>
                                        <p:tav fmla="" tm="0">
                                          <p:val>
                                            <p:strVal val="#ppt_y-1"/>
                                          </p:val>
                                        </p:tav>
                                        <p:tav fmla="" tm="100000">
                                          <p:val>
                                            <p:strVal val="#ppt_y"/>
                                          </p:val>
                                        </p:tav>
                                      </p:tavLst>
                                    </p:anim>
                                  </p:childTnLst>
                                </p:cTn>
                              </p:par>
                            </p:childTnLst>
                          </p:cTn>
                        </p:par>
                        <p:par>
                          <p:cTn fill="hold">
                            <p:stCondLst>
                              <p:cond delay="6000"/>
                            </p:stCondLst>
                            <p:childTnLst>
                              <p:par>
                                <p:cTn fill="hold" nodeType="afterEffect" presetClass="entr" presetID="2" presetSubtype="1">
                                  <p:stCondLst>
                                    <p:cond delay="0"/>
                                  </p:stCondLst>
                                  <p:childTnLst>
                                    <p:set>
                                      <p:cBhvr>
                                        <p:cTn dur="1" fill="hold">
                                          <p:stCondLst>
                                            <p:cond delay="0"/>
                                          </p:stCondLst>
                                        </p:cTn>
                                        <p:tgtEl>
                                          <p:spTgt spid="306"/>
                                        </p:tgtEl>
                                        <p:attrNameLst>
                                          <p:attrName>style.visibility</p:attrName>
                                        </p:attrNameLst>
                                      </p:cBhvr>
                                      <p:to>
                                        <p:strVal val="visible"/>
                                      </p:to>
                                    </p:set>
                                    <p:anim calcmode="lin" valueType="num">
                                      <p:cBhvr additive="base">
                                        <p:cTn dur="500"/>
                                        <p:tgtEl>
                                          <p:spTgt spid="306"/>
                                        </p:tgtEl>
                                        <p:attrNameLst>
                                          <p:attrName>ppt_y</p:attrName>
                                        </p:attrNameLst>
                                      </p:cBhvr>
                                      <p:tavLst>
                                        <p:tav fmla="" tm="0">
                                          <p:val>
                                            <p:strVal val="#ppt_y-1"/>
                                          </p:val>
                                        </p:tav>
                                        <p:tav fmla="" tm="100000">
                                          <p:val>
                                            <p:strVal val="#ppt_y"/>
                                          </p:val>
                                        </p:tav>
                                      </p:tavLst>
                                    </p:anim>
                                  </p:childTnLst>
                                </p:cTn>
                              </p:par>
                            </p:childTnLst>
                          </p:cTn>
                        </p:par>
                        <p:par>
                          <p:cTn fill="hold">
                            <p:stCondLst>
                              <p:cond delay="6500"/>
                            </p:stCondLst>
                            <p:childTnLst>
                              <p:par>
                                <p:cTn fill="hold" nodeType="afterEffect" presetClass="entr" presetID="2" presetSubtype="1">
                                  <p:stCondLst>
                                    <p:cond delay="0"/>
                                  </p:stCondLst>
                                  <p:childTnLst>
                                    <p:set>
                                      <p:cBhvr>
                                        <p:cTn dur="1" fill="hold">
                                          <p:stCondLst>
                                            <p:cond delay="0"/>
                                          </p:stCondLst>
                                        </p:cTn>
                                        <p:tgtEl>
                                          <p:spTgt spid="307"/>
                                        </p:tgtEl>
                                        <p:attrNameLst>
                                          <p:attrName>style.visibility</p:attrName>
                                        </p:attrNameLst>
                                      </p:cBhvr>
                                      <p:to>
                                        <p:strVal val="visible"/>
                                      </p:to>
                                    </p:set>
                                    <p:anim calcmode="lin" valueType="num">
                                      <p:cBhvr additive="base">
                                        <p:cTn dur="500"/>
                                        <p:tgtEl>
                                          <p:spTgt spid="307"/>
                                        </p:tgtEl>
                                        <p:attrNameLst>
                                          <p:attrName>ppt_y</p:attrName>
                                        </p:attrNameLst>
                                      </p:cBhvr>
                                      <p:tavLst>
                                        <p:tav fmla="" tm="0">
                                          <p:val>
                                            <p:strVal val="#ppt_y-1"/>
                                          </p:val>
                                        </p:tav>
                                        <p:tav fmla="" tm="100000">
                                          <p:val>
                                            <p:strVal val="#ppt_y"/>
                                          </p:val>
                                        </p:tav>
                                      </p:tavLst>
                                    </p:anim>
                                  </p:childTnLst>
                                </p:cTn>
                              </p:par>
                            </p:childTnLst>
                          </p:cTn>
                        </p:par>
                        <p:par>
                          <p:cTn fill="hold">
                            <p:stCondLst>
                              <p:cond delay="7000"/>
                            </p:stCondLst>
                            <p:childTnLst>
                              <p:par>
                                <p:cTn fill="hold" nodeType="afterEffect" presetClass="entr" presetID="2" presetSubtype="1">
                                  <p:stCondLst>
                                    <p:cond delay="0"/>
                                  </p:stCondLst>
                                  <p:childTnLst>
                                    <p:set>
                                      <p:cBhvr>
                                        <p:cTn dur="1" fill="hold">
                                          <p:stCondLst>
                                            <p:cond delay="0"/>
                                          </p:stCondLst>
                                        </p:cTn>
                                        <p:tgtEl>
                                          <p:spTgt spid="308"/>
                                        </p:tgtEl>
                                        <p:attrNameLst>
                                          <p:attrName>style.visibility</p:attrName>
                                        </p:attrNameLst>
                                      </p:cBhvr>
                                      <p:to>
                                        <p:strVal val="visible"/>
                                      </p:to>
                                    </p:set>
                                    <p:anim calcmode="lin" valueType="num">
                                      <p:cBhvr additive="base">
                                        <p:cTn dur="500"/>
                                        <p:tgtEl>
                                          <p:spTgt spid="308"/>
                                        </p:tgtEl>
                                        <p:attrNameLst>
                                          <p:attrName>ppt_y</p:attrName>
                                        </p:attrNameLst>
                                      </p:cBhvr>
                                      <p:tavLst>
                                        <p:tav fmla="" tm="0">
                                          <p:val>
                                            <p:strVal val="#ppt_y-1"/>
                                          </p:val>
                                        </p:tav>
                                        <p:tav fmla="" tm="100000">
                                          <p:val>
                                            <p:strVal val="#ppt_y"/>
                                          </p:val>
                                        </p:tav>
                                      </p:tavLst>
                                    </p:anim>
                                  </p:childTnLst>
                                </p:cTn>
                              </p:par>
                            </p:childTnLst>
                          </p:cTn>
                        </p:par>
                        <p:par>
                          <p:cTn fill="hold">
                            <p:stCondLst>
                              <p:cond delay="7500"/>
                            </p:stCondLst>
                            <p:childTnLst>
                              <p:par>
                                <p:cTn fill="hold" nodeType="afterEffect" presetClass="entr" presetID="2" presetSubtype="1">
                                  <p:stCondLst>
                                    <p:cond delay="0"/>
                                  </p:stCondLst>
                                  <p:childTnLst>
                                    <p:set>
                                      <p:cBhvr>
                                        <p:cTn dur="1" fill="hold">
                                          <p:stCondLst>
                                            <p:cond delay="0"/>
                                          </p:stCondLst>
                                        </p:cTn>
                                        <p:tgtEl>
                                          <p:spTgt spid="309"/>
                                        </p:tgtEl>
                                        <p:attrNameLst>
                                          <p:attrName>style.visibility</p:attrName>
                                        </p:attrNameLst>
                                      </p:cBhvr>
                                      <p:to>
                                        <p:strVal val="visible"/>
                                      </p:to>
                                    </p:set>
                                    <p:anim calcmode="lin" valueType="num">
                                      <p:cBhvr additive="base">
                                        <p:cTn dur="500"/>
                                        <p:tgtEl>
                                          <p:spTgt spid="309"/>
                                        </p:tgtEl>
                                        <p:attrNameLst>
                                          <p:attrName>ppt_y</p:attrName>
                                        </p:attrNameLst>
                                      </p:cBhvr>
                                      <p:tavLst>
                                        <p:tav fmla="" tm="0">
                                          <p:val>
                                            <p:strVal val="#ppt_y-1"/>
                                          </p:val>
                                        </p:tav>
                                        <p:tav fmla="" tm="100000">
                                          <p:val>
                                            <p:strVal val="#ppt_y"/>
                                          </p:val>
                                        </p:tav>
                                      </p:tavLst>
                                    </p:anim>
                                  </p:childTnLst>
                                </p:cTn>
                              </p:par>
                            </p:childTnLst>
                          </p:cTn>
                        </p:par>
                        <p:par>
                          <p:cTn fill="hold">
                            <p:stCondLst>
                              <p:cond delay="8000"/>
                            </p:stCondLst>
                            <p:childTnLst>
                              <p:par>
                                <p:cTn fill="hold" nodeType="afterEffect" presetClass="entr" presetID="2" presetSubtype="1">
                                  <p:stCondLst>
                                    <p:cond delay="0"/>
                                  </p:stCondLst>
                                  <p:childTnLst>
                                    <p:set>
                                      <p:cBhvr>
                                        <p:cTn dur="1" fill="hold">
                                          <p:stCondLst>
                                            <p:cond delay="0"/>
                                          </p:stCondLst>
                                        </p:cTn>
                                        <p:tgtEl>
                                          <p:spTgt spid="310"/>
                                        </p:tgtEl>
                                        <p:attrNameLst>
                                          <p:attrName>style.visibility</p:attrName>
                                        </p:attrNameLst>
                                      </p:cBhvr>
                                      <p:to>
                                        <p:strVal val="visible"/>
                                      </p:to>
                                    </p:set>
                                    <p:anim calcmode="lin" valueType="num">
                                      <p:cBhvr additive="base">
                                        <p:cTn dur="500"/>
                                        <p:tgtEl>
                                          <p:spTgt spid="310"/>
                                        </p:tgtEl>
                                        <p:attrNameLst>
                                          <p:attrName>ppt_y</p:attrName>
                                        </p:attrNameLst>
                                      </p:cBhvr>
                                      <p:tavLst>
                                        <p:tav fmla="" tm="0">
                                          <p:val>
                                            <p:strVal val="#ppt_y-1"/>
                                          </p:val>
                                        </p:tav>
                                        <p:tav fmla="" tm="100000">
                                          <p:val>
                                            <p:strVal val="#ppt_y"/>
                                          </p:val>
                                        </p:tav>
                                      </p:tavLst>
                                    </p:anim>
                                  </p:childTnLst>
                                </p:cTn>
                              </p:par>
                            </p:childTnLst>
                          </p:cTn>
                        </p:par>
                        <p:par>
                          <p:cTn fill="hold">
                            <p:stCondLst>
                              <p:cond delay="8500"/>
                            </p:stCondLst>
                            <p:childTnLst>
                              <p:par>
                                <p:cTn fill="hold" nodeType="afterEffect" presetClass="entr" presetID="2" presetSubtype="1">
                                  <p:stCondLst>
                                    <p:cond delay="0"/>
                                  </p:stCondLst>
                                  <p:childTnLst>
                                    <p:set>
                                      <p:cBhvr>
                                        <p:cTn dur="1" fill="hold">
                                          <p:stCondLst>
                                            <p:cond delay="0"/>
                                          </p:stCondLst>
                                        </p:cTn>
                                        <p:tgtEl>
                                          <p:spTgt spid="311"/>
                                        </p:tgtEl>
                                        <p:attrNameLst>
                                          <p:attrName>style.visibility</p:attrName>
                                        </p:attrNameLst>
                                      </p:cBhvr>
                                      <p:to>
                                        <p:strVal val="visible"/>
                                      </p:to>
                                    </p:set>
                                    <p:anim calcmode="lin" valueType="num">
                                      <p:cBhvr additive="base">
                                        <p:cTn dur="500"/>
                                        <p:tgtEl>
                                          <p:spTgt spid="311"/>
                                        </p:tgtEl>
                                        <p:attrNameLst>
                                          <p:attrName>ppt_y</p:attrName>
                                        </p:attrNameLst>
                                      </p:cBhvr>
                                      <p:tavLst>
                                        <p:tav fmla="" tm="0">
                                          <p:val>
                                            <p:strVal val="#ppt_y-1"/>
                                          </p:val>
                                        </p:tav>
                                        <p:tav fmla="" tm="100000">
                                          <p:val>
                                            <p:strVal val="#ppt_y"/>
                                          </p:val>
                                        </p:tav>
                                      </p:tavLst>
                                    </p:anim>
                                  </p:childTnLst>
                                </p:cTn>
                              </p:par>
                            </p:childTnLst>
                          </p:cTn>
                        </p:par>
                        <p:par>
                          <p:cTn fill="hold">
                            <p:stCondLst>
                              <p:cond delay="9000"/>
                            </p:stCondLst>
                            <p:childTnLst>
                              <p:par>
                                <p:cTn fill="hold" nodeType="afterEffect" presetClass="entr" presetID="2" presetSubtype="1">
                                  <p:stCondLst>
                                    <p:cond delay="0"/>
                                  </p:stCondLst>
                                  <p:childTnLst>
                                    <p:set>
                                      <p:cBhvr>
                                        <p:cTn dur="1" fill="hold">
                                          <p:stCondLst>
                                            <p:cond delay="0"/>
                                          </p:stCondLst>
                                        </p:cTn>
                                        <p:tgtEl>
                                          <p:spTgt spid="312"/>
                                        </p:tgtEl>
                                        <p:attrNameLst>
                                          <p:attrName>style.visibility</p:attrName>
                                        </p:attrNameLst>
                                      </p:cBhvr>
                                      <p:to>
                                        <p:strVal val="visible"/>
                                      </p:to>
                                    </p:set>
                                    <p:anim calcmode="lin" valueType="num">
                                      <p:cBhvr additive="base">
                                        <p:cTn dur="500"/>
                                        <p:tgtEl>
                                          <p:spTgt spid="312"/>
                                        </p:tgtEl>
                                        <p:attrNameLst>
                                          <p:attrName>ppt_y</p:attrName>
                                        </p:attrNameLst>
                                      </p:cBhvr>
                                      <p:tavLst>
                                        <p:tav fmla="" tm="0">
                                          <p:val>
                                            <p:strVal val="#ppt_y-1"/>
                                          </p:val>
                                        </p:tav>
                                        <p:tav fmla="" tm="100000">
                                          <p:val>
                                            <p:strVal val="#ppt_y"/>
                                          </p:val>
                                        </p:tav>
                                      </p:tavLst>
                                    </p:anim>
                                  </p:childTnLst>
                                </p:cTn>
                              </p:par>
                            </p:childTnLst>
                          </p:cTn>
                        </p:par>
                        <p:par>
                          <p:cTn fill="hold">
                            <p:stCondLst>
                              <p:cond delay="9500"/>
                            </p:stCondLst>
                            <p:childTnLst>
                              <p:par>
                                <p:cTn fill="hold" nodeType="afterEffect" presetClass="entr" presetID="2" presetSubtype="1">
                                  <p:stCondLst>
                                    <p:cond delay="0"/>
                                  </p:stCondLst>
                                  <p:childTnLst>
                                    <p:set>
                                      <p:cBhvr>
                                        <p:cTn dur="1" fill="hold">
                                          <p:stCondLst>
                                            <p:cond delay="0"/>
                                          </p:stCondLst>
                                        </p:cTn>
                                        <p:tgtEl>
                                          <p:spTgt spid="313"/>
                                        </p:tgtEl>
                                        <p:attrNameLst>
                                          <p:attrName>style.visibility</p:attrName>
                                        </p:attrNameLst>
                                      </p:cBhvr>
                                      <p:to>
                                        <p:strVal val="visible"/>
                                      </p:to>
                                    </p:set>
                                    <p:anim calcmode="lin" valueType="num">
                                      <p:cBhvr additive="base">
                                        <p:cTn dur="500"/>
                                        <p:tgtEl>
                                          <p:spTgt spid="313"/>
                                        </p:tgtEl>
                                        <p:attrNameLst>
                                          <p:attrName>ppt_y</p:attrName>
                                        </p:attrNameLst>
                                      </p:cBhvr>
                                      <p:tavLst>
                                        <p:tav fmla="" tm="0">
                                          <p:val>
                                            <p:strVal val="#ppt_y-1"/>
                                          </p:val>
                                        </p:tav>
                                        <p:tav fmla="" tm="100000">
                                          <p:val>
                                            <p:strVal val="#ppt_y"/>
                                          </p:val>
                                        </p:tav>
                                      </p:tavLst>
                                    </p:anim>
                                  </p:childTnLst>
                                </p:cTn>
                              </p:par>
                            </p:childTnLst>
                          </p:cTn>
                        </p:par>
                        <p:par>
                          <p:cTn fill="hold">
                            <p:stCondLst>
                              <p:cond delay="10000"/>
                            </p:stCondLst>
                            <p:childTnLst>
                              <p:par>
                                <p:cTn fill="hold" nodeType="afterEffect" presetClass="entr" presetID="2" presetSubtype="1">
                                  <p:stCondLst>
                                    <p:cond delay="0"/>
                                  </p:stCondLst>
                                  <p:childTnLst>
                                    <p:set>
                                      <p:cBhvr>
                                        <p:cTn dur="1" fill="hold">
                                          <p:stCondLst>
                                            <p:cond delay="0"/>
                                          </p:stCondLst>
                                        </p:cTn>
                                        <p:tgtEl>
                                          <p:spTgt spid="294"/>
                                        </p:tgtEl>
                                        <p:attrNameLst>
                                          <p:attrName>style.visibility</p:attrName>
                                        </p:attrNameLst>
                                      </p:cBhvr>
                                      <p:to>
                                        <p:strVal val="visible"/>
                                      </p:to>
                                    </p:set>
                                    <p:anim calcmode="lin" valueType="num">
                                      <p:cBhvr additive="base">
                                        <p:cTn dur="500"/>
                                        <p:tgtEl>
                                          <p:spTgt spid="29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1">
                                  <p:stCondLst>
                                    <p:cond delay="0"/>
                                  </p:stCondLst>
                                  <p:childTnLst>
                                    <p:anim calcmode="lin" valueType="num">
                                      <p:cBhvr additive="base">
                                        <p:cTn dur="500"/>
                                        <p:tgtEl>
                                          <p:spTgt spid="292"/>
                                        </p:tgtEl>
                                        <p:attrNameLst>
                                          <p:attrName>ppt_y</p:attrName>
                                        </p:attrNameLst>
                                      </p:cBhvr>
                                      <p:tavLst>
                                        <p:tav fmla="" tm="0">
                                          <p:val>
                                            <p:strVal val="#ppt_y"/>
                                          </p:val>
                                        </p:tav>
                                        <p:tav fmla="" tm="100000">
                                          <p:val>
                                            <p:strVal val="#ppt_y-1"/>
                                          </p:val>
                                        </p:tav>
                                      </p:tavLst>
                                    </p:anim>
                                    <p:set>
                                      <p:cBhvr>
                                        <p:cTn dur="1" fill="hold">
                                          <p:stCondLst>
                                            <p:cond delay="500"/>
                                          </p:stCondLst>
                                        </p:cTn>
                                        <p:tgtEl>
                                          <p:spTgt spid="292"/>
                                        </p:tgtEl>
                                        <p:attrNameLst>
                                          <p:attrName>style.visibility</p:attrName>
                                        </p:attrNameLst>
                                      </p:cBhvr>
                                      <p:to>
                                        <p:strVal val="hidden"/>
                                      </p:to>
                                    </p:set>
                                  </p:childTnLst>
                                </p:cTn>
                              </p:par>
                              <p:par>
                                <p:cTn fill="hold" nodeType="withEffect" presetClass="exit" presetID="2" presetSubtype="1">
                                  <p:stCondLst>
                                    <p:cond delay="0"/>
                                  </p:stCondLst>
                                  <p:childTnLst>
                                    <p:anim calcmode="lin" valueType="num">
                                      <p:cBhvr additive="base">
                                        <p:cTn dur="500"/>
                                        <p:tgtEl>
                                          <p:spTgt spid="293"/>
                                        </p:tgtEl>
                                        <p:attrNameLst>
                                          <p:attrName>ppt_y</p:attrName>
                                        </p:attrNameLst>
                                      </p:cBhvr>
                                      <p:tavLst>
                                        <p:tav fmla="" tm="0">
                                          <p:val>
                                            <p:strVal val="#ppt_y"/>
                                          </p:val>
                                        </p:tav>
                                        <p:tav fmla="" tm="100000">
                                          <p:val>
                                            <p:strVal val="#ppt_y-1"/>
                                          </p:val>
                                        </p:tav>
                                      </p:tavLst>
                                    </p:anim>
                                    <p:set>
                                      <p:cBhvr>
                                        <p:cTn dur="1" fill="hold">
                                          <p:stCondLst>
                                            <p:cond delay="500"/>
                                          </p:stCondLst>
                                        </p:cTn>
                                        <p:tgtEl>
                                          <p:spTgt spid="29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314"/>
                                        </p:tgtEl>
                                        <p:attrNameLst>
                                          <p:attrName>style.visibility</p:attrName>
                                        </p:attrNameLst>
                                      </p:cBhvr>
                                      <p:to>
                                        <p:strVal val="visible"/>
                                      </p:to>
                                    </p:set>
                                    <p:anim calcmode="lin" valueType="num">
                                      <p:cBhvr additive="base">
                                        <p:cTn dur="500"/>
                                        <p:tgtEl>
                                          <p:spTgt spid="31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15"/>
                                        </p:tgtEl>
                                        <p:attrNameLst>
                                          <p:attrName>style.visibility</p:attrName>
                                        </p:attrNameLst>
                                      </p:cBhvr>
                                      <p:to>
                                        <p:strVal val="visible"/>
                                      </p:to>
                                    </p:set>
                                    <p:anim calcmode="lin" valueType="num">
                                      <p:cBhvr additive="base">
                                        <p:cTn dur="500"/>
                                        <p:tgtEl>
                                          <p:spTgt spid="315"/>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2" presetSubtype="1">
                                  <p:stCondLst>
                                    <p:cond delay="0"/>
                                  </p:stCondLst>
                                  <p:childTnLst>
                                    <p:set>
                                      <p:cBhvr>
                                        <p:cTn dur="1" fill="hold">
                                          <p:stCondLst>
                                            <p:cond delay="0"/>
                                          </p:stCondLst>
                                        </p:cTn>
                                        <p:tgtEl>
                                          <p:spTgt spid="316"/>
                                        </p:tgtEl>
                                        <p:attrNameLst>
                                          <p:attrName>style.visibility</p:attrName>
                                        </p:attrNameLst>
                                      </p:cBhvr>
                                      <p:to>
                                        <p:strVal val="visible"/>
                                      </p:to>
                                    </p:set>
                                    <p:anim calcmode="lin" valueType="num">
                                      <p:cBhvr additive="base">
                                        <p:cTn dur="500"/>
                                        <p:tgtEl>
                                          <p:spTgt spid="316"/>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 presetSubtype="1">
                                  <p:stCondLst>
                                    <p:cond delay="0"/>
                                  </p:stCondLst>
                                  <p:childTnLst>
                                    <p:set>
                                      <p:cBhvr>
                                        <p:cTn dur="1" fill="hold">
                                          <p:stCondLst>
                                            <p:cond delay="0"/>
                                          </p:stCondLst>
                                        </p:cTn>
                                        <p:tgtEl>
                                          <p:spTgt spid="317"/>
                                        </p:tgtEl>
                                        <p:attrNameLst>
                                          <p:attrName>style.visibility</p:attrName>
                                        </p:attrNameLst>
                                      </p:cBhvr>
                                      <p:to>
                                        <p:strVal val="visible"/>
                                      </p:to>
                                    </p:set>
                                    <p:anim calcmode="lin" valueType="num">
                                      <p:cBhvr additive="base">
                                        <p:cTn dur="500"/>
                                        <p:tgtEl>
                                          <p:spTgt spid="317"/>
                                        </p:tgtEl>
                                        <p:attrNameLst>
                                          <p:attrName>ppt_y</p:attrName>
                                        </p:attrNameLst>
                                      </p:cBhvr>
                                      <p:tavLst>
                                        <p:tav fmla="" tm="0">
                                          <p:val>
                                            <p:strVal val="#ppt_y-1"/>
                                          </p:val>
                                        </p:tav>
                                        <p:tav fmla="" tm="100000">
                                          <p:val>
                                            <p:strVal val="#ppt_y"/>
                                          </p:val>
                                        </p:tav>
                                      </p:tavLst>
                                    </p:anim>
                                  </p:childTnLst>
                                </p:cTn>
                              </p:par>
                            </p:childTnLst>
                          </p:cTn>
                        </p:par>
                        <p:par>
                          <p:cTn fill="hold">
                            <p:stCondLst>
                              <p:cond delay="1500"/>
                            </p:stCondLst>
                            <p:childTnLst>
                              <p:par>
                                <p:cTn fill="hold" nodeType="afterEffect" presetClass="entr" presetID="2" presetSubtype="1">
                                  <p:stCondLst>
                                    <p:cond delay="0"/>
                                  </p:stCondLst>
                                  <p:childTnLst>
                                    <p:set>
                                      <p:cBhvr>
                                        <p:cTn dur="1" fill="hold">
                                          <p:stCondLst>
                                            <p:cond delay="0"/>
                                          </p:stCondLst>
                                        </p:cTn>
                                        <p:tgtEl>
                                          <p:spTgt spid="318"/>
                                        </p:tgtEl>
                                        <p:attrNameLst>
                                          <p:attrName>style.visibility</p:attrName>
                                        </p:attrNameLst>
                                      </p:cBhvr>
                                      <p:to>
                                        <p:strVal val="visible"/>
                                      </p:to>
                                    </p:set>
                                    <p:anim calcmode="lin" valueType="num">
                                      <p:cBhvr additive="base">
                                        <p:cTn dur="500"/>
                                        <p:tgtEl>
                                          <p:spTgt spid="318"/>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1">
                                  <p:stCondLst>
                                    <p:cond delay="0"/>
                                  </p:stCondLst>
                                  <p:childTnLst>
                                    <p:set>
                                      <p:cBhvr>
                                        <p:cTn dur="1" fill="hold">
                                          <p:stCondLst>
                                            <p:cond delay="0"/>
                                          </p:stCondLst>
                                        </p:cTn>
                                        <p:tgtEl>
                                          <p:spTgt spid="319"/>
                                        </p:tgtEl>
                                        <p:attrNameLst>
                                          <p:attrName>style.visibility</p:attrName>
                                        </p:attrNameLst>
                                      </p:cBhvr>
                                      <p:to>
                                        <p:strVal val="visible"/>
                                      </p:to>
                                    </p:set>
                                    <p:anim calcmode="lin" valueType="num">
                                      <p:cBhvr additive="base">
                                        <p:cTn dur="500"/>
                                        <p:tgtEl>
                                          <p:spTgt spid="319"/>
                                        </p:tgtEl>
                                        <p:attrNameLst>
                                          <p:attrName>ppt_y</p:attrName>
                                        </p:attrNameLst>
                                      </p:cBhvr>
                                      <p:tavLst>
                                        <p:tav fmla="" tm="0">
                                          <p:val>
                                            <p:strVal val="#ppt_y-1"/>
                                          </p:val>
                                        </p:tav>
                                        <p:tav fmla="" tm="100000">
                                          <p:val>
                                            <p:strVal val="#ppt_y"/>
                                          </p:val>
                                        </p:tav>
                                      </p:tavLst>
                                    </p:anim>
                                  </p:childTnLst>
                                </p:cTn>
                              </p:par>
                            </p:childTnLst>
                          </p:cTn>
                        </p:par>
                        <p:par>
                          <p:cTn fill="hold">
                            <p:stCondLst>
                              <p:cond delay="2500"/>
                            </p:stCondLst>
                            <p:childTnLst>
                              <p:par>
                                <p:cTn fill="hold" nodeType="afterEffect" presetClass="entr" presetID="2" presetSubtype="1">
                                  <p:stCondLst>
                                    <p:cond delay="0"/>
                                  </p:stCondLst>
                                  <p:childTnLst>
                                    <p:set>
                                      <p:cBhvr>
                                        <p:cTn dur="1" fill="hold">
                                          <p:stCondLst>
                                            <p:cond delay="0"/>
                                          </p:stCondLst>
                                        </p:cTn>
                                        <p:tgtEl>
                                          <p:spTgt spid="320"/>
                                        </p:tgtEl>
                                        <p:attrNameLst>
                                          <p:attrName>style.visibility</p:attrName>
                                        </p:attrNameLst>
                                      </p:cBhvr>
                                      <p:to>
                                        <p:strVal val="visible"/>
                                      </p:to>
                                    </p:set>
                                    <p:anim calcmode="lin" valueType="num">
                                      <p:cBhvr additive="base">
                                        <p:cTn dur="500"/>
                                        <p:tgtEl>
                                          <p:spTgt spid="320"/>
                                        </p:tgtEl>
                                        <p:attrNameLst>
                                          <p:attrName>ppt_y</p:attrName>
                                        </p:attrNameLst>
                                      </p:cBhvr>
                                      <p:tavLst>
                                        <p:tav fmla="" tm="0">
                                          <p:val>
                                            <p:strVal val="#ppt_y-1"/>
                                          </p:val>
                                        </p:tav>
                                        <p:tav fmla="" tm="100000">
                                          <p:val>
                                            <p:strVal val="#ppt_y"/>
                                          </p:val>
                                        </p:tav>
                                      </p:tavLst>
                                    </p:anim>
                                  </p:childTnLst>
                                </p:cTn>
                              </p:par>
                            </p:childTnLst>
                          </p:cTn>
                        </p:par>
                        <p:par>
                          <p:cTn fill="hold">
                            <p:stCondLst>
                              <p:cond delay="3000"/>
                            </p:stCondLst>
                            <p:childTnLst>
                              <p:par>
                                <p:cTn fill="hold" nodeType="afterEffect" presetClass="entr" presetID="2" presetSubtype="1">
                                  <p:stCondLst>
                                    <p:cond delay="0"/>
                                  </p:stCondLst>
                                  <p:childTnLst>
                                    <p:set>
                                      <p:cBhvr>
                                        <p:cTn dur="1" fill="hold">
                                          <p:stCondLst>
                                            <p:cond delay="0"/>
                                          </p:stCondLst>
                                        </p:cTn>
                                        <p:tgtEl>
                                          <p:spTgt spid="321"/>
                                        </p:tgtEl>
                                        <p:attrNameLst>
                                          <p:attrName>style.visibility</p:attrName>
                                        </p:attrNameLst>
                                      </p:cBhvr>
                                      <p:to>
                                        <p:strVal val="visible"/>
                                      </p:to>
                                    </p:set>
                                    <p:anim calcmode="lin" valueType="num">
                                      <p:cBhvr additive="base">
                                        <p:cTn dur="500"/>
                                        <p:tgtEl>
                                          <p:spTgt spid="321"/>
                                        </p:tgtEl>
                                        <p:attrNameLst>
                                          <p:attrName>ppt_y</p:attrName>
                                        </p:attrNameLst>
                                      </p:cBhvr>
                                      <p:tavLst>
                                        <p:tav fmla="" tm="0">
                                          <p:val>
                                            <p:strVal val="#ppt_y-1"/>
                                          </p:val>
                                        </p:tav>
                                        <p:tav fmla="" tm="100000">
                                          <p:val>
                                            <p:strVal val="#ppt_y"/>
                                          </p:val>
                                        </p:tav>
                                      </p:tavLst>
                                    </p:anim>
                                  </p:childTnLst>
                                </p:cTn>
                              </p:par>
                            </p:childTnLst>
                          </p:cTn>
                        </p:par>
                        <p:par>
                          <p:cTn fill="hold">
                            <p:stCondLst>
                              <p:cond delay="3500"/>
                            </p:stCondLst>
                            <p:childTnLst>
                              <p:par>
                                <p:cTn fill="hold" nodeType="afterEffect" presetClass="entr" presetID="2" presetSubtype="1">
                                  <p:stCondLst>
                                    <p:cond delay="0"/>
                                  </p:stCondLst>
                                  <p:childTnLst>
                                    <p:set>
                                      <p:cBhvr>
                                        <p:cTn dur="1" fill="hold">
                                          <p:stCondLst>
                                            <p:cond delay="0"/>
                                          </p:stCondLst>
                                        </p:cTn>
                                        <p:tgtEl>
                                          <p:spTgt spid="322"/>
                                        </p:tgtEl>
                                        <p:attrNameLst>
                                          <p:attrName>style.visibility</p:attrName>
                                        </p:attrNameLst>
                                      </p:cBhvr>
                                      <p:to>
                                        <p:strVal val="visible"/>
                                      </p:to>
                                    </p:set>
                                    <p:anim calcmode="lin" valueType="num">
                                      <p:cBhvr additive="base">
                                        <p:cTn dur="500"/>
                                        <p:tgtEl>
                                          <p:spTgt spid="322"/>
                                        </p:tgtEl>
                                        <p:attrNameLst>
                                          <p:attrName>ppt_y</p:attrName>
                                        </p:attrNameLst>
                                      </p:cBhvr>
                                      <p:tavLst>
                                        <p:tav fmla="" tm="0">
                                          <p:val>
                                            <p:strVal val="#ppt_y-1"/>
                                          </p:val>
                                        </p:tav>
                                        <p:tav fmla="" tm="100000">
                                          <p:val>
                                            <p:strVal val="#ppt_y"/>
                                          </p:val>
                                        </p:tav>
                                      </p:tavLst>
                                    </p:anim>
                                  </p:childTnLst>
                                </p:cTn>
                              </p:par>
                            </p:childTnLst>
                          </p:cTn>
                        </p:par>
                        <p:par>
                          <p:cTn fill="hold">
                            <p:stCondLst>
                              <p:cond delay="4000"/>
                            </p:stCondLst>
                            <p:childTnLst>
                              <p:par>
                                <p:cTn fill="hold" nodeType="afterEffect" presetClass="entr" presetID="2" presetSubtype="1">
                                  <p:stCondLst>
                                    <p:cond delay="0"/>
                                  </p:stCondLst>
                                  <p:childTnLst>
                                    <p:set>
                                      <p:cBhvr>
                                        <p:cTn dur="1" fill="hold">
                                          <p:stCondLst>
                                            <p:cond delay="0"/>
                                          </p:stCondLst>
                                        </p:cTn>
                                        <p:tgtEl>
                                          <p:spTgt spid="323"/>
                                        </p:tgtEl>
                                        <p:attrNameLst>
                                          <p:attrName>style.visibility</p:attrName>
                                        </p:attrNameLst>
                                      </p:cBhvr>
                                      <p:to>
                                        <p:strVal val="visible"/>
                                      </p:to>
                                    </p:set>
                                    <p:anim calcmode="lin" valueType="num">
                                      <p:cBhvr additive="base">
                                        <p:cTn dur="500"/>
                                        <p:tgtEl>
                                          <p:spTgt spid="323"/>
                                        </p:tgtEl>
                                        <p:attrNameLst>
                                          <p:attrName>ppt_y</p:attrName>
                                        </p:attrNameLst>
                                      </p:cBhvr>
                                      <p:tavLst>
                                        <p:tav fmla="" tm="0">
                                          <p:val>
                                            <p:strVal val="#ppt_y-1"/>
                                          </p:val>
                                        </p:tav>
                                        <p:tav fmla="" tm="100000">
                                          <p:val>
                                            <p:strVal val="#ppt_y"/>
                                          </p:val>
                                        </p:tav>
                                      </p:tavLst>
                                    </p:anim>
                                  </p:childTnLst>
                                </p:cTn>
                              </p:par>
                            </p:childTnLst>
                          </p:cTn>
                        </p:par>
                        <p:par>
                          <p:cTn fill="hold">
                            <p:stCondLst>
                              <p:cond delay="4500"/>
                            </p:stCondLst>
                            <p:childTnLst>
                              <p:par>
                                <p:cTn fill="hold" nodeType="afterEffect" presetClass="entr" presetID="2" presetSubtype="1">
                                  <p:stCondLst>
                                    <p:cond delay="0"/>
                                  </p:stCondLst>
                                  <p:childTnLst>
                                    <p:set>
                                      <p:cBhvr>
                                        <p:cTn dur="1" fill="hold">
                                          <p:stCondLst>
                                            <p:cond delay="0"/>
                                          </p:stCondLst>
                                        </p:cTn>
                                        <p:tgtEl>
                                          <p:spTgt spid="324"/>
                                        </p:tgtEl>
                                        <p:attrNameLst>
                                          <p:attrName>style.visibility</p:attrName>
                                        </p:attrNameLst>
                                      </p:cBhvr>
                                      <p:to>
                                        <p:strVal val="visible"/>
                                      </p:to>
                                    </p:set>
                                    <p:anim calcmode="lin" valueType="num">
                                      <p:cBhvr additive="base">
                                        <p:cTn dur="500"/>
                                        <p:tgtEl>
                                          <p:spTgt spid="324"/>
                                        </p:tgtEl>
                                        <p:attrNameLst>
                                          <p:attrName>ppt_y</p:attrName>
                                        </p:attrNameLst>
                                      </p:cBhvr>
                                      <p:tavLst>
                                        <p:tav fmla="" tm="0">
                                          <p:val>
                                            <p:strVal val="#ppt_y-1"/>
                                          </p:val>
                                        </p:tav>
                                        <p:tav fmla="" tm="100000">
                                          <p:val>
                                            <p:strVal val="#ppt_y"/>
                                          </p:val>
                                        </p:tav>
                                      </p:tavLst>
                                    </p:anim>
                                  </p:childTnLst>
                                </p:cTn>
                              </p:par>
                            </p:childTnLst>
                          </p:cTn>
                        </p:par>
                        <p:par>
                          <p:cTn fill="hold">
                            <p:stCondLst>
                              <p:cond delay="5000"/>
                            </p:stCondLst>
                            <p:childTnLst>
                              <p:par>
                                <p:cTn fill="hold" nodeType="afterEffect" presetClass="entr" presetID="2" presetSubtype="1">
                                  <p:stCondLst>
                                    <p:cond delay="0"/>
                                  </p:stCondLst>
                                  <p:childTnLst>
                                    <p:set>
                                      <p:cBhvr>
                                        <p:cTn dur="1" fill="hold">
                                          <p:stCondLst>
                                            <p:cond delay="0"/>
                                          </p:stCondLst>
                                        </p:cTn>
                                        <p:tgtEl>
                                          <p:spTgt spid="325"/>
                                        </p:tgtEl>
                                        <p:attrNameLst>
                                          <p:attrName>style.visibility</p:attrName>
                                        </p:attrNameLst>
                                      </p:cBhvr>
                                      <p:to>
                                        <p:strVal val="visible"/>
                                      </p:to>
                                    </p:set>
                                    <p:anim calcmode="lin" valueType="num">
                                      <p:cBhvr additive="base">
                                        <p:cTn dur="500"/>
                                        <p:tgtEl>
                                          <p:spTgt spid="325"/>
                                        </p:tgtEl>
                                        <p:attrNameLst>
                                          <p:attrName>ppt_y</p:attrName>
                                        </p:attrNameLst>
                                      </p:cBhvr>
                                      <p:tavLst>
                                        <p:tav fmla="" tm="0">
                                          <p:val>
                                            <p:strVal val="#ppt_y-1"/>
                                          </p:val>
                                        </p:tav>
                                        <p:tav fmla="" tm="100000">
                                          <p:val>
                                            <p:strVal val="#ppt_y"/>
                                          </p:val>
                                        </p:tav>
                                      </p:tavLst>
                                    </p:anim>
                                  </p:childTnLst>
                                </p:cTn>
                              </p:par>
                            </p:childTnLst>
                          </p:cTn>
                        </p:par>
                        <p:par>
                          <p:cTn fill="hold">
                            <p:stCondLst>
                              <p:cond delay="5500"/>
                            </p:stCondLst>
                            <p:childTnLst>
                              <p:par>
                                <p:cTn fill="hold" nodeType="afterEffect" presetClass="entr" presetID="2" presetSubtype="1">
                                  <p:stCondLst>
                                    <p:cond delay="0"/>
                                  </p:stCondLst>
                                  <p:childTnLst>
                                    <p:set>
                                      <p:cBhvr>
                                        <p:cTn dur="1" fill="hold">
                                          <p:stCondLst>
                                            <p:cond delay="0"/>
                                          </p:stCondLst>
                                        </p:cTn>
                                        <p:tgtEl>
                                          <p:spTgt spid="326"/>
                                        </p:tgtEl>
                                        <p:attrNameLst>
                                          <p:attrName>style.visibility</p:attrName>
                                        </p:attrNameLst>
                                      </p:cBhvr>
                                      <p:to>
                                        <p:strVal val="visible"/>
                                      </p:to>
                                    </p:set>
                                    <p:anim calcmode="lin" valueType="num">
                                      <p:cBhvr additive="base">
                                        <p:cTn dur="500"/>
                                        <p:tgtEl>
                                          <p:spTgt spid="326"/>
                                        </p:tgtEl>
                                        <p:attrNameLst>
                                          <p:attrName>ppt_y</p:attrName>
                                        </p:attrNameLst>
                                      </p:cBhvr>
                                      <p:tavLst>
                                        <p:tav fmla="" tm="0">
                                          <p:val>
                                            <p:strVal val="#ppt_y-1"/>
                                          </p:val>
                                        </p:tav>
                                        <p:tav fmla="" tm="100000">
                                          <p:val>
                                            <p:strVal val="#ppt_y"/>
                                          </p:val>
                                        </p:tav>
                                      </p:tavLst>
                                    </p:anim>
                                  </p:childTnLst>
                                </p:cTn>
                              </p:par>
                            </p:childTnLst>
                          </p:cTn>
                        </p:par>
                        <p:par>
                          <p:cTn fill="hold">
                            <p:stCondLst>
                              <p:cond delay="6000"/>
                            </p:stCondLst>
                            <p:childTnLst>
                              <p:par>
                                <p:cTn fill="hold" nodeType="afterEffect" presetClass="entr" presetID="2" presetSubtype="1">
                                  <p:stCondLst>
                                    <p:cond delay="0"/>
                                  </p:stCondLst>
                                  <p:childTnLst>
                                    <p:set>
                                      <p:cBhvr>
                                        <p:cTn dur="1" fill="hold">
                                          <p:stCondLst>
                                            <p:cond delay="0"/>
                                          </p:stCondLst>
                                        </p:cTn>
                                        <p:tgtEl>
                                          <p:spTgt spid="327"/>
                                        </p:tgtEl>
                                        <p:attrNameLst>
                                          <p:attrName>style.visibility</p:attrName>
                                        </p:attrNameLst>
                                      </p:cBhvr>
                                      <p:to>
                                        <p:strVal val="visible"/>
                                      </p:to>
                                    </p:set>
                                    <p:anim calcmode="lin" valueType="num">
                                      <p:cBhvr additive="base">
                                        <p:cTn dur="500"/>
                                        <p:tgtEl>
                                          <p:spTgt spid="327"/>
                                        </p:tgtEl>
                                        <p:attrNameLst>
                                          <p:attrName>ppt_y</p:attrName>
                                        </p:attrNameLst>
                                      </p:cBhvr>
                                      <p:tavLst>
                                        <p:tav fmla="" tm="0">
                                          <p:val>
                                            <p:strVal val="#ppt_y-1"/>
                                          </p:val>
                                        </p:tav>
                                        <p:tav fmla="" tm="100000">
                                          <p:val>
                                            <p:strVal val="#ppt_y"/>
                                          </p:val>
                                        </p:tav>
                                      </p:tavLst>
                                    </p:anim>
                                  </p:childTnLst>
                                </p:cTn>
                              </p:par>
                            </p:childTnLst>
                          </p:cTn>
                        </p:par>
                        <p:par>
                          <p:cTn fill="hold">
                            <p:stCondLst>
                              <p:cond delay="6500"/>
                            </p:stCondLst>
                            <p:childTnLst>
                              <p:par>
                                <p:cTn fill="hold" nodeType="afterEffect" presetClass="entr" presetID="2" presetSubtype="1">
                                  <p:stCondLst>
                                    <p:cond delay="0"/>
                                  </p:stCondLst>
                                  <p:childTnLst>
                                    <p:set>
                                      <p:cBhvr>
                                        <p:cTn dur="1" fill="hold">
                                          <p:stCondLst>
                                            <p:cond delay="0"/>
                                          </p:stCondLst>
                                        </p:cTn>
                                        <p:tgtEl>
                                          <p:spTgt spid="328"/>
                                        </p:tgtEl>
                                        <p:attrNameLst>
                                          <p:attrName>style.visibility</p:attrName>
                                        </p:attrNameLst>
                                      </p:cBhvr>
                                      <p:to>
                                        <p:strVal val="visible"/>
                                      </p:to>
                                    </p:set>
                                    <p:anim calcmode="lin" valueType="num">
                                      <p:cBhvr additive="base">
                                        <p:cTn dur="500"/>
                                        <p:tgtEl>
                                          <p:spTgt spid="328"/>
                                        </p:tgtEl>
                                        <p:attrNameLst>
                                          <p:attrName>ppt_y</p:attrName>
                                        </p:attrNameLst>
                                      </p:cBhvr>
                                      <p:tavLst>
                                        <p:tav fmla="" tm="0">
                                          <p:val>
                                            <p:strVal val="#ppt_y-1"/>
                                          </p:val>
                                        </p:tav>
                                        <p:tav fmla="" tm="100000">
                                          <p:val>
                                            <p:strVal val="#ppt_y"/>
                                          </p:val>
                                        </p:tav>
                                      </p:tavLst>
                                    </p:anim>
                                  </p:childTnLst>
                                </p:cTn>
                              </p:par>
                            </p:childTnLst>
                          </p:cTn>
                        </p:par>
                        <p:par>
                          <p:cTn fill="hold">
                            <p:stCondLst>
                              <p:cond delay="7000"/>
                            </p:stCondLst>
                            <p:childTnLst>
                              <p:par>
                                <p:cTn fill="hold" nodeType="afterEffect" presetClass="entr" presetID="2" presetSubtype="1">
                                  <p:stCondLst>
                                    <p:cond delay="0"/>
                                  </p:stCondLst>
                                  <p:childTnLst>
                                    <p:set>
                                      <p:cBhvr>
                                        <p:cTn dur="1" fill="hold">
                                          <p:stCondLst>
                                            <p:cond delay="0"/>
                                          </p:stCondLst>
                                        </p:cTn>
                                        <p:tgtEl>
                                          <p:spTgt spid="329"/>
                                        </p:tgtEl>
                                        <p:attrNameLst>
                                          <p:attrName>style.visibility</p:attrName>
                                        </p:attrNameLst>
                                      </p:cBhvr>
                                      <p:to>
                                        <p:strVal val="visible"/>
                                      </p:to>
                                    </p:set>
                                    <p:anim calcmode="lin" valueType="num">
                                      <p:cBhvr additive="base">
                                        <p:cTn dur="500"/>
                                        <p:tgtEl>
                                          <p:spTgt spid="329"/>
                                        </p:tgtEl>
                                        <p:attrNameLst>
                                          <p:attrName>ppt_y</p:attrName>
                                        </p:attrNameLst>
                                      </p:cBhvr>
                                      <p:tavLst>
                                        <p:tav fmla="" tm="0">
                                          <p:val>
                                            <p:strVal val="#ppt_y-1"/>
                                          </p:val>
                                        </p:tav>
                                        <p:tav fmla="" tm="100000">
                                          <p:val>
                                            <p:strVal val="#ppt_y"/>
                                          </p:val>
                                        </p:tav>
                                      </p:tavLst>
                                    </p:anim>
                                  </p:childTnLst>
                                </p:cTn>
                              </p:par>
                            </p:childTnLst>
                          </p:cTn>
                        </p:par>
                        <p:par>
                          <p:cTn fill="hold">
                            <p:stCondLst>
                              <p:cond delay="7500"/>
                            </p:stCondLst>
                            <p:childTnLst>
                              <p:par>
                                <p:cTn fill="hold" nodeType="afterEffect" presetClass="entr" presetID="2" presetSubtype="1">
                                  <p:stCondLst>
                                    <p:cond delay="0"/>
                                  </p:stCondLst>
                                  <p:childTnLst>
                                    <p:set>
                                      <p:cBhvr>
                                        <p:cTn dur="1" fill="hold">
                                          <p:stCondLst>
                                            <p:cond delay="0"/>
                                          </p:stCondLst>
                                        </p:cTn>
                                        <p:tgtEl>
                                          <p:spTgt spid="330"/>
                                        </p:tgtEl>
                                        <p:attrNameLst>
                                          <p:attrName>style.visibility</p:attrName>
                                        </p:attrNameLst>
                                      </p:cBhvr>
                                      <p:to>
                                        <p:strVal val="visible"/>
                                      </p:to>
                                    </p:set>
                                    <p:anim calcmode="lin" valueType="num">
                                      <p:cBhvr additive="base">
                                        <p:cTn dur="500"/>
                                        <p:tgtEl>
                                          <p:spTgt spid="330"/>
                                        </p:tgtEl>
                                        <p:attrNameLst>
                                          <p:attrName>ppt_y</p:attrName>
                                        </p:attrNameLst>
                                      </p:cBhvr>
                                      <p:tavLst>
                                        <p:tav fmla="" tm="0">
                                          <p:val>
                                            <p:strVal val="#ppt_y-1"/>
                                          </p:val>
                                        </p:tav>
                                        <p:tav fmla="" tm="100000">
                                          <p:val>
                                            <p:strVal val="#ppt_y"/>
                                          </p:val>
                                        </p:tav>
                                      </p:tavLst>
                                    </p:anim>
                                  </p:childTnLst>
                                </p:cTn>
                              </p:par>
                            </p:childTnLst>
                          </p:cTn>
                        </p:par>
                        <p:par>
                          <p:cTn fill="hold">
                            <p:stCondLst>
                              <p:cond delay="8000"/>
                            </p:stCondLst>
                            <p:childTnLst>
                              <p:par>
                                <p:cTn fill="hold" nodeType="afterEffect" presetClass="entr" presetID="2" presetSubtype="1">
                                  <p:stCondLst>
                                    <p:cond delay="0"/>
                                  </p:stCondLst>
                                  <p:childTnLst>
                                    <p:set>
                                      <p:cBhvr>
                                        <p:cTn dur="1" fill="hold">
                                          <p:stCondLst>
                                            <p:cond delay="0"/>
                                          </p:stCondLst>
                                        </p:cTn>
                                        <p:tgtEl>
                                          <p:spTgt spid="331"/>
                                        </p:tgtEl>
                                        <p:attrNameLst>
                                          <p:attrName>style.visibility</p:attrName>
                                        </p:attrNameLst>
                                      </p:cBhvr>
                                      <p:to>
                                        <p:strVal val="visible"/>
                                      </p:to>
                                    </p:set>
                                    <p:anim calcmode="lin" valueType="num">
                                      <p:cBhvr additive="base">
                                        <p:cTn dur="500"/>
                                        <p:tgtEl>
                                          <p:spTgt spid="331"/>
                                        </p:tgtEl>
                                        <p:attrNameLst>
                                          <p:attrName>ppt_y</p:attrName>
                                        </p:attrNameLst>
                                      </p:cBhvr>
                                      <p:tavLst>
                                        <p:tav fmla="" tm="0">
                                          <p:val>
                                            <p:strVal val="#ppt_y-1"/>
                                          </p:val>
                                        </p:tav>
                                        <p:tav fmla="" tm="100000">
                                          <p:val>
                                            <p:strVal val="#ppt_y"/>
                                          </p:val>
                                        </p:tav>
                                      </p:tavLst>
                                    </p:anim>
                                  </p:childTnLst>
                                </p:cTn>
                              </p:par>
                            </p:childTnLst>
                          </p:cTn>
                        </p:par>
                        <p:par>
                          <p:cTn fill="hold">
                            <p:stCondLst>
                              <p:cond delay="8500"/>
                            </p:stCondLst>
                            <p:childTnLst>
                              <p:par>
                                <p:cTn fill="hold" nodeType="afterEffect" presetClass="entr" presetID="2" presetSubtype="1">
                                  <p:stCondLst>
                                    <p:cond delay="0"/>
                                  </p:stCondLst>
                                  <p:childTnLst>
                                    <p:set>
                                      <p:cBhvr>
                                        <p:cTn dur="1" fill="hold">
                                          <p:stCondLst>
                                            <p:cond delay="0"/>
                                          </p:stCondLst>
                                        </p:cTn>
                                        <p:tgtEl>
                                          <p:spTgt spid="332"/>
                                        </p:tgtEl>
                                        <p:attrNameLst>
                                          <p:attrName>style.visibility</p:attrName>
                                        </p:attrNameLst>
                                      </p:cBhvr>
                                      <p:to>
                                        <p:strVal val="visible"/>
                                      </p:to>
                                    </p:set>
                                    <p:anim calcmode="lin" valueType="num">
                                      <p:cBhvr additive="base">
                                        <p:cTn dur="500"/>
                                        <p:tgtEl>
                                          <p:spTgt spid="332"/>
                                        </p:tgtEl>
                                        <p:attrNameLst>
                                          <p:attrName>ppt_y</p:attrName>
                                        </p:attrNameLst>
                                      </p:cBhvr>
                                      <p:tavLst>
                                        <p:tav fmla="" tm="0">
                                          <p:val>
                                            <p:strVal val="#ppt_y-1"/>
                                          </p:val>
                                        </p:tav>
                                        <p:tav fmla="" tm="100000">
                                          <p:val>
                                            <p:strVal val="#ppt_y"/>
                                          </p:val>
                                        </p:tav>
                                      </p:tavLst>
                                    </p:anim>
                                  </p:childTnLst>
                                </p:cTn>
                              </p:par>
                            </p:childTnLst>
                          </p:cTn>
                        </p:par>
                        <p:par>
                          <p:cTn fill="hold">
                            <p:stCondLst>
                              <p:cond delay="9000"/>
                            </p:stCondLst>
                            <p:childTnLst>
                              <p:par>
                                <p:cTn fill="hold" nodeType="afterEffect" presetClass="entr" presetID="2" presetSubtype="1">
                                  <p:stCondLst>
                                    <p:cond delay="0"/>
                                  </p:stCondLst>
                                  <p:childTnLst>
                                    <p:set>
                                      <p:cBhvr>
                                        <p:cTn dur="1" fill="hold">
                                          <p:stCondLst>
                                            <p:cond delay="0"/>
                                          </p:stCondLst>
                                        </p:cTn>
                                        <p:tgtEl>
                                          <p:spTgt spid="333"/>
                                        </p:tgtEl>
                                        <p:attrNameLst>
                                          <p:attrName>style.visibility</p:attrName>
                                        </p:attrNameLst>
                                      </p:cBhvr>
                                      <p:to>
                                        <p:strVal val="visible"/>
                                      </p:to>
                                    </p:set>
                                    <p:anim calcmode="lin" valueType="num">
                                      <p:cBhvr additive="base">
                                        <p:cTn dur="500"/>
                                        <p:tgtEl>
                                          <p:spTgt spid="333"/>
                                        </p:tgtEl>
                                        <p:attrNameLst>
                                          <p:attrName>ppt_y</p:attrName>
                                        </p:attrNameLst>
                                      </p:cBhvr>
                                      <p:tavLst>
                                        <p:tav fmla="" tm="0">
                                          <p:val>
                                            <p:strVal val="#ppt_y-1"/>
                                          </p:val>
                                        </p:tav>
                                        <p:tav fmla="" tm="100000">
                                          <p:val>
                                            <p:strVal val="#ppt_y"/>
                                          </p:val>
                                        </p:tav>
                                      </p:tavLst>
                                    </p:anim>
                                  </p:childTnLst>
                                </p:cTn>
                              </p:par>
                            </p:childTnLst>
                          </p:cTn>
                        </p:par>
                        <p:par>
                          <p:cTn fill="hold">
                            <p:stCondLst>
                              <p:cond delay="9500"/>
                            </p:stCondLst>
                            <p:childTnLst>
                              <p:par>
                                <p:cTn fill="hold" nodeType="afterEffect" presetClass="entr" presetID="2" presetSubtype="1">
                                  <p:stCondLst>
                                    <p:cond delay="0"/>
                                  </p:stCondLst>
                                  <p:childTnLst>
                                    <p:set>
                                      <p:cBhvr>
                                        <p:cTn dur="1" fill="hold">
                                          <p:stCondLst>
                                            <p:cond delay="0"/>
                                          </p:stCondLst>
                                        </p:cTn>
                                        <p:tgtEl>
                                          <p:spTgt spid="334"/>
                                        </p:tgtEl>
                                        <p:attrNameLst>
                                          <p:attrName>style.visibility</p:attrName>
                                        </p:attrNameLst>
                                      </p:cBhvr>
                                      <p:to>
                                        <p:strVal val="visible"/>
                                      </p:to>
                                    </p:set>
                                    <p:anim calcmode="lin" valueType="num">
                                      <p:cBhvr additive="base">
                                        <p:cTn dur="500"/>
                                        <p:tgtEl>
                                          <p:spTgt spid="334"/>
                                        </p:tgtEl>
                                        <p:attrNameLst>
                                          <p:attrName>ppt_y</p:attrName>
                                        </p:attrNameLst>
                                      </p:cBhvr>
                                      <p:tavLst>
                                        <p:tav fmla="" tm="0">
                                          <p:val>
                                            <p:strVal val="#ppt_y-1"/>
                                          </p:val>
                                        </p:tav>
                                        <p:tav fmla="" tm="100000">
                                          <p:val>
                                            <p:strVal val="#ppt_y"/>
                                          </p:val>
                                        </p:tav>
                                      </p:tavLst>
                                    </p:anim>
                                  </p:childTnLst>
                                </p:cTn>
                              </p:par>
                            </p:childTnLst>
                          </p:cTn>
                        </p:par>
                        <p:par>
                          <p:cTn fill="hold">
                            <p:stCondLst>
                              <p:cond delay="10000"/>
                            </p:stCondLst>
                            <p:childTnLst>
                              <p:par>
                                <p:cTn fill="hold" nodeType="afterEffect" presetClass="entr" presetID="2" presetSubtype="1">
                                  <p:stCondLst>
                                    <p:cond delay="0"/>
                                  </p:stCondLst>
                                  <p:childTnLst>
                                    <p:set>
                                      <p:cBhvr>
                                        <p:cTn dur="1" fill="hold">
                                          <p:stCondLst>
                                            <p:cond delay="0"/>
                                          </p:stCondLst>
                                        </p:cTn>
                                        <p:tgtEl>
                                          <p:spTgt spid="335"/>
                                        </p:tgtEl>
                                        <p:attrNameLst>
                                          <p:attrName>style.visibility</p:attrName>
                                        </p:attrNameLst>
                                      </p:cBhvr>
                                      <p:to>
                                        <p:strVal val="visible"/>
                                      </p:to>
                                    </p:set>
                                    <p:anim calcmode="lin" valueType="num">
                                      <p:cBhvr additive="base">
                                        <p:cTn dur="500"/>
                                        <p:tgtEl>
                                          <p:spTgt spid="33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1">
                                  <p:stCondLst>
                                    <p:cond delay="0"/>
                                  </p:stCondLst>
                                  <p:childTnLst>
                                    <p:anim calcmode="lin" valueType="num">
                                      <p:cBhvr additive="base">
                                        <p:cTn dur="500"/>
                                        <p:tgtEl>
                                          <p:spTgt spid="314"/>
                                        </p:tgtEl>
                                        <p:attrNameLst>
                                          <p:attrName>ppt_y</p:attrName>
                                        </p:attrNameLst>
                                      </p:cBhvr>
                                      <p:tavLst>
                                        <p:tav fmla="" tm="0">
                                          <p:val>
                                            <p:strVal val="#ppt_y"/>
                                          </p:val>
                                        </p:tav>
                                        <p:tav fmla="" tm="100000">
                                          <p:val>
                                            <p:strVal val="#ppt_y-1"/>
                                          </p:val>
                                        </p:tav>
                                      </p:tavLst>
                                    </p:anim>
                                    <p:set>
                                      <p:cBhvr>
                                        <p:cTn dur="1" fill="hold">
                                          <p:stCondLst>
                                            <p:cond delay="500"/>
                                          </p:stCondLst>
                                        </p:cTn>
                                        <p:tgtEl>
                                          <p:spTgt spid="314"/>
                                        </p:tgtEl>
                                        <p:attrNameLst>
                                          <p:attrName>style.visibility</p:attrName>
                                        </p:attrNameLst>
                                      </p:cBhvr>
                                      <p:to>
                                        <p:strVal val="hidden"/>
                                      </p:to>
                                    </p:set>
                                  </p:childTnLst>
                                </p:cTn>
                              </p:par>
                              <p:par>
                                <p:cTn fill="hold" nodeType="withEffect" presetClass="exit" presetID="2" presetSubtype="1">
                                  <p:stCondLst>
                                    <p:cond delay="0"/>
                                  </p:stCondLst>
                                  <p:childTnLst>
                                    <p:anim calcmode="lin" valueType="num">
                                      <p:cBhvr additive="base">
                                        <p:cTn dur="500"/>
                                        <p:tgtEl>
                                          <p:spTgt spid="315"/>
                                        </p:tgtEl>
                                        <p:attrNameLst>
                                          <p:attrName>ppt_y</p:attrName>
                                        </p:attrNameLst>
                                      </p:cBhvr>
                                      <p:tavLst>
                                        <p:tav fmla="" tm="0">
                                          <p:val>
                                            <p:strVal val="#ppt_y"/>
                                          </p:val>
                                        </p:tav>
                                        <p:tav fmla="" tm="100000">
                                          <p:val>
                                            <p:strVal val="#ppt_y-1"/>
                                          </p:val>
                                        </p:tav>
                                      </p:tavLst>
                                    </p:anim>
                                    <p:set>
                                      <p:cBhvr>
                                        <p:cTn dur="1" fill="hold">
                                          <p:stCondLst>
                                            <p:cond delay="500"/>
                                          </p:stCondLst>
                                        </p:cTn>
                                        <p:tgtEl>
                                          <p:spTgt spid="31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3"/>
          <p:cNvSpPr/>
          <p:nvPr/>
        </p:nvSpPr>
        <p:spPr>
          <a:xfrm>
            <a:off x="687388" y="1982788"/>
            <a:ext cx="7772400" cy="4875212"/>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PRACTICE: We can simplify our drawings of electric  fields by using top views and using rays. Which field is that of the…</a:t>
            </a:r>
            <a:endParaRPr/>
          </a:p>
          <a:p>
            <a:pPr indent="0" lvl="0" marL="0" marR="0" rtl="0" algn="l">
              <a:spcBef>
                <a:spcPts val="300"/>
              </a:spcBef>
              <a:spcAft>
                <a:spcPts val="0"/>
              </a:spcAft>
              <a:buNone/>
            </a:pPr>
            <a:r>
              <a:rPr b="0" i="0" lang="en-US" sz="2400" u="none" cap="none" strike="noStrike">
                <a:solidFill>
                  <a:schemeClr val="dk1"/>
                </a:solidFill>
                <a:latin typeface="Arial"/>
                <a:ea typeface="Arial"/>
                <a:cs typeface="Arial"/>
                <a:sym typeface="Arial"/>
              </a:rPr>
              <a:t>(a) Largest negative charge? </a:t>
            </a:r>
            <a:endParaRPr/>
          </a:p>
          <a:p>
            <a:pPr indent="0" lvl="0" marL="0" marR="0" rtl="0" algn="l">
              <a:spcBef>
                <a:spcPts val="300"/>
              </a:spcBef>
              <a:spcAft>
                <a:spcPts val="0"/>
              </a:spcAft>
              <a:buNone/>
            </a:pPr>
            <a:r>
              <a:rPr b="0" i="0" lang="en-US" sz="2400" u="none" cap="none" strike="noStrike">
                <a:solidFill>
                  <a:schemeClr val="dk1"/>
                </a:solidFill>
                <a:latin typeface="Arial"/>
                <a:ea typeface="Arial"/>
                <a:cs typeface="Arial"/>
                <a:sym typeface="Arial"/>
              </a:rPr>
              <a:t>(b) Largest positive charge?</a:t>
            </a:r>
            <a:endParaRPr/>
          </a:p>
          <a:p>
            <a:pPr indent="0" lvl="0" marL="0" marR="0" rtl="0" algn="l">
              <a:spcBef>
                <a:spcPts val="300"/>
              </a:spcBef>
              <a:spcAft>
                <a:spcPts val="0"/>
              </a:spcAft>
              <a:buNone/>
            </a:pPr>
            <a:r>
              <a:rPr b="0" i="0" lang="en-US" sz="2400" u="none" cap="none" strike="noStrike">
                <a:solidFill>
                  <a:schemeClr val="dk1"/>
                </a:solidFill>
                <a:latin typeface="Arial"/>
                <a:ea typeface="Arial"/>
                <a:cs typeface="Arial"/>
                <a:sym typeface="Arial"/>
              </a:rPr>
              <a:t>(c) Smallest negative charge?</a:t>
            </a:r>
            <a:endParaRPr/>
          </a:p>
          <a:p>
            <a:pPr indent="0" lvl="0" marL="0" marR="0" rtl="0" algn="l">
              <a:spcBef>
                <a:spcPts val="300"/>
              </a:spcBef>
              <a:spcAft>
                <a:spcPts val="0"/>
              </a:spcAft>
              <a:buNone/>
            </a:pPr>
            <a:r>
              <a:rPr b="0" i="0" lang="en-US" sz="2400" u="none" cap="none" strike="noStrike">
                <a:solidFill>
                  <a:schemeClr val="dk1"/>
                </a:solidFill>
                <a:latin typeface="Arial"/>
                <a:ea typeface="Arial"/>
                <a:cs typeface="Arial"/>
                <a:sym typeface="Arial"/>
              </a:rPr>
              <a:t>(d) Smallest positive charge?</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SOLUTION: The larger the charge,                                      the more concentrated the field.</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∙Lines show the direction a positive                                       test charge will go.</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∙Outward is (+) charge, inward (-).</a:t>
            </a:r>
            <a:endParaRPr/>
          </a:p>
        </p:txBody>
      </p:sp>
      <p:sp>
        <p:nvSpPr>
          <p:cNvPr id="341" name="Google Shape;341;p33"/>
          <p:cNvSpPr/>
          <p:nvPr/>
        </p:nvSpPr>
        <p:spPr>
          <a:xfrm>
            <a:off x="685800" y="1549400"/>
            <a:ext cx="7772400" cy="4476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b="0" i="1" lang="en-US" sz="2400" u="none" cap="none" strike="noStrike">
                <a:solidFill>
                  <a:srgbClr val="333399"/>
                </a:solidFill>
                <a:latin typeface="Arial"/>
                <a:ea typeface="Arial"/>
                <a:cs typeface="Arial"/>
                <a:sym typeface="Arial"/>
              </a:rPr>
              <a:t>Electric field </a:t>
            </a:r>
            <a:r>
              <a:rPr b="0" i="0" lang="en-US" sz="2400" u="none" cap="none" strike="noStrike">
                <a:solidFill>
                  <a:srgbClr val="333399"/>
                </a:solidFill>
                <a:latin typeface="Arial"/>
                <a:ea typeface="Arial"/>
                <a:cs typeface="Arial"/>
                <a:sym typeface="Arial"/>
              </a:rPr>
              <a:t>– sketching</a:t>
            </a:r>
            <a:r>
              <a:rPr b="0" i="0" lang="en-US" sz="2400" u="none" cap="none" strike="noStrike">
                <a:solidFill>
                  <a:srgbClr val="000000"/>
                </a:solidFill>
                <a:latin typeface="Arial"/>
                <a:ea typeface="Arial"/>
                <a:cs typeface="Arial"/>
                <a:sym typeface="Arial"/>
              </a:rPr>
              <a:t>	</a:t>
            </a:r>
            <a:endParaRPr/>
          </a:p>
        </p:txBody>
      </p:sp>
      <p:sp>
        <p:nvSpPr>
          <p:cNvPr id="342" name="Google Shape;342;p33"/>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grpSp>
        <p:nvGrpSpPr>
          <p:cNvPr id="343" name="Google Shape;343;p33"/>
          <p:cNvGrpSpPr/>
          <p:nvPr/>
        </p:nvGrpSpPr>
        <p:grpSpPr>
          <a:xfrm>
            <a:off x="6008346" y="2600989"/>
            <a:ext cx="1524684" cy="1527436"/>
            <a:chOff x="2249" y="1606"/>
            <a:chExt cx="960" cy="962"/>
          </a:xfrm>
        </p:grpSpPr>
        <p:sp>
          <p:nvSpPr>
            <p:cNvPr id="344" name="Google Shape;344;p33"/>
            <p:cNvSpPr txBox="1"/>
            <p:nvPr/>
          </p:nvSpPr>
          <p:spPr>
            <a:xfrm>
              <a:off x="2253" y="2258"/>
              <a:ext cx="212"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A</a:t>
              </a:r>
              <a:endParaRPr/>
            </a:p>
          </p:txBody>
        </p:sp>
        <p:grpSp>
          <p:nvGrpSpPr>
            <p:cNvPr id="345" name="Google Shape;345;p33"/>
            <p:cNvGrpSpPr/>
            <p:nvPr/>
          </p:nvGrpSpPr>
          <p:grpSpPr>
            <a:xfrm>
              <a:off x="2249" y="1606"/>
              <a:ext cx="960" cy="962"/>
              <a:chOff x="1325" y="1790"/>
              <a:chExt cx="753" cy="754"/>
            </a:xfrm>
          </p:grpSpPr>
          <p:sp>
            <p:nvSpPr>
              <p:cNvPr id="346" name="Google Shape;346;p33"/>
              <p:cNvSpPr/>
              <p:nvPr/>
            </p:nvSpPr>
            <p:spPr>
              <a:xfrm>
                <a:off x="1639" y="2108"/>
                <a:ext cx="115" cy="115"/>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347" name="Google Shape;347;p33"/>
              <p:cNvGrpSpPr/>
              <p:nvPr/>
            </p:nvGrpSpPr>
            <p:grpSpPr>
              <a:xfrm>
                <a:off x="1325" y="1790"/>
                <a:ext cx="753" cy="754"/>
                <a:chOff x="475" y="1308"/>
                <a:chExt cx="1646" cy="1649"/>
              </a:xfrm>
            </p:grpSpPr>
            <p:grpSp>
              <p:nvGrpSpPr>
                <p:cNvPr id="348" name="Google Shape;348;p33"/>
                <p:cNvGrpSpPr/>
                <p:nvPr/>
              </p:nvGrpSpPr>
              <p:grpSpPr>
                <a:xfrm>
                  <a:off x="654" y="1498"/>
                  <a:ext cx="1265" cy="1270"/>
                  <a:chOff x="654" y="1498"/>
                  <a:chExt cx="1265" cy="1270"/>
                </a:xfrm>
              </p:grpSpPr>
              <p:cxnSp>
                <p:nvCxnSpPr>
                  <p:cNvPr id="349" name="Google Shape;349;p33"/>
                  <p:cNvCxnSpPr/>
                  <p:nvPr/>
                </p:nvCxnSpPr>
                <p:spPr>
                  <a:xfrm>
                    <a:off x="1465" y="2136"/>
                    <a:ext cx="454" cy="0"/>
                  </a:xfrm>
                  <a:prstGeom prst="straightConnector1">
                    <a:avLst/>
                  </a:prstGeom>
                  <a:noFill/>
                  <a:ln cap="flat" cmpd="sng" w="9525">
                    <a:solidFill>
                      <a:schemeClr val="dk1"/>
                    </a:solidFill>
                    <a:prstDash val="solid"/>
                    <a:round/>
                    <a:headEnd len="med" w="med" type="none"/>
                    <a:tailEnd len="med" w="med" type="triangle"/>
                  </a:ln>
                </p:spPr>
              </p:cxnSp>
              <p:cxnSp>
                <p:nvCxnSpPr>
                  <p:cNvPr id="350" name="Google Shape;350;p33"/>
                  <p:cNvCxnSpPr/>
                  <p:nvPr/>
                </p:nvCxnSpPr>
                <p:spPr>
                  <a:xfrm rot="10800000">
                    <a:off x="1292" y="1498"/>
                    <a:ext cx="0" cy="459"/>
                  </a:xfrm>
                  <a:prstGeom prst="straightConnector1">
                    <a:avLst/>
                  </a:prstGeom>
                  <a:noFill/>
                  <a:ln cap="flat" cmpd="sng" w="9525">
                    <a:solidFill>
                      <a:schemeClr val="dk1"/>
                    </a:solidFill>
                    <a:prstDash val="solid"/>
                    <a:round/>
                    <a:headEnd len="med" w="med" type="none"/>
                    <a:tailEnd len="med" w="med" type="triangle"/>
                  </a:ln>
                </p:spPr>
              </p:cxnSp>
              <p:cxnSp>
                <p:nvCxnSpPr>
                  <p:cNvPr id="351" name="Google Shape;351;p33"/>
                  <p:cNvCxnSpPr/>
                  <p:nvPr/>
                </p:nvCxnSpPr>
                <p:spPr>
                  <a:xfrm rot="10800000">
                    <a:off x="654" y="2131"/>
                    <a:ext cx="459" cy="0"/>
                  </a:xfrm>
                  <a:prstGeom prst="straightConnector1">
                    <a:avLst/>
                  </a:prstGeom>
                  <a:noFill/>
                  <a:ln cap="flat" cmpd="sng" w="9525">
                    <a:solidFill>
                      <a:schemeClr val="dk1"/>
                    </a:solidFill>
                    <a:prstDash val="solid"/>
                    <a:round/>
                    <a:headEnd len="med" w="med" type="none"/>
                    <a:tailEnd len="med" w="med" type="triangle"/>
                  </a:ln>
                </p:spPr>
              </p:cxnSp>
              <p:cxnSp>
                <p:nvCxnSpPr>
                  <p:cNvPr id="352" name="Google Shape;352;p33"/>
                  <p:cNvCxnSpPr/>
                  <p:nvPr/>
                </p:nvCxnSpPr>
                <p:spPr>
                  <a:xfrm>
                    <a:off x="1292" y="2310"/>
                    <a:ext cx="0" cy="458"/>
                  </a:xfrm>
                  <a:prstGeom prst="straightConnector1">
                    <a:avLst/>
                  </a:prstGeom>
                  <a:noFill/>
                  <a:ln cap="flat" cmpd="sng" w="9525">
                    <a:solidFill>
                      <a:schemeClr val="dk1"/>
                    </a:solidFill>
                    <a:prstDash val="solid"/>
                    <a:round/>
                    <a:headEnd len="med" w="med" type="none"/>
                    <a:tailEnd len="med" w="med" type="triangle"/>
                  </a:ln>
                </p:spPr>
              </p:cxnSp>
              <p:cxnSp>
                <p:nvCxnSpPr>
                  <p:cNvPr id="353" name="Google Shape;353;p33"/>
                  <p:cNvCxnSpPr/>
                  <p:nvPr/>
                </p:nvCxnSpPr>
                <p:spPr>
                  <a:xfrm flipH="1" rot="10800000">
                    <a:off x="1415" y="1689"/>
                    <a:ext cx="319" cy="319"/>
                  </a:xfrm>
                  <a:prstGeom prst="straightConnector1">
                    <a:avLst/>
                  </a:prstGeom>
                  <a:noFill/>
                  <a:ln cap="flat" cmpd="sng" w="9525">
                    <a:solidFill>
                      <a:schemeClr val="dk1"/>
                    </a:solidFill>
                    <a:prstDash val="solid"/>
                    <a:round/>
                    <a:headEnd len="med" w="med" type="none"/>
                    <a:tailEnd len="med" w="med" type="triangle"/>
                  </a:ln>
                </p:spPr>
              </p:cxnSp>
              <p:cxnSp>
                <p:nvCxnSpPr>
                  <p:cNvPr id="354" name="Google Shape;354;p33"/>
                  <p:cNvCxnSpPr/>
                  <p:nvPr/>
                </p:nvCxnSpPr>
                <p:spPr>
                  <a:xfrm rot="10800000">
                    <a:off x="844" y="1683"/>
                    <a:ext cx="319" cy="319"/>
                  </a:xfrm>
                  <a:prstGeom prst="straightConnector1">
                    <a:avLst/>
                  </a:prstGeom>
                  <a:noFill/>
                  <a:ln cap="flat" cmpd="sng" w="9525">
                    <a:solidFill>
                      <a:schemeClr val="dk1"/>
                    </a:solidFill>
                    <a:prstDash val="solid"/>
                    <a:round/>
                    <a:headEnd len="med" w="med" type="none"/>
                    <a:tailEnd len="med" w="med" type="triangle"/>
                  </a:ln>
                </p:spPr>
              </p:cxnSp>
              <p:cxnSp>
                <p:nvCxnSpPr>
                  <p:cNvPr id="355" name="Google Shape;355;p33"/>
                  <p:cNvCxnSpPr/>
                  <p:nvPr/>
                </p:nvCxnSpPr>
                <p:spPr>
                  <a:xfrm flipH="1">
                    <a:off x="839" y="2265"/>
                    <a:ext cx="324" cy="324"/>
                  </a:xfrm>
                  <a:prstGeom prst="straightConnector1">
                    <a:avLst/>
                  </a:prstGeom>
                  <a:noFill/>
                  <a:ln cap="flat" cmpd="sng" w="9525">
                    <a:solidFill>
                      <a:schemeClr val="dk1"/>
                    </a:solidFill>
                    <a:prstDash val="solid"/>
                    <a:round/>
                    <a:headEnd len="med" w="med" type="none"/>
                    <a:tailEnd len="med" w="med" type="triangle"/>
                  </a:ln>
                </p:spPr>
              </p:cxnSp>
              <p:cxnSp>
                <p:nvCxnSpPr>
                  <p:cNvPr id="356" name="Google Shape;356;p33"/>
                  <p:cNvCxnSpPr/>
                  <p:nvPr/>
                </p:nvCxnSpPr>
                <p:spPr>
                  <a:xfrm>
                    <a:off x="1415" y="2259"/>
                    <a:ext cx="307" cy="307"/>
                  </a:xfrm>
                  <a:prstGeom prst="straightConnector1">
                    <a:avLst/>
                  </a:prstGeom>
                  <a:noFill/>
                  <a:ln cap="flat" cmpd="sng" w="9525">
                    <a:solidFill>
                      <a:schemeClr val="dk1"/>
                    </a:solidFill>
                    <a:prstDash val="solid"/>
                    <a:round/>
                    <a:headEnd len="med" w="med" type="none"/>
                    <a:tailEnd len="med" w="med" type="triangle"/>
                  </a:ln>
                </p:spPr>
              </p:cxnSp>
            </p:grpSp>
            <p:grpSp>
              <p:nvGrpSpPr>
                <p:cNvPr id="357" name="Google Shape;357;p33"/>
                <p:cNvGrpSpPr/>
                <p:nvPr/>
              </p:nvGrpSpPr>
              <p:grpSpPr>
                <a:xfrm rot="1308473">
                  <a:off x="666" y="1498"/>
                  <a:ext cx="1265" cy="1270"/>
                  <a:chOff x="654" y="1498"/>
                  <a:chExt cx="1265" cy="1270"/>
                </a:xfrm>
              </p:grpSpPr>
              <p:cxnSp>
                <p:nvCxnSpPr>
                  <p:cNvPr id="358" name="Google Shape;358;p33"/>
                  <p:cNvCxnSpPr/>
                  <p:nvPr/>
                </p:nvCxnSpPr>
                <p:spPr>
                  <a:xfrm>
                    <a:off x="1465" y="2136"/>
                    <a:ext cx="454" cy="0"/>
                  </a:xfrm>
                  <a:prstGeom prst="straightConnector1">
                    <a:avLst/>
                  </a:prstGeom>
                  <a:noFill/>
                  <a:ln cap="flat" cmpd="sng" w="9525">
                    <a:solidFill>
                      <a:schemeClr val="dk1"/>
                    </a:solidFill>
                    <a:prstDash val="solid"/>
                    <a:round/>
                    <a:headEnd len="med" w="med" type="none"/>
                    <a:tailEnd len="med" w="med" type="triangle"/>
                  </a:ln>
                </p:spPr>
              </p:cxnSp>
              <p:cxnSp>
                <p:nvCxnSpPr>
                  <p:cNvPr id="359" name="Google Shape;359;p33"/>
                  <p:cNvCxnSpPr/>
                  <p:nvPr/>
                </p:nvCxnSpPr>
                <p:spPr>
                  <a:xfrm rot="10800000">
                    <a:off x="1292" y="1498"/>
                    <a:ext cx="0" cy="459"/>
                  </a:xfrm>
                  <a:prstGeom prst="straightConnector1">
                    <a:avLst/>
                  </a:prstGeom>
                  <a:noFill/>
                  <a:ln cap="flat" cmpd="sng" w="9525">
                    <a:solidFill>
                      <a:schemeClr val="dk1"/>
                    </a:solidFill>
                    <a:prstDash val="solid"/>
                    <a:round/>
                    <a:headEnd len="med" w="med" type="none"/>
                    <a:tailEnd len="med" w="med" type="triangle"/>
                  </a:ln>
                </p:spPr>
              </p:cxnSp>
              <p:cxnSp>
                <p:nvCxnSpPr>
                  <p:cNvPr id="360" name="Google Shape;360;p33"/>
                  <p:cNvCxnSpPr/>
                  <p:nvPr/>
                </p:nvCxnSpPr>
                <p:spPr>
                  <a:xfrm rot="10800000">
                    <a:off x="654" y="2131"/>
                    <a:ext cx="459" cy="0"/>
                  </a:xfrm>
                  <a:prstGeom prst="straightConnector1">
                    <a:avLst/>
                  </a:prstGeom>
                  <a:noFill/>
                  <a:ln cap="flat" cmpd="sng" w="9525">
                    <a:solidFill>
                      <a:schemeClr val="dk1"/>
                    </a:solidFill>
                    <a:prstDash val="solid"/>
                    <a:round/>
                    <a:headEnd len="med" w="med" type="none"/>
                    <a:tailEnd len="med" w="med" type="triangle"/>
                  </a:ln>
                </p:spPr>
              </p:cxnSp>
              <p:cxnSp>
                <p:nvCxnSpPr>
                  <p:cNvPr id="361" name="Google Shape;361;p33"/>
                  <p:cNvCxnSpPr/>
                  <p:nvPr/>
                </p:nvCxnSpPr>
                <p:spPr>
                  <a:xfrm>
                    <a:off x="1292" y="2310"/>
                    <a:ext cx="0" cy="458"/>
                  </a:xfrm>
                  <a:prstGeom prst="straightConnector1">
                    <a:avLst/>
                  </a:prstGeom>
                  <a:noFill/>
                  <a:ln cap="flat" cmpd="sng" w="9525">
                    <a:solidFill>
                      <a:schemeClr val="dk1"/>
                    </a:solidFill>
                    <a:prstDash val="solid"/>
                    <a:round/>
                    <a:headEnd len="med" w="med" type="none"/>
                    <a:tailEnd len="med" w="med" type="triangle"/>
                  </a:ln>
                </p:spPr>
              </p:cxnSp>
              <p:cxnSp>
                <p:nvCxnSpPr>
                  <p:cNvPr id="362" name="Google Shape;362;p33"/>
                  <p:cNvCxnSpPr/>
                  <p:nvPr/>
                </p:nvCxnSpPr>
                <p:spPr>
                  <a:xfrm flipH="1" rot="10800000">
                    <a:off x="1415" y="1689"/>
                    <a:ext cx="319" cy="319"/>
                  </a:xfrm>
                  <a:prstGeom prst="straightConnector1">
                    <a:avLst/>
                  </a:prstGeom>
                  <a:noFill/>
                  <a:ln cap="flat" cmpd="sng" w="9525">
                    <a:solidFill>
                      <a:schemeClr val="dk1"/>
                    </a:solidFill>
                    <a:prstDash val="solid"/>
                    <a:round/>
                    <a:headEnd len="med" w="med" type="none"/>
                    <a:tailEnd len="med" w="med" type="triangle"/>
                  </a:ln>
                </p:spPr>
              </p:cxnSp>
              <p:cxnSp>
                <p:nvCxnSpPr>
                  <p:cNvPr id="363" name="Google Shape;363;p33"/>
                  <p:cNvCxnSpPr/>
                  <p:nvPr/>
                </p:nvCxnSpPr>
                <p:spPr>
                  <a:xfrm rot="10800000">
                    <a:off x="844" y="1683"/>
                    <a:ext cx="319" cy="319"/>
                  </a:xfrm>
                  <a:prstGeom prst="straightConnector1">
                    <a:avLst/>
                  </a:prstGeom>
                  <a:noFill/>
                  <a:ln cap="flat" cmpd="sng" w="9525">
                    <a:solidFill>
                      <a:schemeClr val="dk1"/>
                    </a:solidFill>
                    <a:prstDash val="solid"/>
                    <a:round/>
                    <a:headEnd len="med" w="med" type="none"/>
                    <a:tailEnd len="med" w="med" type="triangle"/>
                  </a:ln>
                </p:spPr>
              </p:cxnSp>
              <p:cxnSp>
                <p:nvCxnSpPr>
                  <p:cNvPr id="364" name="Google Shape;364;p33"/>
                  <p:cNvCxnSpPr/>
                  <p:nvPr/>
                </p:nvCxnSpPr>
                <p:spPr>
                  <a:xfrm flipH="1">
                    <a:off x="839" y="2265"/>
                    <a:ext cx="324" cy="324"/>
                  </a:xfrm>
                  <a:prstGeom prst="straightConnector1">
                    <a:avLst/>
                  </a:prstGeom>
                  <a:noFill/>
                  <a:ln cap="flat" cmpd="sng" w="9525">
                    <a:solidFill>
                      <a:schemeClr val="dk1"/>
                    </a:solidFill>
                    <a:prstDash val="solid"/>
                    <a:round/>
                    <a:headEnd len="med" w="med" type="none"/>
                    <a:tailEnd len="med" w="med" type="triangle"/>
                  </a:ln>
                </p:spPr>
              </p:cxnSp>
              <p:cxnSp>
                <p:nvCxnSpPr>
                  <p:cNvPr id="365" name="Google Shape;365;p33"/>
                  <p:cNvCxnSpPr/>
                  <p:nvPr/>
                </p:nvCxnSpPr>
                <p:spPr>
                  <a:xfrm>
                    <a:off x="1415" y="2259"/>
                    <a:ext cx="307" cy="307"/>
                  </a:xfrm>
                  <a:prstGeom prst="straightConnector1">
                    <a:avLst/>
                  </a:prstGeom>
                  <a:noFill/>
                  <a:ln cap="flat" cmpd="sng" w="9525">
                    <a:solidFill>
                      <a:schemeClr val="dk1"/>
                    </a:solidFill>
                    <a:prstDash val="solid"/>
                    <a:round/>
                    <a:headEnd len="med" w="med" type="none"/>
                    <a:tailEnd len="med" w="med" type="triangle"/>
                  </a:ln>
                </p:spPr>
              </p:cxnSp>
            </p:grpSp>
          </p:grpSp>
        </p:grpSp>
      </p:grpSp>
      <p:grpSp>
        <p:nvGrpSpPr>
          <p:cNvPr id="366" name="Google Shape;366;p33"/>
          <p:cNvGrpSpPr/>
          <p:nvPr/>
        </p:nvGrpSpPr>
        <p:grpSpPr>
          <a:xfrm>
            <a:off x="5995988" y="3943925"/>
            <a:ext cx="1555937" cy="1542168"/>
            <a:chOff x="2225" y="2953"/>
            <a:chExt cx="980" cy="971"/>
          </a:xfrm>
        </p:grpSpPr>
        <p:sp>
          <p:nvSpPr>
            <p:cNvPr id="367" name="Google Shape;367;p33"/>
            <p:cNvSpPr txBox="1"/>
            <p:nvPr/>
          </p:nvSpPr>
          <p:spPr>
            <a:xfrm>
              <a:off x="2225" y="3630"/>
              <a:ext cx="22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D</a:t>
              </a:r>
              <a:endParaRPr/>
            </a:p>
          </p:txBody>
        </p:sp>
        <p:grpSp>
          <p:nvGrpSpPr>
            <p:cNvPr id="368" name="Google Shape;368;p33"/>
            <p:cNvGrpSpPr/>
            <p:nvPr/>
          </p:nvGrpSpPr>
          <p:grpSpPr>
            <a:xfrm>
              <a:off x="2236" y="2953"/>
              <a:ext cx="970" cy="971"/>
              <a:chOff x="1313" y="3139"/>
              <a:chExt cx="760" cy="761"/>
            </a:xfrm>
          </p:grpSpPr>
          <p:sp>
            <p:nvSpPr>
              <p:cNvPr id="369" name="Google Shape;369;p33"/>
              <p:cNvSpPr/>
              <p:nvPr/>
            </p:nvSpPr>
            <p:spPr>
              <a:xfrm>
                <a:off x="1638" y="3457"/>
                <a:ext cx="115" cy="115"/>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370" name="Google Shape;370;p33"/>
              <p:cNvGrpSpPr/>
              <p:nvPr/>
            </p:nvGrpSpPr>
            <p:grpSpPr>
              <a:xfrm>
                <a:off x="1313" y="3139"/>
                <a:ext cx="760" cy="761"/>
                <a:chOff x="360" y="2607"/>
                <a:chExt cx="1660" cy="1663"/>
              </a:xfrm>
            </p:grpSpPr>
            <p:grpSp>
              <p:nvGrpSpPr>
                <p:cNvPr id="371" name="Google Shape;371;p33"/>
                <p:cNvGrpSpPr/>
                <p:nvPr/>
              </p:nvGrpSpPr>
              <p:grpSpPr>
                <a:xfrm>
                  <a:off x="562" y="2802"/>
                  <a:ext cx="1265" cy="1270"/>
                  <a:chOff x="654" y="1498"/>
                  <a:chExt cx="1265" cy="1270"/>
                </a:xfrm>
              </p:grpSpPr>
              <p:cxnSp>
                <p:nvCxnSpPr>
                  <p:cNvPr id="372" name="Google Shape;372;p33"/>
                  <p:cNvCxnSpPr/>
                  <p:nvPr/>
                </p:nvCxnSpPr>
                <p:spPr>
                  <a:xfrm>
                    <a:off x="1465" y="2136"/>
                    <a:ext cx="454" cy="0"/>
                  </a:xfrm>
                  <a:prstGeom prst="straightConnector1">
                    <a:avLst/>
                  </a:prstGeom>
                  <a:noFill/>
                  <a:ln cap="flat" cmpd="sng" w="9525">
                    <a:solidFill>
                      <a:schemeClr val="dk1"/>
                    </a:solidFill>
                    <a:prstDash val="solid"/>
                    <a:round/>
                    <a:headEnd len="med" w="med" type="triangle"/>
                    <a:tailEnd len="med" w="med" type="none"/>
                  </a:ln>
                </p:spPr>
              </p:cxnSp>
              <p:cxnSp>
                <p:nvCxnSpPr>
                  <p:cNvPr id="373" name="Google Shape;373;p33"/>
                  <p:cNvCxnSpPr/>
                  <p:nvPr/>
                </p:nvCxnSpPr>
                <p:spPr>
                  <a:xfrm rot="10800000">
                    <a:off x="1292" y="1498"/>
                    <a:ext cx="0" cy="459"/>
                  </a:xfrm>
                  <a:prstGeom prst="straightConnector1">
                    <a:avLst/>
                  </a:prstGeom>
                  <a:noFill/>
                  <a:ln cap="flat" cmpd="sng" w="9525">
                    <a:solidFill>
                      <a:schemeClr val="dk1"/>
                    </a:solidFill>
                    <a:prstDash val="solid"/>
                    <a:round/>
                    <a:headEnd len="med" w="med" type="triangle"/>
                    <a:tailEnd len="med" w="med" type="none"/>
                  </a:ln>
                </p:spPr>
              </p:cxnSp>
              <p:cxnSp>
                <p:nvCxnSpPr>
                  <p:cNvPr id="374" name="Google Shape;374;p33"/>
                  <p:cNvCxnSpPr/>
                  <p:nvPr/>
                </p:nvCxnSpPr>
                <p:spPr>
                  <a:xfrm rot="10800000">
                    <a:off x="654" y="2131"/>
                    <a:ext cx="459" cy="0"/>
                  </a:xfrm>
                  <a:prstGeom prst="straightConnector1">
                    <a:avLst/>
                  </a:prstGeom>
                  <a:noFill/>
                  <a:ln cap="flat" cmpd="sng" w="9525">
                    <a:solidFill>
                      <a:schemeClr val="dk1"/>
                    </a:solidFill>
                    <a:prstDash val="solid"/>
                    <a:round/>
                    <a:headEnd len="med" w="med" type="triangle"/>
                    <a:tailEnd len="med" w="med" type="none"/>
                  </a:ln>
                </p:spPr>
              </p:cxnSp>
              <p:cxnSp>
                <p:nvCxnSpPr>
                  <p:cNvPr id="375" name="Google Shape;375;p33"/>
                  <p:cNvCxnSpPr/>
                  <p:nvPr/>
                </p:nvCxnSpPr>
                <p:spPr>
                  <a:xfrm>
                    <a:off x="1292" y="2310"/>
                    <a:ext cx="0" cy="458"/>
                  </a:xfrm>
                  <a:prstGeom prst="straightConnector1">
                    <a:avLst/>
                  </a:prstGeom>
                  <a:noFill/>
                  <a:ln cap="flat" cmpd="sng" w="9525">
                    <a:solidFill>
                      <a:schemeClr val="dk1"/>
                    </a:solidFill>
                    <a:prstDash val="solid"/>
                    <a:round/>
                    <a:headEnd len="med" w="med" type="triangle"/>
                    <a:tailEnd len="med" w="med" type="none"/>
                  </a:ln>
                </p:spPr>
              </p:cxnSp>
              <p:cxnSp>
                <p:nvCxnSpPr>
                  <p:cNvPr id="376" name="Google Shape;376;p33"/>
                  <p:cNvCxnSpPr/>
                  <p:nvPr/>
                </p:nvCxnSpPr>
                <p:spPr>
                  <a:xfrm flipH="1" rot="10800000">
                    <a:off x="1415" y="1689"/>
                    <a:ext cx="319" cy="319"/>
                  </a:xfrm>
                  <a:prstGeom prst="straightConnector1">
                    <a:avLst/>
                  </a:prstGeom>
                  <a:noFill/>
                  <a:ln cap="flat" cmpd="sng" w="9525">
                    <a:solidFill>
                      <a:schemeClr val="dk1"/>
                    </a:solidFill>
                    <a:prstDash val="solid"/>
                    <a:round/>
                    <a:headEnd len="med" w="med" type="triangle"/>
                    <a:tailEnd len="med" w="med" type="none"/>
                  </a:ln>
                </p:spPr>
              </p:cxnSp>
              <p:cxnSp>
                <p:nvCxnSpPr>
                  <p:cNvPr id="377" name="Google Shape;377;p33"/>
                  <p:cNvCxnSpPr/>
                  <p:nvPr/>
                </p:nvCxnSpPr>
                <p:spPr>
                  <a:xfrm rot="10800000">
                    <a:off x="844" y="1683"/>
                    <a:ext cx="319" cy="319"/>
                  </a:xfrm>
                  <a:prstGeom prst="straightConnector1">
                    <a:avLst/>
                  </a:prstGeom>
                  <a:noFill/>
                  <a:ln cap="flat" cmpd="sng" w="9525">
                    <a:solidFill>
                      <a:schemeClr val="dk1"/>
                    </a:solidFill>
                    <a:prstDash val="solid"/>
                    <a:round/>
                    <a:headEnd len="med" w="med" type="triangle"/>
                    <a:tailEnd len="med" w="med" type="none"/>
                  </a:ln>
                </p:spPr>
              </p:cxnSp>
              <p:cxnSp>
                <p:nvCxnSpPr>
                  <p:cNvPr id="378" name="Google Shape;378;p33"/>
                  <p:cNvCxnSpPr/>
                  <p:nvPr/>
                </p:nvCxnSpPr>
                <p:spPr>
                  <a:xfrm flipH="1">
                    <a:off x="839" y="2265"/>
                    <a:ext cx="324" cy="324"/>
                  </a:xfrm>
                  <a:prstGeom prst="straightConnector1">
                    <a:avLst/>
                  </a:prstGeom>
                  <a:noFill/>
                  <a:ln cap="flat" cmpd="sng" w="9525">
                    <a:solidFill>
                      <a:schemeClr val="dk1"/>
                    </a:solidFill>
                    <a:prstDash val="solid"/>
                    <a:round/>
                    <a:headEnd len="med" w="med" type="triangle"/>
                    <a:tailEnd len="med" w="med" type="none"/>
                  </a:ln>
                </p:spPr>
              </p:cxnSp>
              <p:cxnSp>
                <p:nvCxnSpPr>
                  <p:cNvPr id="379" name="Google Shape;379;p33"/>
                  <p:cNvCxnSpPr/>
                  <p:nvPr/>
                </p:nvCxnSpPr>
                <p:spPr>
                  <a:xfrm>
                    <a:off x="1415" y="2259"/>
                    <a:ext cx="307" cy="307"/>
                  </a:xfrm>
                  <a:prstGeom prst="straightConnector1">
                    <a:avLst/>
                  </a:prstGeom>
                  <a:noFill/>
                  <a:ln cap="flat" cmpd="sng" w="9525">
                    <a:solidFill>
                      <a:schemeClr val="dk1"/>
                    </a:solidFill>
                    <a:prstDash val="solid"/>
                    <a:round/>
                    <a:headEnd len="med" w="med" type="triangle"/>
                    <a:tailEnd len="med" w="med" type="none"/>
                  </a:ln>
                </p:spPr>
              </p:cxnSp>
            </p:grpSp>
            <p:grpSp>
              <p:nvGrpSpPr>
                <p:cNvPr id="380" name="Google Shape;380;p33"/>
                <p:cNvGrpSpPr/>
                <p:nvPr/>
              </p:nvGrpSpPr>
              <p:grpSpPr>
                <a:xfrm rot="1378846">
                  <a:off x="558" y="2804"/>
                  <a:ext cx="1265" cy="1270"/>
                  <a:chOff x="654" y="1498"/>
                  <a:chExt cx="1265" cy="1270"/>
                </a:xfrm>
              </p:grpSpPr>
              <p:cxnSp>
                <p:nvCxnSpPr>
                  <p:cNvPr id="381" name="Google Shape;381;p33"/>
                  <p:cNvCxnSpPr/>
                  <p:nvPr/>
                </p:nvCxnSpPr>
                <p:spPr>
                  <a:xfrm>
                    <a:off x="1465" y="2136"/>
                    <a:ext cx="454" cy="0"/>
                  </a:xfrm>
                  <a:prstGeom prst="straightConnector1">
                    <a:avLst/>
                  </a:prstGeom>
                  <a:noFill/>
                  <a:ln cap="flat" cmpd="sng" w="9525">
                    <a:solidFill>
                      <a:schemeClr val="dk1"/>
                    </a:solidFill>
                    <a:prstDash val="solid"/>
                    <a:round/>
                    <a:headEnd len="med" w="med" type="triangle"/>
                    <a:tailEnd len="med" w="med" type="none"/>
                  </a:ln>
                </p:spPr>
              </p:cxnSp>
              <p:cxnSp>
                <p:nvCxnSpPr>
                  <p:cNvPr id="382" name="Google Shape;382;p33"/>
                  <p:cNvCxnSpPr/>
                  <p:nvPr/>
                </p:nvCxnSpPr>
                <p:spPr>
                  <a:xfrm rot="10800000">
                    <a:off x="1292" y="1498"/>
                    <a:ext cx="0" cy="459"/>
                  </a:xfrm>
                  <a:prstGeom prst="straightConnector1">
                    <a:avLst/>
                  </a:prstGeom>
                  <a:noFill/>
                  <a:ln cap="flat" cmpd="sng" w="9525">
                    <a:solidFill>
                      <a:schemeClr val="dk1"/>
                    </a:solidFill>
                    <a:prstDash val="solid"/>
                    <a:round/>
                    <a:headEnd len="med" w="med" type="triangle"/>
                    <a:tailEnd len="med" w="med" type="none"/>
                  </a:ln>
                </p:spPr>
              </p:cxnSp>
              <p:cxnSp>
                <p:nvCxnSpPr>
                  <p:cNvPr id="383" name="Google Shape;383;p33"/>
                  <p:cNvCxnSpPr/>
                  <p:nvPr/>
                </p:nvCxnSpPr>
                <p:spPr>
                  <a:xfrm rot="10800000">
                    <a:off x="654" y="2131"/>
                    <a:ext cx="459" cy="0"/>
                  </a:xfrm>
                  <a:prstGeom prst="straightConnector1">
                    <a:avLst/>
                  </a:prstGeom>
                  <a:noFill/>
                  <a:ln cap="flat" cmpd="sng" w="9525">
                    <a:solidFill>
                      <a:schemeClr val="dk1"/>
                    </a:solidFill>
                    <a:prstDash val="solid"/>
                    <a:round/>
                    <a:headEnd len="med" w="med" type="triangle"/>
                    <a:tailEnd len="med" w="med" type="none"/>
                  </a:ln>
                </p:spPr>
              </p:cxnSp>
              <p:cxnSp>
                <p:nvCxnSpPr>
                  <p:cNvPr id="384" name="Google Shape;384;p33"/>
                  <p:cNvCxnSpPr/>
                  <p:nvPr/>
                </p:nvCxnSpPr>
                <p:spPr>
                  <a:xfrm>
                    <a:off x="1292" y="2310"/>
                    <a:ext cx="0" cy="458"/>
                  </a:xfrm>
                  <a:prstGeom prst="straightConnector1">
                    <a:avLst/>
                  </a:prstGeom>
                  <a:noFill/>
                  <a:ln cap="flat" cmpd="sng" w="9525">
                    <a:solidFill>
                      <a:schemeClr val="dk1"/>
                    </a:solidFill>
                    <a:prstDash val="solid"/>
                    <a:round/>
                    <a:headEnd len="med" w="med" type="triangle"/>
                    <a:tailEnd len="med" w="med" type="none"/>
                  </a:ln>
                </p:spPr>
              </p:cxnSp>
              <p:cxnSp>
                <p:nvCxnSpPr>
                  <p:cNvPr id="385" name="Google Shape;385;p33"/>
                  <p:cNvCxnSpPr/>
                  <p:nvPr/>
                </p:nvCxnSpPr>
                <p:spPr>
                  <a:xfrm flipH="1" rot="10800000">
                    <a:off x="1415" y="1689"/>
                    <a:ext cx="319" cy="319"/>
                  </a:xfrm>
                  <a:prstGeom prst="straightConnector1">
                    <a:avLst/>
                  </a:prstGeom>
                  <a:noFill/>
                  <a:ln cap="flat" cmpd="sng" w="9525">
                    <a:solidFill>
                      <a:schemeClr val="dk1"/>
                    </a:solidFill>
                    <a:prstDash val="solid"/>
                    <a:round/>
                    <a:headEnd len="med" w="med" type="triangle"/>
                    <a:tailEnd len="med" w="med" type="none"/>
                  </a:ln>
                </p:spPr>
              </p:cxnSp>
              <p:cxnSp>
                <p:nvCxnSpPr>
                  <p:cNvPr id="386" name="Google Shape;386;p33"/>
                  <p:cNvCxnSpPr/>
                  <p:nvPr/>
                </p:nvCxnSpPr>
                <p:spPr>
                  <a:xfrm rot="10800000">
                    <a:off x="844" y="1683"/>
                    <a:ext cx="319" cy="319"/>
                  </a:xfrm>
                  <a:prstGeom prst="straightConnector1">
                    <a:avLst/>
                  </a:prstGeom>
                  <a:noFill/>
                  <a:ln cap="flat" cmpd="sng" w="9525">
                    <a:solidFill>
                      <a:schemeClr val="dk1"/>
                    </a:solidFill>
                    <a:prstDash val="solid"/>
                    <a:round/>
                    <a:headEnd len="med" w="med" type="triangle"/>
                    <a:tailEnd len="med" w="med" type="none"/>
                  </a:ln>
                </p:spPr>
              </p:cxnSp>
              <p:cxnSp>
                <p:nvCxnSpPr>
                  <p:cNvPr id="387" name="Google Shape;387;p33"/>
                  <p:cNvCxnSpPr/>
                  <p:nvPr/>
                </p:nvCxnSpPr>
                <p:spPr>
                  <a:xfrm flipH="1">
                    <a:off x="839" y="2265"/>
                    <a:ext cx="324" cy="324"/>
                  </a:xfrm>
                  <a:prstGeom prst="straightConnector1">
                    <a:avLst/>
                  </a:prstGeom>
                  <a:noFill/>
                  <a:ln cap="flat" cmpd="sng" w="9525">
                    <a:solidFill>
                      <a:schemeClr val="dk1"/>
                    </a:solidFill>
                    <a:prstDash val="solid"/>
                    <a:round/>
                    <a:headEnd len="med" w="med" type="triangle"/>
                    <a:tailEnd len="med" w="med" type="none"/>
                  </a:ln>
                </p:spPr>
              </p:cxnSp>
              <p:cxnSp>
                <p:nvCxnSpPr>
                  <p:cNvPr id="388" name="Google Shape;388;p33"/>
                  <p:cNvCxnSpPr/>
                  <p:nvPr/>
                </p:nvCxnSpPr>
                <p:spPr>
                  <a:xfrm>
                    <a:off x="1415" y="2259"/>
                    <a:ext cx="307" cy="307"/>
                  </a:xfrm>
                  <a:prstGeom prst="straightConnector1">
                    <a:avLst/>
                  </a:prstGeom>
                  <a:noFill/>
                  <a:ln cap="flat" cmpd="sng" w="9525">
                    <a:solidFill>
                      <a:schemeClr val="dk1"/>
                    </a:solidFill>
                    <a:prstDash val="solid"/>
                    <a:round/>
                    <a:headEnd len="med" w="med" type="triangle"/>
                    <a:tailEnd len="med" w="med" type="none"/>
                  </a:ln>
                </p:spPr>
              </p:cxnSp>
            </p:grpSp>
          </p:grpSp>
        </p:grpSp>
      </p:grpSp>
      <p:grpSp>
        <p:nvGrpSpPr>
          <p:cNvPr id="389" name="Google Shape;389;p33"/>
          <p:cNvGrpSpPr/>
          <p:nvPr/>
        </p:nvGrpSpPr>
        <p:grpSpPr>
          <a:xfrm>
            <a:off x="7440613" y="2797175"/>
            <a:ext cx="1290637" cy="1222375"/>
            <a:chOff x="3151" y="1730"/>
            <a:chExt cx="813" cy="770"/>
          </a:xfrm>
        </p:grpSpPr>
        <p:sp>
          <p:nvSpPr>
            <p:cNvPr id="390" name="Google Shape;390;p33"/>
            <p:cNvSpPr txBox="1"/>
            <p:nvPr/>
          </p:nvSpPr>
          <p:spPr>
            <a:xfrm>
              <a:off x="3151" y="2269"/>
              <a:ext cx="212"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B</a:t>
              </a:r>
              <a:endParaRPr/>
            </a:p>
          </p:txBody>
        </p:sp>
        <p:grpSp>
          <p:nvGrpSpPr>
            <p:cNvPr id="391" name="Google Shape;391;p33"/>
            <p:cNvGrpSpPr/>
            <p:nvPr/>
          </p:nvGrpSpPr>
          <p:grpSpPr>
            <a:xfrm>
              <a:off x="3225" y="1730"/>
              <a:ext cx="739" cy="741"/>
              <a:chOff x="2846" y="1890"/>
              <a:chExt cx="579" cy="581"/>
            </a:xfrm>
          </p:grpSpPr>
          <p:sp>
            <p:nvSpPr>
              <p:cNvPr id="392" name="Google Shape;392;p33"/>
              <p:cNvSpPr/>
              <p:nvPr/>
            </p:nvSpPr>
            <p:spPr>
              <a:xfrm>
                <a:off x="3074" y="2120"/>
                <a:ext cx="115" cy="115"/>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393" name="Google Shape;393;p33"/>
              <p:cNvGrpSpPr/>
              <p:nvPr/>
            </p:nvGrpSpPr>
            <p:grpSpPr>
              <a:xfrm>
                <a:off x="2846" y="1890"/>
                <a:ext cx="579" cy="581"/>
                <a:chOff x="654" y="1498"/>
                <a:chExt cx="1265" cy="1270"/>
              </a:xfrm>
            </p:grpSpPr>
            <p:cxnSp>
              <p:nvCxnSpPr>
                <p:cNvPr id="394" name="Google Shape;394;p33"/>
                <p:cNvCxnSpPr/>
                <p:nvPr/>
              </p:nvCxnSpPr>
              <p:spPr>
                <a:xfrm>
                  <a:off x="1465" y="2136"/>
                  <a:ext cx="454" cy="0"/>
                </a:xfrm>
                <a:prstGeom prst="straightConnector1">
                  <a:avLst/>
                </a:prstGeom>
                <a:noFill/>
                <a:ln cap="flat" cmpd="sng" w="9525">
                  <a:solidFill>
                    <a:schemeClr val="dk1"/>
                  </a:solidFill>
                  <a:prstDash val="solid"/>
                  <a:round/>
                  <a:headEnd len="med" w="med" type="triangle"/>
                  <a:tailEnd len="med" w="med" type="none"/>
                </a:ln>
              </p:spPr>
            </p:cxnSp>
            <p:cxnSp>
              <p:nvCxnSpPr>
                <p:cNvPr id="395" name="Google Shape;395;p33"/>
                <p:cNvCxnSpPr/>
                <p:nvPr/>
              </p:nvCxnSpPr>
              <p:spPr>
                <a:xfrm rot="10800000">
                  <a:off x="1292" y="1498"/>
                  <a:ext cx="0" cy="459"/>
                </a:xfrm>
                <a:prstGeom prst="straightConnector1">
                  <a:avLst/>
                </a:prstGeom>
                <a:noFill/>
                <a:ln cap="flat" cmpd="sng" w="9525">
                  <a:solidFill>
                    <a:schemeClr val="dk1"/>
                  </a:solidFill>
                  <a:prstDash val="solid"/>
                  <a:round/>
                  <a:headEnd len="med" w="med" type="triangle"/>
                  <a:tailEnd len="med" w="med" type="none"/>
                </a:ln>
              </p:spPr>
            </p:cxnSp>
            <p:cxnSp>
              <p:nvCxnSpPr>
                <p:cNvPr id="396" name="Google Shape;396;p33"/>
                <p:cNvCxnSpPr/>
                <p:nvPr/>
              </p:nvCxnSpPr>
              <p:spPr>
                <a:xfrm rot="10800000">
                  <a:off x="654" y="2131"/>
                  <a:ext cx="459" cy="0"/>
                </a:xfrm>
                <a:prstGeom prst="straightConnector1">
                  <a:avLst/>
                </a:prstGeom>
                <a:noFill/>
                <a:ln cap="flat" cmpd="sng" w="9525">
                  <a:solidFill>
                    <a:schemeClr val="dk1"/>
                  </a:solidFill>
                  <a:prstDash val="solid"/>
                  <a:round/>
                  <a:headEnd len="med" w="med" type="triangle"/>
                  <a:tailEnd len="med" w="med" type="none"/>
                </a:ln>
              </p:spPr>
            </p:cxnSp>
            <p:cxnSp>
              <p:nvCxnSpPr>
                <p:cNvPr id="397" name="Google Shape;397;p33"/>
                <p:cNvCxnSpPr/>
                <p:nvPr/>
              </p:nvCxnSpPr>
              <p:spPr>
                <a:xfrm>
                  <a:off x="1292" y="2310"/>
                  <a:ext cx="0" cy="458"/>
                </a:xfrm>
                <a:prstGeom prst="straightConnector1">
                  <a:avLst/>
                </a:prstGeom>
                <a:noFill/>
                <a:ln cap="flat" cmpd="sng" w="9525">
                  <a:solidFill>
                    <a:schemeClr val="dk1"/>
                  </a:solidFill>
                  <a:prstDash val="solid"/>
                  <a:round/>
                  <a:headEnd len="med" w="med" type="triangle"/>
                  <a:tailEnd len="med" w="med" type="none"/>
                </a:ln>
              </p:spPr>
            </p:cxnSp>
            <p:cxnSp>
              <p:nvCxnSpPr>
                <p:cNvPr id="398" name="Google Shape;398;p33"/>
                <p:cNvCxnSpPr/>
                <p:nvPr/>
              </p:nvCxnSpPr>
              <p:spPr>
                <a:xfrm flipH="1" rot="10800000">
                  <a:off x="1415" y="1689"/>
                  <a:ext cx="319" cy="319"/>
                </a:xfrm>
                <a:prstGeom prst="straightConnector1">
                  <a:avLst/>
                </a:prstGeom>
                <a:noFill/>
                <a:ln cap="flat" cmpd="sng" w="9525">
                  <a:solidFill>
                    <a:schemeClr val="dk1"/>
                  </a:solidFill>
                  <a:prstDash val="solid"/>
                  <a:round/>
                  <a:headEnd len="med" w="med" type="triangle"/>
                  <a:tailEnd len="med" w="med" type="none"/>
                </a:ln>
              </p:spPr>
            </p:cxnSp>
            <p:cxnSp>
              <p:nvCxnSpPr>
                <p:cNvPr id="399" name="Google Shape;399;p33"/>
                <p:cNvCxnSpPr/>
                <p:nvPr/>
              </p:nvCxnSpPr>
              <p:spPr>
                <a:xfrm rot="10800000">
                  <a:off x="844" y="1683"/>
                  <a:ext cx="319" cy="319"/>
                </a:xfrm>
                <a:prstGeom prst="straightConnector1">
                  <a:avLst/>
                </a:prstGeom>
                <a:noFill/>
                <a:ln cap="flat" cmpd="sng" w="9525">
                  <a:solidFill>
                    <a:schemeClr val="dk1"/>
                  </a:solidFill>
                  <a:prstDash val="solid"/>
                  <a:round/>
                  <a:headEnd len="med" w="med" type="triangle"/>
                  <a:tailEnd len="med" w="med" type="none"/>
                </a:ln>
              </p:spPr>
            </p:cxnSp>
            <p:cxnSp>
              <p:nvCxnSpPr>
                <p:cNvPr id="400" name="Google Shape;400;p33"/>
                <p:cNvCxnSpPr/>
                <p:nvPr/>
              </p:nvCxnSpPr>
              <p:spPr>
                <a:xfrm flipH="1">
                  <a:off x="839" y="2265"/>
                  <a:ext cx="324" cy="324"/>
                </a:xfrm>
                <a:prstGeom prst="straightConnector1">
                  <a:avLst/>
                </a:prstGeom>
                <a:noFill/>
                <a:ln cap="flat" cmpd="sng" w="9525">
                  <a:solidFill>
                    <a:schemeClr val="dk1"/>
                  </a:solidFill>
                  <a:prstDash val="solid"/>
                  <a:round/>
                  <a:headEnd len="med" w="med" type="triangle"/>
                  <a:tailEnd len="med" w="med" type="none"/>
                </a:ln>
              </p:spPr>
            </p:cxnSp>
            <p:cxnSp>
              <p:nvCxnSpPr>
                <p:cNvPr id="401" name="Google Shape;401;p33"/>
                <p:cNvCxnSpPr/>
                <p:nvPr/>
              </p:nvCxnSpPr>
              <p:spPr>
                <a:xfrm>
                  <a:off x="1415" y="2259"/>
                  <a:ext cx="307" cy="307"/>
                </a:xfrm>
                <a:prstGeom prst="straightConnector1">
                  <a:avLst/>
                </a:prstGeom>
                <a:noFill/>
                <a:ln cap="flat" cmpd="sng" w="9525">
                  <a:solidFill>
                    <a:schemeClr val="dk1"/>
                  </a:solidFill>
                  <a:prstDash val="solid"/>
                  <a:round/>
                  <a:headEnd len="med" w="med" type="triangle"/>
                  <a:tailEnd len="med" w="med" type="none"/>
                </a:ln>
              </p:spPr>
            </p:cxnSp>
          </p:grpSp>
        </p:grpSp>
      </p:grpSp>
      <p:grpSp>
        <p:nvGrpSpPr>
          <p:cNvPr id="402" name="Google Shape;402;p33"/>
          <p:cNvGrpSpPr/>
          <p:nvPr/>
        </p:nvGrpSpPr>
        <p:grpSpPr>
          <a:xfrm>
            <a:off x="7491413" y="4116388"/>
            <a:ext cx="1254125" cy="1214437"/>
            <a:chOff x="4046" y="1727"/>
            <a:chExt cx="790" cy="765"/>
          </a:xfrm>
        </p:grpSpPr>
        <p:sp>
          <p:nvSpPr>
            <p:cNvPr id="403" name="Google Shape;403;p33"/>
            <p:cNvSpPr txBox="1"/>
            <p:nvPr/>
          </p:nvSpPr>
          <p:spPr>
            <a:xfrm>
              <a:off x="4046" y="2261"/>
              <a:ext cx="22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C</a:t>
              </a:r>
              <a:endParaRPr/>
            </a:p>
          </p:txBody>
        </p:sp>
        <p:grpSp>
          <p:nvGrpSpPr>
            <p:cNvPr id="404" name="Google Shape;404;p33"/>
            <p:cNvGrpSpPr/>
            <p:nvPr/>
          </p:nvGrpSpPr>
          <p:grpSpPr>
            <a:xfrm>
              <a:off x="4097" y="1727"/>
              <a:ext cx="739" cy="741"/>
              <a:chOff x="4257" y="1887"/>
              <a:chExt cx="579" cy="581"/>
            </a:xfrm>
          </p:grpSpPr>
          <p:sp>
            <p:nvSpPr>
              <p:cNvPr id="405" name="Google Shape;405;p33"/>
              <p:cNvSpPr/>
              <p:nvPr/>
            </p:nvSpPr>
            <p:spPr>
              <a:xfrm>
                <a:off x="4491" y="2125"/>
                <a:ext cx="115" cy="115"/>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406" name="Google Shape;406;p33"/>
              <p:cNvGrpSpPr/>
              <p:nvPr/>
            </p:nvGrpSpPr>
            <p:grpSpPr>
              <a:xfrm>
                <a:off x="4257" y="1887"/>
                <a:ext cx="579" cy="581"/>
                <a:chOff x="2332" y="2940"/>
                <a:chExt cx="1265" cy="1270"/>
              </a:xfrm>
            </p:grpSpPr>
            <p:cxnSp>
              <p:nvCxnSpPr>
                <p:cNvPr id="407" name="Google Shape;407;p33"/>
                <p:cNvCxnSpPr/>
                <p:nvPr/>
              </p:nvCxnSpPr>
              <p:spPr>
                <a:xfrm>
                  <a:off x="3143" y="3578"/>
                  <a:ext cx="454" cy="0"/>
                </a:xfrm>
                <a:prstGeom prst="straightConnector1">
                  <a:avLst/>
                </a:prstGeom>
                <a:noFill/>
                <a:ln cap="flat" cmpd="sng" w="9525">
                  <a:solidFill>
                    <a:schemeClr val="dk1"/>
                  </a:solidFill>
                  <a:prstDash val="solid"/>
                  <a:round/>
                  <a:headEnd len="med" w="med" type="triangle"/>
                  <a:tailEnd len="med" w="med" type="none"/>
                </a:ln>
              </p:spPr>
            </p:cxnSp>
            <p:cxnSp>
              <p:nvCxnSpPr>
                <p:cNvPr id="408" name="Google Shape;408;p33"/>
                <p:cNvCxnSpPr/>
                <p:nvPr/>
              </p:nvCxnSpPr>
              <p:spPr>
                <a:xfrm rot="10800000">
                  <a:off x="2970" y="2940"/>
                  <a:ext cx="0" cy="459"/>
                </a:xfrm>
                <a:prstGeom prst="straightConnector1">
                  <a:avLst/>
                </a:prstGeom>
                <a:noFill/>
                <a:ln cap="flat" cmpd="sng" w="9525">
                  <a:solidFill>
                    <a:schemeClr val="dk1"/>
                  </a:solidFill>
                  <a:prstDash val="solid"/>
                  <a:round/>
                  <a:headEnd len="med" w="med" type="triangle"/>
                  <a:tailEnd len="med" w="med" type="none"/>
                </a:ln>
              </p:spPr>
            </p:cxnSp>
            <p:cxnSp>
              <p:nvCxnSpPr>
                <p:cNvPr id="409" name="Google Shape;409;p33"/>
                <p:cNvCxnSpPr/>
                <p:nvPr/>
              </p:nvCxnSpPr>
              <p:spPr>
                <a:xfrm rot="10800000">
                  <a:off x="2332" y="3573"/>
                  <a:ext cx="459" cy="0"/>
                </a:xfrm>
                <a:prstGeom prst="straightConnector1">
                  <a:avLst/>
                </a:prstGeom>
                <a:noFill/>
                <a:ln cap="flat" cmpd="sng" w="9525">
                  <a:solidFill>
                    <a:schemeClr val="dk1"/>
                  </a:solidFill>
                  <a:prstDash val="solid"/>
                  <a:round/>
                  <a:headEnd len="med" w="med" type="triangle"/>
                  <a:tailEnd len="med" w="med" type="none"/>
                </a:ln>
              </p:spPr>
            </p:cxnSp>
            <p:cxnSp>
              <p:nvCxnSpPr>
                <p:cNvPr id="410" name="Google Shape;410;p33"/>
                <p:cNvCxnSpPr/>
                <p:nvPr/>
              </p:nvCxnSpPr>
              <p:spPr>
                <a:xfrm>
                  <a:off x="2970" y="3752"/>
                  <a:ext cx="0" cy="458"/>
                </a:xfrm>
                <a:prstGeom prst="straightConnector1">
                  <a:avLst/>
                </a:prstGeom>
                <a:noFill/>
                <a:ln cap="flat" cmpd="sng" w="9525">
                  <a:solidFill>
                    <a:schemeClr val="dk1"/>
                  </a:solidFill>
                  <a:prstDash val="solid"/>
                  <a:round/>
                  <a:headEnd len="med" w="med" type="triangle"/>
                  <a:tailEnd len="med" w="med" type="none"/>
                </a:ln>
              </p:spPr>
            </p:cxnSp>
          </p:grpSp>
        </p:grpSp>
      </p:grpSp>
      <p:grpSp>
        <p:nvGrpSpPr>
          <p:cNvPr id="411" name="Google Shape;411;p33"/>
          <p:cNvGrpSpPr/>
          <p:nvPr/>
        </p:nvGrpSpPr>
        <p:grpSpPr>
          <a:xfrm>
            <a:off x="6132513" y="5472113"/>
            <a:ext cx="1239837" cy="1257300"/>
            <a:chOff x="3175" y="3074"/>
            <a:chExt cx="781" cy="792"/>
          </a:xfrm>
        </p:grpSpPr>
        <p:grpSp>
          <p:nvGrpSpPr>
            <p:cNvPr id="412" name="Google Shape;412;p33"/>
            <p:cNvGrpSpPr/>
            <p:nvPr/>
          </p:nvGrpSpPr>
          <p:grpSpPr>
            <a:xfrm>
              <a:off x="3217" y="3074"/>
              <a:ext cx="739" cy="741"/>
              <a:chOff x="2838" y="3234"/>
              <a:chExt cx="579" cy="581"/>
            </a:xfrm>
          </p:grpSpPr>
          <p:grpSp>
            <p:nvGrpSpPr>
              <p:cNvPr id="413" name="Google Shape;413;p33"/>
              <p:cNvGrpSpPr/>
              <p:nvPr/>
            </p:nvGrpSpPr>
            <p:grpSpPr>
              <a:xfrm>
                <a:off x="2838" y="3234"/>
                <a:ext cx="579" cy="581"/>
                <a:chOff x="2332" y="2940"/>
                <a:chExt cx="1265" cy="1270"/>
              </a:xfrm>
            </p:grpSpPr>
            <p:cxnSp>
              <p:nvCxnSpPr>
                <p:cNvPr id="414" name="Google Shape;414;p33"/>
                <p:cNvCxnSpPr/>
                <p:nvPr/>
              </p:nvCxnSpPr>
              <p:spPr>
                <a:xfrm>
                  <a:off x="3143" y="3578"/>
                  <a:ext cx="454" cy="0"/>
                </a:xfrm>
                <a:prstGeom prst="straightConnector1">
                  <a:avLst/>
                </a:prstGeom>
                <a:noFill/>
                <a:ln cap="flat" cmpd="sng" w="9525">
                  <a:solidFill>
                    <a:schemeClr val="dk1"/>
                  </a:solidFill>
                  <a:prstDash val="solid"/>
                  <a:round/>
                  <a:headEnd len="med" w="med" type="none"/>
                  <a:tailEnd len="med" w="med" type="triangle"/>
                </a:ln>
              </p:spPr>
            </p:cxnSp>
            <p:cxnSp>
              <p:nvCxnSpPr>
                <p:cNvPr id="415" name="Google Shape;415;p33"/>
                <p:cNvCxnSpPr/>
                <p:nvPr/>
              </p:nvCxnSpPr>
              <p:spPr>
                <a:xfrm rot="10800000">
                  <a:off x="2970" y="2940"/>
                  <a:ext cx="0" cy="459"/>
                </a:xfrm>
                <a:prstGeom prst="straightConnector1">
                  <a:avLst/>
                </a:prstGeom>
                <a:noFill/>
                <a:ln cap="flat" cmpd="sng" w="9525">
                  <a:solidFill>
                    <a:schemeClr val="dk1"/>
                  </a:solidFill>
                  <a:prstDash val="solid"/>
                  <a:round/>
                  <a:headEnd len="med" w="med" type="none"/>
                  <a:tailEnd len="med" w="med" type="triangle"/>
                </a:ln>
              </p:spPr>
            </p:cxnSp>
            <p:cxnSp>
              <p:nvCxnSpPr>
                <p:cNvPr id="416" name="Google Shape;416;p33"/>
                <p:cNvCxnSpPr/>
                <p:nvPr/>
              </p:nvCxnSpPr>
              <p:spPr>
                <a:xfrm rot="10800000">
                  <a:off x="2332" y="3573"/>
                  <a:ext cx="459" cy="0"/>
                </a:xfrm>
                <a:prstGeom prst="straightConnector1">
                  <a:avLst/>
                </a:prstGeom>
                <a:noFill/>
                <a:ln cap="flat" cmpd="sng" w="9525">
                  <a:solidFill>
                    <a:schemeClr val="dk1"/>
                  </a:solidFill>
                  <a:prstDash val="solid"/>
                  <a:round/>
                  <a:headEnd len="med" w="med" type="none"/>
                  <a:tailEnd len="med" w="med" type="triangle"/>
                </a:ln>
              </p:spPr>
            </p:cxnSp>
            <p:cxnSp>
              <p:nvCxnSpPr>
                <p:cNvPr id="417" name="Google Shape;417;p33"/>
                <p:cNvCxnSpPr/>
                <p:nvPr/>
              </p:nvCxnSpPr>
              <p:spPr>
                <a:xfrm>
                  <a:off x="2970" y="3752"/>
                  <a:ext cx="0" cy="458"/>
                </a:xfrm>
                <a:prstGeom prst="straightConnector1">
                  <a:avLst/>
                </a:prstGeom>
                <a:noFill/>
                <a:ln cap="flat" cmpd="sng" w="9525">
                  <a:solidFill>
                    <a:schemeClr val="dk1"/>
                  </a:solidFill>
                  <a:prstDash val="solid"/>
                  <a:round/>
                  <a:headEnd len="med" w="med" type="none"/>
                  <a:tailEnd len="med" w="med" type="triangle"/>
                </a:ln>
              </p:spPr>
            </p:cxnSp>
          </p:grpSp>
          <p:sp>
            <p:nvSpPr>
              <p:cNvPr id="418" name="Google Shape;418;p33"/>
              <p:cNvSpPr/>
              <p:nvPr/>
            </p:nvSpPr>
            <p:spPr>
              <a:xfrm>
                <a:off x="3069" y="3469"/>
                <a:ext cx="115" cy="115"/>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grpSp>
        <p:sp>
          <p:nvSpPr>
            <p:cNvPr id="419" name="Google Shape;419;p33"/>
            <p:cNvSpPr txBox="1"/>
            <p:nvPr/>
          </p:nvSpPr>
          <p:spPr>
            <a:xfrm>
              <a:off x="3175" y="3635"/>
              <a:ext cx="212"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E</a:t>
              </a:r>
              <a:endParaRPr/>
            </a:p>
          </p:txBody>
        </p:sp>
      </p:grpSp>
      <p:grpSp>
        <p:nvGrpSpPr>
          <p:cNvPr id="420" name="Google Shape;420;p33"/>
          <p:cNvGrpSpPr/>
          <p:nvPr/>
        </p:nvGrpSpPr>
        <p:grpSpPr>
          <a:xfrm>
            <a:off x="7469188" y="5499100"/>
            <a:ext cx="1301750" cy="1244600"/>
            <a:chOff x="4017" y="3091"/>
            <a:chExt cx="820" cy="784"/>
          </a:xfrm>
        </p:grpSpPr>
        <p:grpSp>
          <p:nvGrpSpPr>
            <p:cNvPr id="421" name="Google Shape;421;p33"/>
            <p:cNvGrpSpPr/>
            <p:nvPr/>
          </p:nvGrpSpPr>
          <p:grpSpPr>
            <a:xfrm>
              <a:off x="4098" y="3091"/>
              <a:ext cx="739" cy="741"/>
              <a:chOff x="4258" y="3251"/>
              <a:chExt cx="579" cy="581"/>
            </a:xfrm>
          </p:grpSpPr>
          <p:grpSp>
            <p:nvGrpSpPr>
              <p:cNvPr id="422" name="Google Shape;422;p33"/>
              <p:cNvGrpSpPr/>
              <p:nvPr/>
            </p:nvGrpSpPr>
            <p:grpSpPr>
              <a:xfrm>
                <a:off x="4258" y="3251"/>
                <a:ext cx="579" cy="581"/>
                <a:chOff x="654" y="1498"/>
                <a:chExt cx="1265" cy="1270"/>
              </a:xfrm>
            </p:grpSpPr>
            <p:cxnSp>
              <p:nvCxnSpPr>
                <p:cNvPr id="423" name="Google Shape;423;p33"/>
                <p:cNvCxnSpPr/>
                <p:nvPr/>
              </p:nvCxnSpPr>
              <p:spPr>
                <a:xfrm>
                  <a:off x="1465" y="2136"/>
                  <a:ext cx="454" cy="0"/>
                </a:xfrm>
                <a:prstGeom prst="straightConnector1">
                  <a:avLst/>
                </a:prstGeom>
                <a:noFill/>
                <a:ln cap="flat" cmpd="sng" w="9525">
                  <a:solidFill>
                    <a:schemeClr val="dk1"/>
                  </a:solidFill>
                  <a:prstDash val="solid"/>
                  <a:round/>
                  <a:headEnd len="med" w="med" type="none"/>
                  <a:tailEnd len="med" w="med" type="triangle"/>
                </a:ln>
              </p:spPr>
            </p:cxnSp>
            <p:cxnSp>
              <p:nvCxnSpPr>
                <p:cNvPr id="424" name="Google Shape;424;p33"/>
                <p:cNvCxnSpPr/>
                <p:nvPr/>
              </p:nvCxnSpPr>
              <p:spPr>
                <a:xfrm rot="10800000">
                  <a:off x="1292" y="1498"/>
                  <a:ext cx="0" cy="459"/>
                </a:xfrm>
                <a:prstGeom prst="straightConnector1">
                  <a:avLst/>
                </a:prstGeom>
                <a:noFill/>
                <a:ln cap="flat" cmpd="sng" w="9525">
                  <a:solidFill>
                    <a:schemeClr val="dk1"/>
                  </a:solidFill>
                  <a:prstDash val="solid"/>
                  <a:round/>
                  <a:headEnd len="med" w="med" type="none"/>
                  <a:tailEnd len="med" w="med" type="triangle"/>
                </a:ln>
              </p:spPr>
            </p:cxnSp>
            <p:cxnSp>
              <p:nvCxnSpPr>
                <p:cNvPr id="425" name="Google Shape;425;p33"/>
                <p:cNvCxnSpPr/>
                <p:nvPr/>
              </p:nvCxnSpPr>
              <p:spPr>
                <a:xfrm rot="10800000">
                  <a:off x="654" y="2131"/>
                  <a:ext cx="459" cy="0"/>
                </a:xfrm>
                <a:prstGeom prst="straightConnector1">
                  <a:avLst/>
                </a:prstGeom>
                <a:noFill/>
                <a:ln cap="flat" cmpd="sng" w="9525">
                  <a:solidFill>
                    <a:schemeClr val="dk1"/>
                  </a:solidFill>
                  <a:prstDash val="solid"/>
                  <a:round/>
                  <a:headEnd len="med" w="med" type="none"/>
                  <a:tailEnd len="med" w="med" type="triangle"/>
                </a:ln>
              </p:spPr>
            </p:cxnSp>
            <p:cxnSp>
              <p:nvCxnSpPr>
                <p:cNvPr id="426" name="Google Shape;426;p33"/>
                <p:cNvCxnSpPr/>
                <p:nvPr/>
              </p:nvCxnSpPr>
              <p:spPr>
                <a:xfrm>
                  <a:off x="1292" y="2310"/>
                  <a:ext cx="0" cy="458"/>
                </a:xfrm>
                <a:prstGeom prst="straightConnector1">
                  <a:avLst/>
                </a:prstGeom>
                <a:noFill/>
                <a:ln cap="flat" cmpd="sng" w="9525">
                  <a:solidFill>
                    <a:schemeClr val="dk1"/>
                  </a:solidFill>
                  <a:prstDash val="solid"/>
                  <a:round/>
                  <a:headEnd len="med" w="med" type="none"/>
                  <a:tailEnd len="med" w="med" type="triangle"/>
                </a:ln>
              </p:spPr>
            </p:cxnSp>
            <p:cxnSp>
              <p:nvCxnSpPr>
                <p:cNvPr id="427" name="Google Shape;427;p33"/>
                <p:cNvCxnSpPr/>
                <p:nvPr/>
              </p:nvCxnSpPr>
              <p:spPr>
                <a:xfrm flipH="1" rot="10800000">
                  <a:off x="1415" y="1689"/>
                  <a:ext cx="319" cy="319"/>
                </a:xfrm>
                <a:prstGeom prst="straightConnector1">
                  <a:avLst/>
                </a:prstGeom>
                <a:noFill/>
                <a:ln cap="flat" cmpd="sng" w="9525">
                  <a:solidFill>
                    <a:schemeClr val="dk1"/>
                  </a:solidFill>
                  <a:prstDash val="solid"/>
                  <a:round/>
                  <a:headEnd len="med" w="med" type="none"/>
                  <a:tailEnd len="med" w="med" type="triangle"/>
                </a:ln>
              </p:spPr>
            </p:cxnSp>
            <p:cxnSp>
              <p:nvCxnSpPr>
                <p:cNvPr id="428" name="Google Shape;428;p33"/>
                <p:cNvCxnSpPr/>
                <p:nvPr/>
              </p:nvCxnSpPr>
              <p:spPr>
                <a:xfrm rot="10800000">
                  <a:off x="844" y="1683"/>
                  <a:ext cx="319" cy="319"/>
                </a:xfrm>
                <a:prstGeom prst="straightConnector1">
                  <a:avLst/>
                </a:prstGeom>
                <a:noFill/>
                <a:ln cap="flat" cmpd="sng" w="9525">
                  <a:solidFill>
                    <a:schemeClr val="dk1"/>
                  </a:solidFill>
                  <a:prstDash val="solid"/>
                  <a:round/>
                  <a:headEnd len="med" w="med" type="none"/>
                  <a:tailEnd len="med" w="med" type="triangle"/>
                </a:ln>
              </p:spPr>
            </p:cxnSp>
            <p:cxnSp>
              <p:nvCxnSpPr>
                <p:cNvPr id="429" name="Google Shape;429;p33"/>
                <p:cNvCxnSpPr/>
                <p:nvPr/>
              </p:nvCxnSpPr>
              <p:spPr>
                <a:xfrm flipH="1">
                  <a:off x="839" y="2265"/>
                  <a:ext cx="324" cy="324"/>
                </a:xfrm>
                <a:prstGeom prst="straightConnector1">
                  <a:avLst/>
                </a:prstGeom>
                <a:noFill/>
                <a:ln cap="flat" cmpd="sng" w="9525">
                  <a:solidFill>
                    <a:schemeClr val="dk1"/>
                  </a:solidFill>
                  <a:prstDash val="solid"/>
                  <a:round/>
                  <a:headEnd len="med" w="med" type="none"/>
                  <a:tailEnd len="med" w="med" type="triangle"/>
                </a:ln>
              </p:spPr>
            </p:cxnSp>
            <p:cxnSp>
              <p:nvCxnSpPr>
                <p:cNvPr id="430" name="Google Shape;430;p33"/>
                <p:cNvCxnSpPr/>
                <p:nvPr/>
              </p:nvCxnSpPr>
              <p:spPr>
                <a:xfrm>
                  <a:off x="1415" y="2259"/>
                  <a:ext cx="307" cy="307"/>
                </a:xfrm>
                <a:prstGeom prst="straightConnector1">
                  <a:avLst/>
                </a:prstGeom>
                <a:noFill/>
                <a:ln cap="flat" cmpd="sng" w="9525">
                  <a:solidFill>
                    <a:schemeClr val="dk1"/>
                  </a:solidFill>
                  <a:prstDash val="solid"/>
                  <a:round/>
                  <a:headEnd len="med" w="med" type="none"/>
                  <a:tailEnd len="med" w="med" type="triangle"/>
                </a:ln>
              </p:spPr>
            </p:cxnSp>
          </p:grpSp>
          <p:sp>
            <p:nvSpPr>
              <p:cNvPr id="431" name="Google Shape;431;p33"/>
              <p:cNvSpPr/>
              <p:nvPr/>
            </p:nvSpPr>
            <p:spPr>
              <a:xfrm>
                <a:off x="4487" y="3484"/>
                <a:ext cx="115" cy="115"/>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grpSp>
        <p:sp>
          <p:nvSpPr>
            <p:cNvPr id="432" name="Google Shape;432;p33"/>
            <p:cNvSpPr txBox="1"/>
            <p:nvPr/>
          </p:nvSpPr>
          <p:spPr>
            <a:xfrm>
              <a:off x="4017" y="3644"/>
              <a:ext cx="204"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F</a:t>
              </a:r>
              <a:endParaRPr/>
            </a:p>
          </p:txBody>
        </p:sp>
      </p:grpSp>
      <p:sp>
        <p:nvSpPr>
          <p:cNvPr id="433" name="Google Shape;433;p33"/>
          <p:cNvSpPr txBox="1"/>
          <p:nvPr/>
        </p:nvSpPr>
        <p:spPr>
          <a:xfrm>
            <a:off x="1689100" y="5805488"/>
            <a:ext cx="18415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Courier New"/>
              <a:ea typeface="Courier New"/>
              <a:cs typeface="Courier New"/>
              <a:sym typeface="Courier New"/>
            </a:endParaRPr>
          </a:p>
        </p:txBody>
      </p:sp>
      <p:sp>
        <p:nvSpPr>
          <p:cNvPr id="434" name="Google Shape;434;p33"/>
          <p:cNvSpPr txBox="1"/>
          <p:nvPr/>
        </p:nvSpPr>
        <p:spPr>
          <a:xfrm>
            <a:off x="4767263" y="3128963"/>
            <a:ext cx="407987"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hlink"/>
                </a:solidFill>
                <a:latin typeface="Arial"/>
                <a:ea typeface="Arial"/>
                <a:cs typeface="Arial"/>
                <a:sym typeface="Arial"/>
              </a:rPr>
              <a:t>D</a:t>
            </a:r>
            <a:endParaRPr/>
          </a:p>
        </p:txBody>
      </p:sp>
      <p:sp>
        <p:nvSpPr>
          <p:cNvPr id="435" name="Google Shape;435;p33"/>
          <p:cNvSpPr txBox="1"/>
          <p:nvPr/>
        </p:nvSpPr>
        <p:spPr>
          <a:xfrm>
            <a:off x="4770438" y="3516313"/>
            <a:ext cx="390525"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hlink"/>
                </a:solidFill>
                <a:latin typeface="Arial"/>
                <a:ea typeface="Arial"/>
                <a:cs typeface="Arial"/>
                <a:sym typeface="Arial"/>
              </a:rPr>
              <a:t>A</a:t>
            </a:r>
            <a:endParaRPr/>
          </a:p>
        </p:txBody>
      </p:sp>
      <p:sp>
        <p:nvSpPr>
          <p:cNvPr id="436" name="Google Shape;436;p33"/>
          <p:cNvSpPr txBox="1"/>
          <p:nvPr/>
        </p:nvSpPr>
        <p:spPr>
          <a:xfrm>
            <a:off x="4754563" y="3917950"/>
            <a:ext cx="407987"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hlink"/>
                </a:solidFill>
                <a:latin typeface="Arial"/>
                <a:ea typeface="Arial"/>
                <a:cs typeface="Arial"/>
                <a:sym typeface="Arial"/>
              </a:rPr>
              <a:t>C</a:t>
            </a:r>
            <a:endParaRPr/>
          </a:p>
        </p:txBody>
      </p:sp>
      <p:sp>
        <p:nvSpPr>
          <p:cNvPr id="437" name="Google Shape;437;p33"/>
          <p:cNvSpPr txBox="1"/>
          <p:nvPr/>
        </p:nvSpPr>
        <p:spPr>
          <a:xfrm>
            <a:off x="4756150" y="4324350"/>
            <a:ext cx="39052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hlink"/>
                </a:solidFill>
                <a:latin typeface="Arial"/>
                <a:ea typeface="Arial"/>
                <a:cs typeface="Arial"/>
                <a:sym typeface="Arial"/>
              </a:rPr>
              <a:t>E</a:t>
            </a:r>
            <a:endParaRPr/>
          </a:p>
        </p:txBody>
      </p:sp>
      <p:pic>
        <p:nvPicPr>
          <p:cNvPr id="438" name="Google Shape;438;p33"/>
          <p:cNvPicPr preferRelativeResize="0"/>
          <p:nvPr/>
        </p:nvPicPr>
        <p:blipFill rotWithShape="1">
          <a:blip r:embed="rId3">
            <a:alphaModFix/>
          </a:blip>
          <a:srcRect b="0" l="0" r="0" t="0"/>
          <a:stretch/>
        </p:blipFill>
        <p:spPr>
          <a:xfrm>
            <a:off x="6686550" y="207963"/>
            <a:ext cx="2254250" cy="1676400"/>
          </a:xfrm>
          <a:prstGeom prst="rect">
            <a:avLst/>
          </a:prstGeom>
          <a:noFill/>
          <a:ln>
            <a:noFill/>
          </a:ln>
          <a:effectLst>
            <a:outerShdw blurRad="292100" rotWithShape="0" algn="tl" dir="2700000" dist="139700">
              <a:srgbClr val="333333">
                <a:alpha val="64705"/>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0">
                                            <p:txEl>
                                              <p:pRg end="0" st="0"/>
                                            </p:txEl>
                                          </p:spTgt>
                                        </p:tgtEl>
                                        <p:attrNameLst>
                                          <p:attrName>style.visibility</p:attrName>
                                        </p:attrNameLst>
                                      </p:cBhvr>
                                      <p:to>
                                        <p:strVal val="visible"/>
                                      </p:to>
                                    </p:set>
                                    <p:anim calcmode="lin" valueType="num">
                                      <p:cBhvr additive="base">
                                        <p:cTn dur="500"/>
                                        <p:tgtEl>
                                          <p:spTgt spid="34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0">
                                            <p:txEl>
                                              <p:pRg end="1" st="1"/>
                                            </p:txEl>
                                          </p:spTgt>
                                        </p:tgtEl>
                                        <p:attrNameLst>
                                          <p:attrName>style.visibility</p:attrName>
                                        </p:attrNameLst>
                                      </p:cBhvr>
                                      <p:to>
                                        <p:strVal val="visible"/>
                                      </p:to>
                                    </p:set>
                                    <p:anim calcmode="lin" valueType="num">
                                      <p:cBhvr additive="base">
                                        <p:cTn dur="500"/>
                                        <p:tgtEl>
                                          <p:spTgt spid="34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0">
                                            <p:txEl>
                                              <p:pRg end="2" st="2"/>
                                            </p:txEl>
                                          </p:spTgt>
                                        </p:tgtEl>
                                        <p:attrNameLst>
                                          <p:attrName>style.visibility</p:attrName>
                                        </p:attrNameLst>
                                      </p:cBhvr>
                                      <p:to>
                                        <p:strVal val="visible"/>
                                      </p:to>
                                    </p:set>
                                    <p:anim calcmode="lin" valueType="num">
                                      <p:cBhvr additive="base">
                                        <p:cTn dur="500"/>
                                        <p:tgtEl>
                                          <p:spTgt spid="34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0">
                                            <p:txEl>
                                              <p:pRg end="3" st="3"/>
                                            </p:txEl>
                                          </p:spTgt>
                                        </p:tgtEl>
                                        <p:attrNameLst>
                                          <p:attrName>style.visibility</p:attrName>
                                        </p:attrNameLst>
                                      </p:cBhvr>
                                      <p:to>
                                        <p:strVal val="visible"/>
                                      </p:to>
                                    </p:set>
                                    <p:anim calcmode="lin" valueType="num">
                                      <p:cBhvr additive="base">
                                        <p:cTn dur="500"/>
                                        <p:tgtEl>
                                          <p:spTgt spid="34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0">
                                            <p:txEl>
                                              <p:pRg end="4" st="4"/>
                                            </p:txEl>
                                          </p:spTgt>
                                        </p:tgtEl>
                                        <p:attrNameLst>
                                          <p:attrName>style.visibility</p:attrName>
                                        </p:attrNameLst>
                                      </p:cBhvr>
                                      <p:to>
                                        <p:strVal val="visible"/>
                                      </p:to>
                                    </p:set>
                                    <p:anim calcmode="lin" valueType="num">
                                      <p:cBhvr additive="base">
                                        <p:cTn dur="500"/>
                                        <p:tgtEl>
                                          <p:spTgt spid="34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0">
                                            <p:txEl>
                                              <p:pRg end="5" st="5"/>
                                            </p:txEl>
                                          </p:spTgt>
                                        </p:tgtEl>
                                        <p:attrNameLst>
                                          <p:attrName>style.visibility</p:attrName>
                                        </p:attrNameLst>
                                      </p:cBhvr>
                                      <p:to>
                                        <p:strVal val="visible"/>
                                      </p:to>
                                    </p:set>
                                    <p:anim calcmode="lin" valueType="num">
                                      <p:cBhvr additive="base">
                                        <p:cTn dur="500"/>
                                        <p:tgtEl>
                                          <p:spTgt spid="34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0">
                                            <p:txEl>
                                              <p:pRg end="6" st="6"/>
                                            </p:txEl>
                                          </p:spTgt>
                                        </p:tgtEl>
                                        <p:attrNameLst>
                                          <p:attrName>style.visibility</p:attrName>
                                        </p:attrNameLst>
                                      </p:cBhvr>
                                      <p:to>
                                        <p:strVal val="visible"/>
                                      </p:to>
                                    </p:set>
                                    <p:anim calcmode="lin" valueType="num">
                                      <p:cBhvr additive="base">
                                        <p:cTn dur="500"/>
                                        <p:tgtEl>
                                          <p:spTgt spid="34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0">
                                            <p:txEl>
                                              <p:pRg end="7" st="7"/>
                                            </p:txEl>
                                          </p:spTgt>
                                        </p:tgtEl>
                                        <p:attrNameLst>
                                          <p:attrName>style.visibility</p:attrName>
                                        </p:attrNameLst>
                                      </p:cBhvr>
                                      <p:to>
                                        <p:strVal val="visible"/>
                                      </p:to>
                                    </p:set>
                                    <p:anim calcmode="lin" valueType="num">
                                      <p:cBhvr additive="base">
                                        <p:cTn dur="500"/>
                                        <p:tgtEl>
                                          <p:spTgt spid="340">
                                            <p:txEl>
                                              <p:pRg end="7" st="7"/>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438"/>
                                        </p:tgtEl>
                                        <p:attrNameLst>
                                          <p:attrName>style.visibility</p:attrName>
                                        </p:attrNameLst>
                                      </p:cBhvr>
                                      <p:to>
                                        <p:strVal val="visible"/>
                                      </p:to>
                                    </p:set>
                                    <p:anim calcmode="lin" valueType="num">
                                      <p:cBhvr additive="base">
                                        <p:cTn dur="500"/>
                                        <p:tgtEl>
                                          <p:spTgt spid="438"/>
                                        </p:tgtEl>
                                        <p:attrNameLst>
                                          <p:attrName>ppt_w</p:attrName>
                                        </p:attrNameLst>
                                      </p:cBhvr>
                                      <p:tavLst>
                                        <p:tav fmla="" tm="0">
                                          <p:val>
                                            <p:strVal val="0"/>
                                          </p:val>
                                        </p:tav>
                                        <p:tav fmla="" tm="100000">
                                          <p:val>
                                            <p:strVal val="#ppt_w"/>
                                          </p:val>
                                        </p:tav>
                                      </p:tavLst>
                                    </p:anim>
                                    <p:anim calcmode="lin" valueType="num">
                                      <p:cBhvr additive="base">
                                        <p:cTn dur="500"/>
                                        <p:tgtEl>
                                          <p:spTgt spid="438"/>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343"/>
                                        </p:tgtEl>
                                        <p:attrNameLst>
                                          <p:attrName>style.visibility</p:attrName>
                                        </p:attrNameLst>
                                      </p:cBhvr>
                                      <p:to>
                                        <p:strVal val="visible"/>
                                      </p:to>
                                    </p:set>
                                    <p:anim calcmode="lin" valueType="num">
                                      <p:cBhvr additive="base">
                                        <p:cTn dur="500"/>
                                        <p:tgtEl>
                                          <p:spTgt spid="343"/>
                                        </p:tgtEl>
                                        <p:attrNameLst>
                                          <p:attrName>ppt_w</p:attrName>
                                        </p:attrNameLst>
                                      </p:cBhvr>
                                      <p:tavLst>
                                        <p:tav fmla="" tm="0">
                                          <p:val>
                                            <p:strVal val="0"/>
                                          </p:val>
                                        </p:tav>
                                        <p:tav fmla="" tm="100000">
                                          <p:val>
                                            <p:strVal val="#ppt_w"/>
                                          </p:val>
                                        </p:tav>
                                      </p:tavLst>
                                    </p:anim>
                                    <p:anim calcmode="lin" valueType="num">
                                      <p:cBhvr additive="base">
                                        <p:cTn dur="500"/>
                                        <p:tgtEl>
                                          <p:spTgt spid="343"/>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389"/>
                                        </p:tgtEl>
                                        <p:attrNameLst>
                                          <p:attrName>style.visibility</p:attrName>
                                        </p:attrNameLst>
                                      </p:cBhvr>
                                      <p:to>
                                        <p:strVal val="visible"/>
                                      </p:to>
                                    </p:set>
                                    <p:anim calcmode="lin" valueType="num">
                                      <p:cBhvr additive="base">
                                        <p:cTn dur="500"/>
                                        <p:tgtEl>
                                          <p:spTgt spid="389"/>
                                        </p:tgtEl>
                                        <p:attrNameLst>
                                          <p:attrName>ppt_w</p:attrName>
                                        </p:attrNameLst>
                                      </p:cBhvr>
                                      <p:tavLst>
                                        <p:tav fmla="" tm="0">
                                          <p:val>
                                            <p:strVal val="0"/>
                                          </p:val>
                                        </p:tav>
                                        <p:tav fmla="" tm="100000">
                                          <p:val>
                                            <p:strVal val="#ppt_w"/>
                                          </p:val>
                                        </p:tav>
                                      </p:tavLst>
                                    </p:anim>
                                    <p:anim calcmode="lin" valueType="num">
                                      <p:cBhvr additive="base">
                                        <p:cTn dur="500"/>
                                        <p:tgtEl>
                                          <p:spTgt spid="389"/>
                                        </p:tgtEl>
                                        <p:attrNameLst>
                                          <p:attrName>ppt_h</p:attrName>
                                        </p:attrNameLst>
                                      </p:cBhvr>
                                      <p:tavLst>
                                        <p:tav fmla="" tm="0">
                                          <p:val>
                                            <p:strVal val="0"/>
                                          </p:val>
                                        </p:tav>
                                        <p:tav fmla="" tm="100000">
                                          <p:val>
                                            <p:strVal val="#ppt_h"/>
                                          </p:val>
                                        </p:tav>
                                      </p:tavLst>
                                    </p:anim>
                                  </p:childTnLst>
                                </p:cTn>
                              </p:par>
                            </p:childTnLst>
                          </p:cTn>
                        </p:par>
                        <p:par>
                          <p:cTn fill="hold">
                            <p:stCondLst>
                              <p:cond delay="2000"/>
                            </p:stCondLst>
                            <p:childTnLst>
                              <p:par>
                                <p:cTn fill="hold" nodeType="afterEffect" presetClass="entr" presetID="23" presetSubtype="16">
                                  <p:stCondLst>
                                    <p:cond delay="0"/>
                                  </p:stCondLst>
                                  <p:childTnLst>
                                    <p:set>
                                      <p:cBhvr>
                                        <p:cTn dur="1" fill="hold">
                                          <p:stCondLst>
                                            <p:cond delay="0"/>
                                          </p:stCondLst>
                                        </p:cTn>
                                        <p:tgtEl>
                                          <p:spTgt spid="402"/>
                                        </p:tgtEl>
                                        <p:attrNameLst>
                                          <p:attrName>style.visibility</p:attrName>
                                        </p:attrNameLst>
                                      </p:cBhvr>
                                      <p:to>
                                        <p:strVal val="visible"/>
                                      </p:to>
                                    </p:set>
                                    <p:anim calcmode="lin" valueType="num">
                                      <p:cBhvr additive="base">
                                        <p:cTn dur="500"/>
                                        <p:tgtEl>
                                          <p:spTgt spid="402"/>
                                        </p:tgtEl>
                                        <p:attrNameLst>
                                          <p:attrName>ppt_w</p:attrName>
                                        </p:attrNameLst>
                                      </p:cBhvr>
                                      <p:tavLst>
                                        <p:tav fmla="" tm="0">
                                          <p:val>
                                            <p:strVal val="0"/>
                                          </p:val>
                                        </p:tav>
                                        <p:tav fmla="" tm="100000">
                                          <p:val>
                                            <p:strVal val="#ppt_w"/>
                                          </p:val>
                                        </p:tav>
                                      </p:tavLst>
                                    </p:anim>
                                    <p:anim calcmode="lin" valueType="num">
                                      <p:cBhvr additive="base">
                                        <p:cTn dur="500"/>
                                        <p:tgtEl>
                                          <p:spTgt spid="402"/>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366"/>
                                        </p:tgtEl>
                                        <p:attrNameLst>
                                          <p:attrName>style.visibility</p:attrName>
                                        </p:attrNameLst>
                                      </p:cBhvr>
                                      <p:to>
                                        <p:strVal val="visible"/>
                                      </p:to>
                                    </p:set>
                                    <p:anim calcmode="lin" valueType="num">
                                      <p:cBhvr additive="base">
                                        <p:cTn dur="500"/>
                                        <p:tgtEl>
                                          <p:spTgt spid="366"/>
                                        </p:tgtEl>
                                        <p:attrNameLst>
                                          <p:attrName>ppt_w</p:attrName>
                                        </p:attrNameLst>
                                      </p:cBhvr>
                                      <p:tavLst>
                                        <p:tav fmla="" tm="0">
                                          <p:val>
                                            <p:strVal val="0"/>
                                          </p:val>
                                        </p:tav>
                                        <p:tav fmla="" tm="100000">
                                          <p:val>
                                            <p:strVal val="#ppt_w"/>
                                          </p:val>
                                        </p:tav>
                                      </p:tavLst>
                                    </p:anim>
                                    <p:anim calcmode="lin" valueType="num">
                                      <p:cBhvr additive="base">
                                        <p:cTn dur="500"/>
                                        <p:tgtEl>
                                          <p:spTgt spid="366"/>
                                        </p:tgtEl>
                                        <p:attrNameLst>
                                          <p:attrName>ppt_h</p:attrName>
                                        </p:attrNameLst>
                                      </p:cBhvr>
                                      <p:tavLst>
                                        <p:tav fmla="" tm="0">
                                          <p:val>
                                            <p:strVal val="0"/>
                                          </p:val>
                                        </p:tav>
                                        <p:tav fmla="" tm="100000">
                                          <p:val>
                                            <p:strVal val="#ppt_h"/>
                                          </p:val>
                                        </p:tav>
                                      </p:tavLst>
                                    </p:anim>
                                  </p:childTnLst>
                                </p:cTn>
                              </p:par>
                            </p:childTnLst>
                          </p:cTn>
                        </p:par>
                        <p:par>
                          <p:cTn fill="hold">
                            <p:stCondLst>
                              <p:cond delay="3000"/>
                            </p:stCondLst>
                            <p:childTnLst>
                              <p:par>
                                <p:cTn fill="hold" nodeType="afterEffect" presetClass="entr" presetID="23" presetSubtype="16">
                                  <p:stCondLst>
                                    <p:cond delay="0"/>
                                  </p:stCondLst>
                                  <p:childTnLst>
                                    <p:set>
                                      <p:cBhvr>
                                        <p:cTn dur="1" fill="hold">
                                          <p:stCondLst>
                                            <p:cond delay="0"/>
                                          </p:stCondLst>
                                        </p:cTn>
                                        <p:tgtEl>
                                          <p:spTgt spid="411"/>
                                        </p:tgtEl>
                                        <p:attrNameLst>
                                          <p:attrName>style.visibility</p:attrName>
                                        </p:attrNameLst>
                                      </p:cBhvr>
                                      <p:to>
                                        <p:strVal val="visible"/>
                                      </p:to>
                                    </p:set>
                                    <p:anim calcmode="lin" valueType="num">
                                      <p:cBhvr additive="base">
                                        <p:cTn dur="500"/>
                                        <p:tgtEl>
                                          <p:spTgt spid="411"/>
                                        </p:tgtEl>
                                        <p:attrNameLst>
                                          <p:attrName>ppt_w</p:attrName>
                                        </p:attrNameLst>
                                      </p:cBhvr>
                                      <p:tavLst>
                                        <p:tav fmla="" tm="0">
                                          <p:val>
                                            <p:strVal val="0"/>
                                          </p:val>
                                        </p:tav>
                                        <p:tav fmla="" tm="100000">
                                          <p:val>
                                            <p:strVal val="#ppt_w"/>
                                          </p:val>
                                        </p:tav>
                                      </p:tavLst>
                                    </p:anim>
                                    <p:anim calcmode="lin" valueType="num">
                                      <p:cBhvr additive="base">
                                        <p:cTn dur="500"/>
                                        <p:tgtEl>
                                          <p:spTgt spid="411"/>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420"/>
                                        </p:tgtEl>
                                        <p:attrNameLst>
                                          <p:attrName>style.visibility</p:attrName>
                                        </p:attrNameLst>
                                      </p:cBhvr>
                                      <p:to>
                                        <p:strVal val="visible"/>
                                      </p:to>
                                    </p:set>
                                    <p:anim calcmode="lin" valueType="num">
                                      <p:cBhvr additive="base">
                                        <p:cTn dur="500"/>
                                        <p:tgtEl>
                                          <p:spTgt spid="420"/>
                                        </p:tgtEl>
                                        <p:attrNameLst>
                                          <p:attrName>ppt_w</p:attrName>
                                        </p:attrNameLst>
                                      </p:cBhvr>
                                      <p:tavLst>
                                        <p:tav fmla="" tm="0">
                                          <p:val>
                                            <p:strVal val="0"/>
                                          </p:val>
                                        </p:tav>
                                        <p:tav fmla="" tm="100000">
                                          <p:val>
                                            <p:strVal val="#ppt_w"/>
                                          </p:val>
                                        </p:tav>
                                      </p:tavLst>
                                    </p:anim>
                                    <p:anim calcmode="lin" valueType="num">
                                      <p:cBhvr additive="base">
                                        <p:cTn dur="500"/>
                                        <p:tgtEl>
                                          <p:spTgt spid="42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34"/>
                                        </p:tgtEl>
                                        <p:attrNameLst>
                                          <p:attrName>style.visibility</p:attrName>
                                        </p:attrNameLst>
                                      </p:cBhvr>
                                      <p:to>
                                        <p:strVal val="visible"/>
                                      </p:to>
                                    </p:set>
                                    <p:anim calcmode="lin" valueType="num">
                                      <p:cBhvr additive="base">
                                        <p:cTn dur="500"/>
                                        <p:tgtEl>
                                          <p:spTgt spid="434"/>
                                        </p:tgtEl>
                                        <p:attrNameLst>
                                          <p:attrName>ppt_w</p:attrName>
                                        </p:attrNameLst>
                                      </p:cBhvr>
                                      <p:tavLst>
                                        <p:tav fmla="" tm="0">
                                          <p:val>
                                            <p:strVal val="0"/>
                                          </p:val>
                                        </p:tav>
                                        <p:tav fmla="" tm="100000">
                                          <p:val>
                                            <p:strVal val="#ppt_w"/>
                                          </p:val>
                                        </p:tav>
                                      </p:tavLst>
                                    </p:anim>
                                    <p:anim calcmode="lin" valueType="num">
                                      <p:cBhvr additive="base">
                                        <p:cTn dur="500"/>
                                        <p:tgtEl>
                                          <p:spTgt spid="43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35"/>
                                        </p:tgtEl>
                                        <p:attrNameLst>
                                          <p:attrName>style.visibility</p:attrName>
                                        </p:attrNameLst>
                                      </p:cBhvr>
                                      <p:to>
                                        <p:strVal val="visible"/>
                                      </p:to>
                                    </p:set>
                                    <p:anim calcmode="lin" valueType="num">
                                      <p:cBhvr additive="base">
                                        <p:cTn dur="500"/>
                                        <p:tgtEl>
                                          <p:spTgt spid="435"/>
                                        </p:tgtEl>
                                        <p:attrNameLst>
                                          <p:attrName>ppt_w</p:attrName>
                                        </p:attrNameLst>
                                      </p:cBhvr>
                                      <p:tavLst>
                                        <p:tav fmla="" tm="0">
                                          <p:val>
                                            <p:strVal val="0"/>
                                          </p:val>
                                        </p:tav>
                                        <p:tav fmla="" tm="100000">
                                          <p:val>
                                            <p:strVal val="#ppt_w"/>
                                          </p:val>
                                        </p:tav>
                                      </p:tavLst>
                                    </p:anim>
                                    <p:anim calcmode="lin" valueType="num">
                                      <p:cBhvr additive="base">
                                        <p:cTn dur="500"/>
                                        <p:tgtEl>
                                          <p:spTgt spid="43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36"/>
                                        </p:tgtEl>
                                        <p:attrNameLst>
                                          <p:attrName>style.visibility</p:attrName>
                                        </p:attrNameLst>
                                      </p:cBhvr>
                                      <p:to>
                                        <p:strVal val="visible"/>
                                      </p:to>
                                    </p:set>
                                    <p:anim calcmode="lin" valueType="num">
                                      <p:cBhvr additive="base">
                                        <p:cTn dur="500"/>
                                        <p:tgtEl>
                                          <p:spTgt spid="436"/>
                                        </p:tgtEl>
                                        <p:attrNameLst>
                                          <p:attrName>ppt_w</p:attrName>
                                        </p:attrNameLst>
                                      </p:cBhvr>
                                      <p:tavLst>
                                        <p:tav fmla="" tm="0">
                                          <p:val>
                                            <p:strVal val="0"/>
                                          </p:val>
                                        </p:tav>
                                        <p:tav fmla="" tm="100000">
                                          <p:val>
                                            <p:strVal val="#ppt_w"/>
                                          </p:val>
                                        </p:tav>
                                      </p:tavLst>
                                    </p:anim>
                                    <p:anim calcmode="lin" valueType="num">
                                      <p:cBhvr additive="base">
                                        <p:cTn dur="500"/>
                                        <p:tgtEl>
                                          <p:spTgt spid="43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37"/>
                                        </p:tgtEl>
                                        <p:attrNameLst>
                                          <p:attrName>style.visibility</p:attrName>
                                        </p:attrNameLst>
                                      </p:cBhvr>
                                      <p:to>
                                        <p:strVal val="visible"/>
                                      </p:to>
                                    </p:set>
                                    <p:anim calcmode="lin" valueType="num">
                                      <p:cBhvr additive="base">
                                        <p:cTn dur="500"/>
                                        <p:tgtEl>
                                          <p:spTgt spid="437"/>
                                        </p:tgtEl>
                                        <p:attrNameLst>
                                          <p:attrName>ppt_w</p:attrName>
                                        </p:attrNameLst>
                                      </p:cBhvr>
                                      <p:tavLst>
                                        <p:tav fmla="" tm="0">
                                          <p:val>
                                            <p:strVal val="0"/>
                                          </p:val>
                                        </p:tav>
                                        <p:tav fmla="" tm="100000">
                                          <p:val>
                                            <p:strVal val="#ppt_w"/>
                                          </p:val>
                                        </p:tav>
                                      </p:tavLst>
                                    </p:anim>
                                    <p:anim calcmode="lin" valueType="num">
                                      <p:cBhvr additive="base">
                                        <p:cTn dur="500"/>
                                        <p:tgtEl>
                                          <p:spTgt spid="43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34"/>
          <p:cNvSpPr/>
          <p:nvPr/>
        </p:nvSpPr>
        <p:spPr>
          <a:xfrm>
            <a:off x="674688" y="1982788"/>
            <a:ext cx="7772400" cy="4875212"/>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EXAMPLE: Two charges of -0.225 C each are located at opposite corners of a square having a side                    length of 645 m. Find the electric field vector at </a:t>
            </a:r>
            <a:endParaRPr/>
          </a:p>
          <a:p>
            <a:pPr indent="-152400" lvl="0" marL="0" marR="0" rtl="0" algn="l">
              <a:spcBef>
                <a:spcPts val="480"/>
              </a:spcBef>
              <a:spcAft>
                <a:spcPts val="0"/>
              </a:spcAft>
              <a:buClr>
                <a:schemeClr val="dk1"/>
              </a:buClr>
              <a:buSzPts val="2400"/>
              <a:buFont typeface="Arial"/>
              <a:buAutoNum type="alphaLcParenBoth"/>
            </a:pPr>
            <a:r>
              <a:rPr b="0" i="0" lang="en-US" sz="2400" u="none" cap="none" strike="noStrike">
                <a:solidFill>
                  <a:schemeClr val="dk1"/>
                </a:solidFill>
                <a:latin typeface="Arial"/>
                <a:ea typeface="Arial"/>
                <a:cs typeface="Arial"/>
                <a:sym typeface="Arial"/>
              </a:rPr>
              <a:t> the center of the square, and </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(b) one of the unoccupied corners.</a:t>
            </a:r>
            <a:endParaRPr/>
          </a:p>
          <a:p>
            <a:pPr indent="0" lvl="0" marL="0" marR="0" rtl="0" algn="l">
              <a:spcBef>
                <a:spcPts val="1200"/>
              </a:spcBef>
              <a:spcAft>
                <a:spcPts val="0"/>
              </a:spcAft>
              <a:buNone/>
            </a:pPr>
            <a:r>
              <a:rPr b="0" i="0" lang="en-US" sz="2400" u="none" cap="none" strike="noStrike">
                <a:solidFill>
                  <a:schemeClr val="dk1"/>
                </a:solidFill>
                <a:latin typeface="Arial"/>
                <a:ea typeface="Arial"/>
                <a:cs typeface="Arial"/>
                <a:sym typeface="Arial"/>
              </a:rPr>
              <a:t>SOLUTION: Start by making a sketch.</a:t>
            </a:r>
            <a:endParaRPr/>
          </a:p>
          <a:p>
            <a:pPr indent="-152400" lvl="0" marL="0" marR="0" rtl="0" algn="l">
              <a:spcBef>
                <a:spcPts val="480"/>
              </a:spcBef>
              <a:spcAft>
                <a:spcPts val="0"/>
              </a:spcAft>
              <a:buClr>
                <a:schemeClr val="dk1"/>
              </a:buClr>
              <a:buSzPts val="2400"/>
              <a:buFont typeface="Arial"/>
              <a:buAutoNum type="alphaLcParenBoth"/>
            </a:pPr>
            <a:r>
              <a:rPr b="0" i="0" lang="en-US" sz="2400" u="none" cap="none" strike="noStrike">
                <a:solidFill>
                  <a:schemeClr val="dk1"/>
                </a:solidFill>
                <a:latin typeface="Arial"/>
                <a:ea typeface="Arial"/>
                <a:cs typeface="Arial"/>
                <a:sym typeface="Arial"/>
              </a:rPr>
              <a:t>The opposing fields cancel so </a:t>
            </a:r>
            <a:r>
              <a:rPr b="0" i="1" lang="en-US" sz="2400" u="none" cap="none" strike="noStrike">
                <a:solidFill>
                  <a:srgbClr val="D60093"/>
                </a:solidFill>
                <a:latin typeface="Arial"/>
                <a:ea typeface="Arial"/>
                <a:cs typeface="Arial"/>
                <a:sym typeface="Arial"/>
              </a:rPr>
              <a:t>E</a:t>
            </a:r>
            <a:r>
              <a:rPr b="0" i="0" lang="en-US" sz="2400" u="none" cap="none" strike="noStrike">
                <a:solidFill>
                  <a:srgbClr val="D60093"/>
                </a:solidFill>
                <a:latin typeface="Arial"/>
                <a:ea typeface="Arial"/>
                <a:cs typeface="Arial"/>
                <a:sym typeface="Arial"/>
              </a:rPr>
              <a:t> = 0</a:t>
            </a:r>
            <a:r>
              <a:rPr b="0" i="0" lang="en-US" sz="2400" u="none" cap="none" strike="noStrike">
                <a:solidFill>
                  <a:schemeClr val="dk1"/>
                </a:solidFill>
                <a:latin typeface="Arial"/>
                <a:ea typeface="Arial"/>
                <a:cs typeface="Arial"/>
                <a:sym typeface="Arial"/>
              </a:rPr>
              <a:t>.</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(b) The two fields are at right angles.</a:t>
            </a:r>
            <a:endParaRPr/>
          </a:p>
          <a:p>
            <a:pPr indent="0" lvl="0" marL="0" marR="0" rtl="0" algn="l">
              <a:spcBef>
                <a:spcPts val="480"/>
              </a:spcBef>
              <a:spcAft>
                <a:spcPts val="0"/>
              </a:spcAft>
              <a:buNone/>
            </a:pPr>
            <a:r>
              <a:rPr b="0" i="1" lang="en-US" sz="2400" u="none" cap="none" strike="noStrike">
                <a:solidFill>
                  <a:schemeClr val="dk1"/>
                </a:solidFill>
                <a:latin typeface="Arial"/>
                <a:ea typeface="Arial"/>
                <a:cs typeface="Arial"/>
                <a:sym typeface="Arial"/>
              </a:rPr>
              <a:t> </a:t>
            </a:r>
            <a:r>
              <a:rPr b="0" i="1" lang="en-US" sz="2400" u="none" cap="none" strike="noStrike">
                <a:solidFill>
                  <a:srgbClr val="FF0000"/>
                </a:solidFill>
                <a:latin typeface="Arial"/>
                <a:ea typeface="Arial"/>
                <a:cs typeface="Arial"/>
                <a:sym typeface="Arial"/>
              </a:rPr>
              <a:t>E</a:t>
            </a:r>
            <a:r>
              <a:rPr b="0" baseline="-25000" i="0" lang="en-US" sz="2400" u="none" cap="none" strike="noStrike">
                <a:solidFill>
                  <a:srgbClr val="FF0000"/>
                </a:solidFill>
                <a:latin typeface="Arial"/>
                <a:ea typeface="Arial"/>
                <a:cs typeface="Arial"/>
                <a:sym typeface="Arial"/>
              </a:rPr>
              <a:t>1</a:t>
            </a:r>
            <a:r>
              <a:rPr b="0" i="0" lang="en-US" sz="2400" u="none" cap="none" strike="noStrike">
                <a:solidFill>
                  <a:schemeClr val="dk1"/>
                </a:solidFill>
                <a:latin typeface="Arial"/>
                <a:ea typeface="Arial"/>
                <a:cs typeface="Arial"/>
                <a:sym typeface="Arial"/>
              </a:rPr>
              <a:t> = (8.99×10</a:t>
            </a:r>
            <a:r>
              <a:rPr b="0" baseline="30000" i="0" lang="en-US" sz="2400" u="none" cap="none" strike="noStrike">
                <a:solidFill>
                  <a:schemeClr val="dk1"/>
                </a:solidFill>
                <a:latin typeface="Arial"/>
                <a:ea typeface="Arial"/>
                <a:cs typeface="Arial"/>
                <a:sym typeface="Arial"/>
              </a:rPr>
              <a:t>9</a:t>
            </a:r>
            <a:r>
              <a:rPr b="0" i="0" lang="en-US" sz="2400" u="none" cap="none" strike="noStrike">
                <a:solidFill>
                  <a:schemeClr val="dk1"/>
                </a:solidFill>
                <a:latin typeface="Arial"/>
                <a:ea typeface="Arial"/>
                <a:cs typeface="Arial"/>
                <a:sym typeface="Arial"/>
              </a:rPr>
              <a:t>)(-0.225) </a:t>
            </a:r>
            <a:r>
              <a:rPr b="0" i="1" lang="en-US" sz="2400" u="none" cap="none" strike="noStrike">
                <a:solidFill>
                  <a:schemeClr val="dk1"/>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 645 </a:t>
            </a:r>
            <a:r>
              <a:rPr b="0" baseline="30000" i="0" lang="en-US" sz="2400" u="none" cap="none" strike="noStrike">
                <a:solidFill>
                  <a:schemeClr val="dk1"/>
                </a:solidFill>
                <a:latin typeface="Arial"/>
                <a:ea typeface="Arial"/>
                <a:cs typeface="Arial"/>
                <a:sym typeface="Arial"/>
              </a:rPr>
              <a:t>2</a:t>
            </a:r>
            <a:r>
              <a:rPr b="0" i="0" lang="en-US" sz="2400" u="none" cap="none" strike="noStrike">
                <a:solidFill>
                  <a:schemeClr val="dk1"/>
                </a:solidFill>
                <a:latin typeface="Arial"/>
                <a:ea typeface="Arial"/>
                <a:cs typeface="Arial"/>
                <a:sym typeface="Arial"/>
              </a:rPr>
              <a:t> = -4860</a:t>
            </a:r>
            <a:r>
              <a:rPr b="0" baseline="30000" i="0"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NC</a:t>
            </a:r>
            <a:r>
              <a:rPr b="0" baseline="30000" i="0" lang="en-US" sz="2400" u="none" cap="none" strike="noStrike">
                <a:solidFill>
                  <a:schemeClr val="dk1"/>
                </a:solidFill>
                <a:latin typeface="Arial"/>
                <a:ea typeface="Arial"/>
                <a:cs typeface="Arial"/>
                <a:sym typeface="Arial"/>
              </a:rPr>
              <a:t>-1</a:t>
            </a:r>
            <a:endParaRPr/>
          </a:p>
          <a:p>
            <a:pPr indent="0" lvl="0" marL="0" marR="0" rtl="0" algn="l">
              <a:spcBef>
                <a:spcPts val="480"/>
              </a:spcBef>
              <a:spcAft>
                <a:spcPts val="0"/>
              </a:spcAft>
              <a:buNone/>
            </a:pPr>
            <a:r>
              <a:rPr b="1" i="1" lang="en-US" sz="2400" u="none" cap="none" strike="noStrike">
                <a:solidFill>
                  <a:schemeClr val="dk1"/>
                </a:solidFill>
                <a:latin typeface="Arial"/>
                <a:ea typeface="Arial"/>
                <a:cs typeface="Arial"/>
                <a:sym typeface="Arial"/>
              </a:rPr>
              <a:t> </a:t>
            </a:r>
            <a:r>
              <a:rPr b="0" i="1" lang="en-US" sz="2400" u="none" cap="none" strike="noStrike">
                <a:solidFill>
                  <a:srgbClr val="FF0000"/>
                </a:solidFill>
                <a:latin typeface="Arial"/>
                <a:ea typeface="Arial"/>
                <a:cs typeface="Arial"/>
                <a:sym typeface="Arial"/>
              </a:rPr>
              <a:t>E</a:t>
            </a:r>
            <a:r>
              <a:rPr b="0" baseline="-25000" i="0" lang="en-US" sz="2400" u="none" cap="none" strike="noStrike">
                <a:solidFill>
                  <a:srgbClr val="FF0000"/>
                </a:solidFill>
                <a:latin typeface="Arial"/>
                <a:ea typeface="Arial"/>
                <a:cs typeface="Arial"/>
                <a:sym typeface="Arial"/>
              </a:rPr>
              <a:t>2</a:t>
            </a:r>
            <a:r>
              <a:rPr b="0" i="0" lang="en-US" sz="2400" u="none" cap="none" strike="noStrike">
                <a:solidFill>
                  <a:schemeClr val="dk1"/>
                </a:solidFill>
                <a:latin typeface="Arial"/>
                <a:ea typeface="Arial"/>
                <a:cs typeface="Arial"/>
                <a:sym typeface="Arial"/>
              </a:rPr>
              <a:t> = (8.99×10</a:t>
            </a:r>
            <a:r>
              <a:rPr b="0" baseline="30000" i="0" lang="en-US" sz="2400" u="none" cap="none" strike="noStrike">
                <a:solidFill>
                  <a:schemeClr val="dk1"/>
                </a:solidFill>
                <a:latin typeface="Arial"/>
                <a:ea typeface="Arial"/>
                <a:cs typeface="Arial"/>
                <a:sym typeface="Arial"/>
              </a:rPr>
              <a:t>9</a:t>
            </a:r>
            <a:r>
              <a:rPr b="0" i="0" lang="en-US" sz="2400" u="none" cap="none" strike="noStrike">
                <a:solidFill>
                  <a:schemeClr val="dk1"/>
                </a:solidFill>
                <a:latin typeface="Arial"/>
                <a:ea typeface="Arial"/>
                <a:cs typeface="Arial"/>
                <a:sym typeface="Arial"/>
              </a:rPr>
              <a:t>)(-0.225) </a:t>
            </a:r>
            <a:r>
              <a:rPr b="0" i="1" lang="en-US" sz="2400" u="none" cap="none" strike="noStrike">
                <a:solidFill>
                  <a:schemeClr val="dk1"/>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 645 </a:t>
            </a:r>
            <a:r>
              <a:rPr b="0" baseline="30000" i="0" lang="en-US" sz="2400" u="none" cap="none" strike="noStrike">
                <a:solidFill>
                  <a:schemeClr val="dk1"/>
                </a:solidFill>
                <a:latin typeface="Arial"/>
                <a:ea typeface="Arial"/>
                <a:cs typeface="Arial"/>
                <a:sym typeface="Arial"/>
              </a:rPr>
              <a:t>2</a:t>
            </a:r>
            <a:r>
              <a:rPr b="0" i="0" lang="en-US" sz="2400" u="none" cap="none" strike="noStrike">
                <a:solidFill>
                  <a:schemeClr val="dk1"/>
                </a:solidFill>
                <a:latin typeface="Arial"/>
                <a:ea typeface="Arial"/>
                <a:cs typeface="Arial"/>
                <a:sym typeface="Arial"/>
              </a:rPr>
              <a:t> = -4860</a:t>
            </a:r>
            <a:r>
              <a:rPr b="0" baseline="30000" i="0"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NC</a:t>
            </a:r>
            <a:r>
              <a:rPr b="0" baseline="30000" i="0" lang="en-US" sz="2400" u="none" cap="none" strike="noStrike">
                <a:solidFill>
                  <a:schemeClr val="dk1"/>
                </a:solidFill>
                <a:latin typeface="Arial"/>
                <a:ea typeface="Arial"/>
                <a:cs typeface="Arial"/>
                <a:sym typeface="Arial"/>
              </a:rPr>
              <a:t>-1</a:t>
            </a:r>
            <a:endParaRPr/>
          </a:p>
          <a:p>
            <a:pPr indent="0" lvl="0" marL="0" marR="0" rtl="0" algn="l">
              <a:spcBef>
                <a:spcPts val="480"/>
              </a:spcBef>
              <a:spcAft>
                <a:spcPts val="0"/>
              </a:spcAft>
              <a:buNone/>
            </a:pPr>
            <a:r>
              <a:rPr b="1" i="1" lang="en-US" sz="2400" u="none" cap="none" strike="noStrike">
                <a:solidFill>
                  <a:srgbClr val="FF0000"/>
                </a:solidFill>
                <a:latin typeface="Arial"/>
                <a:ea typeface="Arial"/>
                <a:cs typeface="Arial"/>
                <a:sym typeface="Arial"/>
              </a:rPr>
              <a:t> </a:t>
            </a:r>
            <a:r>
              <a:rPr b="0" i="1" lang="en-US" sz="2400" u="none" cap="none" strike="noStrike">
                <a:solidFill>
                  <a:srgbClr val="FF0000"/>
                </a:solidFill>
                <a:latin typeface="Arial"/>
                <a:ea typeface="Arial"/>
                <a:cs typeface="Arial"/>
                <a:sym typeface="Arial"/>
              </a:rPr>
              <a:t>E</a:t>
            </a:r>
            <a:r>
              <a:rPr b="0" baseline="30000" i="0" lang="en-US" sz="2400" u="none" cap="none" strike="noStrike">
                <a:solidFill>
                  <a:schemeClr val="dk1"/>
                </a:solidFill>
                <a:latin typeface="Arial"/>
                <a:ea typeface="Arial"/>
                <a:cs typeface="Arial"/>
                <a:sym typeface="Arial"/>
              </a:rPr>
              <a:t>2</a:t>
            </a:r>
            <a:r>
              <a:rPr b="0" i="0" lang="en-US" sz="2400" u="none" cap="none" strike="noStrike">
                <a:solidFill>
                  <a:schemeClr val="dk1"/>
                </a:solidFill>
                <a:latin typeface="Arial"/>
                <a:ea typeface="Arial"/>
                <a:cs typeface="Arial"/>
                <a:sym typeface="Arial"/>
              </a:rPr>
              <a:t> = </a:t>
            </a:r>
            <a:r>
              <a:rPr b="0" i="1" lang="en-US" sz="2400" u="none" cap="none" strike="noStrike">
                <a:solidFill>
                  <a:srgbClr val="FF0000"/>
                </a:solidFill>
                <a:latin typeface="Arial"/>
                <a:ea typeface="Arial"/>
                <a:cs typeface="Arial"/>
                <a:sym typeface="Arial"/>
              </a:rPr>
              <a:t>E</a:t>
            </a:r>
            <a:r>
              <a:rPr b="0" baseline="-25000" i="0" lang="en-US" sz="2400" u="none" cap="none" strike="noStrike">
                <a:solidFill>
                  <a:srgbClr val="FF0000"/>
                </a:solidFill>
                <a:latin typeface="Arial"/>
                <a:ea typeface="Arial"/>
                <a:cs typeface="Arial"/>
                <a:sym typeface="Arial"/>
              </a:rPr>
              <a:t>1</a:t>
            </a:r>
            <a:r>
              <a:rPr b="0" baseline="30000" i="0" lang="en-US" sz="2400" u="none" cap="none" strike="noStrike">
                <a:solidFill>
                  <a:schemeClr val="dk1"/>
                </a:solidFill>
                <a:latin typeface="Arial"/>
                <a:ea typeface="Arial"/>
                <a:cs typeface="Arial"/>
                <a:sym typeface="Arial"/>
              </a:rPr>
              <a:t>2</a:t>
            </a:r>
            <a:r>
              <a:rPr b="0" i="0" lang="en-US" sz="2400" u="none" cap="none" strike="noStrike">
                <a:solidFill>
                  <a:schemeClr val="dk1"/>
                </a:solidFill>
                <a:latin typeface="Arial"/>
                <a:ea typeface="Arial"/>
                <a:cs typeface="Arial"/>
                <a:sym typeface="Arial"/>
              </a:rPr>
              <a:t> + </a:t>
            </a:r>
            <a:r>
              <a:rPr b="0" i="1" lang="en-US" sz="2400" u="none" cap="none" strike="noStrike">
                <a:solidFill>
                  <a:srgbClr val="FF0000"/>
                </a:solidFill>
                <a:latin typeface="Arial"/>
                <a:ea typeface="Arial"/>
                <a:cs typeface="Arial"/>
                <a:sym typeface="Arial"/>
              </a:rPr>
              <a:t>E</a:t>
            </a:r>
            <a:r>
              <a:rPr b="0" baseline="-25000" i="0" lang="en-US" sz="2400" u="none" cap="none" strike="noStrike">
                <a:solidFill>
                  <a:srgbClr val="FF0000"/>
                </a:solidFill>
                <a:latin typeface="Arial"/>
                <a:ea typeface="Arial"/>
                <a:cs typeface="Arial"/>
                <a:sym typeface="Arial"/>
              </a:rPr>
              <a:t>2</a:t>
            </a:r>
            <a:r>
              <a:rPr b="0" baseline="30000" i="0" lang="en-US" sz="2400" u="none" cap="none" strike="noStrike">
                <a:solidFill>
                  <a:schemeClr val="dk1"/>
                </a:solidFill>
                <a:latin typeface="Arial"/>
                <a:ea typeface="Arial"/>
                <a:cs typeface="Arial"/>
                <a:sym typeface="Arial"/>
              </a:rPr>
              <a:t>2</a:t>
            </a:r>
            <a:r>
              <a:rPr b="0" i="0" lang="en-US" sz="2400" u="none" cap="none" strike="noStrike">
                <a:solidFill>
                  <a:schemeClr val="dk1"/>
                </a:solidFill>
                <a:latin typeface="Arial"/>
                <a:ea typeface="Arial"/>
                <a:cs typeface="Arial"/>
                <a:sym typeface="Arial"/>
              </a:rPr>
              <a:t> = 2(4860)</a:t>
            </a:r>
            <a:r>
              <a:rPr b="0" baseline="30000" i="0" lang="en-US" sz="2400" u="none" cap="none" strike="noStrike">
                <a:solidFill>
                  <a:schemeClr val="dk1"/>
                </a:solidFill>
                <a:latin typeface="Arial"/>
                <a:ea typeface="Arial"/>
                <a:cs typeface="Arial"/>
                <a:sym typeface="Arial"/>
              </a:rPr>
              <a:t>2</a:t>
            </a:r>
            <a:r>
              <a:rPr b="0" i="0" lang="en-US" sz="2400" u="none" cap="none" strike="noStrike">
                <a:solidFill>
                  <a:schemeClr val="dk1"/>
                </a:solidFill>
                <a:latin typeface="Arial"/>
                <a:ea typeface="Arial"/>
                <a:cs typeface="Arial"/>
                <a:sym typeface="Arial"/>
              </a:rPr>
              <a:t> = 47239200 →</a:t>
            </a:r>
            <a:r>
              <a:rPr b="0" i="1" lang="en-US" sz="2400" u="none" cap="none" strike="noStrike">
                <a:solidFill>
                  <a:srgbClr val="FF0000"/>
                </a:solidFill>
                <a:latin typeface="Arial"/>
                <a:ea typeface="Arial"/>
                <a:cs typeface="Arial"/>
                <a:sym typeface="Arial"/>
              </a:rPr>
              <a:t>E</a:t>
            </a:r>
            <a:r>
              <a:rPr b="0" i="0" lang="en-US" sz="2400" u="none" cap="none" strike="noStrike">
                <a:solidFill>
                  <a:schemeClr val="dk1"/>
                </a:solidFill>
                <a:latin typeface="Arial"/>
                <a:ea typeface="Arial"/>
                <a:cs typeface="Arial"/>
                <a:sym typeface="Arial"/>
              </a:rPr>
              <a:t> = 6870 NC</a:t>
            </a:r>
            <a:r>
              <a:rPr b="0" baseline="30000" i="0" lang="en-US" sz="2400" u="none" cap="none" strike="noStrike">
                <a:solidFill>
                  <a:schemeClr val="dk1"/>
                </a:solidFill>
                <a:latin typeface="Arial"/>
                <a:ea typeface="Arial"/>
                <a:cs typeface="Arial"/>
                <a:sym typeface="Arial"/>
              </a:rPr>
              <a:t>-1</a:t>
            </a:r>
            <a:r>
              <a:rPr b="0" i="0" lang="en-US" sz="2400" u="none" cap="none" strike="noStrike">
                <a:solidFill>
                  <a:schemeClr val="dk1"/>
                </a:solidFill>
                <a:latin typeface="Arial"/>
                <a:ea typeface="Arial"/>
                <a:cs typeface="Arial"/>
                <a:sym typeface="Arial"/>
              </a:rPr>
              <a:t>.</a:t>
            </a:r>
            <a:endParaRPr/>
          </a:p>
        </p:txBody>
      </p:sp>
      <p:sp>
        <p:nvSpPr>
          <p:cNvPr id="444" name="Google Shape;444;p34"/>
          <p:cNvSpPr/>
          <p:nvPr/>
        </p:nvSpPr>
        <p:spPr>
          <a:xfrm>
            <a:off x="685800" y="1549400"/>
            <a:ext cx="7772400" cy="461963"/>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b="0" i="1" lang="en-US" sz="2400" u="none" cap="none" strike="noStrike">
                <a:solidFill>
                  <a:srgbClr val="333399"/>
                </a:solidFill>
                <a:latin typeface="Arial"/>
                <a:ea typeface="Arial"/>
                <a:cs typeface="Arial"/>
                <a:sym typeface="Arial"/>
              </a:rPr>
              <a:t>Solving problems involving electric fields</a:t>
            </a:r>
            <a:endParaRPr b="0" i="1" sz="2000" u="none" cap="none" strike="noStrike">
              <a:solidFill>
                <a:srgbClr val="000000"/>
              </a:solidFill>
              <a:latin typeface="Courier New"/>
              <a:ea typeface="Courier New"/>
              <a:cs typeface="Courier New"/>
              <a:sym typeface="Courier New"/>
            </a:endParaRPr>
          </a:p>
        </p:txBody>
      </p:sp>
      <p:sp>
        <p:nvSpPr>
          <p:cNvPr id="445" name="Google Shape;445;p34"/>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sp>
        <p:nvSpPr>
          <p:cNvPr id="446" name="Google Shape;446;p34"/>
          <p:cNvSpPr/>
          <p:nvPr/>
        </p:nvSpPr>
        <p:spPr>
          <a:xfrm>
            <a:off x="7299325" y="4254500"/>
            <a:ext cx="1758950" cy="210343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447" name="Google Shape;447;p34"/>
          <p:cNvGrpSpPr/>
          <p:nvPr/>
        </p:nvGrpSpPr>
        <p:grpSpPr>
          <a:xfrm>
            <a:off x="7072313" y="2679700"/>
            <a:ext cx="1549400" cy="1647825"/>
            <a:chOff x="4084" y="1750"/>
            <a:chExt cx="976" cy="1038"/>
          </a:xfrm>
        </p:grpSpPr>
        <p:sp>
          <p:nvSpPr>
            <p:cNvPr id="448" name="Google Shape;448;p34"/>
            <p:cNvSpPr/>
            <p:nvPr/>
          </p:nvSpPr>
          <p:spPr>
            <a:xfrm>
              <a:off x="4265" y="1750"/>
              <a:ext cx="795" cy="79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49" name="Google Shape;449;p34"/>
            <p:cNvSpPr txBox="1"/>
            <p:nvPr/>
          </p:nvSpPr>
          <p:spPr>
            <a:xfrm>
              <a:off x="4084" y="1998"/>
              <a:ext cx="21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s</a:t>
              </a:r>
              <a:endParaRPr/>
            </a:p>
          </p:txBody>
        </p:sp>
        <p:sp>
          <p:nvSpPr>
            <p:cNvPr id="450" name="Google Shape;450;p34"/>
            <p:cNvSpPr txBox="1"/>
            <p:nvPr/>
          </p:nvSpPr>
          <p:spPr>
            <a:xfrm>
              <a:off x="4563" y="2497"/>
              <a:ext cx="21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s</a:t>
              </a:r>
              <a:endParaRPr/>
            </a:p>
          </p:txBody>
        </p:sp>
      </p:grpSp>
      <p:sp>
        <p:nvSpPr>
          <p:cNvPr id="451" name="Google Shape;451;p34"/>
          <p:cNvSpPr/>
          <p:nvPr/>
        </p:nvSpPr>
        <p:spPr>
          <a:xfrm>
            <a:off x="7942263" y="3263900"/>
            <a:ext cx="92075" cy="92075"/>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452" name="Google Shape;452;p34"/>
          <p:cNvGrpSpPr/>
          <p:nvPr/>
        </p:nvGrpSpPr>
        <p:grpSpPr>
          <a:xfrm>
            <a:off x="8528050" y="3689350"/>
            <a:ext cx="617538" cy="461963"/>
            <a:chOff x="5000" y="2386"/>
            <a:chExt cx="389" cy="291"/>
          </a:xfrm>
        </p:grpSpPr>
        <p:sp>
          <p:nvSpPr>
            <p:cNvPr id="453" name="Google Shape;453;p34"/>
            <p:cNvSpPr/>
            <p:nvPr/>
          </p:nvSpPr>
          <p:spPr>
            <a:xfrm>
              <a:off x="5000" y="2492"/>
              <a:ext cx="110" cy="110"/>
            </a:xfrm>
            <a:prstGeom prst="ellipse">
              <a:avLst/>
            </a:prstGeom>
            <a:gradFill>
              <a:gsLst>
                <a:gs pos="0">
                  <a:schemeClr val="accent1"/>
                </a:gs>
                <a:gs pos="100000">
                  <a:srgbClr val="839D9F"/>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454" name="Google Shape;454;p34"/>
            <p:cNvSpPr txBox="1"/>
            <p:nvPr/>
          </p:nvSpPr>
          <p:spPr>
            <a:xfrm>
              <a:off x="5093" y="2386"/>
              <a:ext cx="296"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1</a:t>
              </a:r>
              <a:endParaRPr/>
            </a:p>
          </p:txBody>
        </p:sp>
      </p:grpSp>
      <p:grpSp>
        <p:nvGrpSpPr>
          <p:cNvPr id="455" name="Google Shape;455;p34"/>
          <p:cNvGrpSpPr/>
          <p:nvPr/>
        </p:nvGrpSpPr>
        <p:grpSpPr>
          <a:xfrm>
            <a:off x="7267575" y="2217738"/>
            <a:ext cx="498475" cy="566737"/>
            <a:chOff x="4207" y="1459"/>
            <a:chExt cx="314" cy="357"/>
          </a:xfrm>
        </p:grpSpPr>
        <p:sp>
          <p:nvSpPr>
            <p:cNvPr id="456" name="Google Shape;456;p34"/>
            <p:cNvSpPr/>
            <p:nvPr/>
          </p:nvSpPr>
          <p:spPr>
            <a:xfrm>
              <a:off x="4207" y="1706"/>
              <a:ext cx="110" cy="110"/>
            </a:xfrm>
            <a:prstGeom prst="ellipse">
              <a:avLst/>
            </a:prstGeom>
            <a:gradFill>
              <a:gsLst>
                <a:gs pos="0">
                  <a:schemeClr val="accent1"/>
                </a:gs>
                <a:gs pos="100000">
                  <a:srgbClr val="839D9F"/>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457" name="Google Shape;457;p34"/>
            <p:cNvSpPr txBox="1"/>
            <p:nvPr/>
          </p:nvSpPr>
          <p:spPr>
            <a:xfrm>
              <a:off x="4225" y="1459"/>
              <a:ext cx="296"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400" u="none" cap="none" strike="noStrike">
                  <a:solidFill>
                    <a:schemeClr val="dk1"/>
                  </a:solidFill>
                  <a:latin typeface="Arial"/>
                  <a:ea typeface="Arial"/>
                  <a:cs typeface="Arial"/>
                  <a:sym typeface="Arial"/>
                </a:rPr>
                <a:t>q</a:t>
              </a:r>
              <a:r>
                <a:rPr b="0" baseline="-25000" i="0" lang="en-US" sz="2400" u="none" cap="none" strike="noStrike">
                  <a:solidFill>
                    <a:schemeClr val="dk1"/>
                  </a:solidFill>
                  <a:latin typeface="Arial"/>
                  <a:ea typeface="Arial"/>
                  <a:cs typeface="Arial"/>
                  <a:sym typeface="Arial"/>
                </a:rPr>
                <a:t>2</a:t>
              </a:r>
              <a:endParaRPr/>
            </a:p>
          </p:txBody>
        </p:sp>
      </p:grpSp>
      <p:sp>
        <p:nvSpPr>
          <p:cNvPr id="458" name="Google Shape;458;p34"/>
          <p:cNvSpPr/>
          <p:nvPr/>
        </p:nvSpPr>
        <p:spPr>
          <a:xfrm>
            <a:off x="8562975" y="2636838"/>
            <a:ext cx="92075" cy="92075"/>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459" name="Google Shape;459;p34"/>
          <p:cNvCxnSpPr/>
          <p:nvPr/>
        </p:nvCxnSpPr>
        <p:spPr>
          <a:xfrm>
            <a:off x="7996238" y="3316288"/>
            <a:ext cx="369887" cy="369887"/>
          </a:xfrm>
          <a:prstGeom prst="straightConnector1">
            <a:avLst/>
          </a:prstGeom>
          <a:noFill/>
          <a:ln cap="flat" cmpd="sng" w="57150">
            <a:solidFill>
              <a:srgbClr val="D60093"/>
            </a:solidFill>
            <a:prstDash val="solid"/>
            <a:round/>
            <a:headEnd len="med" w="med" type="none"/>
            <a:tailEnd len="med" w="med" type="triangle"/>
          </a:ln>
        </p:spPr>
      </p:cxnSp>
      <p:cxnSp>
        <p:nvCxnSpPr>
          <p:cNvPr id="460" name="Google Shape;460;p34"/>
          <p:cNvCxnSpPr/>
          <p:nvPr/>
        </p:nvCxnSpPr>
        <p:spPr>
          <a:xfrm>
            <a:off x="7612063" y="2932113"/>
            <a:ext cx="371475" cy="371475"/>
          </a:xfrm>
          <a:prstGeom prst="straightConnector1">
            <a:avLst/>
          </a:prstGeom>
          <a:noFill/>
          <a:ln cap="flat" cmpd="sng" w="57150">
            <a:solidFill>
              <a:srgbClr val="D60093"/>
            </a:solidFill>
            <a:prstDash val="solid"/>
            <a:round/>
            <a:headEnd len="med" w="med" type="triangle"/>
            <a:tailEnd len="med" w="med" type="none"/>
          </a:ln>
        </p:spPr>
      </p:cxnSp>
      <p:cxnSp>
        <p:nvCxnSpPr>
          <p:cNvPr id="461" name="Google Shape;461;p34"/>
          <p:cNvCxnSpPr/>
          <p:nvPr/>
        </p:nvCxnSpPr>
        <p:spPr>
          <a:xfrm>
            <a:off x="8610600" y="2679700"/>
            <a:ext cx="0" cy="428625"/>
          </a:xfrm>
          <a:prstGeom prst="straightConnector1">
            <a:avLst/>
          </a:prstGeom>
          <a:noFill/>
          <a:ln cap="flat" cmpd="sng" w="57150">
            <a:solidFill>
              <a:srgbClr val="FF0000"/>
            </a:solidFill>
            <a:prstDash val="solid"/>
            <a:round/>
            <a:headEnd len="med" w="med" type="none"/>
            <a:tailEnd len="med" w="med" type="triangle"/>
          </a:ln>
        </p:spPr>
      </p:cxnSp>
      <p:cxnSp>
        <p:nvCxnSpPr>
          <p:cNvPr id="462" name="Google Shape;462;p34"/>
          <p:cNvCxnSpPr/>
          <p:nvPr/>
        </p:nvCxnSpPr>
        <p:spPr>
          <a:xfrm flipH="1">
            <a:off x="7753350" y="3060700"/>
            <a:ext cx="174625" cy="150813"/>
          </a:xfrm>
          <a:prstGeom prst="straightConnector1">
            <a:avLst/>
          </a:prstGeom>
          <a:noFill/>
          <a:ln cap="flat" cmpd="sng" w="28575">
            <a:solidFill>
              <a:srgbClr val="FF0000"/>
            </a:solidFill>
            <a:prstDash val="solid"/>
            <a:round/>
            <a:headEnd len="med" w="med" type="none"/>
            <a:tailEnd len="med" w="med" type="none"/>
          </a:ln>
        </p:spPr>
      </p:cxnSp>
      <p:cxnSp>
        <p:nvCxnSpPr>
          <p:cNvPr id="463" name="Google Shape;463;p34"/>
          <p:cNvCxnSpPr/>
          <p:nvPr/>
        </p:nvCxnSpPr>
        <p:spPr>
          <a:xfrm flipH="1">
            <a:off x="8040688" y="3359150"/>
            <a:ext cx="174625" cy="150813"/>
          </a:xfrm>
          <a:prstGeom prst="straightConnector1">
            <a:avLst/>
          </a:prstGeom>
          <a:noFill/>
          <a:ln cap="flat" cmpd="sng" w="28575">
            <a:solidFill>
              <a:srgbClr val="FF0000"/>
            </a:solidFill>
            <a:prstDash val="solid"/>
            <a:round/>
            <a:headEnd len="med" w="med" type="none"/>
            <a:tailEnd len="med" w="med" type="none"/>
          </a:ln>
        </p:spPr>
      </p:cxnSp>
      <p:cxnSp>
        <p:nvCxnSpPr>
          <p:cNvPr id="464" name="Google Shape;464;p34"/>
          <p:cNvCxnSpPr/>
          <p:nvPr/>
        </p:nvCxnSpPr>
        <p:spPr>
          <a:xfrm>
            <a:off x="8377238" y="2468562"/>
            <a:ext cx="0" cy="428625"/>
          </a:xfrm>
          <a:prstGeom prst="straightConnector1">
            <a:avLst/>
          </a:prstGeom>
          <a:noFill/>
          <a:ln cap="flat" cmpd="sng" w="57150">
            <a:solidFill>
              <a:srgbClr val="FF0000"/>
            </a:solidFill>
            <a:prstDash val="solid"/>
            <a:round/>
            <a:headEnd len="med" w="med" type="none"/>
            <a:tailEnd len="med" w="med" type="triangle"/>
          </a:ln>
        </p:spPr>
      </p:cxnSp>
      <p:sp>
        <p:nvSpPr>
          <p:cNvPr id="465" name="Google Shape;465;p34"/>
          <p:cNvSpPr txBox="1"/>
          <p:nvPr/>
        </p:nvSpPr>
        <p:spPr>
          <a:xfrm>
            <a:off x="8645525" y="2874963"/>
            <a:ext cx="503238"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FF0000"/>
                </a:solidFill>
                <a:latin typeface="Arial"/>
                <a:ea typeface="Arial"/>
                <a:cs typeface="Arial"/>
                <a:sym typeface="Arial"/>
              </a:rPr>
              <a:t>E</a:t>
            </a:r>
            <a:r>
              <a:rPr b="0" baseline="-25000" i="0" lang="en-US" sz="2400" u="none" cap="none" strike="noStrike">
                <a:solidFill>
                  <a:srgbClr val="FF0000"/>
                </a:solidFill>
                <a:latin typeface="Arial"/>
                <a:ea typeface="Arial"/>
                <a:cs typeface="Arial"/>
                <a:sym typeface="Arial"/>
              </a:rPr>
              <a:t>1</a:t>
            </a:r>
            <a:endParaRPr b="0" i="0" sz="2400" u="none" cap="none" strike="noStrike">
              <a:solidFill>
                <a:srgbClr val="FF0000"/>
              </a:solidFill>
              <a:latin typeface="Arial"/>
              <a:ea typeface="Arial"/>
              <a:cs typeface="Arial"/>
              <a:sym typeface="Arial"/>
            </a:endParaRPr>
          </a:p>
        </p:txBody>
      </p:sp>
      <p:sp>
        <p:nvSpPr>
          <p:cNvPr id="466" name="Google Shape;466;p34"/>
          <p:cNvSpPr txBox="1"/>
          <p:nvPr/>
        </p:nvSpPr>
        <p:spPr>
          <a:xfrm>
            <a:off x="8096250" y="2187575"/>
            <a:ext cx="503238"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FF0000"/>
                </a:solidFill>
                <a:latin typeface="Arial"/>
                <a:ea typeface="Arial"/>
                <a:cs typeface="Arial"/>
                <a:sym typeface="Arial"/>
              </a:rPr>
              <a:t>E</a:t>
            </a:r>
            <a:r>
              <a:rPr b="0" baseline="-25000" i="0" lang="en-US" sz="2400" u="none" cap="none" strike="noStrike">
                <a:solidFill>
                  <a:srgbClr val="FF0000"/>
                </a:solidFill>
                <a:latin typeface="Arial"/>
                <a:ea typeface="Arial"/>
                <a:cs typeface="Arial"/>
                <a:sym typeface="Arial"/>
              </a:rPr>
              <a:t>2</a:t>
            </a:r>
            <a:endParaRPr b="0" i="0" sz="2400" u="none" cap="none" strike="noStrike">
              <a:solidFill>
                <a:srgbClr val="FF0000"/>
              </a:solidFill>
              <a:latin typeface="Arial"/>
              <a:ea typeface="Arial"/>
              <a:cs typeface="Arial"/>
              <a:sym typeface="Arial"/>
            </a:endParaRPr>
          </a:p>
        </p:txBody>
      </p:sp>
      <p:sp>
        <p:nvSpPr>
          <p:cNvPr id="467" name="Google Shape;467;p34"/>
          <p:cNvSpPr/>
          <p:nvPr/>
        </p:nvSpPr>
        <p:spPr>
          <a:xfrm>
            <a:off x="8239125" y="4484688"/>
            <a:ext cx="92075" cy="92075"/>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cxnSp>
        <p:nvCxnSpPr>
          <p:cNvPr id="468" name="Google Shape;468;p34"/>
          <p:cNvCxnSpPr/>
          <p:nvPr/>
        </p:nvCxnSpPr>
        <p:spPr>
          <a:xfrm>
            <a:off x="8285163" y="4527550"/>
            <a:ext cx="0" cy="428625"/>
          </a:xfrm>
          <a:prstGeom prst="straightConnector1">
            <a:avLst/>
          </a:prstGeom>
          <a:noFill/>
          <a:ln cap="flat" cmpd="sng" w="38100">
            <a:solidFill>
              <a:srgbClr val="FF0000"/>
            </a:solidFill>
            <a:prstDash val="solid"/>
            <a:round/>
            <a:headEnd len="med" w="med" type="none"/>
            <a:tailEnd len="med" w="med" type="triangle"/>
          </a:ln>
        </p:spPr>
      </p:cxnSp>
      <p:sp>
        <p:nvSpPr>
          <p:cNvPr id="469" name="Google Shape;469;p34"/>
          <p:cNvSpPr txBox="1"/>
          <p:nvPr/>
        </p:nvSpPr>
        <p:spPr>
          <a:xfrm>
            <a:off x="8308975" y="4538663"/>
            <a:ext cx="503238"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FF0000"/>
                </a:solidFill>
                <a:latin typeface="Arial"/>
                <a:ea typeface="Arial"/>
                <a:cs typeface="Arial"/>
                <a:sym typeface="Arial"/>
              </a:rPr>
              <a:t>E</a:t>
            </a:r>
            <a:r>
              <a:rPr b="0" baseline="-25000" i="0" lang="en-US" sz="2400" u="none" cap="none" strike="noStrike">
                <a:solidFill>
                  <a:srgbClr val="FF0000"/>
                </a:solidFill>
                <a:latin typeface="Arial"/>
                <a:ea typeface="Arial"/>
                <a:cs typeface="Arial"/>
                <a:sym typeface="Arial"/>
              </a:rPr>
              <a:t>1</a:t>
            </a:r>
            <a:endParaRPr b="0" i="1" sz="2400" u="none" cap="none" strike="noStrike">
              <a:solidFill>
                <a:srgbClr val="FF0000"/>
              </a:solidFill>
              <a:latin typeface="Arial"/>
              <a:ea typeface="Arial"/>
              <a:cs typeface="Arial"/>
              <a:sym typeface="Arial"/>
            </a:endParaRPr>
          </a:p>
        </p:txBody>
      </p:sp>
      <p:cxnSp>
        <p:nvCxnSpPr>
          <p:cNvPr id="470" name="Google Shape;470;p34"/>
          <p:cNvCxnSpPr/>
          <p:nvPr/>
        </p:nvCxnSpPr>
        <p:spPr>
          <a:xfrm>
            <a:off x="8069263" y="4722812"/>
            <a:ext cx="0" cy="428625"/>
          </a:xfrm>
          <a:prstGeom prst="straightConnector1">
            <a:avLst/>
          </a:prstGeom>
          <a:noFill/>
          <a:ln cap="flat" cmpd="sng" w="38100">
            <a:solidFill>
              <a:srgbClr val="FF0000"/>
            </a:solidFill>
            <a:prstDash val="solid"/>
            <a:round/>
            <a:headEnd len="med" w="med" type="none"/>
            <a:tailEnd len="med" w="med" type="triangle"/>
          </a:ln>
        </p:spPr>
      </p:cxnSp>
      <p:sp>
        <p:nvSpPr>
          <p:cNvPr id="471" name="Google Shape;471;p34"/>
          <p:cNvSpPr txBox="1"/>
          <p:nvPr/>
        </p:nvSpPr>
        <p:spPr>
          <a:xfrm>
            <a:off x="7918450" y="4891088"/>
            <a:ext cx="504825"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FF0000"/>
                </a:solidFill>
                <a:latin typeface="Arial"/>
                <a:ea typeface="Arial"/>
                <a:cs typeface="Arial"/>
                <a:sym typeface="Arial"/>
              </a:rPr>
              <a:t>E</a:t>
            </a:r>
            <a:r>
              <a:rPr b="0" baseline="-25000" i="0" lang="en-US" sz="2400" u="none" cap="none" strike="noStrike">
                <a:solidFill>
                  <a:srgbClr val="FF0000"/>
                </a:solidFill>
                <a:latin typeface="Arial"/>
                <a:ea typeface="Arial"/>
                <a:cs typeface="Arial"/>
                <a:sym typeface="Arial"/>
              </a:rPr>
              <a:t>2</a:t>
            </a:r>
            <a:endParaRPr b="0" i="1" sz="2400" u="none" cap="none" strike="noStrike">
              <a:solidFill>
                <a:srgbClr val="FF0000"/>
              </a:solidFill>
              <a:latin typeface="Arial"/>
              <a:ea typeface="Arial"/>
              <a:cs typeface="Arial"/>
              <a:sym typeface="Arial"/>
            </a:endParaRPr>
          </a:p>
        </p:txBody>
      </p:sp>
      <p:cxnSp>
        <p:nvCxnSpPr>
          <p:cNvPr id="472" name="Google Shape;472;p34"/>
          <p:cNvCxnSpPr/>
          <p:nvPr/>
        </p:nvCxnSpPr>
        <p:spPr>
          <a:xfrm flipH="1">
            <a:off x="7845425" y="4540250"/>
            <a:ext cx="434975" cy="409575"/>
          </a:xfrm>
          <a:prstGeom prst="straightConnector1">
            <a:avLst/>
          </a:prstGeom>
          <a:noFill/>
          <a:ln cap="flat" cmpd="sng" w="57150">
            <a:solidFill>
              <a:srgbClr val="FF0000"/>
            </a:solidFill>
            <a:prstDash val="solid"/>
            <a:round/>
            <a:headEnd len="med" w="med" type="none"/>
            <a:tailEnd len="med" w="med" type="triangle"/>
          </a:ln>
        </p:spPr>
      </p:cxnSp>
      <p:sp>
        <p:nvSpPr>
          <p:cNvPr id="473" name="Google Shape;473;p34"/>
          <p:cNvSpPr txBox="1"/>
          <p:nvPr/>
        </p:nvSpPr>
        <p:spPr>
          <a:xfrm rot="-2721058">
            <a:off x="7366001" y="4308475"/>
            <a:ext cx="1060450"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FF0000"/>
                </a:solidFill>
                <a:latin typeface="Arial"/>
                <a:ea typeface="Arial"/>
                <a:cs typeface="Arial"/>
                <a:sym typeface="Arial"/>
              </a:rPr>
              <a:t>E</a:t>
            </a:r>
            <a:r>
              <a:rPr b="0" baseline="-25000" i="0" lang="en-US" sz="2400" u="none" cap="none" strike="noStrike">
                <a:solidFill>
                  <a:srgbClr val="FF0000"/>
                </a:solidFill>
                <a:latin typeface="Arial"/>
                <a:ea typeface="Arial"/>
                <a:cs typeface="Arial"/>
                <a:sym typeface="Arial"/>
              </a:rPr>
              <a:t>1</a:t>
            </a:r>
            <a:r>
              <a:rPr b="0" i="0" lang="en-US" sz="2400" u="none" cap="none" strike="noStrike">
                <a:solidFill>
                  <a:schemeClr val="dk1"/>
                </a:solidFill>
                <a:latin typeface="Arial"/>
                <a:ea typeface="Arial"/>
                <a:cs typeface="Arial"/>
                <a:sym typeface="Arial"/>
              </a:rPr>
              <a:t>+</a:t>
            </a:r>
            <a:r>
              <a:rPr b="1" i="0" lang="en-US" sz="2400" u="none" cap="none" strike="noStrike">
                <a:solidFill>
                  <a:srgbClr val="FF0000"/>
                </a:solidFill>
                <a:latin typeface="Arial"/>
                <a:ea typeface="Arial"/>
                <a:cs typeface="Arial"/>
                <a:sym typeface="Arial"/>
              </a:rPr>
              <a:t>E</a:t>
            </a:r>
            <a:r>
              <a:rPr b="0" baseline="-25000" i="0" lang="en-US" sz="2400" u="none" cap="none" strike="noStrike">
                <a:solidFill>
                  <a:srgbClr val="FF0000"/>
                </a:solidFill>
                <a:latin typeface="Arial"/>
                <a:ea typeface="Arial"/>
                <a:cs typeface="Arial"/>
                <a:sym typeface="Arial"/>
              </a:rPr>
              <a:t>2</a:t>
            </a:r>
            <a:endParaRPr b="0" i="1" sz="2400" u="none" cap="none" strike="noStrike">
              <a:solidFill>
                <a:srgbClr val="FF0000"/>
              </a:solidFill>
              <a:latin typeface="Arial"/>
              <a:ea typeface="Arial"/>
              <a:cs typeface="Arial"/>
              <a:sym typeface="Arial"/>
            </a:endParaRPr>
          </a:p>
        </p:txBody>
      </p:sp>
      <p:sp>
        <p:nvSpPr>
          <p:cNvPr id="474" name="Google Shape;474;p34"/>
          <p:cNvSpPr txBox="1"/>
          <p:nvPr/>
        </p:nvSpPr>
        <p:spPr>
          <a:xfrm>
            <a:off x="7318375" y="5189538"/>
            <a:ext cx="1763713" cy="12001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2400" u="none" cap="none" strike="noStrike">
                <a:solidFill>
                  <a:schemeClr val="hlink"/>
                </a:solidFill>
                <a:latin typeface="Arial"/>
                <a:ea typeface="Arial"/>
                <a:cs typeface="Arial"/>
                <a:sym typeface="Arial"/>
              </a:rPr>
              <a:t>sum points to center of square</a:t>
            </a:r>
            <a:endParaRPr b="0" i="0" sz="2400" u="none" cap="none" strike="noStrike">
              <a:solidFill>
                <a:schemeClr val="hlink"/>
              </a:solidFill>
              <a:latin typeface="Arial"/>
              <a:ea typeface="Arial"/>
              <a:cs typeface="Arial"/>
              <a:sym typeface="Arial"/>
            </a:endParaRPr>
          </a:p>
        </p:txBody>
      </p:sp>
      <p:cxnSp>
        <p:nvCxnSpPr>
          <p:cNvPr id="475" name="Google Shape;475;p34"/>
          <p:cNvCxnSpPr/>
          <p:nvPr/>
        </p:nvCxnSpPr>
        <p:spPr>
          <a:xfrm flipH="1">
            <a:off x="8178800" y="2667000"/>
            <a:ext cx="434975" cy="409575"/>
          </a:xfrm>
          <a:prstGeom prst="straightConnector1">
            <a:avLst/>
          </a:prstGeom>
          <a:noFill/>
          <a:ln cap="flat" cmpd="sng" w="57150">
            <a:solidFill>
              <a:srgbClr val="FF0000"/>
            </a:solidFill>
            <a:prstDash val="solid"/>
            <a:round/>
            <a:headEnd len="med" w="med" type="none"/>
            <a:tailEnd len="med" w="med" type="triangle"/>
          </a:ln>
        </p:spPr>
      </p:cxnSp>
      <p:sp>
        <p:nvSpPr>
          <p:cNvPr id="476" name="Google Shape;476;p34"/>
          <p:cNvSpPr txBox="1"/>
          <p:nvPr/>
        </p:nvSpPr>
        <p:spPr>
          <a:xfrm>
            <a:off x="7405688" y="3254375"/>
            <a:ext cx="56197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(a)</a:t>
            </a:r>
            <a:endParaRPr/>
          </a:p>
        </p:txBody>
      </p:sp>
      <p:sp>
        <p:nvSpPr>
          <p:cNvPr id="477" name="Google Shape;477;p34"/>
          <p:cNvSpPr txBox="1"/>
          <p:nvPr/>
        </p:nvSpPr>
        <p:spPr>
          <a:xfrm>
            <a:off x="8567738" y="2276475"/>
            <a:ext cx="560387"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(b)</a:t>
            </a:r>
            <a:endParaRPr/>
          </a:p>
        </p:txBody>
      </p:sp>
      <p:cxnSp>
        <p:nvCxnSpPr>
          <p:cNvPr id="478" name="Google Shape;478;p34"/>
          <p:cNvCxnSpPr/>
          <p:nvPr/>
        </p:nvCxnSpPr>
        <p:spPr>
          <a:xfrm flipH="1">
            <a:off x="8378825" y="2587625"/>
            <a:ext cx="120650" cy="195263"/>
          </a:xfrm>
          <a:prstGeom prst="straightConnector1">
            <a:avLst/>
          </a:prstGeom>
          <a:noFill/>
          <a:ln cap="flat" cmpd="sng" w="28575">
            <a:solidFill>
              <a:schemeClr val="dk1"/>
            </a:solidFill>
            <a:prstDash val="solid"/>
            <a:round/>
            <a:headEnd len="med" w="med" type="none"/>
            <a:tailEnd len="med" w="med" type="none"/>
          </a:ln>
        </p:spPr>
      </p:cxnSp>
      <p:cxnSp>
        <p:nvCxnSpPr>
          <p:cNvPr id="479" name="Google Shape;479;p34"/>
          <p:cNvCxnSpPr/>
          <p:nvPr/>
        </p:nvCxnSpPr>
        <p:spPr>
          <a:xfrm flipH="1">
            <a:off x="8532813" y="2806700"/>
            <a:ext cx="192087" cy="106363"/>
          </a:xfrm>
          <a:prstGeom prst="straightConnector1">
            <a:avLst/>
          </a:prstGeom>
          <a:noFill/>
          <a:ln cap="flat" cmpd="sng" w="28575">
            <a:solidFill>
              <a:schemeClr val="dk1"/>
            </a:solidFill>
            <a:prstDash val="solid"/>
            <a:round/>
            <a:headEnd len="med" w="med" type="none"/>
            <a:tailEnd len="med" w="med" type="none"/>
          </a:ln>
        </p:spPr>
      </p:cxnSp>
      <p:sp>
        <p:nvSpPr>
          <p:cNvPr id="480" name="Google Shape;480;p34"/>
          <p:cNvSpPr txBox="1"/>
          <p:nvPr/>
        </p:nvSpPr>
        <p:spPr>
          <a:xfrm>
            <a:off x="6681788" y="5421313"/>
            <a:ext cx="842962"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hlink"/>
                </a:solidFill>
                <a:latin typeface="Arial"/>
                <a:ea typeface="Arial"/>
                <a:cs typeface="Arial"/>
                <a:sym typeface="Arial"/>
              </a:rPr>
              <a:t>(↓).</a:t>
            </a:r>
            <a:endParaRPr/>
          </a:p>
        </p:txBody>
      </p:sp>
      <p:sp>
        <p:nvSpPr>
          <p:cNvPr id="481" name="Google Shape;481;p34"/>
          <p:cNvSpPr txBox="1"/>
          <p:nvPr/>
        </p:nvSpPr>
        <p:spPr>
          <a:xfrm>
            <a:off x="6630988" y="5851525"/>
            <a:ext cx="94932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hlink"/>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44">
                                            <p:txEl>
                                              <p:pRg end="0" st="0"/>
                                            </p:txEl>
                                          </p:spTgt>
                                        </p:tgtEl>
                                        <p:attrNameLst>
                                          <p:attrName>style.visibility</p:attrName>
                                        </p:attrNameLst>
                                      </p:cBhvr>
                                      <p:to>
                                        <p:strVal val="visible"/>
                                      </p:to>
                                    </p:set>
                                    <p:anim calcmode="lin" valueType="num">
                                      <p:cBhvr additive="base">
                                        <p:cTn dur="500"/>
                                        <p:tgtEl>
                                          <p:spTgt spid="44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43">
                                            <p:txEl>
                                              <p:pRg end="0" st="0"/>
                                            </p:txEl>
                                          </p:spTgt>
                                        </p:tgtEl>
                                        <p:attrNameLst>
                                          <p:attrName>style.visibility</p:attrName>
                                        </p:attrNameLst>
                                      </p:cBhvr>
                                      <p:to>
                                        <p:strVal val="visible"/>
                                      </p:to>
                                    </p:set>
                                    <p:anim calcmode="lin" valueType="num">
                                      <p:cBhvr additive="base">
                                        <p:cTn dur="500"/>
                                        <p:tgtEl>
                                          <p:spTgt spid="44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43">
                                            <p:txEl>
                                              <p:pRg end="1" st="1"/>
                                            </p:txEl>
                                          </p:spTgt>
                                        </p:tgtEl>
                                        <p:attrNameLst>
                                          <p:attrName>style.visibility</p:attrName>
                                        </p:attrNameLst>
                                      </p:cBhvr>
                                      <p:to>
                                        <p:strVal val="visible"/>
                                      </p:to>
                                    </p:set>
                                    <p:anim calcmode="lin" valueType="num">
                                      <p:cBhvr additive="base">
                                        <p:cTn dur="500"/>
                                        <p:tgtEl>
                                          <p:spTgt spid="44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43">
                                            <p:txEl>
                                              <p:pRg end="2" st="2"/>
                                            </p:txEl>
                                          </p:spTgt>
                                        </p:tgtEl>
                                        <p:attrNameLst>
                                          <p:attrName>style.visibility</p:attrName>
                                        </p:attrNameLst>
                                      </p:cBhvr>
                                      <p:to>
                                        <p:strVal val="visible"/>
                                      </p:to>
                                    </p:set>
                                    <p:anim calcmode="lin" valueType="num">
                                      <p:cBhvr additive="base">
                                        <p:cTn dur="500"/>
                                        <p:tgtEl>
                                          <p:spTgt spid="44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43">
                                            <p:txEl>
                                              <p:pRg end="3" st="3"/>
                                            </p:txEl>
                                          </p:spTgt>
                                        </p:tgtEl>
                                        <p:attrNameLst>
                                          <p:attrName>style.visibility</p:attrName>
                                        </p:attrNameLst>
                                      </p:cBhvr>
                                      <p:to>
                                        <p:strVal val="visible"/>
                                      </p:to>
                                    </p:set>
                                    <p:anim calcmode="lin" valueType="num">
                                      <p:cBhvr additive="base">
                                        <p:cTn dur="500"/>
                                        <p:tgtEl>
                                          <p:spTgt spid="44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43">
                                            <p:txEl>
                                              <p:pRg end="4" st="4"/>
                                            </p:txEl>
                                          </p:spTgt>
                                        </p:tgtEl>
                                        <p:attrNameLst>
                                          <p:attrName>style.visibility</p:attrName>
                                        </p:attrNameLst>
                                      </p:cBhvr>
                                      <p:to>
                                        <p:strVal val="visible"/>
                                      </p:to>
                                    </p:set>
                                    <p:anim calcmode="lin" valueType="num">
                                      <p:cBhvr additive="base">
                                        <p:cTn dur="500"/>
                                        <p:tgtEl>
                                          <p:spTgt spid="44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43">
                                            <p:txEl>
                                              <p:pRg end="5" st="5"/>
                                            </p:txEl>
                                          </p:spTgt>
                                        </p:tgtEl>
                                        <p:attrNameLst>
                                          <p:attrName>style.visibility</p:attrName>
                                        </p:attrNameLst>
                                      </p:cBhvr>
                                      <p:to>
                                        <p:strVal val="visible"/>
                                      </p:to>
                                    </p:set>
                                    <p:anim calcmode="lin" valueType="num">
                                      <p:cBhvr additive="base">
                                        <p:cTn dur="500"/>
                                        <p:tgtEl>
                                          <p:spTgt spid="44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43">
                                            <p:txEl>
                                              <p:pRg end="6" st="6"/>
                                            </p:txEl>
                                          </p:spTgt>
                                        </p:tgtEl>
                                        <p:attrNameLst>
                                          <p:attrName>style.visibility</p:attrName>
                                        </p:attrNameLst>
                                      </p:cBhvr>
                                      <p:to>
                                        <p:strVal val="visible"/>
                                      </p:to>
                                    </p:set>
                                    <p:anim calcmode="lin" valueType="num">
                                      <p:cBhvr additive="base">
                                        <p:cTn dur="500"/>
                                        <p:tgtEl>
                                          <p:spTgt spid="44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43">
                                            <p:txEl>
                                              <p:pRg end="7" st="7"/>
                                            </p:txEl>
                                          </p:spTgt>
                                        </p:tgtEl>
                                        <p:attrNameLst>
                                          <p:attrName>style.visibility</p:attrName>
                                        </p:attrNameLst>
                                      </p:cBhvr>
                                      <p:to>
                                        <p:strVal val="visible"/>
                                      </p:to>
                                    </p:set>
                                    <p:anim calcmode="lin" valueType="num">
                                      <p:cBhvr additive="base">
                                        <p:cTn dur="500"/>
                                        <p:tgtEl>
                                          <p:spTgt spid="443">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43">
                                            <p:txEl>
                                              <p:pRg end="8" st="8"/>
                                            </p:txEl>
                                          </p:spTgt>
                                        </p:tgtEl>
                                        <p:attrNameLst>
                                          <p:attrName>style.visibility</p:attrName>
                                        </p:attrNameLst>
                                      </p:cBhvr>
                                      <p:to>
                                        <p:strVal val="visible"/>
                                      </p:to>
                                    </p:set>
                                    <p:anim calcmode="lin" valueType="num">
                                      <p:cBhvr additive="base">
                                        <p:cTn dur="500"/>
                                        <p:tgtEl>
                                          <p:spTgt spid="443">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47"/>
                                        </p:tgtEl>
                                        <p:attrNameLst>
                                          <p:attrName>style.visibility</p:attrName>
                                        </p:attrNameLst>
                                      </p:cBhvr>
                                      <p:to>
                                        <p:strVal val="visible"/>
                                      </p:to>
                                    </p:set>
                                    <p:anim calcmode="lin" valueType="num">
                                      <p:cBhvr additive="base">
                                        <p:cTn dur="500"/>
                                        <p:tgtEl>
                                          <p:spTgt spid="447"/>
                                        </p:tgtEl>
                                        <p:attrNameLst>
                                          <p:attrName>ppt_w</p:attrName>
                                        </p:attrNameLst>
                                      </p:cBhvr>
                                      <p:tavLst>
                                        <p:tav fmla="" tm="0">
                                          <p:val>
                                            <p:strVal val="0"/>
                                          </p:val>
                                        </p:tav>
                                        <p:tav fmla="" tm="100000">
                                          <p:val>
                                            <p:strVal val="#ppt_w"/>
                                          </p:val>
                                        </p:tav>
                                      </p:tavLst>
                                    </p:anim>
                                    <p:anim calcmode="lin" valueType="num">
                                      <p:cBhvr additive="base">
                                        <p:cTn dur="500"/>
                                        <p:tgtEl>
                                          <p:spTgt spid="44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55"/>
                                        </p:tgtEl>
                                        <p:attrNameLst>
                                          <p:attrName>style.visibility</p:attrName>
                                        </p:attrNameLst>
                                      </p:cBhvr>
                                      <p:to>
                                        <p:strVal val="visible"/>
                                      </p:to>
                                    </p:set>
                                    <p:anim calcmode="lin" valueType="num">
                                      <p:cBhvr additive="base">
                                        <p:cTn dur="500"/>
                                        <p:tgtEl>
                                          <p:spTgt spid="455"/>
                                        </p:tgtEl>
                                        <p:attrNameLst>
                                          <p:attrName>ppt_w</p:attrName>
                                        </p:attrNameLst>
                                      </p:cBhvr>
                                      <p:tavLst>
                                        <p:tav fmla="" tm="0">
                                          <p:val>
                                            <p:strVal val="0"/>
                                          </p:val>
                                        </p:tav>
                                        <p:tav fmla="" tm="100000">
                                          <p:val>
                                            <p:strVal val="#ppt_w"/>
                                          </p:val>
                                        </p:tav>
                                      </p:tavLst>
                                    </p:anim>
                                    <p:anim calcmode="lin" valueType="num">
                                      <p:cBhvr additive="base">
                                        <p:cTn dur="500"/>
                                        <p:tgtEl>
                                          <p:spTgt spid="45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52"/>
                                        </p:tgtEl>
                                        <p:attrNameLst>
                                          <p:attrName>style.visibility</p:attrName>
                                        </p:attrNameLst>
                                      </p:cBhvr>
                                      <p:to>
                                        <p:strVal val="visible"/>
                                      </p:to>
                                    </p:set>
                                    <p:anim calcmode="lin" valueType="num">
                                      <p:cBhvr additive="base">
                                        <p:cTn dur="500"/>
                                        <p:tgtEl>
                                          <p:spTgt spid="452"/>
                                        </p:tgtEl>
                                        <p:attrNameLst>
                                          <p:attrName>ppt_w</p:attrName>
                                        </p:attrNameLst>
                                      </p:cBhvr>
                                      <p:tavLst>
                                        <p:tav fmla="" tm="0">
                                          <p:val>
                                            <p:strVal val="0"/>
                                          </p:val>
                                        </p:tav>
                                        <p:tav fmla="" tm="100000">
                                          <p:val>
                                            <p:strVal val="#ppt_w"/>
                                          </p:val>
                                        </p:tav>
                                      </p:tavLst>
                                    </p:anim>
                                    <p:anim calcmode="lin" valueType="num">
                                      <p:cBhvr additive="base">
                                        <p:cTn dur="500"/>
                                        <p:tgtEl>
                                          <p:spTgt spid="45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51"/>
                                        </p:tgtEl>
                                        <p:attrNameLst>
                                          <p:attrName>style.visibility</p:attrName>
                                        </p:attrNameLst>
                                      </p:cBhvr>
                                      <p:to>
                                        <p:strVal val="visible"/>
                                      </p:to>
                                    </p:set>
                                    <p:anim calcmode="lin" valueType="num">
                                      <p:cBhvr additive="base">
                                        <p:cTn dur="500"/>
                                        <p:tgtEl>
                                          <p:spTgt spid="451"/>
                                        </p:tgtEl>
                                        <p:attrNameLst>
                                          <p:attrName>ppt_w</p:attrName>
                                        </p:attrNameLst>
                                      </p:cBhvr>
                                      <p:tavLst>
                                        <p:tav fmla="" tm="0">
                                          <p:val>
                                            <p:strVal val="0"/>
                                          </p:val>
                                        </p:tav>
                                        <p:tav fmla="" tm="100000">
                                          <p:val>
                                            <p:strVal val="#ppt_w"/>
                                          </p:val>
                                        </p:tav>
                                      </p:tavLst>
                                    </p:anim>
                                    <p:anim calcmode="lin" valueType="num">
                                      <p:cBhvr additive="base">
                                        <p:cTn dur="500"/>
                                        <p:tgtEl>
                                          <p:spTgt spid="45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6"/>
                                        </p:tgtEl>
                                        <p:attrNameLst>
                                          <p:attrName>style.visibility</p:attrName>
                                        </p:attrNameLst>
                                      </p:cBhvr>
                                      <p:to>
                                        <p:strVal val="visible"/>
                                      </p:to>
                                    </p:set>
                                    <p:anim calcmode="lin" valueType="num">
                                      <p:cBhvr additive="base">
                                        <p:cTn dur="500"/>
                                        <p:tgtEl>
                                          <p:spTgt spid="476"/>
                                        </p:tgtEl>
                                        <p:attrNameLst>
                                          <p:attrName>ppt_w</p:attrName>
                                        </p:attrNameLst>
                                      </p:cBhvr>
                                      <p:tavLst>
                                        <p:tav fmla="" tm="0">
                                          <p:val>
                                            <p:strVal val="0"/>
                                          </p:val>
                                        </p:tav>
                                        <p:tav fmla="" tm="100000">
                                          <p:val>
                                            <p:strVal val="#ppt_w"/>
                                          </p:val>
                                        </p:tav>
                                      </p:tavLst>
                                    </p:anim>
                                    <p:anim calcmode="lin" valueType="num">
                                      <p:cBhvr additive="base">
                                        <p:cTn dur="500"/>
                                        <p:tgtEl>
                                          <p:spTgt spid="47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58"/>
                                        </p:tgtEl>
                                        <p:attrNameLst>
                                          <p:attrName>style.visibility</p:attrName>
                                        </p:attrNameLst>
                                      </p:cBhvr>
                                      <p:to>
                                        <p:strVal val="visible"/>
                                      </p:to>
                                    </p:set>
                                    <p:anim calcmode="lin" valueType="num">
                                      <p:cBhvr additive="base">
                                        <p:cTn dur="500"/>
                                        <p:tgtEl>
                                          <p:spTgt spid="458"/>
                                        </p:tgtEl>
                                        <p:attrNameLst>
                                          <p:attrName>ppt_w</p:attrName>
                                        </p:attrNameLst>
                                      </p:cBhvr>
                                      <p:tavLst>
                                        <p:tav fmla="" tm="0">
                                          <p:val>
                                            <p:strVal val="0"/>
                                          </p:val>
                                        </p:tav>
                                        <p:tav fmla="" tm="100000">
                                          <p:val>
                                            <p:strVal val="#ppt_w"/>
                                          </p:val>
                                        </p:tav>
                                      </p:tavLst>
                                    </p:anim>
                                    <p:anim calcmode="lin" valueType="num">
                                      <p:cBhvr additive="base">
                                        <p:cTn dur="500"/>
                                        <p:tgtEl>
                                          <p:spTgt spid="45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7"/>
                                        </p:tgtEl>
                                        <p:attrNameLst>
                                          <p:attrName>style.visibility</p:attrName>
                                        </p:attrNameLst>
                                      </p:cBhvr>
                                      <p:to>
                                        <p:strVal val="visible"/>
                                      </p:to>
                                    </p:set>
                                    <p:anim calcmode="lin" valueType="num">
                                      <p:cBhvr additive="base">
                                        <p:cTn dur="500"/>
                                        <p:tgtEl>
                                          <p:spTgt spid="477"/>
                                        </p:tgtEl>
                                        <p:attrNameLst>
                                          <p:attrName>ppt_w</p:attrName>
                                        </p:attrNameLst>
                                      </p:cBhvr>
                                      <p:tavLst>
                                        <p:tav fmla="" tm="0">
                                          <p:val>
                                            <p:strVal val="0"/>
                                          </p:val>
                                        </p:tav>
                                        <p:tav fmla="" tm="100000">
                                          <p:val>
                                            <p:strVal val="#ppt_w"/>
                                          </p:val>
                                        </p:tav>
                                      </p:tavLst>
                                    </p:anim>
                                    <p:anim calcmode="lin" valueType="num">
                                      <p:cBhvr additive="base">
                                        <p:cTn dur="500"/>
                                        <p:tgtEl>
                                          <p:spTgt spid="47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500"/>
                                        <p:tgtEl>
                                          <p:spTgt spid="4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500"/>
                                        <p:tgtEl>
                                          <p:spTgt spid="4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500"/>
                                        <p:tgtEl>
                                          <p:spTgt spid="4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
                                        </p:tgtEl>
                                        <p:attrNameLst>
                                          <p:attrName>style.visibility</p:attrName>
                                        </p:attrNameLst>
                                      </p:cBhvr>
                                      <p:to>
                                        <p:strVal val="visible"/>
                                      </p:to>
                                    </p:set>
                                    <p:animEffect filter="fade" transition="in">
                                      <p:cBhvr>
                                        <p:cTn dur="500"/>
                                        <p:tgtEl>
                                          <p:spTgt spid="4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500"/>
                                        <p:tgtEl>
                                          <p:spTgt spid="4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500"/>
                                        <p:tgtEl>
                                          <p:spTgt spid="4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65"/>
                                        </p:tgtEl>
                                        <p:attrNameLst>
                                          <p:attrName>style.visibility</p:attrName>
                                        </p:attrNameLst>
                                      </p:cBhvr>
                                      <p:to>
                                        <p:strVal val="visible"/>
                                      </p:to>
                                    </p:set>
                                    <p:anim calcmode="lin" valueType="num">
                                      <p:cBhvr additive="base">
                                        <p:cTn dur="500"/>
                                        <p:tgtEl>
                                          <p:spTgt spid="465"/>
                                        </p:tgtEl>
                                        <p:attrNameLst>
                                          <p:attrName>ppt_w</p:attrName>
                                        </p:attrNameLst>
                                      </p:cBhvr>
                                      <p:tavLst>
                                        <p:tav fmla="" tm="0">
                                          <p:val>
                                            <p:strVal val="0"/>
                                          </p:val>
                                        </p:tav>
                                        <p:tav fmla="" tm="100000">
                                          <p:val>
                                            <p:strVal val="#ppt_w"/>
                                          </p:val>
                                        </p:tav>
                                      </p:tavLst>
                                    </p:anim>
                                    <p:anim calcmode="lin" valueType="num">
                                      <p:cBhvr additive="base">
                                        <p:cTn dur="500"/>
                                        <p:tgtEl>
                                          <p:spTgt spid="46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66"/>
                                        </p:tgtEl>
                                        <p:attrNameLst>
                                          <p:attrName>style.visibility</p:attrName>
                                        </p:attrNameLst>
                                      </p:cBhvr>
                                      <p:to>
                                        <p:strVal val="visible"/>
                                      </p:to>
                                    </p:set>
                                    <p:anim calcmode="lin" valueType="num">
                                      <p:cBhvr additive="base">
                                        <p:cTn dur="500"/>
                                        <p:tgtEl>
                                          <p:spTgt spid="466"/>
                                        </p:tgtEl>
                                        <p:attrNameLst>
                                          <p:attrName>ppt_w</p:attrName>
                                        </p:attrNameLst>
                                      </p:cBhvr>
                                      <p:tavLst>
                                        <p:tav fmla="" tm="0">
                                          <p:val>
                                            <p:strVal val="0"/>
                                          </p:val>
                                        </p:tav>
                                        <p:tav fmla="" tm="100000">
                                          <p:val>
                                            <p:strVal val="#ppt_w"/>
                                          </p:val>
                                        </p:tav>
                                      </p:tavLst>
                                    </p:anim>
                                    <p:anim calcmode="lin" valueType="num">
                                      <p:cBhvr additive="base">
                                        <p:cTn dur="500"/>
                                        <p:tgtEl>
                                          <p:spTgt spid="46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80"/>
                                        </p:tgtEl>
                                        <p:attrNameLst>
                                          <p:attrName>style.visibility</p:attrName>
                                        </p:attrNameLst>
                                      </p:cBhvr>
                                      <p:to>
                                        <p:strVal val="visible"/>
                                      </p:to>
                                    </p:set>
                                    <p:anim calcmode="lin" valueType="num">
                                      <p:cBhvr additive="base">
                                        <p:cTn dur="500"/>
                                        <p:tgtEl>
                                          <p:spTgt spid="480"/>
                                        </p:tgtEl>
                                        <p:attrNameLst>
                                          <p:attrName>ppt_w</p:attrName>
                                        </p:attrNameLst>
                                      </p:cBhvr>
                                      <p:tavLst>
                                        <p:tav fmla="" tm="0">
                                          <p:val>
                                            <p:strVal val="0"/>
                                          </p:val>
                                        </p:tav>
                                        <p:tav fmla="" tm="100000">
                                          <p:val>
                                            <p:strVal val="#ppt_w"/>
                                          </p:val>
                                        </p:tav>
                                      </p:tavLst>
                                    </p:anim>
                                    <p:anim calcmode="lin" valueType="num">
                                      <p:cBhvr additive="base">
                                        <p:cTn dur="500"/>
                                        <p:tgtEl>
                                          <p:spTgt spid="48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81"/>
                                        </p:tgtEl>
                                        <p:attrNameLst>
                                          <p:attrName>style.visibility</p:attrName>
                                        </p:attrNameLst>
                                      </p:cBhvr>
                                      <p:to>
                                        <p:strVal val="visible"/>
                                      </p:to>
                                    </p:set>
                                    <p:anim calcmode="lin" valueType="num">
                                      <p:cBhvr additive="base">
                                        <p:cTn dur="500"/>
                                        <p:tgtEl>
                                          <p:spTgt spid="481"/>
                                        </p:tgtEl>
                                        <p:attrNameLst>
                                          <p:attrName>ppt_w</p:attrName>
                                        </p:attrNameLst>
                                      </p:cBhvr>
                                      <p:tavLst>
                                        <p:tav fmla="" tm="0">
                                          <p:val>
                                            <p:strVal val="0"/>
                                          </p:val>
                                        </p:tav>
                                        <p:tav fmla="" tm="100000">
                                          <p:val>
                                            <p:strVal val="#ppt_w"/>
                                          </p:val>
                                        </p:tav>
                                      </p:tavLst>
                                    </p:anim>
                                    <p:anim calcmode="lin" valueType="num">
                                      <p:cBhvr additive="base">
                                        <p:cTn dur="500"/>
                                        <p:tgtEl>
                                          <p:spTgt spid="48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2000"/>
                                        <p:tgtEl>
                                          <p:spTgt spid="4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67"/>
                                        </p:tgtEl>
                                        <p:attrNameLst>
                                          <p:attrName>style.visibility</p:attrName>
                                        </p:attrNameLst>
                                      </p:cBhvr>
                                      <p:to>
                                        <p:strVal val="visible"/>
                                      </p:to>
                                    </p:set>
                                    <p:anim calcmode="lin" valueType="num">
                                      <p:cBhvr additive="base">
                                        <p:cTn dur="500"/>
                                        <p:tgtEl>
                                          <p:spTgt spid="467"/>
                                        </p:tgtEl>
                                        <p:attrNameLst>
                                          <p:attrName>ppt_w</p:attrName>
                                        </p:attrNameLst>
                                      </p:cBhvr>
                                      <p:tavLst>
                                        <p:tav fmla="" tm="0">
                                          <p:val>
                                            <p:strVal val="0"/>
                                          </p:val>
                                        </p:tav>
                                        <p:tav fmla="" tm="100000">
                                          <p:val>
                                            <p:strVal val="#ppt_w"/>
                                          </p:val>
                                        </p:tav>
                                      </p:tavLst>
                                    </p:anim>
                                    <p:anim calcmode="lin" valueType="num">
                                      <p:cBhvr additive="base">
                                        <p:cTn dur="500"/>
                                        <p:tgtEl>
                                          <p:spTgt spid="46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500"/>
                                        <p:tgtEl>
                                          <p:spTgt spid="4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69"/>
                                        </p:tgtEl>
                                        <p:attrNameLst>
                                          <p:attrName>style.visibility</p:attrName>
                                        </p:attrNameLst>
                                      </p:cBhvr>
                                      <p:to>
                                        <p:strVal val="visible"/>
                                      </p:to>
                                    </p:set>
                                    <p:anim calcmode="lin" valueType="num">
                                      <p:cBhvr additive="base">
                                        <p:cTn dur="500"/>
                                        <p:tgtEl>
                                          <p:spTgt spid="469"/>
                                        </p:tgtEl>
                                        <p:attrNameLst>
                                          <p:attrName>ppt_w</p:attrName>
                                        </p:attrNameLst>
                                      </p:cBhvr>
                                      <p:tavLst>
                                        <p:tav fmla="" tm="0">
                                          <p:val>
                                            <p:strVal val="0"/>
                                          </p:val>
                                        </p:tav>
                                        <p:tav fmla="" tm="100000">
                                          <p:val>
                                            <p:strVal val="#ppt_w"/>
                                          </p:val>
                                        </p:tav>
                                      </p:tavLst>
                                    </p:anim>
                                    <p:anim calcmode="lin" valueType="num">
                                      <p:cBhvr additive="base">
                                        <p:cTn dur="500"/>
                                        <p:tgtEl>
                                          <p:spTgt spid="46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500"/>
                                        <p:tgtEl>
                                          <p:spTgt spid="4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1"/>
                                        </p:tgtEl>
                                        <p:attrNameLst>
                                          <p:attrName>style.visibility</p:attrName>
                                        </p:attrNameLst>
                                      </p:cBhvr>
                                      <p:to>
                                        <p:strVal val="visible"/>
                                      </p:to>
                                    </p:set>
                                    <p:anim calcmode="lin" valueType="num">
                                      <p:cBhvr additive="base">
                                        <p:cTn dur="500"/>
                                        <p:tgtEl>
                                          <p:spTgt spid="471"/>
                                        </p:tgtEl>
                                        <p:attrNameLst>
                                          <p:attrName>ppt_w</p:attrName>
                                        </p:attrNameLst>
                                      </p:cBhvr>
                                      <p:tavLst>
                                        <p:tav fmla="" tm="0">
                                          <p:val>
                                            <p:strVal val="0"/>
                                          </p:val>
                                        </p:tav>
                                        <p:tav fmla="" tm="100000">
                                          <p:val>
                                            <p:strVal val="#ppt_w"/>
                                          </p:val>
                                        </p:tav>
                                      </p:tavLst>
                                    </p:anim>
                                    <p:anim calcmode="lin" valueType="num">
                                      <p:cBhvr additive="base">
                                        <p:cTn dur="500"/>
                                        <p:tgtEl>
                                          <p:spTgt spid="47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500"/>
                                        <p:tgtEl>
                                          <p:spTgt spid="4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3"/>
                                        </p:tgtEl>
                                        <p:attrNameLst>
                                          <p:attrName>style.visibility</p:attrName>
                                        </p:attrNameLst>
                                      </p:cBhvr>
                                      <p:to>
                                        <p:strVal val="visible"/>
                                      </p:to>
                                    </p:set>
                                    <p:anim calcmode="lin" valueType="num">
                                      <p:cBhvr additive="base">
                                        <p:cTn dur="500"/>
                                        <p:tgtEl>
                                          <p:spTgt spid="473"/>
                                        </p:tgtEl>
                                        <p:attrNameLst>
                                          <p:attrName>ppt_w</p:attrName>
                                        </p:attrNameLst>
                                      </p:cBhvr>
                                      <p:tavLst>
                                        <p:tav fmla="" tm="0">
                                          <p:val>
                                            <p:strVal val="0"/>
                                          </p:val>
                                        </p:tav>
                                        <p:tav fmla="" tm="100000">
                                          <p:val>
                                            <p:strVal val="#ppt_w"/>
                                          </p:val>
                                        </p:tav>
                                      </p:tavLst>
                                    </p:anim>
                                    <p:anim calcmode="lin" valueType="num">
                                      <p:cBhvr additive="base">
                                        <p:cTn dur="500"/>
                                        <p:tgtEl>
                                          <p:spTgt spid="47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4"/>
                                        </p:tgtEl>
                                        <p:attrNameLst>
                                          <p:attrName>style.visibility</p:attrName>
                                        </p:attrNameLst>
                                      </p:cBhvr>
                                      <p:to>
                                        <p:strVal val="visible"/>
                                      </p:to>
                                    </p:set>
                                    <p:anim calcmode="lin" valueType="num">
                                      <p:cBhvr additive="base">
                                        <p:cTn dur="500"/>
                                        <p:tgtEl>
                                          <p:spTgt spid="474"/>
                                        </p:tgtEl>
                                        <p:attrNameLst>
                                          <p:attrName>ppt_w</p:attrName>
                                        </p:attrNameLst>
                                      </p:cBhvr>
                                      <p:tavLst>
                                        <p:tav fmla="" tm="0">
                                          <p:val>
                                            <p:strVal val="0"/>
                                          </p:val>
                                        </p:tav>
                                        <p:tav fmla="" tm="100000">
                                          <p:val>
                                            <p:strVal val="#ppt_w"/>
                                          </p:val>
                                        </p:tav>
                                      </p:tavLst>
                                    </p:anim>
                                    <p:anim calcmode="lin" valueType="num">
                                      <p:cBhvr additive="base">
                                        <p:cTn dur="500"/>
                                        <p:tgtEl>
                                          <p:spTgt spid="47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500"/>
                                        <p:tgtEl>
                                          <p:spTgt spid="4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500"/>
                                        <p:tgtEl>
                                          <p:spTgt spid="4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gtEl>
                                        <p:attrNameLst>
                                          <p:attrName>style.visibility</p:attrName>
                                        </p:attrNameLst>
                                      </p:cBhvr>
                                      <p:to>
                                        <p:strVal val="visible"/>
                                      </p:to>
                                    </p:set>
                                    <p:animEffect filter="fade" transition="in">
                                      <p:cBhvr>
                                        <p:cTn dur="500"/>
                                        <p:tgtEl>
                                          <p:spTgt spid="4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5"/>
          <p:cNvSpPr/>
          <p:nvPr/>
        </p:nvSpPr>
        <p:spPr>
          <a:xfrm>
            <a:off x="687388" y="1941513"/>
            <a:ext cx="7772400" cy="4916487"/>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PRACTICE: </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Two stationary charges are shown. At which point is the electric field strength the greatest?</a:t>
            </a:r>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SOLUTION:</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∙Sketch in the field due to each charge at each point. </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∙Fields diminish as 1 </a:t>
            </a:r>
            <a:r>
              <a:rPr b="0" i="1" lang="en-US" sz="2400" u="none" cap="none" strike="noStrike">
                <a:solidFill>
                  <a:schemeClr val="dk1"/>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r</a:t>
            </a:r>
            <a:r>
              <a:rPr b="0" baseline="30000" i="0" lang="en-US" sz="2400" u="none" cap="none" strike="noStrike">
                <a:solidFill>
                  <a:schemeClr val="dk1"/>
                </a:solidFill>
                <a:latin typeface="Arial"/>
                <a:ea typeface="Arial"/>
                <a:cs typeface="Arial"/>
                <a:sym typeface="Arial"/>
              </a:rPr>
              <a:t>2</a:t>
            </a:r>
            <a:r>
              <a:rPr b="0" i="0" lang="en-US" sz="2400" u="none" cap="none" strike="noStrike">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∙Fields point away from (+) and toward (-).</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∙The only place the fields add is point B.</a:t>
            </a:r>
            <a:endParaRPr/>
          </a:p>
        </p:txBody>
      </p:sp>
      <p:sp>
        <p:nvSpPr>
          <p:cNvPr id="487" name="Google Shape;487;p35"/>
          <p:cNvSpPr/>
          <p:nvPr/>
        </p:nvSpPr>
        <p:spPr>
          <a:xfrm>
            <a:off x="685800" y="1549400"/>
            <a:ext cx="7772400" cy="42068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b="0" i="1" lang="en-US" sz="2400" u="none" cap="none" strike="noStrike">
                <a:solidFill>
                  <a:srgbClr val="333399"/>
                </a:solidFill>
                <a:latin typeface="Arial"/>
                <a:ea typeface="Arial"/>
                <a:cs typeface="Arial"/>
                <a:sym typeface="Arial"/>
              </a:rPr>
              <a:t>Solving problems involving electric fields</a:t>
            </a:r>
            <a:endParaRPr b="0" i="1" sz="2400" u="none" cap="none" strike="noStrike">
              <a:solidFill>
                <a:srgbClr val="000000"/>
              </a:solidFill>
              <a:latin typeface="Courier New"/>
              <a:ea typeface="Courier New"/>
              <a:cs typeface="Courier New"/>
              <a:sym typeface="Courier New"/>
            </a:endParaRPr>
          </a:p>
        </p:txBody>
      </p:sp>
      <p:sp>
        <p:nvSpPr>
          <p:cNvPr id="488" name="Google Shape;488;p35"/>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pic>
        <p:nvPicPr>
          <p:cNvPr id="489" name="Google Shape;489;p35"/>
          <p:cNvPicPr preferRelativeResize="0"/>
          <p:nvPr/>
        </p:nvPicPr>
        <p:blipFill rotWithShape="1">
          <a:blip r:embed="rId3">
            <a:alphaModFix/>
          </a:blip>
          <a:srcRect b="0" l="0" r="0" t="0"/>
          <a:stretch/>
        </p:blipFill>
        <p:spPr>
          <a:xfrm>
            <a:off x="1066800" y="3159125"/>
            <a:ext cx="6948488" cy="1101725"/>
          </a:xfrm>
          <a:prstGeom prst="rect">
            <a:avLst/>
          </a:prstGeom>
          <a:noFill/>
          <a:ln>
            <a:noFill/>
          </a:ln>
        </p:spPr>
      </p:pic>
      <p:sp>
        <p:nvSpPr>
          <p:cNvPr id="490" name="Google Shape;490;p35"/>
          <p:cNvSpPr/>
          <p:nvPr/>
        </p:nvSpPr>
        <p:spPr>
          <a:xfrm>
            <a:off x="3525838" y="3876675"/>
            <a:ext cx="612775" cy="312738"/>
          </a:xfrm>
          <a:prstGeom prst="rect">
            <a:avLst/>
          </a:prstGeom>
          <a:solidFill>
            <a:srgbClr val="FF0000">
              <a:alpha val="15686"/>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491" name="Google Shape;491;p35"/>
          <p:cNvCxnSpPr/>
          <p:nvPr/>
        </p:nvCxnSpPr>
        <p:spPr>
          <a:xfrm rot="10800000">
            <a:off x="2016125" y="3705225"/>
            <a:ext cx="601663" cy="0"/>
          </a:xfrm>
          <a:prstGeom prst="straightConnector1">
            <a:avLst/>
          </a:prstGeom>
          <a:noFill/>
          <a:ln cap="flat" cmpd="sng" w="38100">
            <a:solidFill>
              <a:srgbClr val="FF0000"/>
            </a:solidFill>
            <a:prstDash val="solid"/>
            <a:round/>
            <a:headEnd len="med" w="med" type="none"/>
            <a:tailEnd len="med" w="med" type="triangle"/>
          </a:ln>
        </p:spPr>
      </p:cxnSp>
      <p:cxnSp>
        <p:nvCxnSpPr>
          <p:cNvPr id="492" name="Google Shape;492;p35"/>
          <p:cNvCxnSpPr/>
          <p:nvPr/>
        </p:nvCxnSpPr>
        <p:spPr>
          <a:xfrm rot="10800000">
            <a:off x="1133475" y="3695700"/>
            <a:ext cx="373063" cy="0"/>
          </a:xfrm>
          <a:prstGeom prst="straightConnector1">
            <a:avLst/>
          </a:prstGeom>
          <a:noFill/>
          <a:ln cap="flat" cmpd="sng" w="38100">
            <a:solidFill>
              <a:srgbClr val="FF0000"/>
            </a:solidFill>
            <a:prstDash val="solid"/>
            <a:round/>
            <a:headEnd len="med" w="med" type="none"/>
            <a:tailEnd len="med" w="med" type="triangle"/>
          </a:ln>
        </p:spPr>
      </p:cxnSp>
      <p:cxnSp>
        <p:nvCxnSpPr>
          <p:cNvPr id="493" name="Google Shape;493;p35"/>
          <p:cNvCxnSpPr/>
          <p:nvPr/>
        </p:nvCxnSpPr>
        <p:spPr>
          <a:xfrm rot="10800000">
            <a:off x="5164138" y="3698875"/>
            <a:ext cx="601662" cy="0"/>
          </a:xfrm>
          <a:prstGeom prst="straightConnector1">
            <a:avLst/>
          </a:prstGeom>
          <a:noFill/>
          <a:ln cap="flat" cmpd="sng" w="38100">
            <a:solidFill>
              <a:srgbClr val="FF0000"/>
            </a:solidFill>
            <a:prstDash val="solid"/>
            <a:round/>
            <a:headEnd len="med" w="med" type="triangle"/>
            <a:tailEnd len="med" w="med" type="none"/>
          </a:ln>
        </p:spPr>
      </p:cxnSp>
      <p:cxnSp>
        <p:nvCxnSpPr>
          <p:cNvPr id="494" name="Google Shape;494;p35"/>
          <p:cNvCxnSpPr/>
          <p:nvPr/>
        </p:nvCxnSpPr>
        <p:spPr>
          <a:xfrm rot="10800000">
            <a:off x="7573963" y="3700463"/>
            <a:ext cx="215900" cy="0"/>
          </a:xfrm>
          <a:prstGeom prst="straightConnector1">
            <a:avLst/>
          </a:prstGeom>
          <a:noFill/>
          <a:ln cap="flat" cmpd="sng" w="38100">
            <a:solidFill>
              <a:srgbClr val="FF0000"/>
            </a:solidFill>
            <a:prstDash val="solid"/>
            <a:round/>
            <a:headEnd len="med" w="med" type="triangle"/>
            <a:tailEnd len="med" w="med" type="none"/>
          </a:ln>
        </p:spPr>
      </p:cxnSp>
      <p:sp>
        <p:nvSpPr>
          <p:cNvPr id="495" name="Google Shape;495;p35"/>
          <p:cNvSpPr/>
          <p:nvPr/>
        </p:nvSpPr>
        <p:spPr>
          <a:xfrm>
            <a:off x="6078538" y="3890963"/>
            <a:ext cx="539750" cy="312737"/>
          </a:xfrm>
          <a:prstGeom prst="rect">
            <a:avLst/>
          </a:prstGeom>
          <a:solidFill>
            <a:schemeClr val="hlink">
              <a:alpha val="15686"/>
            </a:scheme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496" name="Google Shape;496;p35"/>
          <p:cNvCxnSpPr/>
          <p:nvPr/>
        </p:nvCxnSpPr>
        <p:spPr>
          <a:xfrm rot="10800000">
            <a:off x="5707063" y="3697288"/>
            <a:ext cx="433387" cy="0"/>
          </a:xfrm>
          <a:prstGeom prst="straightConnector1">
            <a:avLst/>
          </a:prstGeom>
          <a:noFill/>
          <a:ln cap="flat" cmpd="sng" w="38100">
            <a:solidFill>
              <a:schemeClr val="hlink"/>
            </a:solidFill>
            <a:prstDash val="solid"/>
            <a:round/>
            <a:headEnd len="med" w="med" type="triangle"/>
            <a:tailEnd len="med" w="med" type="none"/>
          </a:ln>
        </p:spPr>
      </p:cxnSp>
      <p:cxnSp>
        <p:nvCxnSpPr>
          <p:cNvPr id="497" name="Google Shape;497;p35"/>
          <p:cNvCxnSpPr/>
          <p:nvPr/>
        </p:nvCxnSpPr>
        <p:spPr>
          <a:xfrm rot="10800000">
            <a:off x="7126288" y="3702050"/>
            <a:ext cx="433387" cy="0"/>
          </a:xfrm>
          <a:prstGeom prst="straightConnector1">
            <a:avLst/>
          </a:prstGeom>
          <a:noFill/>
          <a:ln cap="flat" cmpd="sng" w="38100">
            <a:solidFill>
              <a:schemeClr val="hlink"/>
            </a:solidFill>
            <a:prstDash val="solid"/>
            <a:round/>
            <a:headEnd len="med" w="med" type="none"/>
            <a:tailEnd len="med" w="med" type="triangle"/>
          </a:ln>
        </p:spPr>
      </p:cxnSp>
      <p:cxnSp>
        <p:nvCxnSpPr>
          <p:cNvPr id="498" name="Google Shape;498;p35"/>
          <p:cNvCxnSpPr/>
          <p:nvPr/>
        </p:nvCxnSpPr>
        <p:spPr>
          <a:xfrm rot="10800000">
            <a:off x="2622550" y="3698875"/>
            <a:ext cx="228600" cy="0"/>
          </a:xfrm>
          <a:prstGeom prst="straightConnector1">
            <a:avLst/>
          </a:prstGeom>
          <a:noFill/>
          <a:ln cap="flat" cmpd="sng" w="38100">
            <a:solidFill>
              <a:schemeClr val="hlink"/>
            </a:solidFill>
            <a:prstDash val="solid"/>
            <a:round/>
            <a:headEnd len="med" w="med" type="triangle"/>
            <a:tailEnd len="med" w="med" type="none"/>
          </a:ln>
        </p:spPr>
      </p:cxnSp>
      <p:cxnSp>
        <p:nvCxnSpPr>
          <p:cNvPr id="499" name="Google Shape;499;p35"/>
          <p:cNvCxnSpPr/>
          <p:nvPr/>
        </p:nvCxnSpPr>
        <p:spPr>
          <a:xfrm rot="10800000">
            <a:off x="1512888" y="3698875"/>
            <a:ext cx="228600" cy="0"/>
          </a:xfrm>
          <a:prstGeom prst="straightConnector1">
            <a:avLst/>
          </a:prstGeom>
          <a:noFill/>
          <a:ln cap="flat" cmpd="sng" w="38100">
            <a:solidFill>
              <a:schemeClr val="hlink"/>
            </a:solidFill>
            <a:prstDash val="solid"/>
            <a:round/>
            <a:headEnd len="med" w="med" type="triangle"/>
            <a:tailEnd len="med" w="med" type="none"/>
          </a:ln>
        </p:spPr>
      </p:cxnSp>
      <p:sp>
        <p:nvSpPr>
          <p:cNvPr id="500" name="Google Shape;500;p35"/>
          <p:cNvSpPr/>
          <p:nvPr/>
        </p:nvSpPr>
        <p:spPr>
          <a:xfrm>
            <a:off x="5008563" y="3289300"/>
            <a:ext cx="288925" cy="288925"/>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6">
                                            <p:txEl>
                                              <p:pRg end="0" st="0"/>
                                            </p:txEl>
                                          </p:spTgt>
                                        </p:tgtEl>
                                        <p:attrNameLst>
                                          <p:attrName>style.visibility</p:attrName>
                                        </p:attrNameLst>
                                      </p:cBhvr>
                                      <p:to>
                                        <p:strVal val="visible"/>
                                      </p:to>
                                    </p:set>
                                    <p:anim calcmode="lin" valueType="num">
                                      <p:cBhvr additive="base">
                                        <p:cTn dur="500"/>
                                        <p:tgtEl>
                                          <p:spTgt spid="48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6">
                                            <p:txEl>
                                              <p:pRg end="1" st="1"/>
                                            </p:txEl>
                                          </p:spTgt>
                                        </p:tgtEl>
                                        <p:attrNameLst>
                                          <p:attrName>style.visibility</p:attrName>
                                        </p:attrNameLst>
                                      </p:cBhvr>
                                      <p:to>
                                        <p:strVal val="visible"/>
                                      </p:to>
                                    </p:set>
                                    <p:anim calcmode="lin" valueType="num">
                                      <p:cBhvr additive="base">
                                        <p:cTn dur="500"/>
                                        <p:tgtEl>
                                          <p:spTgt spid="48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6">
                                            <p:txEl>
                                              <p:pRg end="2" st="2"/>
                                            </p:txEl>
                                          </p:spTgt>
                                        </p:tgtEl>
                                        <p:attrNameLst>
                                          <p:attrName>style.visibility</p:attrName>
                                        </p:attrNameLst>
                                      </p:cBhvr>
                                      <p:to>
                                        <p:strVal val="visible"/>
                                      </p:to>
                                    </p:set>
                                    <p:anim calcmode="lin" valueType="num">
                                      <p:cBhvr additive="base">
                                        <p:cTn dur="500"/>
                                        <p:tgtEl>
                                          <p:spTgt spid="48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6">
                                            <p:txEl>
                                              <p:pRg end="3" st="3"/>
                                            </p:txEl>
                                          </p:spTgt>
                                        </p:tgtEl>
                                        <p:attrNameLst>
                                          <p:attrName>style.visibility</p:attrName>
                                        </p:attrNameLst>
                                      </p:cBhvr>
                                      <p:to>
                                        <p:strVal val="visible"/>
                                      </p:to>
                                    </p:set>
                                    <p:anim calcmode="lin" valueType="num">
                                      <p:cBhvr additive="base">
                                        <p:cTn dur="500"/>
                                        <p:tgtEl>
                                          <p:spTgt spid="48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6">
                                            <p:txEl>
                                              <p:pRg end="4" st="4"/>
                                            </p:txEl>
                                          </p:spTgt>
                                        </p:tgtEl>
                                        <p:attrNameLst>
                                          <p:attrName>style.visibility</p:attrName>
                                        </p:attrNameLst>
                                      </p:cBhvr>
                                      <p:to>
                                        <p:strVal val="visible"/>
                                      </p:to>
                                    </p:set>
                                    <p:anim calcmode="lin" valueType="num">
                                      <p:cBhvr additive="base">
                                        <p:cTn dur="500"/>
                                        <p:tgtEl>
                                          <p:spTgt spid="48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6">
                                            <p:txEl>
                                              <p:pRg end="5" st="5"/>
                                            </p:txEl>
                                          </p:spTgt>
                                        </p:tgtEl>
                                        <p:attrNameLst>
                                          <p:attrName>style.visibility</p:attrName>
                                        </p:attrNameLst>
                                      </p:cBhvr>
                                      <p:to>
                                        <p:strVal val="visible"/>
                                      </p:to>
                                    </p:set>
                                    <p:anim calcmode="lin" valueType="num">
                                      <p:cBhvr additive="base">
                                        <p:cTn dur="500"/>
                                        <p:tgtEl>
                                          <p:spTgt spid="48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6">
                                            <p:txEl>
                                              <p:pRg end="6" st="6"/>
                                            </p:txEl>
                                          </p:spTgt>
                                        </p:tgtEl>
                                        <p:attrNameLst>
                                          <p:attrName>style.visibility</p:attrName>
                                        </p:attrNameLst>
                                      </p:cBhvr>
                                      <p:to>
                                        <p:strVal val="visible"/>
                                      </p:to>
                                    </p:set>
                                    <p:anim calcmode="lin" valueType="num">
                                      <p:cBhvr additive="base">
                                        <p:cTn dur="500"/>
                                        <p:tgtEl>
                                          <p:spTgt spid="48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6">
                                            <p:txEl>
                                              <p:pRg end="7" st="7"/>
                                            </p:txEl>
                                          </p:spTgt>
                                        </p:tgtEl>
                                        <p:attrNameLst>
                                          <p:attrName>style.visibility</p:attrName>
                                        </p:attrNameLst>
                                      </p:cBhvr>
                                      <p:to>
                                        <p:strVal val="visible"/>
                                      </p:to>
                                    </p:set>
                                    <p:anim calcmode="lin" valueType="num">
                                      <p:cBhvr additive="base">
                                        <p:cTn dur="500"/>
                                        <p:tgtEl>
                                          <p:spTgt spid="486">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6">
                                            <p:txEl>
                                              <p:pRg end="8" st="8"/>
                                            </p:txEl>
                                          </p:spTgt>
                                        </p:tgtEl>
                                        <p:attrNameLst>
                                          <p:attrName>style.visibility</p:attrName>
                                        </p:attrNameLst>
                                      </p:cBhvr>
                                      <p:to>
                                        <p:strVal val="visible"/>
                                      </p:to>
                                    </p:set>
                                    <p:anim calcmode="lin" valueType="num">
                                      <p:cBhvr additive="base">
                                        <p:cTn dur="500"/>
                                        <p:tgtEl>
                                          <p:spTgt spid="486">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6">
                                            <p:txEl>
                                              <p:pRg end="9" st="9"/>
                                            </p:txEl>
                                          </p:spTgt>
                                        </p:tgtEl>
                                        <p:attrNameLst>
                                          <p:attrName>style.visibility</p:attrName>
                                        </p:attrNameLst>
                                      </p:cBhvr>
                                      <p:to>
                                        <p:strVal val="visible"/>
                                      </p:to>
                                    </p:set>
                                    <p:anim calcmode="lin" valueType="num">
                                      <p:cBhvr additive="base">
                                        <p:cTn dur="500"/>
                                        <p:tgtEl>
                                          <p:spTgt spid="486">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2000"/>
                                        <p:tgtEl>
                                          <p:spTgt spid="4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90"/>
                                        </p:tgtEl>
                                        <p:attrNameLst>
                                          <p:attrName>style.visibility</p:attrName>
                                        </p:attrNameLst>
                                      </p:cBhvr>
                                      <p:to>
                                        <p:strVal val="visible"/>
                                      </p:to>
                                    </p:set>
                                    <p:anim calcmode="lin" valueType="num">
                                      <p:cBhvr additive="base">
                                        <p:cTn dur="500"/>
                                        <p:tgtEl>
                                          <p:spTgt spid="490"/>
                                        </p:tgtEl>
                                        <p:attrNameLst>
                                          <p:attrName>ppt_w</p:attrName>
                                        </p:attrNameLst>
                                      </p:cBhvr>
                                      <p:tavLst>
                                        <p:tav fmla="" tm="0">
                                          <p:val>
                                            <p:strVal val="0"/>
                                          </p:val>
                                        </p:tav>
                                        <p:tav fmla="" tm="100000">
                                          <p:val>
                                            <p:strVal val="#ppt_w"/>
                                          </p:val>
                                        </p:tav>
                                      </p:tavLst>
                                    </p:anim>
                                    <p:anim calcmode="lin" valueType="num">
                                      <p:cBhvr additive="base">
                                        <p:cTn dur="500"/>
                                        <p:tgtEl>
                                          <p:spTgt spid="49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500"/>
                                        <p:tgtEl>
                                          <p:spTgt spid="4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500"/>
                                        <p:tgtEl>
                                          <p:spTgt spid="4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500"/>
                                        <p:tgtEl>
                                          <p:spTgt spid="4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500"/>
                                        <p:tgtEl>
                                          <p:spTgt spid="4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95"/>
                                        </p:tgtEl>
                                        <p:attrNameLst>
                                          <p:attrName>style.visibility</p:attrName>
                                        </p:attrNameLst>
                                      </p:cBhvr>
                                      <p:to>
                                        <p:strVal val="visible"/>
                                      </p:to>
                                    </p:set>
                                    <p:anim calcmode="lin" valueType="num">
                                      <p:cBhvr additive="base">
                                        <p:cTn dur="500"/>
                                        <p:tgtEl>
                                          <p:spTgt spid="495"/>
                                        </p:tgtEl>
                                        <p:attrNameLst>
                                          <p:attrName>ppt_w</p:attrName>
                                        </p:attrNameLst>
                                      </p:cBhvr>
                                      <p:tavLst>
                                        <p:tav fmla="" tm="0">
                                          <p:val>
                                            <p:strVal val="0"/>
                                          </p:val>
                                        </p:tav>
                                        <p:tav fmla="" tm="100000">
                                          <p:val>
                                            <p:strVal val="#ppt_w"/>
                                          </p:val>
                                        </p:tav>
                                      </p:tavLst>
                                    </p:anim>
                                    <p:anim calcmode="lin" valueType="num">
                                      <p:cBhvr additive="base">
                                        <p:cTn dur="500"/>
                                        <p:tgtEl>
                                          <p:spTgt spid="49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500"/>
                                        <p:tgtEl>
                                          <p:spTgt spid="4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500"/>
                                        <p:tgtEl>
                                          <p:spTgt spid="4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500"/>
                                        <p:tgtEl>
                                          <p:spTgt spid="4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500"/>
                                        <p:tgtEl>
                                          <p:spTgt spid="4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00"/>
                                        </p:tgtEl>
                                        <p:attrNameLst>
                                          <p:attrName>style.visibility</p:attrName>
                                        </p:attrNameLst>
                                      </p:cBhvr>
                                      <p:to>
                                        <p:strVal val="visible"/>
                                      </p:to>
                                    </p:set>
                                    <p:anim calcmode="lin" valueType="num">
                                      <p:cBhvr additive="base">
                                        <p:cTn dur="500"/>
                                        <p:tgtEl>
                                          <p:spTgt spid="500"/>
                                        </p:tgtEl>
                                        <p:attrNameLst>
                                          <p:attrName>ppt_w</p:attrName>
                                        </p:attrNameLst>
                                      </p:cBhvr>
                                      <p:tavLst>
                                        <p:tav fmla="" tm="0">
                                          <p:val>
                                            <p:strVal val="0"/>
                                          </p:val>
                                        </p:tav>
                                        <p:tav fmla="" tm="100000">
                                          <p:val>
                                            <p:strVal val="#ppt_w"/>
                                          </p:val>
                                        </p:tav>
                                      </p:tavLst>
                                    </p:anim>
                                    <p:anim calcmode="lin" valueType="num">
                                      <p:cBhvr additive="base">
                                        <p:cTn dur="500"/>
                                        <p:tgtEl>
                                          <p:spTgt spid="50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36"/>
          <p:cNvSpPr/>
          <p:nvPr/>
        </p:nvSpPr>
        <p:spPr>
          <a:xfrm>
            <a:off x="687388" y="1970088"/>
            <a:ext cx="7772400" cy="4887912"/>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PRACTICE: An isolated metal sphere of radius 1.5 cm has a charge of -15 nC placed on it.</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(a) Sketch in the electric field lines                                outside the sphere.</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(b) Find the electric field strength at                                           the surface of the sphere.</a:t>
            </a:r>
            <a:endParaRPr/>
          </a:p>
          <a:p>
            <a:pPr indent="0" lvl="0" marL="0" marR="0" rtl="0" algn="l">
              <a:spcBef>
                <a:spcPts val="500"/>
              </a:spcBef>
              <a:spcAft>
                <a:spcPts val="0"/>
              </a:spcAft>
              <a:buNone/>
            </a:pPr>
            <a:r>
              <a:rPr b="0" i="0" lang="en-US" sz="2400" u="none" cap="none" strike="noStrike">
                <a:solidFill>
                  <a:schemeClr val="dk1"/>
                </a:solidFill>
                <a:latin typeface="Arial"/>
                <a:ea typeface="Arial"/>
                <a:cs typeface="Arial"/>
                <a:sym typeface="Arial"/>
              </a:rPr>
              <a:t>SOLUTION:</a:t>
            </a:r>
            <a:endParaRPr/>
          </a:p>
          <a:p>
            <a:pPr indent="0" lvl="0" marL="0" marR="0" rtl="0" algn="l">
              <a:spcBef>
                <a:spcPts val="500"/>
              </a:spcBef>
              <a:spcAft>
                <a:spcPts val="0"/>
              </a:spcAft>
              <a:buNone/>
            </a:pPr>
            <a:r>
              <a:rPr b="0" i="0" lang="en-US" sz="2400" u="none" cap="none" strike="noStrike">
                <a:solidFill>
                  <a:schemeClr val="dk1"/>
                </a:solidFill>
                <a:latin typeface="Arial"/>
                <a:ea typeface="Arial"/>
                <a:cs typeface="Arial"/>
                <a:sym typeface="Arial"/>
              </a:rPr>
              <a:t>(a) Field lines point towards (-) charge.</a:t>
            </a:r>
            <a:endParaRPr/>
          </a:p>
          <a:p>
            <a:pPr indent="0" lvl="0" marL="0" marR="0" rtl="0" algn="l">
              <a:spcBef>
                <a:spcPts val="500"/>
              </a:spcBef>
              <a:spcAft>
                <a:spcPts val="0"/>
              </a:spcAft>
              <a:buNone/>
            </a:pPr>
            <a:r>
              <a:rPr b="0" i="0" lang="en-US" sz="2400" u="none" cap="none" strike="noStrike">
                <a:solidFill>
                  <a:schemeClr val="dk1"/>
                </a:solidFill>
                <a:latin typeface="Arial"/>
                <a:ea typeface="Arial"/>
                <a:cs typeface="Arial"/>
                <a:sym typeface="Arial"/>
              </a:rPr>
              <a:t>(b) The field equation works as if all of the charge is at the center of the spherical distribution.</a:t>
            </a:r>
            <a:endParaRPr/>
          </a:p>
          <a:p>
            <a:pPr indent="0" lvl="1" marL="457200" marR="0" rtl="0" algn="l">
              <a:spcBef>
                <a:spcPts val="500"/>
              </a:spcBef>
              <a:spcAft>
                <a:spcPts val="0"/>
              </a:spcAft>
              <a:buNone/>
            </a:pP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E</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kQ / r</a:t>
            </a:r>
            <a:r>
              <a:rPr b="0" baseline="30000" i="0" lang="en-US" sz="2400" u="none" cap="none" strike="noStrike">
                <a:solidFill>
                  <a:schemeClr val="dk1"/>
                </a:solidFill>
                <a:latin typeface="Arial"/>
                <a:ea typeface="Arial"/>
                <a:cs typeface="Arial"/>
                <a:sym typeface="Arial"/>
              </a:rPr>
              <a:t> 2</a:t>
            </a:r>
            <a:r>
              <a:rPr b="0" i="0" lang="en-US" sz="2400" u="none" cap="none" strike="noStrike">
                <a:solidFill>
                  <a:schemeClr val="dk1"/>
                </a:solidFill>
                <a:latin typeface="Arial"/>
                <a:ea typeface="Arial"/>
                <a:cs typeface="Arial"/>
                <a:sym typeface="Arial"/>
              </a:rPr>
              <a:t> </a:t>
            </a:r>
            <a:endParaRPr/>
          </a:p>
          <a:p>
            <a:pPr indent="0" lvl="0" marL="0" marR="0" rtl="0" algn="l">
              <a:spcBef>
                <a:spcPts val="500"/>
              </a:spcBef>
              <a:spcAft>
                <a:spcPts val="0"/>
              </a:spcAft>
              <a:buNone/>
            </a:pPr>
            <a:r>
              <a:rPr b="0" i="0" lang="en-US" sz="2400" u="none" cap="none" strike="noStrike">
                <a:solidFill>
                  <a:schemeClr val="dk1"/>
                </a:solidFill>
                <a:latin typeface="Arial"/>
                <a:ea typeface="Arial"/>
                <a:cs typeface="Arial"/>
                <a:sym typeface="Arial"/>
              </a:rPr>
              <a:t>   	= (8.99×10</a:t>
            </a:r>
            <a:r>
              <a:rPr b="0" baseline="30000" i="0" lang="en-US" sz="2400" u="none" cap="none" strike="noStrike">
                <a:solidFill>
                  <a:schemeClr val="dk1"/>
                </a:solidFill>
                <a:latin typeface="Arial"/>
                <a:ea typeface="Arial"/>
                <a:cs typeface="Arial"/>
                <a:sym typeface="Arial"/>
              </a:rPr>
              <a:t>9</a:t>
            </a:r>
            <a:r>
              <a:rPr b="0" i="0" lang="en-US" sz="2400" u="none" cap="none" strike="noStrike">
                <a:solidFill>
                  <a:schemeClr val="dk1"/>
                </a:solidFill>
                <a:latin typeface="Arial"/>
                <a:ea typeface="Arial"/>
                <a:cs typeface="Arial"/>
                <a:sym typeface="Arial"/>
              </a:rPr>
              <a:t>)(15×10</a:t>
            </a:r>
            <a:r>
              <a:rPr b="0" baseline="30000" i="0" lang="en-US" sz="2400" u="none" cap="none" strike="noStrike">
                <a:solidFill>
                  <a:schemeClr val="dk1"/>
                </a:solidFill>
                <a:latin typeface="Arial"/>
                <a:ea typeface="Arial"/>
                <a:cs typeface="Arial"/>
                <a:sym typeface="Arial"/>
              </a:rPr>
              <a:t>-9</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 0.015</a:t>
            </a:r>
            <a:r>
              <a:rPr b="0" baseline="30000" i="0" lang="en-US" sz="2400" u="none" cap="none" strike="noStrike">
                <a:solidFill>
                  <a:schemeClr val="dk1"/>
                </a:solidFill>
                <a:latin typeface="Arial"/>
                <a:ea typeface="Arial"/>
                <a:cs typeface="Arial"/>
                <a:sym typeface="Arial"/>
              </a:rPr>
              <a:t>2</a:t>
            </a:r>
            <a:r>
              <a:rPr b="0" i="0" lang="en-US" sz="2400" u="none" cap="none" strike="noStrike">
                <a:solidFill>
                  <a:schemeClr val="dk1"/>
                </a:solidFill>
                <a:latin typeface="Arial"/>
                <a:ea typeface="Arial"/>
                <a:cs typeface="Arial"/>
                <a:sym typeface="Arial"/>
              </a:rPr>
              <a:t> = 6.0×10</a:t>
            </a:r>
            <a:r>
              <a:rPr b="0" baseline="30000" i="0" lang="en-US" sz="2400" u="none" cap="none" strike="noStrike">
                <a:solidFill>
                  <a:schemeClr val="dk1"/>
                </a:solidFill>
                <a:latin typeface="Arial"/>
                <a:ea typeface="Arial"/>
                <a:cs typeface="Arial"/>
                <a:sym typeface="Arial"/>
              </a:rPr>
              <a:t>5</a:t>
            </a:r>
            <a:r>
              <a:rPr b="0" baseline="-25000" i="0"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NC</a:t>
            </a:r>
            <a:r>
              <a:rPr b="0" baseline="30000" i="0" lang="en-US" sz="2400" u="none" cap="none" strike="noStrike">
                <a:solidFill>
                  <a:schemeClr val="dk1"/>
                </a:solidFill>
                <a:latin typeface="Arial"/>
                <a:ea typeface="Arial"/>
                <a:cs typeface="Arial"/>
                <a:sym typeface="Arial"/>
              </a:rPr>
              <a:t>-1</a:t>
            </a:r>
            <a:r>
              <a:rPr b="0" i="0" lang="en-US" sz="2400" u="none" cap="none" strike="noStrike">
                <a:solidFill>
                  <a:schemeClr val="dk1"/>
                </a:solidFill>
                <a:latin typeface="Arial"/>
                <a:ea typeface="Arial"/>
                <a:cs typeface="Arial"/>
                <a:sym typeface="Arial"/>
              </a:rPr>
              <a:t>.</a:t>
            </a:r>
            <a:endParaRPr b="0" baseline="30000" i="0" sz="2400" u="none" cap="none" strike="noStrike">
              <a:solidFill>
                <a:schemeClr val="dk1"/>
              </a:solidFill>
              <a:latin typeface="Arial"/>
              <a:ea typeface="Arial"/>
              <a:cs typeface="Arial"/>
              <a:sym typeface="Arial"/>
            </a:endParaRPr>
          </a:p>
        </p:txBody>
      </p:sp>
      <p:sp>
        <p:nvSpPr>
          <p:cNvPr id="506" name="Google Shape;506;p36"/>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sp>
        <p:nvSpPr>
          <p:cNvPr id="507" name="Google Shape;507;p36"/>
          <p:cNvSpPr/>
          <p:nvPr/>
        </p:nvSpPr>
        <p:spPr>
          <a:xfrm>
            <a:off x="6823075" y="3132138"/>
            <a:ext cx="914400" cy="9144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a:p>
        </p:txBody>
      </p:sp>
      <p:grpSp>
        <p:nvGrpSpPr>
          <p:cNvPr id="508" name="Google Shape;508;p36"/>
          <p:cNvGrpSpPr/>
          <p:nvPr/>
        </p:nvGrpSpPr>
        <p:grpSpPr>
          <a:xfrm>
            <a:off x="5936629" y="2248851"/>
            <a:ext cx="2689359" cy="2689361"/>
            <a:chOff x="3740" y="1195"/>
            <a:chExt cx="1694" cy="1694"/>
          </a:xfrm>
        </p:grpSpPr>
        <p:grpSp>
          <p:nvGrpSpPr>
            <p:cNvPr id="509" name="Google Shape;509;p36"/>
            <p:cNvGrpSpPr/>
            <p:nvPr/>
          </p:nvGrpSpPr>
          <p:grpSpPr>
            <a:xfrm>
              <a:off x="3985" y="1440"/>
              <a:ext cx="1198" cy="1198"/>
              <a:chOff x="3985" y="1440"/>
              <a:chExt cx="1198" cy="1198"/>
            </a:xfrm>
          </p:grpSpPr>
          <p:grpSp>
            <p:nvGrpSpPr>
              <p:cNvPr id="510" name="Google Shape;510;p36"/>
              <p:cNvGrpSpPr/>
              <p:nvPr/>
            </p:nvGrpSpPr>
            <p:grpSpPr>
              <a:xfrm>
                <a:off x="4570" y="1440"/>
                <a:ext cx="9" cy="1198"/>
                <a:chOff x="4570" y="1440"/>
                <a:chExt cx="9" cy="1198"/>
              </a:xfrm>
            </p:grpSpPr>
            <p:cxnSp>
              <p:nvCxnSpPr>
                <p:cNvPr id="511" name="Google Shape;511;p36"/>
                <p:cNvCxnSpPr/>
                <p:nvPr/>
              </p:nvCxnSpPr>
              <p:spPr>
                <a:xfrm>
                  <a:off x="4570" y="1440"/>
                  <a:ext cx="0" cy="303"/>
                </a:xfrm>
                <a:prstGeom prst="straightConnector1">
                  <a:avLst/>
                </a:prstGeom>
                <a:noFill/>
                <a:ln cap="flat" cmpd="sng" w="19050">
                  <a:solidFill>
                    <a:srgbClr val="FF0000"/>
                  </a:solidFill>
                  <a:prstDash val="solid"/>
                  <a:round/>
                  <a:headEnd len="med" w="med" type="none"/>
                  <a:tailEnd len="med" w="med" type="stealth"/>
                </a:ln>
              </p:spPr>
            </p:cxnSp>
            <p:cxnSp>
              <p:nvCxnSpPr>
                <p:cNvPr id="512" name="Google Shape;512;p36"/>
                <p:cNvCxnSpPr/>
                <p:nvPr/>
              </p:nvCxnSpPr>
              <p:spPr>
                <a:xfrm>
                  <a:off x="4579" y="2335"/>
                  <a:ext cx="0" cy="303"/>
                </a:xfrm>
                <a:prstGeom prst="straightConnector1">
                  <a:avLst/>
                </a:prstGeom>
                <a:noFill/>
                <a:ln cap="flat" cmpd="sng" w="19050">
                  <a:solidFill>
                    <a:srgbClr val="FF0000"/>
                  </a:solidFill>
                  <a:prstDash val="solid"/>
                  <a:round/>
                  <a:headEnd len="med" w="med" type="stealth"/>
                  <a:tailEnd len="med" w="med" type="none"/>
                </a:ln>
              </p:spPr>
            </p:cxnSp>
          </p:grpSp>
          <p:grpSp>
            <p:nvGrpSpPr>
              <p:cNvPr id="513" name="Google Shape;513;p36"/>
              <p:cNvGrpSpPr/>
              <p:nvPr/>
            </p:nvGrpSpPr>
            <p:grpSpPr>
              <a:xfrm rot="5400000">
                <a:off x="4579" y="1434"/>
                <a:ext cx="9" cy="1198"/>
                <a:chOff x="4570" y="1440"/>
                <a:chExt cx="9" cy="1198"/>
              </a:xfrm>
            </p:grpSpPr>
            <p:cxnSp>
              <p:nvCxnSpPr>
                <p:cNvPr id="514" name="Google Shape;514;p36"/>
                <p:cNvCxnSpPr/>
                <p:nvPr/>
              </p:nvCxnSpPr>
              <p:spPr>
                <a:xfrm>
                  <a:off x="4570" y="1440"/>
                  <a:ext cx="0" cy="303"/>
                </a:xfrm>
                <a:prstGeom prst="straightConnector1">
                  <a:avLst/>
                </a:prstGeom>
                <a:noFill/>
                <a:ln cap="flat" cmpd="sng" w="19050">
                  <a:solidFill>
                    <a:srgbClr val="FF0000"/>
                  </a:solidFill>
                  <a:prstDash val="solid"/>
                  <a:round/>
                  <a:headEnd len="med" w="med" type="none"/>
                  <a:tailEnd len="med" w="med" type="stealth"/>
                </a:ln>
              </p:spPr>
            </p:cxnSp>
            <p:cxnSp>
              <p:nvCxnSpPr>
                <p:cNvPr id="515" name="Google Shape;515;p36"/>
                <p:cNvCxnSpPr/>
                <p:nvPr/>
              </p:nvCxnSpPr>
              <p:spPr>
                <a:xfrm>
                  <a:off x="4579" y="2335"/>
                  <a:ext cx="0" cy="303"/>
                </a:xfrm>
                <a:prstGeom prst="straightConnector1">
                  <a:avLst/>
                </a:prstGeom>
                <a:noFill/>
                <a:ln cap="flat" cmpd="sng" w="19050">
                  <a:solidFill>
                    <a:srgbClr val="FF0000"/>
                  </a:solidFill>
                  <a:prstDash val="solid"/>
                  <a:round/>
                  <a:headEnd len="med" w="med" type="stealth"/>
                  <a:tailEnd len="med" w="med" type="none"/>
                </a:ln>
              </p:spPr>
            </p:cxnSp>
          </p:grpSp>
        </p:grpSp>
        <p:grpSp>
          <p:nvGrpSpPr>
            <p:cNvPr id="516" name="Google Shape;516;p36"/>
            <p:cNvGrpSpPr/>
            <p:nvPr/>
          </p:nvGrpSpPr>
          <p:grpSpPr>
            <a:xfrm rot="2744644">
              <a:off x="3988" y="1443"/>
              <a:ext cx="1198" cy="1198"/>
              <a:chOff x="3985" y="1440"/>
              <a:chExt cx="1198" cy="1198"/>
            </a:xfrm>
          </p:grpSpPr>
          <p:grpSp>
            <p:nvGrpSpPr>
              <p:cNvPr id="517" name="Google Shape;517;p36"/>
              <p:cNvGrpSpPr/>
              <p:nvPr/>
            </p:nvGrpSpPr>
            <p:grpSpPr>
              <a:xfrm>
                <a:off x="4570" y="1440"/>
                <a:ext cx="9" cy="1198"/>
                <a:chOff x="4570" y="1440"/>
                <a:chExt cx="9" cy="1198"/>
              </a:xfrm>
            </p:grpSpPr>
            <p:cxnSp>
              <p:nvCxnSpPr>
                <p:cNvPr id="518" name="Google Shape;518;p36"/>
                <p:cNvCxnSpPr/>
                <p:nvPr/>
              </p:nvCxnSpPr>
              <p:spPr>
                <a:xfrm>
                  <a:off x="4570" y="1440"/>
                  <a:ext cx="0" cy="303"/>
                </a:xfrm>
                <a:prstGeom prst="straightConnector1">
                  <a:avLst/>
                </a:prstGeom>
                <a:noFill/>
                <a:ln cap="flat" cmpd="sng" w="19050">
                  <a:solidFill>
                    <a:srgbClr val="FF0000"/>
                  </a:solidFill>
                  <a:prstDash val="solid"/>
                  <a:round/>
                  <a:headEnd len="med" w="med" type="none"/>
                  <a:tailEnd len="med" w="med" type="stealth"/>
                </a:ln>
              </p:spPr>
            </p:cxnSp>
            <p:cxnSp>
              <p:nvCxnSpPr>
                <p:cNvPr id="519" name="Google Shape;519;p36"/>
                <p:cNvCxnSpPr/>
                <p:nvPr/>
              </p:nvCxnSpPr>
              <p:spPr>
                <a:xfrm>
                  <a:off x="4579" y="2335"/>
                  <a:ext cx="0" cy="303"/>
                </a:xfrm>
                <a:prstGeom prst="straightConnector1">
                  <a:avLst/>
                </a:prstGeom>
                <a:noFill/>
                <a:ln cap="flat" cmpd="sng" w="19050">
                  <a:solidFill>
                    <a:srgbClr val="FF0000"/>
                  </a:solidFill>
                  <a:prstDash val="solid"/>
                  <a:round/>
                  <a:headEnd len="med" w="med" type="stealth"/>
                  <a:tailEnd len="med" w="med" type="none"/>
                </a:ln>
              </p:spPr>
            </p:cxnSp>
          </p:grpSp>
          <p:grpSp>
            <p:nvGrpSpPr>
              <p:cNvPr id="520" name="Google Shape;520;p36"/>
              <p:cNvGrpSpPr/>
              <p:nvPr/>
            </p:nvGrpSpPr>
            <p:grpSpPr>
              <a:xfrm rot="5400000">
                <a:off x="4579" y="1434"/>
                <a:ext cx="9" cy="1198"/>
                <a:chOff x="4570" y="1440"/>
                <a:chExt cx="9" cy="1198"/>
              </a:xfrm>
            </p:grpSpPr>
            <p:cxnSp>
              <p:nvCxnSpPr>
                <p:cNvPr id="521" name="Google Shape;521;p36"/>
                <p:cNvCxnSpPr/>
                <p:nvPr/>
              </p:nvCxnSpPr>
              <p:spPr>
                <a:xfrm>
                  <a:off x="4570" y="1440"/>
                  <a:ext cx="0" cy="303"/>
                </a:xfrm>
                <a:prstGeom prst="straightConnector1">
                  <a:avLst/>
                </a:prstGeom>
                <a:noFill/>
                <a:ln cap="flat" cmpd="sng" w="19050">
                  <a:solidFill>
                    <a:srgbClr val="FF0000"/>
                  </a:solidFill>
                  <a:prstDash val="solid"/>
                  <a:round/>
                  <a:headEnd len="med" w="med" type="none"/>
                  <a:tailEnd len="med" w="med" type="stealth"/>
                </a:ln>
              </p:spPr>
            </p:cxnSp>
            <p:cxnSp>
              <p:nvCxnSpPr>
                <p:cNvPr id="522" name="Google Shape;522;p36"/>
                <p:cNvCxnSpPr/>
                <p:nvPr/>
              </p:nvCxnSpPr>
              <p:spPr>
                <a:xfrm>
                  <a:off x="4579" y="2335"/>
                  <a:ext cx="0" cy="303"/>
                </a:xfrm>
                <a:prstGeom prst="straightConnector1">
                  <a:avLst/>
                </a:prstGeom>
                <a:noFill/>
                <a:ln cap="flat" cmpd="sng" w="19050">
                  <a:solidFill>
                    <a:srgbClr val="FF0000"/>
                  </a:solidFill>
                  <a:prstDash val="solid"/>
                  <a:round/>
                  <a:headEnd len="med" w="med" type="stealth"/>
                  <a:tailEnd len="med" w="med" type="none"/>
                </a:ln>
              </p:spPr>
            </p:cxnSp>
          </p:grpSp>
        </p:grpSp>
      </p:grpSp>
      <p:sp>
        <p:nvSpPr>
          <p:cNvPr id="523" name="Google Shape;523;p36"/>
          <p:cNvSpPr/>
          <p:nvPr/>
        </p:nvSpPr>
        <p:spPr>
          <a:xfrm>
            <a:off x="685800" y="1549400"/>
            <a:ext cx="7772400" cy="42068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b="0" i="1" lang="en-US" sz="2400" u="none" cap="none" strike="noStrike">
                <a:solidFill>
                  <a:srgbClr val="333399"/>
                </a:solidFill>
                <a:latin typeface="Arial"/>
                <a:ea typeface="Arial"/>
                <a:cs typeface="Arial"/>
                <a:sym typeface="Arial"/>
              </a:rPr>
              <a:t>Solving problems involving electric fields</a:t>
            </a:r>
            <a:endParaRPr b="0" i="1" sz="2400" u="none" cap="none" strike="noStrike">
              <a:solidFill>
                <a:srgbClr val="000000"/>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5">
                                            <p:txEl>
                                              <p:pRg end="0" st="0"/>
                                            </p:txEl>
                                          </p:spTgt>
                                        </p:tgtEl>
                                        <p:attrNameLst>
                                          <p:attrName>style.visibility</p:attrName>
                                        </p:attrNameLst>
                                      </p:cBhvr>
                                      <p:to>
                                        <p:strVal val="visible"/>
                                      </p:to>
                                    </p:set>
                                    <p:anim calcmode="lin" valueType="num">
                                      <p:cBhvr additive="base">
                                        <p:cTn dur="500"/>
                                        <p:tgtEl>
                                          <p:spTgt spid="50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5">
                                            <p:txEl>
                                              <p:pRg end="1" st="1"/>
                                            </p:txEl>
                                          </p:spTgt>
                                        </p:tgtEl>
                                        <p:attrNameLst>
                                          <p:attrName>style.visibility</p:attrName>
                                        </p:attrNameLst>
                                      </p:cBhvr>
                                      <p:to>
                                        <p:strVal val="visible"/>
                                      </p:to>
                                    </p:set>
                                    <p:anim calcmode="lin" valueType="num">
                                      <p:cBhvr additive="base">
                                        <p:cTn dur="500"/>
                                        <p:tgtEl>
                                          <p:spTgt spid="50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5">
                                            <p:txEl>
                                              <p:pRg end="2" st="2"/>
                                            </p:txEl>
                                          </p:spTgt>
                                        </p:tgtEl>
                                        <p:attrNameLst>
                                          <p:attrName>style.visibility</p:attrName>
                                        </p:attrNameLst>
                                      </p:cBhvr>
                                      <p:to>
                                        <p:strVal val="visible"/>
                                      </p:to>
                                    </p:set>
                                    <p:anim calcmode="lin" valueType="num">
                                      <p:cBhvr additive="base">
                                        <p:cTn dur="500"/>
                                        <p:tgtEl>
                                          <p:spTgt spid="50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5">
                                            <p:txEl>
                                              <p:pRg end="3" st="3"/>
                                            </p:txEl>
                                          </p:spTgt>
                                        </p:tgtEl>
                                        <p:attrNameLst>
                                          <p:attrName>style.visibility</p:attrName>
                                        </p:attrNameLst>
                                      </p:cBhvr>
                                      <p:to>
                                        <p:strVal val="visible"/>
                                      </p:to>
                                    </p:set>
                                    <p:anim calcmode="lin" valueType="num">
                                      <p:cBhvr additive="base">
                                        <p:cTn dur="500"/>
                                        <p:tgtEl>
                                          <p:spTgt spid="50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5">
                                            <p:txEl>
                                              <p:pRg end="4" st="4"/>
                                            </p:txEl>
                                          </p:spTgt>
                                        </p:tgtEl>
                                        <p:attrNameLst>
                                          <p:attrName>style.visibility</p:attrName>
                                        </p:attrNameLst>
                                      </p:cBhvr>
                                      <p:to>
                                        <p:strVal val="visible"/>
                                      </p:to>
                                    </p:set>
                                    <p:anim calcmode="lin" valueType="num">
                                      <p:cBhvr additive="base">
                                        <p:cTn dur="500"/>
                                        <p:tgtEl>
                                          <p:spTgt spid="50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5">
                                            <p:txEl>
                                              <p:pRg end="5" st="5"/>
                                            </p:txEl>
                                          </p:spTgt>
                                        </p:tgtEl>
                                        <p:attrNameLst>
                                          <p:attrName>style.visibility</p:attrName>
                                        </p:attrNameLst>
                                      </p:cBhvr>
                                      <p:to>
                                        <p:strVal val="visible"/>
                                      </p:to>
                                    </p:set>
                                    <p:anim calcmode="lin" valueType="num">
                                      <p:cBhvr additive="base">
                                        <p:cTn dur="500"/>
                                        <p:tgtEl>
                                          <p:spTgt spid="50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5">
                                            <p:txEl>
                                              <p:pRg end="6" st="6"/>
                                            </p:txEl>
                                          </p:spTgt>
                                        </p:tgtEl>
                                        <p:attrNameLst>
                                          <p:attrName>style.visibility</p:attrName>
                                        </p:attrNameLst>
                                      </p:cBhvr>
                                      <p:to>
                                        <p:strVal val="visible"/>
                                      </p:to>
                                    </p:set>
                                    <p:anim calcmode="lin" valueType="num">
                                      <p:cBhvr additive="base">
                                        <p:cTn dur="500"/>
                                        <p:tgtEl>
                                          <p:spTgt spid="50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5">
                                            <p:txEl>
                                              <p:pRg end="7" st="7"/>
                                            </p:txEl>
                                          </p:spTgt>
                                        </p:tgtEl>
                                        <p:attrNameLst>
                                          <p:attrName>style.visibility</p:attrName>
                                        </p:attrNameLst>
                                      </p:cBhvr>
                                      <p:to>
                                        <p:strVal val="visible"/>
                                      </p:to>
                                    </p:set>
                                    <p:anim calcmode="lin" valueType="num">
                                      <p:cBhvr additive="base">
                                        <p:cTn dur="500"/>
                                        <p:tgtEl>
                                          <p:spTgt spid="505">
                                            <p:txEl>
                                              <p:pRg end="7" st="7"/>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0"/>
                                  </p:stCondLst>
                                  <p:childTnLst>
                                    <p:set>
                                      <p:cBhvr>
                                        <p:cTn dur="1" fill="hold">
                                          <p:stCondLst>
                                            <p:cond delay="0"/>
                                          </p:stCondLst>
                                        </p:cTn>
                                        <p:tgtEl>
                                          <p:spTgt spid="507"/>
                                        </p:tgtEl>
                                        <p:attrNameLst>
                                          <p:attrName>style.visibility</p:attrName>
                                        </p:attrNameLst>
                                      </p:cBhvr>
                                      <p:to>
                                        <p:strVal val="visible"/>
                                      </p:to>
                                    </p:set>
                                    <p:anim calcmode="lin" valueType="num">
                                      <p:cBhvr additive="base">
                                        <p:cTn dur="500"/>
                                        <p:tgtEl>
                                          <p:spTgt spid="507"/>
                                        </p:tgtEl>
                                        <p:attrNameLst>
                                          <p:attrName>ppt_w</p:attrName>
                                        </p:attrNameLst>
                                      </p:cBhvr>
                                      <p:tavLst>
                                        <p:tav fmla="" tm="0">
                                          <p:val>
                                            <p:strVal val="0"/>
                                          </p:val>
                                        </p:tav>
                                        <p:tav fmla="" tm="100000">
                                          <p:val>
                                            <p:strVal val="#ppt_w"/>
                                          </p:val>
                                        </p:tav>
                                      </p:tavLst>
                                    </p:anim>
                                    <p:anim calcmode="lin" valueType="num">
                                      <p:cBhvr additive="base">
                                        <p:cTn dur="500"/>
                                        <p:tgtEl>
                                          <p:spTgt spid="50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08"/>
                                        </p:tgtEl>
                                        <p:attrNameLst>
                                          <p:attrName>style.visibility</p:attrName>
                                        </p:attrNameLst>
                                      </p:cBhvr>
                                      <p:to>
                                        <p:strVal val="visible"/>
                                      </p:to>
                                    </p:set>
                                    <p:anim calcmode="lin" valueType="num">
                                      <p:cBhvr additive="base">
                                        <p:cTn dur="500"/>
                                        <p:tgtEl>
                                          <p:spTgt spid="508"/>
                                        </p:tgtEl>
                                        <p:attrNameLst>
                                          <p:attrName>ppt_w</p:attrName>
                                        </p:attrNameLst>
                                      </p:cBhvr>
                                      <p:tavLst>
                                        <p:tav fmla="" tm="0">
                                          <p:val>
                                            <p:strVal val="0"/>
                                          </p:val>
                                        </p:tav>
                                        <p:tav fmla="" tm="100000">
                                          <p:val>
                                            <p:strVal val="#ppt_w"/>
                                          </p:val>
                                        </p:tav>
                                      </p:tavLst>
                                    </p:anim>
                                    <p:anim calcmode="lin" valueType="num">
                                      <p:cBhvr additive="base">
                                        <p:cTn dur="500"/>
                                        <p:tgtEl>
                                          <p:spTgt spid="50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37"/>
          <p:cNvSpPr/>
          <p:nvPr/>
        </p:nvSpPr>
        <p:spPr>
          <a:xfrm>
            <a:off x="687388" y="1970088"/>
            <a:ext cx="7772400" cy="4887912"/>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PRACTICE: An isolated metal sphere of radius 1.5 cm has a charge of -15 nC placed on it.</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(c) An electron is placed on the outside                            surface of the sphere and released.                                     What is its initial acceleration?</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SOLUTION:</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(c) The electron feels force </a:t>
            </a:r>
            <a:r>
              <a:rPr b="0" i="1" lang="en-US" sz="2400" u="none" cap="none" strike="noStrike">
                <a:solidFill>
                  <a:schemeClr val="dk1"/>
                </a:solidFill>
                <a:latin typeface="Arial"/>
                <a:ea typeface="Arial"/>
                <a:cs typeface="Arial"/>
                <a:sym typeface="Arial"/>
              </a:rPr>
              <a:t>F</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Eq</a:t>
            </a:r>
            <a:r>
              <a:rPr b="0" i="0" lang="en-US" sz="2400" u="none" cap="none" strike="noStrike">
                <a:solidFill>
                  <a:schemeClr val="dk1"/>
                </a:solidFill>
                <a:latin typeface="Arial"/>
                <a:ea typeface="Arial"/>
                <a:cs typeface="Arial"/>
                <a:sym typeface="Arial"/>
              </a:rPr>
              <a:t> so that</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F = Ee </a:t>
            </a:r>
            <a:r>
              <a:rPr b="0" i="0" lang="en-US" sz="2400" u="none" cap="none" strike="noStrike">
                <a:solidFill>
                  <a:schemeClr val="dk1"/>
                </a:solidFill>
                <a:latin typeface="Arial"/>
                <a:ea typeface="Arial"/>
                <a:cs typeface="Arial"/>
                <a:sym typeface="Arial"/>
              </a:rPr>
              <a:t>=</a:t>
            </a:r>
            <a:r>
              <a:rPr b="0" i="1"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(6.0×10</a:t>
            </a:r>
            <a:r>
              <a:rPr b="0" baseline="30000" i="0" lang="en-US" sz="2400" u="none" cap="none" strike="noStrike">
                <a:solidFill>
                  <a:schemeClr val="dk1"/>
                </a:solidFill>
                <a:latin typeface="Arial"/>
                <a:ea typeface="Arial"/>
                <a:cs typeface="Arial"/>
                <a:sym typeface="Arial"/>
              </a:rPr>
              <a:t>5</a:t>
            </a:r>
            <a:r>
              <a:rPr b="0" i="0" lang="en-US" sz="2400" u="none" cap="none" strike="noStrike">
                <a:solidFill>
                  <a:schemeClr val="dk1"/>
                </a:solidFill>
                <a:latin typeface="Arial"/>
                <a:ea typeface="Arial"/>
                <a:cs typeface="Arial"/>
                <a:sym typeface="Arial"/>
              </a:rPr>
              <a:t>)(1.6×10</a:t>
            </a:r>
            <a:r>
              <a:rPr b="0" baseline="30000" i="0" lang="en-US" sz="2400" u="none" cap="none" strike="noStrike">
                <a:solidFill>
                  <a:schemeClr val="dk1"/>
                </a:solidFill>
                <a:latin typeface="Arial"/>
                <a:ea typeface="Arial"/>
                <a:cs typeface="Arial"/>
                <a:sym typeface="Arial"/>
              </a:rPr>
              <a:t>-19</a:t>
            </a:r>
            <a:r>
              <a:rPr b="0" i="0" lang="en-US" sz="2400" u="none" cap="none" strike="noStrike">
                <a:solidFill>
                  <a:schemeClr val="dk1"/>
                </a:solidFill>
                <a:latin typeface="Arial"/>
                <a:ea typeface="Arial"/>
                <a:cs typeface="Arial"/>
                <a:sym typeface="Arial"/>
              </a:rPr>
              <a:t>) = 9.6×10</a:t>
            </a:r>
            <a:r>
              <a:rPr b="0" baseline="30000" i="0" lang="en-US" sz="2400" u="none" cap="none" strike="noStrike">
                <a:solidFill>
                  <a:schemeClr val="dk1"/>
                </a:solidFill>
                <a:latin typeface="Arial"/>
                <a:ea typeface="Arial"/>
                <a:cs typeface="Arial"/>
                <a:sym typeface="Arial"/>
              </a:rPr>
              <a:t>-14</a:t>
            </a:r>
            <a:r>
              <a:rPr b="0" i="0" lang="en-US" sz="2400" u="none" cap="none" strike="noStrike">
                <a:solidFill>
                  <a:schemeClr val="dk1"/>
                </a:solidFill>
                <a:latin typeface="Arial"/>
                <a:ea typeface="Arial"/>
                <a:cs typeface="Arial"/>
                <a:sym typeface="Arial"/>
              </a:rPr>
              <a:t> N.</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But </a:t>
            </a:r>
            <a:r>
              <a:rPr b="0" i="1" lang="en-US" sz="2400" u="none" cap="none" strike="noStrike">
                <a:solidFill>
                  <a:schemeClr val="dk1"/>
                </a:solidFill>
                <a:latin typeface="Arial"/>
                <a:ea typeface="Arial"/>
                <a:cs typeface="Arial"/>
                <a:sym typeface="Arial"/>
              </a:rPr>
              <a:t>F</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ma</a:t>
            </a:r>
            <a:r>
              <a:rPr b="0" i="0" lang="en-US" sz="2400" u="none" cap="none" strike="noStrike">
                <a:solidFill>
                  <a:schemeClr val="dk1"/>
                </a:solidFill>
                <a:latin typeface="Arial"/>
                <a:ea typeface="Arial"/>
                <a:cs typeface="Arial"/>
                <a:sym typeface="Arial"/>
              </a:rPr>
              <a:t> so that</a:t>
            </a:r>
            <a:endParaRPr/>
          </a:p>
          <a:p>
            <a:pPr indent="0" lvl="0" marL="0" marR="0" rtl="0" algn="l">
              <a:spcBef>
                <a:spcPts val="480"/>
              </a:spcBef>
              <a:spcAft>
                <a:spcPts val="0"/>
              </a:spcAft>
              <a:buNone/>
            </a:pPr>
            <a:r>
              <a:rPr b="0" i="1" lang="en-US" sz="2400" u="none" cap="none" strike="noStrike">
                <a:solidFill>
                  <a:schemeClr val="dk1"/>
                </a:solidFill>
                <a:latin typeface="Arial"/>
                <a:ea typeface="Arial"/>
                <a:cs typeface="Arial"/>
                <a:sym typeface="Arial"/>
              </a:rPr>
              <a:t>       a</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F </a:t>
            </a:r>
            <a:r>
              <a:rPr b="0" i="0" lang="en-US" sz="2400" u="none" cap="none" strike="noStrike">
                <a:solidFill>
                  <a:schemeClr val="dk1"/>
                </a:solidFill>
                <a:latin typeface="Arial"/>
                <a:ea typeface="Arial"/>
                <a:cs typeface="Arial"/>
                <a:sym typeface="Arial"/>
              </a:rPr>
              <a:t>/</a:t>
            </a:r>
            <a:r>
              <a:rPr b="0" i="1" lang="en-US" sz="2400" u="none" cap="none" strike="noStrike">
                <a:solidFill>
                  <a:schemeClr val="dk1"/>
                </a:solidFill>
                <a:latin typeface="Arial"/>
                <a:ea typeface="Arial"/>
                <a:cs typeface="Arial"/>
                <a:sym typeface="Arial"/>
              </a:rPr>
              <a:t> m</a:t>
            </a:r>
            <a:r>
              <a:rPr b="0" i="0" lang="en-US" sz="2400" u="none" cap="none" strike="noStrike">
                <a:solidFill>
                  <a:schemeClr val="dk1"/>
                </a:solidFill>
                <a:latin typeface="Arial"/>
                <a:ea typeface="Arial"/>
                <a:cs typeface="Arial"/>
                <a:sym typeface="Arial"/>
              </a:rPr>
              <a:t> </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	= (9.6×10</a:t>
            </a:r>
            <a:r>
              <a:rPr b="0" baseline="30000" i="0" lang="en-US" sz="2400" u="none" cap="none" strike="noStrike">
                <a:solidFill>
                  <a:schemeClr val="dk1"/>
                </a:solidFill>
                <a:latin typeface="Arial"/>
                <a:ea typeface="Arial"/>
                <a:cs typeface="Arial"/>
                <a:sym typeface="Arial"/>
              </a:rPr>
              <a:t>-14</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a:t>
            </a:r>
            <a:r>
              <a:rPr b="0" i="0" lang="en-US" sz="2400" u="none" cap="none" strike="noStrike">
                <a:solidFill>
                  <a:schemeClr val="dk1"/>
                </a:solidFill>
                <a:latin typeface="Arial"/>
                <a:ea typeface="Arial"/>
                <a:cs typeface="Arial"/>
                <a:sym typeface="Arial"/>
              </a:rPr>
              <a:t> (9.11×10</a:t>
            </a:r>
            <a:r>
              <a:rPr b="0" baseline="30000" i="0" lang="en-US" sz="2400" u="none" cap="none" strike="noStrike">
                <a:solidFill>
                  <a:schemeClr val="dk1"/>
                </a:solidFill>
                <a:latin typeface="Arial"/>
                <a:ea typeface="Arial"/>
                <a:cs typeface="Arial"/>
                <a:sym typeface="Arial"/>
              </a:rPr>
              <a:t>-31</a:t>
            </a:r>
            <a:r>
              <a:rPr b="0" i="0" lang="en-US" sz="2400" u="none" cap="none" strike="noStrike">
                <a:solidFill>
                  <a:schemeClr val="dk1"/>
                </a:solidFill>
                <a:latin typeface="Arial"/>
                <a:ea typeface="Arial"/>
                <a:cs typeface="Arial"/>
                <a:sym typeface="Arial"/>
              </a:rPr>
              <a:t>) = 1.1×10</a:t>
            </a:r>
            <a:r>
              <a:rPr b="0" baseline="30000" i="0" lang="en-US" sz="2400" u="none" cap="none" strike="noStrike">
                <a:solidFill>
                  <a:schemeClr val="dk1"/>
                </a:solidFill>
                <a:latin typeface="Arial"/>
                <a:ea typeface="Arial"/>
                <a:cs typeface="Arial"/>
                <a:sym typeface="Arial"/>
              </a:rPr>
              <a:t>17</a:t>
            </a:r>
            <a:r>
              <a:rPr b="0" i="0" lang="en-US" sz="2400" u="none" cap="none" strike="noStrike">
                <a:solidFill>
                  <a:schemeClr val="dk1"/>
                </a:solidFill>
                <a:latin typeface="Arial"/>
                <a:ea typeface="Arial"/>
                <a:cs typeface="Arial"/>
                <a:sym typeface="Arial"/>
              </a:rPr>
              <a:t> m</a:t>
            </a:r>
            <a:r>
              <a:rPr b="0" baseline="-25000" i="0"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s</a:t>
            </a:r>
            <a:r>
              <a:rPr b="0" baseline="30000" i="0" lang="en-US" sz="2400" u="none" cap="none" strike="noStrike">
                <a:solidFill>
                  <a:schemeClr val="dk1"/>
                </a:solidFill>
                <a:latin typeface="Arial"/>
                <a:ea typeface="Arial"/>
                <a:cs typeface="Arial"/>
                <a:sym typeface="Arial"/>
              </a:rPr>
              <a:t>-2</a:t>
            </a:r>
            <a:r>
              <a:rPr b="0" i="0" lang="en-US" sz="2400" u="none" cap="none" strike="noStrike">
                <a:solidFill>
                  <a:schemeClr val="dk1"/>
                </a:solidFill>
                <a:latin typeface="Arial"/>
                <a:ea typeface="Arial"/>
                <a:cs typeface="Arial"/>
                <a:sym typeface="Arial"/>
              </a:rPr>
              <a:t>.</a:t>
            </a:r>
            <a:endParaRPr b="0" baseline="30000" i="0" sz="2400" u="none" cap="none" strike="noStrike">
              <a:solidFill>
                <a:schemeClr val="dk1"/>
              </a:solidFill>
              <a:latin typeface="Arial"/>
              <a:ea typeface="Arial"/>
              <a:cs typeface="Arial"/>
              <a:sym typeface="Arial"/>
            </a:endParaRPr>
          </a:p>
        </p:txBody>
      </p:sp>
      <p:sp>
        <p:nvSpPr>
          <p:cNvPr id="529" name="Google Shape;529;p37"/>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sp>
        <p:nvSpPr>
          <p:cNvPr id="530" name="Google Shape;530;p37"/>
          <p:cNvSpPr/>
          <p:nvPr/>
        </p:nvSpPr>
        <p:spPr>
          <a:xfrm>
            <a:off x="6823075" y="3132138"/>
            <a:ext cx="914400" cy="9144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a:p>
        </p:txBody>
      </p:sp>
      <p:grpSp>
        <p:nvGrpSpPr>
          <p:cNvPr id="531" name="Google Shape;531;p37"/>
          <p:cNvGrpSpPr/>
          <p:nvPr/>
        </p:nvGrpSpPr>
        <p:grpSpPr>
          <a:xfrm>
            <a:off x="5936629" y="2248851"/>
            <a:ext cx="2689359" cy="2689361"/>
            <a:chOff x="3740" y="1195"/>
            <a:chExt cx="1694" cy="1694"/>
          </a:xfrm>
        </p:grpSpPr>
        <p:grpSp>
          <p:nvGrpSpPr>
            <p:cNvPr id="532" name="Google Shape;532;p37"/>
            <p:cNvGrpSpPr/>
            <p:nvPr/>
          </p:nvGrpSpPr>
          <p:grpSpPr>
            <a:xfrm>
              <a:off x="3985" y="1440"/>
              <a:ext cx="1198" cy="1198"/>
              <a:chOff x="3985" y="1440"/>
              <a:chExt cx="1198" cy="1198"/>
            </a:xfrm>
          </p:grpSpPr>
          <p:grpSp>
            <p:nvGrpSpPr>
              <p:cNvPr id="533" name="Google Shape;533;p37"/>
              <p:cNvGrpSpPr/>
              <p:nvPr/>
            </p:nvGrpSpPr>
            <p:grpSpPr>
              <a:xfrm>
                <a:off x="4570" y="1440"/>
                <a:ext cx="9" cy="1198"/>
                <a:chOff x="4570" y="1440"/>
                <a:chExt cx="9" cy="1198"/>
              </a:xfrm>
            </p:grpSpPr>
            <p:cxnSp>
              <p:nvCxnSpPr>
                <p:cNvPr id="534" name="Google Shape;534;p37"/>
                <p:cNvCxnSpPr/>
                <p:nvPr/>
              </p:nvCxnSpPr>
              <p:spPr>
                <a:xfrm>
                  <a:off x="4570" y="1440"/>
                  <a:ext cx="0" cy="303"/>
                </a:xfrm>
                <a:prstGeom prst="straightConnector1">
                  <a:avLst/>
                </a:prstGeom>
                <a:noFill/>
                <a:ln cap="flat" cmpd="sng" w="19050">
                  <a:solidFill>
                    <a:srgbClr val="FF0000"/>
                  </a:solidFill>
                  <a:prstDash val="solid"/>
                  <a:round/>
                  <a:headEnd len="med" w="med" type="none"/>
                  <a:tailEnd len="med" w="med" type="stealth"/>
                </a:ln>
              </p:spPr>
            </p:cxnSp>
            <p:cxnSp>
              <p:nvCxnSpPr>
                <p:cNvPr id="535" name="Google Shape;535;p37"/>
                <p:cNvCxnSpPr/>
                <p:nvPr/>
              </p:nvCxnSpPr>
              <p:spPr>
                <a:xfrm>
                  <a:off x="4579" y="2335"/>
                  <a:ext cx="0" cy="303"/>
                </a:xfrm>
                <a:prstGeom prst="straightConnector1">
                  <a:avLst/>
                </a:prstGeom>
                <a:noFill/>
                <a:ln cap="flat" cmpd="sng" w="19050">
                  <a:solidFill>
                    <a:srgbClr val="FF0000"/>
                  </a:solidFill>
                  <a:prstDash val="solid"/>
                  <a:round/>
                  <a:headEnd len="med" w="med" type="stealth"/>
                  <a:tailEnd len="med" w="med" type="none"/>
                </a:ln>
              </p:spPr>
            </p:cxnSp>
          </p:grpSp>
          <p:grpSp>
            <p:nvGrpSpPr>
              <p:cNvPr id="536" name="Google Shape;536;p37"/>
              <p:cNvGrpSpPr/>
              <p:nvPr/>
            </p:nvGrpSpPr>
            <p:grpSpPr>
              <a:xfrm rot="5400000">
                <a:off x="4579" y="1434"/>
                <a:ext cx="9" cy="1198"/>
                <a:chOff x="4570" y="1440"/>
                <a:chExt cx="9" cy="1198"/>
              </a:xfrm>
            </p:grpSpPr>
            <p:cxnSp>
              <p:nvCxnSpPr>
                <p:cNvPr id="537" name="Google Shape;537;p37"/>
                <p:cNvCxnSpPr/>
                <p:nvPr/>
              </p:nvCxnSpPr>
              <p:spPr>
                <a:xfrm>
                  <a:off x="4570" y="1440"/>
                  <a:ext cx="0" cy="303"/>
                </a:xfrm>
                <a:prstGeom prst="straightConnector1">
                  <a:avLst/>
                </a:prstGeom>
                <a:noFill/>
                <a:ln cap="flat" cmpd="sng" w="19050">
                  <a:solidFill>
                    <a:srgbClr val="FF0000"/>
                  </a:solidFill>
                  <a:prstDash val="solid"/>
                  <a:round/>
                  <a:headEnd len="med" w="med" type="none"/>
                  <a:tailEnd len="med" w="med" type="stealth"/>
                </a:ln>
              </p:spPr>
            </p:cxnSp>
            <p:cxnSp>
              <p:nvCxnSpPr>
                <p:cNvPr id="538" name="Google Shape;538;p37"/>
                <p:cNvCxnSpPr/>
                <p:nvPr/>
              </p:nvCxnSpPr>
              <p:spPr>
                <a:xfrm>
                  <a:off x="4579" y="2335"/>
                  <a:ext cx="0" cy="303"/>
                </a:xfrm>
                <a:prstGeom prst="straightConnector1">
                  <a:avLst/>
                </a:prstGeom>
                <a:noFill/>
                <a:ln cap="flat" cmpd="sng" w="19050">
                  <a:solidFill>
                    <a:srgbClr val="FF0000"/>
                  </a:solidFill>
                  <a:prstDash val="solid"/>
                  <a:round/>
                  <a:headEnd len="med" w="med" type="stealth"/>
                  <a:tailEnd len="med" w="med" type="none"/>
                </a:ln>
              </p:spPr>
            </p:cxnSp>
          </p:grpSp>
        </p:grpSp>
        <p:grpSp>
          <p:nvGrpSpPr>
            <p:cNvPr id="539" name="Google Shape;539;p37"/>
            <p:cNvGrpSpPr/>
            <p:nvPr/>
          </p:nvGrpSpPr>
          <p:grpSpPr>
            <a:xfrm rot="2744644">
              <a:off x="3988" y="1443"/>
              <a:ext cx="1198" cy="1198"/>
              <a:chOff x="3985" y="1440"/>
              <a:chExt cx="1198" cy="1198"/>
            </a:xfrm>
          </p:grpSpPr>
          <p:grpSp>
            <p:nvGrpSpPr>
              <p:cNvPr id="540" name="Google Shape;540;p37"/>
              <p:cNvGrpSpPr/>
              <p:nvPr/>
            </p:nvGrpSpPr>
            <p:grpSpPr>
              <a:xfrm>
                <a:off x="4570" y="1440"/>
                <a:ext cx="9" cy="1198"/>
                <a:chOff x="4570" y="1440"/>
                <a:chExt cx="9" cy="1198"/>
              </a:xfrm>
            </p:grpSpPr>
            <p:cxnSp>
              <p:nvCxnSpPr>
                <p:cNvPr id="541" name="Google Shape;541;p37"/>
                <p:cNvCxnSpPr/>
                <p:nvPr/>
              </p:nvCxnSpPr>
              <p:spPr>
                <a:xfrm>
                  <a:off x="4570" y="1440"/>
                  <a:ext cx="0" cy="303"/>
                </a:xfrm>
                <a:prstGeom prst="straightConnector1">
                  <a:avLst/>
                </a:prstGeom>
                <a:noFill/>
                <a:ln cap="flat" cmpd="sng" w="19050">
                  <a:solidFill>
                    <a:srgbClr val="FF0000"/>
                  </a:solidFill>
                  <a:prstDash val="solid"/>
                  <a:round/>
                  <a:headEnd len="med" w="med" type="none"/>
                  <a:tailEnd len="med" w="med" type="stealth"/>
                </a:ln>
              </p:spPr>
            </p:cxnSp>
            <p:cxnSp>
              <p:nvCxnSpPr>
                <p:cNvPr id="542" name="Google Shape;542;p37"/>
                <p:cNvCxnSpPr/>
                <p:nvPr/>
              </p:nvCxnSpPr>
              <p:spPr>
                <a:xfrm>
                  <a:off x="4579" y="2335"/>
                  <a:ext cx="0" cy="303"/>
                </a:xfrm>
                <a:prstGeom prst="straightConnector1">
                  <a:avLst/>
                </a:prstGeom>
                <a:noFill/>
                <a:ln cap="flat" cmpd="sng" w="19050">
                  <a:solidFill>
                    <a:srgbClr val="FF0000"/>
                  </a:solidFill>
                  <a:prstDash val="solid"/>
                  <a:round/>
                  <a:headEnd len="med" w="med" type="stealth"/>
                  <a:tailEnd len="med" w="med" type="none"/>
                </a:ln>
              </p:spPr>
            </p:cxnSp>
          </p:grpSp>
          <p:grpSp>
            <p:nvGrpSpPr>
              <p:cNvPr id="543" name="Google Shape;543;p37"/>
              <p:cNvGrpSpPr/>
              <p:nvPr/>
            </p:nvGrpSpPr>
            <p:grpSpPr>
              <a:xfrm rot="5400000">
                <a:off x="4579" y="1434"/>
                <a:ext cx="9" cy="1198"/>
                <a:chOff x="4570" y="1440"/>
                <a:chExt cx="9" cy="1198"/>
              </a:xfrm>
            </p:grpSpPr>
            <p:cxnSp>
              <p:nvCxnSpPr>
                <p:cNvPr id="544" name="Google Shape;544;p37"/>
                <p:cNvCxnSpPr/>
                <p:nvPr/>
              </p:nvCxnSpPr>
              <p:spPr>
                <a:xfrm>
                  <a:off x="4570" y="1440"/>
                  <a:ext cx="0" cy="303"/>
                </a:xfrm>
                <a:prstGeom prst="straightConnector1">
                  <a:avLst/>
                </a:prstGeom>
                <a:noFill/>
                <a:ln cap="flat" cmpd="sng" w="19050">
                  <a:solidFill>
                    <a:srgbClr val="FF0000"/>
                  </a:solidFill>
                  <a:prstDash val="solid"/>
                  <a:round/>
                  <a:headEnd len="med" w="med" type="none"/>
                  <a:tailEnd len="med" w="med" type="stealth"/>
                </a:ln>
              </p:spPr>
            </p:cxnSp>
            <p:cxnSp>
              <p:nvCxnSpPr>
                <p:cNvPr id="545" name="Google Shape;545;p37"/>
                <p:cNvCxnSpPr/>
                <p:nvPr/>
              </p:nvCxnSpPr>
              <p:spPr>
                <a:xfrm>
                  <a:off x="4579" y="2335"/>
                  <a:ext cx="0" cy="303"/>
                </a:xfrm>
                <a:prstGeom prst="straightConnector1">
                  <a:avLst/>
                </a:prstGeom>
                <a:noFill/>
                <a:ln cap="flat" cmpd="sng" w="19050">
                  <a:solidFill>
                    <a:srgbClr val="FF0000"/>
                  </a:solidFill>
                  <a:prstDash val="solid"/>
                  <a:round/>
                  <a:headEnd len="med" w="med" type="stealth"/>
                  <a:tailEnd len="med" w="med" type="none"/>
                </a:ln>
              </p:spPr>
            </p:cxnSp>
          </p:grpSp>
        </p:grpSp>
      </p:grpSp>
      <p:sp>
        <p:nvSpPr>
          <p:cNvPr id="546" name="Google Shape;546;p37"/>
          <p:cNvSpPr/>
          <p:nvPr/>
        </p:nvSpPr>
        <p:spPr>
          <a:xfrm>
            <a:off x="685800" y="1549400"/>
            <a:ext cx="7772400" cy="42068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b="0" i="1" lang="en-US" sz="2400" u="none" cap="none" strike="noStrike">
                <a:solidFill>
                  <a:srgbClr val="333399"/>
                </a:solidFill>
                <a:latin typeface="Arial"/>
                <a:ea typeface="Arial"/>
                <a:cs typeface="Arial"/>
                <a:sym typeface="Arial"/>
              </a:rPr>
              <a:t>Solving problems involving electric fields</a:t>
            </a:r>
            <a:endParaRPr b="0" i="1" sz="24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38"/>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1" lang="en-US" sz="2400" u="none" cap="none" strike="noStrike">
                <a:solidFill>
                  <a:srgbClr val="333399"/>
                </a:solidFill>
                <a:latin typeface="Arial"/>
                <a:ea typeface="Arial"/>
                <a:cs typeface="Arial"/>
                <a:sym typeface="Arial"/>
              </a:rPr>
              <a:t>Electric monopoles and dipoles</a:t>
            </a:r>
            <a:endParaRPr b="0" i="1" sz="2400" u="none" cap="none" strike="noStrike">
              <a:solidFill>
                <a:srgbClr val="000000"/>
              </a:solidFill>
              <a:latin typeface="Arial"/>
              <a:ea typeface="Arial"/>
              <a:cs typeface="Arial"/>
              <a:sym typeface="Arial"/>
            </a:endParaRPr>
          </a:p>
          <a:p>
            <a:pPr indent="0" lvl="0" marL="0" marR="0" rtl="0" algn="l">
              <a:spcBef>
                <a:spcPts val="480"/>
              </a:spcBef>
              <a:spcAft>
                <a:spcPts val="0"/>
              </a:spcAft>
              <a:buNone/>
            </a:pPr>
            <a:r>
              <a:rPr b="0" i="0" lang="en-US" sz="2400" u="none" cap="none" strike="noStrike">
                <a:solidFill>
                  <a:srgbClr val="000000"/>
                </a:solidFill>
                <a:latin typeface="Arial"/>
                <a:ea typeface="Arial"/>
                <a:cs typeface="Arial"/>
                <a:sym typeface="Arial"/>
              </a:rPr>
              <a:t>∙Because there are two types of electric charge, electric fields can have field lines pointing inward AND outward.</a:t>
            </a:r>
            <a:endParaRPr/>
          </a:p>
          <a:p>
            <a:pPr indent="0" lvl="0" marL="0" marR="0" rtl="0" algn="l">
              <a:spcBef>
                <a:spcPts val="480"/>
              </a:spcBef>
              <a:spcAft>
                <a:spcPts val="0"/>
              </a:spcAft>
              <a:buNone/>
            </a:pPr>
            <a:r>
              <a:rPr b="0" i="0" lang="en-US" sz="2400" u="none" cap="none" strike="noStrike">
                <a:solidFill>
                  <a:srgbClr val="000000"/>
                </a:solidFill>
                <a:latin typeface="Arial"/>
                <a:ea typeface="Arial"/>
                <a:cs typeface="Arial"/>
                <a:sym typeface="Arial"/>
              </a:rPr>
              <a:t>∙A single charge is called a </a:t>
            </a:r>
            <a:r>
              <a:rPr b="1" i="0" lang="en-US" sz="2400" u="none" cap="none" strike="noStrike">
                <a:solidFill>
                  <a:srgbClr val="000000"/>
                </a:solidFill>
                <a:latin typeface="Arial"/>
                <a:ea typeface="Arial"/>
                <a:cs typeface="Arial"/>
                <a:sym typeface="Arial"/>
              </a:rPr>
              <a:t>monopole</a:t>
            </a:r>
            <a:r>
              <a:rPr b="0" i="0" lang="en-US" sz="2400" u="none" cap="none" strike="noStrike">
                <a:solidFill>
                  <a:srgbClr val="000000"/>
                </a:solidFill>
                <a:latin typeface="Arial"/>
                <a:ea typeface="Arial"/>
                <a:cs typeface="Arial"/>
                <a:sym typeface="Arial"/>
              </a:rPr>
              <a:t>. </a:t>
            </a:r>
            <a:endParaRPr/>
          </a:p>
        </p:txBody>
      </p:sp>
      <p:sp>
        <p:nvSpPr>
          <p:cNvPr id="552" name="Google Shape;552;p38"/>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grpSp>
        <p:nvGrpSpPr>
          <p:cNvPr id="553" name="Google Shape;553;p38"/>
          <p:cNvGrpSpPr/>
          <p:nvPr/>
        </p:nvGrpSpPr>
        <p:grpSpPr>
          <a:xfrm>
            <a:off x="5562905" y="3275250"/>
            <a:ext cx="3084160" cy="3091976"/>
            <a:chOff x="1325" y="1790"/>
            <a:chExt cx="753" cy="754"/>
          </a:xfrm>
        </p:grpSpPr>
        <p:sp>
          <p:nvSpPr>
            <p:cNvPr id="554" name="Google Shape;554;p38"/>
            <p:cNvSpPr/>
            <p:nvPr/>
          </p:nvSpPr>
          <p:spPr>
            <a:xfrm>
              <a:off x="1639" y="2108"/>
              <a:ext cx="115" cy="115"/>
            </a:xfrm>
            <a:prstGeom prst="ellipse">
              <a:avLst/>
            </a:prstGeom>
            <a:gradFill>
              <a:gsLst>
                <a:gs pos="0">
                  <a:srgbClr val="FF9999"/>
                </a:gs>
                <a:gs pos="100000">
                  <a:srgbClr val="764747"/>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555" name="Google Shape;555;p38"/>
            <p:cNvGrpSpPr/>
            <p:nvPr/>
          </p:nvGrpSpPr>
          <p:grpSpPr>
            <a:xfrm>
              <a:off x="1325" y="1790"/>
              <a:ext cx="753" cy="754"/>
              <a:chOff x="475" y="1308"/>
              <a:chExt cx="1646" cy="1649"/>
            </a:xfrm>
          </p:grpSpPr>
          <p:grpSp>
            <p:nvGrpSpPr>
              <p:cNvPr id="556" name="Google Shape;556;p38"/>
              <p:cNvGrpSpPr/>
              <p:nvPr/>
            </p:nvGrpSpPr>
            <p:grpSpPr>
              <a:xfrm>
                <a:off x="654" y="1498"/>
                <a:ext cx="1265" cy="1270"/>
                <a:chOff x="654" y="1498"/>
                <a:chExt cx="1265" cy="1270"/>
              </a:xfrm>
            </p:grpSpPr>
            <p:cxnSp>
              <p:nvCxnSpPr>
                <p:cNvPr id="557" name="Google Shape;557;p38"/>
                <p:cNvCxnSpPr/>
                <p:nvPr/>
              </p:nvCxnSpPr>
              <p:spPr>
                <a:xfrm>
                  <a:off x="1465" y="2136"/>
                  <a:ext cx="454" cy="0"/>
                </a:xfrm>
                <a:prstGeom prst="straightConnector1">
                  <a:avLst/>
                </a:prstGeom>
                <a:noFill/>
                <a:ln cap="flat" cmpd="sng" w="9525">
                  <a:solidFill>
                    <a:schemeClr val="dk1"/>
                  </a:solidFill>
                  <a:prstDash val="solid"/>
                  <a:round/>
                  <a:headEnd len="med" w="med" type="none"/>
                  <a:tailEnd len="med" w="med" type="triangle"/>
                </a:ln>
              </p:spPr>
            </p:cxnSp>
            <p:cxnSp>
              <p:nvCxnSpPr>
                <p:cNvPr id="558" name="Google Shape;558;p38"/>
                <p:cNvCxnSpPr/>
                <p:nvPr/>
              </p:nvCxnSpPr>
              <p:spPr>
                <a:xfrm rot="10800000">
                  <a:off x="1292" y="1498"/>
                  <a:ext cx="0" cy="459"/>
                </a:xfrm>
                <a:prstGeom prst="straightConnector1">
                  <a:avLst/>
                </a:prstGeom>
                <a:noFill/>
                <a:ln cap="flat" cmpd="sng" w="9525">
                  <a:solidFill>
                    <a:schemeClr val="dk1"/>
                  </a:solidFill>
                  <a:prstDash val="solid"/>
                  <a:round/>
                  <a:headEnd len="med" w="med" type="none"/>
                  <a:tailEnd len="med" w="med" type="triangle"/>
                </a:ln>
              </p:spPr>
            </p:cxnSp>
            <p:cxnSp>
              <p:nvCxnSpPr>
                <p:cNvPr id="559" name="Google Shape;559;p38"/>
                <p:cNvCxnSpPr/>
                <p:nvPr/>
              </p:nvCxnSpPr>
              <p:spPr>
                <a:xfrm rot="10800000">
                  <a:off x="654" y="2131"/>
                  <a:ext cx="459" cy="0"/>
                </a:xfrm>
                <a:prstGeom prst="straightConnector1">
                  <a:avLst/>
                </a:prstGeom>
                <a:noFill/>
                <a:ln cap="flat" cmpd="sng" w="9525">
                  <a:solidFill>
                    <a:schemeClr val="dk1"/>
                  </a:solidFill>
                  <a:prstDash val="solid"/>
                  <a:round/>
                  <a:headEnd len="med" w="med" type="none"/>
                  <a:tailEnd len="med" w="med" type="triangle"/>
                </a:ln>
              </p:spPr>
            </p:cxnSp>
            <p:cxnSp>
              <p:nvCxnSpPr>
                <p:cNvPr id="560" name="Google Shape;560;p38"/>
                <p:cNvCxnSpPr/>
                <p:nvPr/>
              </p:nvCxnSpPr>
              <p:spPr>
                <a:xfrm>
                  <a:off x="1292" y="2310"/>
                  <a:ext cx="0" cy="458"/>
                </a:xfrm>
                <a:prstGeom prst="straightConnector1">
                  <a:avLst/>
                </a:prstGeom>
                <a:noFill/>
                <a:ln cap="flat" cmpd="sng" w="9525">
                  <a:solidFill>
                    <a:schemeClr val="dk1"/>
                  </a:solidFill>
                  <a:prstDash val="solid"/>
                  <a:round/>
                  <a:headEnd len="med" w="med" type="none"/>
                  <a:tailEnd len="med" w="med" type="triangle"/>
                </a:ln>
              </p:spPr>
            </p:cxnSp>
            <p:cxnSp>
              <p:nvCxnSpPr>
                <p:cNvPr id="561" name="Google Shape;561;p38"/>
                <p:cNvCxnSpPr/>
                <p:nvPr/>
              </p:nvCxnSpPr>
              <p:spPr>
                <a:xfrm flipH="1" rot="10800000">
                  <a:off x="1415" y="1689"/>
                  <a:ext cx="319" cy="319"/>
                </a:xfrm>
                <a:prstGeom prst="straightConnector1">
                  <a:avLst/>
                </a:prstGeom>
                <a:noFill/>
                <a:ln cap="flat" cmpd="sng" w="9525">
                  <a:solidFill>
                    <a:schemeClr val="dk1"/>
                  </a:solidFill>
                  <a:prstDash val="solid"/>
                  <a:round/>
                  <a:headEnd len="med" w="med" type="none"/>
                  <a:tailEnd len="med" w="med" type="triangle"/>
                </a:ln>
              </p:spPr>
            </p:cxnSp>
            <p:cxnSp>
              <p:nvCxnSpPr>
                <p:cNvPr id="562" name="Google Shape;562;p38"/>
                <p:cNvCxnSpPr/>
                <p:nvPr/>
              </p:nvCxnSpPr>
              <p:spPr>
                <a:xfrm rot="10800000">
                  <a:off x="844" y="1683"/>
                  <a:ext cx="319" cy="319"/>
                </a:xfrm>
                <a:prstGeom prst="straightConnector1">
                  <a:avLst/>
                </a:prstGeom>
                <a:noFill/>
                <a:ln cap="flat" cmpd="sng" w="9525">
                  <a:solidFill>
                    <a:schemeClr val="dk1"/>
                  </a:solidFill>
                  <a:prstDash val="solid"/>
                  <a:round/>
                  <a:headEnd len="med" w="med" type="none"/>
                  <a:tailEnd len="med" w="med" type="triangle"/>
                </a:ln>
              </p:spPr>
            </p:cxnSp>
            <p:cxnSp>
              <p:nvCxnSpPr>
                <p:cNvPr id="563" name="Google Shape;563;p38"/>
                <p:cNvCxnSpPr/>
                <p:nvPr/>
              </p:nvCxnSpPr>
              <p:spPr>
                <a:xfrm flipH="1">
                  <a:off x="839" y="2265"/>
                  <a:ext cx="324" cy="324"/>
                </a:xfrm>
                <a:prstGeom prst="straightConnector1">
                  <a:avLst/>
                </a:prstGeom>
                <a:noFill/>
                <a:ln cap="flat" cmpd="sng" w="9525">
                  <a:solidFill>
                    <a:schemeClr val="dk1"/>
                  </a:solidFill>
                  <a:prstDash val="solid"/>
                  <a:round/>
                  <a:headEnd len="med" w="med" type="none"/>
                  <a:tailEnd len="med" w="med" type="triangle"/>
                </a:ln>
              </p:spPr>
            </p:cxnSp>
            <p:cxnSp>
              <p:nvCxnSpPr>
                <p:cNvPr id="564" name="Google Shape;564;p38"/>
                <p:cNvCxnSpPr/>
                <p:nvPr/>
              </p:nvCxnSpPr>
              <p:spPr>
                <a:xfrm>
                  <a:off x="1415" y="2259"/>
                  <a:ext cx="307" cy="307"/>
                </a:xfrm>
                <a:prstGeom prst="straightConnector1">
                  <a:avLst/>
                </a:prstGeom>
                <a:noFill/>
                <a:ln cap="flat" cmpd="sng" w="9525">
                  <a:solidFill>
                    <a:schemeClr val="dk1"/>
                  </a:solidFill>
                  <a:prstDash val="solid"/>
                  <a:round/>
                  <a:headEnd len="med" w="med" type="none"/>
                  <a:tailEnd len="med" w="med" type="triangle"/>
                </a:ln>
              </p:spPr>
            </p:cxnSp>
          </p:grpSp>
          <p:grpSp>
            <p:nvGrpSpPr>
              <p:cNvPr id="565" name="Google Shape;565;p38"/>
              <p:cNvGrpSpPr/>
              <p:nvPr/>
            </p:nvGrpSpPr>
            <p:grpSpPr>
              <a:xfrm rot="1308473">
                <a:off x="666" y="1498"/>
                <a:ext cx="1265" cy="1270"/>
                <a:chOff x="654" y="1498"/>
                <a:chExt cx="1265" cy="1270"/>
              </a:xfrm>
            </p:grpSpPr>
            <p:cxnSp>
              <p:nvCxnSpPr>
                <p:cNvPr id="566" name="Google Shape;566;p38"/>
                <p:cNvCxnSpPr/>
                <p:nvPr/>
              </p:nvCxnSpPr>
              <p:spPr>
                <a:xfrm>
                  <a:off x="1465" y="2136"/>
                  <a:ext cx="454" cy="0"/>
                </a:xfrm>
                <a:prstGeom prst="straightConnector1">
                  <a:avLst/>
                </a:prstGeom>
                <a:noFill/>
                <a:ln cap="flat" cmpd="sng" w="9525">
                  <a:solidFill>
                    <a:schemeClr val="dk1"/>
                  </a:solidFill>
                  <a:prstDash val="solid"/>
                  <a:round/>
                  <a:headEnd len="med" w="med" type="none"/>
                  <a:tailEnd len="med" w="med" type="triangle"/>
                </a:ln>
              </p:spPr>
            </p:cxnSp>
            <p:cxnSp>
              <p:nvCxnSpPr>
                <p:cNvPr id="567" name="Google Shape;567;p38"/>
                <p:cNvCxnSpPr/>
                <p:nvPr/>
              </p:nvCxnSpPr>
              <p:spPr>
                <a:xfrm rot="10800000">
                  <a:off x="1292" y="1498"/>
                  <a:ext cx="0" cy="459"/>
                </a:xfrm>
                <a:prstGeom prst="straightConnector1">
                  <a:avLst/>
                </a:prstGeom>
                <a:noFill/>
                <a:ln cap="flat" cmpd="sng" w="9525">
                  <a:solidFill>
                    <a:schemeClr val="dk1"/>
                  </a:solidFill>
                  <a:prstDash val="solid"/>
                  <a:round/>
                  <a:headEnd len="med" w="med" type="none"/>
                  <a:tailEnd len="med" w="med" type="triangle"/>
                </a:ln>
              </p:spPr>
            </p:cxnSp>
            <p:cxnSp>
              <p:nvCxnSpPr>
                <p:cNvPr id="568" name="Google Shape;568;p38"/>
                <p:cNvCxnSpPr/>
                <p:nvPr/>
              </p:nvCxnSpPr>
              <p:spPr>
                <a:xfrm rot="10800000">
                  <a:off x="654" y="2131"/>
                  <a:ext cx="459" cy="0"/>
                </a:xfrm>
                <a:prstGeom prst="straightConnector1">
                  <a:avLst/>
                </a:prstGeom>
                <a:noFill/>
                <a:ln cap="flat" cmpd="sng" w="9525">
                  <a:solidFill>
                    <a:schemeClr val="dk1"/>
                  </a:solidFill>
                  <a:prstDash val="solid"/>
                  <a:round/>
                  <a:headEnd len="med" w="med" type="none"/>
                  <a:tailEnd len="med" w="med" type="triangle"/>
                </a:ln>
              </p:spPr>
            </p:cxnSp>
            <p:cxnSp>
              <p:nvCxnSpPr>
                <p:cNvPr id="569" name="Google Shape;569;p38"/>
                <p:cNvCxnSpPr/>
                <p:nvPr/>
              </p:nvCxnSpPr>
              <p:spPr>
                <a:xfrm>
                  <a:off x="1292" y="2310"/>
                  <a:ext cx="0" cy="458"/>
                </a:xfrm>
                <a:prstGeom prst="straightConnector1">
                  <a:avLst/>
                </a:prstGeom>
                <a:noFill/>
                <a:ln cap="flat" cmpd="sng" w="9525">
                  <a:solidFill>
                    <a:schemeClr val="dk1"/>
                  </a:solidFill>
                  <a:prstDash val="solid"/>
                  <a:round/>
                  <a:headEnd len="med" w="med" type="none"/>
                  <a:tailEnd len="med" w="med" type="triangle"/>
                </a:ln>
              </p:spPr>
            </p:cxnSp>
            <p:cxnSp>
              <p:nvCxnSpPr>
                <p:cNvPr id="570" name="Google Shape;570;p38"/>
                <p:cNvCxnSpPr/>
                <p:nvPr/>
              </p:nvCxnSpPr>
              <p:spPr>
                <a:xfrm flipH="1" rot="10800000">
                  <a:off x="1415" y="1689"/>
                  <a:ext cx="319" cy="319"/>
                </a:xfrm>
                <a:prstGeom prst="straightConnector1">
                  <a:avLst/>
                </a:prstGeom>
                <a:noFill/>
                <a:ln cap="flat" cmpd="sng" w="9525">
                  <a:solidFill>
                    <a:schemeClr val="dk1"/>
                  </a:solidFill>
                  <a:prstDash val="solid"/>
                  <a:round/>
                  <a:headEnd len="med" w="med" type="none"/>
                  <a:tailEnd len="med" w="med" type="triangle"/>
                </a:ln>
              </p:spPr>
            </p:cxnSp>
            <p:cxnSp>
              <p:nvCxnSpPr>
                <p:cNvPr id="571" name="Google Shape;571;p38"/>
                <p:cNvCxnSpPr/>
                <p:nvPr/>
              </p:nvCxnSpPr>
              <p:spPr>
                <a:xfrm rot="10800000">
                  <a:off x="844" y="1683"/>
                  <a:ext cx="319" cy="319"/>
                </a:xfrm>
                <a:prstGeom prst="straightConnector1">
                  <a:avLst/>
                </a:prstGeom>
                <a:noFill/>
                <a:ln cap="flat" cmpd="sng" w="9525">
                  <a:solidFill>
                    <a:schemeClr val="dk1"/>
                  </a:solidFill>
                  <a:prstDash val="solid"/>
                  <a:round/>
                  <a:headEnd len="med" w="med" type="none"/>
                  <a:tailEnd len="med" w="med" type="triangle"/>
                </a:ln>
              </p:spPr>
            </p:cxnSp>
            <p:cxnSp>
              <p:nvCxnSpPr>
                <p:cNvPr id="572" name="Google Shape;572;p38"/>
                <p:cNvCxnSpPr/>
                <p:nvPr/>
              </p:nvCxnSpPr>
              <p:spPr>
                <a:xfrm flipH="1">
                  <a:off x="839" y="2265"/>
                  <a:ext cx="324" cy="324"/>
                </a:xfrm>
                <a:prstGeom prst="straightConnector1">
                  <a:avLst/>
                </a:prstGeom>
                <a:noFill/>
                <a:ln cap="flat" cmpd="sng" w="9525">
                  <a:solidFill>
                    <a:schemeClr val="dk1"/>
                  </a:solidFill>
                  <a:prstDash val="solid"/>
                  <a:round/>
                  <a:headEnd len="med" w="med" type="none"/>
                  <a:tailEnd len="med" w="med" type="triangle"/>
                </a:ln>
              </p:spPr>
            </p:cxnSp>
            <p:cxnSp>
              <p:nvCxnSpPr>
                <p:cNvPr id="573" name="Google Shape;573;p38"/>
                <p:cNvCxnSpPr/>
                <p:nvPr/>
              </p:nvCxnSpPr>
              <p:spPr>
                <a:xfrm>
                  <a:off x="1415" y="2259"/>
                  <a:ext cx="307" cy="307"/>
                </a:xfrm>
                <a:prstGeom prst="straightConnector1">
                  <a:avLst/>
                </a:prstGeom>
                <a:noFill/>
                <a:ln cap="flat" cmpd="sng" w="9525">
                  <a:solidFill>
                    <a:schemeClr val="dk1"/>
                  </a:solidFill>
                  <a:prstDash val="solid"/>
                  <a:round/>
                  <a:headEnd len="med" w="med" type="none"/>
                  <a:tailEnd len="med" w="med" type="triangle"/>
                </a:ln>
              </p:spPr>
            </p:cxnSp>
          </p:grpSp>
        </p:grpSp>
      </p:grpSp>
      <p:grpSp>
        <p:nvGrpSpPr>
          <p:cNvPr id="574" name="Google Shape;574;p38"/>
          <p:cNvGrpSpPr/>
          <p:nvPr/>
        </p:nvGrpSpPr>
        <p:grpSpPr>
          <a:xfrm>
            <a:off x="986295" y="3260679"/>
            <a:ext cx="3115779" cy="3121696"/>
            <a:chOff x="1313" y="3139"/>
            <a:chExt cx="760" cy="761"/>
          </a:xfrm>
        </p:grpSpPr>
        <p:sp>
          <p:nvSpPr>
            <p:cNvPr id="575" name="Google Shape;575;p38"/>
            <p:cNvSpPr/>
            <p:nvPr/>
          </p:nvSpPr>
          <p:spPr>
            <a:xfrm>
              <a:off x="1638" y="3457"/>
              <a:ext cx="115" cy="115"/>
            </a:xfrm>
            <a:prstGeom prst="ellipse">
              <a:avLst/>
            </a:prstGeom>
            <a:gradFill>
              <a:gsLst>
                <a:gs pos="0">
                  <a:schemeClr val="accent1"/>
                </a:gs>
                <a:gs pos="100000">
                  <a:srgbClr val="839D9F"/>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grpSp>
          <p:nvGrpSpPr>
            <p:cNvPr id="576" name="Google Shape;576;p38"/>
            <p:cNvGrpSpPr/>
            <p:nvPr/>
          </p:nvGrpSpPr>
          <p:grpSpPr>
            <a:xfrm>
              <a:off x="1313" y="3139"/>
              <a:ext cx="760" cy="761"/>
              <a:chOff x="360" y="2607"/>
              <a:chExt cx="1660" cy="1663"/>
            </a:xfrm>
          </p:grpSpPr>
          <p:grpSp>
            <p:nvGrpSpPr>
              <p:cNvPr id="577" name="Google Shape;577;p38"/>
              <p:cNvGrpSpPr/>
              <p:nvPr/>
            </p:nvGrpSpPr>
            <p:grpSpPr>
              <a:xfrm>
                <a:off x="562" y="2802"/>
                <a:ext cx="1265" cy="1270"/>
                <a:chOff x="654" y="1498"/>
                <a:chExt cx="1265" cy="1270"/>
              </a:xfrm>
            </p:grpSpPr>
            <p:cxnSp>
              <p:nvCxnSpPr>
                <p:cNvPr id="578" name="Google Shape;578;p38"/>
                <p:cNvCxnSpPr/>
                <p:nvPr/>
              </p:nvCxnSpPr>
              <p:spPr>
                <a:xfrm>
                  <a:off x="1465" y="2136"/>
                  <a:ext cx="454" cy="0"/>
                </a:xfrm>
                <a:prstGeom prst="straightConnector1">
                  <a:avLst/>
                </a:prstGeom>
                <a:noFill/>
                <a:ln cap="flat" cmpd="sng" w="9525">
                  <a:solidFill>
                    <a:schemeClr val="dk1"/>
                  </a:solidFill>
                  <a:prstDash val="solid"/>
                  <a:round/>
                  <a:headEnd len="med" w="med" type="triangle"/>
                  <a:tailEnd len="med" w="med" type="none"/>
                </a:ln>
              </p:spPr>
            </p:cxnSp>
            <p:cxnSp>
              <p:nvCxnSpPr>
                <p:cNvPr id="579" name="Google Shape;579;p38"/>
                <p:cNvCxnSpPr/>
                <p:nvPr/>
              </p:nvCxnSpPr>
              <p:spPr>
                <a:xfrm rot="10800000">
                  <a:off x="1292" y="1498"/>
                  <a:ext cx="0" cy="459"/>
                </a:xfrm>
                <a:prstGeom prst="straightConnector1">
                  <a:avLst/>
                </a:prstGeom>
                <a:noFill/>
                <a:ln cap="flat" cmpd="sng" w="9525">
                  <a:solidFill>
                    <a:schemeClr val="dk1"/>
                  </a:solidFill>
                  <a:prstDash val="solid"/>
                  <a:round/>
                  <a:headEnd len="med" w="med" type="triangle"/>
                  <a:tailEnd len="med" w="med" type="none"/>
                </a:ln>
              </p:spPr>
            </p:cxnSp>
            <p:cxnSp>
              <p:nvCxnSpPr>
                <p:cNvPr id="580" name="Google Shape;580;p38"/>
                <p:cNvCxnSpPr/>
                <p:nvPr/>
              </p:nvCxnSpPr>
              <p:spPr>
                <a:xfrm rot="10800000">
                  <a:off x="654" y="2131"/>
                  <a:ext cx="459" cy="0"/>
                </a:xfrm>
                <a:prstGeom prst="straightConnector1">
                  <a:avLst/>
                </a:prstGeom>
                <a:noFill/>
                <a:ln cap="flat" cmpd="sng" w="9525">
                  <a:solidFill>
                    <a:schemeClr val="dk1"/>
                  </a:solidFill>
                  <a:prstDash val="solid"/>
                  <a:round/>
                  <a:headEnd len="med" w="med" type="triangle"/>
                  <a:tailEnd len="med" w="med" type="none"/>
                </a:ln>
              </p:spPr>
            </p:cxnSp>
            <p:cxnSp>
              <p:nvCxnSpPr>
                <p:cNvPr id="581" name="Google Shape;581;p38"/>
                <p:cNvCxnSpPr/>
                <p:nvPr/>
              </p:nvCxnSpPr>
              <p:spPr>
                <a:xfrm>
                  <a:off x="1292" y="2310"/>
                  <a:ext cx="0" cy="458"/>
                </a:xfrm>
                <a:prstGeom prst="straightConnector1">
                  <a:avLst/>
                </a:prstGeom>
                <a:noFill/>
                <a:ln cap="flat" cmpd="sng" w="9525">
                  <a:solidFill>
                    <a:schemeClr val="dk1"/>
                  </a:solidFill>
                  <a:prstDash val="solid"/>
                  <a:round/>
                  <a:headEnd len="med" w="med" type="triangle"/>
                  <a:tailEnd len="med" w="med" type="none"/>
                </a:ln>
              </p:spPr>
            </p:cxnSp>
            <p:cxnSp>
              <p:nvCxnSpPr>
                <p:cNvPr id="582" name="Google Shape;582;p38"/>
                <p:cNvCxnSpPr/>
                <p:nvPr/>
              </p:nvCxnSpPr>
              <p:spPr>
                <a:xfrm flipH="1" rot="10800000">
                  <a:off x="1415" y="1689"/>
                  <a:ext cx="319" cy="319"/>
                </a:xfrm>
                <a:prstGeom prst="straightConnector1">
                  <a:avLst/>
                </a:prstGeom>
                <a:noFill/>
                <a:ln cap="flat" cmpd="sng" w="9525">
                  <a:solidFill>
                    <a:schemeClr val="dk1"/>
                  </a:solidFill>
                  <a:prstDash val="solid"/>
                  <a:round/>
                  <a:headEnd len="med" w="med" type="triangle"/>
                  <a:tailEnd len="med" w="med" type="none"/>
                </a:ln>
              </p:spPr>
            </p:cxnSp>
            <p:cxnSp>
              <p:nvCxnSpPr>
                <p:cNvPr id="583" name="Google Shape;583;p38"/>
                <p:cNvCxnSpPr/>
                <p:nvPr/>
              </p:nvCxnSpPr>
              <p:spPr>
                <a:xfrm rot="10800000">
                  <a:off x="844" y="1683"/>
                  <a:ext cx="319" cy="319"/>
                </a:xfrm>
                <a:prstGeom prst="straightConnector1">
                  <a:avLst/>
                </a:prstGeom>
                <a:noFill/>
                <a:ln cap="flat" cmpd="sng" w="9525">
                  <a:solidFill>
                    <a:schemeClr val="dk1"/>
                  </a:solidFill>
                  <a:prstDash val="solid"/>
                  <a:round/>
                  <a:headEnd len="med" w="med" type="triangle"/>
                  <a:tailEnd len="med" w="med" type="none"/>
                </a:ln>
              </p:spPr>
            </p:cxnSp>
            <p:cxnSp>
              <p:nvCxnSpPr>
                <p:cNvPr id="584" name="Google Shape;584;p38"/>
                <p:cNvCxnSpPr/>
                <p:nvPr/>
              </p:nvCxnSpPr>
              <p:spPr>
                <a:xfrm flipH="1">
                  <a:off x="839" y="2265"/>
                  <a:ext cx="324" cy="324"/>
                </a:xfrm>
                <a:prstGeom prst="straightConnector1">
                  <a:avLst/>
                </a:prstGeom>
                <a:noFill/>
                <a:ln cap="flat" cmpd="sng" w="9525">
                  <a:solidFill>
                    <a:schemeClr val="dk1"/>
                  </a:solidFill>
                  <a:prstDash val="solid"/>
                  <a:round/>
                  <a:headEnd len="med" w="med" type="triangle"/>
                  <a:tailEnd len="med" w="med" type="none"/>
                </a:ln>
              </p:spPr>
            </p:cxnSp>
            <p:cxnSp>
              <p:nvCxnSpPr>
                <p:cNvPr id="585" name="Google Shape;585;p38"/>
                <p:cNvCxnSpPr/>
                <p:nvPr/>
              </p:nvCxnSpPr>
              <p:spPr>
                <a:xfrm>
                  <a:off x="1415" y="2259"/>
                  <a:ext cx="307" cy="307"/>
                </a:xfrm>
                <a:prstGeom prst="straightConnector1">
                  <a:avLst/>
                </a:prstGeom>
                <a:noFill/>
                <a:ln cap="flat" cmpd="sng" w="9525">
                  <a:solidFill>
                    <a:schemeClr val="dk1"/>
                  </a:solidFill>
                  <a:prstDash val="solid"/>
                  <a:round/>
                  <a:headEnd len="med" w="med" type="triangle"/>
                  <a:tailEnd len="med" w="med" type="none"/>
                </a:ln>
              </p:spPr>
            </p:cxnSp>
          </p:grpSp>
          <p:grpSp>
            <p:nvGrpSpPr>
              <p:cNvPr id="586" name="Google Shape;586;p38"/>
              <p:cNvGrpSpPr/>
              <p:nvPr/>
            </p:nvGrpSpPr>
            <p:grpSpPr>
              <a:xfrm rot="1378846">
                <a:off x="558" y="2804"/>
                <a:ext cx="1265" cy="1270"/>
                <a:chOff x="654" y="1498"/>
                <a:chExt cx="1265" cy="1270"/>
              </a:xfrm>
            </p:grpSpPr>
            <p:cxnSp>
              <p:nvCxnSpPr>
                <p:cNvPr id="587" name="Google Shape;587;p38"/>
                <p:cNvCxnSpPr/>
                <p:nvPr/>
              </p:nvCxnSpPr>
              <p:spPr>
                <a:xfrm>
                  <a:off x="1465" y="2136"/>
                  <a:ext cx="454" cy="0"/>
                </a:xfrm>
                <a:prstGeom prst="straightConnector1">
                  <a:avLst/>
                </a:prstGeom>
                <a:noFill/>
                <a:ln cap="flat" cmpd="sng" w="9525">
                  <a:solidFill>
                    <a:schemeClr val="dk1"/>
                  </a:solidFill>
                  <a:prstDash val="solid"/>
                  <a:round/>
                  <a:headEnd len="med" w="med" type="triangle"/>
                  <a:tailEnd len="med" w="med" type="none"/>
                </a:ln>
              </p:spPr>
            </p:cxnSp>
            <p:cxnSp>
              <p:nvCxnSpPr>
                <p:cNvPr id="588" name="Google Shape;588;p38"/>
                <p:cNvCxnSpPr/>
                <p:nvPr/>
              </p:nvCxnSpPr>
              <p:spPr>
                <a:xfrm rot="10800000">
                  <a:off x="1292" y="1498"/>
                  <a:ext cx="0" cy="459"/>
                </a:xfrm>
                <a:prstGeom prst="straightConnector1">
                  <a:avLst/>
                </a:prstGeom>
                <a:noFill/>
                <a:ln cap="flat" cmpd="sng" w="9525">
                  <a:solidFill>
                    <a:schemeClr val="dk1"/>
                  </a:solidFill>
                  <a:prstDash val="solid"/>
                  <a:round/>
                  <a:headEnd len="med" w="med" type="triangle"/>
                  <a:tailEnd len="med" w="med" type="none"/>
                </a:ln>
              </p:spPr>
            </p:cxnSp>
            <p:cxnSp>
              <p:nvCxnSpPr>
                <p:cNvPr id="589" name="Google Shape;589;p38"/>
                <p:cNvCxnSpPr/>
                <p:nvPr/>
              </p:nvCxnSpPr>
              <p:spPr>
                <a:xfrm rot="10800000">
                  <a:off x="654" y="2131"/>
                  <a:ext cx="459" cy="0"/>
                </a:xfrm>
                <a:prstGeom prst="straightConnector1">
                  <a:avLst/>
                </a:prstGeom>
                <a:noFill/>
                <a:ln cap="flat" cmpd="sng" w="9525">
                  <a:solidFill>
                    <a:schemeClr val="dk1"/>
                  </a:solidFill>
                  <a:prstDash val="solid"/>
                  <a:round/>
                  <a:headEnd len="med" w="med" type="triangle"/>
                  <a:tailEnd len="med" w="med" type="none"/>
                </a:ln>
              </p:spPr>
            </p:cxnSp>
            <p:cxnSp>
              <p:nvCxnSpPr>
                <p:cNvPr id="590" name="Google Shape;590;p38"/>
                <p:cNvCxnSpPr/>
                <p:nvPr/>
              </p:nvCxnSpPr>
              <p:spPr>
                <a:xfrm>
                  <a:off x="1292" y="2310"/>
                  <a:ext cx="0" cy="458"/>
                </a:xfrm>
                <a:prstGeom prst="straightConnector1">
                  <a:avLst/>
                </a:prstGeom>
                <a:noFill/>
                <a:ln cap="flat" cmpd="sng" w="9525">
                  <a:solidFill>
                    <a:schemeClr val="dk1"/>
                  </a:solidFill>
                  <a:prstDash val="solid"/>
                  <a:round/>
                  <a:headEnd len="med" w="med" type="triangle"/>
                  <a:tailEnd len="med" w="med" type="none"/>
                </a:ln>
              </p:spPr>
            </p:cxnSp>
            <p:cxnSp>
              <p:nvCxnSpPr>
                <p:cNvPr id="591" name="Google Shape;591;p38"/>
                <p:cNvCxnSpPr/>
                <p:nvPr/>
              </p:nvCxnSpPr>
              <p:spPr>
                <a:xfrm flipH="1" rot="10800000">
                  <a:off x="1415" y="1689"/>
                  <a:ext cx="319" cy="319"/>
                </a:xfrm>
                <a:prstGeom prst="straightConnector1">
                  <a:avLst/>
                </a:prstGeom>
                <a:noFill/>
                <a:ln cap="flat" cmpd="sng" w="9525">
                  <a:solidFill>
                    <a:schemeClr val="dk1"/>
                  </a:solidFill>
                  <a:prstDash val="solid"/>
                  <a:round/>
                  <a:headEnd len="med" w="med" type="triangle"/>
                  <a:tailEnd len="med" w="med" type="none"/>
                </a:ln>
              </p:spPr>
            </p:cxnSp>
            <p:cxnSp>
              <p:nvCxnSpPr>
                <p:cNvPr id="592" name="Google Shape;592;p38"/>
                <p:cNvCxnSpPr/>
                <p:nvPr/>
              </p:nvCxnSpPr>
              <p:spPr>
                <a:xfrm rot="10800000">
                  <a:off x="844" y="1683"/>
                  <a:ext cx="319" cy="319"/>
                </a:xfrm>
                <a:prstGeom prst="straightConnector1">
                  <a:avLst/>
                </a:prstGeom>
                <a:noFill/>
                <a:ln cap="flat" cmpd="sng" w="9525">
                  <a:solidFill>
                    <a:schemeClr val="dk1"/>
                  </a:solidFill>
                  <a:prstDash val="solid"/>
                  <a:round/>
                  <a:headEnd len="med" w="med" type="triangle"/>
                  <a:tailEnd len="med" w="med" type="none"/>
                </a:ln>
              </p:spPr>
            </p:cxnSp>
            <p:cxnSp>
              <p:nvCxnSpPr>
                <p:cNvPr id="593" name="Google Shape;593;p38"/>
                <p:cNvCxnSpPr/>
                <p:nvPr/>
              </p:nvCxnSpPr>
              <p:spPr>
                <a:xfrm flipH="1">
                  <a:off x="839" y="2265"/>
                  <a:ext cx="324" cy="324"/>
                </a:xfrm>
                <a:prstGeom prst="straightConnector1">
                  <a:avLst/>
                </a:prstGeom>
                <a:noFill/>
                <a:ln cap="flat" cmpd="sng" w="9525">
                  <a:solidFill>
                    <a:schemeClr val="dk1"/>
                  </a:solidFill>
                  <a:prstDash val="solid"/>
                  <a:round/>
                  <a:headEnd len="med" w="med" type="triangle"/>
                  <a:tailEnd len="med" w="med" type="none"/>
                </a:ln>
              </p:spPr>
            </p:cxnSp>
            <p:cxnSp>
              <p:nvCxnSpPr>
                <p:cNvPr id="594" name="Google Shape;594;p38"/>
                <p:cNvCxnSpPr/>
                <p:nvPr/>
              </p:nvCxnSpPr>
              <p:spPr>
                <a:xfrm>
                  <a:off x="1415" y="2259"/>
                  <a:ext cx="307" cy="307"/>
                </a:xfrm>
                <a:prstGeom prst="straightConnector1">
                  <a:avLst/>
                </a:prstGeom>
                <a:noFill/>
                <a:ln cap="flat" cmpd="sng" w="9525">
                  <a:solidFill>
                    <a:schemeClr val="dk1"/>
                  </a:solidFill>
                  <a:prstDash val="solid"/>
                  <a:round/>
                  <a:headEnd len="med" w="med" type="triangle"/>
                  <a:tailEnd len="med" w="med" type="none"/>
                </a:ln>
              </p:spPr>
            </p:cxnSp>
          </p:grpSp>
        </p:grpSp>
      </p:grpSp>
      <p:sp>
        <p:nvSpPr>
          <p:cNvPr id="595" name="Google Shape;595;p38"/>
          <p:cNvSpPr txBox="1"/>
          <p:nvPr/>
        </p:nvSpPr>
        <p:spPr>
          <a:xfrm>
            <a:off x="1174750" y="6016625"/>
            <a:ext cx="2622550" cy="8302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hlink"/>
                </a:solidFill>
                <a:latin typeface="Arial"/>
                <a:ea typeface="Arial"/>
                <a:cs typeface="Arial"/>
                <a:sym typeface="Arial"/>
              </a:rPr>
              <a:t>Negative sphere of charge</a:t>
            </a:r>
            <a:endParaRPr/>
          </a:p>
        </p:txBody>
      </p:sp>
      <p:sp>
        <p:nvSpPr>
          <p:cNvPr id="596" name="Google Shape;596;p38"/>
          <p:cNvSpPr txBox="1"/>
          <p:nvPr/>
        </p:nvSpPr>
        <p:spPr>
          <a:xfrm>
            <a:off x="5689600" y="6016625"/>
            <a:ext cx="2622550" cy="8302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hlink"/>
                </a:solidFill>
                <a:latin typeface="Arial"/>
                <a:ea typeface="Arial"/>
                <a:cs typeface="Arial"/>
                <a:sym typeface="Arial"/>
              </a:rPr>
              <a:t>Positive sphere of charge</a:t>
            </a:r>
            <a:endParaRPr/>
          </a:p>
        </p:txBody>
      </p:sp>
      <p:sp>
        <p:nvSpPr>
          <p:cNvPr id="597" name="Google Shape;597;p38"/>
          <p:cNvSpPr txBox="1"/>
          <p:nvPr/>
        </p:nvSpPr>
        <p:spPr>
          <a:xfrm>
            <a:off x="3546475" y="4589463"/>
            <a:ext cx="2622550" cy="46196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accent2"/>
                </a:solidFill>
                <a:latin typeface="Arial"/>
                <a:ea typeface="Arial"/>
                <a:cs typeface="Arial"/>
                <a:sym typeface="Arial"/>
              </a:rPr>
              <a:t>MONOPOLES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51">
                                            <p:txEl>
                                              <p:pRg end="0" st="0"/>
                                            </p:txEl>
                                          </p:spTgt>
                                        </p:tgtEl>
                                        <p:attrNameLst>
                                          <p:attrName>style.visibility</p:attrName>
                                        </p:attrNameLst>
                                      </p:cBhvr>
                                      <p:to>
                                        <p:strVal val="visible"/>
                                      </p:to>
                                    </p:set>
                                    <p:anim calcmode="lin" valueType="num">
                                      <p:cBhvr additive="base">
                                        <p:cTn dur="500"/>
                                        <p:tgtEl>
                                          <p:spTgt spid="55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51">
                                            <p:txEl>
                                              <p:pRg end="1" st="1"/>
                                            </p:txEl>
                                          </p:spTgt>
                                        </p:tgtEl>
                                        <p:attrNameLst>
                                          <p:attrName>style.visibility</p:attrName>
                                        </p:attrNameLst>
                                      </p:cBhvr>
                                      <p:to>
                                        <p:strVal val="visible"/>
                                      </p:to>
                                    </p:set>
                                    <p:anim calcmode="lin" valueType="num">
                                      <p:cBhvr additive="base">
                                        <p:cTn dur="500"/>
                                        <p:tgtEl>
                                          <p:spTgt spid="55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51">
                                            <p:txEl>
                                              <p:pRg end="2" st="2"/>
                                            </p:txEl>
                                          </p:spTgt>
                                        </p:tgtEl>
                                        <p:attrNameLst>
                                          <p:attrName>style.visibility</p:attrName>
                                        </p:attrNameLst>
                                      </p:cBhvr>
                                      <p:to>
                                        <p:strVal val="visible"/>
                                      </p:to>
                                    </p:set>
                                    <p:anim calcmode="lin" valueType="num">
                                      <p:cBhvr additive="base">
                                        <p:cTn dur="500"/>
                                        <p:tgtEl>
                                          <p:spTgt spid="55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74"/>
                                        </p:tgtEl>
                                        <p:attrNameLst>
                                          <p:attrName>style.visibility</p:attrName>
                                        </p:attrNameLst>
                                      </p:cBhvr>
                                      <p:to>
                                        <p:strVal val="visible"/>
                                      </p:to>
                                    </p:set>
                                    <p:anim calcmode="lin" valueType="num">
                                      <p:cBhvr additive="base">
                                        <p:cTn dur="500"/>
                                        <p:tgtEl>
                                          <p:spTgt spid="574"/>
                                        </p:tgtEl>
                                        <p:attrNameLst>
                                          <p:attrName>ppt_w</p:attrName>
                                        </p:attrNameLst>
                                      </p:cBhvr>
                                      <p:tavLst>
                                        <p:tav fmla="" tm="0">
                                          <p:val>
                                            <p:strVal val="0"/>
                                          </p:val>
                                        </p:tav>
                                        <p:tav fmla="" tm="100000">
                                          <p:val>
                                            <p:strVal val="#ppt_w"/>
                                          </p:val>
                                        </p:tav>
                                      </p:tavLst>
                                    </p:anim>
                                    <p:anim calcmode="lin" valueType="num">
                                      <p:cBhvr additive="base">
                                        <p:cTn dur="500"/>
                                        <p:tgtEl>
                                          <p:spTgt spid="57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95"/>
                                        </p:tgtEl>
                                        <p:attrNameLst>
                                          <p:attrName>style.visibility</p:attrName>
                                        </p:attrNameLst>
                                      </p:cBhvr>
                                      <p:to>
                                        <p:strVal val="visible"/>
                                      </p:to>
                                    </p:set>
                                    <p:anim calcmode="lin" valueType="num">
                                      <p:cBhvr additive="base">
                                        <p:cTn dur="500"/>
                                        <p:tgtEl>
                                          <p:spTgt spid="595"/>
                                        </p:tgtEl>
                                        <p:attrNameLst>
                                          <p:attrName>ppt_w</p:attrName>
                                        </p:attrNameLst>
                                      </p:cBhvr>
                                      <p:tavLst>
                                        <p:tav fmla="" tm="0">
                                          <p:val>
                                            <p:strVal val="0"/>
                                          </p:val>
                                        </p:tav>
                                        <p:tav fmla="" tm="100000">
                                          <p:val>
                                            <p:strVal val="#ppt_w"/>
                                          </p:val>
                                        </p:tav>
                                      </p:tavLst>
                                    </p:anim>
                                    <p:anim calcmode="lin" valueType="num">
                                      <p:cBhvr additive="base">
                                        <p:cTn dur="500"/>
                                        <p:tgtEl>
                                          <p:spTgt spid="59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53"/>
                                        </p:tgtEl>
                                        <p:attrNameLst>
                                          <p:attrName>style.visibility</p:attrName>
                                        </p:attrNameLst>
                                      </p:cBhvr>
                                      <p:to>
                                        <p:strVal val="visible"/>
                                      </p:to>
                                    </p:set>
                                    <p:anim calcmode="lin" valueType="num">
                                      <p:cBhvr additive="base">
                                        <p:cTn dur="500"/>
                                        <p:tgtEl>
                                          <p:spTgt spid="553"/>
                                        </p:tgtEl>
                                        <p:attrNameLst>
                                          <p:attrName>ppt_w</p:attrName>
                                        </p:attrNameLst>
                                      </p:cBhvr>
                                      <p:tavLst>
                                        <p:tav fmla="" tm="0">
                                          <p:val>
                                            <p:strVal val="0"/>
                                          </p:val>
                                        </p:tav>
                                        <p:tav fmla="" tm="100000">
                                          <p:val>
                                            <p:strVal val="#ppt_w"/>
                                          </p:val>
                                        </p:tav>
                                      </p:tavLst>
                                    </p:anim>
                                    <p:anim calcmode="lin" valueType="num">
                                      <p:cBhvr additive="base">
                                        <p:cTn dur="500"/>
                                        <p:tgtEl>
                                          <p:spTgt spid="55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96"/>
                                        </p:tgtEl>
                                        <p:attrNameLst>
                                          <p:attrName>style.visibility</p:attrName>
                                        </p:attrNameLst>
                                      </p:cBhvr>
                                      <p:to>
                                        <p:strVal val="visible"/>
                                      </p:to>
                                    </p:set>
                                    <p:anim calcmode="lin" valueType="num">
                                      <p:cBhvr additive="base">
                                        <p:cTn dur="500"/>
                                        <p:tgtEl>
                                          <p:spTgt spid="596"/>
                                        </p:tgtEl>
                                        <p:attrNameLst>
                                          <p:attrName>ppt_w</p:attrName>
                                        </p:attrNameLst>
                                      </p:cBhvr>
                                      <p:tavLst>
                                        <p:tav fmla="" tm="0">
                                          <p:val>
                                            <p:strVal val="0"/>
                                          </p:val>
                                        </p:tav>
                                        <p:tav fmla="" tm="100000">
                                          <p:val>
                                            <p:strVal val="#ppt_w"/>
                                          </p:val>
                                        </p:tav>
                                      </p:tavLst>
                                    </p:anim>
                                    <p:anim calcmode="lin" valueType="num">
                                      <p:cBhvr additive="base">
                                        <p:cTn dur="500"/>
                                        <p:tgtEl>
                                          <p:spTgt spid="59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97"/>
                                        </p:tgtEl>
                                        <p:attrNameLst>
                                          <p:attrName>style.visibility</p:attrName>
                                        </p:attrNameLst>
                                      </p:cBhvr>
                                      <p:to>
                                        <p:strVal val="visible"/>
                                      </p:to>
                                    </p:set>
                                    <p:anim calcmode="lin" valueType="num">
                                      <p:cBhvr additive="base">
                                        <p:cTn dur="500"/>
                                        <p:tgtEl>
                                          <p:spTgt spid="597"/>
                                        </p:tgtEl>
                                        <p:attrNameLst>
                                          <p:attrName>ppt_w</p:attrName>
                                        </p:attrNameLst>
                                      </p:cBhvr>
                                      <p:tavLst>
                                        <p:tav fmla="" tm="0">
                                          <p:val>
                                            <p:strVal val="0"/>
                                          </p:val>
                                        </p:tav>
                                        <p:tav fmla="" tm="100000">
                                          <p:val>
                                            <p:strVal val="#ppt_w"/>
                                          </p:val>
                                        </p:tav>
                                      </p:tavLst>
                                    </p:anim>
                                    <p:anim calcmode="lin" valueType="num">
                                      <p:cBhvr additive="base">
                                        <p:cTn dur="500"/>
                                        <p:tgtEl>
                                          <p:spTgt spid="59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39"/>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1" lang="en-US" sz="2400" u="none" cap="none" strike="noStrike">
                <a:solidFill>
                  <a:srgbClr val="333399"/>
                </a:solidFill>
                <a:latin typeface="Arial"/>
                <a:ea typeface="Arial"/>
                <a:cs typeface="Arial"/>
                <a:sym typeface="Arial"/>
              </a:rPr>
              <a:t>Electric monopoles and dipoles</a:t>
            </a:r>
            <a:endParaRPr b="0" i="1" sz="2400" u="none" cap="none" strike="noStrike">
              <a:solidFill>
                <a:srgbClr val="000000"/>
              </a:solidFill>
              <a:latin typeface="Arial"/>
              <a:ea typeface="Arial"/>
              <a:cs typeface="Arial"/>
              <a:sym typeface="Arial"/>
            </a:endParaRPr>
          </a:p>
          <a:p>
            <a:pPr indent="0" lvl="0" marL="0" marR="0" rtl="0" algn="l">
              <a:spcBef>
                <a:spcPts val="480"/>
              </a:spcBef>
              <a:spcAft>
                <a:spcPts val="0"/>
              </a:spcAft>
              <a:buNone/>
            </a:pPr>
            <a:r>
              <a:rPr b="0" i="0" lang="en-US" sz="2400" u="none" cap="none" strike="noStrike">
                <a:solidFill>
                  <a:srgbClr val="000000"/>
                </a:solidFill>
                <a:latin typeface="Arial"/>
                <a:ea typeface="Arial"/>
                <a:cs typeface="Arial"/>
                <a:sym typeface="Arial"/>
              </a:rPr>
              <a:t>∙If two opposite electric monopoles are near enough to each other their field lines interact as shown here: </a:t>
            </a:r>
            <a:endParaRPr/>
          </a:p>
        </p:txBody>
      </p:sp>
      <p:sp>
        <p:nvSpPr>
          <p:cNvPr id="603" name="Google Shape;603;p39"/>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grpSp>
        <p:nvGrpSpPr>
          <p:cNvPr id="604" name="Google Shape;604;p39"/>
          <p:cNvGrpSpPr/>
          <p:nvPr/>
        </p:nvGrpSpPr>
        <p:grpSpPr>
          <a:xfrm>
            <a:off x="6275685" y="2867156"/>
            <a:ext cx="2294190" cy="2374638"/>
            <a:chOff x="1325" y="1790"/>
            <a:chExt cx="753" cy="754"/>
          </a:xfrm>
        </p:grpSpPr>
        <p:sp>
          <p:nvSpPr>
            <p:cNvPr id="605" name="Google Shape;605;p39"/>
            <p:cNvSpPr/>
            <p:nvPr/>
          </p:nvSpPr>
          <p:spPr>
            <a:xfrm>
              <a:off x="1639" y="2108"/>
              <a:ext cx="115" cy="115"/>
            </a:xfrm>
            <a:prstGeom prst="ellipse">
              <a:avLst/>
            </a:prstGeom>
            <a:gradFill>
              <a:gsLst>
                <a:gs pos="0">
                  <a:srgbClr val="FF9999"/>
                </a:gs>
                <a:gs pos="100000">
                  <a:srgbClr val="764747"/>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606" name="Google Shape;606;p39"/>
            <p:cNvGrpSpPr/>
            <p:nvPr/>
          </p:nvGrpSpPr>
          <p:grpSpPr>
            <a:xfrm>
              <a:off x="1325" y="1790"/>
              <a:ext cx="753" cy="754"/>
              <a:chOff x="475" y="1308"/>
              <a:chExt cx="1646" cy="1649"/>
            </a:xfrm>
          </p:grpSpPr>
          <p:grpSp>
            <p:nvGrpSpPr>
              <p:cNvPr id="607" name="Google Shape;607;p39"/>
              <p:cNvGrpSpPr/>
              <p:nvPr/>
            </p:nvGrpSpPr>
            <p:grpSpPr>
              <a:xfrm>
                <a:off x="654" y="1498"/>
                <a:ext cx="1265" cy="1270"/>
                <a:chOff x="654" y="1498"/>
                <a:chExt cx="1265" cy="1270"/>
              </a:xfrm>
            </p:grpSpPr>
            <p:cxnSp>
              <p:nvCxnSpPr>
                <p:cNvPr id="608" name="Google Shape;608;p39"/>
                <p:cNvCxnSpPr/>
                <p:nvPr/>
              </p:nvCxnSpPr>
              <p:spPr>
                <a:xfrm>
                  <a:off x="1465" y="2136"/>
                  <a:ext cx="454" cy="0"/>
                </a:xfrm>
                <a:prstGeom prst="straightConnector1">
                  <a:avLst/>
                </a:prstGeom>
                <a:noFill/>
                <a:ln cap="flat" cmpd="sng" w="9525">
                  <a:solidFill>
                    <a:schemeClr val="dk1"/>
                  </a:solidFill>
                  <a:prstDash val="solid"/>
                  <a:round/>
                  <a:headEnd len="med" w="med" type="none"/>
                  <a:tailEnd len="med" w="med" type="triangle"/>
                </a:ln>
              </p:spPr>
            </p:cxnSp>
            <p:cxnSp>
              <p:nvCxnSpPr>
                <p:cNvPr id="609" name="Google Shape;609;p39"/>
                <p:cNvCxnSpPr/>
                <p:nvPr/>
              </p:nvCxnSpPr>
              <p:spPr>
                <a:xfrm rot="10800000">
                  <a:off x="1292" y="1498"/>
                  <a:ext cx="0" cy="459"/>
                </a:xfrm>
                <a:prstGeom prst="straightConnector1">
                  <a:avLst/>
                </a:prstGeom>
                <a:noFill/>
                <a:ln cap="flat" cmpd="sng" w="9525">
                  <a:solidFill>
                    <a:schemeClr val="dk1"/>
                  </a:solidFill>
                  <a:prstDash val="solid"/>
                  <a:round/>
                  <a:headEnd len="med" w="med" type="none"/>
                  <a:tailEnd len="med" w="med" type="triangle"/>
                </a:ln>
              </p:spPr>
            </p:cxnSp>
            <p:cxnSp>
              <p:nvCxnSpPr>
                <p:cNvPr id="610" name="Google Shape;610;p39"/>
                <p:cNvCxnSpPr/>
                <p:nvPr/>
              </p:nvCxnSpPr>
              <p:spPr>
                <a:xfrm rot="10800000">
                  <a:off x="654" y="2131"/>
                  <a:ext cx="459" cy="0"/>
                </a:xfrm>
                <a:prstGeom prst="straightConnector1">
                  <a:avLst/>
                </a:prstGeom>
                <a:noFill/>
                <a:ln cap="flat" cmpd="sng" w="9525">
                  <a:solidFill>
                    <a:schemeClr val="dk1"/>
                  </a:solidFill>
                  <a:prstDash val="solid"/>
                  <a:round/>
                  <a:headEnd len="med" w="med" type="none"/>
                  <a:tailEnd len="med" w="med" type="triangle"/>
                </a:ln>
              </p:spPr>
            </p:cxnSp>
            <p:cxnSp>
              <p:nvCxnSpPr>
                <p:cNvPr id="611" name="Google Shape;611;p39"/>
                <p:cNvCxnSpPr/>
                <p:nvPr/>
              </p:nvCxnSpPr>
              <p:spPr>
                <a:xfrm>
                  <a:off x="1292" y="2310"/>
                  <a:ext cx="0" cy="458"/>
                </a:xfrm>
                <a:prstGeom prst="straightConnector1">
                  <a:avLst/>
                </a:prstGeom>
                <a:noFill/>
                <a:ln cap="flat" cmpd="sng" w="9525">
                  <a:solidFill>
                    <a:schemeClr val="dk1"/>
                  </a:solidFill>
                  <a:prstDash val="solid"/>
                  <a:round/>
                  <a:headEnd len="med" w="med" type="none"/>
                  <a:tailEnd len="med" w="med" type="triangle"/>
                </a:ln>
              </p:spPr>
            </p:cxnSp>
            <p:cxnSp>
              <p:nvCxnSpPr>
                <p:cNvPr id="612" name="Google Shape;612;p39"/>
                <p:cNvCxnSpPr/>
                <p:nvPr/>
              </p:nvCxnSpPr>
              <p:spPr>
                <a:xfrm flipH="1" rot="10800000">
                  <a:off x="1415" y="1689"/>
                  <a:ext cx="319" cy="319"/>
                </a:xfrm>
                <a:prstGeom prst="straightConnector1">
                  <a:avLst/>
                </a:prstGeom>
                <a:noFill/>
                <a:ln cap="flat" cmpd="sng" w="9525">
                  <a:solidFill>
                    <a:schemeClr val="dk1"/>
                  </a:solidFill>
                  <a:prstDash val="solid"/>
                  <a:round/>
                  <a:headEnd len="med" w="med" type="none"/>
                  <a:tailEnd len="med" w="med" type="triangle"/>
                </a:ln>
              </p:spPr>
            </p:cxnSp>
            <p:cxnSp>
              <p:nvCxnSpPr>
                <p:cNvPr id="613" name="Google Shape;613;p39"/>
                <p:cNvCxnSpPr/>
                <p:nvPr/>
              </p:nvCxnSpPr>
              <p:spPr>
                <a:xfrm rot="10800000">
                  <a:off x="844" y="1683"/>
                  <a:ext cx="319" cy="319"/>
                </a:xfrm>
                <a:prstGeom prst="straightConnector1">
                  <a:avLst/>
                </a:prstGeom>
                <a:noFill/>
                <a:ln cap="flat" cmpd="sng" w="9525">
                  <a:solidFill>
                    <a:schemeClr val="dk1"/>
                  </a:solidFill>
                  <a:prstDash val="solid"/>
                  <a:round/>
                  <a:headEnd len="med" w="med" type="none"/>
                  <a:tailEnd len="med" w="med" type="triangle"/>
                </a:ln>
              </p:spPr>
            </p:cxnSp>
            <p:cxnSp>
              <p:nvCxnSpPr>
                <p:cNvPr id="614" name="Google Shape;614;p39"/>
                <p:cNvCxnSpPr/>
                <p:nvPr/>
              </p:nvCxnSpPr>
              <p:spPr>
                <a:xfrm flipH="1">
                  <a:off x="839" y="2265"/>
                  <a:ext cx="324" cy="324"/>
                </a:xfrm>
                <a:prstGeom prst="straightConnector1">
                  <a:avLst/>
                </a:prstGeom>
                <a:noFill/>
                <a:ln cap="flat" cmpd="sng" w="9525">
                  <a:solidFill>
                    <a:schemeClr val="dk1"/>
                  </a:solidFill>
                  <a:prstDash val="solid"/>
                  <a:round/>
                  <a:headEnd len="med" w="med" type="none"/>
                  <a:tailEnd len="med" w="med" type="triangle"/>
                </a:ln>
              </p:spPr>
            </p:cxnSp>
            <p:cxnSp>
              <p:nvCxnSpPr>
                <p:cNvPr id="615" name="Google Shape;615;p39"/>
                <p:cNvCxnSpPr/>
                <p:nvPr/>
              </p:nvCxnSpPr>
              <p:spPr>
                <a:xfrm>
                  <a:off x="1415" y="2259"/>
                  <a:ext cx="307" cy="307"/>
                </a:xfrm>
                <a:prstGeom prst="straightConnector1">
                  <a:avLst/>
                </a:prstGeom>
                <a:noFill/>
                <a:ln cap="flat" cmpd="sng" w="9525">
                  <a:solidFill>
                    <a:schemeClr val="dk1"/>
                  </a:solidFill>
                  <a:prstDash val="solid"/>
                  <a:round/>
                  <a:headEnd len="med" w="med" type="none"/>
                  <a:tailEnd len="med" w="med" type="triangle"/>
                </a:ln>
              </p:spPr>
            </p:cxnSp>
          </p:grpSp>
          <p:grpSp>
            <p:nvGrpSpPr>
              <p:cNvPr id="616" name="Google Shape;616;p39"/>
              <p:cNvGrpSpPr/>
              <p:nvPr/>
            </p:nvGrpSpPr>
            <p:grpSpPr>
              <a:xfrm rot="1308473">
                <a:off x="666" y="1498"/>
                <a:ext cx="1265" cy="1270"/>
                <a:chOff x="654" y="1498"/>
                <a:chExt cx="1265" cy="1270"/>
              </a:xfrm>
            </p:grpSpPr>
            <p:cxnSp>
              <p:nvCxnSpPr>
                <p:cNvPr id="617" name="Google Shape;617;p39"/>
                <p:cNvCxnSpPr/>
                <p:nvPr/>
              </p:nvCxnSpPr>
              <p:spPr>
                <a:xfrm>
                  <a:off x="1465" y="2136"/>
                  <a:ext cx="454" cy="0"/>
                </a:xfrm>
                <a:prstGeom prst="straightConnector1">
                  <a:avLst/>
                </a:prstGeom>
                <a:noFill/>
                <a:ln cap="flat" cmpd="sng" w="9525">
                  <a:solidFill>
                    <a:schemeClr val="dk1"/>
                  </a:solidFill>
                  <a:prstDash val="solid"/>
                  <a:round/>
                  <a:headEnd len="med" w="med" type="none"/>
                  <a:tailEnd len="med" w="med" type="triangle"/>
                </a:ln>
              </p:spPr>
            </p:cxnSp>
            <p:cxnSp>
              <p:nvCxnSpPr>
                <p:cNvPr id="618" name="Google Shape;618;p39"/>
                <p:cNvCxnSpPr/>
                <p:nvPr/>
              </p:nvCxnSpPr>
              <p:spPr>
                <a:xfrm rot="10800000">
                  <a:off x="1292" y="1498"/>
                  <a:ext cx="0" cy="459"/>
                </a:xfrm>
                <a:prstGeom prst="straightConnector1">
                  <a:avLst/>
                </a:prstGeom>
                <a:noFill/>
                <a:ln cap="flat" cmpd="sng" w="9525">
                  <a:solidFill>
                    <a:schemeClr val="dk1"/>
                  </a:solidFill>
                  <a:prstDash val="solid"/>
                  <a:round/>
                  <a:headEnd len="med" w="med" type="none"/>
                  <a:tailEnd len="med" w="med" type="triangle"/>
                </a:ln>
              </p:spPr>
            </p:cxnSp>
            <p:cxnSp>
              <p:nvCxnSpPr>
                <p:cNvPr id="619" name="Google Shape;619;p39"/>
                <p:cNvCxnSpPr/>
                <p:nvPr/>
              </p:nvCxnSpPr>
              <p:spPr>
                <a:xfrm rot="10800000">
                  <a:off x="654" y="2131"/>
                  <a:ext cx="459" cy="0"/>
                </a:xfrm>
                <a:prstGeom prst="straightConnector1">
                  <a:avLst/>
                </a:prstGeom>
                <a:noFill/>
                <a:ln cap="flat" cmpd="sng" w="9525">
                  <a:solidFill>
                    <a:schemeClr val="dk1"/>
                  </a:solidFill>
                  <a:prstDash val="solid"/>
                  <a:round/>
                  <a:headEnd len="med" w="med" type="none"/>
                  <a:tailEnd len="med" w="med" type="triangle"/>
                </a:ln>
              </p:spPr>
            </p:cxnSp>
            <p:cxnSp>
              <p:nvCxnSpPr>
                <p:cNvPr id="620" name="Google Shape;620;p39"/>
                <p:cNvCxnSpPr/>
                <p:nvPr/>
              </p:nvCxnSpPr>
              <p:spPr>
                <a:xfrm>
                  <a:off x="1292" y="2310"/>
                  <a:ext cx="0" cy="458"/>
                </a:xfrm>
                <a:prstGeom prst="straightConnector1">
                  <a:avLst/>
                </a:prstGeom>
                <a:noFill/>
                <a:ln cap="flat" cmpd="sng" w="9525">
                  <a:solidFill>
                    <a:schemeClr val="dk1"/>
                  </a:solidFill>
                  <a:prstDash val="solid"/>
                  <a:round/>
                  <a:headEnd len="med" w="med" type="none"/>
                  <a:tailEnd len="med" w="med" type="triangle"/>
                </a:ln>
              </p:spPr>
            </p:cxnSp>
            <p:cxnSp>
              <p:nvCxnSpPr>
                <p:cNvPr id="621" name="Google Shape;621;p39"/>
                <p:cNvCxnSpPr/>
                <p:nvPr/>
              </p:nvCxnSpPr>
              <p:spPr>
                <a:xfrm flipH="1" rot="10800000">
                  <a:off x="1415" y="1689"/>
                  <a:ext cx="319" cy="319"/>
                </a:xfrm>
                <a:prstGeom prst="straightConnector1">
                  <a:avLst/>
                </a:prstGeom>
                <a:noFill/>
                <a:ln cap="flat" cmpd="sng" w="9525">
                  <a:solidFill>
                    <a:schemeClr val="dk1"/>
                  </a:solidFill>
                  <a:prstDash val="solid"/>
                  <a:round/>
                  <a:headEnd len="med" w="med" type="none"/>
                  <a:tailEnd len="med" w="med" type="triangle"/>
                </a:ln>
              </p:spPr>
            </p:cxnSp>
            <p:cxnSp>
              <p:nvCxnSpPr>
                <p:cNvPr id="622" name="Google Shape;622;p39"/>
                <p:cNvCxnSpPr/>
                <p:nvPr/>
              </p:nvCxnSpPr>
              <p:spPr>
                <a:xfrm rot="10800000">
                  <a:off x="844" y="1683"/>
                  <a:ext cx="319" cy="319"/>
                </a:xfrm>
                <a:prstGeom prst="straightConnector1">
                  <a:avLst/>
                </a:prstGeom>
                <a:noFill/>
                <a:ln cap="flat" cmpd="sng" w="9525">
                  <a:solidFill>
                    <a:schemeClr val="dk1"/>
                  </a:solidFill>
                  <a:prstDash val="solid"/>
                  <a:round/>
                  <a:headEnd len="med" w="med" type="none"/>
                  <a:tailEnd len="med" w="med" type="triangle"/>
                </a:ln>
              </p:spPr>
            </p:cxnSp>
            <p:cxnSp>
              <p:nvCxnSpPr>
                <p:cNvPr id="623" name="Google Shape;623;p39"/>
                <p:cNvCxnSpPr/>
                <p:nvPr/>
              </p:nvCxnSpPr>
              <p:spPr>
                <a:xfrm flipH="1">
                  <a:off x="839" y="2265"/>
                  <a:ext cx="324" cy="324"/>
                </a:xfrm>
                <a:prstGeom prst="straightConnector1">
                  <a:avLst/>
                </a:prstGeom>
                <a:noFill/>
                <a:ln cap="flat" cmpd="sng" w="9525">
                  <a:solidFill>
                    <a:schemeClr val="dk1"/>
                  </a:solidFill>
                  <a:prstDash val="solid"/>
                  <a:round/>
                  <a:headEnd len="med" w="med" type="none"/>
                  <a:tailEnd len="med" w="med" type="triangle"/>
                </a:ln>
              </p:spPr>
            </p:cxnSp>
            <p:cxnSp>
              <p:nvCxnSpPr>
                <p:cNvPr id="624" name="Google Shape;624;p39"/>
                <p:cNvCxnSpPr/>
                <p:nvPr/>
              </p:nvCxnSpPr>
              <p:spPr>
                <a:xfrm>
                  <a:off x="1415" y="2259"/>
                  <a:ext cx="307" cy="307"/>
                </a:xfrm>
                <a:prstGeom prst="straightConnector1">
                  <a:avLst/>
                </a:prstGeom>
                <a:noFill/>
                <a:ln cap="flat" cmpd="sng" w="9525">
                  <a:solidFill>
                    <a:schemeClr val="dk1"/>
                  </a:solidFill>
                  <a:prstDash val="solid"/>
                  <a:round/>
                  <a:headEnd len="med" w="med" type="none"/>
                  <a:tailEnd len="med" w="med" type="triangle"/>
                </a:ln>
              </p:spPr>
            </p:cxnSp>
          </p:grpSp>
        </p:grpSp>
      </p:grpSp>
      <p:grpSp>
        <p:nvGrpSpPr>
          <p:cNvPr id="625" name="Google Shape;625;p39"/>
          <p:cNvGrpSpPr/>
          <p:nvPr/>
        </p:nvGrpSpPr>
        <p:grpSpPr>
          <a:xfrm>
            <a:off x="527238" y="2864404"/>
            <a:ext cx="2318140" cy="2397313"/>
            <a:chOff x="1313" y="3139"/>
            <a:chExt cx="760" cy="761"/>
          </a:xfrm>
        </p:grpSpPr>
        <p:sp>
          <p:nvSpPr>
            <p:cNvPr id="626" name="Google Shape;626;p39"/>
            <p:cNvSpPr/>
            <p:nvPr/>
          </p:nvSpPr>
          <p:spPr>
            <a:xfrm>
              <a:off x="1638" y="3457"/>
              <a:ext cx="115" cy="115"/>
            </a:xfrm>
            <a:prstGeom prst="ellipse">
              <a:avLst/>
            </a:prstGeom>
            <a:gradFill>
              <a:gsLst>
                <a:gs pos="0">
                  <a:schemeClr val="accent1"/>
                </a:gs>
                <a:gs pos="100000">
                  <a:srgbClr val="839D9F"/>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grpSp>
          <p:nvGrpSpPr>
            <p:cNvPr id="627" name="Google Shape;627;p39"/>
            <p:cNvGrpSpPr/>
            <p:nvPr/>
          </p:nvGrpSpPr>
          <p:grpSpPr>
            <a:xfrm>
              <a:off x="1313" y="3139"/>
              <a:ext cx="760" cy="761"/>
              <a:chOff x="360" y="2607"/>
              <a:chExt cx="1660" cy="1663"/>
            </a:xfrm>
          </p:grpSpPr>
          <p:grpSp>
            <p:nvGrpSpPr>
              <p:cNvPr id="628" name="Google Shape;628;p39"/>
              <p:cNvGrpSpPr/>
              <p:nvPr/>
            </p:nvGrpSpPr>
            <p:grpSpPr>
              <a:xfrm>
                <a:off x="562" y="2802"/>
                <a:ext cx="1265" cy="1270"/>
                <a:chOff x="654" y="1498"/>
                <a:chExt cx="1265" cy="1270"/>
              </a:xfrm>
            </p:grpSpPr>
            <p:cxnSp>
              <p:nvCxnSpPr>
                <p:cNvPr id="629" name="Google Shape;629;p39"/>
                <p:cNvCxnSpPr/>
                <p:nvPr/>
              </p:nvCxnSpPr>
              <p:spPr>
                <a:xfrm>
                  <a:off x="1465" y="2136"/>
                  <a:ext cx="454" cy="0"/>
                </a:xfrm>
                <a:prstGeom prst="straightConnector1">
                  <a:avLst/>
                </a:prstGeom>
                <a:noFill/>
                <a:ln cap="flat" cmpd="sng" w="9525">
                  <a:solidFill>
                    <a:schemeClr val="dk1"/>
                  </a:solidFill>
                  <a:prstDash val="solid"/>
                  <a:round/>
                  <a:headEnd len="med" w="med" type="triangle"/>
                  <a:tailEnd len="med" w="med" type="none"/>
                </a:ln>
              </p:spPr>
            </p:cxnSp>
            <p:cxnSp>
              <p:nvCxnSpPr>
                <p:cNvPr id="630" name="Google Shape;630;p39"/>
                <p:cNvCxnSpPr/>
                <p:nvPr/>
              </p:nvCxnSpPr>
              <p:spPr>
                <a:xfrm rot="10800000">
                  <a:off x="1292" y="1498"/>
                  <a:ext cx="0" cy="459"/>
                </a:xfrm>
                <a:prstGeom prst="straightConnector1">
                  <a:avLst/>
                </a:prstGeom>
                <a:noFill/>
                <a:ln cap="flat" cmpd="sng" w="9525">
                  <a:solidFill>
                    <a:schemeClr val="dk1"/>
                  </a:solidFill>
                  <a:prstDash val="solid"/>
                  <a:round/>
                  <a:headEnd len="med" w="med" type="triangle"/>
                  <a:tailEnd len="med" w="med" type="none"/>
                </a:ln>
              </p:spPr>
            </p:cxnSp>
            <p:cxnSp>
              <p:nvCxnSpPr>
                <p:cNvPr id="631" name="Google Shape;631;p39"/>
                <p:cNvCxnSpPr/>
                <p:nvPr/>
              </p:nvCxnSpPr>
              <p:spPr>
                <a:xfrm rot="10800000">
                  <a:off x="654" y="2131"/>
                  <a:ext cx="459" cy="0"/>
                </a:xfrm>
                <a:prstGeom prst="straightConnector1">
                  <a:avLst/>
                </a:prstGeom>
                <a:noFill/>
                <a:ln cap="flat" cmpd="sng" w="9525">
                  <a:solidFill>
                    <a:schemeClr val="dk1"/>
                  </a:solidFill>
                  <a:prstDash val="solid"/>
                  <a:round/>
                  <a:headEnd len="med" w="med" type="triangle"/>
                  <a:tailEnd len="med" w="med" type="none"/>
                </a:ln>
              </p:spPr>
            </p:cxnSp>
            <p:cxnSp>
              <p:nvCxnSpPr>
                <p:cNvPr id="632" name="Google Shape;632;p39"/>
                <p:cNvCxnSpPr/>
                <p:nvPr/>
              </p:nvCxnSpPr>
              <p:spPr>
                <a:xfrm>
                  <a:off x="1292" y="2310"/>
                  <a:ext cx="0" cy="458"/>
                </a:xfrm>
                <a:prstGeom prst="straightConnector1">
                  <a:avLst/>
                </a:prstGeom>
                <a:noFill/>
                <a:ln cap="flat" cmpd="sng" w="9525">
                  <a:solidFill>
                    <a:schemeClr val="dk1"/>
                  </a:solidFill>
                  <a:prstDash val="solid"/>
                  <a:round/>
                  <a:headEnd len="med" w="med" type="triangle"/>
                  <a:tailEnd len="med" w="med" type="none"/>
                </a:ln>
              </p:spPr>
            </p:cxnSp>
            <p:cxnSp>
              <p:nvCxnSpPr>
                <p:cNvPr id="633" name="Google Shape;633;p39"/>
                <p:cNvCxnSpPr/>
                <p:nvPr/>
              </p:nvCxnSpPr>
              <p:spPr>
                <a:xfrm flipH="1" rot="10800000">
                  <a:off x="1415" y="1689"/>
                  <a:ext cx="319" cy="319"/>
                </a:xfrm>
                <a:prstGeom prst="straightConnector1">
                  <a:avLst/>
                </a:prstGeom>
                <a:noFill/>
                <a:ln cap="flat" cmpd="sng" w="9525">
                  <a:solidFill>
                    <a:schemeClr val="dk1"/>
                  </a:solidFill>
                  <a:prstDash val="solid"/>
                  <a:round/>
                  <a:headEnd len="med" w="med" type="triangle"/>
                  <a:tailEnd len="med" w="med" type="none"/>
                </a:ln>
              </p:spPr>
            </p:cxnSp>
            <p:cxnSp>
              <p:nvCxnSpPr>
                <p:cNvPr id="634" name="Google Shape;634;p39"/>
                <p:cNvCxnSpPr/>
                <p:nvPr/>
              </p:nvCxnSpPr>
              <p:spPr>
                <a:xfrm rot="10800000">
                  <a:off x="844" y="1683"/>
                  <a:ext cx="319" cy="319"/>
                </a:xfrm>
                <a:prstGeom prst="straightConnector1">
                  <a:avLst/>
                </a:prstGeom>
                <a:noFill/>
                <a:ln cap="flat" cmpd="sng" w="9525">
                  <a:solidFill>
                    <a:schemeClr val="dk1"/>
                  </a:solidFill>
                  <a:prstDash val="solid"/>
                  <a:round/>
                  <a:headEnd len="med" w="med" type="triangle"/>
                  <a:tailEnd len="med" w="med" type="none"/>
                </a:ln>
              </p:spPr>
            </p:cxnSp>
            <p:cxnSp>
              <p:nvCxnSpPr>
                <p:cNvPr id="635" name="Google Shape;635;p39"/>
                <p:cNvCxnSpPr/>
                <p:nvPr/>
              </p:nvCxnSpPr>
              <p:spPr>
                <a:xfrm flipH="1">
                  <a:off x="839" y="2265"/>
                  <a:ext cx="324" cy="324"/>
                </a:xfrm>
                <a:prstGeom prst="straightConnector1">
                  <a:avLst/>
                </a:prstGeom>
                <a:noFill/>
                <a:ln cap="flat" cmpd="sng" w="9525">
                  <a:solidFill>
                    <a:schemeClr val="dk1"/>
                  </a:solidFill>
                  <a:prstDash val="solid"/>
                  <a:round/>
                  <a:headEnd len="med" w="med" type="triangle"/>
                  <a:tailEnd len="med" w="med" type="none"/>
                </a:ln>
              </p:spPr>
            </p:cxnSp>
            <p:cxnSp>
              <p:nvCxnSpPr>
                <p:cNvPr id="636" name="Google Shape;636;p39"/>
                <p:cNvCxnSpPr/>
                <p:nvPr/>
              </p:nvCxnSpPr>
              <p:spPr>
                <a:xfrm>
                  <a:off x="1415" y="2259"/>
                  <a:ext cx="307" cy="307"/>
                </a:xfrm>
                <a:prstGeom prst="straightConnector1">
                  <a:avLst/>
                </a:prstGeom>
                <a:noFill/>
                <a:ln cap="flat" cmpd="sng" w="9525">
                  <a:solidFill>
                    <a:schemeClr val="dk1"/>
                  </a:solidFill>
                  <a:prstDash val="solid"/>
                  <a:round/>
                  <a:headEnd len="med" w="med" type="triangle"/>
                  <a:tailEnd len="med" w="med" type="none"/>
                </a:ln>
              </p:spPr>
            </p:cxnSp>
          </p:grpSp>
          <p:grpSp>
            <p:nvGrpSpPr>
              <p:cNvPr id="637" name="Google Shape;637;p39"/>
              <p:cNvGrpSpPr/>
              <p:nvPr/>
            </p:nvGrpSpPr>
            <p:grpSpPr>
              <a:xfrm rot="1378846">
                <a:off x="558" y="2804"/>
                <a:ext cx="1265" cy="1270"/>
                <a:chOff x="654" y="1498"/>
                <a:chExt cx="1265" cy="1270"/>
              </a:xfrm>
            </p:grpSpPr>
            <p:cxnSp>
              <p:nvCxnSpPr>
                <p:cNvPr id="638" name="Google Shape;638;p39"/>
                <p:cNvCxnSpPr/>
                <p:nvPr/>
              </p:nvCxnSpPr>
              <p:spPr>
                <a:xfrm>
                  <a:off x="1465" y="2136"/>
                  <a:ext cx="454" cy="0"/>
                </a:xfrm>
                <a:prstGeom prst="straightConnector1">
                  <a:avLst/>
                </a:prstGeom>
                <a:noFill/>
                <a:ln cap="flat" cmpd="sng" w="9525">
                  <a:solidFill>
                    <a:schemeClr val="dk1"/>
                  </a:solidFill>
                  <a:prstDash val="solid"/>
                  <a:round/>
                  <a:headEnd len="med" w="med" type="triangle"/>
                  <a:tailEnd len="med" w="med" type="none"/>
                </a:ln>
              </p:spPr>
            </p:cxnSp>
            <p:cxnSp>
              <p:nvCxnSpPr>
                <p:cNvPr id="639" name="Google Shape;639;p39"/>
                <p:cNvCxnSpPr/>
                <p:nvPr/>
              </p:nvCxnSpPr>
              <p:spPr>
                <a:xfrm rot="10800000">
                  <a:off x="1292" y="1498"/>
                  <a:ext cx="0" cy="459"/>
                </a:xfrm>
                <a:prstGeom prst="straightConnector1">
                  <a:avLst/>
                </a:prstGeom>
                <a:noFill/>
                <a:ln cap="flat" cmpd="sng" w="9525">
                  <a:solidFill>
                    <a:schemeClr val="dk1"/>
                  </a:solidFill>
                  <a:prstDash val="solid"/>
                  <a:round/>
                  <a:headEnd len="med" w="med" type="triangle"/>
                  <a:tailEnd len="med" w="med" type="none"/>
                </a:ln>
              </p:spPr>
            </p:cxnSp>
            <p:cxnSp>
              <p:nvCxnSpPr>
                <p:cNvPr id="640" name="Google Shape;640;p39"/>
                <p:cNvCxnSpPr/>
                <p:nvPr/>
              </p:nvCxnSpPr>
              <p:spPr>
                <a:xfrm rot="10800000">
                  <a:off x="654" y="2131"/>
                  <a:ext cx="459" cy="0"/>
                </a:xfrm>
                <a:prstGeom prst="straightConnector1">
                  <a:avLst/>
                </a:prstGeom>
                <a:noFill/>
                <a:ln cap="flat" cmpd="sng" w="9525">
                  <a:solidFill>
                    <a:schemeClr val="dk1"/>
                  </a:solidFill>
                  <a:prstDash val="solid"/>
                  <a:round/>
                  <a:headEnd len="med" w="med" type="triangle"/>
                  <a:tailEnd len="med" w="med" type="none"/>
                </a:ln>
              </p:spPr>
            </p:cxnSp>
            <p:cxnSp>
              <p:nvCxnSpPr>
                <p:cNvPr id="641" name="Google Shape;641;p39"/>
                <p:cNvCxnSpPr/>
                <p:nvPr/>
              </p:nvCxnSpPr>
              <p:spPr>
                <a:xfrm>
                  <a:off x="1292" y="2310"/>
                  <a:ext cx="0" cy="458"/>
                </a:xfrm>
                <a:prstGeom prst="straightConnector1">
                  <a:avLst/>
                </a:prstGeom>
                <a:noFill/>
                <a:ln cap="flat" cmpd="sng" w="9525">
                  <a:solidFill>
                    <a:schemeClr val="dk1"/>
                  </a:solidFill>
                  <a:prstDash val="solid"/>
                  <a:round/>
                  <a:headEnd len="med" w="med" type="triangle"/>
                  <a:tailEnd len="med" w="med" type="none"/>
                </a:ln>
              </p:spPr>
            </p:cxnSp>
            <p:cxnSp>
              <p:nvCxnSpPr>
                <p:cNvPr id="642" name="Google Shape;642;p39"/>
                <p:cNvCxnSpPr/>
                <p:nvPr/>
              </p:nvCxnSpPr>
              <p:spPr>
                <a:xfrm flipH="1" rot="10800000">
                  <a:off x="1415" y="1689"/>
                  <a:ext cx="319" cy="319"/>
                </a:xfrm>
                <a:prstGeom prst="straightConnector1">
                  <a:avLst/>
                </a:prstGeom>
                <a:noFill/>
                <a:ln cap="flat" cmpd="sng" w="9525">
                  <a:solidFill>
                    <a:schemeClr val="dk1"/>
                  </a:solidFill>
                  <a:prstDash val="solid"/>
                  <a:round/>
                  <a:headEnd len="med" w="med" type="triangle"/>
                  <a:tailEnd len="med" w="med" type="none"/>
                </a:ln>
              </p:spPr>
            </p:cxnSp>
            <p:cxnSp>
              <p:nvCxnSpPr>
                <p:cNvPr id="643" name="Google Shape;643;p39"/>
                <p:cNvCxnSpPr/>
                <p:nvPr/>
              </p:nvCxnSpPr>
              <p:spPr>
                <a:xfrm rot="10800000">
                  <a:off x="844" y="1683"/>
                  <a:ext cx="319" cy="319"/>
                </a:xfrm>
                <a:prstGeom prst="straightConnector1">
                  <a:avLst/>
                </a:prstGeom>
                <a:noFill/>
                <a:ln cap="flat" cmpd="sng" w="9525">
                  <a:solidFill>
                    <a:schemeClr val="dk1"/>
                  </a:solidFill>
                  <a:prstDash val="solid"/>
                  <a:round/>
                  <a:headEnd len="med" w="med" type="triangle"/>
                  <a:tailEnd len="med" w="med" type="none"/>
                </a:ln>
              </p:spPr>
            </p:cxnSp>
            <p:cxnSp>
              <p:nvCxnSpPr>
                <p:cNvPr id="644" name="Google Shape;644;p39"/>
                <p:cNvCxnSpPr/>
                <p:nvPr/>
              </p:nvCxnSpPr>
              <p:spPr>
                <a:xfrm flipH="1">
                  <a:off x="839" y="2265"/>
                  <a:ext cx="324" cy="324"/>
                </a:xfrm>
                <a:prstGeom prst="straightConnector1">
                  <a:avLst/>
                </a:prstGeom>
                <a:noFill/>
                <a:ln cap="flat" cmpd="sng" w="9525">
                  <a:solidFill>
                    <a:schemeClr val="dk1"/>
                  </a:solidFill>
                  <a:prstDash val="solid"/>
                  <a:round/>
                  <a:headEnd len="med" w="med" type="triangle"/>
                  <a:tailEnd len="med" w="med" type="none"/>
                </a:ln>
              </p:spPr>
            </p:cxnSp>
            <p:cxnSp>
              <p:nvCxnSpPr>
                <p:cNvPr id="645" name="Google Shape;645;p39"/>
                <p:cNvCxnSpPr/>
                <p:nvPr/>
              </p:nvCxnSpPr>
              <p:spPr>
                <a:xfrm>
                  <a:off x="1415" y="2259"/>
                  <a:ext cx="307" cy="307"/>
                </a:xfrm>
                <a:prstGeom prst="straightConnector1">
                  <a:avLst/>
                </a:prstGeom>
                <a:noFill/>
                <a:ln cap="flat" cmpd="sng" w="9525">
                  <a:solidFill>
                    <a:schemeClr val="dk1"/>
                  </a:solidFill>
                  <a:prstDash val="solid"/>
                  <a:round/>
                  <a:headEnd len="med" w="med" type="triangle"/>
                  <a:tailEnd len="med" w="med" type="none"/>
                </a:ln>
              </p:spPr>
            </p:cxnSp>
          </p:grpSp>
        </p:grpSp>
      </p:grpSp>
      <p:sp>
        <p:nvSpPr>
          <p:cNvPr id="646" name="Google Shape;646;p39"/>
          <p:cNvSpPr txBox="1"/>
          <p:nvPr/>
        </p:nvSpPr>
        <p:spPr>
          <a:xfrm>
            <a:off x="433388" y="2747963"/>
            <a:ext cx="2713037" cy="46196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accent2"/>
                </a:solidFill>
                <a:latin typeface="Arial"/>
                <a:ea typeface="Arial"/>
                <a:cs typeface="Arial"/>
                <a:sym typeface="Arial"/>
              </a:rPr>
              <a:t>(-) MONOPOLE</a:t>
            </a:r>
            <a:endParaRPr/>
          </a:p>
        </p:txBody>
      </p:sp>
      <p:grpSp>
        <p:nvGrpSpPr>
          <p:cNvPr id="647" name="Google Shape;647;p39"/>
          <p:cNvGrpSpPr/>
          <p:nvPr/>
        </p:nvGrpSpPr>
        <p:grpSpPr>
          <a:xfrm>
            <a:off x="2854325" y="3424238"/>
            <a:ext cx="3311525" cy="4324350"/>
            <a:chOff x="1918" y="2157"/>
            <a:chExt cx="2086" cy="2724"/>
          </a:xfrm>
        </p:grpSpPr>
        <p:sp>
          <p:nvSpPr>
            <p:cNvPr id="648" name="Google Shape;648;p39"/>
            <p:cNvSpPr/>
            <p:nvPr/>
          </p:nvSpPr>
          <p:spPr>
            <a:xfrm flipH="1" rot="10800000">
              <a:off x="2477" y="3675"/>
              <a:ext cx="980" cy="1206"/>
            </a:xfrm>
            <a:custGeom>
              <a:rect b="b" l="l" r="r" t="t"/>
              <a:pathLst>
                <a:path extrusionOk="0" h="1206" w="980">
                  <a:moveTo>
                    <a:pt x="980" y="1206"/>
                  </a:moveTo>
                  <a:cubicBezTo>
                    <a:pt x="950" y="1085"/>
                    <a:pt x="883" y="682"/>
                    <a:pt x="801" y="481"/>
                  </a:cubicBezTo>
                  <a:cubicBezTo>
                    <a:pt x="719" y="280"/>
                    <a:pt x="595" y="2"/>
                    <a:pt x="491" y="1"/>
                  </a:cubicBezTo>
                  <a:cubicBezTo>
                    <a:pt x="387" y="0"/>
                    <a:pt x="261" y="284"/>
                    <a:pt x="179" y="475"/>
                  </a:cubicBezTo>
                  <a:cubicBezTo>
                    <a:pt x="97" y="666"/>
                    <a:pt x="37" y="1009"/>
                    <a:pt x="0" y="1149"/>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nvGrpSpPr>
            <p:cNvPr id="649" name="Google Shape;649;p39"/>
            <p:cNvGrpSpPr/>
            <p:nvPr/>
          </p:nvGrpSpPr>
          <p:grpSpPr>
            <a:xfrm>
              <a:off x="1918" y="2157"/>
              <a:ext cx="2086" cy="2076"/>
              <a:chOff x="2050" y="2157"/>
              <a:chExt cx="2086" cy="2076"/>
            </a:xfrm>
          </p:grpSpPr>
          <p:grpSp>
            <p:nvGrpSpPr>
              <p:cNvPr id="650" name="Google Shape;650;p39"/>
              <p:cNvGrpSpPr/>
              <p:nvPr/>
            </p:nvGrpSpPr>
            <p:grpSpPr>
              <a:xfrm>
                <a:off x="3471" y="2976"/>
                <a:ext cx="665" cy="1039"/>
                <a:chOff x="3471" y="2976"/>
                <a:chExt cx="665" cy="1039"/>
              </a:xfrm>
            </p:grpSpPr>
            <p:sp>
              <p:nvSpPr>
                <p:cNvPr id="651" name="Google Shape;651;p39"/>
                <p:cNvSpPr/>
                <p:nvPr/>
              </p:nvSpPr>
              <p:spPr>
                <a:xfrm>
                  <a:off x="3471" y="3391"/>
                  <a:ext cx="221" cy="228"/>
                </a:xfrm>
                <a:prstGeom prst="ellipse">
                  <a:avLst/>
                </a:prstGeom>
                <a:gradFill>
                  <a:gsLst>
                    <a:gs pos="0">
                      <a:srgbClr val="FF9999"/>
                    </a:gs>
                    <a:gs pos="100000">
                      <a:srgbClr val="764747"/>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sz="2400" u="none">
                    <a:solidFill>
                      <a:schemeClr val="dk1"/>
                    </a:solidFill>
                    <a:latin typeface="Arial"/>
                    <a:ea typeface="Arial"/>
                    <a:cs typeface="Arial"/>
                    <a:sym typeface="Arial"/>
                  </a:endParaRPr>
                </a:p>
              </p:txBody>
            </p:sp>
            <p:cxnSp>
              <p:nvCxnSpPr>
                <p:cNvPr id="652" name="Google Shape;652;p39"/>
                <p:cNvCxnSpPr/>
                <p:nvPr/>
              </p:nvCxnSpPr>
              <p:spPr>
                <a:xfrm>
                  <a:off x="3738" y="3512"/>
                  <a:ext cx="398" cy="0"/>
                </a:xfrm>
                <a:prstGeom prst="straightConnector1">
                  <a:avLst/>
                </a:prstGeom>
                <a:noFill/>
                <a:ln cap="flat" cmpd="sng" w="9525">
                  <a:solidFill>
                    <a:schemeClr val="dk1"/>
                  </a:solidFill>
                  <a:prstDash val="solid"/>
                  <a:round/>
                  <a:headEnd len="med" w="med" type="none"/>
                  <a:tailEnd len="med" w="med" type="triangle"/>
                </a:ln>
              </p:spPr>
            </p:cxnSp>
            <p:cxnSp>
              <p:nvCxnSpPr>
                <p:cNvPr id="653" name="Google Shape;653;p39"/>
                <p:cNvCxnSpPr/>
                <p:nvPr/>
              </p:nvCxnSpPr>
              <p:spPr>
                <a:xfrm flipH="1" rot="10800000">
                  <a:off x="3694" y="3106"/>
                  <a:ext cx="280" cy="290"/>
                </a:xfrm>
                <a:prstGeom prst="straightConnector1">
                  <a:avLst/>
                </a:prstGeom>
                <a:noFill/>
                <a:ln cap="flat" cmpd="sng" w="9525">
                  <a:solidFill>
                    <a:schemeClr val="dk1"/>
                  </a:solidFill>
                  <a:prstDash val="solid"/>
                  <a:round/>
                  <a:headEnd len="med" w="med" type="none"/>
                  <a:tailEnd len="med" w="med" type="triangle"/>
                </a:ln>
              </p:spPr>
            </p:cxnSp>
            <p:cxnSp>
              <p:nvCxnSpPr>
                <p:cNvPr id="654" name="Google Shape;654;p39"/>
                <p:cNvCxnSpPr/>
                <p:nvPr/>
              </p:nvCxnSpPr>
              <p:spPr>
                <a:xfrm>
                  <a:off x="3694" y="3623"/>
                  <a:ext cx="269" cy="279"/>
                </a:xfrm>
                <a:prstGeom prst="straightConnector1">
                  <a:avLst/>
                </a:prstGeom>
                <a:noFill/>
                <a:ln cap="flat" cmpd="sng" w="9525">
                  <a:solidFill>
                    <a:schemeClr val="dk1"/>
                  </a:solidFill>
                  <a:prstDash val="solid"/>
                  <a:round/>
                  <a:headEnd len="med" w="med" type="none"/>
                  <a:tailEnd len="med" w="med" type="triangle"/>
                </a:ln>
              </p:spPr>
            </p:cxnSp>
            <p:cxnSp>
              <p:nvCxnSpPr>
                <p:cNvPr id="655" name="Google Shape;655;p39"/>
                <p:cNvCxnSpPr/>
                <p:nvPr/>
              </p:nvCxnSpPr>
              <p:spPr>
                <a:xfrm rot="1308473">
                  <a:off x="3722" y="3644"/>
                  <a:ext cx="398" cy="0"/>
                </a:xfrm>
                <a:prstGeom prst="straightConnector1">
                  <a:avLst/>
                </a:prstGeom>
                <a:noFill/>
                <a:ln cap="flat" cmpd="sng" w="9525">
                  <a:solidFill>
                    <a:schemeClr val="dk1"/>
                  </a:solidFill>
                  <a:prstDash val="solid"/>
                  <a:round/>
                  <a:headEnd len="med" w="med" type="none"/>
                  <a:tailEnd len="med" w="med" type="triangle"/>
                </a:ln>
              </p:spPr>
            </p:cxnSp>
            <p:cxnSp>
              <p:nvCxnSpPr>
                <p:cNvPr id="656" name="Google Shape;656;p39"/>
                <p:cNvCxnSpPr/>
                <p:nvPr/>
              </p:nvCxnSpPr>
              <p:spPr>
                <a:xfrm rot="10800000">
                  <a:off x="3733" y="2961"/>
                  <a:ext cx="0" cy="416"/>
                </a:xfrm>
                <a:prstGeom prst="straightConnector1">
                  <a:avLst/>
                </a:prstGeom>
                <a:noFill/>
                <a:ln cap="flat" cmpd="sng" w="9525">
                  <a:solidFill>
                    <a:schemeClr val="dk1"/>
                  </a:solidFill>
                  <a:prstDash val="solid"/>
                  <a:round/>
                  <a:headEnd len="med" w="med" type="none"/>
                  <a:tailEnd len="med" w="med" type="triangle"/>
                </a:ln>
              </p:spPr>
            </p:cxnSp>
            <p:cxnSp>
              <p:nvCxnSpPr>
                <p:cNvPr id="657" name="Google Shape;657;p39"/>
                <p:cNvCxnSpPr/>
                <p:nvPr/>
              </p:nvCxnSpPr>
              <p:spPr>
                <a:xfrm flipH="1" rot="-9491527">
                  <a:off x="3782" y="3218"/>
                  <a:ext cx="280" cy="290"/>
                </a:xfrm>
                <a:prstGeom prst="straightConnector1">
                  <a:avLst/>
                </a:prstGeom>
                <a:noFill/>
                <a:ln cap="flat" cmpd="sng" w="9525">
                  <a:solidFill>
                    <a:schemeClr val="dk1"/>
                  </a:solidFill>
                  <a:prstDash val="solid"/>
                  <a:round/>
                  <a:headEnd len="med" w="med" type="none"/>
                  <a:tailEnd len="med" w="med" type="triangle"/>
                </a:ln>
              </p:spPr>
            </p:cxnSp>
            <p:cxnSp>
              <p:nvCxnSpPr>
                <p:cNvPr id="658" name="Google Shape;658;p39"/>
                <p:cNvCxnSpPr/>
                <p:nvPr/>
              </p:nvCxnSpPr>
              <p:spPr>
                <a:xfrm rot="1308473">
                  <a:off x="3592" y="3696"/>
                  <a:ext cx="269" cy="279"/>
                </a:xfrm>
                <a:prstGeom prst="straightConnector1">
                  <a:avLst/>
                </a:prstGeom>
                <a:noFill/>
                <a:ln cap="flat" cmpd="sng" w="9525">
                  <a:solidFill>
                    <a:schemeClr val="dk1"/>
                  </a:solidFill>
                  <a:prstDash val="solid"/>
                  <a:round/>
                  <a:headEnd len="med" w="med" type="none"/>
                  <a:tailEnd len="med" w="med" type="triangle"/>
                </a:ln>
              </p:spPr>
            </p:cxnSp>
          </p:grpSp>
          <p:grpSp>
            <p:nvGrpSpPr>
              <p:cNvPr id="659" name="Google Shape;659;p39"/>
              <p:cNvGrpSpPr/>
              <p:nvPr/>
            </p:nvGrpSpPr>
            <p:grpSpPr>
              <a:xfrm>
                <a:off x="2050" y="2980"/>
                <a:ext cx="666" cy="1061"/>
                <a:chOff x="2050" y="2980"/>
                <a:chExt cx="666" cy="1061"/>
              </a:xfrm>
            </p:grpSpPr>
            <p:sp>
              <p:nvSpPr>
                <p:cNvPr id="660" name="Google Shape;660;p39"/>
                <p:cNvSpPr/>
                <p:nvPr/>
              </p:nvSpPr>
              <p:spPr>
                <a:xfrm>
                  <a:off x="2495" y="3384"/>
                  <a:ext cx="221" cy="229"/>
                </a:xfrm>
                <a:prstGeom prst="ellipse">
                  <a:avLst/>
                </a:prstGeom>
                <a:gradFill>
                  <a:gsLst>
                    <a:gs pos="0">
                      <a:schemeClr val="accent1"/>
                    </a:gs>
                    <a:gs pos="100000">
                      <a:srgbClr val="839D9F"/>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661" name="Google Shape;661;p39"/>
                <p:cNvCxnSpPr/>
                <p:nvPr/>
              </p:nvCxnSpPr>
              <p:spPr>
                <a:xfrm rot="10800000">
                  <a:off x="2050" y="3505"/>
                  <a:ext cx="403" cy="0"/>
                </a:xfrm>
                <a:prstGeom prst="straightConnector1">
                  <a:avLst/>
                </a:prstGeom>
                <a:noFill/>
                <a:ln cap="flat" cmpd="sng" w="9525">
                  <a:solidFill>
                    <a:schemeClr val="dk1"/>
                  </a:solidFill>
                  <a:prstDash val="solid"/>
                  <a:round/>
                  <a:headEnd len="med" w="med" type="triangle"/>
                  <a:tailEnd len="med" w="med" type="none"/>
                </a:ln>
              </p:spPr>
            </p:cxnSp>
            <p:cxnSp>
              <p:nvCxnSpPr>
                <p:cNvPr id="662" name="Google Shape;662;p39"/>
                <p:cNvCxnSpPr/>
                <p:nvPr/>
              </p:nvCxnSpPr>
              <p:spPr>
                <a:xfrm rot="10800000">
                  <a:off x="2217" y="3098"/>
                  <a:ext cx="280" cy="290"/>
                </a:xfrm>
                <a:prstGeom prst="straightConnector1">
                  <a:avLst/>
                </a:prstGeom>
                <a:noFill/>
                <a:ln cap="flat" cmpd="sng" w="9525">
                  <a:solidFill>
                    <a:schemeClr val="dk1"/>
                  </a:solidFill>
                  <a:prstDash val="solid"/>
                  <a:round/>
                  <a:headEnd len="med" w="med" type="triangle"/>
                  <a:tailEnd len="med" w="med" type="none"/>
                </a:ln>
              </p:spPr>
            </p:cxnSp>
            <p:cxnSp>
              <p:nvCxnSpPr>
                <p:cNvPr id="663" name="Google Shape;663;p39"/>
                <p:cNvCxnSpPr/>
                <p:nvPr/>
              </p:nvCxnSpPr>
              <p:spPr>
                <a:xfrm flipH="1">
                  <a:off x="2213" y="3626"/>
                  <a:ext cx="284" cy="294"/>
                </a:xfrm>
                <a:prstGeom prst="straightConnector1">
                  <a:avLst/>
                </a:prstGeom>
                <a:noFill/>
                <a:ln cap="flat" cmpd="sng" w="9525">
                  <a:solidFill>
                    <a:schemeClr val="dk1"/>
                  </a:solidFill>
                  <a:prstDash val="solid"/>
                  <a:round/>
                  <a:headEnd len="med" w="med" type="triangle"/>
                  <a:tailEnd len="med" w="med" type="none"/>
                </a:ln>
              </p:spPr>
            </p:cxnSp>
            <p:cxnSp>
              <p:nvCxnSpPr>
                <p:cNvPr id="664" name="Google Shape;664;p39"/>
                <p:cNvCxnSpPr/>
                <p:nvPr/>
              </p:nvCxnSpPr>
              <p:spPr>
                <a:xfrm rot="-9421154">
                  <a:off x="2074" y="3368"/>
                  <a:ext cx="403" cy="0"/>
                </a:xfrm>
                <a:prstGeom prst="straightConnector1">
                  <a:avLst/>
                </a:prstGeom>
                <a:noFill/>
                <a:ln cap="flat" cmpd="sng" w="9525">
                  <a:solidFill>
                    <a:schemeClr val="dk1"/>
                  </a:solidFill>
                  <a:prstDash val="solid"/>
                  <a:round/>
                  <a:headEnd len="med" w="med" type="triangle"/>
                  <a:tailEnd len="med" w="med" type="none"/>
                </a:ln>
              </p:spPr>
            </p:cxnSp>
            <p:cxnSp>
              <p:nvCxnSpPr>
                <p:cNvPr id="665" name="Google Shape;665;p39"/>
                <p:cNvCxnSpPr/>
                <p:nvPr/>
              </p:nvCxnSpPr>
              <p:spPr>
                <a:xfrm>
                  <a:off x="2462" y="3641"/>
                  <a:ext cx="0" cy="416"/>
                </a:xfrm>
                <a:prstGeom prst="straightConnector1">
                  <a:avLst/>
                </a:prstGeom>
                <a:noFill/>
                <a:ln cap="flat" cmpd="sng" w="9525">
                  <a:solidFill>
                    <a:schemeClr val="dk1"/>
                  </a:solidFill>
                  <a:prstDash val="solid"/>
                  <a:round/>
                  <a:headEnd len="med" w="med" type="triangle"/>
                  <a:tailEnd len="med" w="med" type="none"/>
                </a:ln>
              </p:spPr>
            </p:cxnSp>
            <p:cxnSp>
              <p:nvCxnSpPr>
                <p:cNvPr id="666" name="Google Shape;666;p39"/>
                <p:cNvCxnSpPr/>
                <p:nvPr/>
              </p:nvCxnSpPr>
              <p:spPr>
                <a:xfrm rot="-9421154">
                  <a:off x="2335" y="3023"/>
                  <a:ext cx="280" cy="290"/>
                </a:xfrm>
                <a:prstGeom prst="straightConnector1">
                  <a:avLst/>
                </a:prstGeom>
                <a:noFill/>
                <a:ln cap="flat" cmpd="sng" w="9525">
                  <a:solidFill>
                    <a:schemeClr val="dk1"/>
                  </a:solidFill>
                  <a:prstDash val="solid"/>
                  <a:round/>
                  <a:headEnd len="med" w="med" type="triangle"/>
                  <a:tailEnd len="med" w="med" type="none"/>
                </a:ln>
              </p:spPr>
            </p:cxnSp>
            <p:cxnSp>
              <p:nvCxnSpPr>
                <p:cNvPr id="667" name="Google Shape;667;p39"/>
                <p:cNvCxnSpPr/>
                <p:nvPr/>
              </p:nvCxnSpPr>
              <p:spPr>
                <a:xfrm flipH="1" rot="1378846">
                  <a:off x="2125" y="3508"/>
                  <a:ext cx="284" cy="294"/>
                </a:xfrm>
                <a:prstGeom prst="straightConnector1">
                  <a:avLst/>
                </a:prstGeom>
                <a:noFill/>
                <a:ln cap="flat" cmpd="sng" w="9525">
                  <a:solidFill>
                    <a:schemeClr val="dk1"/>
                  </a:solidFill>
                  <a:prstDash val="solid"/>
                  <a:round/>
                  <a:headEnd len="med" w="med" type="triangle"/>
                  <a:tailEnd len="med" w="med" type="none"/>
                </a:ln>
              </p:spPr>
            </p:cxnSp>
          </p:grpSp>
          <p:grpSp>
            <p:nvGrpSpPr>
              <p:cNvPr id="668" name="Google Shape;668;p39"/>
              <p:cNvGrpSpPr/>
              <p:nvPr/>
            </p:nvGrpSpPr>
            <p:grpSpPr>
              <a:xfrm>
                <a:off x="2771" y="3341"/>
                <a:ext cx="673" cy="103"/>
                <a:chOff x="2771" y="3341"/>
                <a:chExt cx="673" cy="103"/>
              </a:xfrm>
            </p:grpSpPr>
            <p:cxnSp>
              <p:nvCxnSpPr>
                <p:cNvPr id="669" name="Google Shape;669;p39"/>
                <p:cNvCxnSpPr/>
                <p:nvPr/>
              </p:nvCxnSpPr>
              <p:spPr>
                <a:xfrm>
                  <a:off x="3063" y="3342"/>
                  <a:ext cx="42" cy="0"/>
                </a:xfrm>
                <a:prstGeom prst="straightConnector1">
                  <a:avLst/>
                </a:prstGeom>
                <a:noFill/>
                <a:ln cap="flat" cmpd="sng" w="9525">
                  <a:solidFill>
                    <a:schemeClr val="dk1"/>
                  </a:solidFill>
                  <a:prstDash val="solid"/>
                  <a:round/>
                  <a:headEnd len="med" w="med" type="triangle"/>
                  <a:tailEnd len="med" w="med" type="none"/>
                </a:ln>
              </p:spPr>
            </p:cxnSp>
            <p:sp>
              <p:nvSpPr>
                <p:cNvPr id="670" name="Google Shape;670;p39"/>
                <p:cNvSpPr/>
                <p:nvPr/>
              </p:nvSpPr>
              <p:spPr>
                <a:xfrm>
                  <a:off x="2771" y="3341"/>
                  <a:ext cx="673" cy="103"/>
                </a:xfrm>
                <a:custGeom>
                  <a:rect b="b" l="l" r="r" t="t"/>
                  <a:pathLst>
                    <a:path extrusionOk="0" h="103" w="673">
                      <a:moveTo>
                        <a:pt x="673" y="103"/>
                      </a:moveTo>
                      <a:cubicBezTo>
                        <a:pt x="641" y="91"/>
                        <a:pt x="535" y="46"/>
                        <a:pt x="478" y="29"/>
                      </a:cubicBezTo>
                      <a:cubicBezTo>
                        <a:pt x="421" y="12"/>
                        <a:pt x="382" y="0"/>
                        <a:pt x="328" y="0"/>
                      </a:cubicBezTo>
                      <a:cubicBezTo>
                        <a:pt x="274" y="0"/>
                        <a:pt x="210" y="13"/>
                        <a:pt x="155" y="29"/>
                      </a:cubicBezTo>
                      <a:cubicBezTo>
                        <a:pt x="100" y="45"/>
                        <a:pt x="32" y="84"/>
                        <a:pt x="0" y="98"/>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grpSp>
            <p:nvGrpSpPr>
              <p:cNvPr id="671" name="Google Shape;671;p39"/>
              <p:cNvGrpSpPr/>
              <p:nvPr/>
            </p:nvGrpSpPr>
            <p:grpSpPr>
              <a:xfrm>
                <a:off x="2747" y="3128"/>
                <a:ext cx="703" cy="247"/>
                <a:chOff x="2747" y="3128"/>
                <a:chExt cx="703" cy="247"/>
              </a:xfrm>
            </p:grpSpPr>
            <p:sp>
              <p:nvSpPr>
                <p:cNvPr id="672" name="Google Shape;672;p39"/>
                <p:cNvSpPr/>
                <p:nvPr/>
              </p:nvSpPr>
              <p:spPr>
                <a:xfrm>
                  <a:off x="2747" y="3132"/>
                  <a:ext cx="703" cy="243"/>
                </a:xfrm>
                <a:custGeom>
                  <a:rect b="b" l="l" r="r" t="t"/>
                  <a:pathLst>
                    <a:path extrusionOk="0" h="254" w="703">
                      <a:moveTo>
                        <a:pt x="703" y="254"/>
                      </a:moveTo>
                      <a:cubicBezTo>
                        <a:pt x="631" y="185"/>
                        <a:pt x="557" y="120"/>
                        <a:pt x="499" y="78"/>
                      </a:cubicBezTo>
                      <a:cubicBezTo>
                        <a:pt x="441" y="36"/>
                        <a:pt x="405" y="0"/>
                        <a:pt x="352" y="1"/>
                      </a:cubicBezTo>
                      <a:cubicBezTo>
                        <a:pt x="299" y="2"/>
                        <a:pt x="238" y="42"/>
                        <a:pt x="179" y="82"/>
                      </a:cubicBezTo>
                      <a:cubicBezTo>
                        <a:pt x="120" y="122"/>
                        <a:pt x="37" y="209"/>
                        <a:pt x="0" y="242"/>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673" name="Google Shape;673;p39"/>
                <p:cNvCxnSpPr/>
                <p:nvPr/>
              </p:nvCxnSpPr>
              <p:spPr>
                <a:xfrm>
                  <a:off x="3069" y="3128"/>
                  <a:ext cx="42" cy="0"/>
                </a:xfrm>
                <a:prstGeom prst="straightConnector1">
                  <a:avLst/>
                </a:prstGeom>
                <a:noFill/>
                <a:ln cap="flat" cmpd="sng" w="9525">
                  <a:solidFill>
                    <a:schemeClr val="dk1"/>
                  </a:solidFill>
                  <a:prstDash val="solid"/>
                  <a:round/>
                  <a:headEnd len="med" w="med" type="triangle"/>
                  <a:tailEnd len="med" w="med" type="none"/>
                </a:ln>
              </p:spPr>
            </p:cxnSp>
          </p:grpSp>
          <p:grpSp>
            <p:nvGrpSpPr>
              <p:cNvPr id="674" name="Google Shape;674;p39"/>
              <p:cNvGrpSpPr/>
              <p:nvPr/>
            </p:nvGrpSpPr>
            <p:grpSpPr>
              <a:xfrm>
                <a:off x="2684" y="2793"/>
                <a:ext cx="836" cy="542"/>
                <a:chOff x="2684" y="2891"/>
                <a:chExt cx="836" cy="444"/>
              </a:xfrm>
            </p:grpSpPr>
            <p:sp>
              <p:nvSpPr>
                <p:cNvPr id="675" name="Google Shape;675;p39"/>
                <p:cNvSpPr/>
                <p:nvPr/>
              </p:nvSpPr>
              <p:spPr>
                <a:xfrm>
                  <a:off x="2684" y="2891"/>
                  <a:ext cx="836" cy="444"/>
                </a:xfrm>
                <a:custGeom>
                  <a:rect b="b" l="l" r="r" t="t"/>
                  <a:pathLst>
                    <a:path extrusionOk="0" h="254" w="703">
                      <a:moveTo>
                        <a:pt x="703" y="254"/>
                      </a:moveTo>
                      <a:cubicBezTo>
                        <a:pt x="631" y="185"/>
                        <a:pt x="557" y="120"/>
                        <a:pt x="499" y="78"/>
                      </a:cubicBezTo>
                      <a:cubicBezTo>
                        <a:pt x="441" y="36"/>
                        <a:pt x="405" y="0"/>
                        <a:pt x="352" y="1"/>
                      </a:cubicBezTo>
                      <a:cubicBezTo>
                        <a:pt x="299" y="2"/>
                        <a:pt x="238" y="42"/>
                        <a:pt x="179" y="82"/>
                      </a:cubicBezTo>
                      <a:cubicBezTo>
                        <a:pt x="120" y="122"/>
                        <a:pt x="37" y="209"/>
                        <a:pt x="0" y="242"/>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676" name="Google Shape;676;p39"/>
                <p:cNvCxnSpPr/>
                <p:nvPr/>
              </p:nvCxnSpPr>
              <p:spPr>
                <a:xfrm>
                  <a:off x="3069" y="2897"/>
                  <a:ext cx="42" cy="0"/>
                </a:xfrm>
                <a:prstGeom prst="straightConnector1">
                  <a:avLst/>
                </a:prstGeom>
                <a:noFill/>
                <a:ln cap="flat" cmpd="sng" w="9525">
                  <a:solidFill>
                    <a:schemeClr val="dk1"/>
                  </a:solidFill>
                  <a:prstDash val="solid"/>
                  <a:round/>
                  <a:headEnd len="med" w="med" type="triangle"/>
                  <a:tailEnd len="med" w="med" type="none"/>
                </a:ln>
              </p:spPr>
            </p:cxnSp>
          </p:grpSp>
          <p:grpSp>
            <p:nvGrpSpPr>
              <p:cNvPr id="677" name="Google Shape;677;p39"/>
              <p:cNvGrpSpPr/>
              <p:nvPr/>
            </p:nvGrpSpPr>
            <p:grpSpPr>
              <a:xfrm>
                <a:off x="2603" y="2157"/>
                <a:ext cx="980" cy="1206"/>
                <a:chOff x="2603" y="2157"/>
                <a:chExt cx="980" cy="1206"/>
              </a:xfrm>
            </p:grpSpPr>
            <p:sp>
              <p:nvSpPr>
                <p:cNvPr id="678" name="Google Shape;678;p39"/>
                <p:cNvSpPr/>
                <p:nvPr/>
              </p:nvSpPr>
              <p:spPr>
                <a:xfrm>
                  <a:off x="2603" y="2157"/>
                  <a:ext cx="980" cy="1206"/>
                </a:xfrm>
                <a:custGeom>
                  <a:rect b="b" l="l" r="r" t="t"/>
                  <a:pathLst>
                    <a:path extrusionOk="0" h="1206" w="980">
                      <a:moveTo>
                        <a:pt x="980" y="1206"/>
                      </a:moveTo>
                      <a:cubicBezTo>
                        <a:pt x="950" y="1085"/>
                        <a:pt x="883" y="682"/>
                        <a:pt x="801" y="481"/>
                      </a:cubicBezTo>
                      <a:cubicBezTo>
                        <a:pt x="719" y="280"/>
                        <a:pt x="595" y="2"/>
                        <a:pt x="491" y="1"/>
                      </a:cubicBezTo>
                      <a:cubicBezTo>
                        <a:pt x="387" y="0"/>
                        <a:pt x="261" y="284"/>
                        <a:pt x="179" y="475"/>
                      </a:cubicBezTo>
                      <a:cubicBezTo>
                        <a:pt x="97" y="666"/>
                        <a:pt x="37" y="1009"/>
                        <a:pt x="0" y="1149"/>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679" name="Google Shape;679;p39"/>
                <p:cNvCxnSpPr/>
                <p:nvPr/>
              </p:nvCxnSpPr>
              <p:spPr>
                <a:xfrm>
                  <a:off x="3069" y="2161"/>
                  <a:ext cx="42" cy="0"/>
                </a:xfrm>
                <a:prstGeom prst="straightConnector1">
                  <a:avLst/>
                </a:prstGeom>
                <a:noFill/>
                <a:ln cap="flat" cmpd="sng" w="9525">
                  <a:solidFill>
                    <a:schemeClr val="dk1"/>
                  </a:solidFill>
                  <a:prstDash val="solid"/>
                  <a:round/>
                  <a:headEnd len="med" w="med" type="triangle"/>
                  <a:tailEnd len="med" w="med" type="none"/>
                </a:ln>
              </p:spPr>
            </p:cxnSp>
          </p:grpSp>
          <p:grpSp>
            <p:nvGrpSpPr>
              <p:cNvPr id="680" name="Google Shape;680;p39"/>
              <p:cNvGrpSpPr/>
              <p:nvPr/>
            </p:nvGrpSpPr>
            <p:grpSpPr>
              <a:xfrm>
                <a:off x="2777" y="3577"/>
                <a:ext cx="673" cy="104"/>
                <a:chOff x="2777" y="3577"/>
                <a:chExt cx="673" cy="104"/>
              </a:xfrm>
            </p:grpSpPr>
            <p:sp>
              <p:nvSpPr>
                <p:cNvPr id="681" name="Google Shape;681;p39"/>
                <p:cNvSpPr/>
                <p:nvPr/>
              </p:nvSpPr>
              <p:spPr>
                <a:xfrm flipH="1" rot="10800000">
                  <a:off x="2777" y="3577"/>
                  <a:ext cx="673" cy="103"/>
                </a:xfrm>
                <a:custGeom>
                  <a:rect b="b" l="l" r="r" t="t"/>
                  <a:pathLst>
                    <a:path extrusionOk="0" h="103" w="673">
                      <a:moveTo>
                        <a:pt x="673" y="103"/>
                      </a:moveTo>
                      <a:cubicBezTo>
                        <a:pt x="641" y="91"/>
                        <a:pt x="535" y="46"/>
                        <a:pt x="478" y="29"/>
                      </a:cubicBezTo>
                      <a:cubicBezTo>
                        <a:pt x="421" y="12"/>
                        <a:pt x="382" y="0"/>
                        <a:pt x="328" y="0"/>
                      </a:cubicBezTo>
                      <a:cubicBezTo>
                        <a:pt x="274" y="0"/>
                        <a:pt x="210" y="13"/>
                        <a:pt x="155" y="29"/>
                      </a:cubicBezTo>
                      <a:cubicBezTo>
                        <a:pt x="100" y="45"/>
                        <a:pt x="32" y="84"/>
                        <a:pt x="0" y="98"/>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682" name="Google Shape;682;p39"/>
                <p:cNvCxnSpPr/>
                <p:nvPr/>
              </p:nvCxnSpPr>
              <p:spPr>
                <a:xfrm>
                  <a:off x="3069" y="3681"/>
                  <a:ext cx="42" cy="0"/>
                </a:xfrm>
                <a:prstGeom prst="straightConnector1">
                  <a:avLst/>
                </a:prstGeom>
                <a:noFill/>
                <a:ln cap="flat" cmpd="sng" w="9525">
                  <a:solidFill>
                    <a:schemeClr val="dk1"/>
                  </a:solidFill>
                  <a:prstDash val="solid"/>
                  <a:round/>
                  <a:headEnd len="med" w="med" type="triangle"/>
                  <a:tailEnd len="med" w="med" type="none"/>
                </a:ln>
              </p:spPr>
            </p:cxnSp>
          </p:grpSp>
          <p:grpSp>
            <p:nvGrpSpPr>
              <p:cNvPr id="683" name="Google Shape;683;p39"/>
              <p:cNvGrpSpPr/>
              <p:nvPr/>
            </p:nvGrpSpPr>
            <p:grpSpPr>
              <a:xfrm>
                <a:off x="2747" y="3633"/>
                <a:ext cx="703" cy="243"/>
                <a:chOff x="2747" y="3633"/>
                <a:chExt cx="703" cy="243"/>
              </a:xfrm>
            </p:grpSpPr>
            <p:sp>
              <p:nvSpPr>
                <p:cNvPr id="684" name="Google Shape;684;p39"/>
                <p:cNvSpPr/>
                <p:nvPr/>
              </p:nvSpPr>
              <p:spPr>
                <a:xfrm flipH="1" rot="10800000">
                  <a:off x="2747" y="3633"/>
                  <a:ext cx="703" cy="243"/>
                </a:xfrm>
                <a:custGeom>
                  <a:rect b="b" l="l" r="r" t="t"/>
                  <a:pathLst>
                    <a:path extrusionOk="0" h="254" w="703">
                      <a:moveTo>
                        <a:pt x="703" y="254"/>
                      </a:moveTo>
                      <a:cubicBezTo>
                        <a:pt x="631" y="185"/>
                        <a:pt x="557" y="120"/>
                        <a:pt x="499" y="78"/>
                      </a:cubicBezTo>
                      <a:cubicBezTo>
                        <a:pt x="441" y="36"/>
                        <a:pt x="405" y="0"/>
                        <a:pt x="352" y="1"/>
                      </a:cubicBezTo>
                      <a:cubicBezTo>
                        <a:pt x="299" y="2"/>
                        <a:pt x="238" y="42"/>
                        <a:pt x="179" y="82"/>
                      </a:cubicBezTo>
                      <a:cubicBezTo>
                        <a:pt x="120" y="122"/>
                        <a:pt x="37" y="209"/>
                        <a:pt x="0" y="242"/>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685" name="Google Shape;685;p39"/>
                <p:cNvCxnSpPr/>
                <p:nvPr/>
              </p:nvCxnSpPr>
              <p:spPr>
                <a:xfrm>
                  <a:off x="3063" y="3872"/>
                  <a:ext cx="42" cy="0"/>
                </a:xfrm>
                <a:prstGeom prst="straightConnector1">
                  <a:avLst/>
                </a:prstGeom>
                <a:noFill/>
                <a:ln cap="flat" cmpd="sng" w="9525">
                  <a:solidFill>
                    <a:schemeClr val="dk1"/>
                  </a:solidFill>
                  <a:prstDash val="solid"/>
                  <a:round/>
                  <a:headEnd len="med" w="med" type="triangle"/>
                  <a:tailEnd len="med" w="med" type="none"/>
                </a:ln>
              </p:spPr>
            </p:cxnSp>
          </p:grpSp>
          <p:grpSp>
            <p:nvGrpSpPr>
              <p:cNvPr id="686" name="Google Shape;686;p39"/>
              <p:cNvGrpSpPr/>
              <p:nvPr/>
            </p:nvGrpSpPr>
            <p:grpSpPr>
              <a:xfrm>
                <a:off x="2683" y="3657"/>
                <a:ext cx="836" cy="576"/>
                <a:chOff x="2683" y="3657"/>
                <a:chExt cx="836" cy="444"/>
              </a:xfrm>
            </p:grpSpPr>
            <p:sp>
              <p:nvSpPr>
                <p:cNvPr id="687" name="Google Shape;687;p39"/>
                <p:cNvSpPr/>
                <p:nvPr/>
              </p:nvSpPr>
              <p:spPr>
                <a:xfrm flipH="1" rot="10800000">
                  <a:off x="2683" y="3657"/>
                  <a:ext cx="836" cy="444"/>
                </a:xfrm>
                <a:custGeom>
                  <a:rect b="b" l="l" r="r" t="t"/>
                  <a:pathLst>
                    <a:path extrusionOk="0" h="254" w="703">
                      <a:moveTo>
                        <a:pt x="703" y="254"/>
                      </a:moveTo>
                      <a:cubicBezTo>
                        <a:pt x="631" y="185"/>
                        <a:pt x="557" y="120"/>
                        <a:pt x="499" y="78"/>
                      </a:cubicBezTo>
                      <a:cubicBezTo>
                        <a:pt x="441" y="36"/>
                        <a:pt x="405" y="0"/>
                        <a:pt x="352" y="1"/>
                      </a:cubicBezTo>
                      <a:cubicBezTo>
                        <a:pt x="299" y="2"/>
                        <a:pt x="238" y="42"/>
                        <a:pt x="179" y="82"/>
                      </a:cubicBezTo>
                      <a:cubicBezTo>
                        <a:pt x="120" y="122"/>
                        <a:pt x="37" y="209"/>
                        <a:pt x="0" y="242"/>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688" name="Google Shape;688;p39"/>
                <p:cNvCxnSpPr/>
                <p:nvPr/>
              </p:nvCxnSpPr>
              <p:spPr>
                <a:xfrm>
                  <a:off x="3063" y="4101"/>
                  <a:ext cx="42" cy="0"/>
                </a:xfrm>
                <a:prstGeom prst="straightConnector1">
                  <a:avLst/>
                </a:prstGeom>
                <a:noFill/>
                <a:ln cap="flat" cmpd="sng" w="9525">
                  <a:solidFill>
                    <a:schemeClr val="dk1"/>
                  </a:solidFill>
                  <a:prstDash val="solid"/>
                  <a:round/>
                  <a:headEnd len="med" w="med" type="triangle"/>
                  <a:tailEnd len="med" w="med" type="none"/>
                </a:ln>
              </p:spPr>
            </p:cxnSp>
          </p:grpSp>
          <p:grpSp>
            <p:nvGrpSpPr>
              <p:cNvPr id="689" name="Google Shape;689;p39"/>
              <p:cNvGrpSpPr/>
              <p:nvPr/>
            </p:nvGrpSpPr>
            <p:grpSpPr>
              <a:xfrm>
                <a:off x="2771" y="3508"/>
                <a:ext cx="656" cy="0"/>
                <a:chOff x="2771" y="3508"/>
                <a:chExt cx="656" cy="0"/>
              </a:xfrm>
            </p:grpSpPr>
            <p:cxnSp>
              <p:nvCxnSpPr>
                <p:cNvPr id="690" name="Google Shape;690;p39"/>
                <p:cNvCxnSpPr/>
                <p:nvPr/>
              </p:nvCxnSpPr>
              <p:spPr>
                <a:xfrm>
                  <a:off x="3069" y="3508"/>
                  <a:ext cx="42" cy="0"/>
                </a:xfrm>
                <a:prstGeom prst="straightConnector1">
                  <a:avLst/>
                </a:prstGeom>
                <a:noFill/>
                <a:ln cap="flat" cmpd="sng" w="9525">
                  <a:solidFill>
                    <a:schemeClr val="dk1"/>
                  </a:solidFill>
                  <a:prstDash val="solid"/>
                  <a:round/>
                  <a:headEnd len="med" w="med" type="triangle"/>
                  <a:tailEnd len="med" w="med" type="none"/>
                </a:ln>
              </p:spPr>
            </p:cxnSp>
            <p:cxnSp>
              <p:nvCxnSpPr>
                <p:cNvPr id="691" name="Google Shape;691;p39"/>
                <p:cNvCxnSpPr/>
                <p:nvPr/>
              </p:nvCxnSpPr>
              <p:spPr>
                <a:xfrm rot="10800000">
                  <a:off x="2771" y="3508"/>
                  <a:ext cx="656" cy="0"/>
                </a:xfrm>
                <a:prstGeom prst="straightConnector1">
                  <a:avLst/>
                </a:prstGeom>
                <a:noFill/>
                <a:ln cap="flat" cmpd="sng" w="9525">
                  <a:solidFill>
                    <a:schemeClr val="dk1"/>
                  </a:solidFill>
                  <a:prstDash val="solid"/>
                  <a:round/>
                  <a:headEnd len="med" w="med" type="none"/>
                  <a:tailEnd len="med" w="med" type="none"/>
                </a:ln>
              </p:spPr>
            </p:cxnSp>
          </p:grpSp>
        </p:grpSp>
      </p:grpSp>
      <p:sp>
        <p:nvSpPr>
          <p:cNvPr id="692" name="Google Shape;692;p39"/>
          <p:cNvSpPr txBox="1"/>
          <p:nvPr/>
        </p:nvSpPr>
        <p:spPr>
          <a:xfrm>
            <a:off x="5992813" y="2763838"/>
            <a:ext cx="2673350" cy="46196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accent2"/>
                </a:solidFill>
                <a:latin typeface="Arial"/>
                <a:ea typeface="Arial"/>
                <a:cs typeface="Arial"/>
                <a:sym typeface="Arial"/>
              </a:rPr>
              <a:t>(+) MONOPOLE</a:t>
            </a:r>
            <a:endParaRPr/>
          </a:p>
        </p:txBody>
      </p:sp>
      <p:sp>
        <p:nvSpPr>
          <p:cNvPr id="693" name="Google Shape;693;p39"/>
          <p:cNvSpPr txBox="1"/>
          <p:nvPr/>
        </p:nvSpPr>
        <p:spPr>
          <a:xfrm>
            <a:off x="5060950" y="6448425"/>
            <a:ext cx="1498600" cy="4619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CC3399"/>
                </a:solidFill>
                <a:latin typeface="Arial"/>
                <a:ea typeface="Arial"/>
                <a:cs typeface="Arial"/>
                <a:sym typeface="Arial"/>
              </a:rPr>
              <a:t>DIPOLE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25"/>
                                        </p:tgtEl>
                                        <p:attrNameLst>
                                          <p:attrName>style.visibility</p:attrName>
                                        </p:attrNameLst>
                                      </p:cBhvr>
                                      <p:to>
                                        <p:strVal val="visible"/>
                                      </p:to>
                                    </p:set>
                                    <p:anim calcmode="lin" valueType="num">
                                      <p:cBhvr additive="base">
                                        <p:cTn dur="500"/>
                                        <p:tgtEl>
                                          <p:spTgt spid="625"/>
                                        </p:tgtEl>
                                        <p:attrNameLst>
                                          <p:attrName>ppt_w</p:attrName>
                                        </p:attrNameLst>
                                      </p:cBhvr>
                                      <p:tavLst>
                                        <p:tav fmla="" tm="0">
                                          <p:val>
                                            <p:strVal val="0"/>
                                          </p:val>
                                        </p:tav>
                                        <p:tav fmla="" tm="100000">
                                          <p:val>
                                            <p:strVal val="#ppt_w"/>
                                          </p:val>
                                        </p:tav>
                                      </p:tavLst>
                                    </p:anim>
                                    <p:anim calcmode="lin" valueType="num">
                                      <p:cBhvr additive="base">
                                        <p:cTn dur="500"/>
                                        <p:tgtEl>
                                          <p:spTgt spid="62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46"/>
                                        </p:tgtEl>
                                        <p:attrNameLst>
                                          <p:attrName>style.visibility</p:attrName>
                                        </p:attrNameLst>
                                      </p:cBhvr>
                                      <p:to>
                                        <p:strVal val="visible"/>
                                      </p:to>
                                    </p:set>
                                    <p:anim calcmode="lin" valueType="num">
                                      <p:cBhvr additive="base">
                                        <p:cTn dur="500"/>
                                        <p:tgtEl>
                                          <p:spTgt spid="646"/>
                                        </p:tgtEl>
                                        <p:attrNameLst>
                                          <p:attrName>ppt_w</p:attrName>
                                        </p:attrNameLst>
                                      </p:cBhvr>
                                      <p:tavLst>
                                        <p:tav fmla="" tm="0">
                                          <p:val>
                                            <p:strVal val="0"/>
                                          </p:val>
                                        </p:tav>
                                        <p:tav fmla="" tm="100000">
                                          <p:val>
                                            <p:strVal val="#ppt_w"/>
                                          </p:val>
                                        </p:tav>
                                      </p:tavLst>
                                    </p:anim>
                                    <p:anim calcmode="lin" valueType="num">
                                      <p:cBhvr additive="base">
                                        <p:cTn dur="500"/>
                                        <p:tgtEl>
                                          <p:spTgt spid="64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04"/>
                                        </p:tgtEl>
                                        <p:attrNameLst>
                                          <p:attrName>style.visibility</p:attrName>
                                        </p:attrNameLst>
                                      </p:cBhvr>
                                      <p:to>
                                        <p:strVal val="visible"/>
                                      </p:to>
                                    </p:set>
                                    <p:anim calcmode="lin" valueType="num">
                                      <p:cBhvr additive="base">
                                        <p:cTn dur="500"/>
                                        <p:tgtEl>
                                          <p:spTgt spid="604"/>
                                        </p:tgtEl>
                                        <p:attrNameLst>
                                          <p:attrName>ppt_w</p:attrName>
                                        </p:attrNameLst>
                                      </p:cBhvr>
                                      <p:tavLst>
                                        <p:tav fmla="" tm="0">
                                          <p:val>
                                            <p:strVal val="0"/>
                                          </p:val>
                                        </p:tav>
                                        <p:tav fmla="" tm="100000">
                                          <p:val>
                                            <p:strVal val="#ppt_w"/>
                                          </p:val>
                                        </p:tav>
                                      </p:tavLst>
                                    </p:anim>
                                    <p:anim calcmode="lin" valueType="num">
                                      <p:cBhvr additive="base">
                                        <p:cTn dur="500"/>
                                        <p:tgtEl>
                                          <p:spTgt spid="60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92"/>
                                        </p:tgtEl>
                                        <p:attrNameLst>
                                          <p:attrName>style.visibility</p:attrName>
                                        </p:attrNameLst>
                                      </p:cBhvr>
                                      <p:to>
                                        <p:strVal val="visible"/>
                                      </p:to>
                                    </p:set>
                                    <p:anim calcmode="lin" valueType="num">
                                      <p:cBhvr additive="base">
                                        <p:cTn dur="500"/>
                                        <p:tgtEl>
                                          <p:spTgt spid="692"/>
                                        </p:tgtEl>
                                        <p:attrNameLst>
                                          <p:attrName>ppt_w</p:attrName>
                                        </p:attrNameLst>
                                      </p:cBhvr>
                                      <p:tavLst>
                                        <p:tav fmla="" tm="0">
                                          <p:val>
                                            <p:strVal val="0"/>
                                          </p:val>
                                        </p:tav>
                                        <p:tav fmla="" tm="100000">
                                          <p:val>
                                            <p:strVal val="#ppt_w"/>
                                          </p:val>
                                        </p:tav>
                                      </p:tavLst>
                                    </p:anim>
                                    <p:anim calcmode="lin" valueType="num">
                                      <p:cBhvr additive="base">
                                        <p:cTn dur="500"/>
                                        <p:tgtEl>
                                          <p:spTgt spid="692"/>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625"/>
                                        </p:tgtEl>
                                      </p:cBhvr>
                                    </p:animEffect>
                                    <p:set>
                                      <p:cBhvr>
                                        <p:cTn dur="1" fill="hold">
                                          <p:stCondLst>
                                            <p:cond delay="500"/>
                                          </p:stCondLst>
                                        </p:cTn>
                                        <p:tgtEl>
                                          <p:spTgt spid="62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04"/>
                                        </p:tgtEl>
                                      </p:cBhvr>
                                    </p:animEffect>
                                    <p:set>
                                      <p:cBhvr>
                                        <p:cTn dur="1" fill="hold">
                                          <p:stCondLst>
                                            <p:cond delay="500"/>
                                          </p:stCondLst>
                                        </p:cTn>
                                        <p:tgtEl>
                                          <p:spTgt spid="60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47"/>
                                        </p:tgtEl>
                                        <p:attrNameLst>
                                          <p:attrName>style.visibility</p:attrName>
                                        </p:attrNameLst>
                                      </p:cBhvr>
                                      <p:to>
                                        <p:strVal val="visible"/>
                                      </p:to>
                                    </p:set>
                                    <p:animEffect filter="fade" transition="in">
                                      <p:cBhvr>
                                        <p:cTn dur="500"/>
                                        <p:tgtEl>
                                          <p:spTgt spid="6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93"/>
                                        </p:tgtEl>
                                        <p:attrNameLst>
                                          <p:attrName>style.visibility</p:attrName>
                                        </p:attrNameLst>
                                      </p:cBhvr>
                                      <p:to>
                                        <p:strVal val="visible"/>
                                      </p:to>
                                    </p:set>
                                    <p:anim calcmode="lin" valueType="num">
                                      <p:cBhvr additive="base">
                                        <p:cTn dur="500"/>
                                        <p:tgtEl>
                                          <p:spTgt spid="693"/>
                                        </p:tgtEl>
                                        <p:attrNameLst>
                                          <p:attrName>ppt_w</p:attrName>
                                        </p:attrNameLst>
                                      </p:cBhvr>
                                      <p:tavLst>
                                        <p:tav fmla="" tm="0">
                                          <p:val>
                                            <p:strVal val="0"/>
                                          </p:val>
                                        </p:tav>
                                        <p:tav fmla="" tm="100000">
                                          <p:val>
                                            <p:strVal val="#ppt_w"/>
                                          </p:val>
                                        </p:tav>
                                      </p:tavLst>
                                    </p:anim>
                                    <p:anim calcmode="lin" valueType="num">
                                      <p:cBhvr additive="base">
                                        <p:cTn dur="500"/>
                                        <p:tgtEl>
                                          <p:spTgt spid="69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40"/>
          <p:cNvSpPr/>
          <p:nvPr/>
        </p:nvSpPr>
        <p:spPr>
          <a:xfrm>
            <a:off x="674688" y="1982788"/>
            <a:ext cx="7772400" cy="4875212"/>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Suppose test charges are placed at points A and B in the electric field of the dipole, as                        shown. Trace their paths when released.       </a:t>
            </a:r>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∙Just remember: Test charges travel                                      </a:t>
            </a:r>
            <a:r>
              <a:rPr lang="en-US" sz="2400" u="sng">
                <a:solidFill>
                  <a:schemeClr val="dk1"/>
                </a:solidFill>
                <a:latin typeface="Arial"/>
                <a:ea typeface="Arial"/>
                <a:cs typeface="Arial"/>
                <a:sym typeface="Arial"/>
              </a:rPr>
              <a:t>with</a:t>
            </a:r>
            <a:r>
              <a:rPr lang="en-US" sz="2400">
                <a:solidFill>
                  <a:schemeClr val="dk1"/>
                </a:solidFill>
                <a:latin typeface="Arial"/>
                <a:ea typeface="Arial"/>
                <a:cs typeface="Arial"/>
                <a:sym typeface="Arial"/>
              </a:rPr>
              <a:t> the field arrows and on the field lines.</a:t>
            </a:r>
            <a:endParaRPr/>
          </a:p>
        </p:txBody>
      </p:sp>
      <p:sp>
        <p:nvSpPr>
          <p:cNvPr id="699" name="Google Shape;699;p40"/>
          <p:cNvSpPr/>
          <p:nvPr/>
        </p:nvSpPr>
        <p:spPr>
          <a:xfrm>
            <a:off x="685800" y="1549400"/>
            <a:ext cx="7772400" cy="4476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Solving problems involving electric fields</a:t>
            </a:r>
            <a:endParaRPr i="1" sz="2400">
              <a:solidFill>
                <a:srgbClr val="000000"/>
              </a:solidFill>
              <a:latin typeface="Arial"/>
              <a:ea typeface="Arial"/>
              <a:cs typeface="Arial"/>
              <a:sym typeface="Arial"/>
            </a:endParaRPr>
          </a:p>
        </p:txBody>
      </p:sp>
      <p:sp>
        <p:nvSpPr>
          <p:cNvPr id="700" name="Google Shape;700;p40"/>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grpSp>
        <p:nvGrpSpPr>
          <p:cNvPr id="701" name="Google Shape;701;p40"/>
          <p:cNvGrpSpPr/>
          <p:nvPr/>
        </p:nvGrpSpPr>
        <p:grpSpPr>
          <a:xfrm>
            <a:off x="5832475" y="2389188"/>
            <a:ext cx="3311525" cy="4324350"/>
            <a:chOff x="1918" y="2157"/>
            <a:chExt cx="2086" cy="2724"/>
          </a:xfrm>
        </p:grpSpPr>
        <p:sp>
          <p:nvSpPr>
            <p:cNvPr id="702" name="Google Shape;702;p40"/>
            <p:cNvSpPr/>
            <p:nvPr/>
          </p:nvSpPr>
          <p:spPr>
            <a:xfrm flipH="1" rot="10800000">
              <a:off x="2477" y="3675"/>
              <a:ext cx="980" cy="1206"/>
            </a:xfrm>
            <a:custGeom>
              <a:rect b="b" l="l" r="r" t="t"/>
              <a:pathLst>
                <a:path extrusionOk="0" h="1206" w="980">
                  <a:moveTo>
                    <a:pt x="980" y="1206"/>
                  </a:moveTo>
                  <a:cubicBezTo>
                    <a:pt x="950" y="1085"/>
                    <a:pt x="883" y="682"/>
                    <a:pt x="801" y="481"/>
                  </a:cubicBezTo>
                  <a:cubicBezTo>
                    <a:pt x="719" y="280"/>
                    <a:pt x="595" y="2"/>
                    <a:pt x="491" y="1"/>
                  </a:cubicBezTo>
                  <a:cubicBezTo>
                    <a:pt x="387" y="0"/>
                    <a:pt x="261" y="284"/>
                    <a:pt x="179" y="475"/>
                  </a:cubicBezTo>
                  <a:cubicBezTo>
                    <a:pt x="97" y="666"/>
                    <a:pt x="37" y="1009"/>
                    <a:pt x="0" y="1149"/>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nvGrpSpPr>
            <p:cNvPr id="703" name="Google Shape;703;p40"/>
            <p:cNvGrpSpPr/>
            <p:nvPr/>
          </p:nvGrpSpPr>
          <p:grpSpPr>
            <a:xfrm>
              <a:off x="1918" y="2157"/>
              <a:ext cx="2086" cy="2076"/>
              <a:chOff x="2050" y="2157"/>
              <a:chExt cx="2086" cy="2076"/>
            </a:xfrm>
          </p:grpSpPr>
          <p:grpSp>
            <p:nvGrpSpPr>
              <p:cNvPr id="704" name="Google Shape;704;p40"/>
              <p:cNvGrpSpPr/>
              <p:nvPr/>
            </p:nvGrpSpPr>
            <p:grpSpPr>
              <a:xfrm>
                <a:off x="3471" y="2976"/>
                <a:ext cx="665" cy="1039"/>
                <a:chOff x="3471" y="2976"/>
                <a:chExt cx="665" cy="1039"/>
              </a:xfrm>
            </p:grpSpPr>
            <p:sp>
              <p:nvSpPr>
                <p:cNvPr id="705" name="Google Shape;705;p40"/>
                <p:cNvSpPr/>
                <p:nvPr/>
              </p:nvSpPr>
              <p:spPr>
                <a:xfrm>
                  <a:off x="3471" y="3391"/>
                  <a:ext cx="221" cy="228"/>
                </a:xfrm>
                <a:prstGeom prst="ellipse">
                  <a:avLst/>
                </a:prstGeom>
                <a:gradFill>
                  <a:gsLst>
                    <a:gs pos="0">
                      <a:srgbClr val="FF9999"/>
                    </a:gs>
                    <a:gs pos="100000">
                      <a:srgbClr val="764747"/>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cxnSp>
              <p:nvCxnSpPr>
                <p:cNvPr id="706" name="Google Shape;706;p40"/>
                <p:cNvCxnSpPr/>
                <p:nvPr/>
              </p:nvCxnSpPr>
              <p:spPr>
                <a:xfrm>
                  <a:off x="3738" y="3512"/>
                  <a:ext cx="398" cy="0"/>
                </a:xfrm>
                <a:prstGeom prst="straightConnector1">
                  <a:avLst/>
                </a:prstGeom>
                <a:noFill/>
                <a:ln cap="flat" cmpd="sng" w="9525">
                  <a:solidFill>
                    <a:schemeClr val="dk1"/>
                  </a:solidFill>
                  <a:prstDash val="solid"/>
                  <a:round/>
                  <a:headEnd len="med" w="med" type="none"/>
                  <a:tailEnd len="med" w="med" type="triangle"/>
                </a:ln>
              </p:spPr>
            </p:cxnSp>
            <p:cxnSp>
              <p:nvCxnSpPr>
                <p:cNvPr id="707" name="Google Shape;707;p40"/>
                <p:cNvCxnSpPr/>
                <p:nvPr/>
              </p:nvCxnSpPr>
              <p:spPr>
                <a:xfrm flipH="1" rot="10800000">
                  <a:off x="3694" y="3106"/>
                  <a:ext cx="280" cy="290"/>
                </a:xfrm>
                <a:prstGeom prst="straightConnector1">
                  <a:avLst/>
                </a:prstGeom>
                <a:noFill/>
                <a:ln cap="flat" cmpd="sng" w="9525">
                  <a:solidFill>
                    <a:schemeClr val="dk1"/>
                  </a:solidFill>
                  <a:prstDash val="solid"/>
                  <a:round/>
                  <a:headEnd len="med" w="med" type="none"/>
                  <a:tailEnd len="med" w="med" type="triangle"/>
                </a:ln>
              </p:spPr>
            </p:cxnSp>
            <p:cxnSp>
              <p:nvCxnSpPr>
                <p:cNvPr id="708" name="Google Shape;708;p40"/>
                <p:cNvCxnSpPr/>
                <p:nvPr/>
              </p:nvCxnSpPr>
              <p:spPr>
                <a:xfrm>
                  <a:off x="3694" y="3623"/>
                  <a:ext cx="269" cy="279"/>
                </a:xfrm>
                <a:prstGeom prst="straightConnector1">
                  <a:avLst/>
                </a:prstGeom>
                <a:noFill/>
                <a:ln cap="flat" cmpd="sng" w="9525">
                  <a:solidFill>
                    <a:schemeClr val="dk1"/>
                  </a:solidFill>
                  <a:prstDash val="solid"/>
                  <a:round/>
                  <a:headEnd len="med" w="med" type="none"/>
                  <a:tailEnd len="med" w="med" type="triangle"/>
                </a:ln>
              </p:spPr>
            </p:cxnSp>
            <p:cxnSp>
              <p:nvCxnSpPr>
                <p:cNvPr id="709" name="Google Shape;709;p40"/>
                <p:cNvCxnSpPr/>
                <p:nvPr/>
              </p:nvCxnSpPr>
              <p:spPr>
                <a:xfrm rot="1308473">
                  <a:off x="3722" y="3644"/>
                  <a:ext cx="398" cy="0"/>
                </a:xfrm>
                <a:prstGeom prst="straightConnector1">
                  <a:avLst/>
                </a:prstGeom>
                <a:noFill/>
                <a:ln cap="flat" cmpd="sng" w="9525">
                  <a:solidFill>
                    <a:schemeClr val="dk1"/>
                  </a:solidFill>
                  <a:prstDash val="solid"/>
                  <a:round/>
                  <a:headEnd len="med" w="med" type="none"/>
                  <a:tailEnd len="med" w="med" type="triangle"/>
                </a:ln>
              </p:spPr>
            </p:cxnSp>
            <p:cxnSp>
              <p:nvCxnSpPr>
                <p:cNvPr id="710" name="Google Shape;710;p40"/>
                <p:cNvCxnSpPr/>
                <p:nvPr/>
              </p:nvCxnSpPr>
              <p:spPr>
                <a:xfrm rot="10800000">
                  <a:off x="3733" y="2961"/>
                  <a:ext cx="0" cy="416"/>
                </a:xfrm>
                <a:prstGeom prst="straightConnector1">
                  <a:avLst/>
                </a:prstGeom>
                <a:noFill/>
                <a:ln cap="flat" cmpd="sng" w="9525">
                  <a:solidFill>
                    <a:schemeClr val="dk1"/>
                  </a:solidFill>
                  <a:prstDash val="solid"/>
                  <a:round/>
                  <a:headEnd len="med" w="med" type="none"/>
                  <a:tailEnd len="med" w="med" type="triangle"/>
                </a:ln>
              </p:spPr>
            </p:cxnSp>
            <p:cxnSp>
              <p:nvCxnSpPr>
                <p:cNvPr id="711" name="Google Shape;711;p40"/>
                <p:cNvCxnSpPr/>
                <p:nvPr/>
              </p:nvCxnSpPr>
              <p:spPr>
                <a:xfrm flipH="1" rot="-9491527">
                  <a:off x="3782" y="3218"/>
                  <a:ext cx="280" cy="290"/>
                </a:xfrm>
                <a:prstGeom prst="straightConnector1">
                  <a:avLst/>
                </a:prstGeom>
                <a:noFill/>
                <a:ln cap="flat" cmpd="sng" w="9525">
                  <a:solidFill>
                    <a:schemeClr val="dk1"/>
                  </a:solidFill>
                  <a:prstDash val="solid"/>
                  <a:round/>
                  <a:headEnd len="med" w="med" type="none"/>
                  <a:tailEnd len="med" w="med" type="triangle"/>
                </a:ln>
              </p:spPr>
            </p:cxnSp>
            <p:cxnSp>
              <p:nvCxnSpPr>
                <p:cNvPr id="712" name="Google Shape;712;p40"/>
                <p:cNvCxnSpPr/>
                <p:nvPr/>
              </p:nvCxnSpPr>
              <p:spPr>
                <a:xfrm rot="1308473">
                  <a:off x="3592" y="3696"/>
                  <a:ext cx="269" cy="279"/>
                </a:xfrm>
                <a:prstGeom prst="straightConnector1">
                  <a:avLst/>
                </a:prstGeom>
                <a:noFill/>
                <a:ln cap="flat" cmpd="sng" w="9525">
                  <a:solidFill>
                    <a:schemeClr val="dk1"/>
                  </a:solidFill>
                  <a:prstDash val="solid"/>
                  <a:round/>
                  <a:headEnd len="med" w="med" type="none"/>
                  <a:tailEnd len="med" w="med" type="triangle"/>
                </a:ln>
              </p:spPr>
            </p:cxnSp>
          </p:grpSp>
          <p:grpSp>
            <p:nvGrpSpPr>
              <p:cNvPr id="713" name="Google Shape;713;p40"/>
              <p:cNvGrpSpPr/>
              <p:nvPr/>
            </p:nvGrpSpPr>
            <p:grpSpPr>
              <a:xfrm>
                <a:off x="2050" y="2980"/>
                <a:ext cx="666" cy="1061"/>
                <a:chOff x="2050" y="2980"/>
                <a:chExt cx="666" cy="1061"/>
              </a:xfrm>
            </p:grpSpPr>
            <p:sp>
              <p:nvSpPr>
                <p:cNvPr id="714" name="Google Shape;714;p40"/>
                <p:cNvSpPr/>
                <p:nvPr/>
              </p:nvSpPr>
              <p:spPr>
                <a:xfrm>
                  <a:off x="2495" y="3384"/>
                  <a:ext cx="221" cy="229"/>
                </a:xfrm>
                <a:prstGeom prst="ellipse">
                  <a:avLst/>
                </a:prstGeom>
                <a:gradFill>
                  <a:gsLst>
                    <a:gs pos="0">
                      <a:schemeClr val="accent1"/>
                    </a:gs>
                    <a:gs pos="100000">
                      <a:srgbClr val="839D9F"/>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715" name="Google Shape;715;p40"/>
                <p:cNvCxnSpPr/>
                <p:nvPr/>
              </p:nvCxnSpPr>
              <p:spPr>
                <a:xfrm rot="10800000">
                  <a:off x="2050" y="3505"/>
                  <a:ext cx="403" cy="0"/>
                </a:xfrm>
                <a:prstGeom prst="straightConnector1">
                  <a:avLst/>
                </a:prstGeom>
                <a:noFill/>
                <a:ln cap="flat" cmpd="sng" w="9525">
                  <a:solidFill>
                    <a:schemeClr val="dk1"/>
                  </a:solidFill>
                  <a:prstDash val="solid"/>
                  <a:round/>
                  <a:headEnd len="med" w="med" type="triangle"/>
                  <a:tailEnd len="med" w="med" type="none"/>
                </a:ln>
              </p:spPr>
            </p:cxnSp>
            <p:cxnSp>
              <p:nvCxnSpPr>
                <p:cNvPr id="716" name="Google Shape;716;p40"/>
                <p:cNvCxnSpPr/>
                <p:nvPr/>
              </p:nvCxnSpPr>
              <p:spPr>
                <a:xfrm rot="10800000">
                  <a:off x="2217" y="3098"/>
                  <a:ext cx="280" cy="290"/>
                </a:xfrm>
                <a:prstGeom prst="straightConnector1">
                  <a:avLst/>
                </a:prstGeom>
                <a:noFill/>
                <a:ln cap="flat" cmpd="sng" w="9525">
                  <a:solidFill>
                    <a:schemeClr val="dk1"/>
                  </a:solidFill>
                  <a:prstDash val="solid"/>
                  <a:round/>
                  <a:headEnd len="med" w="med" type="triangle"/>
                  <a:tailEnd len="med" w="med" type="none"/>
                </a:ln>
              </p:spPr>
            </p:cxnSp>
            <p:cxnSp>
              <p:nvCxnSpPr>
                <p:cNvPr id="717" name="Google Shape;717;p40"/>
                <p:cNvCxnSpPr/>
                <p:nvPr/>
              </p:nvCxnSpPr>
              <p:spPr>
                <a:xfrm flipH="1">
                  <a:off x="2213" y="3626"/>
                  <a:ext cx="284" cy="294"/>
                </a:xfrm>
                <a:prstGeom prst="straightConnector1">
                  <a:avLst/>
                </a:prstGeom>
                <a:noFill/>
                <a:ln cap="flat" cmpd="sng" w="9525">
                  <a:solidFill>
                    <a:schemeClr val="dk1"/>
                  </a:solidFill>
                  <a:prstDash val="solid"/>
                  <a:round/>
                  <a:headEnd len="med" w="med" type="triangle"/>
                  <a:tailEnd len="med" w="med" type="none"/>
                </a:ln>
              </p:spPr>
            </p:cxnSp>
            <p:cxnSp>
              <p:nvCxnSpPr>
                <p:cNvPr id="718" name="Google Shape;718;p40"/>
                <p:cNvCxnSpPr/>
                <p:nvPr/>
              </p:nvCxnSpPr>
              <p:spPr>
                <a:xfrm rot="-9421154">
                  <a:off x="2074" y="3368"/>
                  <a:ext cx="403" cy="0"/>
                </a:xfrm>
                <a:prstGeom prst="straightConnector1">
                  <a:avLst/>
                </a:prstGeom>
                <a:noFill/>
                <a:ln cap="flat" cmpd="sng" w="9525">
                  <a:solidFill>
                    <a:schemeClr val="dk1"/>
                  </a:solidFill>
                  <a:prstDash val="solid"/>
                  <a:round/>
                  <a:headEnd len="med" w="med" type="triangle"/>
                  <a:tailEnd len="med" w="med" type="none"/>
                </a:ln>
              </p:spPr>
            </p:cxnSp>
            <p:cxnSp>
              <p:nvCxnSpPr>
                <p:cNvPr id="719" name="Google Shape;719;p40"/>
                <p:cNvCxnSpPr/>
                <p:nvPr/>
              </p:nvCxnSpPr>
              <p:spPr>
                <a:xfrm>
                  <a:off x="2462" y="3641"/>
                  <a:ext cx="0" cy="416"/>
                </a:xfrm>
                <a:prstGeom prst="straightConnector1">
                  <a:avLst/>
                </a:prstGeom>
                <a:noFill/>
                <a:ln cap="flat" cmpd="sng" w="9525">
                  <a:solidFill>
                    <a:schemeClr val="dk1"/>
                  </a:solidFill>
                  <a:prstDash val="solid"/>
                  <a:round/>
                  <a:headEnd len="med" w="med" type="triangle"/>
                  <a:tailEnd len="med" w="med" type="none"/>
                </a:ln>
              </p:spPr>
            </p:cxnSp>
            <p:cxnSp>
              <p:nvCxnSpPr>
                <p:cNvPr id="720" name="Google Shape;720;p40"/>
                <p:cNvCxnSpPr/>
                <p:nvPr/>
              </p:nvCxnSpPr>
              <p:spPr>
                <a:xfrm rot="-9421154">
                  <a:off x="2335" y="3023"/>
                  <a:ext cx="280" cy="290"/>
                </a:xfrm>
                <a:prstGeom prst="straightConnector1">
                  <a:avLst/>
                </a:prstGeom>
                <a:noFill/>
                <a:ln cap="flat" cmpd="sng" w="9525">
                  <a:solidFill>
                    <a:schemeClr val="dk1"/>
                  </a:solidFill>
                  <a:prstDash val="solid"/>
                  <a:round/>
                  <a:headEnd len="med" w="med" type="triangle"/>
                  <a:tailEnd len="med" w="med" type="none"/>
                </a:ln>
              </p:spPr>
            </p:cxnSp>
            <p:cxnSp>
              <p:nvCxnSpPr>
                <p:cNvPr id="721" name="Google Shape;721;p40"/>
                <p:cNvCxnSpPr/>
                <p:nvPr/>
              </p:nvCxnSpPr>
              <p:spPr>
                <a:xfrm flipH="1" rot="1378846">
                  <a:off x="2125" y="3508"/>
                  <a:ext cx="284" cy="294"/>
                </a:xfrm>
                <a:prstGeom prst="straightConnector1">
                  <a:avLst/>
                </a:prstGeom>
                <a:noFill/>
                <a:ln cap="flat" cmpd="sng" w="9525">
                  <a:solidFill>
                    <a:schemeClr val="dk1"/>
                  </a:solidFill>
                  <a:prstDash val="solid"/>
                  <a:round/>
                  <a:headEnd len="med" w="med" type="triangle"/>
                  <a:tailEnd len="med" w="med" type="none"/>
                </a:ln>
              </p:spPr>
            </p:cxnSp>
          </p:grpSp>
          <p:grpSp>
            <p:nvGrpSpPr>
              <p:cNvPr id="722" name="Google Shape;722;p40"/>
              <p:cNvGrpSpPr/>
              <p:nvPr/>
            </p:nvGrpSpPr>
            <p:grpSpPr>
              <a:xfrm>
                <a:off x="2771" y="3341"/>
                <a:ext cx="673" cy="103"/>
                <a:chOff x="2771" y="3341"/>
                <a:chExt cx="673" cy="103"/>
              </a:xfrm>
            </p:grpSpPr>
            <p:cxnSp>
              <p:nvCxnSpPr>
                <p:cNvPr id="723" name="Google Shape;723;p40"/>
                <p:cNvCxnSpPr/>
                <p:nvPr/>
              </p:nvCxnSpPr>
              <p:spPr>
                <a:xfrm>
                  <a:off x="3063" y="3342"/>
                  <a:ext cx="42" cy="0"/>
                </a:xfrm>
                <a:prstGeom prst="straightConnector1">
                  <a:avLst/>
                </a:prstGeom>
                <a:noFill/>
                <a:ln cap="flat" cmpd="sng" w="9525">
                  <a:solidFill>
                    <a:schemeClr val="dk1"/>
                  </a:solidFill>
                  <a:prstDash val="solid"/>
                  <a:round/>
                  <a:headEnd len="med" w="med" type="triangle"/>
                  <a:tailEnd len="med" w="med" type="none"/>
                </a:ln>
              </p:spPr>
            </p:cxnSp>
            <p:sp>
              <p:nvSpPr>
                <p:cNvPr id="724" name="Google Shape;724;p40"/>
                <p:cNvSpPr/>
                <p:nvPr/>
              </p:nvSpPr>
              <p:spPr>
                <a:xfrm>
                  <a:off x="2771" y="3341"/>
                  <a:ext cx="673" cy="103"/>
                </a:xfrm>
                <a:custGeom>
                  <a:rect b="b" l="l" r="r" t="t"/>
                  <a:pathLst>
                    <a:path extrusionOk="0" h="103" w="673">
                      <a:moveTo>
                        <a:pt x="673" y="103"/>
                      </a:moveTo>
                      <a:cubicBezTo>
                        <a:pt x="641" y="91"/>
                        <a:pt x="535" y="46"/>
                        <a:pt x="478" y="29"/>
                      </a:cubicBezTo>
                      <a:cubicBezTo>
                        <a:pt x="421" y="12"/>
                        <a:pt x="382" y="0"/>
                        <a:pt x="328" y="0"/>
                      </a:cubicBezTo>
                      <a:cubicBezTo>
                        <a:pt x="274" y="0"/>
                        <a:pt x="210" y="13"/>
                        <a:pt x="155" y="29"/>
                      </a:cubicBezTo>
                      <a:cubicBezTo>
                        <a:pt x="100" y="45"/>
                        <a:pt x="32" y="84"/>
                        <a:pt x="0" y="98"/>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grpSp>
            <p:nvGrpSpPr>
              <p:cNvPr id="725" name="Google Shape;725;p40"/>
              <p:cNvGrpSpPr/>
              <p:nvPr/>
            </p:nvGrpSpPr>
            <p:grpSpPr>
              <a:xfrm>
                <a:off x="2747" y="3128"/>
                <a:ext cx="703" cy="247"/>
                <a:chOff x="2747" y="3128"/>
                <a:chExt cx="703" cy="247"/>
              </a:xfrm>
            </p:grpSpPr>
            <p:sp>
              <p:nvSpPr>
                <p:cNvPr id="726" name="Google Shape;726;p40"/>
                <p:cNvSpPr/>
                <p:nvPr/>
              </p:nvSpPr>
              <p:spPr>
                <a:xfrm>
                  <a:off x="2747" y="3132"/>
                  <a:ext cx="703" cy="243"/>
                </a:xfrm>
                <a:custGeom>
                  <a:rect b="b" l="l" r="r" t="t"/>
                  <a:pathLst>
                    <a:path extrusionOk="0" h="254" w="703">
                      <a:moveTo>
                        <a:pt x="703" y="254"/>
                      </a:moveTo>
                      <a:cubicBezTo>
                        <a:pt x="631" y="185"/>
                        <a:pt x="557" y="120"/>
                        <a:pt x="499" y="78"/>
                      </a:cubicBezTo>
                      <a:cubicBezTo>
                        <a:pt x="441" y="36"/>
                        <a:pt x="405" y="0"/>
                        <a:pt x="352" y="1"/>
                      </a:cubicBezTo>
                      <a:cubicBezTo>
                        <a:pt x="299" y="2"/>
                        <a:pt x="238" y="42"/>
                        <a:pt x="179" y="82"/>
                      </a:cubicBezTo>
                      <a:cubicBezTo>
                        <a:pt x="120" y="122"/>
                        <a:pt x="37" y="209"/>
                        <a:pt x="0" y="242"/>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727" name="Google Shape;727;p40"/>
                <p:cNvCxnSpPr/>
                <p:nvPr/>
              </p:nvCxnSpPr>
              <p:spPr>
                <a:xfrm>
                  <a:off x="3069" y="3128"/>
                  <a:ext cx="42" cy="0"/>
                </a:xfrm>
                <a:prstGeom prst="straightConnector1">
                  <a:avLst/>
                </a:prstGeom>
                <a:noFill/>
                <a:ln cap="flat" cmpd="sng" w="9525">
                  <a:solidFill>
                    <a:schemeClr val="dk1"/>
                  </a:solidFill>
                  <a:prstDash val="solid"/>
                  <a:round/>
                  <a:headEnd len="med" w="med" type="triangle"/>
                  <a:tailEnd len="med" w="med" type="none"/>
                </a:ln>
              </p:spPr>
            </p:cxnSp>
          </p:grpSp>
          <p:grpSp>
            <p:nvGrpSpPr>
              <p:cNvPr id="728" name="Google Shape;728;p40"/>
              <p:cNvGrpSpPr/>
              <p:nvPr/>
            </p:nvGrpSpPr>
            <p:grpSpPr>
              <a:xfrm>
                <a:off x="2684" y="2793"/>
                <a:ext cx="836" cy="542"/>
                <a:chOff x="2684" y="2891"/>
                <a:chExt cx="836" cy="444"/>
              </a:xfrm>
            </p:grpSpPr>
            <p:sp>
              <p:nvSpPr>
                <p:cNvPr id="729" name="Google Shape;729;p40"/>
                <p:cNvSpPr/>
                <p:nvPr/>
              </p:nvSpPr>
              <p:spPr>
                <a:xfrm>
                  <a:off x="2684" y="2891"/>
                  <a:ext cx="836" cy="444"/>
                </a:xfrm>
                <a:custGeom>
                  <a:rect b="b" l="l" r="r" t="t"/>
                  <a:pathLst>
                    <a:path extrusionOk="0" h="254" w="703">
                      <a:moveTo>
                        <a:pt x="703" y="254"/>
                      </a:moveTo>
                      <a:cubicBezTo>
                        <a:pt x="631" y="185"/>
                        <a:pt x="557" y="120"/>
                        <a:pt x="499" y="78"/>
                      </a:cubicBezTo>
                      <a:cubicBezTo>
                        <a:pt x="441" y="36"/>
                        <a:pt x="405" y="0"/>
                        <a:pt x="352" y="1"/>
                      </a:cubicBezTo>
                      <a:cubicBezTo>
                        <a:pt x="299" y="2"/>
                        <a:pt x="238" y="42"/>
                        <a:pt x="179" y="82"/>
                      </a:cubicBezTo>
                      <a:cubicBezTo>
                        <a:pt x="120" y="122"/>
                        <a:pt x="37" y="209"/>
                        <a:pt x="0" y="242"/>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730" name="Google Shape;730;p40"/>
                <p:cNvCxnSpPr/>
                <p:nvPr/>
              </p:nvCxnSpPr>
              <p:spPr>
                <a:xfrm>
                  <a:off x="3069" y="2897"/>
                  <a:ext cx="42" cy="0"/>
                </a:xfrm>
                <a:prstGeom prst="straightConnector1">
                  <a:avLst/>
                </a:prstGeom>
                <a:noFill/>
                <a:ln cap="flat" cmpd="sng" w="9525">
                  <a:solidFill>
                    <a:schemeClr val="dk1"/>
                  </a:solidFill>
                  <a:prstDash val="solid"/>
                  <a:round/>
                  <a:headEnd len="med" w="med" type="triangle"/>
                  <a:tailEnd len="med" w="med" type="none"/>
                </a:ln>
              </p:spPr>
            </p:cxnSp>
          </p:grpSp>
          <p:grpSp>
            <p:nvGrpSpPr>
              <p:cNvPr id="731" name="Google Shape;731;p40"/>
              <p:cNvGrpSpPr/>
              <p:nvPr/>
            </p:nvGrpSpPr>
            <p:grpSpPr>
              <a:xfrm>
                <a:off x="2603" y="2157"/>
                <a:ext cx="980" cy="1206"/>
                <a:chOff x="2603" y="2157"/>
                <a:chExt cx="980" cy="1206"/>
              </a:xfrm>
            </p:grpSpPr>
            <p:sp>
              <p:nvSpPr>
                <p:cNvPr id="732" name="Google Shape;732;p40"/>
                <p:cNvSpPr/>
                <p:nvPr/>
              </p:nvSpPr>
              <p:spPr>
                <a:xfrm>
                  <a:off x="2603" y="2157"/>
                  <a:ext cx="980" cy="1206"/>
                </a:xfrm>
                <a:custGeom>
                  <a:rect b="b" l="l" r="r" t="t"/>
                  <a:pathLst>
                    <a:path extrusionOk="0" h="1206" w="980">
                      <a:moveTo>
                        <a:pt x="980" y="1206"/>
                      </a:moveTo>
                      <a:cubicBezTo>
                        <a:pt x="950" y="1085"/>
                        <a:pt x="883" y="682"/>
                        <a:pt x="801" y="481"/>
                      </a:cubicBezTo>
                      <a:cubicBezTo>
                        <a:pt x="719" y="280"/>
                        <a:pt x="595" y="2"/>
                        <a:pt x="491" y="1"/>
                      </a:cubicBezTo>
                      <a:cubicBezTo>
                        <a:pt x="387" y="0"/>
                        <a:pt x="261" y="284"/>
                        <a:pt x="179" y="475"/>
                      </a:cubicBezTo>
                      <a:cubicBezTo>
                        <a:pt x="97" y="666"/>
                        <a:pt x="37" y="1009"/>
                        <a:pt x="0" y="1149"/>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733" name="Google Shape;733;p40"/>
                <p:cNvCxnSpPr/>
                <p:nvPr/>
              </p:nvCxnSpPr>
              <p:spPr>
                <a:xfrm>
                  <a:off x="3069" y="2161"/>
                  <a:ext cx="42" cy="0"/>
                </a:xfrm>
                <a:prstGeom prst="straightConnector1">
                  <a:avLst/>
                </a:prstGeom>
                <a:noFill/>
                <a:ln cap="flat" cmpd="sng" w="9525">
                  <a:solidFill>
                    <a:schemeClr val="dk1"/>
                  </a:solidFill>
                  <a:prstDash val="solid"/>
                  <a:round/>
                  <a:headEnd len="med" w="med" type="triangle"/>
                  <a:tailEnd len="med" w="med" type="none"/>
                </a:ln>
              </p:spPr>
            </p:cxnSp>
          </p:grpSp>
          <p:grpSp>
            <p:nvGrpSpPr>
              <p:cNvPr id="734" name="Google Shape;734;p40"/>
              <p:cNvGrpSpPr/>
              <p:nvPr/>
            </p:nvGrpSpPr>
            <p:grpSpPr>
              <a:xfrm>
                <a:off x="2777" y="3577"/>
                <a:ext cx="673" cy="104"/>
                <a:chOff x="2777" y="3577"/>
                <a:chExt cx="673" cy="104"/>
              </a:xfrm>
            </p:grpSpPr>
            <p:sp>
              <p:nvSpPr>
                <p:cNvPr id="735" name="Google Shape;735;p40"/>
                <p:cNvSpPr/>
                <p:nvPr/>
              </p:nvSpPr>
              <p:spPr>
                <a:xfrm flipH="1" rot="10800000">
                  <a:off x="2777" y="3577"/>
                  <a:ext cx="673" cy="103"/>
                </a:xfrm>
                <a:custGeom>
                  <a:rect b="b" l="l" r="r" t="t"/>
                  <a:pathLst>
                    <a:path extrusionOk="0" h="103" w="673">
                      <a:moveTo>
                        <a:pt x="673" y="103"/>
                      </a:moveTo>
                      <a:cubicBezTo>
                        <a:pt x="641" y="91"/>
                        <a:pt x="535" y="46"/>
                        <a:pt x="478" y="29"/>
                      </a:cubicBezTo>
                      <a:cubicBezTo>
                        <a:pt x="421" y="12"/>
                        <a:pt x="382" y="0"/>
                        <a:pt x="328" y="0"/>
                      </a:cubicBezTo>
                      <a:cubicBezTo>
                        <a:pt x="274" y="0"/>
                        <a:pt x="210" y="13"/>
                        <a:pt x="155" y="29"/>
                      </a:cubicBezTo>
                      <a:cubicBezTo>
                        <a:pt x="100" y="45"/>
                        <a:pt x="32" y="84"/>
                        <a:pt x="0" y="98"/>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736" name="Google Shape;736;p40"/>
                <p:cNvCxnSpPr/>
                <p:nvPr/>
              </p:nvCxnSpPr>
              <p:spPr>
                <a:xfrm>
                  <a:off x="3069" y="3681"/>
                  <a:ext cx="42" cy="0"/>
                </a:xfrm>
                <a:prstGeom prst="straightConnector1">
                  <a:avLst/>
                </a:prstGeom>
                <a:noFill/>
                <a:ln cap="flat" cmpd="sng" w="9525">
                  <a:solidFill>
                    <a:schemeClr val="dk1"/>
                  </a:solidFill>
                  <a:prstDash val="solid"/>
                  <a:round/>
                  <a:headEnd len="med" w="med" type="triangle"/>
                  <a:tailEnd len="med" w="med" type="none"/>
                </a:ln>
              </p:spPr>
            </p:cxnSp>
          </p:grpSp>
          <p:grpSp>
            <p:nvGrpSpPr>
              <p:cNvPr id="737" name="Google Shape;737;p40"/>
              <p:cNvGrpSpPr/>
              <p:nvPr/>
            </p:nvGrpSpPr>
            <p:grpSpPr>
              <a:xfrm>
                <a:off x="2747" y="3633"/>
                <a:ext cx="703" cy="243"/>
                <a:chOff x="2747" y="3633"/>
                <a:chExt cx="703" cy="243"/>
              </a:xfrm>
            </p:grpSpPr>
            <p:sp>
              <p:nvSpPr>
                <p:cNvPr id="738" name="Google Shape;738;p40"/>
                <p:cNvSpPr/>
                <p:nvPr/>
              </p:nvSpPr>
              <p:spPr>
                <a:xfrm flipH="1" rot="10800000">
                  <a:off x="2747" y="3633"/>
                  <a:ext cx="703" cy="243"/>
                </a:xfrm>
                <a:custGeom>
                  <a:rect b="b" l="l" r="r" t="t"/>
                  <a:pathLst>
                    <a:path extrusionOk="0" h="254" w="703">
                      <a:moveTo>
                        <a:pt x="703" y="254"/>
                      </a:moveTo>
                      <a:cubicBezTo>
                        <a:pt x="631" y="185"/>
                        <a:pt x="557" y="120"/>
                        <a:pt x="499" y="78"/>
                      </a:cubicBezTo>
                      <a:cubicBezTo>
                        <a:pt x="441" y="36"/>
                        <a:pt x="405" y="0"/>
                        <a:pt x="352" y="1"/>
                      </a:cubicBezTo>
                      <a:cubicBezTo>
                        <a:pt x="299" y="2"/>
                        <a:pt x="238" y="42"/>
                        <a:pt x="179" y="82"/>
                      </a:cubicBezTo>
                      <a:cubicBezTo>
                        <a:pt x="120" y="122"/>
                        <a:pt x="37" y="209"/>
                        <a:pt x="0" y="242"/>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739" name="Google Shape;739;p40"/>
                <p:cNvCxnSpPr/>
                <p:nvPr/>
              </p:nvCxnSpPr>
              <p:spPr>
                <a:xfrm>
                  <a:off x="3063" y="3872"/>
                  <a:ext cx="42" cy="0"/>
                </a:xfrm>
                <a:prstGeom prst="straightConnector1">
                  <a:avLst/>
                </a:prstGeom>
                <a:noFill/>
                <a:ln cap="flat" cmpd="sng" w="9525">
                  <a:solidFill>
                    <a:schemeClr val="dk1"/>
                  </a:solidFill>
                  <a:prstDash val="solid"/>
                  <a:round/>
                  <a:headEnd len="med" w="med" type="triangle"/>
                  <a:tailEnd len="med" w="med" type="none"/>
                </a:ln>
              </p:spPr>
            </p:cxnSp>
          </p:grpSp>
          <p:grpSp>
            <p:nvGrpSpPr>
              <p:cNvPr id="740" name="Google Shape;740;p40"/>
              <p:cNvGrpSpPr/>
              <p:nvPr/>
            </p:nvGrpSpPr>
            <p:grpSpPr>
              <a:xfrm>
                <a:off x="2683" y="3657"/>
                <a:ext cx="836" cy="576"/>
                <a:chOff x="2683" y="3657"/>
                <a:chExt cx="836" cy="444"/>
              </a:xfrm>
            </p:grpSpPr>
            <p:sp>
              <p:nvSpPr>
                <p:cNvPr id="741" name="Google Shape;741;p40"/>
                <p:cNvSpPr/>
                <p:nvPr/>
              </p:nvSpPr>
              <p:spPr>
                <a:xfrm flipH="1" rot="10800000">
                  <a:off x="2683" y="3657"/>
                  <a:ext cx="836" cy="444"/>
                </a:xfrm>
                <a:custGeom>
                  <a:rect b="b" l="l" r="r" t="t"/>
                  <a:pathLst>
                    <a:path extrusionOk="0" h="254" w="703">
                      <a:moveTo>
                        <a:pt x="703" y="254"/>
                      </a:moveTo>
                      <a:cubicBezTo>
                        <a:pt x="631" y="185"/>
                        <a:pt x="557" y="120"/>
                        <a:pt x="499" y="78"/>
                      </a:cubicBezTo>
                      <a:cubicBezTo>
                        <a:pt x="441" y="36"/>
                        <a:pt x="405" y="0"/>
                        <a:pt x="352" y="1"/>
                      </a:cubicBezTo>
                      <a:cubicBezTo>
                        <a:pt x="299" y="2"/>
                        <a:pt x="238" y="42"/>
                        <a:pt x="179" y="82"/>
                      </a:cubicBezTo>
                      <a:cubicBezTo>
                        <a:pt x="120" y="122"/>
                        <a:pt x="37" y="209"/>
                        <a:pt x="0" y="242"/>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742" name="Google Shape;742;p40"/>
                <p:cNvCxnSpPr/>
                <p:nvPr/>
              </p:nvCxnSpPr>
              <p:spPr>
                <a:xfrm>
                  <a:off x="3063" y="4101"/>
                  <a:ext cx="42" cy="0"/>
                </a:xfrm>
                <a:prstGeom prst="straightConnector1">
                  <a:avLst/>
                </a:prstGeom>
                <a:noFill/>
                <a:ln cap="flat" cmpd="sng" w="9525">
                  <a:solidFill>
                    <a:schemeClr val="dk1"/>
                  </a:solidFill>
                  <a:prstDash val="solid"/>
                  <a:round/>
                  <a:headEnd len="med" w="med" type="triangle"/>
                  <a:tailEnd len="med" w="med" type="none"/>
                </a:ln>
              </p:spPr>
            </p:cxnSp>
          </p:grpSp>
          <p:grpSp>
            <p:nvGrpSpPr>
              <p:cNvPr id="743" name="Google Shape;743;p40"/>
              <p:cNvGrpSpPr/>
              <p:nvPr/>
            </p:nvGrpSpPr>
            <p:grpSpPr>
              <a:xfrm>
                <a:off x="2771" y="3508"/>
                <a:ext cx="656" cy="0"/>
                <a:chOff x="2771" y="3508"/>
                <a:chExt cx="656" cy="0"/>
              </a:xfrm>
            </p:grpSpPr>
            <p:cxnSp>
              <p:nvCxnSpPr>
                <p:cNvPr id="744" name="Google Shape;744;p40"/>
                <p:cNvCxnSpPr/>
                <p:nvPr/>
              </p:nvCxnSpPr>
              <p:spPr>
                <a:xfrm>
                  <a:off x="3069" y="3508"/>
                  <a:ext cx="42" cy="0"/>
                </a:xfrm>
                <a:prstGeom prst="straightConnector1">
                  <a:avLst/>
                </a:prstGeom>
                <a:noFill/>
                <a:ln cap="flat" cmpd="sng" w="9525">
                  <a:solidFill>
                    <a:schemeClr val="dk1"/>
                  </a:solidFill>
                  <a:prstDash val="solid"/>
                  <a:round/>
                  <a:headEnd len="med" w="med" type="triangle"/>
                  <a:tailEnd len="med" w="med" type="none"/>
                </a:ln>
              </p:spPr>
            </p:cxnSp>
            <p:cxnSp>
              <p:nvCxnSpPr>
                <p:cNvPr id="745" name="Google Shape;745;p40"/>
                <p:cNvCxnSpPr/>
                <p:nvPr/>
              </p:nvCxnSpPr>
              <p:spPr>
                <a:xfrm rot="10800000">
                  <a:off x="2771" y="3508"/>
                  <a:ext cx="656" cy="0"/>
                </a:xfrm>
                <a:prstGeom prst="straightConnector1">
                  <a:avLst/>
                </a:prstGeom>
                <a:noFill/>
                <a:ln cap="flat" cmpd="sng" w="9525">
                  <a:solidFill>
                    <a:schemeClr val="dk1"/>
                  </a:solidFill>
                  <a:prstDash val="solid"/>
                  <a:round/>
                  <a:headEnd len="med" w="med" type="none"/>
                  <a:tailEnd len="med" w="med" type="none"/>
                </a:ln>
              </p:spPr>
            </p:cxnSp>
          </p:grpSp>
        </p:grpSp>
      </p:grpSp>
      <p:sp>
        <p:nvSpPr>
          <p:cNvPr id="746" name="Google Shape;746;p40"/>
          <p:cNvSpPr/>
          <p:nvPr/>
        </p:nvSpPr>
        <p:spPr>
          <a:xfrm>
            <a:off x="8205788" y="4162425"/>
            <a:ext cx="133350" cy="133350"/>
          </a:xfrm>
          <a:prstGeom prst="ellipse">
            <a:avLst/>
          </a:prstGeom>
          <a:gradFill>
            <a:gsLst>
              <a:gs pos="0">
                <a:srgbClr val="FF9999"/>
              </a:gs>
              <a:gs pos="100000">
                <a:srgbClr val="764747"/>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747" name="Google Shape;747;p40"/>
          <p:cNvSpPr/>
          <p:nvPr/>
        </p:nvSpPr>
        <p:spPr>
          <a:xfrm>
            <a:off x="7424738" y="5607050"/>
            <a:ext cx="133350" cy="133350"/>
          </a:xfrm>
          <a:prstGeom prst="ellipse">
            <a:avLst/>
          </a:prstGeom>
          <a:gradFill>
            <a:gsLst>
              <a:gs pos="0">
                <a:srgbClr val="FF9999"/>
              </a:gs>
              <a:gs pos="100000">
                <a:srgbClr val="764747"/>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748" name="Google Shape;748;p40"/>
          <p:cNvSpPr txBox="1"/>
          <p:nvPr/>
        </p:nvSpPr>
        <p:spPr>
          <a:xfrm>
            <a:off x="8169275" y="3773488"/>
            <a:ext cx="390525"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a:t>
            </a:r>
            <a:endParaRPr/>
          </a:p>
        </p:txBody>
      </p:sp>
      <p:sp>
        <p:nvSpPr>
          <p:cNvPr id="749" name="Google Shape;749;p40"/>
          <p:cNvSpPr txBox="1"/>
          <p:nvPr/>
        </p:nvSpPr>
        <p:spPr>
          <a:xfrm>
            <a:off x="7537450" y="5683250"/>
            <a:ext cx="39052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B</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9">
                                            <p:txEl>
                                              <p:pRg end="0" st="0"/>
                                            </p:txEl>
                                          </p:spTgt>
                                        </p:tgtEl>
                                        <p:attrNameLst>
                                          <p:attrName>style.visibility</p:attrName>
                                        </p:attrNameLst>
                                      </p:cBhvr>
                                      <p:to>
                                        <p:strVal val="visible"/>
                                      </p:to>
                                    </p:set>
                                    <p:anim calcmode="lin" valueType="num">
                                      <p:cBhvr additive="base">
                                        <p:cTn dur="500"/>
                                        <p:tgtEl>
                                          <p:spTgt spid="69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0" st="0"/>
                                            </p:txEl>
                                          </p:spTgt>
                                        </p:tgtEl>
                                        <p:attrNameLst>
                                          <p:attrName>style.visibility</p:attrName>
                                        </p:attrNameLst>
                                      </p:cBhvr>
                                      <p:to>
                                        <p:strVal val="visible"/>
                                      </p:to>
                                    </p:set>
                                    <p:anim calcmode="lin" valueType="num">
                                      <p:cBhvr additive="base">
                                        <p:cTn dur="500"/>
                                        <p:tgtEl>
                                          <p:spTgt spid="69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1" st="1"/>
                                            </p:txEl>
                                          </p:spTgt>
                                        </p:tgtEl>
                                        <p:attrNameLst>
                                          <p:attrName>style.visibility</p:attrName>
                                        </p:attrNameLst>
                                      </p:cBhvr>
                                      <p:to>
                                        <p:strVal val="visible"/>
                                      </p:to>
                                    </p:set>
                                    <p:anim calcmode="lin" valueType="num">
                                      <p:cBhvr additive="base">
                                        <p:cTn dur="500"/>
                                        <p:tgtEl>
                                          <p:spTgt spid="69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2" st="2"/>
                                            </p:txEl>
                                          </p:spTgt>
                                        </p:tgtEl>
                                        <p:attrNameLst>
                                          <p:attrName>style.visibility</p:attrName>
                                        </p:attrNameLst>
                                      </p:cBhvr>
                                      <p:to>
                                        <p:strVal val="visible"/>
                                      </p:to>
                                    </p:set>
                                    <p:anim calcmode="lin" valueType="num">
                                      <p:cBhvr additive="base">
                                        <p:cTn dur="500"/>
                                        <p:tgtEl>
                                          <p:spTgt spid="69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3" st="3"/>
                                            </p:txEl>
                                          </p:spTgt>
                                        </p:tgtEl>
                                        <p:attrNameLst>
                                          <p:attrName>style.visibility</p:attrName>
                                        </p:attrNameLst>
                                      </p:cBhvr>
                                      <p:to>
                                        <p:strVal val="visible"/>
                                      </p:to>
                                    </p:set>
                                    <p:anim calcmode="lin" valueType="num">
                                      <p:cBhvr additive="base">
                                        <p:cTn dur="500"/>
                                        <p:tgtEl>
                                          <p:spTgt spid="69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4" st="4"/>
                                            </p:txEl>
                                          </p:spTgt>
                                        </p:tgtEl>
                                        <p:attrNameLst>
                                          <p:attrName>style.visibility</p:attrName>
                                        </p:attrNameLst>
                                      </p:cBhvr>
                                      <p:to>
                                        <p:strVal val="visible"/>
                                      </p:to>
                                    </p:set>
                                    <p:anim calcmode="lin" valueType="num">
                                      <p:cBhvr additive="base">
                                        <p:cTn dur="500"/>
                                        <p:tgtEl>
                                          <p:spTgt spid="69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5" st="5"/>
                                            </p:txEl>
                                          </p:spTgt>
                                        </p:tgtEl>
                                        <p:attrNameLst>
                                          <p:attrName>style.visibility</p:attrName>
                                        </p:attrNameLst>
                                      </p:cBhvr>
                                      <p:to>
                                        <p:strVal val="visible"/>
                                      </p:to>
                                    </p:set>
                                    <p:anim calcmode="lin" valueType="num">
                                      <p:cBhvr additive="base">
                                        <p:cTn dur="500"/>
                                        <p:tgtEl>
                                          <p:spTgt spid="69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6" st="6"/>
                                            </p:txEl>
                                          </p:spTgt>
                                        </p:tgtEl>
                                        <p:attrNameLst>
                                          <p:attrName>style.visibility</p:attrName>
                                        </p:attrNameLst>
                                      </p:cBhvr>
                                      <p:to>
                                        <p:strVal val="visible"/>
                                      </p:to>
                                    </p:set>
                                    <p:anim calcmode="lin" valueType="num">
                                      <p:cBhvr additive="base">
                                        <p:cTn dur="500"/>
                                        <p:tgtEl>
                                          <p:spTgt spid="698">
                                            <p:txEl>
                                              <p:pRg end="6" st="6"/>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701"/>
                                        </p:tgtEl>
                                        <p:attrNameLst>
                                          <p:attrName>style.visibility</p:attrName>
                                        </p:attrNameLst>
                                      </p:cBhvr>
                                      <p:to>
                                        <p:strVal val="visible"/>
                                      </p:to>
                                    </p:set>
                                    <p:animEffect filter="fade" transition="in">
                                      <p:cBhvr>
                                        <p:cTn dur="500"/>
                                        <p:tgtEl>
                                          <p:spTgt spid="701"/>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746"/>
                                        </p:tgtEl>
                                        <p:attrNameLst>
                                          <p:attrName>style.visibility</p:attrName>
                                        </p:attrNameLst>
                                      </p:cBhvr>
                                      <p:to>
                                        <p:strVal val="visible"/>
                                      </p:to>
                                    </p:set>
                                    <p:anim calcmode="lin" valueType="num">
                                      <p:cBhvr additive="base">
                                        <p:cTn dur="500"/>
                                        <p:tgtEl>
                                          <p:spTgt spid="746"/>
                                        </p:tgtEl>
                                        <p:attrNameLst>
                                          <p:attrName>ppt_w</p:attrName>
                                        </p:attrNameLst>
                                      </p:cBhvr>
                                      <p:tavLst>
                                        <p:tav fmla="" tm="0">
                                          <p:val>
                                            <p:strVal val="0"/>
                                          </p:val>
                                        </p:tav>
                                        <p:tav fmla="" tm="100000">
                                          <p:val>
                                            <p:strVal val="#ppt_w"/>
                                          </p:val>
                                        </p:tav>
                                      </p:tavLst>
                                    </p:anim>
                                    <p:anim calcmode="lin" valueType="num">
                                      <p:cBhvr additive="base">
                                        <p:cTn dur="500"/>
                                        <p:tgtEl>
                                          <p:spTgt spid="746"/>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748"/>
                                        </p:tgtEl>
                                        <p:attrNameLst>
                                          <p:attrName>style.visibility</p:attrName>
                                        </p:attrNameLst>
                                      </p:cBhvr>
                                      <p:to>
                                        <p:strVal val="visible"/>
                                      </p:to>
                                    </p:set>
                                    <p:anim calcmode="lin" valueType="num">
                                      <p:cBhvr additive="base">
                                        <p:cTn dur="500"/>
                                        <p:tgtEl>
                                          <p:spTgt spid="748"/>
                                        </p:tgtEl>
                                        <p:attrNameLst>
                                          <p:attrName>ppt_w</p:attrName>
                                        </p:attrNameLst>
                                      </p:cBhvr>
                                      <p:tavLst>
                                        <p:tav fmla="" tm="0">
                                          <p:val>
                                            <p:strVal val="0"/>
                                          </p:val>
                                        </p:tav>
                                        <p:tav fmla="" tm="100000">
                                          <p:val>
                                            <p:strVal val="#ppt_w"/>
                                          </p:val>
                                        </p:tav>
                                      </p:tavLst>
                                    </p:anim>
                                    <p:anim calcmode="lin" valueType="num">
                                      <p:cBhvr additive="base">
                                        <p:cTn dur="500"/>
                                        <p:tgtEl>
                                          <p:spTgt spid="748"/>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747"/>
                                        </p:tgtEl>
                                        <p:attrNameLst>
                                          <p:attrName>style.visibility</p:attrName>
                                        </p:attrNameLst>
                                      </p:cBhvr>
                                      <p:to>
                                        <p:strVal val="visible"/>
                                      </p:to>
                                    </p:set>
                                    <p:anim calcmode="lin" valueType="num">
                                      <p:cBhvr additive="base">
                                        <p:cTn dur="500"/>
                                        <p:tgtEl>
                                          <p:spTgt spid="747"/>
                                        </p:tgtEl>
                                        <p:attrNameLst>
                                          <p:attrName>ppt_w</p:attrName>
                                        </p:attrNameLst>
                                      </p:cBhvr>
                                      <p:tavLst>
                                        <p:tav fmla="" tm="0">
                                          <p:val>
                                            <p:strVal val="0"/>
                                          </p:val>
                                        </p:tav>
                                        <p:tav fmla="" tm="100000">
                                          <p:val>
                                            <p:strVal val="#ppt_w"/>
                                          </p:val>
                                        </p:tav>
                                      </p:tavLst>
                                    </p:anim>
                                    <p:anim calcmode="lin" valueType="num">
                                      <p:cBhvr additive="base">
                                        <p:cTn dur="500"/>
                                        <p:tgtEl>
                                          <p:spTgt spid="747"/>
                                        </p:tgtEl>
                                        <p:attrNameLst>
                                          <p:attrName>ppt_h</p:attrName>
                                        </p:attrNameLst>
                                      </p:cBhvr>
                                      <p:tavLst>
                                        <p:tav fmla="" tm="0">
                                          <p:val>
                                            <p:strVal val="0"/>
                                          </p:val>
                                        </p:tav>
                                        <p:tav fmla="" tm="100000">
                                          <p:val>
                                            <p:strVal val="#ppt_h"/>
                                          </p:val>
                                        </p:tav>
                                      </p:tavLst>
                                    </p:anim>
                                  </p:childTnLst>
                                </p:cTn>
                              </p:par>
                            </p:childTnLst>
                          </p:cTn>
                        </p:par>
                        <p:par>
                          <p:cTn fill="hold">
                            <p:stCondLst>
                              <p:cond delay="2000"/>
                            </p:stCondLst>
                            <p:childTnLst>
                              <p:par>
                                <p:cTn fill="hold" nodeType="afterEffect" presetClass="entr" presetID="23" presetSubtype="16">
                                  <p:stCondLst>
                                    <p:cond delay="0"/>
                                  </p:stCondLst>
                                  <p:childTnLst>
                                    <p:set>
                                      <p:cBhvr>
                                        <p:cTn dur="1" fill="hold">
                                          <p:stCondLst>
                                            <p:cond delay="0"/>
                                          </p:stCondLst>
                                        </p:cTn>
                                        <p:tgtEl>
                                          <p:spTgt spid="749"/>
                                        </p:tgtEl>
                                        <p:attrNameLst>
                                          <p:attrName>style.visibility</p:attrName>
                                        </p:attrNameLst>
                                      </p:cBhvr>
                                      <p:to>
                                        <p:strVal val="visible"/>
                                      </p:to>
                                    </p:set>
                                    <p:anim calcmode="lin" valueType="num">
                                      <p:cBhvr additive="base">
                                        <p:cTn dur="500"/>
                                        <p:tgtEl>
                                          <p:spTgt spid="749"/>
                                        </p:tgtEl>
                                        <p:attrNameLst>
                                          <p:attrName>ppt_w</p:attrName>
                                        </p:attrNameLst>
                                      </p:cBhvr>
                                      <p:tavLst>
                                        <p:tav fmla="" tm="0">
                                          <p:val>
                                            <p:strVal val="0"/>
                                          </p:val>
                                        </p:tav>
                                        <p:tav fmla="" tm="100000">
                                          <p:val>
                                            <p:strVal val="#ppt_w"/>
                                          </p:val>
                                        </p:tav>
                                      </p:tavLst>
                                    </p:anim>
                                    <p:anim calcmode="lin" valueType="num">
                                      <p:cBhvr additive="base">
                                        <p:cTn dur="500"/>
                                        <p:tgtEl>
                                          <p:spTgt spid="74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41"/>
          <p:cNvSpPr/>
          <p:nvPr/>
        </p:nvSpPr>
        <p:spPr>
          <a:xfrm>
            <a:off x="687388" y="1982788"/>
            <a:ext cx="7772400" cy="4875212"/>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Suppose small negative charges              are placed at points A and B in the electric                             field of the dipole, as shown. Trace their                             paths when released.</a:t>
            </a:r>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∙Just remember: (-) charges travel                                    </a:t>
            </a:r>
            <a:r>
              <a:rPr lang="en-US" sz="2400" u="sng">
                <a:solidFill>
                  <a:schemeClr val="dk1"/>
                </a:solidFill>
                <a:latin typeface="Arial"/>
                <a:ea typeface="Arial"/>
                <a:cs typeface="Arial"/>
                <a:sym typeface="Arial"/>
              </a:rPr>
              <a:t>against</a:t>
            </a:r>
            <a:r>
              <a:rPr lang="en-US" sz="2400">
                <a:solidFill>
                  <a:schemeClr val="dk1"/>
                </a:solidFill>
                <a:latin typeface="Arial"/>
                <a:ea typeface="Arial"/>
                <a:cs typeface="Arial"/>
                <a:sym typeface="Arial"/>
              </a:rPr>
              <a:t> the field arrows and on the                                        field lines.</a:t>
            </a:r>
            <a:endParaRPr/>
          </a:p>
        </p:txBody>
      </p:sp>
      <p:sp>
        <p:nvSpPr>
          <p:cNvPr id="755" name="Google Shape;755;p41"/>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grpSp>
        <p:nvGrpSpPr>
          <p:cNvPr id="756" name="Google Shape;756;p41"/>
          <p:cNvGrpSpPr/>
          <p:nvPr/>
        </p:nvGrpSpPr>
        <p:grpSpPr>
          <a:xfrm>
            <a:off x="5832475" y="2389188"/>
            <a:ext cx="3311525" cy="4324350"/>
            <a:chOff x="1918" y="2157"/>
            <a:chExt cx="2086" cy="2724"/>
          </a:xfrm>
        </p:grpSpPr>
        <p:sp>
          <p:nvSpPr>
            <p:cNvPr id="757" name="Google Shape;757;p41"/>
            <p:cNvSpPr/>
            <p:nvPr/>
          </p:nvSpPr>
          <p:spPr>
            <a:xfrm flipH="1" rot="10800000">
              <a:off x="2477" y="3675"/>
              <a:ext cx="980" cy="1206"/>
            </a:xfrm>
            <a:custGeom>
              <a:rect b="b" l="l" r="r" t="t"/>
              <a:pathLst>
                <a:path extrusionOk="0" h="1206" w="980">
                  <a:moveTo>
                    <a:pt x="980" y="1206"/>
                  </a:moveTo>
                  <a:cubicBezTo>
                    <a:pt x="950" y="1085"/>
                    <a:pt x="883" y="682"/>
                    <a:pt x="801" y="481"/>
                  </a:cubicBezTo>
                  <a:cubicBezTo>
                    <a:pt x="719" y="280"/>
                    <a:pt x="595" y="2"/>
                    <a:pt x="491" y="1"/>
                  </a:cubicBezTo>
                  <a:cubicBezTo>
                    <a:pt x="387" y="0"/>
                    <a:pt x="261" y="284"/>
                    <a:pt x="179" y="475"/>
                  </a:cubicBezTo>
                  <a:cubicBezTo>
                    <a:pt x="97" y="666"/>
                    <a:pt x="37" y="1009"/>
                    <a:pt x="0" y="1149"/>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nvGrpSpPr>
            <p:cNvPr id="758" name="Google Shape;758;p41"/>
            <p:cNvGrpSpPr/>
            <p:nvPr/>
          </p:nvGrpSpPr>
          <p:grpSpPr>
            <a:xfrm>
              <a:off x="1918" y="2157"/>
              <a:ext cx="2086" cy="2076"/>
              <a:chOff x="2050" y="2157"/>
              <a:chExt cx="2086" cy="2076"/>
            </a:xfrm>
          </p:grpSpPr>
          <p:grpSp>
            <p:nvGrpSpPr>
              <p:cNvPr id="759" name="Google Shape;759;p41"/>
              <p:cNvGrpSpPr/>
              <p:nvPr/>
            </p:nvGrpSpPr>
            <p:grpSpPr>
              <a:xfrm>
                <a:off x="3471" y="2976"/>
                <a:ext cx="665" cy="1039"/>
                <a:chOff x="3471" y="2976"/>
                <a:chExt cx="665" cy="1039"/>
              </a:xfrm>
            </p:grpSpPr>
            <p:sp>
              <p:nvSpPr>
                <p:cNvPr id="760" name="Google Shape;760;p41"/>
                <p:cNvSpPr/>
                <p:nvPr/>
              </p:nvSpPr>
              <p:spPr>
                <a:xfrm>
                  <a:off x="3471" y="3391"/>
                  <a:ext cx="221" cy="228"/>
                </a:xfrm>
                <a:prstGeom prst="ellipse">
                  <a:avLst/>
                </a:prstGeom>
                <a:gradFill>
                  <a:gsLst>
                    <a:gs pos="0">
                      <a:srgbClr val="FF9999"/>
                    </a:gs>
                    <a:gs pos="100000">
                      <a:srgbClr val="764747"/>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cxnSp>
              <p:nvCxnSpPr>
                <p:cNvPr id="761" name="Google Shape;761;p41"/>
                <p:cNvCxnSpPr/>
                <p:nvPr/>
              </p:nvCxnSpPr>
              <p:spPr>
                <a:xfrm>
                  <a:off x="3738" y="3512"/>
                  <a:ext cx="398" cy="0"/>
                </a:xfrm>
                <a:prstGeom prst="straightConnector1">
                  <a:avLst/>
                </a:prstGeom>
                <a:noFill/>
                <a:ln cap="flat" cmpd="sng" w="9525">
                  <a:solidFill>
                    <a:schemeClr val="dk1"/>
                  </a:solidFill>
                  <a:prstDash val="solid"/>
                  <a:round/>
                  <a:headEnd len="med" w="med" type="none"/>
                  <a:tailEnd len="med" w="med" type="triangle"/>
                </a:ln>
              </p:spPr>
            </p:cxnSp>
            <p:cxnSp>
              <p:nvCxnSpPr>
                <p:cNvPr id="762" name="Google Shape;762;p41"/>
                <p:cNvCxnSpPr/>
                <p:nvPr/>
              </p:nvCxnSpPr>
              <p:spPr>
                <a:xfrm flipH="1" rot="10800000">
                  <a:off x="3694" y="3106"/>
                  <a:ext cx="280" cy="290"/>
                </a:xfrm>
                <a:prstGeom prst="straightConnector1">
                  <a:avLst/>
                </a:prstGeom>
                <a:noFill/>
                <a:ln cap="flat" cmpd="sng" w="9525">
                  <a:solidFill>
                    <a:schemeClr val="dk1"/>
                  </a:solidFill>
                  <a:prstDash val="solid"/>
                  <a:round/>
                  <a:headEnd len="med" w="med" type="none"/>
                  <a:tailEnd len="med" w="med" type="triangle"/>
                </a:ln>
              </p:spPr>
            </p:cxnSp>
            <p:cxnSp>
              <p:nvCxnSpPr>
                <p:cNvPr id="763" name="Google Shape;763;p41"/>
                <p:cNvCxnSpPr/>
                <p:nvPr/>
              </p:nvCxnSpPr>
              <p:spPr>
                <a:xfrm>
                  <a:off x="3694" y="3623"/>
                  <a:ext cx="269" cy="279"/>
                </a:xfrm>
                <a:prstGeom prst="straightConnector1">
                  <a:avLst/>
                </a:prstGeom>
                <a:noFill/>
                <a:ln cap="flat" cmpd="sng" w="9525">
                  <a:solidFill>
                    <a:schemeClr val="dk1"/>
                  </a:solidFill>
                  <a:prstDash val="solid"/>
                  <a:round/>
                  <a:headEnd len="med" w="med" type="none"/>
                  <a:tailEnd len="med" w="med" type="triangle"/>
                </a:ln>
              </p:spPr>
            </p:cxnSp>
            <p:cxnSp>
              <p:nvCxnSpPr>
                <p:cNvPr id="764" name="Google Shape;764;p41"/>
                <p:cNvCxnSpPr/>
                <p:nvPr/>
              </p:nvCxnSpPr>
              <p:spPr>
                <a:xfrm rot="1308473">
                  <a:off x="3722" y="3644"/>
                  <a:ext cx="398" cy="0"/>
                </a:xfrm>
                <a:prstGeom prst="straightConnector1">
                  <a:avLst/>
                </a:prstGeom>
                <a:noFill/>
                <a:ln cap="flat" cmpd="sng" w="9525">
                  <a:solidFill>
                    <a:schemeClr val="dk1"/>
                  </a:solidFill>
                  <a:prstDash val="solid"/>
                  <a:round/>
                  <a:headEnd len="med" w="med" type="none"/>
                  <a:tailEnd len="med" w="med" type="triangle"/>
                </a:ln>
              </p:spPr>
            </p:cxnSp>
            <p:cxnSp>
              <p:nvCxnSpPr>
                <p:cNvPr id="765" name="Google Shape;765;p41"/>
                <p:cNvCxnSpPr/>
                <p:nvPr/>
              </p:nvCxnSpPr>
              <p:spPr>
                <a:xfrm rot="10800000">
                  <a:off x="3733" y="2961"/>
                  <a:ext cx="0" cy="416"/>
                </a:xfrm>
                <a:prstGeom prst="straightConnector1">
                  <a:avLst/>
                </a:prstGeom>
                <a:noFill/>
                <a:ln cap="flat" cmpd="sng" w="9525">
                  <a:solidFill>
                    <a:schemeClr val="dk1"/>
                  </a:solidFill>
                  <a:prstDash val="solid"/>
                  <a:round/>
                  <a:headEnd len="med" w="med" type="none"/>
                  <a:tailEnd len="med" w="med" type="triangle"/>
                </a:ln>
              </p:spPr>
            </p:cxnSp>
            <p:cxnSp>
              <p:nvCxnSpPr>
                <p:cNvPr id="766" name="Google Shape;766;p41"/>
                <p:cNvCxnSpPr/>
                <p:nvPr/>
              </p:nvCxnSpPr>
              <p:spPr>
                <a:xfrm flipH="1" rot="-9491527">
                  <a:off x="3782" y="3218"/>
                  <a:ext cx="280" cy="290"/>
                </a:xfrm>
                <a:prstGeom prst="straightConnector1">
                  <a:avLst/>
                </a:prstGeom>
                <a:noFill/>
                <a:ln cap="flat" cmpd="sng" w="9525">
                  <a:solidFill>
                    <a:schemeClr val="dk1"/>
                  </a:solidFill>
                  <a:prstDash val="solid"/>
                  <a:round/>
                  <a:headEnd len="med" w="med" type="none"/>
                  <a:tailEnd len="med" w="med" type="triangle"/>
                </a:ln>
              </p:spPr>
            </p:cxnSp>
            <p:cxnSp>
              <p:nvCxnSpPr>
                <p:cNvPr id="767" name="Google Shape;767;p41"/>
                <p:cNvCxnSpPr/>
                <p:nvPr/>
              </p:nvCxnSpPr>
              <p:spPr>
                <a:xfrm rot="1308473">
                  <a:off x="3592" y="3696"/>
                  <a:ext cx="269" cy="279"/>
                </a:xfrm>
                <a:prstGeom prst="straightConnector1">
                  <a:avLst/>
                </a:prstGeom>
                <a:noFill/>
                <a:ln cap="flat" cmpd="sng" w="9525">
                  <a:solidFill>
                    <a:schemeClr val="dk1"/>
                  </a:solidFill>
                  <a:prstDash val="solid"/>
                  <a:round/>
                  <a:headEnd len="med" w="med" type="none"/>
                  <a:tailEnd len="med" w="med" type="triangle"/>
                </a:ln>
              </p:spPr>
            </p:cxnSp>
          </p:grpSp>
          <p:grpSp>
            <p:nvGrpSpPr>
              <p:cNvPr id="768" name="Google Shape;768;p41"/>
              <p:cNvGrpSpPr/>
              <p:nvPr/>
            </p:nvGrpSpPr>
            <p:grpSpPr>
              <a:xfrm>
                <a:off x="2050" y="2980"/>
                <a:ext cx="666" cy="1061"/>
                <a:chOff x="2050" y="2980"/>
                <a:chExt cx="666" cy="1061"/>
              </a:xfrm>
            </p:grpSpPr>
            <p:sp>
              <p:nvSpPr>
                <p:cNvPr id="769" name="Google Shape;769;p41"/>
                <p:cNvSpPr/>
                <p:nvPr/>
              </p:nvSpPr>
              <p:spPr>
                <a:xfrm>
                  <a:off x="2495" y="3384"/>
                  <a:ext cx="221" cy="229"/>
                </a:xfrm>
                <a:prstGeom prst="ellipse">
                  <a:avLst/>
                </a:prstGeom>
                <a:gradFill>
                  <a:gsLst>
                    <a:gs pos="0">
                      <a:schemeClr val="accent1"/>
                    </a:gs>
                    <a:gs pos="100000">
                      <a:srgbClr val="839D9F"/>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770" name="Google Shape;770;p41"/>
                <p:cNvCxnSpPr/>
                <p:nvPr/>
              </p:nvCxnSpPr>
              <p:spPr>
                <a:xfrm rot="10800000">
                  <a:off x="2050" y="3505"/>
                  <a:ext cx="403" cy="0"/>
                </a:xfrm>
                <a:prstGeom prst="straightConnector1">
                  <a:avLst/>
                </a:prstGeom>
                <a:noFill/>
                <a:ln cap="flat" cmpd="sng" w="9525">
                  <a:solidFill>
                    <a:schemeClr val="dk1"/>
                  </a:solidFill>
                  <a:prstDash val="solid"/>
                  <a:round/>
                  <a:headEnd len="med" w="med" type="triangle"/>
                  <a:tailEnd len="med" w="med" type="none"/>
                </a:ln>
              </p:spPr>
            </p:cxnSp>
            <p:cxnSp>
              <p:nvCxnSpPr>
                <p:cNvPr id="771" name="Google Shape;771;p41"/>
                <p:cNvCxnSpPr/>
                <p:nvPr/>
              </p:nvCxnSpPr>
              <p:spPr>
                <a:xfrm rot="10800000">
                  <a:off x="2217" y="3098"/>
                  <a:ext cx="280" cy="290"/>
                </a:xfrm>
                <a:prstGeom prst="straightConnector1">
                  <a:avLst/>
                </a:prstGeom>
                <a:noFill/>
                <a:ln cap="flat" cmpd="sng" w="9525">
                  <a:solidFill>
                    <a:schemeClr val="dk1"/>
                  </a:solidFill>
                  <a:prstDash val="solid"/>
                  <a:round/>
                  <a:headEnd len="med" w="med" type="triangle"/>
                  <a:tailEnd len="med" w="med" type="none"/>
                </a:ln>
              </p:spPr>
            </p:cxnSp>
            <p:cxnSp>
              <p:nvCxnSpPr>
                <p:cNvPr id="772" name="Google Shape;772;p41"/>
                <p:cNvCxnSpPr/>
                <p:nvPr/>
              </p:nvCxnSpPr>
              <p:spPr>
                <a:xfrm flipH="1">
                  <a:off x="2213" y="3626"/>
                  <a:ext cx="284" cy="294"/>
                </a:xfrm>
                <a:prstGeom prst="straightConnector1">
                  <a:avLst/>
                </a:prstGeom>
                <a:noFill/>
                <a:ln cap="flat" cmpd="sng" w="9525">
                  <a:solidFill>
                    <a:schemeClr val="dk1"/>
                  </a:solidFill>
                  <a:prstDash val="solid"/>
                  <a:round/>
                  <a:headEnd len="med" w="med" type="triangle"/>
                  <a:tailEnd len="med" w="med" type="none"/>
                </a:ln>
              </p:spPr>
            </p:cxnSp>
            <p:cxnSp>
              <p:nvCxnSpPr>
                <p:cNvPr id="773" name="Google Shape;773;p41"/>
                <p:cNvCxnSpPr/>
                <p:nvPr/>
              </p:nvCxnSpPr>
              <p:spPr>
                <a:xfrm rot="-9421154">
                  <a:off x="2074" y="3368"/>
                  <a:ext cx="403" cy="0"/>
                </a:xfrm>
                <a:prstGeom prst="straightConnector1">
                  <a:avLst/>
                </a:prstGeom>
                <a:noFill/>
                <a:ln cap="flat" cmpd="sng" w="9525">
                  <a:solidFill>
                    <a:schemeClr val="dk1"/>
                  </a:solidFill>
                  <a:prstDash val="solid"/>
                  <a:round/>
                  <a:headEnd len="med" w="med" type="triangle"/>
                  <a:tailEnd len="med" w="med" type="none"/>
                </a:ln>
              </p:spPr>
            </p:cxnSp>
            <p:cxnSp>
              <p:nvCxnSpPr>
                <p:cNvPr id="774" name="Google Shape;774;p41"/>
                <p:cNvCxnSpPr/>
                <p:nvPr/>
              </p:nvCxnSpPr>
              <p:spPr>
                <a:xfrm>
                  <a:off x="2462" y="3641"/>
                  <a:ext cx="0" cy="416"/>
                </a:xfrm>
                <a:prstGeom prst="straightConnector1">
                  <a:avLst/>
                </a:prstGeom>
                <a:noFill/>
                <a:ln cap="flat" cmpd="sng" w="9525">
                  <a:solidFill>
                    <a:schemeClr val="dk1"/>
                  </a:solidFill>
                  <a:prstDash val="solid"/>
                  <a:round/>
                  <a:headEnd len="med" w="med" type="triangle"/>
                  <a:tailEnd len="med" w="med" type="none"/>
                </a:ln>
              </p:spPr>
            </p:cxnSp>
            <p:cxnSp>
              <p:nvCxnSpPr>
                <p:cNvPr id="775" name="Google Shape;775;p41"/>
                <p:cNvCxnSpPr/>
                <p:nvPr/>
              </p:nvCxnSpPr>
              <p:spPr>
                <a:xfrm rot="-9421154">
                  <a:off x="2335" y="3023"/>
                  <a:ext cx="280" cy="290"/>
                </a:xfrm>
                <a:prstGeom prst="straightConnector1">
                  <a:avLst/>
                </a:prstGeom>
                <a:noFill/>
                <a:ln cap="flat" cmpd="sng" w="9525">
                  <a:solidFill>
                    <a:schemeClr val="dk1"/>
                  </a:solidFill>
                  <a:prstDash val="solid"/>
                  <a:round/>
                  <a:headEnd len="med" w="med" type="triangle"/>
                  <a:tailEnd len="med" w="med" type="none"/>
                </a:ln>
              </p:spPr>
            </p:cxnSp>
            <p:cxnSp>
              <p:nvCxnSpPr>
                <p:cNvPr id="776" name="Google Shape;776;p41"/>
                <p:cNvCxnSpPr/>
                <p:nvPr/>
              </p:nvCxnSpPr>
              <p:spPr>
                <a:xfrm flipH="1" rot="1378846">
                  <a:off x="2125" y="3508"/>
                  <a:ext cx="284" cy="294"/>
                </a:xfrm>
                <a:prstGeom prst="straightConnector1">
                  <a:avLst/>
                </a:prstGeom>
                <a:noFill/>
                <a:ln cap="flat" cmpd="sng" w="9525">
                  <a:solidFill>
                    <a:schemeClr val="dk1"/>
                  </a:solidFill>
                  <a:prstDash val="solid"/>
                  <a:round/>
                  <a:headEnd len="med" w="med" type="triangle"/>
                  <a:tailEnd len="med" w="med" type="none"/>
                </a:ln>
              </p:spPr>
            </p:cxnSp>
          </p:grpSp>
          <p:grpSp>
            <p:nvGrpSpPr>
              <p:cNvPr id="777" name="Google Shape;777;p41"/>
              <p:cNvGrpSpPr/>
              <p:nvPr/>
            </p:nvGrpSpPr>
            <p:grpSpPr>
              <a:xfrm>
                <a:off x="2771" y="3341"/>
                <a:ext cx="673" cy="103"/>
                <a:chOff x="2771" y="3341"/>
                <a:chExt cx="673" cy="103"/>
              </a:xfrm>
            </p:grpSpPr>
            <p:cxnSp>
              <p:nvCxnSpPr>
                <p:cNvPr id="778" name="Google Shape;778;p41"/>
                <p:cNvCxnSpPr/>
                <p:nvPr/>
              </p:nvCxnSpPr>
              <p:spPr>
                <a:xfrm>
                  <a:off x="3063" y="3342"/>
                  <a:ext cx="42" cy="0"/>
                </a:xfrm>
                <a:prstGeom prst="straightConnector1">
                  <a:avLst/>
                </a:prstGeom>
                <a:noFill/>
                <a:ln cap="flat" cmpd="sng" w="9525">
                  <a:solidFill>
                    <a:schemeClr val="dk1"/>
                  </a:solidFill>
                  <a:prstDash val="solid"/>
                  <a:round/>
                  <a:headEnd len="med" w="med" type="triangle"/>
                  <a:tailEnd len="med" w="med" type="none"/>
                </a:ln>
              </p:spPr>
            </p:cxnSp>
            <p:sp>
              <p:nvSpPr>
                <p:cNvPr id="779" name="Google Shape;779;p41"/>
                <p:cNvSpPr/>
                <p:nvPr/>
              </p:nvSpPr>
              <p:spPr>
                <a:xfrm>
                  <a:off x="2771" y="3341"/>
                  <a:ext cx="673" cy="103"/>
                </a:xfrm>
                <a:custGeom>
                  <a:rect b="b" l="l" r="r" t="t"/>
                  <a:pathLst>
                    <a:path extrusionOk="0" h="103" w="673">
                      <a:moveTo>
                        <a:pt x="673" y="103"/>
                      </a:moveTo>
                      <a:cubicBezTo>
                        <a:pt x="641" y="91"/>
                        <a:pt x="535" y="46"/>
                        <a:pt x="478" y="29"/>
                      </a:cubicBezTo>
                      <a:cubicBezTo>
                        <a:pt x="421" y="12"/>
                        <a:pt x="382" y="0"/>
                        <a:pt x="328" y="0"/>
                      </a:cubicBezTo>
                      <a:cubicBezTo>
                        <a:pt x="274" y="0"/>
                        <a:pt x="210" y="13"/>
                        <a:pt x="155" y="29"/>
                      </a:cubicBezTo>
                      <a:cubicBezTo>
                        <a:pt x="100" y="45"/>
                        <a:pt x="32" y="84"/>
                        <a:pt x="0" y="98"/>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grpSp>
            <p:nvGrpSpPr>
              <p:cNvPr id="780" name="Google Shape;780;p41"/>
              <p:cNvGrpSpPr/>
              <p:nvPr/>
            </p:nvGrpSpPr>
            <p:grpSpPr>
              <a:xfrm>
                <a:off x="2747" y="3128"/>
                <a:ext cx="703" cy="247"/>
                <a:chOff x="2747" y="3128"/>
                <a:chExt cx="703" cy="247"/>
              </a:xfrm>
            </p:grpSpPr>
            <p:sp>
              <p:nvSpPr>
                <p:cNvPr id="781" name="Google Shape;781;p41"/>
                <p:cNvSpPr/>
                <p:nvPr/>
              </p:nvSpPr>
              <p:spPr>
                <a:xfrm>
                  <a:off x="2747" y="3132"/>
                  <a:ext cx="703" cy="243"/>
                </a:xfrm>
                <a:custGeom>
                  <a:rect b="b" l="l" r="r" t="t"/>
                  <a:pathLst>
                    <a:path extrusionOk="0" h="254" w="703">
                      <a:moveTo>
                        <a:pt x="703" y="254"/>
                      </a:moveTo>
                      <a:cubicBezTo>
                        <a:pt x="631" y="185"/>
                        <a:pt x="557" y="120"/>
                        <a:pt x="499" y="78"/>
                      </a:cubicBezTo>
                      <a:cubicBezTo>
                        <a:pt x="441" y="36"/>
                        <a:pt x="405" y="0"/>
                        <a:pt x="352" y="1"/>
                      </a:cubicBezTo>
                      <a:cubicBezTo>
                        <a:pt x="299" y="2"/>
                        <a:pt x="238" y="42"/>
                        <a:pt x="179" y="82"/>
                      </a:cubicBezTo>
                      <a:cubicBezTo>
                        <a:pt x="120" y="122"/>
                        <a:pt x="37" y="209"/>
                        <a:pt x="0" y="242"/>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782" name="Google Shape;782;p41"/>
                <p:cNvCxnSpPr/>
                <p:nvPr/>
              </p:nvCxnSpPr>
              <p:spPr>
                <a:xfrm>
                  <a:off x="3069" y="3128"/>
                  <a:ext cx="42" cy="0"/>
                </a:xfrm>
                <a:prstGeom prst="straightConnector1">
                  <a:avLst/>
                </a:prstGeom>
                <a:noFill/>
                <a:ln cap="flat" cmpd="sng" w="9525">
                  <a:solidFill>
                    <a:schemeClr val="dk1"/>
                  </a:solidFill>
                  <a:prstDash val="solid"/>
                  <a:round/>
                  <a:headEnd len="med" w="med" type="triangle"/>
                  <a:tailEnd len="med" w="med" type="none"/>
                </a:ln>
              </p:spPr>
            </p:cxnSp>
          </p:grpSp>
          <p:grpSp>
            <p:nvGrpSpPr>
              <p:cNvPr id="783" name="Google Shape;783;p41"/>
              <p:cNvGrpSpPr/>
              <p:nvPr/>
            </p:nvGrpSpPr>
            <p:grpSpPr>
              <a:xfrm>
                <a:off x="2684" y="2793"/>
                <a:ext cx="836" cy="542"/>
                <a:chOff x="2684" y="2891"/>
                <a:chExt cx="836" cy="444"/>
              </a:xfrm>
            </p:grpSpPr>
            <p:sp>
              <p:nvSpPr>
                <p:cNvPr id="784" name="Google Shape;784;p41"/>
                <p:cNvSpPr/>
                <p:nvPr/>
              </p:nvSpPr>
              <p:spPr>
                <a:xfrm>
                  <a:off x="2684" y="2891"/>
                  <a:ext cx="836" cy="444"/>
                </a:xfrm>
                <a:custGeom>
                  <a:rect b="b" l="l" r="r" t="t"/>
                  <a:pathLst>
                    <a:path extrusionOk="0" h="254" w="703">
                      <a:moveTo>
                        <a:pt x="703" y="254"/>
                      </a:moveTo>
                      <a:cubicBezTo>
                        <a:pt x="631" y="185"/>
                        <a:pt x="557" y="120"/>
                        <a:pt x="499" y="78"/>
                      </a:cubicBezTo>
                      <a:cubicBezTo>
                        <a:pt x="441" y="36"/>
                        <a:pt x="405" y="0"/>
                        <a:pt x="352" y="1"/>
                      </a:cubicBezTo>
                      <a:cubicBezTo>
                        <a:pt x="299" y="2"/>
                        <a:pt x="238" y="42"/>
                        <a:pt x="179" y="82"/>
                      </a:cubicBezTo>
                      <a:cubicBezTo>
                        <a:pt x="120" y="122"/>
                        <a:pt x="37" y="209"/>
                        <a:pt x="0" y="242"/>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785" name="Google Shape;785;p41"/>
                <p:cNvCxnSpPr/>
                <p:nvPr/>
              </p:nvCxnSpPr>
              <p:spPr>
                <a:xfrm>
                  <a:off x="3069" y="2897"/>
                  <a:ext cx="42" cy="0"/>
                </a:xfrm>
                <a:prstGeom prst="straightConnector1">
                  <a:avLst/>
                </a:prstGeom>
                <a:noFill/>
                <a:ln cap="flat" cmpd="sng" w="9525">
                  <a:solidFill>
                    <a:schemeClr val="dk1"/>
                  </a:solidFill>
                  <a:prstDash val="solid"/>
                  <a:round/>
                  <a:headEnd len="med" w="med" type="triangle"/>
                  <a:tailEnd len="med" w="med" type="none"/>
                </a:ln>
              </p:spPr>
            </p:cxnSp>
          </p:grpSp>
          <p:grpSp>
            <p:nvGrpSpPr>
              <p:cNvPr id="786" name="Google Shape;786;p41"/>
              <p:cNvGrpSpPr/>
              <p:nvPr/>
            </p:nvGrpSpPr>
            <p:grpSpPr>
              <a:xfrm>
                <a:off x="2603" y="2157"/>
                <a:ext cx="980" cy="1206"/>
                <a:chOff x="2603" y="2157"/>
                <a:chExt cx="980" cy="1206"/>
              </a:xfrm>
            </p:grpSpPr>
            <p:sp>
              <p:nvSpPr>
                <p:cNvPr id="787" name="Google Shape;787;p41"/>
                <p:cNvSpPr/>
                <p:nvPr/>
              </p:nvSpPr>
              <p:spPr>
                <a:xfrm>
                  <a:off x="2603" y="2157"/>
                  <a:ext cx="980" cy="1206"/>
                </a:xfrm>
                <a:custGeom>
                  <a:rect b="b" l="l" r="r" t="t"/>
                  <a:pathLst>
                    <a:path extrusionOk="0" h="1206" w="980">
                      <a:moveTo>
                        <a:pt x="980" y="1206"/>
                      </a:moveTo>
                      <a:cubicBezTo>
                        <a:pt x="950" y="1085"/>
                        <a:pt x="883" y="682"/>
                        <a:pt x="801" y="481"/>
                      </a:cubicBezTo>
                      <a:cubicBezTo>
                        <a:pt x="719" y="280"/>
                        <a:pt x="595" y="2"/>
                        <a:pt x="491" y="1"/>
                      </a:cubicBezTo>
                      <a:cubicBezTo>
                        <a:pt x="387" y="0"/>
                        <a:pt x="261" y="284"/>
                        <a:pt x="179" y="475"/>
                      </a:cubicBezTo>
                      <a:cubicBezTo>
                        <a:pt x="97" y="666"/>
                        <a:pt x="37" y="1009"/>
                        <a:pt x="0" y="1149"/>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788" name="Google Shape;788;p41"/>
                <p:cNvCxnSpPr/>
                <p:nvPr/>
              </p:nvCxnSpPr>
              <p:spPr>
                <a:xfrm>
                  <a:off x="3069" y="2161"/>
                  <a:ext cx="42" cy="0"/>
                </a:xfrm>
                <a:prstGeom prst="straightConnector1">
                  <a:avLst/>
                </a:prstGeom>
                <a:noFill/>
                <a:ln cap="flat" cmpd="sng" w="9525">
                  <a:solidFill>
                    <a:schemeClr val="dk1"/>
                  </a:solidFill>
                  <a:prstDash val="solid"/>
                  <a:round/>
                  <a:headEnd len="med" w="med" type="triangle"/>
                  <a:tailEnd len="med" w="med" type="none"/>
                </a:ln>
              </p:spPr>
            </p:cxnSp>
          </p:grpSp>
          <p:grpSp>
            <p:nvGrpSpPr>
              <p:cNvPr id="789" name="Google Shape;789;p41"/>
              <p:cNvGrpSpPr/>
              <p:nvPr/>
            </p:nvGrpSpPr>
            <p:grpSpPr>
              <a:xfrm>
                <a:off x="2777" y="3577"/>
                <a:ext cx="673" cy="104"/>
                <a:chOff x="2777" y="3577"/>
                <a:chExt cx="673" cy="104"/>
              </a:xfrm>
            </p:grpSpPr>
            <p:sp>
              <p:nvSpPr>
                <p:cNvPr id="790" name="Google Shape;790;p41"/>
                <p:cNvSpPr/>
                <p:nvPr/>
              </p:nvSpPr>
              <p:spPr>
                <a:xfrm flipH="1" rot="10800000">
                  <a:off x="2777" y="3577"/>
                  <a:ext cx="673" cy="103"/>
                </a:xfrm>
                <a:custGeom>
                  <a:rect b="b" l="l" r="r" t="t"/>
                  <a:pathLst>
                    <a:path extrusionOk="0" h="103" w="673">
                      <a:moveTo>
                        <a:pt x="673" y="103"/>
                      </a:moveTo>
                      <a:cubicBezTo>
                        <a:pt x="641" y="91"/>
                        <a:pt x="535" y="46"/>
                        <a:pt x="478" y="29"/>
                      </a:cubicBezTo>
                      <a:cubicBezTo>
                        <a:pt x="421" y="12"/>
                        <a:pt x="382" y="0"/>
                        <a:pt x="328" y="0"/>
                      </a:cubicBezTo>
                      <a:cubicBezTo>
                        <a:pt x="274" y="0"/>
                        <a:pt x="210" y="13"/>
                        <a:pt x="155" y="29"/>
                      </a:cubicBezTo>
                      <a:cubicBezTo>
                        <a:pt x="100" y="45"/>
                        <a:pt x="32" y="84"/>
                        <a:pt x="0" y="98"/>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791" name="Google Shape;791;p41"/>
                <p:cNvCxnSpPr/>
                <p:nvPr/>
              </p:nvCxnSpPr>
              <p:spPr>
                <a:xfrm>
                  <a:off x="3069" y="3681"/>
                  <a:ext cx="42" cy="0"/>
                </a:xfrm>
                <a:prstGeom prst="straightConnector1">
                  <a:avLst/>
                </a:prstGeom>
                <a:noFill/>
                <a:ln cap="flat" cmpd="sng" w="9525">
                  <a:solidFill>
                    <a:schemeClr val="dk1"/>
                  </a:solidFill>
                  <a:prstDash val="solid"/>
                  <a:round/>
                  <a:headEnd len="med" w="med" type="triangle"/>
                  <a:tailEnd len="med" w="med" type="none"/>
                </a:ln>
              </p:spPr>
            </p:cxnSp>
          </p:grpSp>
          <p:grpSp>
            <p:nvGrpSpPr>
              <p:cNvPr id="792" name="Google Shape;792;p41"/>
              <p:cNvGrpSpPr/>
              <p:nvPr/>
            </p:nvGrpSpPr>
            <p:grpSpPr>
              <a:xfrm>
                <a:off x="2747" y="3633"/>
                <a:ext cx="703" cy="243"/>
                <a:chOff x="2747" y="3633"/>
                <a:chExt cx="703" cy="243"/>
              </a:xfrm>
            </p:grpSpPr>
            <p:sp>
              <p:nvSpPr>
                <p:cNvPr id="793" name="Google Shape;793;p41"/>
                <p:cNvSpPr/>
                <p:nvPr/>
              </p:nvSpPr>
              <p:spPr>
                <a:xfrm flipH="1" rot="10800000">
                  <a:off x="2747" y="3633"/>
                  <a:ext cx="703" cy="243"/>
                </a:xfrm>
                <a:custGeom>
                  <a:rect b="b" l="l" r="r" t="t"/>
                  <a:pathLst>
                    <a:path extrusionOk="0" h="254" w="703">
                      <a:moveTo>
                        <a:pt x="703" y="254"/>
                      </a:moveTo>
                      <a:cubicBezTo>
                        <a:pt x="631" y="185"/>
                        <a:pt x="557" y="120"/>
                        <a:pt x="499" y="78"/>
                      </a:cubicBezTo>
                      <a:cubicBezTo>
                        <a:pt x="441" y="36"/>
                        <a:pt x="405" y="0"/>
                        <a:pt x="352" y="1"/>
                      </a:cubicBezTo>
                      <a:cubicBezTo>
                        <a:pt x="299" y="2"/>
                        <a:pt x="238" y="42"/>
                        <a:pt x="179" y="82"/>
                      </a:cubicBezTo>
                      <a:cubicBezTo>
                        <a:pt x="120" y="122"/>
                        <a:pt x="37" y="209"/>
                        <a:pt x="0" y="242"/>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794" name="Google Shape;794;p41"/>
                <p:cNvCxnSpPr/>
                <p:nvPr/>
              </p:nvCxnSpPr>
              <p:spPr>
                <a:xfrm>
                  <a:off x="3063" y="3872"/>
                  <a:ext cx="42" cy="0"/>
                </a:xfrm>
                <a:prstGeom prst="straightConnector1">
                  <a:avLst/>
                </a:prstGeom>
                <a:noFill/>
                <a:ln cap="flat" cmpd="sng" w="9525">
                  <a:solidFill>
                    <a:schemeClr val="dk1"/>
                  </a:solidFill>
                  <a:prstDash val="solid"/>
                  <a:round/>
                  <a:headEnd len="med" w="med" type="triangle"/>
                  <a:tailEnd len="med" w="med" type="none"/>
                </a:ln>
              </p:spPr>
            </p:cxnSp>
          </p:grpSp>
          <p:grpSp>
            <p:nvGrpSpPr>
              <p:cNvPr id="795" name="Google Shape;795;p41"/>
              <p:cNvGrpSpPr/>
              <p:nvPr/>
            </p:nvGrpSpPr>
            <p:grpSpPr>
              <a:xfrm>
                <a:off x="2683" y="3657"/>
                <a:ext cx="836" cy="576"/>
                <a:chOff x="2683" y="3657"/>
                <a:chExt cx="836" cy="444"/>
              </a:xfrm>
            </p:grpSpPr>
            <p:sp>
              <p:nvSpPr>
                <p:cNvPr id="796" name="Google Shape;796;p41"/>
                <p:cNvSpPr/>
                <p:nvPr/>
              </p:nvSpPr>
              <p:spPr>
                <a:xfrm flipH="1" rot="10800000">
                  <a:off x="2683" y="3657"/>
                  <a:ext cx="836" cy="444"/>
                </a:xfrm>
                <a:custGeom>
                  <a:rect b="b" l="l" r="r" t="t"/>
                  <a:pathLst>
                    <a:path extrusionOk="0" h="254" w="703">
                      <a:moveTo>
                        <a:pt x="703" y="254"/>
                      </a:moveTo>
                      <a:cubicBezTo>
                        <a:pt x="631" y="185"/>
                        <a:pt x="557" y="120"/>
                        <a:pt x="499" y="78"/>
                      </a:cubicBezTo>
                      <a:cubicBezTo>
                        <a:pt x="441" y="36"/>
                        <a:pt x="405" y="0"/>
                        <a:pt x="352" y="1"/>
                      </a:cubicBezTo>
                      <a:cubicBezTo>
                        <a:pt x="299" y="2"/>
                        <a:pt x="238" y="42"/>
                        <a:pt x="179" y="82"/>
                      </a:cubicBezTo>
                      <a:cubicBezTo>
                        <a:pt x="120" y="122"/>
                        <a:pt x="37" y="209"/>
                        <a:pt x="0" y="242"/>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797" name="Google Shape;797;p41"/>
                <p:cNvCxnSpPr/>
                <p:nvPr/>
              </p:nvCxnSpPr>
              <p:spPr>
                <a:xfrm>
                  <a:off x="3063" y="4101"/>
                  <a:ext cx="42" cy="0"/>
                </a:xfrm>
                <a:prstGeom prst="straightConnector1">
                  <a:avLst/>
                </a:prstGeom>
                <a:noFill/>
                <a:ln cap="flat" cmpd="sng" w="9525">
                  <a:solidFill>
                    <a:schemeClr val="dk1"/>
                  </a:solidFill>
                  <a:prstDash val="solid"/>
                  <a:round/>
                  <a:headEnd len="med" w="med" type="triangle"/>
                  <a:tailEnd len="med" w="med" type="none"/>
                </a:ln>
              </p:spPr>
            </p:cxnSp>
          </p:grpSp>
          <p:grpSp>
            <p:nvGrpSpPr>
              <p:cNvPr id="798" name="Google Shape;798;p41"/>
              <p:cNvGrpSpPr/>
              <p:nvPr/>
            </p:nvGrpSpPr>
            <p:grpSpPr>
              <a:xfrm>
                <a:off x="2771" y="3508"/>
                <a:ext cx="656" cy="0"/>
                <a:chOff x="2771" y="3508"/>
                <a:chExt cx="656" cy="0"/>
              </a:xfrm>
            </p:grpSpPr>
            <p:cxnSp>
              <p:nvCxnSpPr>
                <p:cNvPr id="799" name="Google Shape;799;p41"/>
                <p:cNvCxnSpPr/>
                <p:nvPr/>
              </p:nvCxnSpPr>
              <p:spPr>
                <a:xfrm>
                  <a:off x="3069" y="3508"/>
                  <a:ext cx="42" cy="0"/>
                </a:xfrm>
                <a:prstGeom prst="straightConnector1">
                  <a:avLst/>
                </a:prstGeom>
                <a:noFill/>
                <a:ln cap="flat" cmpd="sng" w="9525">
                  <a:solidFill>
                    <a:schemeClr val="dk1"/>
                  </a:solidFill>
                  <a:prstDash val="solid"/>
                  <a:round/>
                  <a:headEnd len="med" w="med" type="triangle"/>
                  <a:tailEnd len="med" w="med" type="none"/>
                </a:ln>
              </p:spPr>
            </p:cxnSp>
            <p:cxnSp>
              <p:nvCxnSpPr>
                <p:cNvPr id="800" name="Google Shape;800;p41"/>
                <p:cNvCxnSpPr/>
                <p:nvPr/>
              </p:nvCxnSpPr>
              <p:spPr>
                <a:xfrm rot="10800000">
                  <a:off x="2771" y="3508"/>
                  <a:ext cx="656" cy="0"/>
                </a:xfrm>
                <a:prstGeom prst="straightConnector1">
                  <a:avLst/>
                </a:prstGeom>
                <a:noFill/>
                <a:ln cap="flat" cmpd="sng" w="9525">
                  <a:solidFill>
                    <a:schemeClr val="dk1"/>
                  </a:solidFill>
                  <a:prstDash val="solid"/>
                  <a:round/>
                  <a:headEnd len="med" w="med" type="none"/>
                  <a:tailEnd len="med" w="med" type="none"/>
                </a:ln>
              </p:spPr>
            </p:cxnSp>
          </p:grpSp>
        </p:grpSp>
      </p:grpSp>
      <p:sp>
        <p:nvSpPr>
          <p:cNvPr id="801" name="Google Shape;801;p41"/>
          <p:cNvSpPr/>
          <p:nvPr/>
        </p:nvSpPr>
        <p:spPr>
          <a:xfrm>
            <a:off x="6642100" y="4144963"/>
            <a:ext cx="133350" cy="133350"/>
          </a:xfrm>
          <a:prstGeom prst="ellipse">
            <a:avLst/>
          </a:prstGeom>
          <a:gradFill>
            <a:gsLst>
              <a:gs pos="0">
                <a:schemeClr val="accent1"/>
              </a:gs>
              <a:gs pos="100000">
                <a:srgbClr val="839D9F"/>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802" name="Google Shape;802;p41"/>
          <p:cNvSpPr/>
          <p:nvPr/>
        </p:nvSpPr>
        <p:spPr>
          <a:xfrm>
            <a:off x="7424738" y="5607050"/>
            <a:ext cx="133350" cy="133350"/>
          </a:xfrm>
          <a:prstGeom prst="ellipse">
            <a:avLst/>
          </a:prstGeom>
          <a:gradFill>
            <a:gsLst>
              <a:gs pos="0">
                <a:schemeClr val="accent1"/>
              </a:gs>
              <a:gs pos="100000">
                <a:srgbClr val="839D9F"/>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803" name="Google Shape;803;p41"/>
          <p:cNvSpPr txBox="1"/>
          <p:nvPr/>
        </p:nvSpPr>
        <p:spPr>
          <a:xfrm>
            <a:off x="6450013" y="3562350"/>
            <a:ext cx="39052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a:t>
            </a:r>
            <a:endParaRPr/>
          </a:p>
        </p:txBody>
      </p:sp>
      <p:sp>
        <p:nvSpPr>
          <p:cNvPr id="804" name="Google Shape;804;p41"/>
          <p:cNvSpPr txBox="1"/>
          <p:nvPr/>
        </p:nvSpPr>
        <p:spPr>
          <a:xfrm>
            <a:off x="7537450" y="5683250"/>
            <a:ext cx="39052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B</a:t>
            </a:r>
            <a:endParaRPr/>
          </a:p>
        </p:txBody>
      </p:sp>
      <p:sp>
        <p:nvSpPr>
          <p:cNvPr id="805" name="Google Shape;805;p41"/>
          <p:cNvSpPr/>
          <p:nvPr/>
        </p:nvSpPr>
        <p:spPr>
          <a:xfrm>
            <a:off x="685800" y="1549400"/>
            <a:ext cx="7772400" cy="4476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Solving problems involving electric fields</a:t>
            </a:r>
            <a:endParaRPr i="1" sz="2400">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54">
                                            <p:txEl>
                                              <p:pRg end="0" st="0"/>
                                            </p:txEl>
                                          </p:spTgt>
                                        </p:tgtEl>
                                        <p:attrNameLst>
                                          <p:attrName>style.visibility</p:attrName>
                                        </p:attrNameLst>
                                      </p:cBhvr>
                                      <p:to>
                                        <p:strVal val="visible"/>
                                      </p:to>
                                    </p:set>
                                    <p:anim calcmode="lin" valueType="num">
                                      <p:cBhvr additive="base">
                                        <p:cTn dur="500"/>
                                        <p:tgtEl>
                                          <p:spTgt spid="75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54">
                                            <p:txEl>
                                              <p:pRg end="1" st="1"/>
                                            </p:txEl>
                                          </p:spTgt>
                                        </p:tgtEl>
                                        <p:attrNameLst>
                                          <p:attrName>style.visibility</p:attrName>
                                        </p:attrNameLst>
                                      </p:cBhvr>
                                      <p:to>
                                        <p:strVal val="visible"/>
                                      </p:to>
                                    </p:set>
                                    <p:anim calcmode="lin" valueType="num">
                                      <p:cBhvr additive="base">
                                        <p:cTn dur="500"/>
                                        <p:tgtEl>
                                          <p:spTgt spid="75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54">
                                            <p:txEl>
                                              <p:pRg end="2" st="2"/>
                                            </p:txEl>
                                          </p:spTgt>
                                        </p:tgtEl>
                                        <p:attrNameLst>
                                          <p:attrName>style.visibility</p:attrName>
                                        </p:attrNameLst>
                                      </p:cBhvr>
                                      <p:to>
                                        <p:strVal val="visible"/>
                                      </p:to>
                                    </p:set>
                                    <p:anim calcmode="lin" valueType="num">
                                      <p:cBhvr additive="base">
                                        <p:cTn dur="500"/>
                                        <p:tgtEl>
                                          <p:spTgt spid="75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54">
                                            <p:txEl>
                                              <p:pRg end="3" st="3"/>
                                            </p:txEl>
                                          </p:spTgt>
                                        </p:tgtEl>
                                        <p:attrNameLst>
                                          <p:attrName>style.visibility</p:attrName>
                                        </p:attrNameLst>
                                      </p:cBhvr>
                                      <p:to>
                                        <p:strVal val="visible"/>
                                      </p:to>
                                    </p:set>
                                    <p:anim calcmode="lin" valueType="num">
                                      <p:cBhvr additive="base">
                                        <p:cTn dur="500"/>
                                        <p:tgtEl>
                                          <p:spTgt spid="75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54">
                                            <p:txEl>
                                              <p:pRg end="4" st="4"/>
                                            </p:txEl>
                                          </p:spTgt>
                                        </p:tgtEl>
                                        <p:attrNameLst>
                                          <p:attrName>style.visibility</p:attrName>
                                        </p:attrNameLst>
                                      </p:cBhvr>
                                      <p:to>
                                        <p:strVal val="visible"/>
                                      </p:to>
                                    </p:set>
                                    <p:anim calcmode="lin" valueType="num">
                                      <p:cBhvr additive="base">
                                        <p:cTn dur="500"/>
                                        <p:tgtEl>
                                          <p:spTgt spid="75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54">
                                            <p:txEl>
                                              <p:pRg end="5" st="5"/>
                                            </p:txEl>
                                          </p:spTgt>
                                        </p:tgtEl>
                                        <p:attrNameLst>
                                          <p:attrName>style.visibility</p:attrName>
                                        </p:attrNameLst>
                                      </p:cBhvr>
                                      <p:to>
                                        <p:strVal val="visible"/>
                                      </p:to>
                                    </p:set>
                                    <p:anim calcmode="lin" valueType="num">
                                      <p:cBhvr additive="base">
                                        <p:cTn dur="500"/>
                                        <p:tgtEl>
                                          <p:spTgt spid="754">
                                            <p:txEl>
                                              <p:pRg end="5" st="5"/>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756"/>
                                        </p:tgtEl>
                                        <p:attrNameLst>
                                          <p:attrName>style.visibility</p:attrName>
                                        </p:attrNameLst>
                                      </p:cBhvr>
                                      <p:to>
                                        <p:strVal val="visible"/>
                                      </p:to>
                                    </p:set>
                                    <p:animEffect filter="fade" transition="in">
                                      <p:cBhvr>
                                        <p:cTn dur="500"/>
                                        <p:tgtEl>
                                          <p:spTgt spid="756"/>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801"/>
                                        </p:tgtEl>
                                        <p:attrNameLst>
                                          <p:attrName>style.visibility</p:attrName>
                                        </p:attrNameLst>
                                      </p:cBhvr>
                                      <p:to>
                                        <p:strVal val="visible"/>
                                      </p:to>
                                    </p:set>
                                    <p:anim calcmode="lin" valueType="num">
                                      <p:cBhvr additive="base">
                                        <p:cTn dur="500"/>
                                        <p:tgtEl>
                                          <p:spTgt spid="801"/>
                                        </p:tgtEl>
                                        <p:attrNameLst>
                                          <p:attrName>ppt_w</p:attrName>
                                        </p:attrNameLst>
                                      </p:cBhvr>
                                      <p:tavLst>
                                        <p:tav fmla="" tm="0">
                                          <p:val>
                                            <p:strVal val="0"/>
                                          </p:val>
                                        </p:tav>
                                        <p:tav fmla="" tm="100000">
                                          <p:val>
                                            <p:strVal val="#ppt_w"/>
                                          </p:val>
                                        </p:tav>
                                      </p:tavLst>
                                    </p:anim>
                                    <p:anim calcmode="lin" valueType="num">
                                      <p:cBhvr additive="base">
                                        <p:cTn dur="500"/>
                                        <p:tgtEl>
                                          <p:spTgt spid="801"/>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803"/>
                                        </p:tgtEl>
                                        <p:attrNameLst>
                                          <p:attrName>style.visibility</p:attrName>
                                        </p:attrNameLst>
                                      </p:cBhvr>
                                      <p:to>
                                        <p:strVal val="visible"/>
                                      </p:to>
                                    </p:set>
                                    <p:anim calcmode="lin" valueType="num">
                                      <p:cBhvr additive="base">
                                        <p:cTn dur="500"/>
                                        <p:tgtEl>
                                          <p:spTgt spid="803"/>
                                        </p:tgtEl>
                                        <p:attrNameLst>
                                          <p:attrName>ppt_w</p:attrName>
                                        </p:attrNameLst>
                                      </p:cBhvr>
                                      <p:tavLst>
                                        <p:tav fmla="" tm="0">
                                          <p:val>
                                            <p:strVal val="0"/>
                                          </p:val>
                                        </p:tav>
                                        <p:tav fmla="" tm="100000">
                                          <p:val>
                                            <p:strVal val="#ppt_w"/>
                                          </p:val>
                                        </p:tav>
                                      </p:tavLst>
                                    </p:anim>
                                    <p:anim calcmode="lin" valueType="num">
                                      <p:cBhvr additive="base">
                                        <p:cTn dur="500"/>
                                        <p:tgtEl>
                                          <p:spTgt spid="803"/>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802"/>
                                        </p:tgtEl>
                                        <p:attrNameLst>
                                          <p:attrName>style.visibility</p:attrName>
                                        </p:attrNameLst>
                                      </p:cBhvr>
                                      <p:to>
                                        <p:strVal val="visible"/>
                                      </p:to>
                                    </p:set>
                                    <p:anim calcmode="lin" valueType="num">
                                      <p:cBhvr additive="base">
                                        <p:cTn dur="500"/>
                                        <p:tgtEl>
                                          <p:spTgt spid="802"/>
                                        </p:tgtEl>
                                        <p:attrNameLst>
                                          <p:attrName>ppt_w</p:attrName>
                                        </p:attrNameLst>
                                      </p:cBhvr>
                                      <p:tavLst>
                                        <p:tav fmla="" tm="0">
                                          <p:val>
                                            <p:strVal val="0"/>
                                          </p:val>
                                        </p:tav>
                                        <p:tav fmla="" tm="100000">
                                          <p:val>
                                            <p:strVal val="#ppt_w"/>
                                          </p:val>
                                        </p:tav>
                                      </p:tavLst>
                                    </p:anim>
                                    <p:anim calcmode="lin" valueType="num">
                                      <p:cBhvr additive="base">
                                        <p:cTn dur="500"/>
                                        <p:tgtEl>
                                          <p:spTgt spid="802"/>
                                        </p:tgtEl>
                                        <p:attrNameLst>
                                          <p:attrName>ppt_h</p:attrName>
                                        </p:attrNameLst>
                                      </p:cBhvr>
                                      <p:tavLst>
                                        <p:tav fmla="" tm="0">
                                          <p:val>
                                            <p:strVal val="0"/>
                                          </p:val>
                                        </p:tav>
                                        <p:tav fmla="" tm="100000">
                                          <p:val>
                                            <p:strVal val="#ppt_h"/>
                                          </p:val>
                                        </p:tav>
                                      </p:tavLst>
                                    </p:anim>
                                  </p:childTnLst>
                                </p:cTn>
                              </p:par>
                            </p:childTnLst>
                          </p:cTn>
                        </p:par>
                        <p:par>
                          <p:cTn fill="hold">
                            <p:stCondLst>
                              <p:cond delay="2000"/>
                            </p:stCondLst>
                            <p:childTnLst>
                              <p:par>
                                <p:cTn fill="hold" nodeType="afterEffect" presetClass="entr" presetID="23" presetSubtype="16">
                                  <p:stCondLst>
                                    <p:cond delay="0"/>
                                  </p:stCondLst>
                                  <p:childTnLst>
                                    <p:set>
                                      <p:cBhvr>
                                        <p:cTn dur="1" fill="hold">
                                          <p:stCondLst>
                                            <p:cond delay="0"/>
                                          </p:stCondLst>
                                        </p:cTn>
                                        <p:tgtEl>
                                          <p:spTgt spid="804"/>
                                        </p:tgtEl>
                                        <p:attrNameLst>
                                          <p:attrName>style.visibility</p:attrName>
                                        </p:attrNameLst>
                                      </p:cBhvr>
                                      <p:to>
                                        <p:strVal val="visible"/>
                                      </p:to>
                                    </p:set>
                                    <p:anim calcmode="lin" valueType="num">
                                      <p:cBhvr additive="base">
                                        <p:cTn dur="500"/>
                                        <p:tgtEl>
                                          <p:spTgt spid="804"/>
                                        </p:tgtEl>
                                        <p:attrNameLst>
                                          <p:attrName>ppt_w</p:attrName>
                                        </p:attrNameLst>
                                      </p:cBhvr>
                                      <p:tavLst>
                                        <p:tav fmla="" tm="0">
                                          <p:val>
                                            <p:strVal val="0"/>
                                          </p:val>
                                        </p:tav>
                                        <p:tav fmla="" tm="100000">
                                          <p:val>
                                            <p:strVal val="#ppt_w"/>
                                          </p:val>
                                        </p:tav>
                                      </p:tavLst>
                                    </p:anim>
                                    <p:anim calcmode="lin" valueType="num">
                                      <p:cBhvr additive="base">
                                        <p:cTn dur="500"/>
                                        <p:tgtEl>
                                          <p:spTgt spid="80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42"/>
          <p:cNvSpPr/>
          <p:nvPr/>
        </p:nvSpPr>
        <p:spPr>
          <a:xfrm>
            <a:off x="687388" y="1970088"/>
            <a:ext cx="7772400" cy="4887912"/>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If the charge on a 25 cm radius metal sphere is +150 μC, calculate</a:t>
            </a:r>
            <a:endParaRPr/>
          </a:p>
          <a:p>
            <a:pPr indent="0" lvl="0" marL="0" marR="0" rtl="0" algn="l">
              <a:spcBef>
                <a:spcPts val="500"/>
              </a:spcBef>
              <a:spcAft>
                <a:spcPts val="0"/>
              </a:spcAft>
              <a:buNone/>
            </a:pPr>
            <a:r>
              <a:rPr lang="en-US" sz="2400">
                <a:solidFill>
                  <a:schemeClr val="dk1"/>
                </a:solidFill>
                <a:latin typeface="Arial"/>
                <a:ea typeface="Arial"/>
                <a:cs typeface="Arial"/>
                <a:sym typeface="Arial"/>
              </a:rPr>
              <a:t>(a) the electric field strength at the surface.</a:t>
            </a:r>
            <a:endParaRPr/>
          </a:p>
          <a:p>
            <a:pPr indent="0" lvl="0" marL="0" marR="0" rtl="0" algn="l">
              <a:spcBef>
                <a:spcPts val="500"/>
              </a:spcBef>
              <a:spcAft>
                <a:spcPts val="0"/>
              </a:spcAft>
              <a:buNone/>
            </a:pPr>
            <a:r>
              <a:rPr lang="en-US" sz="2400">
                <a:solidFill>
                  <a:schemeClr val="dk1"/>
                </a:solidFill>
                <a:latin typeface="Arial"/>
                <a:ea typeface="Arial"/>
                <a:cs typeface="Arial"/>
                <a:sym typeface="Arial"/>
              </a:rPr>
              <a:t>(b) the field strength 25 cm from the surface.</a:t>
            </a:r>
            <a:endParaRPr/>
          </a:p>
          <a:p>
            <a:pPr indent="0" lvl="0" marL="0" marR="0" rtl="0" algn="l">
              <a:spcBef>
                <a:spcPts val="500"/>
              </a:spcBef>
              <a:spcAft>
                <a:spcPts val="0"/>
              </a:spcAft>
              <a:buNone/>
            </a:pPr>
            <a:r>
              <a:rPr lang="en-US" sz="2400">
                <a:solidFill>
                  <a:schemeClr val="dk1"/>
                </a:solidFill>
                <a:latin typeface="Arial"/>
                <a:ea typeface="Arial"/>
                <a:cs typeface="Arial"/>
                <a:sym typeface="Arial"/>
              </a:rPr>
              <a:t>(c) the force on a -0.75 μC charge placed 25 cm from the surface.</a:t>
            </a:r>
            <a:endParaRPr/>
          </a:p>
          <a:p>
            <a:pPr indent="0" lvl="0" marL="0" marR="0" rtl="0" algn="l">
              <a:spcBef>
                <a:spcPts val="500"/>
              </a:spcBef>
              <a:spcAft>
                <a:spcPts val="0"/>
              </a:spcAft>
              <a:buNone/>
            </a:pPr>
            <a:r>
              <a:rPr lang="en-US" sz="2400">
                <a:solidFill>
                  <a:schemeClr val="dk1"/>
                </a:solidFill>
                <a:latin typeface="Arial"/>
                <a:ea typeface="Arial"/>
                <a:cs typeface="Arial"/>
                <a:sym typeface="Arial"/>
              </a:rPr>
              <a:t>SOLUTION: Use </a:t>
            </a:r>
            <a:r>
              <a:rPr i="1" lang="en-US" sz="2400">
                <a:solidFill>
                  <a:schemeClr val="dk1"/>
                </a:solidFill>
                <a:latin typeface="Arial"/>
                <a:ea typeface="Arial"/>
                <a:cs typeface="Arial"/>
                <a:sym typeface="Arial"/>
              </a:rPr>
              <a:t>E</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kQ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and for (c) use </a:t>
            </a:r>
            <a:r>
              <a:rPr i="1" lang="en-US" sz="2400">
                <a:solidFill>
                  <a:schemeClr val="dk1"/>
                </a:solidFill>
                <a:latin typeface="Arial"/>
                <a:ea typeface="Arial"/>
                <a:cs typeface="Arial"/>
                <a:sym typeface="Arial"/>
              </a:rPr>
              <a:t>E</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q</a:t>
            </a:r>
            <a:r>
              <a:rPr lang="en-US" sz="2400">
                <a:solidFill>
                  <a:schemeClr val="dk1"/>
                </a:solidFill>
                <a:latin typeface="Arial"/>
                <a:ea typeface="Arial"/>
                <a:cs typeface="Arial"/>
                <a:sym typeface="Arial"/>
              </a:rPr>
              <a:t>.</a:t>
            </a:r>
            <a:endParaRPr/>
          </a:p>
          <a:p>
            <a:pPr indent="0" lvl="0" marL="0" marR="0" rtl="0" algn="l">
              <a:spcBef>
                <a:spcPts val="300"/>
              </a:spcBef>
              <a:spcAft>
                <a:spcPts val="0"/>
              </a:spcAft>
              <a:buNone/>
            </a:pPr>
            <a:r>
              <a:rPr lang="en-US" sz="2400">
                <a:solidFill>
                  <a:schemeClr val="dk1"/>
                </a:solidFill>
                <a:latin typeface="Arial"/>
                <a:ea typeface="Arial"/>
                <a:cs typeface="Arial"/>
                <a:sym typeface="Arial"/>
              </a:rPr>
              <a:t>(a)   </a:t>
            </a:r>
            <a:r>
              <a:rPr i="1" lang="en-US" sz="2400">
                <a:solidFill>
                  <a:schemeClr val="dk1"/>
                </a:solidFill>
                <a:latin typeface="Arial"/>
                <a:ea typeface="Arial"/>
                <a:cs typeface="Arial"/>
                <a:sym typeface="Arial"/>
              </a:rPr>
              <a:t>E</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kQ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a:t>
            </a:r>
            <a:endParaRPr/>
          </a:p>
          <a:p>
            <a:pPr indent="0" lvl="0" marL="0" marR="0" rtl="0" algn="l">
              <a:spcBef>
                <a:spcPts val="300"/>
              </a:spcBef>
              <a:spcAft>
                <a:spcPts val="0"/>
              </a:spcAft>
              <a:buNone/>
            </a:pPr>
            <a:r>
              <a:rPr lang="en-US" sz="2400">
                <a:solidFill>
                  <a:schemeClr val="dk1"/>
                </a:solidFill>
                <a:latin typeface="Arial"/>
                <a:ea typeface="Arial"/>
                <a:cs typeface="Arial"/>
                <a:sym typeface="Arial"/>
              </a:rPr>
              <a:t>      	= (8.99×10</a:t>
            </a:r>
            <a:r>
              <a:rPr baseline="30000" lang="en-US" sz="2400">
                <a:solidFill>
                  <a:schemeClr val="dk1"/>
                </a:solidFill>
                <a:latin typeface="Arial"/>
                <a:ea typeface="Arial"/>
                <a:cs typeface="Arial"/>
                <a:sym typeface="Arial"/>
              </a:rPr>
              <a:t>9</a:t>
            </a:r>
            <a:r>
              <a:rPr lang="en-US" sz="2400">
                <a:solidFill>
                  <a:schemeClr val="dk1"/>
                </a:solidFill>
                <a:latin typeface="Arial"/>
                <a:ea typeface="Arial"/>
                <a:cs typeface="Arial"/>
                <a:sym typeface="Arial"/>
              </a:rPr>
              <a:t>)(150×10</a:t>
            </a:r>
            <a:r>
              <a:rPr baseline="30000" lang="en-US" sz="2400">
                <a:solidFill>
                  <a:schemeClr val="dk1"/>
                </a:solidFill>
                <a:latin typeface="Arial"/>
                <a:ea typeface="Arial"/>
                <a:cs typeface="Arial"/>
                <a:sym typeface="Arial"/>
              </a:rPr>
              <a:t>-6</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 0.25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2.2×10</a:t>
            </a:r>
            <a:r>
              <a:rPr baseline="30000" lang="en-US" sz="2400">
                <a:solidFill>
                  <a:schemeClr val="dk1"/>
                </a:solidFill>
                <a:latin typeface="Arial"/>
                <a:ea typeface="Arial"/>
                <a:cs typeface="Arial"/>
                <a:sym typeface="Arial"/>
              </a:rPr>
              <a:t>7 </a:t>
            </a:r>
            <a:r>
              <a:rPr lang="en-US" sz="2400">
                <a:solidFill>
                  <a:schemeClr val="dk1"/>
                </a:solidFill>
                <a:latin typeface="Arial"/>
                <a:ea typeface="Arial"/>
                <a:cs typeface="Arial"/>
                <a:sym typeface="Arial"/>
              </a:rPr>
              <a:t>NC</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endParaRPr/>
          </a:p>
          <a:p>
            <a:pPr indent="0" lvl="0" marL="0" marR="0" rtl="0" algn="l">
              <a:spcBef>
                <a:spcPts val="300"/>
              </a:spcBef>
              <a:spcAft>
                <a:spcPts val="0"/>
              </a:spcAft>
              <a:buNone/>
            </a:pPr>
            <a:r>
              <a:rPr lang="en-US" sz="2400">
                <a:solidFill>
                  <a:schemeClr val="dk1"/>
                </a:solidFill>
                <a:latin typeface="Arial"/>
                <a:ea typeface="Arial"/>
                <a:cs typeface="Arial"/>
                <a:sym typeface="Arial"/>
              </a:rPr>
              <a:t>(b)   </a:t>
            </a:r>
            <a:r>
              <a:rPr i="1" lang="en-US" sz="2400">
                <a:solidFill>
                  <a:schemeClr val="dk1"/>
                </a:solidFill>
                <a:latin typeface="Arial"/>
                <a:ea typeface="Arial"/>
                <a:cs typeface="Arial"/>
                <a:sym typeface="Arial"/>
              </a:rPr>
              <a:t>E</a:t>
            </a:r>
            <a:r>
              <a:rPr lang="en-US" sz="2400">
                <a:solidFill>
                  <a:schemeClr val="dk1"/>
                </a:solidFill>
                <a:latin typeface="Arial"/>
                <a:ea typeface="Arial"/>
                <a:cs typeface="Arial"/>
                <a:sym typeface="Arial"/>
              </a:rPr>
              <a:t> 	= (8.99×10</a:t>
            </a:r>
            <a:r>
              <a:rPr baseline="30000" lang="en-US" sz="2400">
                <a:solidFill>
                  <a:schemeClr val="dk1"/>
                </a:solidFill>
                <a:latin typeface="Arial"/>
                <a:ea typeface="Arial"/>
                <a:cs typeface="Arial"/>
                <a:sym typeface="Arial"/>
              </a:rPr>
              <a:t>9</a:t>
            </a:r>
            <a:r>
              <a:rPr lang="en-US" sz="2400">
                <a:solidFill>
                  <a:schemeClr val="dk1"/>
                </a:solidFill>
                <a:latin typeface="Arial"/>
                <a:ea typeface="Arial"/>
                <a:cs typeface="Arial"/>
                <a:sym typeface="Arial"/>
              </a:rPr>
              <a:t>)(150×10</a:t>
            </a:r>
            <a:r>
              <a:rPr baseline="30000" lang="en-US" sz="2400">
                <a:solidFill>
                  <a:schemeClr val="dk1"/>
                </a:solidFill>
                <a:latin typeface="Arial"/>
                <a:ea typeface="Arial"/>
                <a:cs typeface="Arial"/>
                <a:sym typeface="Arial"/>
              </a:rPr>
              <a:t>-6</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 0.50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5.4×10</a:t>
            </a:r>
            <a:r>
              <a:rPr baseline="30000" lang="en-US" sz="2400">
                <a:solidFill>
                  <a:schemeClr val="dk1"/>
                </a:solidFill>
                <a:latin typeface="Arial"/>
                <a:ea typeface="Arial"/>
                <a:cs typeface="Arial"/>
                <a:sym typeface="Arial"/>
              </a:rPr>
              <a:t>6 </a:t>
            </a:r>
            <a:r>
              <a:rPr lang="en-US" sz="2400">
                <a:solidFill>
                  <a:schemeClr val="dk1"/>
                </a:solidFill>
                <a:latin typeface="Arial"/>
                <a:ea typeface="Arial"/>
                <a:cs typeface="Arial"/>
                <a:sym typeface="Arial"/>
              </a:rPr>
              <a:t>NC</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endParaRPr/>
          </a:p>
          <a:p>
            <a:pPr indent="0" lvl="0" marL="0" marR="0" rtl="0" algn="l">
              <a:spcBef>
                <a:spcPts val="300"/>
              </a:spcBef>
              <a:spcAft>
                <a:spcPts val="0"/>
              </a:spcAft>
              <a:buNone/>
            </a:pPr>
            <a:r>
              <a:rPr lang="en-US" sz="2400">
                <a:solidFill>
                  <a:schemeClr val="dk1"/>
                </a:solidFill>
                <a:latin typeface="Arial"/>
                <a:ea typeface="Arial"/>
                <a:cs typeface="Arial"/>
                <a:sym typeface="Arial"/>
              </a:rPr>
              <a:t>(c)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Eq</a:t>
            </a:r>
            <a:r>
              <a:rPr lang="en-US" sz="2400">
                <a:solidFill>
                  <a:schemeClr val="dk1"/>
                </a:solidFill>
                <a:latin typeface="Arial"/>
                <a:ea typeface="Arial"/>
                <a:cs typeface="Arial"/>
                <a:sym typeface="Arial"/>
              </a:rPr>
              <a:t> = (5.4×10</a:t>
            </a:r>
            <a:r>
              <a:rPr baseline="30000" lang="en-US" sz="2400">
                <a:solidFill>
                  <a:schemeClr val="dk1"/>
                </a:solidFill>
                <a:latin typeface="Arial"/>
                <a:ea typeface="Arial"/>
                <a:cs typeface="Arial"/>
                <a:sym typeface="Arial"/>
              </a:rPr>
              <a:t>6</a:t>
            </a:r>
            <a:r>
              <a:rPr lang="en-US" sz="2400">
                <a:solidFill>
                  <a:schemeClr val="dk1"/>
                </a:solidFill>
                <a:latin typeface="Arial"/>
                <a:ea typeface="Arial"/>
                <a:cs typeface="Arial"/>
                <a:sym typeface="Arial"/>
              </a:rPr>
              <a:t>)(-0.75×10</a:t>
            </a:r>
            <a:r>
              <a:rPr baseline="30000" lang="en-US" sz="2400">
                <a:solidFill>
                  <a:schemeClr val="dk1"/>
                </a:solidFill>
                <a:latin typeface="Arial"/>
                <a:ea typeface="Arial"/>
                <a:cs typeface="Arial"/>
                <a:sym typeface="Arial"/>
              </a:rPr>
              <a:t>-6</a:t>
            </a:r>
            <a:r>
              <a:rPr lang="en-US" sz="2400">
                <a:solidFill>
                  <a:schemeClr val="dk1"/>
                </a:solidFill>
                <a:latin typeface="Arial"/>
                <a:ea typeface="Arial"/>
                <a:cs typeface="Arial"/>
                <a:sym typeface="Arial"/>
              </a:rPr>
              <a:t>) = -4.0 N.</a:t>
            </a:r>
            <a:endParaRPr/>
          </a:p>
          <a:p>
            <a:pPr indent="0" lvl="0" marL="0" marR="0" rtl="0" algn="l">
              <a:spcBef>
                <a:spcPts val="300"/>
              </a:spcBef>
              <a:spcAft>
                <a:spcPts val="0"/>
              </a:spcAft>
              <a:buNone/>
            </a:pPr>
            <a:r>
              <a:rPr lang="en-US" sz="2400">
                <a:solidFill>
                  <a:schemeClr val="hlink"/>
                </a:solidFill>
                <a:latin typeface="Arial"/>
                <a:ea typeface="Arial"/>
                <a:cs typeface="Arial"/>
                <a:sym typeface="Arial"/>
              </a:rPr>
              <a:t>        The minus sign means it is an attractive force</a:t>
            </a:r>
            <a:r>
              <a:rPr lang="en-US" sz="2000">
                <a:solidFill>
                  <a:schemeClr val="hlink"/>
                </a:solidFill>
                <a:latin typeface="Courier New"/>
                <a:ea typeface="Courier New"/>
                <a:cs typeface="Courier New"/>
                <a:sym typeface="Courier New"/>
              </a:rPr>
              <a:t>.</a:t>
            </a:r>
            <a:endParaRPr/>
          </a:p>
        </p:txBody>
      </p:sp>
      <p:sp>
        <p:nvSpPr>
          <p:cNvPr id="811" name="Google Shape;811;p42"/>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sp>
        <p:nvSpPr>
          <p:cNvPr id="812" name="Google Shape;812;p42"/>
          <p:cNvSpPr/>
          <p:nvPr/>
        </p:nvSpPr>
        <p:spPr>
          <a:xfrm>
            <a:off x="685800" y="1549400"/>
            <a:ext cx="7772400" cy="4476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Solving problems involving electric fields</a:t>
            </a:r>
            <a:endParaRPr i="1" sz="2400">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0">
                                            <p:txEl>
                                              <p:pRg end="0" st="0"/>
                                            </p:txEl>
                                          </p:spTgt>
                                        </p:tgtEl>
                                        <p:attrNameLst>
                                          <p:attrName>style.visibility</p:attrName>
                                        </p:attrNameLst>
                                      </p:cBhvr>
                                      <p:to>
                                        <p:strVal val="visible"/>
                                      </p:to>
                                    </p:set>
                                    <p:anim calcmode="lin" valueType="num">
                                      <p:cBhvr additive="base">
                                        <p:cTn dur="500"/>
                                        <p:tgtEl>
                                          <p:spTgt spid="81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0">
                                            <p:txEl>
                                              <p:pRg end="1" st="1"/>
                                            </p:txEl>
                                          </p:spTgt>
                                        </p:tgtEl>
                                        <p:attrNameLst>
                                          <p:attrName>style.visibility</p:attrName>
                                        </p:attrNameLst>
                                      </p:cBhvr>
                                      <p:to>
                                        <p:strVal val="visible"/>
                                      </p:to>
                                    </p:set>
                                    <p:anim calcmode="lin" valueType="num">
                                      <p:cBhvr additive="base">
                                        <p:cTn dur="500"/>
                                        <p:tgtEl>
                                          <p:spTgt spid="81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0">
                                            <p:txEl>
                                              <p:pRg end="2" st="2"/>
                                            </p:txEl>
                                          </p:spTgt>
                                        </p:tgtEl>
                                        <p:attrNameLst>
                                          <p:attrName>style.visibility</p:attrName>
                                        </p:attrNameLst>
                                      </p:cBhvr>
                                      <p:to>
                                        <p:strVal val="visible"/>
                                      </p:to>
                                    </p:set>
                                    <p:anim calcmode="lin" valueType="num">
                                      <p:cBhvr additive="base">
                                        <p:cTn dur="500"/>
                                        <p:tgtEl>
                                          <p:spTgt spid="81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0">
                                            <p:txEl>
                                              <p:pRg end="3" st="3"/>
                                            </p:txEl>
                                          </p:spTgt>
                                        </p:tgtEl>
                                        <p:attrNameLst>
                                          <p:attrName>style.visibility</p:attrName>
                                        </p:attrNameLst>
                                      </p:cBhvr>
                                      <p:to>
                                        <p:strVal val="visible"/>
                                      </p:to>
                                    </p:set>
                                    <p:anim calcmode="lin" valueType="num">
                                      <p:cBhvr additive="base">
                                        <p:cTn dur="500"/>
                                        <p:tgtEl>
                                          <p:spTgt spid="81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0">
                                            <p:txEl>
                                              <p:pRg end="4" st="4"/>
                                            </p:txEl>
                                          </p:spTgt>
                                        </p:tgtEl>
                                        <p:attrNameLst>
                                          <p:attrName>style.visibility</p:attrName>
                                        </p:attrNameLst>
                                      </p:cBhvr>
                                      <p:to>
                                        <p:strVal val="visible"/>
                                      </p:to>
                                    </p:set>
                                    <p:anim calcmode="lin" valueType="num">
                                      <p:cBhvr additive="base">
                                        <p:cTn dur="500"/>
                                        <p:tgtEl>
                                          <p:spTgt spid="81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0">
                                            <p:txEl>
                                              <p:pRg end="5" st="5"/>
                                            </p:txEl>
                                          </p:spTgt>
                                        </p:tgtEl>
                                        <p:attrNameLst>
                                          <p:attrName>style.visibility</p:attrName>
                                        </p:attrNameLst>
                                      </p:cBhvr>
                                      <p:to>
                                        <p:strVal val="visible"/>
                                      </p:to>
                                    </p:set>
                                    <p:anim calcmode="lin" valueType="num">
                                      <p:cBhvr additive="base">
                                        <p:cTn dur="500"/>
                                        <p:tgtEl>
                                          <p:spTgt spid="81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0">
                                            <p:txEl>
                                              <p:pRg end="6" st="6"/>
                                            </p:txEl>
                                          </p:spTgt>
                                        </p:tgtEl>
                                        <p:attrNameLst>
                                          <p:attrName>style.visibility</p:attrName>
                                        </p:attrNameLst>
                                      </p:cBhvr>
                                      <p:to>
                                        <p:strVal val="visible"/>
                                      </p:to>
                                    </p:set>
                                    <p:anim calcmode="lin" valueType="num">
                                      <p:cBhvr additive="base">
                                        <p:cTn dur="500"/>
                                        <p:tgtEl>
                                          <p:spTgt spid="81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0">
                                            <p:txEl>
                                              <p:pRg end="7" st="7"/>
                                            </p:txEl>
                                          </p:spTgt>
                                        </p:tgtEl>
                                        <p:attrNameLst>
                                          <p:attrName>style.visibility</p:attrName>
                                        </p:attrNameLst>
                                      </p:cBhvr>
                                      <p:to>
                                        <p:strVal val="visible"/>
                                      </p:to>
                                    </p:set>
                                    <p:anim calcmode="lin" valueType="num">
                                      <p:cBhvr additive="base">
                                        <p:cTn dur="500"/>
                                        <p:tgtEl>
                                          <p:spTgt spid="810">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0">
                                            <p:txEl>
                                              <p:pRg end="8" st="8"/>
                                            </p:txEl>
                                          </p:spTgt>
                                        </p:tgtEl>
                                        <p:attrNameLst>
                                          <p:attrName>style.visibility</p:attrName>
                                        </p:attrNameLst>
                                      </p:cBhvr>
                                      <p:to>
                                        <p:strVal val="visible"/>
                                      </p:to>
                                    </p:set>
                                    <p:anim calcmode="lin" valueType="num">
                                      <p:cBhvr additive="base">
                                        <p:cTn dur="500"/>
                                        <p:tgtEl>
                                          <p:spTgt spid="810">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0">
                                            <p:txEl>
                                              <p:pRg end="9" st="9"/>
                                            </p:txEl>
                                          </p:spTgt>
                                        </p:tgtEl>
                                        <p:attrNameLst>
                                          <p:attrName>style.visibility</p:attrName>
                                        </p:attrNameLst>
                                      </p:cBhvr>
                                      <p:to>
                                        <p:strVal val="visible"/>
                                      </p:to>
                                    </p:set>
                                    <p:anim calcmode="lin" valueType="num">
                                      <p:cBhvr additive="base">
                                        <p:cTn dur="500"/>
                                        <p:tgtEl>
                                          <p:spTgt spid="810">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43"/>
          <p:cNvSpPr/>
          <p:nvPr/>
        </p:nvSpPr>
        <p:spPr>
          <a:xfrm>
            <a:off x="674688" y="1987550"/>
            <a:ext cx="7772400" cy="4870450"/>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EXAMPLE: If we take two parallel plates of metal and give them equal and opposite charge, what does the electric field look like between the plates?</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SOLUTION: Just remember: Field lines point away from (+) charge and toward (-) charge.</a:t>
            </a:r>
            <a:endParaRPr/>
          </a:p>
        </p:txBody>
      </p:sp>
      <p:sp>
        <p:nvSpPr>
          <p:cNvPr id="818" name="Google Shape;818;p43"/>
          <p:cNvSpPr/>
          <p:nvPr/>
        </p:nvSpPr>
        <p:spPr>
          <a:xfrm>
            <a:off x="685800" y="1549400"/>
            <a:ext cx="7772400" cy="45878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Electric field </a:t>
            </a:r>
            <a:r>
              <a:rPr lang="en-US" sz="2400">
                <a:solidFill>
                  <a:srgbClr val="333399"/>
                </a:solidFill>
                <a:latin typeface="Arial"/>
                <a:ea typeface="Arial"/>
                <a:cs typeface="Arial"/>
                <a:sym typeface="Arial"/>
              </a:rPr>
              <a:t>– between parallel plates</a:t>
            </a:r>
            <a:r>
              <a:rPr lang="en-US" sz="2400">
                <a:solidFill>
                  <a:srgbClr val="000000"/>
                </a:solidFill>
                <a:latin typeface="Arial"/>
                <a:ea typeface="Arial"/>
                <a:cs typeface="Arial"/>
                <a:sym typeface="Arial"/>
              </a:rPr>
              <a:t>	</a:t>
            </a:r>
            <a:endParaRPr/>
          </a:p>
        </p:txBody>
      </p:sp>
      <p:sp>
        <p:nvSpPr>
          <p:cNvPr id="819" name="Google Shape;819;p43"/>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pic>
        <p:nvPicPr>
          <p:cNvPr descr="plates2" id="820" name="Google Shape;820;p43"/>
          <p:cNvPicPr preferRelativeResize="0"/>
          <p:nvPr/>
        </p:nvPicPr>
        <p:blipFill rotWithShape="1">
          <a:blip r:embed="rId3">
            <a:alphaModFix/>
          </a:blip>
          <a:srcRect b="0" l="0" r="0" t="0"/>
          <a:stretch/>
        </p:blipFill>
        <p:spPr>
          <a:xfrm>
            <a:off x="6491288" y="4291013"/>
            <a:ext cx="2343150" cy="2057400"/>
          </a:xfrm>
          <a:prstGeom prst="rect">
            <a:avLst/>
          </a:prstGeom>
          <a:noFill/>
          <a:ln>
            <a:noFill/>
          </a:ln>
          <a:effectLst>
            <a:outerShdw blurRad="292100" rotWithShape="0" algn="tl" dir="2700000" dist="139700">
              <a:srgbClr val="333333">
                <a:alpha val="64705"/>
              </a:srgbClr>
            </a:outerShdw>
          </a:effectLst>
        </p:spPr>
      </p:pic>
      <p:grpSp>
        <p:nvGrpSpPr>
          <p:cNvPr id="821" name="Google Shape;821;p43"/>
          <p:cNvGrpSpPr/>
          <p:nvPr/>
        </p:nvGrpSpPr>
        <p:grpSpPr>
          <a:xfrm>
            <a:off x="268288" y="4206875"/>
            <a:ext cx="3278187" cy="2235200"/>
            <a:chOff x="803" y="2597"/>
            <a:chExt cx="2640" cy="1800"/>
          </a:xfrm>
        </p:grpSpPr>
        <p:sp>
          <p:nvSpPr>
            <p:cNvPr id="822" name="Google Shape;822;p43"/>
            <p:cNvSpPr/>
            <p:nvPr/>
          </p:nvSpPr>
          <p:spPr>
            <a:xfrm>
              <a:off x="936" y="4089"/>
              <a:ext cx="2357" cy="20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823" name="Google Shape;823;p43"/>
            <p:cNvSpPr/>
            <p:nvPr/>
          </p:nvSpPr>
          <p:spPr>
            <a:xfrm>
              <a:off x="952" y="2673"/>
              <a:ext cx="2334" cy="208"/>
            </a:xfrm>
            <a:prstGeom prst="rect">
              <a:avLst/>
            </a:prstGeom>
            <a:solidFill>
              <a:srgbClr val="FF99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pic>
          <p:nvPicPr>
            <p:cNvPr descr="parallel_plate_field" id="824" name="Google Shape;824;p43"/>
            <p:cNvPicPr preferRelativeResize="0"/>
            <p:nvPr/>
          </p:nvPicPr>
          <p:blipFill rotWithShape="1">
            <a:blip r:embed="rId4">
              <a:alphaModFix/>
            </a:blip>
            <a:srcRect b="0" l="0" r="0" t="0"/>
            <a:stretch/>
          </p:blipFill>
          <p:spPr>
            <a:xfrm>
              <a:off x="803" y="2597"/>
              <a:ext cx="2640" cy="1800"/>
            </a:xfrm>
            <a:prstGeom prst="rect">
              <a:avLst/>
            </a:prstGeom>
            <a:noFill/>
            <a:ln>
              <a:noFill/>
            </a:ln>
          </p:spPr>
        </p:pic>
      </p:grpSp>
      <p:grpSp>
        <p:nvGrpSpPr>
          <p:cNvPr id="825" name="Google Shape;825;p43"/>
          <p:cNvGrpSpPr/>
          <p:nvPr/>
        </p:nvGrpSpPr>
        <p:grpSpPr>
          <a:xfrm>
            <a:off x="3678238" y="4041775"/>
            <a:ext cx="2743200" cy="2219325"/>
            <a:chOff x="2317" y="2546"/>
            <a:chExt cx="1728" cy="1398"/>
          </a:xfrm>
        </p:grpSpPr>
        <p:pic>
          <p:nvPicPr>
            <p:cNvPr id="826" name="Google Shape;826;p43"/>
            <p:cNvPicPr preferRelativeResize="0"/>
            <p:nvPr/>
          </p:nvPicPr>
          <p:blipFill rotWithShape="1">
            <a:blip r:embed="rId5">
              <a:alphaModFix/>
            </a:blip>
            <a:srcRect b="0" l="0" r="0" t="0"/>
            <a:stretch/>
          </p:blipFill>
          <p:spPr>
            <a:xfrm>
              <a:off x="2317" y="2802"/>
              <a:ext cx="1528" cy="1142"/>
            </a:xfrm>
            <a:prstGeom prst="rect">
              <a:avLst/>
            </a:prstGeom>
            <a:noFill/>
            <a:ln>
              <a:noFill/>
            </a:ln>
          </p:spPr>
        </p:pic>
        <p:grpSp>
          <p:nvGrpSpPr>
            <p:cNvPr id="827" name="Google Shape;827;p43"/>
            <p:cNvGrpSpPr/>
            <p:nvPr/>
          </p:nvGrpSpPr>
          <p:grpSpPr>
            <a:xfrm>
              <a:off x="2915" y="2546"/>
              <a:ext cx="1130" cy="1067"/>
              <a:chOff x="2915" y="2546"/>
              <a:chExt cx="1130" cy="1067"/>
            </a:xfrm>
          </p:grpSpPr>
          <p:sp>
            <p:nvSpPr>
              <p:cNvPr id="828" name="Google Shape;828;p43"/>
              <p:cNvSpPr txBox="1"/>
              <p:nvPr/>
            </p:nvSpPr>
            <p:spPr>
              <a:xfrm>
                <a:off x="2915" y="2546"/>
                <a:ext cx="315"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FF0000"/>
                  </a:buClr>
                  <a:buSzPts val="2000"/>
                  <a:buFont typeface="Arial"/>
                  <a:buNone/>
                </a:pPr>
                <a:r>
                  <a:rPr lang="en-US" sz="2000">
                    <a:solidFill>
                      <a:srgbClr val="FF0000"/>
                    </a:solidFill>
                    <a:latin typeface="Arial"/>
                    <a:ea typeface="Arial"/>
                    <a:cs typeface="Arial"/>
                    <a:sym typeface="Arial"/>
                  </a:rPr>
                  <a:t>(+)</a:t>
                </a:r>
                <a:endParaRPr/>
              </a:p>
            </p:txBody>
          </p:sp>
          <p:sp>
            <p:nvSpPr>
              <p:cNvPr id="829" name="Google Shape;829;p43"/>
              <p:cNvSpPr txBox="1"/>
              <p:nvPr/>
            </p:nvSpPr>
            <p:spPr>
              <a:xfrm>
                <a:off x="2919" y="3325"/>
                <a:ext cx="308"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a:t>
                </a:r>
                <a:endParaRPr/>
              </a:p>
            </p:txBody>
          </p:sp>
          <p:sp>
            <p:nvSpPr>
              <p:cNvPr id="830" name="Google Shape;830;p43"/>
              <p:cNvSpPr txBox="1"/>
              <p:nvPr/>
            </p:nvSpPr>
            <p:spPr>
              <a:xfrm>
                <a:off x="3801" y="3222"/>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2"/>
                  </a:buClr>
                  <a:buSzPts val="2400"/>
                  <a:buFont typeface="Arial"/>
                  <a:buNone/>
                </a:pPr>
                <a:r>
                  <a:rPr b="1" lang="en-US" sz="2400">
                    <a:solidFill>
                      <a:schemeClr val="accent2"/>
                    </a:solidFill>
                    <a:latin typeface="Arial"/>
                    <a:ea typeface="Arial"/>
                    <a:cs typeface="Arial"/>
                    <a:sym typeface="Arial"/>
                  </a:rPr>
                  <a:t>E</a:t>
                </a:r>
                <a:endParaRPr/>
              </a:p>
            </p:txBody>
          </p:sp>
        </p:grpSp>
      </p:grpSp>
      <p:pic>
        <p:nvPicPr>
          <p:cNvPr id="831" name="Google Shape;831;p43"/>
          <p:cNvPicPr preferRelativeResize="0"/>
          <p:nvPr/>
        </p:nvPicPr>
        <p:blipFill rotWithShape="1">
          <a:blip r:embed="rId6">
            <a:alphaModFix/>
          </a:blip>
          <a:srcRect b="0" l="0" r="0" t="0"/>
          <a:stretch/>
        </p:blipFill>
        <p:spPr>
          <a:xfrm>
            <a:off x="6778625" y="174625"/>
            <a:ext cx="2205038" cy="1662113"/>
          </a:xfrm>
          <a:prstGeom prst="rect">
            <a:avLst/>
          </a:prstGeom>
          <a:noFill/>
          <a:ln>
            <a:noFill/>
          </a:ln>
          <a:effectLst>
            <a:outerShdw blurRad="292100" rotWithShape="0" algn="tl" dir="2700000" dist="139700">
              <a:srgbClr val="333333">
                <a:alpha val="64705"/>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8">
                                            <p:txEl>
                                              <p:pRg end="0" st="0"/>
                                            </p:txEl>
                                          </p:spTgt>
                                        </p:tgtEl>
                                        <p:attrNameLst>
                                          <p:attrName>style.visibility</p:attrName>
                                        </p:attrNameLst>
                                      </p:cBhvr>
                                      <p:to>
                                        <p:strVal val="visible"/>
                                      </p:to>
                                    </p:set>
                                    <p:anim calcmode="lin" valueType="num">
                                      <p:cBhvr additive="base">
                                        <p:cTn dur="500"/>
                                        <p:tgtEl>
                                          <p:spTgt spid="81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7">
                                            <p:txEl>
                                              <p:pRg end="0" st="0"/>
                                            </p:txEl>
                                          </p:spTgt>
                                        </p:tgtEl>
                                        <p:attrNameLst>
                                          <p:attrName>style.visibility</p:attrName>
                                        </p:attrNameLst>
                                      </p:cBhvr>
                                      <p:to>
                                        <p:strVal val="visible"/>
                                      </p:to>
                                    </p:set>
                                    <p:anim calcmode="lin" valueType="num">
                                      <p:cBhvr additive="base">
                                        <p:cTn dur="500"/>
                                        <p:tgtEl>
                                          <p:spTgt spid="81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7">
                                            <p:txEl>
                                              <p:pRg end="1" st="1"/>
                                            </p:txEl>
                                          </p:spTgt>
                                        </p:tgtEl>
                                        <p:attrNameLst>
                                          <p:attrName>style.visibility</p:attrName>
                                        </p:attrNameLst>
                                      </p:cBhvr>
                                      <p:to>
                                        <p:strVal val="visible"/>
                                      </p:to>
                                    </p:set>
                                    <p:anim calcmode="lin" valueType="num">
                                      <p:cBhvr additive="base">
                                        <p:cTn dur="500"/>
                                        <p:tgtEl>
                                          <p:spTgt spid="81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31"/>
                                        </p:tgtEl>
                                        <p:attrNameLst>
                                          <p:attrName>style.visibility</p:attrName>
                                        </p:attrNameLst>
                                      </p:cBhvr>
                                      <p:to>
                                        <p:strVal val="visible"/>
                                      </p:to>
                                    </p:set>
                                    <p:anim calcmode="lin" valueType="num">
                                      <p:cBhvr additive="base">
                                        <p:cTn dur="500"/>
                                        <p:tgtEl>
                                          <p:spTgt spid="831"/>
                                        </p:tgtEl>
                                        <p:attrNameLst>
                                          <p:attrName>ppt_w</p:attrName>
                                        </p:attrNameLst>
                                      </p:cBhvr>
                                      <p:tavLst>
                                        <p:tav fmla="" tm="0">
                                          <p:val>
                                            <p:strVal val="0"/>
                                          </p:val>
                                        </p:tav>
                                        <p:tav fmla="" tm="100000">
                                          <p:val>
                                            <p:strVal val="#ppt_w"/>
                                          </p:val>
                                        </p:tav>
                                      </p:tavLst>
                                    </p:anim>
                                    <p:anim calcmode="lin" valueType="num">
                                      <p:cBhvr additive="base">
                                        <p:cTn dur="500"/>
                                        <p:tgtEl>
                                          <p:spTgt spid="83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1"/>
                                        </p:tgtEl>
                                        <p:attrNameLst>
                                          <p:attrName>style.visibility</p:attrName>
                                        </p:attrNameLst>
                                      </p:cBhvr>
                                      <p:to>
                                        <p:strVal val="visible"/>
                                      </p:to>
                                    </p:set>
                                    <p:animEffect filter="fade" transition="in">
                                      <p:cBhvr>
                                        <p:cTn dur="2000"/>
                                        <p:tgtEl>
                                          <p:spTgt spid="8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5"/>
                                        </p:tgtEl>
                                        <p:attrNameLst>
                                          <p:attrName>style.visibility</p:attrName>
                                        </p:attrNameLst>
                                      </p:cBhvr>
                                      <p:to>
                                        <p:strVal val="visible"/>
                                      </p:to>
                                    </p:set>
                                    <p:animEffect filter="fade" transition="in">
                                      <p:cBhvr>
                                        <p:cTn dur="2000"/>
                                        <p:tgtEl>
                                          <p:spTgt spid="8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20"/>
                                        </p:tgtEl>
                                        <p:attrNameLst>
                                          <p:attrName>style.visibility</p:attrName>
                                        </p:attrNameLst>
                                      </p:cBhvr>
                                      <p:to>
                                        <p:strVal val="visible"/>
                                      </p:to>
                                    </p:set>
                                    <p:anim calcmode="lin" valueType="num">
                                      <p:cBhvr additive="base">
                                        <p:cTn dur="500"/>
                                        <p:tgtEl>
                                          <p:spTgt spid="820"/>
                                        </p:tgtEl>
                                        <p:attrNameLst>
                                          <p:attrName>ppt_w</p:attrName>
                                        </p:attrNameLst>
                                      </p:cBhvr>
                                      <p:tavLst>
                                        <p:tav fmla="" tm="0">
                                          <p:val>
                                            <p:strVal val="0"/>
                                          </p:val>
                                        </p:tav>
                                        <p:tav fmla="" tm="100000">
                                          <p:val>
                                            <p:strVal val="#ppt_w"/>
                                          </p:val>
                                        </p:tav>
                                      </p:tavLst>
                                    </p:anim>
                                    <p:anim calcmode="lin" valueType="num">
                                      <p:cBhvr additive="base">
                                        <p:cTn dur="500"/>
                                        <p:tgtEl>
                                          <p:spTgt spid="82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44"/>
          <p:cNvSpPr/>
          <p:nvPr/>
        </p:nvSpPr>
        <p:spPr>
          <a:xfrm>
            <a:off x="687388" y="1970088"/>
            <a:ext cx="7772400" cy="4887912"/>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PRACTICE: Justify the statement “</a:t>
            </a:r>
            <a:r>
              <a:rPr lang="en-US" sz="2400">
                <a:solidFill>
                  <a:schemeClr val="hlink"/>
                </a:solidFill>
                <a:latin typeface="Arial"/>
                <a:ea typeface="Arial"/>
                <a:cs typeface="Arial"/>
                <a:sym typeface="Arial"/>
              </a:rPr>
              <a:t>the electric field strength is uniform between two parallel plates</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SOLUTION: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∙Sketch the electric                                                             field lines between                                                            two parallel plates.</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∙Now demonstrate                                                           that the electric field                                                               lines have equal                                                              density everywhere                                                            between the plates.</a:t>
            </a:r>
            <a:endParaRPr/>
          </a:p>
        </p:txBody>
      </p:sp>
      <p:sp>
        <p:nvSpPr>
          <p:cNvPr id="837" name="Google Shape;837;p44"/>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grpSp>
        <p:nvGrpSpPr>
          <p:cNvPr id="838" name="Google Shape;838;p44"/>
          <p:cNvGrpSpPr/>
          <p:nvPr/>
        </p:nvGrpSpPr>
        <p:grpSpPr>
          <a:xfrm>
            <a:off x="4033838" y="3230563"/>
            <a:ext cx="4851400" cy="3235325"/>
            <a:chOff x="803" y="2597"/>
            <a:chExt cx="2640" cy="1800"/>
          </a:xfrm>
        </p:grpSpPr>
        <p:sp>
          <p:nvSpPr>
            <p:cNvPr id="839" name="Google Shape;839;p44"/>
            <p:cNvSpPr/>
            <p:nvPr/>
          </p:nvSpPr>
          <p:spPr>
            <a:xfrm>
              <a:off x="936" y="4089"/>
              <a:ext cx="2357" cy="20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840" name="Google Shape;840;p44"/>
            <p:cNvSpPr/>
            <p:nvPr/>
          </p:nvSpPr>
          <p:spPr>
            <a:xfrm>
              <a:off x="952" y="2673"/>
              <a:ext cx="2334" cy="208"/>
            </a:xfrm>
            <a:prstGeom prst="rect">
              <a:avLst/>
            </a:prstGeom>
            <a:solidFill>
              <a:srgbClr val="FF99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pic>
          <p:nvPicPr>
            <p:cNvPr descr="parallel_plate_field" id="841" name="Google Shape;841;p44"/>
            <p:cNvPicPr preferRelativeResize="0"/>
            <p:nvPr/>
          </p:nvPicPr>
          <p:blipFill rotWithShape="1">
            <a:blip r:embed="rId3">
              <a:alphaModFix/>
            </a:blip>
            <a:srcRect b="0" l="0" r="0" t="0"/>
            <a:stretch/>
          </p:blipFill>
          <p:spPr>
            <a:xfrm>
              <a:off x="803" y="2597"/>
              <a:ext cx="2640" cy="1800"/>
            </a:xfrm>
            <a:prstGeom prst="rect">
              <a:avLst/>
            </a:prstGeom>
            <a:noFill/>
            <a:ln>
              <a:noFill/>
            </a:ln>
          </p:spPr>
        </p:pic>
      </p:grpSp>
      <p:sp>
        <p:nvSpPr>
          <p:cNvPr id="842" name="Google Shape;842;p44"/>
          <p:cNvSpPr/>
          <p:nvPr/>
        </p:nvSpPr>
        <p:spPr>
          <a:xfrm>
            <a:off x="4511675" y="5005388"/>
            <a:ext cx="3862388" cy="793750"/>
          </a:xfrm>
          <a:prstGeom prst="rect">
            <a:avLst/>
          </a:prstGeom>
          <a:solidFill>
            <a:srgbClr val="FF0000">
              <a:alpha val="17647"/>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843" name="Google Shape;843;p44"/>
          <p:cNvSpPr/>
          <p:nvPr/>
        </p:nvSpPr>
        <p:spPr>
          <a:xfrm>
            <a:off x="4514850" y="4068763"/>
            <a:ext cx="3862388" cy="793750"/>
          </a:xfrm>
          <a:prstGeom prst="rect">
            <a:avLst/>
          </a:prstGeom>
          <a:solidFill>
            <a:srgbClr val="008000">
              <a:alpha val="17647"/>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844" name="Google Shape;844;p44"/>
          <p:cNvSpPr/>
          <p:nvPr/>
        </p:nvSpPr>
        <p:spPr>
          <a:xfrm>
            <a:off x="685800" y="1549400"/>
            <a:ext cx="7772400" cy="45878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Electric field </a:t>
            </a:r>
            <a:r>
              <a:rPr lang="en-US" sz="2400">
                <a:solidFill>
                  <a:srgbClr val="333399"/>
                </a:solidFill>
                <a:latin typeface="Arial"/>
                <a:ea typeface="Arial"/>
                <a:cs typeface="Arial"/>
                <a:sym typeface="Arial"/>
              </a:rPr>
              <a:t>– between parallel plates</a:t>
            </a:r>
            <a:r>
              <a:rPr lang="en-US" sz="2400">
                <a:solidFill>
                  <a:srgbClr val="000000"/>
                </a:solidFill>
                <a:latin typeface="Arial"/>
                <a:ea typeface="Arial"/>
                <a:cs typeface="Arial"/>
                <a:sym typeface="Arial"/>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36">
                                            <p:txEl>
                                              <p:pRg end="0" st="0"/>
                                            </p:txEl>
                                          </p:spTgt>
                                        </p:tgtEl>
                                        <p:attrNameLst>
                                          <p:attrName>style.visibility</p:attrName>
                                        </p:attrNameLst>
                                      </p:cBhvr>
                                      <p:to>
                                        <p:strVal val="visible"/>
                                      </p:to>
                                    </p:set>
                                    <p:anim calcmode="lin" valueType="num">
                                      <p:cBhvr additive="base">
                                        <p:cTn dur="500"/>
                                        <p:tgtEl>
                                          <p:spTgt spid="83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36">
                                            <p:txEl>
                                              <p:pRg end="1" st="1"/>
                                            </p:txEl>
                                          </p:spTgt>
                                        </p:tgtEl>
                                        <p:attrNameLst>
                                          <p:attrName>style.visibility</p:attrName>
                                        </p:attrNameLst>
                                      </p:cBhvr>
                                      <p:to>
                                        <p:strVal val="visible"/>
                                      </p:to>
                                    </p:set>
                                    <p:anim calcmode="lin" valueType="num">
                                      <p:cBhvr additive="base">
                                        <p:cTn dur="500"/>
                                        <p:tgtEl>
                                          <p:spTgt spid="83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36">
                                            <p:txEl>
                                              <p:pRg end="2" st="2"/>
                                            </p:txEl>
                                          </p:spTgt>
                                        </p:tgtEl>
                                        <p:attrNameLst>
                                          <p:attrName>style.visibility</p:attrName>
                                        </p:attrNameLst>
                                      </p:cBhvr>
                                      <p:to>
                                        <p:strVal val="visible"/>
                                      </p:to>
                                    </p:set>
                                    <p:anim calcmode="lin" valueType="num">
                                      <p:cBhvr additive="base">
                                        <p:cTn dur="500"/>
                                        <p:tgtEl>
                                          <p:spTgt spid="83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36">
                                            <p:txEl>
                                              <p:pRg end="3" st="3"/>
                                            </p:txEl>
                                          </p:spTgt>
                                        </p:tgtEl>
                                        <p:attrNameLst>
                                          <p:attrName>style.visibility</p:attrName>
                                        </p:attrNameLst>
                                      </p:cBhvr>
                                      <p:to>
                                        <p:strVal val="visible"/>
                                      </p:to>
                                    </p:set>
                                    <p:anim calcmode="lin" valueType="num">
                                      <p:cBhvr additive="base">
                                        <p:cTn dur="500"/>
                                        <p:tgtEl>
                                          <p:spTgt spid="83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8"/>
                                        </p:tgtEl>
                                        <p:attrNameLst>
                                          <p:attrName>style.visibility</p:attrName>
                                        </p:attrNameLst>
                                      </p:cBhvr>
                                      <p:to>
                                        <p:strVal val="visible"/>
                                      </p:to>
                                    </p:set>
                                    <p:animEffect filter="fade" transition="in">
                                      <p:cBhvr>
                                        <p:cTn dur="2000"/>
                                        <p:tgtEl>
                                          <p:spTgt spid="8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2"/>
                                        </p:tgtEl>
                                        <p:attrNameLst>
                                          <p:attrName>style.visibility</p:attrName>
                                        </p:attrNameLst>
                                      </p:cBhvr>
                                      <p:to>
                                        <p:strVal val="visible"/>
                                      </p:to>
                                    </p:set>
                                    <p:animEffect filter="fade" transition="in">
                                      <p:cBhvr>
                                        <p:cTn dur="1000"/>
                                        <p:tgtEl>
                                          <p:spTgt spid="8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3"/>
                                        </p:tgtEl>
                                        <p:attrNameLst>
                                          <p:attrName>style.visibility</p:attrName>
                                        </p:attrNameLst>
                                      </p:cBhvr>
                                      <p:to>
                                        <p:strVal val="visible"/>
                                      </p:to>
                                    </p:set>
                                    <p:animEffect filter="fade" transition="in">
                                      <p:cBhvr>
                                        <p:cTn dur="1000"/>
                                        <p:tgtEl>
                                          <p:spTgt spid="8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45"/>
          <p:cNvSpPr/>
          <p:nvPr/>
        </p:nvSpPr>
        <p:spPr>
          <a:xfrm>
            <a:off x="687388" y="1979613"/>
            <a:ext cx="7772400" cy="4878387"/>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PRACTICE: The uniform electric field                  strength inside the parallel plates is                                  275 N</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C</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A </a:t>
            </a:r>
            <a:r>
              <a:rPr baseline="30000"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12 μC charge having a                            mass of 0.25 grams is placed in the field                              at A and released.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(a) What is the electric force acting on the charge?</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(b) What is the weight of the charge?</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SOLUTION:</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(a)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Eq</a:t>
            </a:r>
            <a:r>
              <a:rPr lang="en-US" sz="2400">
                <a:solidFill>
                  <a:schemeClr val="dk1"/>
                </a:solidFill>
                <a:latin typeface="Arial"/>
                <a:ea typeface="Arial"/>
                <a:cs typeface="Arial"/>
                <a:sym typeface="Arial"/>
              </a:rPr>
              <a:t> = (275)(12×10</a:t>
            </a:r>
            <a:r>
              <a:rPr baseline="30000" lang="en-US" sz="2400">
                <a:solidFill>
                  <a:schemeClr val="dk1"/>
                </a:solidFill>
                <a:latin typeface="Arial"/>
                <a:ea typeface="Arial"/>
                <a:cs typeface="Arial"/>
                <a:sym typeface="Arial"/>
              </a:rPr>
              <a:t>-6</a:t>
            </a:r>
            <a:r>
              <a:rPr lang="en-US" sz="2400">
                <a:solidFill>
                  <a:schemeClr val="dk1"/>
                </a:solidFill>
                <a:latin typeface="Arial"/>
                <a:ea typeface="Arial"/>
                <a:cs typeface="Arial"/>
                <a:sym typeface="Arial"/>
              </a:rPr>
              <a:t>) = 0.0033 N.</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(b) Change grams to kg by jumping 3 places left: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mg</a:t>
            </a:r>
            <a:r>
              <a:rPr lang="en-US" sz="2400">
                <a:solidFill>
                  <a:schemeClr val="dk1"/>
                </a:solidFill>
                <a:latin typeface="Arial"/>
                <a:ea typeface="Arial"/>
                <a:cs typeface="Arial"/>
                <a:sym typeface="Arial"/>
              </a:rPr>
              <a:t> = (0.00025)(9.8) = 0.0025 N.</a:t>
            </a:r>
            <a:endParaRPr/>
          </a:p>
        </p:txBody>
      </p:sp>
      <p:sp>
        <p:nvSpPr>
          <p:cNvPr id="850" name="Google Shape;850;p45"/>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grpSp>
        <p:nvGrpSpPr>
          <p:cNvPr id="851" name="Google Shape;851;p45"/>
          <p:cNvGrpSpPr/>
          <p:nvPr/>
        </p:nvGrpSpPr>
        <p:grpSpPr>
          <a:xfrm>
            <a:off x="6364288" y="2030413"/>
            <a:ext cx="2760662" cy="1982787"/>
            <a:chOff x="4049" y="1279"/>
            <a:chExt cx="1739" cy="1249"/>
          </a:xfrm>
        </p:grpSpPr>
        <p:grpSp>
          <p:nvGrpSpPr>
            <p:cNvPr id="852" name="Google Shape;852;p45"/>
            <p:cNvGrpSpPr/>
            <p:nvPr/>
          </p:nvGrpSpPr>
          <p:grpSpPr>
            <a:xfrm>
              <a:off x="4049" y="1279"/>
              <a:ext cx="1739" cy="993"/>
              <a:chOff x="3186" y="1423"/>
              <a:chExt cx="2003" cy="1142"/>
            </a:xfrm>
          </p:grpSpPr>
          <p:pic>
            <p:nvPicPr>
              <p:cNvPr id="853" name="Google Shape;853;p45"/>
              <p:cNvPicPr preferRelativeResize="0"/>
              <p:nvPr/>
            </p:nvPicPr>
            <p:blipFill rotWithShape="1">
              <a:blip r:embed="rId3">
                <a:alphaModFix/>
              </a:blip>
              <a:srcRect b="0" l="0" r="0" t="0"/>
              <a:stretch/>
            </p:blipFill>
            <p:spPr>
              <a:xfrm flipH="1" rot="10800000">
                <a:off x="3186" y="1423"/>
                <a:ext cx="1528" cy="1142"/>
              </a:xfrm>
              <a:prstGeom prst="rect">
                <a:avLst/>
              </a:prstGeom>
              <a:noFill/>
              <a:ln>
                <a:noFill/>
              </a:ln>
            </p:spPr>
          </p:pic>
          <p:sp>
            <p:nvSpPr>
              <p:cNvPr id="854" name="Google Shape;854;p45"/>
              <p:cNvSpPr txBox="1"/>
              <p:nvPr/>
            </p:nvSpPr>
            <p:spPr>
              <a:xfrm>
                <a:off x="4078" y="2177"/>
                <a:ext cx="281" cy="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E</a:t>
                </a:r>
                <a:endParaRPr/>
              </a:p>
            </p:txBody>
          </p:sp>
          <p:sp>
            <p:nvSpPr>
              <p:cNvPr id="855" name="Google Shape;855;p45"/>
              <p:cNvSpPr/>
              <p:nvPr/>
            </p:nvSpPr>
            <p:spPr>
              <a:xfrm>
                <a:off x="4712" y="1789"/>
                <a:ext cx="173" cy="440"/>
              </a:xfrm>
              <a:prstGeom prst="rightBrace">
                <a:avLst>
                  <a:gd fmla="val 21195" name="adj1"/>
                  <a:gd fmla="val 50000" name="adj2"/>
                </a:avLst>
              </a:prstGeom>
              <a:noFill/>
              <a:ln cap="flat" cmpd="sng" w="190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856" name="Google Shape;856;p45"/>
              <p:cNvSpPr txBox="1"/>
              <p:nvPr/>
            </p:nvSpPr>
            <p:spPr>
              <a:xfrm rot="-5400000">
                <a:off x="4558" y="1768"/>
                <a:ext cx="931" cy="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0.025 m</a:t>
                </a:r>
                <a:endParaRPr/>
              </a:p>
            </p:txBody>
          </p:sp>
        </p:grpSp>
        <p:sp>
          <p:nvSpPr>
            <p:cNvPr id="857" name="Google Shape;857;p45"/>
            <p:cNvSpPr txBox="1"/>
            <p:nvPr/>
          </p:nvSpPr>
          <p:spPr>
            <a:xfrm>
              <a:off x="4592" y="2240"/>
              <a:ext cx="228"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A</a:t>
              </a:r>
              <a:endParaRPr/>
            </a:p>
          </p:txBody>
        </p:sp>
        <p:sp>
          <p:nvSpPr>
            <p:cNvPr id="858" name="Google Shape;858;p45"/>
            <p:cNvSpPr/>
            <p:nvPr/>
          </p:nvSpPr>
          <p:spPr>
            <a:xfrm>
              <a:off x="4661" y="2168"/>
              <a:ext cx="83" cy="83"/>
            </a:xfrm>
            <a:prstGeom prst="ellipse">
              <a:avLst/>
            </a:prstGeom>
            <a:gradFill>
              <a:gsLst>
                <a:gs pos="0">
                  <a:srgbClr val="FF9999"/>
                </a:gs>
                <a:gs pos="100000">
                  <a:srgbClr val="764747"/>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grpSp>
      <p:sp>
        <p:nvSpPr>
          <p:cNvPr id="859" name="Google Shape;859;p45"/>
          <p:cNvSpPr/>
          <p:nvPr/>
        </p:nvSpPr>
        <p:spPr>
          <a:xfrm>
            <a:off x="685800" y="1549400"/>
            <a:ext cx="7772400" cy="45878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Electric field </a:t>
            </a:r>
            <a:r>
              <a:rPr lang="en-US" sz="2400">
                <a:solidFill>
                  <a:srgbClr val="333399"/>
                </a:solidFill>
                <a:latin typeface="Arial"/>
                <a:ea typeface="Arial"/>
                <a:cs typeface="Arial"/>
                <a:sym typeface="Arial"/>
              </a:rPr>
              <a:t>– between parallel plates</a:t>
            </a:r>
            <a:r>
              <a:rPr lang="en-US" sz="2400">
                <a:solidFill>
                  <a:srgbClr val="000000"/>
                </a:solidFill>
                <a:latin typeface="Arial"/>
                <a:ea typeface="Arial"/>
                <a:cs typeface="Arial"/>
                <a:sym typeface="Arial"/>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9">
                                            <p:txEl>
                                              <p:pRg end="0" st="0"/>
                                            </p:txEl>
                                          </p:spTgt>
                                        </p:tgtEl>
                                        <p:attrNameLst>
                                          <p:attrName>style.visibility</p:attrName>
                                        </p:attrNameLst>
                                      </p:cBhvr>
                                      <p:to>
                                        <p:strVal val="visible"/>
                                      </p:to>
                                    </p:set>
                                    <p:anim calcmode="lin" valueType="num">
                                      <p:cBhvr additive="base">
                                        <p:cTn dur="500"/>
                                        <p:tgtEl>
                                          <p:spTgt spid="84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9">
                                            <p:txEl>
                                              <p:pRg end="1" st="1"/>
                                            </p:txEl>
                                          </p:spTgt>
                                        </p:tgtEl>
                                        <p:attrNameLst>
                                          <p:attrName>style.visibility</p:attrName>
                                        </p:attrNameLst>
                                      </p:cBhvr>
                                      <p:to>
                                        <p:strVal val="visible"/>
                                      </p:to>
                                    </p:set>
                                    <p:anim calcmode="lin" valueType="num">
                                      <p:cBhvr additive="base">
                                        <p:cTn dur="500"/>
                                        <p:tgtEl>
                                          <p:spTgt spid="84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9">
                                            <p:txEl>
                                              <p:pRg end="2" st="2"/>
                                            </p:txEl>
                                          </p:spTgt>
                                        </p:tgtEl>
                                        <p:attrNameLst>
                                          <p:attrName>style.visibility</p:attrName>
                                        </p:attrNameLst>
                                      </p:cBhvr>
                                      <p:to>
                                        <p:strVal val="visible"/>
                                      </p:to>
                                    </p:set>
                                    <p:anim calcmode="lin" valueType="num">
                                      <p:cBhvr additive="base">
                                        <p:cTn dur="500"/>
                                        <p:tgtEl>
                                          <p:spTgt spid="84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9">
                                            <p:txEl>
                                              <p:pRg end="3" st="3"/>
                                            </p:txEl>
                                          </p:spTgt>
                                        </p:tgtEl>
                                        <p:attrNameLst>
                                          <p:attrName>style.visibility</p:attrName>
                                        </p:attrNameLst>
                                      </p:cBhvr>
                                      <p:to>
                                        <p:strVal val="visible"/>
                                      </p:to>
                                    </p:set>
                                    <p:anim calcmode="lin" valueType="num">
                                      <p:cBhvr additive="base">
                                        <p:cTn dur="500"/>
                                        <p:tgtEl>
                                          <p:spTgt spid="84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9">
                                            <p:txEl>
                                              <p:pRg end="4" st="4"/>
                                            </p:txEl>
                                          </p:spTgt>
                                        </p:tgtEl>
                                        <p:attrNameLst>
                                          <p:attrName>style.visibility</p:attrName>
                                        </p:attrNameLst>
                                      </p:cBhvr>
                                      <p:to>
                                        <p:strVal val="visible"/>
                                      </p:to>
                                    </p:set>
                                    <p:anim calcmode="lin" valueType="num">
                                      <p:cBhvr additive="base">
                                        <p:cTn dur="500"/>
                                        <p:tgtEl>
                                          <p:spTgt spid="84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9">
                                            <p:txEl>
                                              <p:pRg end="5" st="5"/>
                                            </p:txEl>
                                          </p:spTgt>
                                        </p:tgtEl>
                                        <p:attrNameLst>
                                          <p:attrName>style.visibility</p:attrName>
                                        </p:attrNameLst>
                                      </p:cBhvr>
                                      <p:to>
                                        <p:strVal val="visible"/>
                                      </p:to>
                                    </p:set>
                                    <p:anim calcmode="lin" valueType="num">
                                      <p:cBhvr additive="base">
                                        <p:cTn dur="500"/>
                                        <p:tgtEl>
                                          <p:spTgt spid="84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9">
                                            <p:txEl>
                                              <p:pRg end="6" st="6"/>
                                            </p:txEl>
                                          </p:spTgt>
                                        </p:tgtEl>
                                        <p:attrNameLst>
                                          <p:attrName>style.visibility</p:attrName>
                                        </p:attrNameLst>
                                      </p:cBhvr>
                                      <p:to>
                                        <p:strVal val="visible"/>
                                      </p:to>
                                    </p:set>
                                    <p:anim calcmode="lin" valueType="num">
                                      <p:cBhvr additive="base">
                                        <p:cTn dur="500"/>
                                        <p:tgtEl>
                                          <p:spTgt spid="849">
                                            <p:txEl>
                                              <p:pRg end="6" st="6"/>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0"/>
                                  </p:stCondLst>
                                  <p:childTnLst>
                                    <p:set>
                                      <p:cBhvr>
                                        <p:cTn dur="1" fill="hold">
                                          <p:stCondLst>
                                            <p:cond delay="0"/>
                                          </p:stCondLst>
                                        </p:cTn>
                                        <p:tgtEl>
                                          <p:spTgt spid="851"/>
                                        </p:tgtEl>
                                        <p:attrNameLst>
                                          <p:attrName>style.visibility</p:attrName>
                                        </p:attrNameLst>
                                      </p:cBhvr>
                                      <p:to>
                                        <p:strVal val="visible"/>
                                      </p:to>
                                    </p:set>
                                    <p:anim calcmode="lin" valueType="num">
                                      <p:cBhvr additive="base">
                                        <p:cTn dur="500"/>
                                        <p:tgtEl>
                                          <p:spTgt spid="851"/>
                                        </p:tgtEl>
                                        <p:attrNameLst>
                                          <p:attrName>ppt_w</p:attrName>
                                        </p:attrNameLst>
                                      </p:cBhvr>
                                      <p:tavLst>
                                        <p:tav fmla="" tm="0">
                                          <p:val>
                                            <p:strVal val="0"/>
                                          </p:val>
                                        </p:tav>
                                        <p:tav fmla="" tm="100000">
                                          <p:val>
                                            <p:strVal val="#ppt_w"/>
                                          </p:val>
                                        </p:tav>
                                      </p:tavLst>
                                    </p:anim>
                                    <p:anim calcmode="lin" valueType="num">
                                      <p:cBhvr additive="base">
                                        <p:cTn dur="500"/>
                                        <p:tgtEl>
                                          <p:spTgt spid="85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46"/>
          <p:cNvSpPr/>
          <p:nvPr/>
        </p:nvSpPr>
        <p:spPr>
          <a:xfrm>
            <a:off x="687388" y="1979613"/>
            <a:ext cx="7772400" cy="4878387"/>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PRACTICE: The uniform electric field                  strength inside the parallel plates is                                  275 N</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C</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A </a:t>
            </a:r>
            <a:r>
              <a:rPr baseline="30000"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12 μC charge having a                            mass of 0.25 grams is placed in the field                              at A and released.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(c) What is the acceleration of the charge?</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SOLUTION: Use </a:t>
            </a:r>
            <a:r>
              <a:rPr i="1" lang="en-US" sz="2400">
                <a:solidFill>
                  <a:schemeClr val="dk1"/>
                </a:solidFill>
                <a:latin typeface="Arial"/>
                <a:ea typeface="Arial"/>
                <a:cs typeface="Arial"/>
                <a:sym typeface="Arial"/>
              </a:rPr>
              <a:t>F</a:t>
            </a:r>
            <a:r>
              <a:rPr baseline="-25000" lang="en-US" sz="2400">
                <a:solidFill>
                  <a:schemeClr val="dk1"/>
                </a:solidFill>
                <a:latin typeface="Arial"/>
                <a:ea typeface="Arial"/>
                <a:cs typeface="Arial"/>
                <a:sym typeface="Arial"/>
              </a:rPr>
              <a:t>net</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 ma</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 electric force is trying to make the charge go up, and the weight is trying to make it go down. Thus</a:t>
            </a:r>
            <a:endParaRPr/>
          </a:p>
          <a:p>
            <a:pPr indent="0" lvl="0" marL="0" marR="0" rtl="0" algn="l">
              <a:spcBef>
                <a:spcPts val="480"/>
              </a:spcBef>
              <a:spcAft>
                <a:spcPts val="0"/>
              </a:spcAft>
              <a:buClr>
                <a:schemeClr val="dk1"/>
              </a:buClr>
              <a:buSzPts val="2400"/>
              <a:buFont typeface="Arial"/>
              <a:buNone/>
            </a:pPr>
            <a:r>
              <a:rPr i="1" lang="en-US" sz="2400">
                <a:solidFill>
                  <a:schemeClr val="dk1"/>
                </a:solidFill>
                <a:latin typeface="Arial"/>
                <a:ea typeface="Arial"/>
                <a:cs typeface="Arial"/>
                <a:sym typeface="Arial"/>
              </a:rPr>
              <a:t>	    F</a:t>
            </a:r>
            <a:r>
              <a:rPr baseline="-25000" lang="en-US" sz="2400">
                <a:solidFill>
                  <a:schemeClr val="dk1"/>
                </a:solidFill>
                <a:latin typeface="Arial"/>
                <a:ea typeface="Arial"/>
                <a:cs typeface="Arial"/>
                <a:sym typeface="Arial"/>
              </a:rPr>
              <a:t>net</a:t>
            </a:r>
            <a:r>
              <a:rPr lang="en-US" sz="2400">
                <a:solidFill>
                  <a:schemeClr val="dk1"/>
                </a:solidFill>
                <a:latin typeface="Arial"/>
                <a:ea typeface="Arial"/>
                <a:cs typeface="Arial"/>
                <a:sym typeface="Arial"/>
              </a:rPr>
              <a:t> 	= 0.0033 - 0.0025 = 0.0008 N.</a:t>
            </a:r>
            <a:endParaRPr/>
          </a:p>
          <a:p>
            <a:pPr indent="0" lvl="0" marL="0" marR="0" rtl="0" algn="l">
              <a:spcBef>
                <a:spcPts val="480"/>
              </a:spcBef>
              <a:spcAft>
                <a:spcPts val="0"/>
              </a:spcAft>
              <a:buClr>
                <a:schemeClr val="dk1"/>
              </a:buClr>
              <a:buSzPts val="2400"/>
              <a:buFont typeface="Arial"/>
              <a:buNone/>
            </a:pPr>
            <a:r>
              <a:rPr i="1" lang="en-US" sz="2400">
                <a:solidFill>
                  <a:schemeClr val="dk1"/>
                </a:solidFill>
                <a:latin typeface="Arial"/>
                <a:ea typeface="Arial"/>
                <a:cs typeface="Arial"/>
                <a:sym typeface="Arial"/>
              </a:rPr>
              <a:t>	    F</a:t>
            </a:r>
            <a:r>
              <a:rPr baseline="-25000" lang="en-US" sz="2400">
                <a:solidFill>
                  <a:schemeClr val="dk1"/>
                </a:solidFill>
                <a:latin typeface="Arial"/>
                <a:ea typeface="Arial"/>
                <a:cs typeface="Arial"/>
                <a:sym typeface="Arial"/>
              </a:rPr>
              <a:t>net</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 ma</a:t>
            </a:r>
            <a:r>
              <a:rPr lang="en-US" sz="2400">
                <a:solidFill>
                  <a:schemeClr val="dk1"/>
                </a:solidFill>
                <a:latin typeface="Arial"/>
                <a:ea typeface="Arial"/>
                <a:cs typeface="Arial"/>
                <a:sym typeface="Arial"/>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0.0008 	= 0.00025</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3.2 m s</a:t>
            </a:r>
            <a:r>
              <a:rPr baseline="30000" lang="en-US" sz="2400">
                <a:solidFill>
                  <a:schemeClr val="dk1"/>
                </a:solidFill>
                <a:latin typeface="Arial"/>
                <a:ea typeface="Arial"/>
                <a:cs typeface="Arial"/>
                <a:sym typeface="Arial"/>
              </a:rPr>
              <a:t>-2 </a:t>
            </a:r>
            <a:r>
              <a:rPr lang="en-US" sz="2400">
                <a:solidFill>
                  <a:schemeClr val="dk1"/>
                </a:solidFill>
                <a:latin typeface="Arial"/>
                <a:ea typeface="Arial"/>
                <a:cs typeface="Arial"/>
                <a:sym typeface="Arial"/>
              </a:rPr>
              <a:t>( </a:t>
            </a:r>
            <a:r>
              <a:rPr b="1" lang="en-US" sz="2400">
                <a:solidFill>
                  <a:schemeClr val="hlink"/>
                </a:solidFill>
                <a:latin typeface="Arial"/>
                <a:ea typeface="Arial"/>
                <a:cs typeface="Arial"/>
                <a:sym typeface="Arial"/>
              </a:rPr>
              <a:t>↑</a:t>
            </a:r>
            <a:r>
              <a:rPr lang="en-US" sz="2400">
                <a:solidFill>
                  <a:schemeClr val="dk1"/>
                </a:solidFill>
                <a:latin typeface="Arial"/>
                <a:ea typeface="Arial"/>
                <a:cs typeface="Arial"/>
                <a:sym typeface="Arial"/>
              </a:rPr>
              <a:t>).</a:t>
            </a:r>
            <a:endParaRPr/>
          </a:p>
        </p:txBody>
      </p:sp>
      <p:sp>
        <p:nvSpPr>
          <p:cNvPr id="865" name="Google Shape;865;p46"/>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D: Fields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D.2 – Electric fields (SL)</a:t>
            </a:r>
            <a:endParaRPr/>
          </a:p>
        </p:txBody>
      </p:sp>
      <p:sp>
        <p:nvSpPr>
          <p:cNvPr id="866" name="Google Shape;866;p46"/>
          <p:cNvSpPr/>
          <p:nvPr/>
        </p:nvSpPr>
        <p:spPr>
          <a:xfrm>
            <a:off x="685800" y="1549400"/>
            <a:ext cx="7772400" cy="45878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Electric field </a:t>
            </a:r>
            <a:r>
              <a:rPr lang="en-US" sz="2400">
                <a:solidFill>
                  <a:srgbClr val="333399"/>
                </a:solidFill>
                <a:latin typeface="Arial"/>
                <a:ea typeface="Arial"/>
                <a:cs typeface="Arial"/>
                <a:sym typeface="Arial"/>
              </a:rPr>
              <a:t>– between parallel plates</a:t>
            </a:r>
            <a:r>
              <a:rPr lang="en-US" sz="2400">
                <a:solidFill>
                  <a:srgbClr val="000000"/>
                </a:solidFill>
                <a:latin typeface="Arial"/>
                <a:ea typeface="Arial"/>
                <a:cs typeface="Arial"/>
                <a:sym typeface="Arial"/>
              </a:rPr>
              <a:t>	</a:t>
            </a:r>
            <a:endParaRPr/>
          </a:p>
        </p:txBody>
      </p:sp>
      <p:grpSp>
        <p:nvGrpSpPr>
          <p:cNvPr id="867" name="Google Shape;867;p46"/>
          <p:cNvGrpSpPr/>
          <p:nvPr/>
        </p:nvGrpSpPr>
        <p:grpSpPr>
          <a:xfrm>
            <a:off x="6364288" y="2030413"/>
            <a:ext cx="2760662" cy="1982787"/>
            <a:chOff x="4049" y="1279"/>
            <a:chExt cx="1739" cy="1249"/>
          </a:xfrm>
        </p:grpSpPr>
        <p:grpSp>
          <p:nvGrpSpPr>
            <p:cNvPr id="868" name="Google Shape;868;p46"/>
            <p:cNvGrpSpPr/>
            <p:nvPr/>
          </p:nvGrpSpPr>
          <p:grpSpPr>
            <a:xfrm>
              <a:off x="4049" y="1279"/>
              <a:ext cx="1739" cy="993"/>
              <a:chOff x="3186" y="1423"/>
              <a:chExt cx="2003" cy="1142"/>
            </a:xfrm>
          </p:grpSpPr>
          <p:pic>
            <p:nvPicPr>
              <p:cNvPr id="869" name="Google Shape;869;p46"/>
              <p:cNvPicPr preferRelativeResize="0"/>
              <p:nvPr/>
            </p:nvPicPr>
            <p:blipFill rotWithShape="1">
              <a:blip r:embed="rId3">
                <a:alphaModFix/>
              </a:blip>
              <a:srcRect b="0" l="0" r="0" t="0"/>
              <a:stretch/>
            </p:blipFill>
            <p:spPr>
              <a:xfrm flipH="1" rot="10800000">
                <a:off x="3186" y="1423"/>
                <a:ext cx="1528" cy="1142"/>
              </a:xfrm>
              <a:prstGeom prst="rect">
                <a:avLst/>
              </a:prstGeom>
              <a:noFill/>
              <a:ln>
                <a:noFill/>
              </a:ln>
            </p:spPr>
          </p:pic>
          <p:sp>
            <p:nvSpPr>
              <p:cNvPr id="870" name="Google Shape;870;p46"/>
              <p:cNvSpPr txBox="1"/>
              <p:nvPr/>
            </p:nvSpPr>
            <p:spPr>
              <a:xfrm>
                <a:off x="4078" y="2177"/>
                <a:ext cx="281" cy="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E</a:t>
                </a:r>
                <a:endParaRPr/>
              </a:p>
            </p:txBody>
          </p:sp>
          <p:sp>
            <p:nvSpPr>
              <p:cNvPr id="871" name="Google Shape;871;p46"/>
              <p:cNvSpPr/>
              <p:nvPr/>
            </p:nvSpPr>
            <p:spPr>
              <a:xfrm>
                <a:off x="4712" y="1789"/>
                <a:ext cx="173" cy="440"/>
              </a:xfrm>
              <a:prstGeom prst="rightBrace">
                <a:avLst>
                  <a:gd fmla="val 21195" name="adj1"/>
                  <a:gd fmla="val 50000" name="adj2"/>
                </a:avLst>
              </a:prstGeom>
              <a:noFill/>
              <a:ln cap="flat" cmpd="sng" w="190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872" name="Google Shape;872;p46"/>
              <p:cNvSpPr txBox="1"/>
              <p:nvPr/>
            </p:nvSpPr>
            <p:spPr>
              <a:xfrm rot="-5400000">
                <a:off x="4558" y="1768"/>
                <a:ext cx="931" cy="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0.025 m</a:t>
                </a:r>
                <a:endParaRPr/>
              </a:p>
            </p:txBody>
          </p:sp>
        </p:grpSp>
        <p:sp>
          <p:nvSpPr>
            <p:cNvPr id="873" name="Google Shape;873;p46"/>
            <p:cNvSpPr txBox="1"/>
            <p:nvPr/>
          </p:nvSpPr>
          <p:spPr>
            <a:xfrm>
              <a:off x="4592" y="2240"/>
              <a:ext cx="228"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A</a:t>
              </a:r>
              <a:endParaRPr/>
            </a:p>
          </p:txBody>
        </p:sp>
        <p:sp>
          <p:nvSpPr>
            <p:cNvPr id="874" name="Google Shape;874;p46"/>
            <p:cNvSpPr/>
            <p:nvPr/>
          </p:nvSpPr>
          <p:spPr>
            <a:xfrm>
              <a:off x="4661" y="2168"/>
              <a:ext cx="83" cy="83"/>
            </a:xfrm>
            <a:prstGeom prst="ellipse">
              <a:avLst/>
            </a:prstGeom>
            <a:gradFill>
              <a:gsLst>
                <a:gs pos="0">
                  <a:srgbClr val="FF9999"/>
                </a:gs>
                <a:gs pos="100000">
                  <a:srgbClr val="764747"/>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47"/>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Electric Potential</a:t>
            </a:r>
            <a:endParaRPr sz="2400">
              <a:solidFill>
                <a:schemeClr val="dk1"/>
              </a:solidFill>
              <a:latin typeface="Arial"/>
              <a:ea typeface="Arial"/>
              <a:cs typeface="Arial"/>
              <a:sym typeface="Arial"/>
            </a:endParaRPr>
          </a:p>
          <a:p>
            <a:pPr indent="0" lvl="0" marL="0" marR="0" rtl="0" algn="l">
              <a:spcBef>
                <a:spcPts val="0"/>
              </a:spcBef>
              <a:spcAft>
                <a:spcPts val="0"/>
              </a:spcAft>
              <a:buClr>
                <a:srgbClr val="000000"/>
              </a:buClr>
              <a:buSzPts val="2400"/>
              <a:buFont typeface="Arial"/>
              <a:buNone/>
            </a:pPr>
            <a:r>
              <a:rPr lang="en-US" sz="2400">
                <a:solidFill>
                  <a:srgbClr val="000000"/>
                </a:solidFill>
                <a:latin typeface="Arial"/>
                <a:ea typeface="Arial"/>
                <a:cs typeface="Arial"/>
                <a:sym typeface="Arial"/>
              </a:rPr>
              <a:t>∙Because electric charges experience the electric force, when one charge is moved in the vicinity of another, work </a:t>
            </a:r>
            <a:r>
              <a:rPr i="1" lang="en-US" sz="2400">
                <a:solidFill>
                  <a:srgbClr val="000000"/>
                </a:solidFill>
                <a:latin typeface="Arial"/>
                <a:ea typeface="Arial"/>
                <a:cs typeface="Arial"/>
                <a:sym typeface="Arial"/>
              </a:rPr>
              <a:t>W</a:t>
            </a:r>
            <a:r>
              <a:rPr lang="en-US" sz="2400">
                <a:solidFill>
                  <a:srgbClr val="000000"/>
                </a:solidFill>
                <a:latin typeface="Arial"/>
                <a:ea typeface="Arial"/>
                <a:cs typeface="Arial"/>
                <a:sym typeface="Arial"/>
              </a:rPr>
              <a:t> is done (recall that work is a force times a displacement).</a:t>
            </a:r>
            <a:endParaRPr/>
          </a:p>
          <a:p>
            <a:pPr indent="0" lvl="0" marL="0" marR="0" rtl="0" algn="l">
              <a:spcBef>
                <a:spcPts val="480"/>
              </a:spcBef>
              <a:spcAft>
                <a:spcPts val="0"/>
              </a:spcAft>
              <a:buClr>
                <a:srgbClr val="000000"/>
              </a:buClr>
              <a:buSzPts val="2400"/>
              <a:buFont typeface="Arial"/>
              <a:buNone/>
            </a:pPr>
            <a:r>
              <a:rPr lang="en-US" sz="2400">
                <a:solidFill>
                  <a:srgbClr val="000000"/>
                </a:solidFill>
                <a:latin typeface="Arial"/>
                <a:ea typeface="Arial"/>
                <a:cs typeface="Arial"/>
                <a:sym typeface="Arial"/>
              </a:rPr>
              <a:t>∙We define the                                                         </a:t>
            </a:r>
            <a:r>
              <a:rPr b="1" lang="en-US" sz="2400">
                <a:solidFill>
                  <a:srgbClr val="000000"/>
                </a:solidFill>
                <a:latin typeface="Arial"/>
                <a:ea typeface="Arial"/>
                <a:cs typeface="Arial"/>
                <a:sym typeface="Arial"/>
              </a:rPr>
              <a:t>electric</a:t>
            </a:r>
            <a:r>
              <a:rPr lang="en-US" sz="2400">
                <a:solidFill>
                  <a:srgbClr val="000000"/>
                </a:solidFill>
                <a:latin typeface="Arial"/>
                <a:ea typeface="Arial"/>
                <a:cs typeface="Arial"/>
                <a:sym typeface="Arial"/>
              </a:rPr>
              <a:t> </a:t>
            </a:r>
            <a:r>
              <a:rPr b="1" lang="en-US" sz="2400">
                <a:solidFill>
                  <a:srgbClr val="000000"/>
                </a:solidFill>
                <a:latin typeface="Arial"/>
                <a:ea typeface="Arial"/>
                <a:cs typeface="Arial"/>
                <a:sym typeface="Arial"/>
              </a:rPr>
              <a:t>potential </a:t>
            </a:r>
            <a:r>
              <a:rPr i="1" lang="en-US" sz="2400">
                <a:solidFill>
                  <a:srgbClr val="000000"/>
                </a:solidFill>
                <a:latin typeface="Arial"/>
                <a:ea typeface="Arial"/>
                <a:cs typeface="Arial"/>
                <a:sym typeface="Arial"/>
              </a:rPr>
              <a:t>V</a:t>
            </a:r>
            <a:r>
              <a:rPr b="1" lang="en-US" sz="2400">
                <a:solidFill>
                  <a:srgbClr val="000000"/>
                </a:solidFill>
                <a:latin typeface="Arial"/>
                <a:ea typeface="Arial"/>
                <a:cs typeface="Arial"/>
                <a:sym typeface="Arial"/>
              </a:rPr>
              <a:t>					           </a:t>
            </a:r>
            <a:r>
              <a:rPr lang="en-US" sz="2400">
                <a:solidFill>
                  <a:schemeClr val="dk1"/>
                </a:solidFill>
                <a:latin typeface="Arial"/>
                <a:ea typeface="Arial"/>
                <a:cs typeface="Arial"/>
                <a:sym typeface="Arial"/>
              </a:rPr>
              <a:t>as the amount of 					  </a:t>
            </a:r>
            <a:r>
              <a:rPr b="1" lang="en-US" sz="2400">
                <a:solidFill>
                  <a:schemeClr val="dk1"/>
                </a:solidFill>
                <a:latin typeface="Arial"/>
                <a:ea typeface="Arial"/>
                <a:cs typeface="Arial"/>
                <a:sym typeface="Arial"/>
              </a:rPr>
              <a:t>electric potential</a:t>
            </a:r>
            <a:r>
              <a:rPr lang="en-US" sz="2400">
                <a:solidFill>
                  <a:schemeClr val="dk1"/>
                </a:solidFill>
                <a:latin typeface="Arial"/>
                <a:ea typeface="Arial"/>
                <a:cs typeface="Arial"/>
                <a:sym typeface="Arial"/>
              </a:rPr>
              <a:t> 					    </a:t>
            </a:r>
            <a:r>
              <a:rPr b="1" lang="en-US" sz="2400">
                <a:solidFill>
                  <a:schemeClr val="dk1"/>
                </a:solidFill>
                <a:latin typeface="Arial"/>
                <a:ea typeface="Arial"/>
                <a:cs typeface="Arial"/>
                <a:sym typeface="Arial"/>
              </a:rPr>
              <a:t>energy</a:t>
            </a:r>
            <a:r>
              <a:rPr lang="en-US" sz="2400">
                <a:solidFill>
                  <a:schemeClr val="dk1"/>
                </a:solidFill>
                <a:latin typeface="Arial"/>
                <a:ea typeface="Arial"/>
                <a:cs typeface="Arial"/>
                <a:sym typeface="Arial"/>
              </a:rPr>
              <a:t> that a </a:t>
            </a:r>
            <a:r>
              <a:rPr b="1" lang="en-US" sz="2400">
                <a:solidFill>
                  <a:schemeClr val="dk1"/>
                </a:solidFill>
                <a:latin typeface="Arial"/>
                <a:ea typeface="Arial"/>
                <a:cs typeface="Arial"/>
                <a:sym typeface="Arial"/>
              </a:rPr>
              <a:t>unitary point electric charge </a:t>
            </a:r>
            <a:r>
              <a:rPr lang="en-US" sz="2400">
                <a:solidFill>
                  <a:schemeClr val="dk1"/>
                </a:solidFill>
                <a:latin typeface="Arial"/>
                <a:ea typeface="Arial"/>
                <a:cs typeface="Arial"/>
                <a:sym typeface="Arial"/>
              </a:rPr>
              <a:t>would have if located at any point in space (e.g. at point </a:t>
            </a:r>
            <a:r>
              <a:rPr i="1" lang="en-US" sz="2400">
                <a:solidFill>
                  <a:schemeClr val="dk1"/>
                </a:solidFill>
                <a:latin typeface="Arial"/>
                <a:ea typeface="Arial"/>
                <a:cs typeface="Arial"/>
                <a:sym typeface="Arial"/>
              </a:rPr>
              <a:t>A)</a:t>
            </a:r>
            <a:endParaRPr/>
          </a:p>
          <a:p>
            <a:pPr indent="0" lvl="0" marL="0" marR="0" rtl="0" algn="l">
              <a:spcBef>
                <a:spcPts val="480"/>
              </a:spcBef>
              <a:spcAft>
                <a:spcPts val="0"/>
              </a:spcAft>
              <a:buClr>
                <a:srgbClr val="000000"/>
              </a:buClr>
              <a:buSzPts val="2400"/>
              <a:buFont typeface="Arial"/>
              <a:buNone/>
            </a:pPr>
            <a:r>
              <a:rPr lang="en-US" sz="2400">
                <a:solidFill>
                  <a:srgbClr val="000000"/>
                </a:solidFill>
                <a:latin typeface="Arial"/>
                <a:ea typeface="Arial"/>
                <a:cs typeface="Arial"/>
                <a:sym typeface="Arial"/>
              </a:rPr>
              <a:t>∙ It </a:t>
            </a:r>
            <a:r>
              <a:rPr lang="en-US" sz="2400">
                <a:solidFill>
                  <a:schemeClr val="dk1"/>
                </a:solidFill>
                <a:latin typeface="Arial"/>
                <a:ea typeface="Arial"/>
                <a:cs typeface="Arial"/>
                <a:sym typeface="Arial"/>
              </a:rPr>
              <a:t>is equal to the work done by an </a:t>
            </a:r>
            <a:r>
              <a:rPr b="1" lang="en-US" sz="2400">
                <a:solidFill>
                  <a:schemeClr val="dk1"/>
                </a:solidFill>
                <a:latin typeface="Arial"/>
                <a:ea typeface="Arial"/>
                <a:cs typeface="Arial"/>
                <a:sym typeface="Arial"/>
              </a:rPr>
              <a:t>electric</a:t>
            </a:r>
            <a:r>
              <a:rPr lang="en-US" sz="2400">
                <a:solidFill>
                  <a:schemeClr val="dk1"/>
                </a:solidFill>
                <a:latin typeface="Arial"/>
                <a:ea typeface="Arial"/>
                <a:cs typeface="Arial"/>
                <a:sym typeface="Arial"/>
              </a:rPr>
              <a:t> field in carrying a unit positive charge to a location from infinity.</a:t>
            </a:r>
            <a:endParaRPr/>
          </a:p>
        </p:txBody>
      </p:sp>
      <p:sp>
        <p:nvSpPr>
          <p:cNvPr id="880" name="Google Shape;880;p47"/>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D: Fields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D.2 – Electric fields (SL)</a:t>
            </a:r>
            <a:endParaRPr/>
          </a:p>
        </p:txBody>
      </p:sp>
      <p:sp>
        <p:nvSpPr>
          <p:cNvPr id="881" name="Google Shape;881;p47"/>
          <p:cNvSpPr/>
          <p:nvPr/>
        </p:nvSpPr>
        <p:spPr>
          <a:xfrm>
            <a:off x="3847682" y="3172848"/>
            <a:ext cx="1760537" cy="1760537"/>
          </a:xfrm>
          <a:prstGeom prst="ellipse">
            <a:avLst/>
          </a:prstGeom>
          <a:gradFill>
            <a:gsLst>
              <a:gs pos="0">
                <a:srgbClr val="FF9999"/>
              </a:gs>
              <a:gs pos="100000">
                <a:srgbClr val="764747"/>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882" name="Google Shape;882;p47"/>
          <p:cNvSpPr txBox="1"/>
          <p:nvPr/>
        </p:nvSpPr>
        <p:spPr>
          <a:xfrm>
            <a:off x="4506494" y="3495110"/>
            <a:ext cx="4206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Q</a:t>
            </a:r>
            <a:endParaRPr/>
          </a:p>
        </p:txBody>
      </p:sp>
      <p:cxnSp>
        <p:nvCxnSpPr>
          <p:cNvPr id="883" name="Google Shape;883;p47"/>
          <p:cNvCxnSpPr/>
          <p:nvPr/>
        </p:nvCxnSpPr>
        <p:spPr>
          <a:xfrm>
            <a:off x="4722394" y="4041210"/>
            <a:ext cx="4354513" cy="0"/>
          </a:xfrm>
          <a:prstGeom prst="straightConnector1">
            <a:avLst/>
          </a:prstGeom>
          <a:noFill/>
          <a:ln cap="flat" cmpd="sng" w="28575">
            <a:solidFill>
              <a:srgbClr val="FF0000"/>
            </a:solidFill>
            <a:prstDash val="dash"/>
            <a:round/>
            <a:headEnd len="med" w="med" type="none"/>
            <a:tailEnd len="med" w="med" type="stealth"/>
          </a:ln>
        </p:spPr>
      </p:cxnSp>
      <p:grpSp>
        <p:nvGrpSpPr>
          <p:cNvPr id="884" name="Google Shape;884;p47"/>
          <p:cNvGrpSpPr/>
          <p:nvPr/>
        </p:nvGrpSpPr>
        <p:grpSpPr>
          <a:xfrm>
            <a:off x="4563644" y="3895160"/>
            <a:ext cx="347663" cy="333375"/>
            <a:chOff x="1344" y="2331"/>
            <a:chExt cx="219" cy="210"/>
          </a:xfrm>
        </p:grpSpPr>
        <p:cxnSp>
          <p:nvCxnSpPr>
            <p:cNvPr id="885" name="Google Shape;885;p47"/>
            <p:cNvCxnSpPr/>
            <p:nvPr/>
          </p:nvCxnSpPr>
          <p:spPr>
            <a:xfrm>
              <a:off x="1344" y="2423"/>
              <a:ext cx="219" cy="0"/>
            </a:xfrm>
            <a:prstGeom prst="straightConnector1">
              <a:avLst/>
            </a:prstGeom>
            <a:noFill/>
            <a:ln cap="flat" cmpd="sng" w="9525">
              <a:solidFill>
                <a:schemeClr val="dk1"/>
              </a:solidFill>
              <a:prstDash val="solid"/>
              <a:round/>
              <a:headEnd len="med" w="med" type="none"/>
              <a:tailEnd len="med" w="med" type="none"/>
            </a:ln>
          </p:spPr>
        </p:cxnSp>
        <p:cxnSp>
          <p:nvCxnSpPr>
            <p:cNvPr id="886" name="Google Shape;886;p47"/>
            <p:cNvCxnSpPr/>
            <p:nvPr/>
          </p:nvCxnSpPr>
          <p:spPr>
            <a:xfrm>
              <a:off x="1445" y="2331"/>
              <a:ext cx="0" cy="210"/>
            </a:xfrm>
            <a:prstGeom prst="straightConnector1">
              <a:avLst/>
            </a:prstGeom>
            <a:noFill/>
            <a:ln cap="flat" cmpd="sng" w="9525">
              <a:solidFill>
                <a:schemeClr val="dk1"/>
              </a:solidFill>
              <a:prstDash val="solid"/>
              <a:round/>
              <a:headEnd len="med" w="med" type="none"/>
              <a:tailEnd len="med" w="med" type="none"/>
            </a:ln>
          </p:spPr>
        </p:cxnSp>
      </p:grpSp>
      <p:sp>
        <p:nvSpPr>
          <p:cNvPr id="887" name="Google Shape;887;p47"/>
          <p:cNvSpPr txBox="1"/>
          <p:nvPr/>
        </p:nvSpPr>
        <p:spPr>
          <a:xfrm>
            <a:off x="6163844" y="4106298"/>
            <a:ext cx="3873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A</a:t>
            </a:r>
            <a:endParaRPr/>
          </a:p>
        </p:txBody>
      </p:sp>
      <p:sp>
        <p:nvSpPr>
          <p:cNvPr id="888" name="Google Shape;888;p47"/>
          <p:cNvSpPr txBox="1"/>
          <p:nvPr/>
        </p:nvSpPr>
        <p:spPr>
          <a:xfrm>
            <a:off x="8672629" y="4053116"/>
            <a:ext cx="40427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9">
                                            <p:txEl>
                                              <p:pRg end="0" st="0"/>
                                            </p:txEl>
                                          </p:spTgt>
                                        </p:tgtEl>
                                        <p:attrNameLst>
                                          <p:attrName>style.visibility</p:attrName>
                                        </p:attrNameLst>
                                      </p:cBhvr>
                                      <p:to>
                                        <p:strVal val="visible"/>
                                      </p:to>
                                    </p:set>
                                    <p:anim calcmode="lin" valueType="num">
                                      <p:cBhvr additive="base">
                                        <p:cTn dur="500"/>
                                        <p:tgtEl>
                                          <p:spTgt spid="87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9">
                                            <p:txEl>
                                              <p:pRg end="1" st="1"/>
                                            </p:txEl>
                                          </p:spTgt>
                                        </p:tgtEl>
                                        <p:attrNameLst>
                                          <p:attrName>style.visibility</p:attrName>
                                        </p:attrNameLst>
                                      </p:cBhvr>
                                      <p:to>
                                        <p:strVal val="visible"/>
                                      </p:to>
                                    </p:set>
                                    <p:anim calcmode="lin" valueType="num">
                                      <p:cBhvr additive="base">
                                        <p:cTn dur="500"/>
                                        <p:tgtEl>
                                          <p:spTgt spid="87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9">
                                            <p:txEl>
                                              <p:pRg end="2" st="2"/>
                                            </p:txEl>
                                          </p:spTgt>
                                        </p:tgtEl>
                                        <p:attrNameLst>
                                          <p:attrName>style.visibility</p:attrName>
                                        </p:attrNameLst>
                                      </p:cBhvr>
                                      <p:to>
                                        <p:strVal val="visible"/>
                                      </p:to>
                                    </p:set>
                                    <p:anim calcmode="lin" valueType="num">
                                      <p:cBhvr additive="base">
                                        <p:cTn dur="500"/>
                                        <p:tgtEl>
                                          <p:spTgt spid="87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9">
                                            <p:txEl>
                                              <p:pRg end="3" st="3"/>
                                            </p:txEl>
                                          </p:spTgt>
                                        </p:tgtEl>
                                        <p:attrNameLst>
                                          <p:attrName>style.visibility</p:attrName>
                                        </p:attrNameLst>
                                      </p:cBhvr>
                                      <p:to>
                                        <p:strVal val="visible"/>
                                      </p:to>
                                    </p:set>
                                    <p:anim calcmode="lin" valueType="num">
                                      <p:cBhvr additive="base">
                                        <p:cTn dur="500"/>
                                        <p:tgtEl>
                                          <p:spTgt spid="87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1"/>
                                        </p:tgtEl>
                                        <p:attrNameLst>
                                          <p:attrName>style.visibility</p:attrName>
                                        </p:attrNameLst>
                                      </p:cBhvr>
                                      <p:to>
                                        <p:strVal val="visible"/>
                                      </p:to>
                                    </p:set>
                                    <p:animEffect filter="fade" transition="in">
                                      <p:cBhvr>
                                        <p:cTn dur="500"/>
                                        <p:tgtEl>
                                          <p:spTgt spid="881"/>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882"/>
                                        </p:tgtEl>
                                        <p:attrNameLst>
                                          <p:attrName>style.visibility</p:attrName>
                                        </p:attrNameLst>
                                      </p:cBhvr>
                                      <p:to>
                                        <p:strVal val="visible"/>
                                      </p:to>
                                    </p:set>
                                    <p:anim calcmode="lin" valueType="num">
                                      <p:cBhvr additive="base">
                                        <p:cTn dur="500"/>
                                        <p:tgtEl>
                                          <p:spTgt spid="882"/>
                                        </p:tgtEl>
                                        <p:attrNameLst>
                                          <p:attrName>ppt_w</p:attrName>
                                        </p:attrNameLst>
                                      </p:cBhvr>
                                      <p:tavLst>
                                        <p:tav fmla="" tm="0">
                                          <p:val>
                                            <p:strVal val="0"/>
                                          </p:val>
                                        </p:tav>
                                        <p:tav fmla="" tm="100000">
                                          <p:val>
                                            <p:strVal val="#ppt_w"/>
                                          </p:val>
                                        </p:tav>
                                      </p:tavLst>
                                    </p:anim>
                                    <p:anim calcmode="lin" valueType="num">
                                      <p:cBhvr additive="base">
                                        <p:cTn dur="500"/>
                                        <p:tgtEl>
                                          <p:spTgt spid="88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4"/>
                                        </p:tgtEl>
                                        <p:attrNameLst>
                                          <p:attrName>style.visibility</p:attrName>
                                        </p:attrNameLst>
                                      </p:cBhvr>
                                      <p:to>
                                        <p:strVal val="visible"/>
                                      </p:to>
                                    </p:set>
                                    <p:anim calcmode="lin" valueType="num">
                                      <p:cBhvr additive="base">
                                        <p:cTn dur="500"/>
                                        <p:tgtEl>
                                          <p:spTgt spid="884"/>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883"/>
                                        </p:tgtEl>
                                        <p:attrNameLst>
                                          <p:attrName>style.visibility</p:attrName>
                                        </p:attrNameLst>
                                      </p:cBhvr>
                                      <p:to>
                                        <p:strVal val="visible"/>
                                      </p:to>
                                    </p:set>
                                    <p:animEffect filter="fade" transition="in">
                                      <p:cBhvr>
                                        <p:cTn dur="500"/>
                                        <p:tgtEl>
                                          <p:spTgt spid="8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87"/>
                                        </p:tgtEl>
                                        <p:attrNameLst>
                                          <p:attrName>style.visibility</p:attrName>
                                        </p:attrNameLst>
                                      </p:cBhvr>
                                      <p:to>
                                        <p:strVal val="visible"/>
                                      </p:to>
                                    </p:set>
                                    <p:anim calcmode="lin" valueType="num">
                                      <p:cBhvr additive="base">
                                        <p:cTn dur="500"/>
                                        <p:tgtEl>
                                          <p:spTgt spid="887"/>
                                        </p:tgtEl>
                                        <p:attrNameLst>
                                          <p:attrName>ppt_w</p:attrName>
                                        </p:attrNameLst>
                                      </p:cBhvr>
                                      <p:tavLst>
                                        <p:tav fmla="" tm="0">
                                          <p:val>
                                            <p:strVal val="0"/>
                                          </p:val>
                                        </p:tav>
                                        <p:tav fmla="" tm="100000">
                                          <p:val>
                                            <p:strVal val="#ppt_w"/>
                                          </p:val>
                                        </p:tav>
                                      </p:tavLst>
                                    </p:anim>
                                    <p:anim calcmode="lin" valueType="num">
                                      <p:cBhvr additive="base">
                                        <p:cTn dur="500"/>
                                        <p:tgtEl>
                                          <p:spTgt spid="88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88"/>
                                        </p:tgtEl>
                                        <p:attrNameLst>
                                          <p:attrName>style.visibility</p:attrName>
                                        </p:attrNameLst>
                                      </p:cBhvr>
                                      <p:to>
                                        <p:strVal val="visible"/>
                                      </p:to>
                                    </p:set>
                                    <p:anim calcmode="lin" valueType="num">
                                      <p:cBhvr additive="base">
                                        <p:cTn dur="500"/>
                                        <p:tgtEl>
                                          <p:spTgt spid="888"/>
                                        </p:tgtEl>
                                        <p:attrNameLst>
                                          <p:attrName>ppt_w</p:attrName>
                                        </p:attrNameLst>
                                      </p:cBhvr>
                                      <p:tavLst>
                                        <p:tav fmla="" tm="0">
                                          <p:val>
                                            <p:strVal val="0"/>
                                          </p:val>
                                        </p:tav>
                                        <p:tav fmla="" tm="100000">
                                          <p:val>
                                            <p:strVal val="#ppt_w"/>
                                          </p:val>
                                        </p:tav>
                                      </p:tavLst>
                                    </p:anim>
                                    <p:anim calcmode="lin" valueType="num">
                                      <p:cBhvr additive="base">
                                        <p:cTn dur="500"/>
                                        <p:tgtEl>
                                          <p:spTgt spid="88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48"/>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Electric Potential</a:t>
            </a:r>
            <a:endParaRPr sz="2400">
              <a:solidFill>
                <a:schemeClr val="dk1"/>
              </a:solidFill>
              <a:latin typeface="Arial"/>
              <a:ea typeface="Arial"/>
              <a:cs typeface="Arial"/>
              <a:sym typeface="Arial"/>
            </a:endParaRPr>
          </a:p>
          <a:p>
            <a:pPr indent="-342900" lvl="0" marL="342900" marR="0" rtl="0" algn="l">
              <a:spcBef>
                <a:spcPts val="0"/>
              </a:spcBef>
              <a:spcAft>
                <a:spcPts val="0"/>
              </a:spcAft>
              <a:buClr>
                <a:srgbClr val="000000"/>
              </a:buClr>
              <a:buSzPts val="2400"/>
              <a:buFont typeface="Noto Sans Symbols"/>
              <a:buChar char="∙"/>
            </a:pPr>
            <a:r>
              <a:rPr lang="en-US" sz="2400">
                <a:solidFill>
                  <a:srgbClr val="000000"/>
                </a:solidFill>
                <a:latin typeface="Arial"/>
                <a:ea typeface="Arial"/>
                <a:cs typeface="Arial"/>
                <a:sym typeface="Arial"/>
              </a:rPr>
              <a:t>The </a:t>
            </a:r>
            <a:r>
              <a:rPr b="1" lang="en-US" sz="2400">
                <a:solidFill>
                  <a:srgbClr val="000000"/>
                </a:solidFill>
                <a:latin typeface="Arial"/>
                <a:ea typeface="Arial"/>
                <a:cs typeface="Arial"/>
                <a:sym typeface="Arial"/>
              </a:rPr>
              <a:t>higher the concentration of positive</a:t>
            </a:r>
            <a:r>
              <a:rPr lang="en-US" sz="2400">
                <a:solidFill>
                  <a:srgbClr val="000000"/>
                </a:solidFill>
                <a:latin typeface="Arial"/>
                <a:ea typeface="Arial"/>
                <a:cs typeface="Arial"/>
                <a:sym typeface="Arial"/>
              </a:rPr>
              <a:t> (+) charge in an area, the </a:t>
            </a:r>
            <a:r>
              <a:rPr b="1" lang="en-US" sz="2400">
                <a:solidFill>
                  <a:srgbClr val="000000"/>
                </a:solidFill>
                <a:latin typeface="Arial"/>
                <a:ea typeface="Arial"/>
                <a:cs typeface="Arial"/>
                <a:sym typeface="Arial"/>
              </a:rPr>
              <a:t>higher the electric potential</a:t>
            </a:r>
            <a:r>
              <a:rPr lang="en-US" sz="2400">
                <a:solidFill>
                  <a:srgbClr val="000000"/>
                </a:solidFill>
                <a:latin typeface="Arial"/>
                <a:ea typeface="Arial"/>
                <a:cs typeface="Arial"/>
                <a:sym typeface="Arial"/>
              </a:rPr>
              <a:t> is in that area </a:t>
            </a:r>
            <a:endParaRPr/>
          </a:p>
          <a:p>
            <a:pPr indent="-342900" lvl="0" marL="342900" marR="0" rtl="0" algn="l">
              <a:spcBef>
                <a:spcPts val="0"/>
              </a:spcBef>
              <a:spcAft>
                <a:spcPts val="0"/>
              </a:spcAft>
              <a:buClr>
                <a:srgbClr val="000000"/>
              </a:buClr>
              <a:buSzPts val="2400"/>
              <a:buFont typeface="Noto Sans Symbols"/>
              <a:buChar char="∙"/>
            </a:pPr>
            <a:r>
              <a:rPr lang="en-US" sz="2400">
                <a:solidFill>
                  <a:srgbClr val="000000"/>
                </a:solidFill>
                <a:latin typeface="Arial"/>
                <a:ea typeface="Arial"/>
                <a:cs typeface="Arial"/>
                <a:sym typeface="Arial"/>
              </a:rPr>
              <a:t>Likewise, the </a:t>
            </a:r>
            <a:r>
              <a:rPr b="1" lang="en-US" sz="2400">
                <a:solidFill>
                  <a:srgbClr val="000000"/>
                </a:solidFill>
                <a:latin typeface="Arial"/>
                <a:ea typeface="Arial"/>
                <a:cs typeface="Arial"/>
                <a:sym typeface="Arial"/>
              </a:rPr>
              <a:t>higher the concentration of negative </a:t>
            </a:r>
            <a:r>
              <a:rPr lang="en-US" sz="2400">
                <a:solidFill>
                  <a:srgbClr val="000000"/>
                </a:solidFill>
                <a:latin typeface="Arial"/>
                <a:ea typeface="Arial"/>
                <a:cs typeface="Arial"/>
                <a:sym typeface="Arial"/>
              </a:rPr>
              <a:t>(-) charge in an area, the </a:t>
            </a:r>
            <a:r>
              <a:rPr b="1" lang="en-US" sz="2400">
                <a:solidFill>
                  <a:srgbClr val="000000"/>
                </a:solidFill>
                <a:latin typeface="Arial"/>
                <a:ea typeface="Arial"/>
                <a:cs typeface="Arial"/>
                <a:sym typeface="Arial"/>
              </a:rPr>
              <a:t>lower the electric potential</a:t>
            </a:r>
            <a:r>
              <a:rPr lang="en-US" sz="2400">
                <a:solidFill>
                  <a:srgbClr val="000000"/>
                </a:solidFill>
                <a:latin typeface="Arial"/>
                <a:ea typeface="Arial"/>
                <a:cs typeface="Arial"/>
                <a:sym typeface="Arial"/>
              </a:rPr>
              <a:t> is in that area.</a:t>
            </a:r>
            <a:endParaRPr/>
          </a:p>
          <a:p>
            <a:pPr indent="-190500" lvl="0" marL="342900" marR="0" rtl="0" algn="l">
              <a:spcBef>
                <a:spcPts val="0"/>
              </a:spcBef>
              <a:spcAft>
                <a:spcPts val="0"/>
              </a:spcAft>
              <a:buClr>
                <a:schemeClr val="dk1"/>
              </a:buClr>
              <a:buSzPts val="2400"/>
              <a:buFont typeface="Noto Sans Symbols"/>
              <a:buNone/>
            </a:pPr>
            <a:r>
              <a:t/>
            </a:r>
            <a:endParaRPr sz="2400">
              <a:solidFill>
                <a:srgbClr val="000000"/>
              </a:solidFill>
              <a:latin typeface="Arial"/>
              <a:ea typeface="Arial"/>
              <a:cs typeface="Arial"/>
              <a:sym typeface="Arial"/>
            </a:endParaRPr>
          </a:p>
          <a:p>
            <a:pPr indent="-190500" lvl="0" marL="342900" marR="0" rtl="0" algn="l">
              <a:spcBef>
                <a:spcPts val="0"/>
              </a:spcBef>
              <a:spcAft>
                <a:spcPts val="0"/>
              </a:spcAft>
              <a:buClr>
                <a:schemeClr val="dk1"/>
              </a:buClr>
              <a:buSzPts val="2400"/>
              <a:buFont typeface="Noto Sans Symbols"/>
              <a:buNone/>
            </a:pPr>
            <a:r>
              <a:t/>
            </a:r>
            <a:endParaRPr sz="2400">
              <a:solidFill>
                <a:srgbClr val="000000"/>
              </a:solidFill>
              <a:latin typeface="Arial"/>
              <a:ea typeface="Arial"/>
              <a:cs typeface="Arial"/>
              <a:sym typeface="Arial"/>
            </a:endParaRPr>
          </a:p>
          <a:p>
            <a:pPr indent="-190500" lvl="0" marL="342900" marR="0" rtl="0" algn="l">
              <a:spcBef>
                <a:spcPts val="0"/>
              </a:spcBef>
              <a:spcAft>
                <a:spcPts val="0"/>
              </a:spcAft>
              <a:buClr>
                <a:schemeClr val="dk1"/>
              </a:buClr>
              <a:buSzPts val="2400"/>
              <a:buFont typeface="Noto Sans Symbols"/>
              <a:buNone/>
            </a:pPr>
            <a:r>
              <a:t/>
            </a:r>
            <a:endParaRPr sz="2400">
              <a:solidFill>
                <a:srgbClr val="000000"/>
              </a:solidFill>
              <a:latin typeface="Arial"/>
              <a:ea typeface="Arial"/>
              <a:cs typeface="Arial"/>
              <a:sym typeface="Arial"/>
            </a:endParaRPr>
          </a:p>
          <a:p>
            <a:pPr indent="-190500" lvl="0" marL="342900" marR="0" rtl="0" algn="l">
              <a:spcBef>
                <a:spcPts val="0"/>
              </a:spcBef>
              <a:spcAft>
                <a:spcPts val="0"/>
              </a:spcAft>
              <a:buClr>
                <a:schemeClr val="dk1"/>
              </a:buClr>
              <a:buSzPts val="2400"/>
              <a:buFont typeface="Noto Sans Symbols"/>
              <a:buNone/>
            </a:pPr>
            <a:r>
              <a:t/>
            </a:r>
            <a:endParaRPr sz="2400">
              <a:solidFill>
                <a:srgbClr val="000000"/>
              </a:solidFill>
              <a:latin typeface="Arial"/>
              <a:ea typeface="Arial"/>
              <a:cs typeface="Arial"/>
              <a:sym typeface="Arial"/>
            </a:endParaRPr>
          </a:p>
          <a:p>
            <a:pPr indent="-190500" lvl="0" marL="342900" marR="0" rtl="0" algn="l">
              <a:spcBef>
                <a:spcPts val="0"/>
              </a:spcBef>
              <a:spcAft>
                <a:spcPts val="0"/>
              </a:spcAft>
              <a:buClr>
                <a:schemeClr val="dk1"/>
              </a:buClr>
              <a:buSzPts val="2400"/>
              <a:buFont typeface="Noto Sans Symbols"/>
              <a:buNone/>
            </a:pPr>
            <a:r>
              <a:t/>
            </a:r>
            <a:endParaRPr sz="2400">
              <a:solidFill>
                <a:srgbClr val="000000"/>
              </a:solidFill>
              <a:latin typeface="Arial"/>
              <a:ea typeface="Arial"/>
              <a:cs typeface="Arial"/>
              <a:sym typeface="Arial"/>
            </a:endParaRPr>
          </a:p>
          <a:p>
            <a:pPr indent="-342900" lvl="0" marL="342900" marR="0" rtl="0" algn="l">
              <a:spcBef>
                <a:spcPts val="0"/>
              </a:spcBef>
              <a:spcAft>
                <a:spcPts val="0"/>
              </a:spcAft>
              <a:buClr>
                <a:srgbClr val="000000"/>
              </a:buClr>
              <a:buSzPts val="2400"/>
              <a:buFont typeface="Noto Sans Symbols"/>
              <a:buChar char="∙"/>
            </a:pPr>
            <a:r>
              <a:rPr lang="en-US" sz="2400">
                <a:solidFill>
                  <a:srgbClr val="000000"/>
                </a:solidFill>
                <a:latin typeface="Arial"/>
                <a:ea typeface="Arial"/>
                <a:cs typeface="Arial"/>
                <a:sym typeface="Arial"/>
              </a:rPr>
              <a:t>Note: </a:t>
            </a:r>
            <a:r>
              <a:rPr b="1" lang="en-US" sz="2400">
                <a:solidFill>
                  <a:srgbClr val="000000"/>
                </a:solidFill>
                <a:latin typeface="Arial"/>
                <a:ea typeface="Arial"/>
                <a:cs typeface="Arial"/>
                <a:sym typeface="Arial"/>
              </a:rPr>
              <a:t>Electric potential </a:t>
            </a:r>
            <a:r>
              <a:rPr lang="en-US" sz="2400">
                <a:solidFill>
                  <a:srgbClr val="000000"/>
                </a:solidFill>
                <a:latin typeface="Arial"/>
                <a:ea typeface="Arial"/>
                <a:cs typeface="Arial"/>
                <a:sym typeface="Arial"/>
              </a:rPr>
              <a:t>is different to the </a:t>
            </a:r>
            <a:r>
              <a:rPr b="1" lang="en-US" sz="2400">
                <a:solidFill>
                  <a:srgbClr val="000000"/>
                </a:solidFill>
                <a:latin typeface="Arial"/>
                <a:ea typeface="Arial"/>
                <a:cs typeface="Arial"/>
                <a:sym typeface="Arial"/>
              </a:rPr>
              <a:t>electric potential energy</a:t>
            </a:r>
            <a:r>
              <a:rPr lang="en-US" sz="2400">
                <a:solidFill>
                  <a:srgbClr val="000000"/>
                </a:solidFill>
                <a:latin typeface="Arial"/>
                <a:ea typeface="Arial"/>
                <a:cs typeface="Arial"/>
                <a:sym typeface="Arial"/>
              </a:rPr>
              <a:t>!</a:t>
            </a:r>
            <a:endParaRPr/>
          </a:p>
        </p:txBody>
      </p:sp>
      <p:sp>
        <p:nvSpPr>
          <p:cNvPr id="894" name="Google Shape;894;p48"/>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D: Fields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D.2 – Electric fields (SL)</a:t>
            </a:r>
            <a:endParaRPr/>
          </a:p>
        </p:txBody>
      </p:sp>
      <p:pic>
        <p:nvPicPr>
          <p:cNvPr id="895" name="Google Shape;895;p48"/>
          <p:cNvPicPr preferRelativeResize="0"/>
          <p:nvPr/>
        </p:nvPicPr>
        <p:blipFill rotWithShape="1">
          <a:blip r:embed="rId3">
            <a:alphaModFix/>
          </a:blip>
          <a:srcRect b="0" l="0" r="0" t="0"/>
          <a:stretch/>
        </p:blipFill>
        <p:spPr>
          <a:xfrm>
            <a:off x="927419" y="4248798"/>
            <a:ext cx="7289162" cy="173751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3">
                                            <p:txEl>
                                              <p:pRg end="0" st="0"/>
                                            </p:txEl>
                                          </p:spTgt>
                                        </p:tgtEl>
                                        <p:attrNameLst>
                                          <p:attrName>style.visibility</p:attrName>
                                        </p:attrNameLst>
                                      </p:cBhvr>
                                      <p:to>
                                        <p:strVal val="visible"/>
                                      </p:to>
                                    </p:set>
                                    <p:anim calcmode="lin" valueType="num">
                                      <p:cBhvr additive="base">
                                        <p:cTn dur="500"/>
                                        <p:tgtEl>
                                          <p:spTgt spid="89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3">
                                            <p:txEl>
                                              <p:pRg end="1" st="1"/>
                                            </p:txEl>
                                          </p:spTgt>
                                        </p:tgtEl>
                                        <p:attrNameLst>
                                          <p:attrName>style.visibility</p:attrName>
                                        </p:attrNameLst>
                                      </p:cBhvr>
                                      <p:to>
                                        <p:strVal val="visible"/>
                                      </p:to>
                                    </p:set>
                                    <p:anim calcmode="lin" valueType="num">
                                      <p:cBhvr additive="base">
                                        <p:cTn dur="500"/>
                                        <p:tgtEl>
                                          <p:spTgt spid="89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3">
                                            <p:txEl>
                                              <p:pRg end="2" st="2"/>
                                            </p:txEl>
                                          </p:spTgt>
                                        </p:tgtEl>
                                        <p:attrNameLst>
                                          <p:attrName>style.visibility</p:attrName>
                                        </p:attrNameLst>
                                      </p:cBhvr>
                                      <p:to>
                                        <p:strVal val="visible"/>
                                      </p:to>
                                    </p:set>
                                    <p:anim calcmode="lin" valueType="num">
                                      <p:cBhvr additive="base">
                                        <p:cTn dur="500"/>
                                        <p:tgtEl>
                                          <p:spTgt spid="89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3">
                                            <p:txEl>
                                              <p:pRg end="3" st="3"/>
                                            </p:txEl>
                                          </p:spTgt>
                                        </p:tgtEl>
                                        <p:attrNameLst>
                                          <p:attrName>style.visibility</p:attrName>
                                        </p:attrNameLst>
                                      </p:cBhvr>
                                      <p:to>
                                        <p:strVal val="visible"/>
                                      </p:to>
                                    </p:set>
                                    <p:anim calcmode="lin" valueType="num">
                                      <p:cBhvr additive="base">
                                        <p:cTn dur="500"/>
                                        <p:tgtEl>
                                          <p:spTgt spid="89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3">
                                            <p:txEl>
                                              <p:pRg end="4" st="4"/>
                                            </p:txEl>
                                          </p:spTgt>
                                        </p:tgtEl>
                                        <p:attrNameLst>
                                          <p:attrName>style.visibility</p:attrName>
                                        </p:attrNameLst>
                                      </p:cBhvr>
                                      <p:to>
                                        <p:strVal val="visible"/>
                                      </p:to>
                                    </p:set>
                                    <p:anim calcmode="lin" valueType="num">
                                      <p:cBhvr additive="base">
                                        <p:cTn dur="500"/>
                                        <p:tgtEl>
                                          <p:spTgt spid="89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3">
                                            <p:txEl>
                                              <p:pRg end="5" st="5"/>
                                            </p:txEl>
                                          </p:spTgt>
                                        </p:tgtEl>
                                        <p:attrNameLst>
                                          <p:attrName>style.visibility</p:attrName>
                                        </p:attrNameLst>
                                      </p:cBhvr>
                                      <p:to>
                                        <p:strVal val="visible"/>
                                      </p:to>
                                    </p:set>
                                    <p:anim calcmode="lin" valueType="num">
                                      <p:cBhvr additive="base">
                                        <p:cTn dur="500"/>
                                        <p:tgtEl>
                                          <p:spTgt spid="89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3">
                                            <p:txEl>
                                              <p:pRg end="6" st="6"/>
                                            </p:txEl>
                                          </p:spTgt>
                                        </p:tgtEl>
                                        <p:attrNameLst>
                                          <p:attrName>style.visibility</p:attrName>
                                        </p:attrNameLst>
                                      </p:cBhvr>
                                      <p:to>
                                        <p:strVal val="visible"/>
                                      </p:to>
                                    </p:set>
                                    <p:anim calcmode="lin" valueType="num">
                                      <p:cBhvr additive="base">
                                        <p:cTn dur="500"/>
                                        <p:tgtEl>
                                          <p:spTgt spid="89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3">
                                            <p:txEl>
                                              <p:pRg end="7" st="7"/>
                                            </p:txEl>
                                          </p:spTgt>
                                        </p:tgtEl>
                                        <p:attrNameLst>
                                          <p:attrName>style.visibility</p:attrName>
                                        </p:attrNameLst>
                                      </p:cBhvr>
                                      <p:to>
                                        <p:strVal val="visible"/>
                                      </p:to>
                                    </p:set>
                                    <p:anim calcmode="lin" valueType="num">
                                      <p:cBhvr additive="base">
                                        <p:cTn dur="500"/>
                                        <p:tgtEl>
                                          <p:spTgt spid="893">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3">
                                            <p:txEl>
                                              <p:pRg end="8" st="8"/>
                                            </p:txEl>
                                          </p:spTgt>
                                        </p:tgtEl>
                                        <p:attrNameLst>
                                          <p:attrName>style.visibility</p:attrName>
                                        </p:attrNameLst>
                                      </p:cBhvr>
                                      <p:to>
                                        <p:strVal val="visible"/>
                                      </p:to>
                                    </p:set>
                                    <p:anim calcmode="lin" valueType="num">
                                      <p:cBhvr additive="base">
                                        <p:cTn dur="500"/>
                                        <p:tgtEl>
                                          <p:spTgt spid="893">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5"/>
                                        </p:tgtEl>
                                        <p:attrNameLst>
                                          <p:attrName>style.visibility</p:attrName>
                                        </p:attrNameLst>
                                      </p:cBhvr>
                                      <p:to>
                                        <p:strVal val="visible"/>
                                      </p:to>
                                    </p:set>
                                    <p:animEffect filter="fade" transition="in">
                                      <p:cBhvr>
                                        <p:cTn dur="500"/>
                                        <p:tgtEl>
                                          <p:spTgt spid="8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49"/>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Electric Potential</a:t>
            </a:r>
            <a:endParaRPr sz="2400">
              <a:solidFill>
                <a:schemeClr val="dk1"/>
              </a:solidFill>
              <a:latin typeface="Arial"/>
              <a:ea typeface="Arial"/>
              <a:cs typeface="Arial"/>
              <a:sym typeface="Arial"/>
            </a:endParaRPr>
          </a:p>
          <a:p>
            <a:pPr indent="-342900" lvl="0" marL="342900" marR="0" rtl="0" algn="l">
              <a:spcBef>
                <a:spcPts val="0"/>
              </a:spcBef>
              <a:spcAft>
                <a:spcPts val="0"/>
              </a:spcAft>
              <a:buClr>
                <a:srgbClr val="000000"/>
              </a:buClr>
              <a:buSzPts val="2400"/>
              <a:buFont typeface="Noto Sans Symbols"/>
              <a:buChar char="∙"/>
            </a:pPr>
            <a:r>
              <a:rPr lang="en-US" sz="2400">
                <a:solidFill>
                  <a:srgbClr val="000000"/>
                </a:solidFill>
                <a:latin typeface="Arial"/>
                <a:ea typeface="Arial"/>
                <a:cs typeface="Arial"/>
                <a:sym typeface="Arial"/>
              </a:rPr>
              <a:t>Positive (+) charges will naturally move from higher to lower electric potentials.</a:t>
            </a:r>
            <a:endParaRPr/>
          </a:p>
          <a:p>
            <a:pPr indent="-342900" lvl="1" marL="108585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Much like how a “positive” mass moves from a higher to lower gravitational potential</a:t>
            </a:r>
            <a:endParaRPr/>
          </a:p>
          <a:p>
            <a:pPr indent="-342900" lvl="0" marL="342900" marR="0" rtl="0" algn="l">
              <a:spcBef>
                <a:spcPts val="0"/>
              </a:spcBef>
              <a:spcAft>
                <a:spcPts val="0"/>
              </a:spcAft>
              <a:buClr>
                <a:srgbClr val="000000"/>
              </a:buClr>
              <a:buSzPts val="2400"/>
              <a:buFont typeface="Noto Sans Symbols"/>
              <a:buChar char="∙"/>
            </a:pPr>
            <a:r>
              <a:rPr lang="en-US" sz="2400">
                <a:solidFill>
                  <a:srgbClr val="000000"/>
                </a:solidFill>
                <a:latin typeface="Arial"/>
                <a:ea typeface="Arial"/>
                <a:cs typeface="Arial"/>
                <a:sym typeface="Arial"/>
              </a:rPr>
              <a:t>Note: Negative (-) charges will naturally move from lower to higher electric potentials.</a:t>
            </a:r>
            <a:endParaRPr/>
          </a:p>
          <a:p>
            <a:pPr indent="-342900" lvl="1" marL="108585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There is no analog to this with gravitation because there is no “negative” mass.</a:t>
            </a:r>
            <a:endParaRPr/>
          </a:p>
          <a:p>
            <a:pPr indent="-190500" lvl="0" marL="342900" marR="0" rtl="0" algn="l">
              <a:spcBef>
                <a:spcPts val="0"/>
              </a:spcBef>
              <a:spcAft>
                <a:spcPts val="0"/>
              </a:spcAft>
              <a:buClr>
                <a:schemeClr val="dk1"/>
              </a:buClr>
              <a:buSzPts val="2400"/>
              <a:buFont typeface="Noto Sans Symbols"/>
              <a:buNone/>
            </a:pPr>
            <a:r>
              <a:t/>
            </a:r>
            <a:endParaRPr sz="2400">
              <a:solidFill>
                <a:srgbClr val="000000"/>
              </a:solidFill>
              <a:latin typeface="Arial"/>
              <a:ea typeface="Arial"/>
              <a:cs typeface="Arial"/>
              <a:sym typeface="Arial"/>
            </a:endParaRPr>
          </a:p>
        </p:txBody>
      </p:sp>
      <p:sp>
        <p:nvSpPr>
          <p:cNvPr id="901" name="Google Shape;901;p49"/>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D: Fields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D.2 – Electric fields (SL)</a:t>
            </a:r>
            <a:endParaRPr/>
          </a:p>
        </p:txBody>
      </p:sp>
      <p:pic>
        <p:nvPicPr>
          <p:cNvPr id="902" name="Google Shape;902;p49"/>
          <p:cNvPicPr preferRelativeResize="0"/>
          <p:nvPr/>
        </p:nvPicPr>
        <p:blipFill rotWithShape="1">
          <a:blip r:embed="rId3">
            <a:alphaModFix/>
          </a:blip>
          <a:srcRect b="0" l="0" r="0" t="0"/>
          <a:stretch/>
        </p:blipFill>
        <p:spPr>
          <a:xfrm>
            <a:off x="927419" y="4840813"/>
            <a:ext cx="7289162" cy="173751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0">
                                            <p:txEl>
                                              <p:pRg end="0" st="0"/>
                                            </p:txEl>
                                          </p:spTgt>
                                        </p:tgtEl>
                                        <p:attrNameLst>
                                          <p:attrName>style.visibility</p:attrName>
                                        </p:attrNameLst>
                                      </p:cBhvr>
                                      <p:to>
                                        <p:strVal val="visible"/>
                                      </p:to>
                                    </p:set>
                                    <p:anim calcmode="lin" valueType="num">
                                      <p:cBhvr additive="base">
                                        <p:cTn dur="500"/>
                                        <p:tgtEl>
                                          <p:spTgt spid="90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0">
                                            <p:txEl>
                                              <p:pRg end="1" st="1"/>
                                            </p:txEl>
                                          </p:spTgt>
                                        </p:tgtEl>
                                        <p:attrNameLst>
                                          <p:attrName>style.visibility</p:attrName>
                                        </p:attrNameLst>
                                      </p:cBhvr>
                                      <p:to>
                                        <p:strVal val="visible"/>
                                      </p:to>
                                    </p:set>
                                    <p:anim calcmode="lin" valueType="num">
                                      <p:cBhvr additive="base">
                                        <p:cTn dur="500"/>
                                        <p:tgtEl>
                                          <p:spTgt spid="90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0">
                                            <p:txEl>
                                              <p:pRg end="2" st="2"/>
                                            </p:txEl>
                                          </p:spTgt>
                                        </p:tgtEl>
                                        <p:attrNameLst>
                                          <p:attrName>style.visibility</p:attrName>
                                        </p:attrNameLst>
                                      </p:cBhvr>
                                      <p:to>
                                        <p:strVal val="visible"/>
                                      </p:to>
                                    </p:set>
                                    <p:anim calcmode="lin" valueType="num">
                                      <p:cBhvr additive="base">
                                        <p:cTn dur="500"/>
                                        <p:tgtEl>
                                          <p:spTgt spid="90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0">
                                            <p:txEl>
                                              <p:pRg end="3" st="3"/>
                                            </p:txEl>
                                          </p:spTgt>
                                        </p:tgtEl>
                                        <p:attrNameLst>
                                          <p:attrName>style.visibility</p:attrName>
                                        </p:attrNameLst>
                                      </p:cBhvr>
                                      <p:to>
                                        <p:strVal val="visible"/>
                                      </p:to>
                                    </p:set>
                                    <p:anim calcmode="lin" valueType="num">
                                      <p:cBhvr additive="base">
                                        <p:cTn dur="500"/>
                                        <p:tgtEl>
                                          <p:spTgt spid="90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0">
                                            <p:txEl>
                                              <p:pRg end="4" st="4"/>
                                            </p:txEl>
                                          </p:spTgt>
                                        </p:tgtEl>
                                        <p:attrNameLst>
                                          <p:attrName>style.visibility</p:attrName>
                                        </p:attrNameLst>
                                      </p:cBhvr>
                                      <p:to>
                                        <p:strVal val="visible"/>
                                      </p:to>
                                    </p:set>
                                    <p:anim calcmode="lin" valueType="num">
                                      <p:cBhvr additive="base">
                                        <p:cTn dur="500"/>
                                        <p:tgtEl>
                                          <p:spTgt spid="90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0">
                                            <p:txEl>
                                              <p:pRg end="5" st="5"/>
                                            </p:txEl>
                                          </p:spTgt>
                                        </p:tgtEl>
                                        <p:attrNameLst>
                                          <p:attrName>style.visibility</p:attrName>
                                        </p:attrNameLst>
                                      </p:cBhvr>
                                      <p:to>
                                        <p:strVal val="visible"/>
                                      </p:to>
                                    </p:set>
                                    <p:anim calcmode="lin" valueType="num">
                                      <p:cBhvr additive="base">
                                        <p:cTn dur="500"/>
                                        <p:tgtEl>
                                          <p:spTgt spid="90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
                                        </p:tgtEl>
                                        <p:attrNameLst>
                                          <p:attrName>style.visibility</p:attrName>
                                        </p:attrNameLst>
                                      </p:cBhvr>
                                      <p:to>
                                        <p:strVal val="visible"/>
                                      </p:to>
                                    </p:set>
                                    <p:animEffect filter="fade" transition="in">
                                      <p:cBhvr>
                                        <p:cTn dur="500"/>
                                        <p:tgtEl>
                                          <p:spTgt spid="9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50"/>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Potential difference</a:t>
            </a:r>
            <a:endParaRPr sz="2400">
              <a:solidFill>
                <a:schemeClr val="dk1"/>
              </a:solidFill>
              <a:latin typeface="Arial"/>
              <a:ea typeface="Arial"/>
              <a:cs typeface="Arial"/>
              <a:sym typeface="Arial"/>
            </a:endParaRPr>
          </a:p>
          <a:p>
            <a:pPr indent="0" lvl="0" marL="0" marR="0" rtl="0" algn="l">
              <a:spcBef>
                <a:spcPts val="0"/>
              </a:spcBef>
              <a:spcAft>
                <a:spcPts val="0"/>
              </a:spcAft>
              <a:buClr>
                <a:srgbClr val="000000"/>
              </a:buClr>
              <a:buSzPts val="2400"/>
              <a:buFont typeface="Arial"/>
              <a:buNone/>
            </a:pPr>
            <a:r>
              <a:rPr lang="en-US" sz="2400">
                <a:solidFill>
                  <a:srgbClr val="000000"/>
                </a:solidFill>
                <a:latin typeface="Arial"/>
                <a:ea typeface="Arial"/>
                <a:cs typeface="Arial"/>
                <a:sym typeface="Arial"/>
              </a:rPr>
              <a:t>∙Because electric charges experience the electric force, when one charge is moved in the vicinity of another, work </a:t>
            </a:r>
            <a:r>
              <a:rPr i="1" lang="en-US" sz="2400">
                <a:solidFill>
                  <a:srgbClr val="000000"/>
                </a:solidFill>
                <a:latin typeface="Arial"/>
                <a:ea typeface="Arial"/>
                <a:cs typeface="Arial"/>
                <a:sym typeface="Arial"/>
              </a:rPr>
              <a:t>W</a:t>
            </a:r>
            <a:r>
              <a:rPr lang="en-US" sz="2400">
                <a:solidFill>
                  <a:srgbClr val="000000"/>
                </a:solidFill>
                <a:latin typeface="Arial"/>
                <a:ea typeface="Arial"/>
                <a:cs typeface="Arial"/>
                <a:sym typeface="Arial"/>
              </a:rPr>
              <a:t> is done (recall that work is a force times a displacement).</a:t>
            </a:r>
            <a:endParaRPr/>
          </a:p>
          <a:p>
            <a:pPr indent="0" lvl="0" marL="0" marR="0" rtl="0" algn="l">
              <a:spcBef>
                <a:spcPts val="480"/>
              </a:spcBef>
              <a:spcAft>
                <a:spcPts val="0"/>
              </a:spcAft>
              <a:buClr>
                <a:srgbClr val="000000"/>
              </a:buClr>
              <a:buSzPts val="2400"/>
              <a:buFont typeface="Arial"/>
              <a:buNone/>
            </a:pPr>
            <a:r>
              <a:rPr lang="en-US" sz="2400">
                <a:solidFill>
                  <a:srgbClr val="000000"/>
                </a:solidFill>
                <a:latin typeface="Arial"/>
                <a:ea typeface="Arial"/>
                <a:cs typeface="Arial"/>
                <a:sym typeface="Arial"/>
              </a:rPr>
              <a:t>∙We define the                                                         </a:t>
            </a:r>
            <a:r>
              <a:rPr b="1" lang="en-US" sz="2400">
                <a:solidFill>
                  <a:srgbClr val="000000"/>
                </a:solidFill>
                <a:latin typeface="Arial"/>
                <a:ea typeface="Arial"/>
                <a:cs typeface="Arial"/>
                <a:sym typeface="Arial"/>
              </a:rPr>
              <a:t>potential difference</a:t>
            </a:r>
            <a:r>
              <a:rPr lang="en-US" sz="2400">
                <a:solidFill>
                  <a:srgbClr val="000000"/>
                </a:solidFill>
                <a:latin typeface="Arial"/>
                <a:ea typeface="Arial"/>
                <a:cs typeface="Arial"/>
                <a:sym typeface="Arial"/>
              </a:rPr>
              <a:t>                                                            </a:t>
            </a:r>
            <a:r>
              <a:rPr i="1" lang="en-US" sz="2400">
                <a:solidFill>
                  <a:srgbClr val="000000"/>
                </a:solidFill>
                <a:latin typeface="Arial"/>
                <a:ea typeface="Arial"/>
                <a:cs typeface="Arial"/>
                <a:sym typeface="Arial"/>
              </a:rPr>
              <a:t>V </a:t>
            </a:r>
            <a:r>
              <a:rPr lang="en-US" sz="2400">
                <a:solidFill>
                  <a:srgbClr val="000000"/>
                </a:solidFill>
                <a:latin typeface="Arial"/>
                <a:ea typeface="Arial"/>
                <a:cs typeface="Arial"/>
                <a:sym typeface="Arial"/>
              </a:rPr>
              <a:t>at any point                                                         	  A and B as the                                                             amount of work </a:t>
            </a:r>
            <a:r>
              <a:rPr i="1" lang="en-US" sz="2400">
                <a:solidFill>
                  <a:srgbClr val="000000"/>
                </a:solidFill>
                <a:latin typeface="Arial"/>
                <a:ea typeface="Arial"/>
                <a:cs typeface="Arial"/>
                <a:sym typeface="Arial"/>
              </a:rPr>
              <a:t>W</a:t>
            </a:r>
            <a:r>
              <a:rPr lang="en-US" sz="2400">
                <a:solidFill>
                  <a:srgbClr val="000000"/>
                </a:solidFill>
                <a:latin typeface="Arial"/>
                <a:ea typeface="Arial"/>
                <a:cs typeface="Arial"/>
                <a:sym typeface="Arial"/>
              </a:rPr>
              <a:t> done                                                          per unit charge in moving a point charge from A to B.</a:t>
            </a:r>
            <a:endParaRPr/>
          </a:p>
          <a:p>
            <a:pPr indent="0" lvl="0" marL="0" marR="0" rtl="0" algn="l">
              <a:spcBef>
                <a:spcPts val="480"/>
              </a:spcBef>
              <a:spcAft>
                <a:spcPts val="0"/>
              </a:spcAft>
              <a:buClr>
                <a:schemeClr val="dk1"/>
              </a:buClr>
              <a:buSzPts val="2400"/>
              <a:buFont typeface="Arial"/>
              <a:buNone/>
            </a:pPr>
            <a:r>
              <a:t/>
            </a:r>
            <a:endParaRPr sz="2400">
              <a:solidFill>
                <a:srgbClr val="000000"/>
              </a:solidFill>
              <a:latin typeface="Arial"/>
              <a:ea typeface="Arial"/>
              <a:cs typeface="Arial"/>
              <a:sym typeface="Arial"/>
            </a:endParaRPr>
          </a:p>
          <a:p>
            <a:pPr indent="0" lvl="0" marL="0" marR="0" rtl="0" algn="l">
              <a:spcBef>
                <a:spcPts val="480"/>
              </a:spcBef>
              <a:spcAft>
                <a:spcPts val="0"/>
              </a:spcAft>
              <a:buClr>
                <a:srgbClr val="000000"/>
              </a:buClr>
              <a:buSzPts val="2400"/>
              <a:buFont typeface="Arial"/>
              <a:buNone/>
            </a:pPr>
            <a:r>
              <a:rPr lang="en-US" sz="2400">
                <a:solidFill>
                  <a:srgbClr val="000000"/>
                </a:solidFill>
                <a:latin typeface="Arial"/>
                <a:ea typeface="Arial"/>
                <a:cs typeface="Arial"/>
                <a:sym typeface="Arial"/>
              </a:rPr>
              <a:t>∙Note that the units of </a:t>
            </a:r>
            <a:r>
              <a:rPr i="1" lang="en-US" sz="2400">
                <a:solidFill>
                  <a:srgbClr val="000000"/>
                </a:solidFill>
                <a:latin typeface="Arial"/>
                <a:ea typeface="Arial"/>
                <a:cs typeface="Arial"/>
                <a:sym typeface="Arial"/>
              </a:rPr>
              <a:t>V</a:t>
            </a:r>
            <a:r>
              <a:rPr lang="en-US" sz="2400">
                <a:solidFill>
                  <a:srgbClr val="000000"/>
                </a:solidFill>
                <a:latin typeface="Arial"/>
                <a:ea typeface="Arial"/>
                <a:cs typeface="Arial"/>
                <a:sym typeface="Arial"/>
              </a:rPr>
              <a:t> are JC</a:t>
            </a:r>
            <a:r>
              <a:rPr baseline="30000" lang="en-US" sz="2400">
                <a:solidFill>
                  <a:srgbClr val="000000"/>
                </a:solidFill>
                <a:latin typeface="Arial"/>
                <a:ea typeface="Arial"/>
                <a:cs typeface="Arial"/>
                <a:sym typeface="Arial"/>
              </a:rPr>
              <a:t>-1</a:t>
            </a:r>
            <a:r>
              <a:rPr lang="en-US" sz="2400">
                <a:solidFill>
                  <a:srgbClr val="000000"/>
                </a:solidFill>
                <a:latin typeface="Arial"/>
                <a:ea typeface="Arial"/>
                <a:cs typeface="Arial"/>
                <a:sym typeface="Arial"/>
              </a:rPr>
              <a:t> which are volts V.</a:t>
            </a:r>
            <a:endParaRPr/>
          </a:p>
        </p:txBody>
      </p:sp>
      <p:sp>
        <p:nvSpPr>
          <p:cNvPr id="908" name="Google Shape;908;p50"/>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D: Fields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D.2 – Electric fields (SL)</a:t>
            </a:r>
            <a:endParaRPr/>
          </a:p>
        </p:txBody>
      </p:sp>
      <p:sp>
        <p:nvSpPr>
          <p:cNvPr id="909" name="Google Shape;909;p50"/>
          <p:cNvSpPr/>
          <p:nvPr/>
        </p:nvSpPr>
        <p:spPr>
          <a:xfrm>
            <a:off x="3808413" y="3481388"/>
            <a:ext cx="1760537" cy="1760537"/>
          </a:xfrm>
          <a:prstGeom prst="ellipse">
            <a:avLst/>
          </a:prstGeom>
          <a:gradFill>
            <a:gsLst>
              <a:gs pos="0">
                <a:srgbClr val="FF9999"/>
              </a:gs>
              <a:gs pos="100000">
                <a:srgbClr val="764747"/>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910" name="Google Shape;910;p50"/>
          <p:cNvSpPr txBox="1"/>
          <p:nvPr/>
        </p:nvSpPr>
        <p:spPr>
          <a:xfrm>
            <a:off x="4467225" y="3803650"/>
            <a:ext cx="4206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Q</a:t>
            </a:r>
            <a:endParaRPr/>
          </a:p>
        </p:txBody>
      </p:sp>
      <p:cxnSp>
        <p:nvCxnSpPr>
          <p:cNvPr id="911" name="Google Shape;911;p50"/>
          <p:cNvCxnSpPr/>
          <p:nvPr/>
        </p:nvCxnSpPr>
        <p:spPr>
          <a:xfrm>
            <a:off x="4683125" y="4349750"/>
            <a:ext cx="4354513" cy="0"/>
          </a:xfrm>
          <a:prstGeom prst="straightConnector1">
            <a:avLst/>
          </a:prstGeom>
          <a:noFill/>
          <a:ln cap="flat" cmpd="sng" w="28575">
            <a:solidFill>
              <a:srgbClr val="FF0000"/>
            </a:solidFill>
            <a:prstDash val="dash"/>
            <a:round/>
            <a:headEnd len="med" w="med" type="none"/>
            <a:tailEnd len="med" w="med" type="stealth"/>
          </a:ln>
        </p:spPr>
      </p:cxnSp>
      <p:grpSp>
        <p:nvGrpSpPr>
          <p:cNvPr id="912" name="Google Shape;912;p50"/>
          <p:cNvGrpSpPr/>
          <p:nvPr/>
        </p:nvGrpSpPr>
        <p:grpSpPr>
          <a:xfrm>
            <a:off x="4524375" y="4203700"/>
            <a:ext cx="347663" cy="333375"/>
            <a:chOff x="1344" y="2331"/>
            <a:chExt cx="219" cy="210"/>
          </a:xfrm>
        </p:grpSpPr>
        <p:cxnSp>
          <p:nvCxnSpPr>
            <p:cNvPr id="913" name="Google Shape;913;p50"/>
            <p:cNvCxnSpPr/>
            <p:nvPr/>
          </p:nvCxnSpPr>
          <p:spPr>
            <a:xfrm>
              <a:off x="1344" y="2423"/>
              <a:ext cx="219" cy="0"/>
            </a:xfrm>
            <a:prstGeom prst="straightConnector1">
              <a:avLst/>
            </a:prstGeom>
            <a:noFill/>
            <a:ln cap="flat" cmpd="sng" w="9525">
              <a:solidFill>
                <a:schemeClr val="dk1"/>
              </a:solidFill>
              <a:prstDash val="solid"/>
              <a:round/>
              <a:headEnd len="med" w="med" type="none"/>
              <a:tailEnd len="med" w="med" type="none"/>
            </a:ln>
          </p:spPr>
        </p:cxnSp>
        <p:cxnSp>
          <p:nvCxnSpPr>
            <p:cNvPr id="914" name="Google Shape;914;p50"/>
            <p:cNvCxnSpPr/>
            <p:nvPr/>
          </p:nvCxnSpPr>
          <p:spPr>
            <a:xfrm>
              <a:off x="1445" y="2331"/>
              <a:ext cx="0" cy="210"/>
            </a:xfrm>
            <a:prstGeom prst="straightConnector1">
              <a:avLst/>
            </a:prstGeom>
            <a:noFill/>
            <a:ln cap="flat" cmpd="sng" w="9525">
              <a:solidFill>
                <a:schemeClr val="dk1"/>
              </a:solidFill>
              <a:prstDash val="solid"/>
              <a:round/>
              <a:headEnd len="med" w="med" type="none"/>
              <a:tailEnd len="med" w="med" type="none"/>
            </a:ln>
          </p:spPr>
        </p:cxnSp>
      </p:grpSp>
      <p:grpSp>
        <p:nvGrpSpPr>
          <p:cNvPr id="915" name="Google Shape;915;p50"/>
          <p:cNvGrpSpPr/>
          <p:nvPr/>
        </p:nvGrpSpPr>
        <p:grpSpPr>
          <a:xfrm>
            <a:off x="6251575" y="3849688"/>
            <a:ext cx="446088" cy="569912"/>
            <a:chOff x="3862" y="2842"/>
            <a:chExt cx="281" cy="359"/>
          </a:xfrm>
        </p:grpSpPr>
        <p:sp>
          <p:nvSpPr>
            <p:cNvPr id="916" name="Google Shape;916;p50"/>
            <p:cNvSpPr txBox="1"/>
            <p:nvPr/>
          </p:nvSpPr>
          <p:spPr>
            <a:xfrm>
              <a:off x="3920" y="2842"/>
              <a:ext cx="22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hlink"/>
                </a:buClr>
                <a:buSzPts val="2400"/>
                <a:buFont typeface="Arial"/>
                <a:buNone/>
              </a:pPr>
              <a:r>
                <a:rPr i="1" lang="en-US" sz="2400">
                  <a:solidFill>
                    <a:schemeClr val="hlink"/>
                  </a:solidFill>
                  <a:latin typeface="Arial"/>
                  <a:ea typeface="Arial"/>
                  <a:cs typeface="Arial"/>
                  <a:sym typeface="Arial"/>
                </a:rPr>
                <a:t>q</a:t>
              </a:r>
              <a:endParaRPr/>
            </a:p>
          </p:txBody>
        </p:sp>
        <p:sp>
          <p:nvSpPr>
            <p:cNvPr id="917" name="Google Shape;917;p50"/>
            <p:cNvSpPr/>
            <p:nvPr/>
          </p:nvSpPr>
          <p:spPr>
            <a:xfrm>
              <a:off x="3862" y="3106"/>
              <a:ext cx="95" cy="95"/>
            </a:xfrm>
            <a:prstGeom prst="ellipse">
              <a:avLst/>
            </a:prstGeom>
            <a:gradFill>
              <a:gsLst>
                <a:gs pos="0">
                  <a:schemeClr val="accent1"/>
                </a:gs>
                <a:gs pos="100000">
                  <a:srgbClr val="839D9F"/>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918" name="Google Shape;918;p50"/>
          <p:cNvSpPr txBox="1"/>
          <p:nvPr/>
        </p:nvSpPr>
        <p:spPr>
          <a:xfrm>
            <a:off x="6124575" y="4414838"/>
            <a:ext cx="3873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A</a:t>
            </a:r>
            <a:endParaRPr/>
          </a:p>
        </p:txBody>
      </p:sp>
      <p:sp>
        <p:nvSpPr>
          <p:cNvPr id="919" name="Google Shape;919;p50"/>
          <p:cNvSpPr txBox="1"/>
          <p:nvPr/>
        </p:nvSpPr>
        <p:spPr>
          <a:xfrm>
            <a:off x="8169275" y="4403725"/>
            <a:ext cx="3873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B</a:t>
            </a:r>
            <a:endParaRPr/>
          </a:p>
        </p:txBody>
      </p:sp>
      <p:grpSp>
        <p:nvGrpSpPr>
          <p:cNvPr id="920" name="Google Shape;920;p50"/>
          <p:cNvGrpSpPr/>
          <p:nvPr/>
        </p:nvGrpSpPr>
        <p:grpSpPr>
          <a:xfrm>
            <a:off x="809625" y="5727700"/>
            <a:ext cx="7464425" cy="457200"/>
            <a:chOff x="510" y="2266"/>
            <a:chExt cx="4702" cy="288"/>
          </a:xfrm>
        </p:grpSpPr>
        <p:sp>
          <p:nvSpPr>
            <p:cNvPr id="921" name="Google Shape;921;p50"/>
            <p:cNvSpPr/>
            <p:nvPr/>
          </p:nvSpPr>
          <p:spPr>
            <a:xfrm>
              <a:off x="592" y="2279"/>
              <a:ext cx="1795"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B</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A </a:t>
              </a:r>
              <a:r>
                <a:rPr i="1" lang="en-US" sz="2400">
                  <a:solidFill>
                    <a:schemeClr val="dk1"/>
                  </a:solidFill>
                  <a:latin typeface="Arial"/>
                  <a:ea typeface="Arial"/>
                  <a:cs typeface="Arial"/>
                  <a:sym typeface="Arial"/>
                </a:rPr>
                <a:t>= W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q</a:t>
              </a:r>
              <a:endParaRPr i="1" sz="2400">
                <a:solidFill>
                  <a:schemeClr val="dk1"/>
                </a:solidFill>
                <a:latin typeface="Arial"/>
                <a:ea typeface="Arial"/>
                <a:cs typeface="Arial"/>
                <a:sym typeface="Arial"/>
              </a:endParaRPr>
            </a:p>
          </p:txBody>
        </p:sp>
        <p:sp>
          <p:nvSpPr>
            <p:cNvPr id="922" name="Google Shape;922;p50"/>
            <p:cNvSpPr txBox="1"/>
            <p:nvPr/>
          </p:nvSpPr>
          <p:spPr>
            <a:xfrm>
              <a:off x="2951" y="2266"/>
              <a:ext cx="2261" cy="28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potential difference</a:t>
              </a:r>
              <a:endParaRPr/>
            </a:p>
          </p:txBody>
        </p:sp>
        <p:sp>
          <p:nvSpPr>
            <p:cNvPr id="923" name="Google Shape;923;p50"/>
            <p:cNvSpPr/>
            <p:nvPr/>
          </p:nvSpPr>
          <p:spPr>
            <a:xfrm>
              <a:off x="510" y="2268"/>
              <a:ext cx="4701" cy="284"/>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7">
                                            <p:txEl>
                                              <p:pRg end="0" st="0"/>
                                            </p:txEl>
                                          </p:spTgt>
                                        </p:tgtEl>
                                        <p:attrNameLst>
                                          <p:attrName>style.visibility</p:attrName>
                                        </p:attrNameLst>
                                      </p:cBhvr>
                                      <p:to>
                                        <p:strVal val="visible"/>
                                      </p:to>
                                    </p:set>
                                    <p:anim calcmode="lin" valueType="num">
                                      <p:cBhvr additive="base">
                                        <p:cTn dur="500"/>
                                        <p:tgtEl>
                                          <p:spTgt spid="90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7">
                                            <p:txEl>
                                              <p:pRg end="1" st="1"/>
                                            </p:txEl>
                                          </p:spTgt>
                                        </p:tgtEl>
                                        <p:attrNameLst>
                                          <p:attrName>style.visibility</p:attrName>
                                        </p:attrNameLst>
                                      </p:cBhvr>
                                      <p:to>
                                        <p:strVal val="visible"/>
                                      </p:to>
                                    </p:set>
                                    <p:anim calcmode="lin" valueType="num">
                                      <p:cBhvr additive="base">
                                        <p:cTn dur="500"/>
                                        <p:tgtEl>
                                          <p:spTgt spid="90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7">
                                            <p:txEl>
                                              <p:pRg end="2" st="2"/>
                                            </p:txEl>
                                          </p:spTgt>
                                        </p:tgtEl>
                                        <p:attrNameLst>
                                          <p:attrName>style.visibility</p:attrName>
                                        </p:attrNameLst>
                                      </p:cBhvr>
                                      <p:to>
                                        <p:strVal val="visible"/>
                                      </p:to>
                                    </p:set>
                                    <p:anim calcmode="lin" valueType="num">
                                      <p:cBhvr additive="base">
                                        <p:cTn dur="500"/>
                                        <p:tgtEl>
                                          <p:spTgt spid="90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7">
                                            <p:txEl>
                                              <p:pRg end="3" st="3"/>
                                            </p:txEl>
                                          </p:spTgt>
                                        </p:tgtEl>
                                        <p:attrNameLst>
                                          <p:attrName>style.visibility</p:attrName>
                                        </p:attrNameLst>
                                      </p:cBhvr>
                                      <p:to>
                                        <p:strVal val="visible"/>
                                      </p:to>
                                    </p:set>
                                    <p:anim calcmode="lin" valueType="num">
                                      <p:cBhvr additive="base">
                                        <p:cTn dur="500"/>
                                        <p:tgtEl>
                                          <p:spTgt spid="90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7">
                                            <p:txEl>
                                              <p:pRg end="4" st="4"/>
                                            </p:txEl>
                                          </p:spTgt>
                                        </p:tgtEl>
                                        <p:attrNameLst>
                                          <p:attrName>style.visibility</p:attrName>
                                        </p:attrNameLst>
                                      </p:cBhvr>
                                      <p:to>
                                        <p:strVal val="visible"/>
                                      </p:to>
                                    </p:set>
                                    <p:anim calcmode="lin" valueType="num">
                                      <p:cBhvr additive="base">
                                        <p:cTn dur="500"/>
                                        <p:tgtEl>
                                          <p:spTgt spid="90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9"/>
                                        </p:tgtEl>
                                        <p:attrNameLst>
                                          <p:attrName>style.visibility</p:attrName>
                                        </p:attrNameLst>
                                      </p:cBhvr>
                                      <p:to>
                                        <p:strVal val="visible"/>
                                      </p:to>
                                    </p:set>
                                    <p:animEffect filter="fade" transition="in">
                                      <p:cBhvr>
                                        <p:cTn dur="500"/>
                                        <p:tgtEl>
                                          <p:spTgt spid="909"/>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910"/>
                                        </p:tgtEl>
                                        <p:attrNameLst>
                                          <p:attrName>style.visibility</p:attrName>
                                        </p:attrNameLst>
                                      </p:cBhvr>
                                      <p:to>
                                        <p:strVal val="visible"/>
                                      </p:to>
                                    </p:set>
                                    <p:anim calcmode="lin" valueType="num">
                                      <p:cBhvr additive="base">
                                        <p:cTn dur="500"/>
                                        <p:tgtEl>
                                          <p:spTgt spid="910"/>
                                        </p:tgtEl>
                                        <p:attrNameLst>
                                          <p:attrName>ppt_w</p:attrName>
                                        </p:attrNameLst>
                                      </p:cBhvr>
                                      <p:tavLst>
                                        <p:tav fmla="" tm="0">
                                          <p:val>
                                            <p:strVal val="0"/>
                                          </p:val>
                                        </p:tav>
                                        <p:tav fmla="" tm="100000">
                                          <p:val>
                                            <p:strVal val="#ppt_w"/>
                                          </p:val>
                                        </p:tav>
                                      </p:tavLst>
                                    </p:anim>
                                    <p:anim calcmode="lin" valueType="num">
                                      <p:cBhvr additive="base">
                                        <p:cTn dur="500"/>
                                        <p:tgtEl>
                                          <p:spTgt spid="91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12"/>
                                        </p:tgtEl>
                                        <p:attrNameLst>
                                          <p:attrName>style.visibility</p:attrName>
                                        </p:attrNameLst>
                                      </p:cBhvr>
                                      <p:to>
                                        <p:strVal val="visible"/>
                                      </p:to>
                                    </p:set>
                                    <p:anim calcmode="lin" valueType="num">
                                      <p:cBhvr additive="base">
                                        <p:cTn dur="500"/>
                                        <p:tgtEl>
                                          <p:spTgt spid="91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15"/>
                                        </p:tgtEl>
                                        <p:attrNameLst>
                                          <p:attrName>style.visibility</p:attrName>
                                        </p:attrNameLst>
                                      </p:cBhvr>
                                      <p:to>
                                        <p:strVal val="visible"/>
                                      </p:to>
                                    </p:set>
                                    <p:anim calcmode="lin" valueType="num">
                                      <p:cBhvr additive="base">
                                        <p:cTn dur="500"/>
                                        <p:tgtEl>
                                          <p:spTgt spid="915"/>
                                        </p:tgtEl>
                                        <p:attrNameLst>
                                          <p:attrName>ppt_w</p:attrName>
                                        </p:attrNameLst>
                                      </p:cBhvr>
                                      <p:tavLst>
                                        <p:tav fmla="" tm="0">
                                          <p:val>
                                            <p:strVal val="0"/>
                                          </p:val>
                                        </p:tav>
                                        <p:tav fmla="" tm="100000">
                                          <p:val>
                                            <p:strVal val="#ppt_w"/>
                                          </p:val>
                                        </p:tav>
                                      </p:tavLst>
                                    </p:anim>
                                    <p:anim calcmode="lin" valueType="num">
                                      <p:cBhvr additive="base">
                                        <p:cTn dur="500"/>
                                        <p:tgtEl>
                                          <p:spTgt spid="915"/>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911"/>
                                        </p:tgtEl>
                                        <p:attrNameLst>
                                          <p:attrName>style.visibility</p:attrName>
                                        </p:attrNameLst>
                                      </p:cBhvr>
                                      <p:to>
                                        <p:strVal val="visible"/>
                                      </p:to>
                                    </p:set>
                                    <p:animEffect filter="fade" transition="in">
                                      <p:cBhvr>
                                        <p:cTn dur="500"/>
                                        <p:tgtEl>
                                          <p:spTgt spid="9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18"/>
                                        </p:tgtEl>
                                        <p:attrNameLst>
                                          <p:attrName>style.visibility</p:attrName>
                                        </p:attrNameLst>
                                      </p:cBhvr>
                                      <p:to>
                                        <p:strVal val="visible"/>
                                      </p:to>
                                    </p:set>
                                    <p:anim calcmode="lin" valueType="num">
                                      <p:cBhvr additive="base">
                                        <p:cTn dur="500"/>
                                        <p:tgtEl>
                                          <p:spTgt spid="918"/>
                                        </p:tgtEl>
                                        <p:attrNameLst>
                                          <p:attrName>ppt_w</p:attrName>
                                        </p:attrNameLst>
                                      </p:cBhvr>
                                      <p:tavLst>
                                        <p:tav fmla="" tm="0">
                                          <p:val>
                                            <p:strVal val="0"/>
                                          </p:val>
                                        </p:tav>
                                        <p:tav fmla="" tm="100000">
                                          <p:val>
                                            <p:strVal val="#ppt_w"/>
                                          </p:val>
                                        </p:tav>
                                      </p:tavLst>
                                    </p:anim>
                                    <p:anim calcmode="lin" valueType="num">
                                      <p:cBhvr additive="base">
                                        <p:cTn dur="500"/>
                                        <p:tgtEl>
                                          <p:spTgt spid="91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19"/>
                                        </p:tgtEl>
                                        <p:attrNameLst>
                                          <p:attrName>style.visibility</p:attrName>
                                        </p:attrNameLst>
                                      </p:cBhvr>
                                      <p:to>
                                        <p:strVal val="visible"/>
                                      </p:to>
                                    </p:set>
                                    <p:anim calcmode="lin" valueType="num">
                                      <p:cBhvr additive="base">
                                        <p:cTn dur="500"/>
                                        <p:tgtEl>
                                          <p:spTgt spid="919"/>
                                        </p:tgtEl>
                                        <p:attrNameLst>
                                          <p:attrName>ppt_w</p:attrName>
                                        </p:attrNameLst>
                                      </p:cBhvr>
                                      <p:tavLst>
                                        <p:tav fmla="" tm="0">
                                          <p:val>
                                            <p:strVal val="0"/>
                                          </p:val>
                                        </p:tav>
                                        <p:tav fmla="" tm="100000">
                                          <p:val>
                                            <p:strVal val="#ppt_w"/>
                                          </p:val>
                                        </p:tav>
                                      </p:tavLst>
                                    </p:anim>
                                    <p:anim calcmode="lin" valueType="num">
                                      <p:cBhvr additive="base">
                                        <p:cTn dur="500"/>
                                        <p:tgtEl>
                                          <p:spTgt spid="91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20"/>
                                        </p:tgtEl>
                                        <p:attrNameLst>
                                          <p:attrName>style.visibility</p:attrName>
                                        </p:attrNameLst>
                                      </p:cBhvr>
                                      <p:to>
                                        <p:strVal val="visible"/>
                                      </p:to>
                                    </p:set>
                                    <p:anim calcmode="lin" valueType="num">
                                      <p:cBhvr additive="base">
                                        <p:cTn dur="500"/>
                                        <p:tgtEl>
                                          <p:spTgt spid="920"/>
                                        </p:tgtEl>
                                        <p:attrNameLst>
                                          <p:attrName>ppt_w</p:attrName>
                                        </p:attrNameLst>
                                      </p:cBhvr>
                                      <p:tavLst>
                                        <p:tav fmla="" tm="0">
                                          <p:val>
                                            <p:strVal val="0"/>
                                          </p:val>
                                        </p:tav>
                                        <p:tav fmla="" tm="100000">
                                          <p:val>
                                            <p:strVal val="#ppt_w"/>
                                          </p:val>
                                        </p:tav>
                                      </p:tavLst>
                                    </p:anim>
                                    <p:anim calcmode="lin" valueType="num">
                                      <p:cBhvr additive="base">
                                        <p:cTn dur="500"/>
                                        <p:tgtEl>
                                          <p:spTgt spid="92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51"/>
          <p:cNvSpPr/>
          <p:nvPr/>
        </p:nvSpPr>
        <p:spPr>
          <a:xfrm>
            <a:off x="682625" y="6037263"/>
            <a:ext cx="7777163" cy="820737"/>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1" i="1" lang="en-US" sz="2400">
                <a:solidFill>
                  <a:schemeClr val="dk1"/>
                </a:solidFill>
                <a:latin typeface="Arial"/>
                <a:ea typeface="Arial"/>
                <a:cs typeface="Arial"/>
                <a:sym typeface="Arial"/>
              </a:rPr>
              <a:t>FYI</a:t>
            </a:r>
            <a:endParaRPr/>
          </a:p>
          <a:p>
            <a:pPr indent="0" lvl="0" marL="0" marR="0" rtl="0" algn="l">
              <a:spcBef>
                <a:spcPts val="24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Many books use Δ</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instead of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a:t>
            </a:r>
            <a:endParaRPr/>
          </a:p>
        </p:txBody>
      </p:sp>
      <p:sp>
        <p:nvSpPr>
          <p:cNvPr id="929" name="Google Shape;929;p51"/>
          <p:cNvSpPr/>
          <p:nvPr/>
        </p:nvSpPr>
        <p:spPr>
          <a:xfrm>
            <a:off x="687388" y="1954213"/>
            <a:ext cx="7772400" cy="4097337"/>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PRACTICE: A charge of </a:t>
            </a:r>
            <a:r>
              <a:rPr i="1" lang="en-US" sz="2400">
                <a:solidFill>
                  <a:schemeClr val="dk1"/>
                </a:solidFill>
                <a:latin typeface="Arial"/>
                <a:ea typeface="Arial"/>
                <a:cs typeface="Arial"/>
                <a:sym typeface="Arial"/>
              </a:rPr>
              <a:t>q</a:t>
            </a:r>
            <a:r>
              <a:rPr lang="en-US" sz="2400">
                <a:solidFill>
                  <a:schemeClr val="dk1"/>
                </a:solidFill>
                <a:latin typeface="Arial"/>
                <a:ea typeface="Arial"/>
                <a:cs typeface="Arial"/>
                <a:sym typeface="Arial"/>
              </a:rPr>
              <a:t> = </a:t>
            </a:r>
            <a:r>
              <a:rPr baseline="30000"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15.0 μC is moved from point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having an electric potential of 25.0 V to point </a:t>
            </a:r>
            <a:r>
              <a:rPr i="1" lang="en-US" sz="2400">
                <a:solidFill>
                  <a:schemeClr val="dk1"/>
                </a:solidFill>
                <a:latin typeface="Arial"/>
                <a:ea typeface="Arial"/>
                <a:cs typeface="Arial"/>
                <a:sym typeface="Arial"/>
              </a:rPr>
              <a:t>B</a:t>
            </a:r>
            <a:r>
              <a:rPr lang="en-US" sz="2400">
                <a:solidFill>
                  <a:schemeClr val="dk1"/>
                </a:solidFill>
                <a:latin typeface="Arial"/>
                <a:ea typeface="Arial"/>
                <a:cs typeface="Arial"/>
                <a:sym typeface="Arial"/>
              </a:rPr>
              <a:t>, having a electric potential of 18.0 V.</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(a) What is the potential difference                         undergone by the charge?</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(b) What is the work done in moving                                 the charge from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to </a:t>
            </a:r>
            <a:r>
              <a:rPr i="1" lang="en-US" sz="2400">
                <a:solidFill>
                  <a:schemeClr val="dk1"/>
                </a:solidFill>
                <a:latin typeface="Arial"/>
                <a:ea typeface="Arial"/>
                <a:cs typeface="Arial"/>
                <a:sym typeface="Arial"/>
              </a:rPr>
              <a:t>B</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SOLUTION:</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(a)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B</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A </a:t>
            </a:r>
            <a:r>
              <a:rPr lang="en-US" sz="2400">
                <a:solidFill>
                  <a:schemeClr val="dk1"/>
                </a:solidFill>
                <a:latin typeface="Arial"/>
                <a:ea typeface="Arial"/>
                <a:cs typeface="Arial"/>
                <a:sym typeface="Arial"/>
              </a:rPr>
              <a:t> = 18.0 – 25.0 = </a:t>
            </a:r>
            <a:r>
              <a:rPr baseline="30000"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7.0 V.</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(b) </a:t>
            </a: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qV</a:t>
            </a:r>
            <a:r>
              <a:rPr lang="en-US" sz="2400">
                <a:solidFill>
                  <a:schemeClr val="dk1"/>
                </a:solidFill>
                <a:latin typeface="Arial"/>
                <a:ea typeface="Arial"/>
                <a:cs typeface="Arial"/>
                <a:sym typeface="Arial"/>
              </a:rPr>
              <a:t> = 15.0×10</a:t>
            </a:r>
            <a:r>
              <a:rPr baseline="30000" lang="en-US" sz="2400">
                <a:solidFill>
                  <a:schemeClr val="dk1"/>
                </a:solidFill>
                <a:latin typeface="Arial"/>
                <a:ea typeface="Arial"/>
                <a:cs typeface="Arial"/>
                <a:sym typeface="Arial"/>
              </a:rPr>
              <a:t>-6</a:t>
            </a:r>
            <a:r>
              <a:rPr lang="en-US" sz="2400">
                <a:solidFill>
                  <a:schemeClr val="dk1"/>
                </a:solidFill>
                <a:latin typeface="Arial"/>
                <a:ea typeface="Arial"/>
                <a:cs typeface="Arial"/>
                <a:sym typeface="Arial"/>
              </a:rPr>
              <a:t>×</a:t>
            </a:r>
            <a:r>
              <a:rPr baseline="30000"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7.0 = </a:t>
            </a:r>
            <a:r>
              <a:rPr baseline="30000"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1.1 ×10</a:t>
            </a:r>
            <a:r>
              <a:rPr baseline="30000" lang="en-US" sz="2400">
                <a:solidFill>
                  <a:schemeClr val="dk1"/>
                </a:solidFill>
                <a:latin typeface="Arial"/>
                <a:ea typeface="Arial"/>
                <a:cs typeface="Arial"/>
                <a:sym typeface="Arial"/>
              </a:rPr>
              <a:t>-4</a:t>
            </a:r>
            <a:r>
              <a:rPr lang="en-US" sz="2400">
                <a:solidFill>
                  <a:schemeClr val="dk1"/>
                </a:solidFill>
                <a:latin typeface="Arial"/>
                <a:ea typeface="Arial"/>
                <a:cs typeface="Arial"/>
                <a:sym typeface="Arial"/>
              </a:rPr>
              <a:t> J.</a:t>
            </a:r>
            <a:endParaRPr/>
          </a:p>
        </p:txBody>
      </p:sp>
      <p:sp>
        <p:nvSpPr>
          <p:cNvPr id="930" name="Google Shape;930;p51"/>
          <p:cNvSpPr/>
          <p:nvPr/>
        </p:nvSpPr>
        <p:spPr>
          <a:xfrm>
            <a:off x="685800" y="1549400"/>
            <a:ext cx="7772400" cy="423863"/>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Potential difference</a:t>
            </a:r>
            <a:r>
              <a:rPr lang="en-US" sz="2400">
                <a:solidFill>
                  <a:schemeClr val="dk1"/>
                </a:solidFill>
                <a:latin typeface="Arial"/>
                <a:ea typeface="Arial"/>
                <a:cs typeface="Arial"/>
                <a:sym typeface="Arial"/>
              </a:rPr>
              <a:t> </a:t>
            </a:r>
            <a:endParaRPr/>
          </a:p>
        </p:txBody>
      </p:sp>
      <p:sp>
        <p:nvSpPr>
          <p:cNvPr id="931" name="Google Shape;931;p51"/>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D: Fields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D.2 – Electric fields (SL)</a:t>
            </a:r>
            <a:endParaRPr/>
          </a:p>
        </p:txBody>
      </p:sp>
      <p:grpSp>
        <p:nvGrpSpPr>
          <p:cNvPr id="932" name="Google Shape;932;p51"/>
          <p:cNvGrpSpPr/>
          <p:nvPr/>
        </p:nvGrpSpPr>
        <p:grpSpPr>
          <a:xfrm>
            <a:off x="5991225" y="3443288"/>
            <a:ext cx="387350" cy="457200"/>
            <a:chOff x="4396" y="2070"/>
            <a:chExt cx="244" cy="288"/>
          </a:xfrm>
        </p:grpSpPr>
        <p:sp>
          <p:nvSpPr>
            <p:cNvPr id="933" name="Google Shape;933;p51"/>
            <p:cNvSpPr/>
            <p:nvPr/>
          </p:nvSpPr>
          <p:spPr>
            <a:xfrm>
              <a:off x="4409" y="2105"/>
              <a:ext cx="220" cy="220"/>
            </a:xfrm>
            <a:prstGeom prst="ellipse">
              <a:avLst/>
            </a:prstGeom>
            <a:gradFill>
              <a:gsLst>
                <a:gs pos="0">
                  <a:srgbClr val="765E2F"/>
                </a:gs>
                <a:gs pos="100000">
                  <a:srgbClr val="FFCC66"/>
                </a:gs>
              </a:gsLst>
              <a:lin ang="27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934" name="Google Shape;934;p51"/>
            <p:cNvSpPr txBox="1"/>
            <p:nvPr/>
          </p:nvSpPr>
          <p:spPr>
            <a:xfrm>
              <a:off x="4396" y="207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A</a:t>
              </a:r>
              <a:endParaRPr/>
            </a:p>
          </p:txBody>
        </p:sp>
      </p:grpSp>
      <p:grpSp>
        <p:nvGrpSpPr>
          <p:cNvPr id="935" name="Google Shape;935;p51"/>
          <p:cNvGrpSpPr/>
          <p:nvPr/>
        </p:nvGrpSpPr>
        <p:grpSpPr>
          <a:xfrm>
            <a:off x="7856538" y="3452813"/>
            <a:ext cx="387350" cy="457200"/>
            <a:chOff x="5191" y="2069"/>
            <a:chExt cx="244" cy="288"/>
          </a:xfrm>
        </p:grpSpPr>
        <p:sp>
          <p:nvSpPr>
            <p:cNvPr id="936" name="Google Shape;936;p51"/>
            <p:cNvSpPr/>
            <p:nvPr/>
          </p:nvSpPr>
          <p:spPr>
            <a:xfrm>
              <a:off x="5199" y="2100"/>
              <a:ext cx="227" cy="227"/>
            </a:xfrm>
            <a:prstGeom prst="ellipse">
              <a:avLst/>
            </a:prstGeom>
            <a:gradFill>
              <a:gsLst>
                <a:gs pos="0">
                  <a:srgbClr val="765E2F"/>
                </a:gs>
                <a:gs pos="100000">
                  <a:srgbClr val="FFCC66"/>
                </a:gs>
              </a:gsLst>
              <a:lin ang="27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937" name="Google Shape;937;p51"/>
            <p:cNvSpPr txBox="1"/>
            <p:nvPr/>
          </p:nvSpPr>
          <p:spPr>
            <a:xfrm>
              <a:off x="5191" y="2069"/>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B</a:t>
              </a:r>
              <a:endParaRPr/>
            </a:p>
          </p:txBody>
        </p:sp>
      </p:grpSp>
      <p:cxnSp>
        <p:nvCxnSpPr>
          <p:cNvPr id="938" name="Google Shape;938;p51"/>
          <p:cNvCxnSpPr/>
          <p:nvPr/>
        </p:nvCxnSpPr>
        <p:spPr>
          <a:xfrm>
            <a:off x="6340475" y="3670300"/>
            <a:ext cx="1528763" cy="0"/>
          </a:xfrm>
          <a:prstGeom prst="straightConnector1">
            <a:avLst/>
          </a:prstGeom>
          <a:noFill/>
          <a:ln cap="flat" cmpd="sng" w="19050">
            <a:solidFill>
              <a:srgbClr val="FF0000"/>
            </a:solidFill>
            <a:prstDash val="dash"/>
            <a:round/>
            <a:headEnd len="med" w="med" type="none"/>
            <a:tailEnd len="med" w="med" type="triangle"/>
          </a:ln>
        </p:spPr>
      </p:cxnSp>
      <p:grpSp>
        <p:nvGrpSpPr>
          <p:cNvPr id="939" name="Google Shape;939;p51"/>
          <p:cNvGrpSpPr/>
          <p:nvPr/>
        </p:nvGrpSpPr>
        <p:grpSpPr>
          <a:xfrm>
            <a:off x="6156325" y="3587750"/>
            <a:ext cx="354013" cy="509588"/>
            <a:chOff x="3922" y="2668"/>
            <a:chExt cx="223" cy="321"/>
          </a:xfrm>
        </p:grpSpPr>
        <p:sp>
          <p:nvSpPr>
            <p:cNvPr id="940" name="Google Shape;940;p51"/>
            <p:cNvSpPr/>
            <p:nvPr/>
          </p:nvSpPr>
          <p:spPr>
            <a:xfrm>
              <a:off x="3987" y="2668"/>
              <a:ext cx="106" cy="106"/>
            </a:xfrm>
            <a:prstGeom prst="ellipse">
              <a:avLst/>
            </a:prstGeom>
            <a:gradFill>
              <a:gsLst>
                <a:gs pos="0">
                  <a:srgbClr val="FF0000"/>
                </a:gs>
                <a:gs pos="100000">
                  <a:srgbClr val="7600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941" name="Google Shape;941;p51"/>
            <p:cNvSpPr txBox="1"/>
            <p:nvPr/>
          </p:nvSpPr>
          <p:spPr>
            <a:xfrm>
              <a:off x="3922" y="2701"/>
              <a:ext cx="22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q</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29">
                                            <p:txEl>
                                              <p:pRg end="0" st="0"/>
                                            </p:txEl>
                                          </p:spTgt>
                                        </p:tgtEl>
                                        <p:attrNameLst>
                                          <p:attrName>style.visibility</p:attrName>
                                        </p:attrNameLst>
                                      </p:cBhvr>
                                      <p:to>
                                        <p:strVal val="visible"/>
                                      </p:to>
                                    </p:set>
                                    <p:anim calcmode="lin" valueType="num">
                                      <p:cBhvr additive="base">
                                        <p:cTn dur="500"/>
                                        <p:tgtEl>
                                          <p:spTgt spid="92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29">
                                            <p:txEl>
                                              <p:pRg end="1" st="1"/>
                                            </p:txEl>
                                          </p:spTgt>
                                        </p:tgtEl>
                                        <p:attrNameLst>
                                          <p:attrName>style.visibility</p:attrName>
                                        </p:attrNameLst>
                                      </p:cBhvr>
                                      <p:to>
                                        <p:strVal val="visible"/>
                                      </p:to>
                                    </p:set>
                                    <p:anim calcmode="lin" valueType="num">
                                      <p:cBhvr additive="base">
                                        <p:cTn dur="500"/>
                                        <p:tgtEl>
                                          <p:spTgt spid="92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29">
                                            <p:txEl>
                                              <p:pRg end="2" st="2"/>
                                            </p:txEl>
                                          </p:spTgt>
                                        </p:tgtEl>
                                        <p:attrNameLst>
                                          <p:attrName>style.visibility</p:attrName>
                                        </p:attrNameLst>
                                      </p:cBhvr>
                                      <p:to>
                                        <p:strVal val="visible"/>
                                      </p:to>
                                    </p:set>
                                    <p:anim calcmode="lin" valueType="num">
                                      <p:cBhvr additive="base">
                                        <p:cTn dur="500"/>
                                        <p:tgtEl>
                                          <p:spTgt spid="92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29">
                                            <p:txEl>
                                              <p:pRg end="3" st="3"/>
                                            </p:txEl>
                                          </p:spTgt>
                                        </p:tgtEl>
                                        <p:attrNameLst>
                                          <p:attrName>style.visibility</p:attrName>
                                        </p:attrNameLst>
                                      </p:cBhvr>
                                      <p:to>
                                        <p:strVal val="visible"/>
                                      </p:to>
                                    </p:set>
                                    <p:anim calcmode="lin" valueType="num">
                                      <p:cBhvr additive="base">
                                        <p:cTn dur="500"/>
                                        <p:tgtEl>
                                          <p:spTgt spid="92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29">
                                            <p:txEl>
                                              <p:pRg end="4" st="4"/>
                                            </p:txEl>
                                          </p:spTgt>
                                        </p:tgtEl>
                                        <p:attrNameLst>
                                          <p:attrName>style.visibility</p:attrName>
                                        </p:attrNameLst>
                                      </p:cBhvr>
                                      <p:to>
                                        <p:strVal val="visible"/>
                                      </p:to>
                                    </p:set>
                                    <p:anim calcmode="lin" valueType="num">
                                      <p:cBhvr additive="base">
                                        <p:cTn dur="500"/>
                                        <p:tgtEl>
                                          <p:spTgt spid="92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29">
                                            <p:txEl>
                                              <p:pRg end="5" st="5"/>
                                            </p:txEl>
                                          </p:spTgt>
                                        </p:tgtEl>
                                        <p:attrNameLst>
                                          <p:attrName>style.visibility</p:attrName>
                                        </p:attrNameLst>
                                      </p:cBhvr>
                                      <p:to>
                                        <p:strVal val="visible"/>
                                      </p:to>
                                    </p:set>
                                    <p:anim calcmode="lin" valueType="num">
                                      <p:cBhvr additive="base">
                                        <p:cTn dur="500"/>
                                        <p:tgtEl>
                                          <p:spTgt spid="929">
                                            <p:txEl>
                                              <p:pRg end="5" st="5"/>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0"/>
                                  </p:stCondLst>
                                  <p:childTnLst>
                                    <p:set>
                                      <p:cBhvr>
                                        <p:cTn dur="1" fill="hold">
                                          <p:stCondLst>
                                            <p:cond delay="0"/>
                                          </p:stCondLst>
                                        </p:cTn>
                                        <p:tgtEl>
                                          <p:spTgt spid="932"/>
                                        </p:tgtEl>
                                        <p:attrNameLst>
                                          <p:attrName>style.visibility</p:attrName>
                                        </p:attrNameLst>
                                      </p:cBhvr>
                                      <p:to>
                                        <p:strVal val="visible"/>
                                      </p:to>
                                    </p:set>
                                    <p:anim calcmode="lin" valueType="num">
                                      <p:cBhvr additive="base">
                                        <p:cTn dur="500"/>
                                        <p:tgtEl>
                                          <p:spTgt spid="932"/>
                                        </p:tgtEl>
                                        <p:attrNameLst>
                                          <p:attrName>ppt_w</p:attrName>
                                        </p:attrNameLst>
                                      </p:cBhvr>
                                      <p:tavLst>
                                        <p:tav fmla="" tm="0">
                                          <p:val>
                                            <p:strVal val="0"/>
                                          </p:val>
                                        </p:tav>
                                        <p:tav fmla="" tm="100000">
                                          <p:val>
                                            <p:strVal val="#ppt_w"/>
                                          </p:val>
                                        </p:tav>
                                      </p:tavLst>
                                    </p:anim>
                                    <p:anim calcmode="lin" valueType="num">
                                      <p:cBhvr additive="base">
                                        <p:cTn dur="500"/>
                                        <p:tgtEl>
                                          <p:spTgt spid="93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935"/>
                                        </p:tgtEl>
                                        <p:attrNameLst>
                                          <p:attrName>style.visibility</p:attrName>
                                        </p:attrNameLst>
                                      </p:cBhvr>
                                      <p:to>
                                        <p:strVal val="visible"/>
                                      </p:to>
                                    </p:set>
                                    <p:anim calcmode="lin" valueType="num">
                                      <p:cBhvr additive="base">
                                        <p:cTn dur="500"/>
                                        <p:tgtEl>
                                          <p:spTgt spid="935"/>
                                        </p:tgtEl>
                                        <p:attrNameLst>
                                          <p:attrName>ppt_w</p:attrName>
                                        </p:attrNameLst>
                                      </p:cBhvr>
                                      <p:tavLst>
                                        <p:tav fmla="" tm="0">
                                          <p:val>
                                            <p:strVal val="0"/>
                                          </p:val>
                                        </p:tav>
                                        <p:tav fmla="" tm="100000">
                                          <p:val>
                                            <p:strVal val="#ppt_w"/>
                                          </p:val>
                                        </p:tav>
                                      </p:tavLst>
                                    </p:anim>
                                    <p:anim calcmode="lin" valueType="num">
                                      <p:cBhvr additive="base">
                                        <p:cTn dur="500"/>
                                        <p:tgtEl>
                                          <p:spTgt spid="93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39"/>
                                        </p:tgtEl>
                                        <p:attrNameLst>
                                          <p:attrName>style.visibility</p:attrName>
                                        </p:attrNameLst>
                                      </p:cBhvr>
                                      <p:to>
                                        <p:strVal val="visible"/>
                                      </p:to>
                                    </p:set>
                                    <p:anim calcmode="lin" valueType="num">
                                      <p:cBhvr additive="base">
                                        <p:cTn dur="500"/>
                                        <p:tgtEl>
                                          <p:spTgt spid="939"/>
                                        </p:tgtEl>
                                        <p:attrNameLst>
                                          <p:attrName>ppt_w</p:attrName>
                                        </p:attrNameLst>
                                      </p:cBhvr>
                                      <p:tavLst>
                                        <p:tav fmla="" tm="0">
                                          <p:val>
                                            <p:strVal val="0"/>
                                          </p:val>
                                        </p:tav>
                                        <p:tav fmla="" tm="100000">
                                          <p:val>
                                            <p:strVal val="#ppt_w"/>
                                          </p:val>
                                        </p:tav>
                                      </p:tavLst>
                                    </p:anim>
                                    <p:anim calcmode="lin" valueType="num">
                                      <p:cBhvr additive="base">
                                        <p:cTn dur="500"/>
                                        <p:tgtEl>
                                          <p:spTgt spid="939"/>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938"/>
                                        </p:tgtEl>
                                        <p:attrNameLst>
                                          <p:attrName>style.visibility</p:attrName>
                                        </p:attrNameLst>
                                      </p:cBhvr>
                                      <p:to>
                                        <p:strVal val="visible"/>
                                      </p:to>
                                    </p:set>
                                    <p:animEffect filter="fade" transition="in">
                                      <p:cBhvr>
                                        <p:cTn dur="2000"/>
                                        <p:tgtEl>
                                          <p:spTgt spid="9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52"/>
          <p:cNvSpPr/>
          <p:nvPr/>
        </p:nvSpPr>
        <p:spPr>
          <a:xfrm>
            <a:off x="682625" y="6081713"/>
            <a:ext cx="7777163" cy="776287"/>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1" i="1" lang="en-US" sz="2400">
                <a:solidFill>
                  <a:schemeClr val="dk1"/>
                </a:solidFill>
                <a:latin typeface="Arial"/>
                <a:ea typeface="Arial"/>
                <a:cs typeface="Arial"/>
                <a:sym typeface="Arial"/>
              </a:rPr>
              <a:t>FYI  </a:t>
            </a: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We will use electronvolts in Topic 7 when we study atomic physics.</a:t>
            </a:r>
            <a:endParaRPr/>
          </a:p>
        </p:txBody>
      </p:sp>
      <p:sp>
        <p:nvSpPr>
          <p:cNvPr id="947" name="Google Shape;947;p52"/>
          <p:cNvSpPr/>
          <p:nvPr/>
        </p:nvSpPr>
        <p:spPr>
          <a:xfrm>
            <a:off x="685800" y="1549400"/>
            <a:ext cx="7772400" cy="4546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Potential difference </a:t>
            </a:r>
            <a:r>
              <a:rPr lang="en-US" sz="2400">
                <a:solidFill>
                  <a:schemeClr val="accent2"/>
                </a:solidFill>
                <a:latin typeface="Arial"/>
                <a:ea typeface="Arial"/>
                <a:cs typeface="Arial"/>
                <a:sym typeface="Arial"/>
              </a:rPr>
              <a:t>– the electronvolt</a:t>
            </a:r>
            <a:r>
              <a:rPr lang="en-US" sz="2400">
                <a:solidFill>
                  <a:schemeClr val="dk1"/>
                </a:solidFill>
                <a:latin typeface="Arial"/>
                <a:ea typeface="Arial"/>
                <a:cs typeface="Arial"/>
                <a:sym typeface="Arial"/>
              </a:rPr>
              <a:t> </a:t>
            </a:r>
            <a:endParaRPr/>
          </a:p>
          <a:p>
            <a:pPr indent="0" lvl="0" marL="0" marR="0" rtl="0" algn="l">
              <a:spcBef>
                <a:spcPts val="0"/>
              </a:spcBef>
              <a:spcAft>
                <a:spcPts val="0"/>
              </a:spcAft>
              <a:buClr>
                <a:srgbClr val="000000"/>
              </a:buClr>
              <a:buSzPts val="2400"/>
              <a:buFont typeface="Arial"/>
              <a:buNone/>
            </a:pPr>
            <a:r>
              <a:rPr lang="en-US" sz="2400">
                <a:solidFill>
                  <a:srgbClr val="000000"/>
                </a:solidFill>
                <a:latin typeface="Arial"/>
                <a:ea typeface="Arial"/>
                <a:cs typeface="Arial"/>
                <a:sym typeface="Arial"/>
              </a:rPr>
              <a:t>∙When speaking of energies of individual charges (like electrons in atoms), rather than large groups of charges (like currents through wire), Joules are too large and awkward.</a:t>
            </a:r>
            <a:endParaRPr/>
          </a:p>
          <a:p>
            <a:pPr indent="0" lvl="0" marL="0" marR="0" rtl="0" algn="l">
              <a:spcBef>
                <a:spcPts val="480"/>
              </a:spcBef>
              <a:spcAft>
                <a:spcPts val="0"/>
              </a:spcAft>
              <a:buClr>
                <a:srgbClr val="000000"/>
              </a:buClr>
              <a:buSzPts val="2400"/>
              <a:buFont typeface="Arial"/>
              <a:buNone/>
            </a:pPr>
            <a:r>
              <a:rPr lang="en-US" sz="2400">
                <a:solidFill>
                  <a:srgbClr val="000000"/>
                </a:solidFill>
                <a:latin typeface="Arial"/>
                <a:ea typeface="Arial"/>
                <a:cs typeface="Arial"/>
                <a:sym typeface="Arial"/>
              </a:rPr>
              <a:t>∙We define the </a:t>
            </a:r>
            <a:r>
              <a:rPr b="1" lang="en-US" sz="2400">
                <a:solidFill>
                  <a:srgbClr val="000000"/>
                </a:solidFill>
                <a:latin typeface="Arial"/>
                <a:ea typeface="Arial"/>
                <a:cs typeface="Arial"/>
                <a:sym typeface="Arial"/>
              </a:rPr>
              <a:t>electronvolt  </a:t>
            </a:r>
            <a:r>
              <a:rPr lang="en-US" sz="2400">
                <a:solidFill>
                  <a:srgbClr val="000000"/>
                </a:solidFill>
                <a:latin typeface="Arial"/>
                <a:ea typeface="Arial"/>
                <a:cs typeface="Arial"/>
                <a:sym typeface="Arial"/>
              </a:rPr>
              <a:t>eV</a:t>
            </a:r>
            <a:r>
              <a:rPr i="1" lang="en-US" sz="24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as the work done when 1 elementary charge </a:t>
            </a:r>
            <a:r>
              <a:rPr i="1" lang="en-US" sz="2400">
                <a:solidFill>
                  <a:srgbClr val="000000"/>
                </a:solidFill>
                <a:latin typeface="Arial"/>
                <a:ea typeface="Arial"/>
                <a:cs typeface="Arial"/>
                <a:sym typeface="Arial"/>
              </a:rPr>
              <a:t>e</a:t>
            </a:r>
            <a:r>
              <a:rPr lang="en-US" sz="2400">
                <a:solidFill>
                  <a:srgbClr val="000000"/>
                </a:solidFill>
                <a:latin typeface="Arial"/>
                <a:ea typeface="Arial"/>
                <a:cs typeface="Arial"/>
                <a:sym typeface="Arial"/>
              </a:rPr>
              <a:t> is moved through a potential difference of 1V. (1V = 1 JC</a:t>
            </a:r>
            <a:r>
              <a:rPr baseline="30000" lang="en-US" sz="2400">
                <a:solidFill>
                  <a:srgbClr val="000000"/>
                </a:solidFill>
                <a:latin typeface="Arial"/>
                <a:ea typeface="Arial"/>
                <a:cs typeface="Arial"/>
                <a:sym typeface="Arial"/>
              </a:rPr>
              <a:t>-1</a:t>
            </a:r>
            <a:r>
              <a:rPr lang="en-US" sz="2400">
                <a:solidFill>
                  <a:srgbClr val="000000"/>
                </a:solidFill>
                <a:latin typeface="Arial"/>
                <a:ea typeface="Arial"/>
                <a:cs typeface="Arial"/>
                <a:sym typeface="Arial"/>
              </a:rPr>
              <a:t>)                                                          </a:t>
            </a:r>
            <a:endParaRPr/>
          </a:p>
          <a:p>
            <a:pPr indent="0" lvl="0" marL="0" marR="0" rtl="0" algn="l">
              <a:spcBef>
                <a:spcPts val="480"/>
              </a:spcBef>
              <a:spcAft>
                <a:spcPts val="0"/>
              </a:spcAft>
              <a:buClr>
                <a:srgbClr val="000000"/>
              </a:buClr>
              <a:buSzPts val="2400"/>
              <a:buFont typeface="Arial"/>
              <a:buNone/>
            </a:pPr>
            <a:r>
              <a:rPr lang="en-US" sz="2400">
                <a:solidFill>
                  <a:srgbClr val="000000"/>
                </a:solidFill>
                <a:latin typeface="Arial"/>
                <a:ea typeface="Arial"/>
                <a:cs typeface="Arial"/>
                <a:sym typeface="Arial"/>
              </a:rPr>
              <a:t>∙From </a:t>
            </a:r>
            <a:r>
              <a:rPr i="1" lang="en-US" sz="2400">
                <a:solidFill>
                  <a:srgbClr val="000000"/>
                </a:solidFill>
                <a:latin typeface="Arial"/>
                <a:ea typeface="Arial"/>
                <a:cs typeface="Arial"/>
                <a:sym typeface="Arial"/>
              </a:rPr>
              <a:t>W </a:t>
            </a:r>
            <a:r>
              <a:rPr lang="en-US" sz="2400">
                <a:solidFill>
                  <a:srgbClr val="000000"/>
                </a:solidFill>
                <a:latin typeface="Arial"/>
                <a:ea typeface="Arial"/>
                <a:cs typeface="Arial"/>
                <a:sym typeface="Arial"/>
              </a:rPr>
              <a:t>= </a:t>
            </a:r>
            <a:r>
              <a:rPr i="1" lang="en-US" sz="2400">
                <a:solidFill>
                  <a:srgbClr val="000000"/>
                </a:solidFill>
                <a:latin typeface="Arial"/>
                <a:ea typeface="Arial"/>
                <a:cs typeface="Arial"/>
                <a:sym typeface="Arial"/>
              </a:rPr>
              <a:t>qV</a:t>
            </a:r>
            <a:r>
              <a:rPr lang="en-US" sz="2400">
                <a:solidFill>
                  <a:srgbClr val="000000"/>
                </a:solidFill>
                <a:latin typeface="Arial"/>
                <a:ea typeface="Arial"/>
                <a:cs typeface="Arial"/>
                <a:sym typeface="Arial"/>
              </a:rPr>
              <a:t> we see that</a:t>
            </a:r>
            <a:endParaRPr/>
          </a:p>
          <a:p>
            <a:pPr indent="0" lvl="0" marL="0" marR="0" rtl="0" algn="l">
              <a:spcBef>
                <a:spcPts val="480"/>
              </a:spcBef>
              <a:spcAft>
                <a:spcPts val="0"/>
              </a:spcAft>
              <a:buClr>
                <a:srgbClr val="000000"/>
              </a:buClr>
              <a:buSzPts val="2400"/>
              <a:buFont typeface="Arial"/>
              <a:buNone/>
            </a:pPr>
            <a:r>
              <a:rPr lang="en-US" sz="2400">
                <a:solidFill>
                  <a:srgbClr val="000000"/>
                </a:solidFill>
                <a:latin typeface="Arial"/>
                <a:ea typeface="Arial"/>
                <a:cs typeface="Arial"/>
                <a:sym typeface="Arial"/>
              </a:rPr>
              <a:t>      1 eV = </a:t>
            </a:r>
            <a:r>
              <a:rPr i="1" lang="en-US" sz="2400">
                <a:solidFill>
                  <a:srgbClr val="000000"/>
                </a:solidFill>
                <a:latin typeface="Arial"/>
                <a:ea typeface="Arial"/>
                <a:cs typeface="Arial"/>
                <a:sym typeface="Arial"/>
              </a:rPr>
              <a:t>eV</a:t>
            </a:r>
            <a:r>
              <a:rPr lang="en-US" sz="2400">
                <a:solidFill>
                  <a:srgbClr val="000000"/>
                </a:solidFill>
                <a:latin typeface="Arial"/>
                <a:ea typeface="Arial"/>
                <a:cs typeface="Arial"/>
                <a:sym typeface="Arial"/>
              </a:rPr>
              <a:t> = (</a:t>
            </a:r>
            <a:r>
              <a:rPr lang="en-US" sz="2400">
                <a:solidFill>
                  <a:schemeClr val="dk1"/>
                </a:solidFill>
                <a:latin typeface="Arial"/>
                <a:ea typeface="Arial"/>
                <a:cs typeface="Arial"/>
                <a:sym typeface="Arial"/>
              </a:rPr>
              <a:t>1.60×10</a:t>
            </a:r>
            <a:r>
              <a:rPr baseline="30000" lang="en-US" sz="2400">
                <a:solidFill>
                  <a:schemeClr val="dk1"/>
                </a:solidFill>
                <a:latin typeface="Arial"/>
                <a:ea typeface="Arial"/>
                <a:cs typeface="Arial"/>
                <a:sym typeface="Arial"/>
              </a:rPr>
              <a:t>-19</a:t>
            </a:r>
            <a:r>
              <a:rPr lang="en-US" sz="2400">
                <a:solidFill>
                  <a:schemeClr val="dk1"/>
                </a:solidFill>
                <a:latin typeface="Arial"/>
                <a:ea typeface="Arial"/>
                <a:cs typeface="Arial"/>
                <a:sym typeface="Arial"/>
              </a:rPr>
              <a:t> C)(1 </a:t>
            </a:r>
            <a:r>
              <a:rPr lang="en-US" sz="2400">
                <a:solidFill>
                  <a:srgbClr val="000000"/>
                </a:solidFill>
                <a:latin typeface="Arial"/>
                <a:ea typeface="Arial"/>
                <a:cs typeface="Arial"/>
                <a:sym typeface="Arial"/>
              </a:rPr>
              <a:t>JC</a:t>
            </a:r>
            <a:r>
              <a:rPr baseline="30000" lang="en-US" sz="2400">
                <a:solidFill>
                  <a:srgbClr val="000000"/>
                </a:solidFill>
                <a:latin typeface="Arial"/>
                <a:ea typeface="Arial"/>
                <a:cs typeface="Arial"/>
                <a:sym typeface="Arial"/>
              </a:rPr>
              <a:t>-1</a:t>
            </a:r>
            <a:r>
              <a:rPr lang="en-US" sz="2400">
                <a:solidFill>
                  <a:schemeClr val="dk1"/>
                </a:solidFill>
                <a:latin typeface="Arial"/>
                <a:ea typeface="Arial"/>
                <a:cs typeface="Arial"/>
                <a:sym typeface="Arial"/>
              </a:rPr>
              <a:t>) = 1.60×10</a:t>
            </a:r>
            <a:r>
              <a:rPr baseline="30000" lang="en-US" sz="2400">
                <a:solidFill>
                  <a:schemeClr val="dk1"/>
                </a:solidFill>
                <a:latin typeface="Arial"/>
                <a:ea typeface="Arial"/>
                <a:cs typeface="Arial"/>
                <a:sym typeface="Arial"/>
              </a:rPr>
              <a:t>-19</a:t>
            </a:r>
            <a:r>
              <a:rPr lang="en-US" sz="2400">
                <a:solidFill>
                  <a:schemeClr val="dk1"/>
                </a:solidFill>
                <a:latin typeface="Arial"/>
                <a:ea typeface="Arial"/>
                <a:cs typeface="Arial"/>
                <a:sym typeface="Arial"/>
              </a:rPr>
              <a:t> J.</a:t>
            </a:r>
            <a:endParaRPr/>
          </a:p>
        </p:txBody>
      </p:sp>
      <p:sp>
        <p:nvSpPr>
          <p:cNvPr id="948" name="Google Shape;948;p52"/>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D: Fields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D.2 – Electric fields (SL)</a:t>
            </a:r>
            <a:endParaRPr/>
          </a:p>
        </p:txBody>
      </p:sp>
      <p:grpSp>
        <p:nvGrpSpPr>
          <p:cNvPr id="949" name="Google Shape;949;p52"/>
          <p:cNvGrpSpPr/>
          <p:nvPr/>
        </p:nvGrpSpPr>
        <p:grpSpPr>
          <a:xfrm>
            <a:off x="809625" y="5553075"/>
            <a:ext cx="7464425" cy="457200"/>
            <a:chOff x="510" y="2266"/>
            <a:chExt cx="4702" cy="288"/>
          </a:xfrm>
        </p:grpSpPr>
        <p:sp>
          <p:nvSpPr>
            <p:cNvPr id="950" name="Google Shape;950;p52"/>
            <p:cNvSpPr/>
            <p:nvPr/>
          </p:nvSpPr>
          <p:spPr>
            <a:xfrm>
              <a:off x="592" y="2279"/>
              <a:ext cx="2178" cy="25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1 eV = 1.60×10</a:t>
              </a:r>
              <a:r>
                <a:rPr baseline="30000" lang="en-US" sz="2400">
                  <a:solidFill>
                    <a:schemeClr val="dk1"/>
                  </a:solidFill>
                  <a:latin typeface="Arial"/>
                  <a:ea typeface="Arial"/>
                  <a:cs typeface="Arial"/>
                  <a:sym typeface="Arial"/>
                </a:rPr>
                <a:t>-19</a:t>
              </a:r>
              <a:r>
                <a:rPr lang="en-US" sz="2400">
                  <a:solidFill>
                    <a:schemeClr val="dk1"/>
                  </a:solidFill>
                  <a:latin typeface="Arial"/>
                  <a:ea typeface="Arial"/>
                  <a:cs typeface="Arial"/>
                  <a:sym typeface="Arial"/>
                </a:rPr>
                <a:t> J</a:t>
              </a:r>
              <a:endParaRPr sz="2400">
                <a:solidFill>
                  <a:schemeClr val="dk1"/>
                </a:solidFill>
                <a:latin typeface="Arial"/>
                <a:ea typeface="Arial"/>
                <a:cs typeface="Arial"/>
                <a:sym typeface="Arial"/>
              </a:endParaRPr>
            </a:p>
          </p:txBody>
        </p:sp>
        <p:sp>
          <p:nvSpPr>
            <p:cNvPr id="951" name="Google Shape;951;p52"/>
            <p:cNvSpPr txBox="1"/>
            <p:nvPr/>
          </p:nvSpPr>
          <p:spPr>
            <a:xfrm>
              <a:off x="2951" y="2266"/>
              <a:ext cx="2261" cy="28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electronvolt conversion</a:t>
              </a:r>
              <a:endParaRPr/>
            </a:p>
          </p:txBody>
        </p:sp>
        <p:sp>
          <p:nvSpPr>
            <p:cNvPr id="952" name="Google Shape;952;p52"/>
            <p:cNvSpPr/>
            <p:nvPr/>
          </p:nvSpPr>
          <p:spPr>
            <a:xfrm>
              <a:off x="510" y="2268"/>
              <a:ext cx="4701" cy="284"/>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49"/>
                                        </p:tgtEl>
                                        <p:attrNameLst>
                                          <p:attrName>style.visibility</p:attrName>
                                        </p:attrNameLst>
                                      </p:cBhvr>
                                      <p:to>
                                        <p:strVal val="visible"/>
                                      </p:to>
                                    </p:set>
                                    <p:anim calcmode="lin" valueType="num">
                                      <p:cBhvr additive="base">
                                        <p:cTn dur="500"/>
                                        <p:tgtEl>
                                          <p:spTgt spid="949"/>
                                        </p:tgtEl>
                                        <p:attrNameLst>
                                          <p:attrName>ppt_w</p:attrName>
                                        </p:attrNameLst>
                                      </p:cBhvr>
                                      <p:tavLst>
                                        <p:tav fmla="" tm="0">
                                          <p:val>
                                            <p:strVal val="0"/>
                                          </p:val>
                                        </p:tav>
                                        <p:tav fmla="" tm="100000">
                                          <p:val>
                                            <p:strVal val="#ppt_w"/>
                                          </p:val>
                                        </p:tav>
                                      </p:tavLst>
                                    </p:anim>
                                    <p:anim calcmode="lin" valueType="num">
                                      <p:cBhvr additive="base">
                                        <p:cTn dur="500"/>
                                        <p:tgtEl>
                                          <p:spTgt spid="94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46">
                                            <p:txEl>
                                              <p:pRg end="0" st="0"/>
                                            </p:txEl>
                                          </p:spTgt>
                                        </p:tgtEl>
                                        <p:attrNameLst>
                                          <p:attrName>style.visibility</p:attrName>
                                        </p:attrNameLst>
                                      </p:cBhvr>
                                      <p:to>
                                        <p:strVal val="visible"/>
                                      </p:to>
                                    </p:set>
                                    <p:anim calcmode="lin" valueType="num">
                                      <p:cBhvr additive="base">
                                        <p:cTn dur="500"/>
                                        <p:tgtEl>
                                          <p:spTgt spid="94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53"/>
          <p:cNvSpPr/>
          <p:nvPr/>
        </p:nvSpPr>
        <p:spPr>
          <a:xfrm>
            <a:off x="682625" y="5661025"/>
            <a:ext cx="7777163" cy="1196975"/>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1" i="1" lang="en-US" sz="2400">
                <a:solidFill>
                  <a:schemeClr val="dk1"/>
                </a:solidFill>
                <a:latin typeface="Arial"/>
                <a:ea typeface="Arial"/>
                <a:cs typeface="Arial"/>
                <a:sym typeface="Arial"/>
              </a:rPr>
              <a:t>FYI</a:t>
            </a:r>
            <a:endParaRPr/>
          </a:p>
          <a:p>
            <a:pPr indent="0" lvl="0" marL="0" marR="0" rtl="0" algn="l">
              <a:spcBef>
                <a:spcPts val="24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Since the electron is more attracted to A than B, we have stored this energy as potential energy.</a:t>
            </a:r>
            <a:endParaRPr/>
          </a:p>
        </p:txBody>
      </p:sp>
      <p:sp>
        <p:nvSpPr>
          <p:cNvPr id="958" name="Google Shape;958;p53"/>
          <p:cNvSpPr/>
          <p:nvPr/>
        </p:nvSpPr>
        <p:spPr>
          <a:xfrm>
            <a:off x="687388" y="1973263"/>
            <a:ext cx="7772400" cy="3716337"/>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PRACTICE: An electron is moved from Point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having a voltage (potential) of 25.0 V, to Point                                       </a:t>
            </a:r>
            <a:r>
              <a:rPr i="1" lang="en-US" sz="2400">
                <a:solidFill>
                  <a:schemeClr val="dk1"/>
                </a:solidFill>
                <a:latin typeface="Arial"/>
                <a:ea typeface="Arial"/>
                <a:cs typeface="Arial"/>
                <a:sym typeface="Arial"/>
              </a:rPr>
              <a:t>B</a:t>
            </a:r>
            <a:r>
              <a:rPr lang="en-US" sz="2400">
                <a:solidFill>
                  <a:schemeClr val="dk1"/>
                </a:solidFill>
                <a:latin typeface="Arial"/>
                <a:ea typeface="Arial"/>
                <a:cs typeface="Arial"/>
                <a:sym typeface="Arial"/>
              </a:rPr>
              <a:t>, having a voltage (potential) of 18.0 V.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(a) What is the work done (in eV and in J) on the electron by the external force during the displacement?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SOLUTION: </a:t>
            </a:r>
            <a:endParaRPr/>
          </a:p>
          <a:p>
            <a:pPr indent="0" lvl="0" marL="0" marR="0" rtl="0" algn="l">
              <a:spcBef>
                <a:spcPts val="480"/>
              </a:spcBef>
              <a:spcAft>
                <a:spcPts val="0"/>
              </a:spcAft>
              <a:buClr>
                <a:srgbClr val="000000"/>
              </a:buClr>
              <a:buSzPts val="2400"/>
              <a:buFont typeface="Arial"/>
              <a:buNone/>
            </a:pPr>
            <a:r>
              <a:rPr lang="en-US" sz="2400">
                <a:solidFill>
                  <a:srgbClr val="000000"/>
                </a:solidFill>
                <a:latin typeface="Arial"/>
                <a:ea typeface="Arial"/>
                <a:cs typeface="Arial"/>
                <a:sym typeface="Arial"/>
              </a:rPr>
              <a:t>∙</a:t>
            </a:r>
            <a:r>
              <a:rPr lang="en-US" sz="2400">
                <a:solidFill>
                  <a:schemeClr val="dk1"/>
                </a:solidFill>
                <a:latin typeface="Arial"/>
                <a:ea typeface="Arial"/>
                <a:cs typeface="Arial"/>
                <a:sym typeface="Arial"/>
              </a:rPr>
              <a:t>Use </a:t>
            </a: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q</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B</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Then</a:t>
            </a:r>
            <a:endParaRPr/>
          </a:p>
          <a:p>
            <a:pPr indent="0" lvl="0" marL="0" marR="0" rtl="0" algn="l">
              <a:spcBef>
                <a:spcPts val="480"/>
              </a:spcBef>
              <a:spcAft>
                <a:spcPts val="0"/>
              </a:spcAft>
              <a:buClr>
                <a:schemeClr val="dk1"/>
              </a:buClr>
              <a:buSzPts val="2400"/>
              <a:buFont typeface="Arial"/>
              <a:buNone/>
            </a:pPr>
            <a:r>
              <a:rPr i="1" lang="en-US" sz="2400">
                <a:solidFill>
                  <a:schemeClr val="dk1"/>
                </a:solidFill>
                <a:latin typeface="Arial"/>
                <a:ea typeface="Arial"/>
                <a:cs typeface="Arial"/>
                <a:sym typeface="Arial"/>
              </a:rPr>
              <a:t>	      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a:t>
            </a:r>
            <a:r>
              <a:rPr lang="en-US" sz="2400">
                <a:solidFill>
                  <a:schemeClr val="dk1"/>
                </a:solidFill>
                <a:latin typeface="Arial"/>
                <a:ea typeface="Arial"/>
                <a:cs typeface="Arial"/>
                <a:sym typeface="Arial"/>
              </a:rPr>
              <a:t>(18.0 V – 25.0 V) = 7.0 eV.</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7.0 eV (1.60×10</a:t>
            </a:r>
            <a:r>
              <a:rPr baseline="30000" lang="en-US" sz="2400">
                <a:solidFill>
                  <a:schemeClr val="dk1"/>
                </a:solidFill>
                <a:latin typeface="Arial"/>
                <a:ea typeface="Arial"/>
                <a:cs typeface="Arial"/>
                <a:sym typeface="Arial"/>
              </a:rPr>
              <a:t>-19</a:t>
            </a:r>
            <a:r>
              <a:rPr lang="en-US" sz="2400">
                <a:solidFill>
                  <a:schemeClr val="dk1"/>
                </a:solidFill>
                <a:latin typeface="Arial"/>
                <a:ea typeface="Arial"/>
                <a:cs typeface="Arial"/>
                <a:sym typeface="Arial"/>
              </a:rPr>
              <a:t> J </a:t>
            </a:r>
            <a:r>
              <a:rPr i="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 eV) = 1.12 ×10</a:t>
            </a:r>
            <a:r>
              <a:rPr baseline="30000" lang="en-US" sz="2400">
                <a:solidFill>
                  <a:schemeClr val="dk1"/>
                </a:solidFill>
                <a:latin typeface="Arial"/>
                <a:ea typeface="Arial"/>
                <a:cs typeface="Arial"/>
                <a:sym typeface="Arial"/>
              </a:rPr>
              <a:t>-18</a:t>
            </a:r>
            <a:r>
              <a:rPr lang="en-US" sz="2400">
                <a:solidFill>
                  <a:schemeClr val="dk1"/>
                </a:solidFill>
                <a:latin typeface="Arial"/>
                <a:ea typeface="Arial"/>
                <a:cs typeface="Arial"/>
                <a:sym typeface="Arial"/>
              </a:rPr>
              <a:t> J.</a:t>
            </a:r>
            <a:endParaRPr/>
          </a:p>
        </p:txBody>
      </p:sp>
      <p:sp>
        <p:nvSpPr>
          <p:cNvPr id="959" name="Google Shape;959;p53"/>
          <p:cNvSpPr/>
          <p:nvPr/>
        </p:nvSpPr>
        <p:spPr>
          <a:xfrm>
            <a:off x="685800" y="1549400"/>
            <a:ext cx="7772400" cy="4540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Potential difference </a:t>
            </a:r>
            <a:r>
              <a:rPr lang="en-US" sz="2400">
                <a:solidFill>
                  <a:schemeClr val="accent2"/>
                </a:solidFill>
                <a:latin typeface="Arial"/>
                <a:ea typeface="Arial"/>
                <a:cs typeface="Arial"/>
                <a:sym typeface="Arial"/>
              </a:rPr>
              <a:t>– the electronvolt</a:t>
            </a:r>
            <a:r>
              <a:rPr lang="en-US" sz="2400">
                <a:solidFill>
                  <a:schemeClr val="dk1"/>
                </a:solidFill>
                <a:latin typeface="Arial"/>
                <a:ea typeface="Arial"/>
                <a:cs typeface="Arial"/>
                <a:sym typeface="Arial"/>
              </a:rPr>
              <a:t> </a:t>
            </a:r>
            <a:endParaRPr/>
          </a:p>
        </p:txBody>
      </p:sp>
      <p:sp>
        <p:nvSpPr>
          <p:cNvPr id="960" name="Google Shape;960;p53"/>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D: Fields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D.2 – Electric fields (SL)</a:t>
            </a:r>
            <a:endParaRPr/>
          </a:p>
        </p:txBody>
      </p:sp>
      <p:grpSp>
        <p:nvGrpSpPr>
          <p:cNvPr id="961" name="Google Shape;961;p53"/>
          <p:cNvGrpSpPr/>
          <p:nvPr/>
        </p:nvGrpSpPr>
        <p:grpSpPr>
          <a:xfrm>
            <a:off x="6426200" y="2470150"/>
            <a:ext cx="387350" cy="457200"/>
            <a:chOff x="4396" y="2070"/>
            <a:chExt cx="244" cy="288"/>
          </a:xfrm>
        </p:grpSpPr>
        <p:sp>
          <p:nvSpPr>
            <p:cNvPr id="962" name="Google Shape;962;p53"/>
            <p:cNvSpPr/>
            <p:nvPr/>
          </p:nvSpPr>
          <p:spPr>
            <a:xfrm>
              <a:off x="4409" y="2105"/>
              <a:ext cx="220" cy="220"/>
            </a:xfrm>
            <a:prstGeom prst="ellipse">
              <a:avLst/>
            </a:prstGeom>
            <a:gradFill>
              <a:gsLst>
                <a:gs pos="0">
                  <a:srgbClr val="765E2F"/>
                </a:gs>
                <a:gs pos="100000">
                  <a:srgbClr val="FFCC66"/>
                </a:gs>
              </a:gsLst>
              <a:lin ang="27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963" name="Google Shape;963;p53"/>
            <p:cNvSpPr txBox="1"/>
            <p:nvPr/>
          </p:nvSpPr>
          <p:spPr>
            <a:xfrm>
              <a:off x="4396" y="207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A</a:t>
              </a:r>
              <a:endParaRPr/>
            </a:p>
          </p:txBody>
        </p:sp>
      </p:grpSp>
      <p:grpSp>
        <p:nvGrpSpPr>
          <p:cNvPr id="964" name="Google Shape;964;p53"/>
          <p:cNvGrpSpPr/>
          <p:nvPr/>
        </p:nvGrpSpPr>
        <p:grpSpPr>
          <a:xfrm>
            <a:off x="8291513" y="2479675"/>
            <a:ext cx="387350" cy="457200"/>
            <a:chOff x="5191" y="2069"/>
            <a:chExt cx="244" cy="288"/>
          </a:xfrm>
        </p:grpSpPr>
        <p:sp>
          <p:nvSpPr>
            <p:cNvPr id="965" name="Google Shape;965;p53"/>
            <p:cNvSpPr/>
            <p:nvPr/>
          </p:nvSpPr>
          <p:spPr>
            <a:xfrm>
              <a:off x="5199" y="2100"/>
              <a:ext cx="227" cy="227"/>
            </a:xfrm>
            <a:prstGeom prst="ellipse">
              <a:avLst/>
            </a:prstGeom>
            <a:gradFill>
              <a:gsLst>
                <a:gs pos="0">
                  <a:srgbClr val="765E2F"/>
                </a:gs>
                <a:gs pos="100000">
                  <a:srgbClr val="FFCC66"/>
                </a:gs>
              </a:gsLst>
              <a:lin ang="27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966" name="Google Shape;966;p53"/>
            <p:cNvSpPr txBox="1"/>
            <p:nvPr/>
          </p:nvSpPr>
          <p:spPr>
            <a:xfrm>
              <a:off x="5191" y="2069"/>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B</a:t>
              </a:r>
              <a:endParaRPr/>
            </a:p>
          </p:txBody>
        </p:sp>
      </p:grpSp>
      <p:cxnSp>
        <p:nvCxnSpPr>
          <p:cNvPr id="967" name="Google Shape;967;p53"/>
          <p:cNvCxnSpPr/>
          <p:nvPr/>
        </p:nvCxnSpPr>
        <p:spPr>
          <a:xfrm>
            <a:off x="6775450" y="2697163"/>
            <a:ext cx="1528763" cy="0"/>
          </a:xfrm>
          <a:prstGeom prst="straightConnector1">
            <a:avLst/>
          </a:prstGeom>
          <a:noFill/>
          <a:ln cap="flat" cmpd="sng" w="19050">
            <a:solidFill>
              <a:srgbClr val="FF0000"/>
            </a:solidFill>
            <a:prstDash val="dash"/>
            <a:round/>
            <a:headEnd len="med" w="med" type="none"/>
            <a:tailEnd len="med" w="med" type="triangle"/>
          </a:ln>
        </p:spPr>
      </p:cxnSp>
      <p:grpSp>
        <p:nvGrpSpPr>
          <p:cNvPr id="968" name="Google Shape;968;p53"/>
          <p:cNvGrpSpPr/>
          <p:nvPr/>
        </p:nvGrpSpPr>
        <p:grpSpPr>
          <a:xfrm>
            <a:off x="6591300" y="2614613"/>
            <a:ext cx="354013" cy="509587"/>
            <a:chOff x="3922" y="2668"/>
            <a:chExt cx="223" cy="321"/>
          </a:xfrm>
        </p:grpSpPr>
        <p:sp>
          <p:nvSpPr>
            <p:cNvPr id="969" name="Google Shape;969;p53"/>
            <p:cNvSpPr/>
            <p:nvPr/>
          </p:nvSpPr>
          <p:spPr>
            <a:xfrm>
              <a:off x="3987" y="2668"/>
              <a:ext cx="106" cy="106"/>
            </a:xfrm>
            <a:prstGeom prst="ellipse">
              <a:avLst/>
            </a:prstGeom>
            <a:gradFill>
              <a:gsLst>
                <a:gs pos="0">
                  <a:srgbClr val="FF0000"/>
                </a:gs>
                <a:gs pos="100000">
                  <a:srgbClr val="7600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970" name="Google Shape;970;p53"/>
            <p:cNvSpPr txBox="1"/>
            <p:nvPr/>
          </p:nvSpPr>
          <p:spPr>
            <a:xfrm>
              <a:off x="3922" y="2701"/>
              <a:ext cx="22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q</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8">
                                            <p:txEl>
                                              <p:pRg end="0" st="0"/>
                                            </p:txEl>
                                          </p:spTgt>
                                        </p:tgtEl>
                                        <p:attrNameLst>
                                          <p:attrName>style.visibility</p:attrName>
                                        </p:attrNameLst>
                                      </p:cBhvr>
                                      <p:to>
                                        <p:strVal val="visible"/>
                                      </p:to>
                                    </p:set>
                                    <p:anim calcmode="lin" valueType="num">
                                      <p:cBhvr additive="base">
                                        <p:cTn dur="500"/>
                                        <p:tgtEl>
                                          <p:spTgt spid="95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8">
                                            <p:txEl>
                                              <p:pRg end="1" st="1"/>
                                            </p:txEl>
                                          </p:spTgt>
                                        </p:tgtEl>
                                        <p:attrNameLst>
                                          <p:attrName>style.visibility</p:attrName>
                                        </p:attrNameLst>
                                      </p:cBhvr>
                                      <p:to>
                                        <p:strVal val="visible"/>
                                      </p:to>
                                    </p:set>
                                    <p:anim calcmode="lin" valueType="num">
                                      <p:cBhvr additive="base">
                                        <p:cTn dur="500"/>
                                        <p:tgtEl>
                                          <p:spTgt spid="95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8">
                                            <p:txEl>
                                              <p:pRg end="2" st="2"/>
                                            </p:txEl>
                                          </p:spTgt>
                                        </p:tgtEl>
                                        <p:attrNameLst>
                                          <p:attrName>style.visibility</p:attrName>
                                        </p:attrNameLst>
                                      </p:cBhvr>
                                      <p:to>
                                        <p:strVal val="visible"/>
                                      </p:to>
                                    </p:set>
                                    <p:anim calcmode="lin" valueType="num">
                                      <p:cBhvr additive="base">
                                        <p:cTn dur="500"/>
                                        <p:tgtEl>
                                          <p:spTgt spid="95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8">
                                            <p:txEl>
                                              <p:pRg end="3" st="3"/>
                                            </p:txEl>
                                          </p:spTgt>
                                        </p:tgtEl>
                                        <p:attrNameLst>
                                          <p:attrName>style.visibility</p:attrName>
                                        </p:attrNameLst>
                                      </p:cBhvr>
                                      <p:to>
                                        <p:strVal val="visible"/>
                                      </p:to>
                                    </p:set>
                                    <p:anim calcmode="lin" valueType="num">
                                      <p:cBhvr additive="base">
                                        <p:cTn dur="500"/>
                                        <p:tgtEl>
                                          <p:spTgt spid="95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8">
                                            <p:txEl>
                                              <p:pRg end="4" st="4"/>
                                            </p:txEl>
                                          </p:spTgt>
                                        </p:tgtEl>
                                        <p:attrNameLst>
                                          <p:attrName>style.visibility</p:attrName>
                                        </p:attrNameLst>
                                      </p:cBhvr>
                                      <p:to>
                                        <p:strVal val="visible"/>
                                      </p:to>
                                    </p:set>
                                    <p:anim calcmode="lin" valueType="num">
                                      <p:cBhvr additive="base">
                                        <p:cTn dur="500"/>
                                        <p:tgtEl>
                                          <p:spTgt spid="95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8">
                                            <p:txEl>
                                              <p:pRg end="5" st="5"/>
                                            </p:txEl>
                                          </p:spTgt>
                                        </p:tgtEl>
                                        <p:attrNameLst>
                                          <p:attrName>style.visibility</p:attrName>
                                        </p:attrNameLst>
                                      </p:cBhvr>
                                      <p:to>
                                        <p:strVal val="visible"/>
                                      </p:to>
                                    </p:set>
                                    <p:anim calcmode="lin" valueType="num">
                                      <p:cBhvr additive="base">
                                        <p:cTn dur="500"/>
                                        <p:tgtEl>
                                          <p:spTgt spid="958">
                                            <p:txEl>
                                              <p:pRg end="5" st="5"/>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0"/>
                                  </p:stCondLst>
                                  <p:childTnLst>
                                    <p:set>
                                      <p:cBhvr>
                                        <p:cTn dur="1" fill="hold">
                                          <p:stCondLst>
                                            <p:cond delay="0"/>
                                          </p:stCondLst>
                                        </p:cTn>
                                        <p:tgtEl>
                                          <p:spTgt spid="961"/>
                                        </p:tgtEl>
                                        <p:attrNameLst>
                                          <p:attrName>style.visibility</p:attrName>
                                        </p:attrNameLst>
                                      </p:cBhvr>
                                      <p:to>
                                        <p:strVal val="visible"/>
                                      </p:to>
                                    </p:set>
                                    <p:anim calcmode="lin" valueType="num">
                                      <p:cBhvr additive="base">
                                        <p:cTn dur="500"/>
                                        <p:tgtEl>
                                          <p:spTgt spid="961"/>
                                        </p:tgtEl>
                                        <p:attrNameLst>
                                          <p:attrName>ppt_w</p:attrName>
                                        </p:attrNameLst>
                                      </p:cBhvr>
                                      <p:tavLst>
                                        <p:tav fmla="" tm="0">
                                          <p:val>
                                            <p:strVal val="0"/>
                                          </p:val>
                                        </p:tav>
                                        <p:tav fmla="" tm="100000">
                                          <p:val>
                                            <p:strVal val="#ppt_w"/>
                                          </p:val>
                                        </p:tav>
                                      </p:tavLst>
                                    </p:anim>
                                    <p:anim calcmode="lin" valueType="num">
                                      <p:cBhvr additive="base">
                                        <p:cTn dur="500"/>
                                        <p:tgtEl>
                                          <p:spTgt spid="96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964"/>
                                        </p:tgtEl>
                                        <p:attrNameLst>
                                          <p:attrName>style.visibility</p:attrName>
                                        </p:attrNameLst>
                                      </p:cBhvr>
                                      <p:to>
                                        <p:strVal val="visible"/>
                                      </p:to>
                                    </p:set>
                                    <p:anim calcmode="lin" valueType="num">
                                      <p:cBhvr additive="base">
                                        <p:cTn dur="500"/>
                                        <p:tgtEl>
                                          <p:spTgt spid="964"/>
                                        </p:tgtEl>
                                        <p:attrNameLst>
                                          <p:attrName>ppt_w</p:attrName>
                                        </p:attrNameLst>
                                      </p:cBhvr>
                                      <p:tavLst>
                                        <p:tav fmla="" tm="0">
                                          <p:val>
                                            <p:strVal val="0"/>
                                          </p:val>
                                        </p:tav>
                                        <p:tav fmla="" tm="100000">
                                          <p:val>
                                            <p:strVal val="#ppt_w"/>
                                          </p:val>
                                        </p:tav>
                                      </p:tavLst>
                                    </p:anim>
                                    <p:anim calcmode="lin" valueType="num">
                                      <p:cBhvr additive="base">
                                        <p:cTn dur="500"/>
                                        <p:tgtEl>
                                          <p:spTgt spid="96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68"/>
                                        </p:tgtEl>
                                        <p:attrNameLst>
                                          <p:attrName>style.visibility</p:attrName>
                                        </p:attrNameLst>
                                      </p:cBhvr>
                                      <p:to>
                                        <p:strVal val="visible"/>
                                      </p:to>
                                    </p:set>
                                    <p:anim calcmode="lin" valueType="num">
                                      <p:cBhvr additive="base">
                                        <p:cTn dur="500"/>
                                        <p:tgtEl>
                                          <p:spTgt spid="968"/>
                                        </p:tgtEl>
                                        <p:attrNameLst>
                                          <p:attrName>ppt_w</p:attrName>
                                        </p:attrNameLst>
                                      </p:cBhvr>
                                      <p:tavLst>
                                        <p:tav fmla="" tm="0">
                                          <p:val>
                                            <p:strVal val="0"/>
                                          </p:val>
                                        </p:tav>
                                        <p:tav fmla="" tm="100000">
                                          <p:val>
                                            <p:strVal val="#ppt_w"/>
                                          </p:val>
                                        </p:tav>
                                      </p:tavLst>
                                    </p:anim>
                                    <p:anim calcmode="lin" valueType="num">
                                      <p:cBhvr additive="base">
                                        <p:cTn dur="500"/>
                                        <p:tgtEl>
                                          <p:spTgt spid="968"/>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967"/>
                                        </p:tgtEl>
                                        <p:attrNameLst>
                                          <p:attrName>style.visibility</p:attrName>
                                        </p:attrNameLst>
                                      </p:cBhvr>
                                      <p:to>
                                        <p:strVal val="visible"/>
                                      </p:to>
                                    </p:set>
                                    <p:animEffect filter="fade" transition="in">
                                      <p:cBhvr>
                                        <p:cTn dur="2000"/>
                                        <p:tgtEl>
                                          <p:spTgt spid="9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54"/>
          <p:cNvSpPr/>
          <p:nvPr/>
        </p:nvSpPr>
        <p:spPr>
          <a:xfrm>
            <a:off x="687388" y="1973263"/>
            <a:ext cx="7772400" cy="4884737"/>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PRACTICE: An electron is moved from Point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having a voltage (potential) of 25.0 V, to Point                                       </a:t>
            </a:r>
            <a:r>
              <a:rPr i="1" lang="en-US" sz="2400">
                <a:solidFill>
                  <a:schemeClr val="dk1"/>
                </a:solidFill>
                <a:latin typeface="Arial"/>
                <a:ea typeface="Arial"/>
                <a:cs typeface="Arial"/>
                <a:sym typeface="Arial"/>
              </a:rPr>
              <a:t>B</a:t>
            </a:r>
            <a:r>
              <a:rPr lang="en-US" sz="2400">
                <a:solidFill>
                  <a:schemeClr val="dk1"/>
                </a:solidFill>
                <a:latin typeface="Arial"/>
                <a:ea typeface="Arial"/>
                <a:cs typeface="Arial"/>
                <a:sym typeface="Arial"/>
              </a:rPr>
              <a:t>, having a voltage (potential) of 18.0 V.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(b) If the electron is released from Point B, what is its speed when it reaches Point A?</a:t>
            </a:r>
            <a:endParaRPr/>
          </a:p>
          <a:p>
            <a:pPr indent="0" lvl="0" marL="0" marR="0" rtl="0" algn="l">
              <a:spcBef>
                <a:spcPts val="400"/>
              </a:spcBef>
              <a:spcAft>
                <a:spcPts val="0"/>
              </a:spcAft>
              <a:buClr>
                <a:schemeClr val="dk1"/>
              </a:buClr>
              <a:buSzPts val="2400"/>
              <a:buFont typeface="Arial"/>
              <a:buNone/>
            </a:pPr>
            <a:r>
              <a:rPr lang="en-US" sz="2400">
                <a:solidFill>
                  <a:schemeClr val="dk1"/>
                </a:solidFill>
                <a:latin typeface="Arial"/>
                <a:ea typeface="Arial"/>
                <a:cs typeface="Arial"/>
                <a:sym typeface="Arial"/>
              </a:rPr>
              <a:t>SOLUTION: </a:t>
            </a:r>
            <a:r>
              <a:rPr lang="en-US" sz="2400">
                <a:solidFill>
                  <a:srgbClr val="000000"/>
                </a:solidFill>
                <a:latin typeface="Arial"/>
                <a:ea typeface="Arial"/>
                <a:cs typeface="Arial"/>
                <a:sym typeface="Arial"/>
              </a:rPr>
              <a:t>Use </a:t>
            </a:r>
            <a:r>
              <a:rPr lang="en-US" sz="2400">
                <a:solidFill>
                  <a:schemeClr val="dk1"/>
                </a:solidFill>
                <a:latin typeface="Arial"/>
                <a:ea typeface="Arial"/>
                <a:cs typeface="Arial"/>
                <a:sym typeface="Arial"/>
              </a:rPr>
              <a:t>Δ</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Δ</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0 with Δ</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a:t>
            </a:r>
            <a:r>
              <a:rPr baseline="30000"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1.12 ×10</a:t>
            </a:r>
            <a:r>
              <a:rPr baseline="30000" lang="en-US" sz="2400">
                <a:solidFill>
                  <a:schemeClr val="dk1"/>
                </a:solidFill>
                <a:latin typeface="Arial"/>
                <a:ea typeface="Arial"/>
                <a:cs typeface="Arial"/>
                <a:sym typeface="Arial"/>
              </a:rPr>
              <a:t>-18</a:t>
            </a:r>
            <a:r>
              <a:rPr lang="en-US" sz="2400">
                <a:solidFill>
                  <a:schemeClr val="dk1"/>
                </a:solidFill>
                <a:latin typeface="Arial"/>
                <a:ea typeface="Arial"/>
                <a:cs typeface="Arial"/>
                <a:sym typeface="Arial"/>
              </a:rPr>
              <a:t>.</a:t>
            </a:r>
            <a:endParaRPr/>
          </a:p>
          <a:p>
            <a:pPr indent="0" lvl="0" marL="0" marR="0" rtl="0" algn="l">
              <a:spcBef>
                <a:spcPts val="400"/>
              </a:spcBef>
              <a:spcAft>
                <a:spcPts val="0"/>
              </a:spcAft>
              <a:buClr>
                <a:schemeClr val="dk1"/>
              </a:buClr>
              <a:buSzPts val="2400"/>
              <a:buFont typeface="Arial"/>
              <a:buNone/>
            </a:pPr>
            <a:r>
              <a:rPr lang="en-US" sz="2400">
                <a:solidFill>
                  <a:schemeClr val="dk1"/>
                </a:solidFill>
                <a:latin typeface="Arial"/>
                <a:ea typeface="Arial"/>
                <a:cs typeface="Arial"/>
                <a:sym typeface="Arial"/>
              </a:rPr>
              <a:t>	    	   	  Δ</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a:t>
            </a:r>
            <a:r>
              <a:rPr baseline="30000"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Δ</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a:t>
            </a:r>
            <a:endParaRPr/>
          </a:p>
          <a:p>
            <a:pPr indent="0" lvl="0" marL="0" marR="0" rtl="0" algn="l">
              <a:spcBef>
                <a:spcPts val="400"/>
              </a:spcBef>
              <a:spcAft>
                <a:spcPts val="0"/>
              </a:spcAft>
              <a:buClr>
                <a:schemeClr val="dk1"/>
              </a:buClr>
              <a:buSzPts val="2400"/>
              <a:buFont typeface="Arial"/>
              <a:buNone/>
            </a:pPr>
            <a:r>
              <a:rPr lang="en-US" sz="2400">
                <a:solidFill>
                  <a:schemeClr val="dk1"/>
                </a:solidFill>
                <a:latin typeface="Arial"/>
                <a:ea typeface="Arial"/>
                <a:cs typeface="Arial"/>
                <a:sym typeface="Arial"/>
              </a:rPr>
              <a:t>          (1/2)</a:t>
            </a:r>
            <a:r>
              <a:rPr i="1" lang="en-US" sz="2400">
                <a:solidFill>
                  <a:schemeClr val="dk1"/>
                </a:solidFill>
                <a:latin typeface="Arial"/>
                <a:ea typeface="Arial"/>
                <a:cs typeface="Arial"/>
                <a:sym typeface="Arial"/>
              </a:rPr>
              <a:t>mv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mu</a:t>
            </a:r>
            <a:r>
              <a:rPr baseline="30000" lang="en-US" sz="2400">
                <a:solidFill>
                  <a:schemeClr val="dk1"/>
                </a:solidFill>
                <a:latin typeface="Arial"/>
                <a:ea typeface="Arial"/>
                <a:cs typeface="Arial"/>
                <a:sym typeface="Arial"/>
              </a:rPr>
              <a:t>2 	</a:t>
            </a:r>
            <a:r>
              <a:rPr lang="en-US" sz="2400">
                <a:solidFill>
                  <a:schemeClr val="dk1"/>
                </a:solidFill>
                <a:latin typeface="Arial"/>
                <a:ea typeface="Arial"/>
                <a:cs typeface="Arial"/>
                <a:sym typeface="Arial"/>
              </a:rPr>
              <a:t>=</a:t>
            </a:r>
            <a:r>
              <a:rPr baseline="30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t>
            </a:r>
            <a:r>
              <a:rPr baseline="30000"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1.12 ×10</a:t>
            </a:r>
            <a:r>
              <a:rPr baseline="30000" lang="en-US" sz="2400">
                <a:solidFill>
                  <a:schemeClr val="dk1"/>
                </a:solidFill>
                <a:latin typeface="Arial"/>
                <a:ea typeface="Arial"/>
                <a:cs typeface="Arial"/>
                <a:sym typeface="Arial"/>
              </a:rPr>
              <a:t>-18</a:t>
            </a:r>
            <a:r>
              <a:rPr lang="en-US" sz="2400">
                <a:solidFill>
                  <a:schemeClr val="dk1"/>
                </a:solidFill>
                <a:latin typeface="Arial"/>
                <a:ea typeface="Arial"/>
                <a:cs typeface="Arial"/>
                <a:sym typeface="Arial"/>
              </a:rPr>
              <a:t>)</a:t>
            </a:r>
            <a:endParaRPr baseline="30000" sz="2400">
              <a:solidFill>
                <a:schemeClr val="dk1"/>
              </a:solidFill>
              <a:latin typeface="Arial"/>
              <a:ea typeface="Arial"/>
              <a:cs typeface="Arial"/>
              <a:sym typeface="Arial"/>
            </a:endParaRPr>
          </a:p>
          <a:p>
            <a:pPr indent="0" lvl="0" marL="0" marR="0" rtl="0" algn="l">
              <a:spcBef>
                <a:spcPts val="400"/>
              </a:spcBef>
              <a:spcAft>
                <a:spcPts val="0"/>
              </a:spcAft>
              <a:buClr>
                <a:schemeClr val="dk1"/>
              </a:buClr>
              <a:buSzPts val="2400"/>
              <a:buFont typeface="Arial"/>
              <a:buNone/>
            </a:pPr>
            <a:r>
              <a:rPr lang="en-US" sz="2400">
                <a:solidFill>
                  <a:schemeClr val="dk1"/>
                </a:solidFill>
                <a:latin typeface="Arial"/>
                <a:ea typeface="Arial"/>
                <a:cs typeface="Arial"/>
                <a:sym typeface="Arial"/>
              </a:rPr>
              <a:t>          (1/2)</a:t>
            </a:r>
            <a:r>
              <a:rPr i="1" lang="en-US" sz="2400">
                <a:solidFill>
                  <a:schemeClr val="dk1"/>
                </a:solidFill>
                <a:latin typeface="Arial"/>
                <a:ea typeface="Arial"/>
                <a:cs typeface="Arial"/>
                <a:sym typeface="Arial"/>
              </a:rPr>
              <a:t>mv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0</a:t>
            </a:r>
            <a:r>
              <a:rPr baseline="30000" lang="en-US" sz="2400">
                <a:solidFill>
                  <a:schemeClr val="dk1"/>
                </a:solidFill>
                <a:latin typeface="Arial"/>
                <a:ea typeface="Arial"/>
                <a:cs typeface="Arial"/>
                <a:sym typeface="Arial"/>
              </a:rPr>
              <a:t>2 	</a:t>
            </a:r>
            <a:r>
              <a:rPr lang="en-US" sz="2400">
                <a:solidFill>
                  <a:schemeClr val="dk1"/>
                </a:solidFill>
                <a:latin typeface="Arial"/>
                <a:ea typeface="Arial"/>
                <a:cs typeface="Arial"/>
                <a:sym typeface="Arial"/>
              </a:rPr>
              <a:t>=</a:t>
            </a:r>
            <a:r>
              <a:rPr baseline="30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1.12 ×10</a:t>
            </a:r>
            <a:r>
              <a:rPr baseline="30000" lang="en-US" sz="2400">
                <a:solidFill>
                  <a:schemeClr val="dk1"/>
                </a:solidFill>
                <a:latin typeface="Arial"/>
                <a:ea typeface="Arial"/>
                <a:cs typeface="Arial"/>
                <a:sym typeface="Arial"/>
              </a:rPr>
              <a:t>-18</a:t>
            </a:r>
            <a:r>
              <a:rPr lang="en-US" sz="2400">
                <a:solidFill>
                  <a:schemeClr val="dk1"/>
                </a:solidFill>
                <a:latin typeface="Arial"/>
                <a:ea typeface="Arial"/>
                <a:cs typeface="Arial"/>
                <a:sym typeface="Arial"/>
              </a:rPr>
              <a:t> </a:t>
            </a:r>
            <a:endParaRPr/>
          </a:p>
          <a:p>
            <a:pPr indent="0" lvl="0" marL="0" marR="0" rtl="0" algn="l">
              <a:spcBef>
                <a:spcPts val="400"/>
              </a:spcBef>
              <a:spcAft>
                <a:spcPts val="0"/>
              </a:spcAft>
              <a:buClr>
                <a:schemeClr val="dk1"/>
              </a:buClr>
              <a:buSzPts val="2400"/>
              <a:buFont typeface="Arial"/>
              <a:buNone/>
            </a:pPr>
            <a:r>
              <a:rPr lang="en-US" sz="2400">
                <a:solidFill>
                  <a:schemeClr val="dk1"/>
                </a:solidFill>
                <a:latin typeface="Arial"/>
                <a:ea typeface="Arial"/>
                <a:cs typeface="Arial"/>
                <a:sym typeface="Arial"/>
              </a:rPr>
              <a:t>	 (1/2)(9.11×10</a:t>
            </a:r>
            <a:r>
              <a:rPr baseline="30000" lang="en-US" sz="2400">
                <a:solidFill>
                  <a:schemeClr val="dk1"/>
                </a:solidFill>
                <a:latin typeface="Arial"/>
                <a:ea typeface="Arial"/>
                <a:cs typeface="Arial"/>
                <a:sym typeface="Arial"/>
              </a:rPr>
              <a:t>-31</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 	</a:t>
            </a:r>
            <a:r>
              <a:rPr lang="en-US" sz="2400">
                <a:solidFill>
                  <a:schemeClr val="dk1"/>
                </a:solidFill>
                <a:latin typeface="Arial"/>
                <a:ea typeface="Arial"/>
                <a:cs typeface="Arial"/>
                <a:sym typeface="Arial"/>
              </a:rPr>
              <a:t>= 1.12 ×10</a:t>
            </a:r>
            <a:r>
              <a:rPr baseline="30000" lang="en-US" sz="2400">
                <a:solidFill>
                  <a:schemeClr val="dk1"/>
                </a:solidFill>
                <a:latin typeface="Arial"/>
                <a:ea typeface="Arial"/>
                <a:cs typeface="Arial"/>
                <a:sym typeface="Arial"/>
              </a:rPr>
              <a:t>-18</a:t>
            </a:r>
            <a:r>
              <a:rPr lang="en-US" sz="2400">
                <a:solidFill>
                  <a:schemeClr val="dk1"/>
                </a:solidFill>
                <a:latin typeface="Arial"/>
                <a:ea typeface="Arial"/>
                <a:cs typeface="Arial"/>
                <a:sym typeface="Arial"/>
              </a:rPr>
              <a:t> </a:t>
            </a:r>
            <a:endParaRPr baseline="30000" sz="2400">
              <a:solidFill>
                <a:schemeClr val="dk1"/>
              </a:solidFill>
              <a:latin typeface="Arial"/>
              <a:ea typeface="Arial"/>
              <a:cs typeface="Arial"/>
              <a:sym typeface="Arial"/>
            </a:endParaRPr>
          </a:p>
          <a:p>
            <a:pPr indent="0" lvl="0" marL="0" marR="0" rtl="0" algn="l">
              <a:spcBef>
                <a:spcPts val="400"/>
              </a:spcBef>
              <a:spcAft>
                <a:spcPts val="0"/>
              </a:spcAft>
              <a:buClr>
                <a:schemeClr val="dk1"/>
              </a:buClr>
              <a:buSzPts val="2400"/>
              <a:buFont typeface="Arial"/>
              <a:buNone/>
            </a:pPr>
            <a:r>
              <a:rPr i="1" lang="en-US" sz="2400">
                <a:solidFill>
                  <a:schemeClr val="dk1"/>
                </a:solidFill>
                <a:latin typeface="Arial"/>
                <a:ea typeface="Arial"/>
                <a:cs typeface="Arial"/>
                <a:sym typeface="Arial"/>
              </a:rPr>
              <a:t>			      v</a:t>
            </a:r>
            <a:r>
              <a:rPr baseline="30000" lang="en-US" sz="2400">
                <a:solidFill>
                  <a:schemeClr val="dk1"/>
                </a:solidFill>
                <a:latin typeface="Arial"/>
                <a:ea typeface="Arial"/>
                <a:cs typeface="Arial"/>
                <a:sym typeface="Arial"/>
              </a:rPr>
              <a:t> 2	</a:t>
            </a:r>
            <a:r>
              <a:rPr lang="en-US" sz="2400">
                <a:solidFill>
                  <a:schemeClr val="dk1"/>
                </a:solidFill>
                <a:latin typeface="Arial"/>
                <a:ea typeface="Arial"/>
                <a:cs typeface="Arial"/>
                <a:sym typeface="Arial"/>
              </a:rPr>
              <a:t>= 2.45×10</a:t>
            </a:r>
            <a:r>
              <a:rPr baseline="30000" lang="en-US" sz="2400">
                <a:solidFill>
                  <a:schemeClr val="dk1"/>
                </a:solidFill>
                <a:latin typeface="Arial"/>
                <a:ea typeface="Arial"/>
                <a:cs typeface="Arial"/>
                <a:sym typeface="Arial"/>
              </a:rPr>
              <a:t>12</a:t>
            </a:r>
            <a:r>
              <a:rPr lang="en-US" sz="2400">
                <a:solidFill>
                  <a:schemeClr val="dk1"/>
                </a:solidFill>
                <a:latin typeface="Arial"/>
                <a:ea typeface="Arial"/>
                <a:cs typeface="Arial"/>
                <a:sym typeface="Arial"/>
              </a:rPr>
              <a:t> </a:t>
            </a:r>
            <a:endParaRPr/>
          </a:p>
          <a:p>
            <a:pPr indent="0" lvl="0" marL="0" marR="0" rtl="0" algn="l">
              <a:spcBef>
                <a:spcPts val="400"/>
              </a:spcBef>
              <a:spcAft>
                <a:spcPts val="0"/>
              </a:spcAft>
              <a:buClr>
                <a:schemeClr val="dk1"/>
              </a:buClr>
              <a:buSzPts val="2400"/>
              <a:buFont typeface="Arial"/>
              <a:buNone/>
            </a:pPr>
            <a:r>
              <a:rPr i="1" lang="en-US" sz="2400">
                <a:solidFill>
                  <a:schemeClr val="dk1"/>
                </a:solidFill>
                <a:latin typeface="Arial"/>
                <a:ea typeface="Arial"/>
                <a:cs typeface="Arial"/>
                <a:sym typeface="Arial"/>
              </a:rPr>
              <a:t>			      v</a:t>
            </a:r>
            <a:r>
              <a:rPr lang="en-US" sz="2400">
                <a:solidFill>
                  <a:schemeClr val="dk1"/>
                </a:solidFill>
                <a:latin typeface="Arial"/>
                <a:ea typeface="Arial"/>
                <a:cs typeface="Arial"/>
                <a:sym typeface="Arial"/>
              </a:rPr>
              <a:t> 	= 1.57×10</a:t>
            </a:r>
            <a:r>
              <a:rPr baseline="30000" lang="en-US" sz="2400">
                <a:solidFill>
                  <a:schemeClr val="dk1"/>
                </a:solidFill>
                <a:latin typeface="Arial"/>
                <a:ea typeface="Arial"/>
                <a:cs typeface="Arial"/>
                <a:sym typeface="Arial"/>
              </a:rPr>
              <a:t>6</a:t>
            </a:r>
            <a:r>
              <a:rPr lang="en-US" sz="2400">
                <a:solidFill>
                  <a:schemeClr val="dk1"/>
                </a:solidFill>
                <a:latin typeface="Arial"/>
                <a:ea typeface="Arial"/>
                <a:cs typeface="Arial"/>
                <a:sym typeface="Arial"/>
              </a:rPr>
              <a:t> ms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endParaRPr baseline="30000" i="1"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976" name="Google Shape;976;p54"/>
          <p:cNvSpPr/>
          <p:nvPr/>
        </p:nvSpPr>
        <p:spPr>
          <a:xfrm>
            <a:off x="685800" y="1549400"/>
            <a:ext cx="7772400" cy="4540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Potential difference </a:t>
            </a:r>
            <a:r>
              <a:rPr lang="en-US" sz="2400">
                <a:solidFill>
                  <a:schemeClr val="accent2"/>
                </a:solidFill>
                <a:latin typeface="Arial"/>
                <a:ea typeface="Arial"/>
                <a:cs typeface="Arial"/>
                <a:sym typeface="Arial"/>
              </a:rPr>
              <a:t>– the electronvolt</a:t>
            </a:r>
            <a:r>
              <a:rPr lang="en-US" sz="2400">
                <a:solidFill>
                  <a:schemeClr val="dk1"/>
                </a:solidFill>
                <a:latin typeface="Arial"/>
                <a:ea typeface="Arial"/>
                <a:cs typeface="Arial"/>
                <a:sym typeface="Arial"/>
              </a:rPr>
              <a:t> </a:t>
            </a:r>
            <a:endParaRPr/>
          </a:p>
        </p:txBody>
      </p:sp>
      <p:sp>
        <p:nvSpPr>
          <p:cNvPr id="977" name="Google Shape;977;p54"/>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D: Fields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D.2 – Electric fields (SL)</a:t>
            </a:r>
            <a:endParaRPr/>
          </a:p>
        </p:txBody>
      </p:sp>
      <p:grpSp>
        <p:nvGrpSpPr>
          <p:cNvPr id="978" name="Google Shape;978;p54"/>
          <p:cNvGrpSpPr/>
          <p:nvPr/>
        </p:nvGrpSpPr>
        <p:grpSpPr>
          <a:xfrm>
            <a:off x="6426200" y="2470150"/>
            <a:ext cx="387350" cy="457200"/>
            <a:chOff x="4396" y="2070"/>
            <a:chExt cx="244" cy="288"/>
          </a:xfrm>
        </p:grpSpPr>
        <p:sp>
          <p:nvSpPr>
            <p:cNvPr id="979" name="Google Shape;979;p54"/>
            <p:cNvSpPr/>
            <p:nvPr/>
          </p:nvSpPr>
          <p:spPr>
            <a:xfrm>
              <a:off x="4409" y="2105"/>
              <a:ext cx="220" cy="220"/>
            </a:xfrm>
            <a:prstGeom prst="ellipse">
              <a:avLst/>
            </a:prstGeom>
            <a:gradFill>
              <a:gsLst>
                <a:gs pos="0">
                  <a:srgbClr val="765E2F"/>
                </a:gs>
                <a:gs pos="100000">
                  <a:srgbClr val="FFCC66"/>
                </a:gs>
              </a:gsLst>
              <a:lin ang="27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980" name="Google Shape;980;p54"/>
            <p:cNvSpPr txBox="1"/>
            <p:nvPr/>
          </p:nvSpPr>
          <p:spPr>
            <a:xfrm>
              <a:off x="4396" y="207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A</a:t>
              </a:r>
              <a:endParaRPr/>
            </a:p>
          </p:txBody>
        </p:sp>
      </p:grpSp>
      <p:grpSp>
        <p:nvGrpSpPr>
          <p:cNvPr id="981" name="Google Shape;981;p54"/>
          <p:cNvGrpSpPr/>
          <p:nvPr/>
        </p:nvGrpSpPr>
        <p:grpSpPr>
          <a:xfrm>
            <a:off x="8291513" y="2479675"/>
            <a:ext cx="387350" cy="457200"/>
            <a:chOff x="5191" y="2069"/>
            <a:chExt cx="244" cy="288"/>
          </a:xfrm>
        </p:grpSpPr>
        <p:sp>
          <p:nvSpPr>
            <p:cNvPr id="982" name="Google Shape;982;p54"/>
            <p:cNvSpPr/>
            <p:nvPr/>
          </p:nvSpPr>
          <p:spPr>
            <a:xfrm>
              <a:off x="5199" y="2100"/>
              <a:ext cx="227" cy="227"/>
            </a:xfrm>
            <a:prstGeom prst="ellipse">
              <a:avLst/>
            </a:prstGeom>
            <a:gradFill>
              <a:gsLst>
                <a:gs pos="0">
                  <a:srgbClr val="765E2F"/>
                </a:gs>
                <a:gs pos="100000">
                  <a:srgbClr val="FFCC66"/>
                </a:gs>
              </a:gsLst>
              <a:lin ang="27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983" name="Google Shape;983;p54"/>
            <p:cNvSpPr txBox="1"/>
            <p:nvPr/>
          </p:nvSpPr>
          <p:spPr>
            <a:xfrm>
              <a:off x="5191" y="2069"/>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B</a:t>
              </a:r>
              <a:endParaRPr/>
            </a:p>
          </p:txBody>
        </p:sp>
      </p:grpSp>
      <p:grpSp>
        <p:nvGrpSpPr>
          <p:cNvPr id="984" name="Google Shape;984;p54"/>
          <p:cNvGrpSpPr/>
          <p:nvPr/>
        </p:nvGrpSpPr>
        <p:grpSpPr>
          <a:xfrm>
            <a:off x="8115074" y="2614613"/>
            <a:ext cx="354012" cy="509587"/>
            <a:chOff x="3922" y="2668"/>
            <a:chExt cx="223" cy="321"/>
          </a:xfrm>
        </p:grpSpPr>
        <p:sp>
          <p:nvSpPr>
            <p:cNvPr id="985" name="Google Shape;985;p54"/>
            <p:cNvSpPr/>
            <p:nvPr/>
          </p:nvSpPr>
          <p:spPr>
            <a:xfrm>
              <a:off x="3987" y="2668"/>
              <a:ext cx="106" cy="106"/>
            </a:xfrm>
            <a:prstGeom prst="ellipse">
              <a:avLst/>
            </a:prstGeom>
            <a:gradFill>
              <a:gsLst>
                <a:gs pos="0">
                  <a:srgbClr val="FF0000"/>
                </a:gs>
                <a:gs pos="100000">
                  <a:srgbClr val="7600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986" name="Google Shape;986;p54"/>
            <p:cNvSpPr txBox="1"/>
            <p:nvPr/>
          </p:nvSpPr>
          <p:spPr>
            <a:xfrm>
              <a:off x="3922" y="2701"/>
              <a:ext cx="22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q</a:t>
              </a:r>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55"/>
          <p:cNvSpPr/>
          <p:nvPr/>
        </p:nvSpPr>
        <p:spPr>
          <a:xfrm>
            <a:off x="682625" y="5664200"/>
            <a:ext cx="7777163" cy="1193800"/>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1" i="1" lang="en-US" sz="2400">
                <a:solidFill>
                  <a:schemeClr val="dk1"/>
                </a:solidFill>
                <a:latin typeface="Arial"/>
                <a:ea typeface="Arial"/>
                <a:cs typeface="Arial"/>
                <a:sym typeface="Arial"/>
              </a:rPr>
              <a:t>FYI</a:t>
            </a:r>
            <a:endParaRPr/>
          </a:p>
          <a:p>
            <a:pPr indent="0" lvl="0" marL="0" marR="0" rtl="0" algn="l">
              <a:spcBef>
                <a:spcPts val="24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We found out in Topic D.1 that gravity is also a conservative force.</a:t>
            </a:r>
            <a:endParaRPr/>
          </a:p>
        </p:txBody>
      </p:sp>
      <p:sp>
        <p:nvSpPr>
          <p:cNvPr id="992" name="Google Shape;992;p55"/>
          <p:cNvSpPr/>
          <p:nvPr/>
        </p:nvSpPr>
        <p:spPr>
          <a:xfrm>
            <a:off x="687388" y="1954213"/>
            <a:ext cx="7772400" cy="3735387"/>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EXAMPLE: A charge of </a:t>
            </a:r>
            <a:r>
              <a:rPr i="1" lang="en-US" sz="2400">
                <a:solidFill>
                  <a:schemeClr val="dk1"/>
                </a:solidFill>
                <a:latin typeface="Arial"/>
                <a:ea typeface="Arial"/>
                <a:cs typeface="Arial"/>
                <a:sym typeface="Arial"/>
              </a:rPr>
              <a:t>q</a:t>
            </a:r>
            <a:r>
              <a:rPr lang="en-US" sz="2400">
                <a:solidFill>
                  <a:schemeClr val="dk1"/>
                </a:solidFill>
                <a:latin typeface="Arial"/>
                <a:ea typeface="Arial"/>
                <a:cs typeface="Arial"/>
                <a:sym typeface="Arial"/>
              </a:rPr>
              <a:t> = </a:t>
            </a:r>
            <a:r>
              <a:rPr baseline="30000"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15.0 μC is moved from point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having a voltage (potential) of 25.0 V to point </a:t>
            </a:r>
            <a:r>
              <a:rPr i="1" lang="en-US" sz="2400">
                <a:solidFill>
                  <a:schemeClr val="dk1"/>
                </a:solidFill>
                <a:latin typeface="Arial"/>
                <a:ea typeface="Arial"/>
                <a:cs typeface="Arial"/>
                <a:sym typeface="Arial"/>
              </a:rPr>
              <a:t>B</a:t>
            </a:r>
            <a:r>
              <a:rPr lang="en-US" sz="2400">
                <a:solidFill>
                  <a:schemeClr val="dk1"/>
                </a:solidFill>
                <a:latin typeface="Arial"/>
                <a:ea typeface="Arial"/>
                <a:cs typeface="Arial"/>
                <a:sym typeface="Arial"/>
              </a:rPr>
              <a:t>, having a voltage (potential) of 18.0 V, in three different ways. What is the work done in                                       each case?</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SOLUTION:</a:t>
            </a:r>
            <a:endParaRPr/>
          </a:p>
          <a:p>
            <a:pPr indent="0" lvl="0" marL="0" marR="0" rtl="0" algn="l">
              <a:spcBef>
                <a:spcPts val="48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The work is independent of the path                         because the electric force is a </a:t>
            </a:r>
            <a:r>
              <a:rPr b="1" lang="en-US" sz="2400">
                <a:solidFill>
                  <a:schemeClr val="dk1"/>
                </a:solidFill>
                <a:latin typeface="Arial"/>
                <a:ea typeface="Arial"/>
                <a:cs typeface="Arial"/>
                <a:sym typeface="Arial"/>
              </a:rPr>
              <a:t>conservative force</a:t>
            </a:r>
            <a:r>
              <a:rPr lang="en-US" sz="2400">
                <a:solidFill>
                  <a:schemeClr val="dk1"/>
                </a:solidFill>
                <a:latin typeface="Arial"/>
                <a:ea typeface="Arial"/>
                <a:cs typeface="Arial"/>
                <a:sym typeface="Arial"/>
              </a:rPr>
              <a:t>. </a:t>
            </a:r>
            <a:endParaRPr/>
          </a:p>
          <a:p>
            <a:pPr indent="0" lvl="0" marL="0" marR="0" rtl="0" algn="l">
              <a:spcBef>
                <a:spcPts val="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qV</a:t>
            </a:r>
            <a:r>
              <a:rPr lang="en-US" sz="2400">
                <a:solidFill>
                  <a:schemeClr val="dk1"/>
                </a:solidFill>
                <a:latin typeface="Arial"/>
                <a:ea typeface="Arial"/>
                <a:cs typeface="Arial"/>
                <a:sym typeface="Arial"/>
              </a:rPr>
              <a:t> = 15.0×10</a:t>
            </a:r>
            <a:r>
              <a:rPr baseline="30000" lang="en-US" sz="2400">
                <a:solidFill>
                  <a:schemeClr val="dk1"/>
                </a:solidFill>
                <a:latin typeface="Arial"/>
                <a:ea typeface="Arial"/>
                <a:cs typeface="Arial"/>
                <a:sym typeface="Arial"/>
              </a:rPr>
              <a:t>-6</a:t>
            </a:r>
            <a:r>
              <a:rPr lang="en-US" sz="2400">
                <a:solidFill>
                  <a:schemeClr val="dk1"/>
                </a:solidFill>
                <a:latin typeface="Arial"/>
                <a:ea typeface="Arial"/>
                <a:cs typeface="Arial"/>
                <a:sym typeface="Arial"/>
              </a:rPr>
              <a:t>× </a:t>
            </a:r>
            <a:r>
              <a:rPr baseline="30000"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7.0 = </a:t>
            </a:r>
            <a:r>
              <a:rPr baseline="30000"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1.1 ×10</a:t>
            </a:r>
            <a:r>
              <a:rPr baseline="30000" lang="en-US" sz="2400">
                <a:solidFill>
                  <a:schemeClr val="dk1"/>
                </a:solidFill>
                <a:latin typeface="Arial"/>
                <a:ea typeface="Arial"/>
                <a:cs typeface="Arial"/>
                <a:sym typeface="Arial"/>
              </a:rPr>
              <a:t>-4</a:t>
            </a:r>
            <a:r>
              <a:rPr lang="en-US" sz="2400">
                <a:solidFill>
                  <a:schemeClr val="dk1"/>
                </a:solidFill>
                <a:latin typeface="Arial"/>
                <a:ea typeface="Arial"/>
                <a:cs typeface="Arial"/>
                <a:sym typeface="Arial"/>
              </a:rPr>
              <a:t> J. Same for all.</a:t>
            </a:r>
            <a:endParaRPr/>
          </a:p>
        </p:txBody>
      </p:sp>
      <p:sp>
        <p:nvSpPr>
          <p:cNvPr id="993" name="Google Shape;993;p55"/>
          <p:cNvSpPr/>
          <p:nvPr/>
        </p:nvSpPr>
        <p:spPr>
          <a:xfrm>
            <a:off x="685800" y="1549400"/>
            <a:ext cx="7772400" cy="423863"/>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Potential difference </a:t>
            </a:r>
            <a:r>
              <a:rPr lang="en-US" sz="2400">
                <a:solidFill>
                  <a:schemeClr val="accent2"/>
                </a:solidFill>
                <a:latin typeface="Arial"/>
                <a:ea typeface="Arial"/>
                <a:cs typeface="Arial"/>
                <a:sym typeface="Arial"/>
              </a:rPr>
              <a:t>– path independence</a:t>
            </a:r>
            <a:r>
              <a:rPr lang="en-US" sz="2400">
                <a:solidFill>
                  <a:schemeClr val="dk1"/>
                </a:solidFill>
                <a:latin typeface="Arial"/>
                <a:ea typeface="Arial"/>
                <a:cs typeface="Arial"/>
                <a:sym typeface="Arial"/>
              </a:rPr>
              <a:t> </a:t>
            </a:r>
            <a:endParaRPr/>
          </a:p>
        </p:txBody>
      </p:sp>
      <p:sp>
        <p:nvSpPr>
          <p:cNvPr id="994" name="Google Shape;994;p55"/>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D: Fields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D.2 – Electric fields (SL)</a:t>
            </a:r>
            <a:endParaRPr/>
          </a:p>
        </p:txBody>
      </p:sp>
      <p:grpSp>
        <p:nvGrpSpPr>
          <p:cNvPr id="995" name="Google Shape;995;p55"/>
          <p:cNvGrpSpPr/>
          <p:nvPr/>
        </p:nvGrpSpPr>
        <p:grpSpPr>
          <a:xfrm>
            <a:off x="5991225" y="3443288"/>
            <a:ext cx="387350" cy="457200"/>
            <a:chOff x="4396" y="2070"/>
            <a:chExt cx="244" cy="288"/>
          </a:xfrm>
        </p:grpSpPr>
        <p:sp>
          <p:nvSpPr>
            <p:cNvPr id="996" name="Google Shape;996;p55"/>
            <p:cNvSpPr/>
            <p:nvPr/>
          </p:nvSpPr>
          <p:spPr>
            <a:xfrm>
              <a:off x="4409" y="2105"/>
              <a:ext cx="220" cy="220"/>
            </a:xfrm>
            <a:prstGeom prst="ellipse">
              <a:avLst/>
            </a:prstGeom>
            <a:gradFill>
              <a:gsLst>
                <a:gs pos="0">
                  <a:srgbClr val="765E2F"/>
                </a:gs>
                <a:gs pos="100000">
                  <a:srgbClr val="FFCC66"/>
                </a:gs>
              </a:gsLst>
              <a:lin ang="27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997" name="Google Shape;997;p55"/>
            <p:cNvSpPr txBox="1"/>
            <p:nvPr/>
          </p:nvSpPr>
          <p:spPr>
            <a:xfrm>
              <a:off x="4396" y="207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A</a:t>
              </a:r>
              <a:endParaRPr/>
            </a:p>
          </p:txBody>
        </p:sp>
      </p:grpSp>
      <p:grpSp>
        <p:nvGrpSpPr>
          <p:cNvPr id="998" name="Google Shape;998;p55"/>
          <p:cNvGrpSpPr/>
          <p:nvPr/>
        </p:nvGrpSpPr>
        <p:grpSpPr>
          <a:xfrm>
            <a:off x="7856538" y="3452813"/>
            <a:ext cx="387350" cy="457200"/>
            <a:chOff x="5191" y="2069"/>
            <a:chExt cx="244" cy="288"/>
          </a:xfrm>
        </p:grpSpPr>
        <p:sp>
          <p:nvSpPr>
            <p:cNvPr id="999" name="Google Shape;999;p55"/>
            <p:cNvSpPr/>
            <p:nvPr/>
          </p:nvSpPr>
          <p:spPr>
            <a:xfrm>
              <a:off x="5199" y="2100"/>
              <a:ext cx="227" cy="227"/>
            </a:xfrm>
            <a:prstGeom prst="ellipse">
              <a:avLst/>
            </a:prstGeom>
            <a:gradFill>
              <a:gsLst>
                <a:gs pos="0">
                  <a:srgbClr val="765E2F"/>
                </a:gs>
                <a:gs pos="100000">
                  <a:srgbClr val="FFCC66"/>
                </a:gs>
              </a:gsLst>
              <a:lin ang="27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1000" name="Google Shape;1000;p55"/>
            <p:cNvSpPr txBox="1"/>
            <p:nvPr/>
          </p:nvSpPr>
          <p:spPr>
            <a:xfrm>
              <a:off x="5191" y="2069"/>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B</a:t>
              </a:r>
              <a:endParaRPr/>
            </a:p>
          </p:txBody>
        </p:sp>
      </p:grpSp>
      <p:cxnSp>
        <p:nvCxnSpPr>
          <p:cNvPr id="1001" name="Google Shape;1001;p55"/>
          <p:cNvCxnSpPr/>
          <p:nvPr/>
        </p:nvCxnSpPr>
        <p:spPr>
          <a:xfrm>
            <a:off x="6340475" y="3670300"/>
            <a:ext cx="1528763" cy="0"/>
          </a:xfrm>
          <a:prstGeom prst="straightConnector1">
            <a:avLst/>
          </a:prstGeom>
          <a:noFill/>
          <a:ln cap="flat" cmpd="sng" w="19050">
            <a:solidFill>
              <a:srgbClr val="FF0000"/>
            </a:solidFill>
            <a:prstDash val="dash"/>
            <a:round/>
            <a:headEnd len="med" w="med" type="none"/>
            <a:tailEnd len="med" w="med" type="triangle"/>
          </a:ln>
        </p:spPr>
      </p:cxnSp>
      <p:grpSp>
        <p:nvGrpSpPr>
          <p:cNvPr id="1002" name="Google Shape;1002;p55"/>
          <p:cNvGrpSpPr/>
          <p:nvPr/>
        </p:nvGrpSpPr>
        <p:grpSpPr>
          <a:xfrm>
            <a:off x="6156325" y="3587750"/>
            <a:ext cx="271463" cy="509588"/>
            <a:chOff x="3922" y="2668"/>
            <a:chExt cx="171" cy="321"/>
          </a:xfrm>
        </p:grpSpPr>
        <p:sp>
          <p:nvSpPr>
            <p:cNvPr id="1003" name="Google Shape;1003;p55"/>
            <p:cNvSpPr/>
            <p:nvPr/>
          </p:nvSpPr>
          <p:spPr>
            <a:xfrm>
              <a:off x="3987" y="2668"/>
              <a:ext cx="106" cy="106"/>
            </a:xfrm>
            <a:prstGeom prst="ellipse">
              <a:avLst/>
            </a:prstGeom>
            <a:gradFill>
              <a:gsLst>
                <a:gs pos="0">
                  <a:srgbClr val="FF0000"/>
                </a:gs>
                <a:gs pos="100000">
                  <a:srgbClr val="7600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1004" name="Google Shape;1004;p55"/>
            <p:cNvSpPr txBox="1"/>
            <p:nvPr/>
          </p:nvSpPr>
          <p:spPr>
            <a:xfrm>
              <a:off x="3922" y="2701"/>
              <a:ext cx="116"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t/>
              </a:r>
              <a:endParaRPr i="1" sz="2400">
                <a:solidFill>
                  <a:schemeClr val="dk1"/>
                </a:solidFill>
                <a:latin typeface="Arial"/>
                <a:ea typeface="Arial"/>
                <a:cs typeface="Arial"/>
                <a:sym typeface="Arial"/>
              </a:endParaRPr>
            </a:p>
          </p:txBody>
        </p:sp>
      </p:grpSp>
      <p:sp>
        <p:nvSpPr>
          <p:cNvPr id="1005" name="Google Shape;1005;p55"/>
          <p:cNvSpPr/>
          <p:nvPr/>
        </p:nvSpPr>
        <p:spPr>
          <a:xfrm>
            <a:off x="6281738" y="3151188"/>
            <a:ext cx="1624012" cy="398462"/>
          </a:xfrm>
          <a:custGeom>
            <a:rect b="b" l="l" r="r" t="t"/>
            <a:pathLst>
              <a:path extrusionOk="0" h="251" w="1023">
                <a:moveTo>
                  <a:pt x="0" y="243"/>
                </a:moveTo>
                <a:cubicBezTo>
                  <a:pt x="165" y="121"/>
                  <a:pt x="330" y="0"/>
                  <a:pt x="500" y="1"/>
                </a:cubicBezTo>
                <a:cubicBezTo>
                  <a:pt x="670" y="2"/>
                  <a:pt x="846" y="126"/>
                  <a:pt x="1023" y="251"/>
                </a:cubicBezTo>
              </a:path>
            </a:pathLst>
          </a:custGeom>
          <a:noFill/>
          <a:ln cap="flat" cmpd="sng" w="19050">
            <a:solidFill>
              <a:srgbClr val="FF0000"/>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nvGrpSpPr>
          <p:cNvPr id="1006" name="Google Shape;1006;p55"/>
          <p:cNvGrpSpPr/>
          <p:nvPr/>
        </p:nvGrpSpPr>
        <p:grpSpPr>
          <a:xfrm>
            <a:off x="6105525" y="3441700"/>
            <a:ext cx="271463" cy="509588"/>
            <a:chOff x="3922" y="2668"/>
            <a:chExt cx="171" cy="321"/>
          </a:xfrm>
        </p:grpSpPr>
        <p:sp>
          <p:nvSpPr>
            <p:cNvPr id="1007" name="Google Shape;1007;p55"/>
            <p:cNvSpPr/>
            <p:nvPr/>
          </p:nvSpPr>
          <p:spPr>
            <a:xfrm>
              <a:off x="3987" y="2668"/>
              <a:ext cx="106" cy="106"/>
            </a:xfrm>
            <a:prstGeom prst="ellipse">
              <a:avLst/>
            </a:prstGeom>
            <a:gradFill>
              <a:gsLst>
                <a:gs pos="0">
                  <a:srgbClr val="FF0000"/>
                </a:gs>
                <a:gs pos="100000">
                  <a:srgbClr val="7600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1008" name="Google Shape;1008;p55"/>
            <p:cNvSpPr txBox="1"/>
            <p:nvPr/>
          </p:nvSpPr>
          <p:spPr>
            <a:xfrm>
              <a:off x="3922" y="2701"/>
              <a:ext cx="116"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t/>
              </a:r>
              <a:endParaRPr i="1" sz="2400">
                <a:solidFill>
                  <a:schemeClr val="dk1"/>
                </a:solidFill>
                <a:latin typeface="Arial"/>
                <a:ea typeface="Arial"/>
                <a:cs typeface="Arial"/>
                <a:sym typeface="Arial"/>
              </a:endParaRPr>
            </a:p>
          </p:txBody>
        </p:sp>
      </p:grpSp>
      <p:sp>
        <p:nvSpPr>
          <p:cNvPr id="1009" name="Google Shape;1009;p55"/>
          <p:cNvSpPr/>
          <p:nvPr/>
        </p:nvSpPr>
        <p:spPr>
          <a:xfrm>
            <a:off x="5956300" y="3046413"/>
            <a:ext cx="2719388" cy="1381125"/>
          </a:xfrm>
          <a:custGeom>
            <a:rect b="b" l="l" r="r" t="t"/>
            <a:pathLst>
              <a:path extrusionOk="0" h="870" w="1713">
                <a:moveTo>
                  <a:pt x="113" y="448"/>
                </a:moveTo>
                <a:cubicBezTo>
                  <a:pt x="56" y="515"/>
                  <a:pt x="0" y="581"/>
                  <a:pt x="21" y="639"/>
                </a:cubicBezTo>
                <a:cubicBezTo>
                  <a:pt x="42" y="697"/>
                  <a:pt x="106" y="764"/>
                  <a:pt x="240" y="799"/>
                </a:cubicBezTo>
                <a:cubicBezTo>
                  <a:pt x="374" y="833"/>
                  <a:pt x="610" y="870"/>
                  <a:pt x="827" y="849"/>
                </a:cubicBezTo>
                <a:cubicBezTo>
                  <a:pt x="1044" y="828"/>
                  <a:pt x="1394" y="778"/>
                  <a:pt x="1541" y="674"/>
                </a:cubicBezTo>
                <a:cubicBezTo>
                  <a:pt x="1688" y="570"/>
                  <a:pt x="1711" y="333"/>
                  <a:pt x="1712" y="226"/>
                </a:cubicBezTo>
                <a:cubicBezTo>
                  <a:pt x="1713" y="119"/>
                  <a:pt x="1613" y="58"/>
                  <a:pt x="1546" y="29"/>
                </a:cubicBezTo>
                <a:cubicBezTo>
                  <a:pt x="1479" y="0"/>
                  <a:pt x="1358" y="14"/>
                  <a:pt x="1311" y="52"/>
                </a:cubicBezTo>
                <a:cubicBezTo>
                  <a:pt x="1264" y="90"/>
                  <a:pt x="1275" y="215"/>
                  <a:pt x="1265" y="258"/>
                </a:cubicBezTo>
              </a:path>
            </a:pathLst>
          </a:custGeom>
          <a:noFill/>
          <a:ln cap="flat" cmpd="sng" w="19050">
            <a:solidFill>
              <a:srgbClr val="FF0000"/>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nvGrpSpPr>
          <p:cNvPr id="1010" name="Google Shape;1010;p55"/>
          <p:cNvGrpSpPr/>
          <p:nvPr/>
        </p:nvGrpSpPr>
        <p:grpSpPr>
          <a:xfrm>
            <a:off x="5921375" y="3787775"/>
            <a:ext cx="271463" cy="509588"/>
            <a:chOff x="3922" y="2668"/>
            <a:chExt cx="171" cy="321"/>
          </a:xfrm>
        </p:grpSpPr>
        <p:sp>
          <p:nvSpPr>
            <p:cNvPr id="1011" name="Google Shape;1011;p55"/>
            <p:cNvSpPr/>
            <p:nvPr/>
          </p:nvSpPr>
          <p:spPr>
            <a:xfrm>
              <a:off x="3987" y="2668"/>
              <a:ext cx="106" cy="106"/>
            </a:xfrm>
            <a:prstGeom prst="ellipse">
              <a:avLst/>
            </a:prstGeom>
            <a:gradFill>
              <a:gsLst>
                <a:gs pos="0">
                  <a:srgbClr val="FF0000"/>
                </a:gs>
                <a:gs pos="100000">
                  <a:srgbClr val="7600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1012" name="Google Shape;1012;p55"/>
            <p:cNvSpPr txBox="1"/>
            <p:nvPr/>
          </p:nvSpPr>
          <p:spPr>
            <a:xfrm>
              <a:off x="3922" y="2701"/>
              <a:ext cx="116"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t/>
              </a:r>
              <a:endParaRPr i="1" sz="2400">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92">
                                            <p:txEl>
                                              <p:pRg end="0" st="0"/>
                                            </p:txEl>
                                          </p:spTgt>
                                        </p:tgtEl>
                                        <p:attrNameLst>
                                          <p:attrName>style.visibility</p:attrName>
                                        </p:attrNameLst>
                                      </p:cBhvr>
                                      <p:to>
                                        <p:strVal val="visible"/>
                                      </p:to>
                                    </p:set>
                                    <p:anim calcmode="lin" valueType="num">
                                      <p:cBhvr additive="base">
                                        <p:cTn dur="500"/>
                                        <p:tgtEl>
                                          <p:spTgt spid="99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92">
                                            <p:txEl>
                                              <p:pRg end="1" st="1"/>
                                            </p:txEl>
                                          </p:spTgt>
                                        </p:tgtEl>
                                        <p:attrNameLst>
                                          <p:attrName>style.visibility</p:attrName>
                                        </p:attrNameLst>
                                      </p:cBhvr>
                                      <p:to>
                                        <p:strVal val="visible"/>
                                      </p:to>
                                    </p:set>
                                    <p:anim calcmode="lin" valueType="num">
                                      <p:cBhvr additive="base">
                                        <p:cTn dur="500"/>
                                        <p:tgtEl>
                                          <p:spTgt spid="99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92">
                                            <p:txEl>
                                              <p:pRg end="2" st="2"/>
                                            </p:txEl>
                                          </p:spTgt>
                                        </p:tgtEl>
                                        <p:attrNameLst>
                                          <p:attrName>style.visibility</p:attrName>
                                        </p:attrNameLst>
                                      </p:cBhvr>
                                      <p:to>
                                        <p:strVal val="visible"/>
                                      </p:to>
                                    </p:set>
                                    <p:anim calcmode="lin" valueType="num">
                                      <p:cBhvr additive="base">
                                        <p:cTn dur="500"/>
                                        <p:tgtEl>
                                          <p:spTgt spid="99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92">
                                            <p:txEl>
                                              <p:pRg end="3" st="3"/>
                                            </p:txEl>
                                          </p:spTgt>
                                        </p:tgtEl>
                                        <p:attrNameLst>
                                          <p:attrName>style.visibility</p:attrName>
                                        </p:attrNameLst>
                                      </p:cBhvr>
                                      <p:to>
                                        <p:strVal val="visible"/>
                                      </p:to>
                                    </p:set>
                                    <p:anim calcmode="lin" valueType="num">
                                      <p:cBhvr additive="base">
                                        <p:cTn dur="500"/>
                                        <p:tgtEl>
                                          <p:spTgt spid="992">
                                            <p:txEl>
                                              <p:pRg end="3" st="3"/>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0"/>
                                  </p:stCondLst>
                                  <p:childTnLst>
                                    <p:set>
                                      <p:cBhvr>
                                        <p:cTn dur="1" fill="hold">
                                          <p:stCondLst>
                                            <p:cond delay="0"/>
                                          </p:stCondLst>
                                        </p:cTn>
                                        <p:tgtEl>
                                          <p:spTgt spid="995"/>
                                        </p:tgtEl>
                                        <p:attrNameLst>
                                          <p:attrName>style.visibility</p:attrName>
                                        </p:attrNameLst>
                                      </p:cBhvr>
                                      <p:to>
                                        <p:strVal val="visible"/>
                                      </p:to>
                                    </p:set>
                                    <p:anim calcmode="lin" valueType="num">
                                      <p:cBhvr additive="base">
                                        <p:cTn dur="500"/>
                                        <p:tgtEl>
                                          <p:spTgt spid="995"/>
                                        </p:tgtEl>
                                        <p:attrNameLst>
                                          <p:attrName>ppt_w</p:attrName>
                                        </p:attrNameLst>
                                      </p:cBhvr>
                                      <p:tavLst>
                                        <p:tav fmla="" tm="0">
                                          <p:val>
                                            <p:strVal val="0"/>
                                          </p:val>
                                        </p:tav>
                                        <p:tav fmla="" tm="100000">
                                          <p:val>
                                            <p:strVal val="#ppt_w"/>
                                          </p:val>
                                        </p:tav>
                                      </p:tavLst>
                                    </p:anim>
                                    <p:anim calcmode="lin" valueType="num">
                                      <p:cBhvr additive="base">
                                        <p:cTn dur="500"/>
                                        <p:tgtEl>
                                          <p:spTgt spid="99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998"/>
                                        </p:tgtEl>
                                        <p:attrNameLst>
                                          <p:attrName>style.visibility</p:attrName>
                                        </p:attrNameLst>
                                      </p:cBhvr>
                                      <p:to>
                                        <p:strVal val="visible"/>
                                      </p:to>
                                    </p:set>
                                    <p:anim calcmode="lin" valueType="num">
                                      <p:cBhvr additive="base">
                                        <p:cTn dur="500"/>
                                        <p:tgtEl>
                                          <p:spTgt spid="998"/>
                                        </p:tgtEl>
                                        <p:attrNameLst>
                                          <p:attrName>ppt_w</p:attrName>
                                        </p:attrNameLst>
                                      </p:cBhvr>
                                      <p:tavLst>
                                        <p:tav fmla="" tm="0">
                                          <p:val>
                                            <p:strVal val="0"/>
                                          </p:val>
                                        </p:tav>
                                        <p:tav fmla="" tm="100000">
                                          <p:val>
                                            <p:strVal val="#ppt_w"/>
                                          </p:val>
                                        </p:tav>
                                      </p:tavLst>
                                    </p:anim>
                                    <p:anim calcmode="lin" valueType="num">
                                      <p:cBhvr additive="base">
                                        <p:cTn dur="500"/>
                                        <p:tgtEl>
                                          <p:spTgt spid="99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02"/>
                                        </p:tgtEl>
                                        <p:attrNameLst>
                                          <p:attrName>style.visibility</p:attrName>
                                        </p:attrNameLst>
                                      </p:cBhvr>
                                      <p:to>
                                        <p:strVal val="visible"/>
                                      </p:to>
                                    </p:set>
                                    <p:anim calcmode="lin" valueType="num">
                                      <p:cBhvr additive="base">
                                        <p:cTn dur="500"/>
                                        <p:tgtEl>
                                          <p:spTgt spid="1002"/>
                                        </p:tgtEl>
                                        <p:attrNameLst>
                                          <p:attrName>ppt_w</p:attrName>
                                        </p:attrNameLst>
                                      </p:cBhvr>
                                      <p:tavLst>
                                        <p:tav fmla="" tm="0">
                                          <p:val>
                                            <p:strVal val="0"/>
                                          </p:val>
                                        </p:tav>
                                        <p:tav fmla="" tm="100000">
                                          <p:val>
                                            <p:strVal val="#ppt_w"/>
                                          </p:val>
                                        </p:tav>
                                      </p:tavLst>
                                    </p:anim>
                                    <p:anim calcmode="lin" valueType="num">
                                      <p:cBhvr additive="base">
                                        <p:cTn dur="500"/>
                                        <p:tgtEl>
                                          <p:spTgt spid="1002"/>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1001"/>
                                        </p:tgtEl>
                                        <p:attrNameLst>
                                          <p:attrName>style.visibility</p:attrName>
                                        </p:attrNameLst>
                                      </p:cBhvr>
                                      <p:to>
                                        <p:strVal val="visible"/>
                                      </p:to>
                                    </p:set>
                                    <p:animEffect filter="fade" transition="in">
                                      <p:cBhvr>
                                        <p:cTn dur="2000"/>
                                        <p:tgtEl>
                                          <p:spTgt spid="10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06"/>
                                        </p:tgtEl>
                                        <p:attrNameLst>
                                          <p:attrName>style.visibility</p:attrName>
                                        </p:attrNameLst>
                                      </p:cBhvr>
                                      <p:to>
                                        <p:strVal val="visible"/>
                                      </p:to>
                                    </p:set>
                                    <p:anim calcmode="lin" valueType="num">
                                      <p:cBhvr additive="base">
                                        <p:cTn dur="500"/>
                                        <p:tgtEl>
                                          <p:spTgt spid="1006"/>
                                        </p:tgtEl>
                                        <p:attrNameLst>
                                          <p:attrName>ppt_w</p:attrName>
                                        </p:attrNameLst>
                                      </p:cBhvr>
                                      <p:tavLst>
                                        <p:tav fmla="" tm="0">
                                          <p:val>
                                            <p:strVal val="0"/>
                                          </p:val>
                                        </p:tav>
                                        <p:tav fmla="" tm="100000">
                                          <p:val>
                                            <p:strVal val="#ppt_w"/>
                                          </p:val>
                                        </p:tav>
                                      </p:tavLst>
                                    </p:anim>
                                    <p:anim calcmode="lin" valueType="num">
                                      <p:cBhvr additive="base">
                                        <p:cTn dur="500"/>
                                        <p:tgtEl>
                                          <p:spTgt spid="100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1005"/>
                                        </p:tgtEl>
                                        <p:attrNameLst>
                                          <p:attrName>style.visibility</p:attrName>
                                        </p:attrNameLst>
                                      </p:cBhvr>
                                      <p:to>
                                        <p:strVal val="visible"/>
                                      </p:to>
                                    </p:set>
                                    <p:animEffect filter="fade" transition="in">
                                      <p:cBhvr>
                                        <p:cTn dur="2000"/>
                                        <p:tgtEl>
                                          <p:spTgt spid="10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10"/>
                                        </p:tgtEl>
                                        <p:attrNameLst>
                                          <p:attrName>style.visibility</p:attrName>
                                        </p:attrNameLst>
                                      </p:cBhvr>
                                      <p:to>
                                        <p:strVal val="visible"/>
                                      </p:to>
                                    </p:set>
                                    <p:anim calcmode="lin" valueType="num">
                                      <p:cBhvr additive="base">
                                        <p:cTn dur="500"/>
                                        <p:tgtEl>
                                          <p:spTgt spid="1010"/>
                                        </p:tgtEl>
                                        <p:attrNameLst>
                                          <p:attrName>ppt_w</p:attrName>
                                        </p:attrNameLst>
                                      </p:cBhvr>
                                      <p:tavLst>
                                        <p:tav fmla="" tm="0">
                                          <p:val>
                                            <p:strVal val="0"/>
                                          </p:val>
                                        </p:tav>
                                        <p:tav fmla="" tm="100000">
                                          <p:val>
                                            <p:strVal val="#ppt_w"/>
                                          </p:val>
                                        </p:tav>
                                      </p:tavLst>
                                    </p:anim>
                                    <p:anim calcmode="lin" valueType="num">
                                      <p:cBhvr additive="base">
                                        <p:cTn dur="500"/>
                                        <p:tgtEl>
                                          <p:spTgt spid="1010"/>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1009"/>
                                        </p:tgtEl>
                                        <p:attrNameLst>
                                          <p:attrName>style.visibility</p:attrName>
                                        </p:attrNameLst>
                                      </p:cBhvr>
                                      <p:to>
                                        <p:strVal val="visible"/>
                                      </p:to>
                                    </p:set>
                                    <p:animEffect filter="fade" transition="in">
                                      <p:cBhvr>
                                        <p:cTn dur="2000"/>
                                        <p:tgtEl>
                                          <p:spTgt spid="10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56"/>
          <p:cNvSpPr/>
          <p:nvPr/>
        </p:nvSpPr>
        <p:spPr>
          <a:xfrm>
            <a:off x="687388" y="1992313"/>
            <a:ext cx="7772400" cy="4865687"/>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PRACTICE: Two parallel plates with                         plate separation </a:t>
            </a:r>
            <a:r>
              <a:rPr i="1" lang="en-US" sz="2400">
                <a:solidFill>
                  <a:schemeClr val="dk1"/>
                </a:solidFill>
                <a:latin typeface="Arial"/>
                <a:ea typeface="Arial"/>
                <a:cs typeface="Arial"/>
                <a:sym typeface="Arial"/>
              </a:rPr>
              <a:t>d </a:t>
            </a:r>
            <a:r>
              <a:rPr lang="en-US" sz="2400">
                <a:solidFill>
                  <a:schemeClr val="dk1"/>
                </a:solidFill>
                <a:latin typeface="Arial"/>
                <a:ea typeface="Arial"/>
                <a:cs typeface="Arial"/>
                <a:sym typeface="Arial"/>
              </a:rPr>
              <a:t>are charged up to                                 a potential difference of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simply by                         connecting a battery (shown) to them.                            The electric field between the plates is </a:t>
            </a:r>
            <a:r>
              <a:rPr i="1" lang="en-US" sz="2400">
                <a:solidFill>
                  <a:schemeClr val="dk1"/>
                </a:solidFill>
                <a:latin typeface="Arial"/>
                <a:ea typeface="Arial"/>
                <a:cs typeface="Arial"/>
                <a:sym typeface="Arial"/>
              </a:rPr>
              <a:t>E</a:t>
            </a:r>
            <a:r>
              <a:rPr lang="en-US" sz="2400">
                <a:solidFill>
                  <a:schemeClr val="dk1"/>
                </a:solidFill>
                <a:latin typeface="Arial"/>
                <a:ea typeface="Arial"/>
                <a:cs typeface="Arial"/>
                <a:sym typeface="Arial"/>
              </a:rPr>
              <a:t>.                        A positive charge </a:t>
            </a:r>
            <a:r>
              <a:rPr i="1" lang="en-US" sz="2400">
                <a:solidFill>
                  <a:schemeClr val="dk1"/>
                </a:solidFill>
                <a:latin typeface="Arial"/>
                <a:ea typeface="Arial"/>
                <a:cs typeface="Arial"/>
                <a:sym typeface="Arial"/>
              </a:rPr>
              <a:t>q</a:t>
            </a:r>
            <a:r>
              <a:rPr lang="en-US" sz="2400">
                <a:solidFill>
                  <a:schemeClr val="dk1"/>
                </a:solidFill>
                <a:latin typeface="Arial"/>
                <a:ea typeface="Arial"/>
                <a:cs typeface="Arial"/>
                <a:sym typeface="Arial"/>
              </a:rPr>
              <a:t> is moved from A to B.</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(a) How much work is done in moving </a:t>
            </a:r>
            <a:r>
              <a:rPr i="1" lang="en-US" sz="2400">
                <a:solidFill>
                  <a:schemeClr val="dk1"/>
                </a:solidFill>
                <a:latin typeface="Arial"/>
                <a:ea typeface="Arial"/>
                <a:cs typeface="Arial"/>
                <a:sym typeface="Arial"/>
              </a:rPr>
              <a:t>q</a:t>
            </a:r>
            <a:r>
              <a:rPr lang="en-US" sz="2400">
                <a:solidFill>
                  <a:schemeClr val="dk1"/>
                </a:solidFill>
                <a:latin typeface="Arial"/>
                <a:ea typeface="Arial"/>
                <a:cs typeface="Arial"/>
                <a:sym typeface="Arial"/>
              </a:rPr>
              <a:t> through the distance </a:t>
            </a:r>
            <a:r>
              <a:rPr i="1" lang="en-US" sz="2400">
                <a:solidFill>
                  <a:schemeClr val="dk1"/>
                </a:solidFill>
                <a:latin typeface="Arial"/>
                <a:ea typeface="Arial"/>
                <a:cs typeface="Arial"/>
                <a:sym typeface="Arial"/>
              </a:rPr>
              <a:t>d</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(b) Find the potential difference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across the plates.</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SOLUTION: Use </a:t>
            </a: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Fd </a:t>
            </a:r>
            <a:r>
              <a:rPr lang="en-US" sz="2400">
                <a:solidFill>
                  <a:schemeClr val="dk1"/>
                </a:solidFill>
                <a:latin typeface="Arial"/>
                <a:ea typeface="Arial"/>
                <a:cs typeface="Arial"/>
                <a:sym typeface="Arial"/>
              </a:rPr>
              <a:t>cos θ,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Eq</a:t>
            </a:r>
            <a:r>
              <a:rPr lang="en-US" sz="2400">
                <a:solidFill>
                  <a:schemeClr val="dk1"/>
                </a:solidFill>
                <a:latin typeface="Arial"/>
                <a:ea typeface="Arial"/>
                <a:cs typeface="Arial"/>
                <a:sym typeface="Arial"/>
              </a:rPr>
              <a:t>, and </a:t>
            </a: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qV</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(a) </a:t>
            </a: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Fd</a:t>
            </a:r>
            <a:r>
              <a:rPr baseline="-25000"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cos</a:t>
            </a:r>
            <a:r>
              <a:rPr baseline="-25000"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0° = (</a:t>
            </a:r>
            <a:r>
              <a:rPr i="1" lang="en-US" sz="2400">
                <a:solidFill>
                  <a:schemeClr val="dk1"/>
                </a:solidFill>
                <a:latin typeface="Arial"/>
                <a:ea typeface="Arial"/>
                <a:cs typeface="Arial"/>
                <a:sym typeface="Arial"/>
              </a:rPr>
              <a:t>Eq</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d</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(b) </a:t>
            </a:r>
            <a:r>
              <a:rPr i="1" lang="en-US" sz="2400">
                <a:solidFill>
                  <a:schemeClr val="dk1"/>
                </a:solidFill>
                <a:latin typeface="Arial"/>
                <a:ea typeface="Arial"/>
                <a:cs typeface="Arial"/>
                <a:sym typeface="Arial"/>
              </a:rPr>
              <a:t>qV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Eqd</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Ed</a:t>
            </a:r>
            <a:r>
              <a:rPr lang="en-US" sz="2400">
                <a:solidFill>
                  <a:schemeClr val="dk1"/>
                </a:solidFill>
                <a:latin typeface="Arial"/>
                <a:ea typeface="Arial"/>
                <a:cs typeface="Arial"/>
                <a:sym typeface="Arial"/>
              </a:rPr>
              <a:t>.</a:t>
            </a:r>
            <a:endParaRPr/>
          </a:p>
        </p:txBody>
      </p:sp>
      <p:sp>
        <p:nvSpPr>
          <p:cNvPr id="1018" name="Google Shape;1018;p56"/>
          <p:cNvSpPr/>
          <p:nvPr/>
        </p:nvSpPr>
        <p:spPr>
          <a:xfrm>
            <a:off x="685800" y="1549400"/>
            <a:ext cx="7772400" cy="4572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Potential difference</a:t>
            </a:r>
            <a:r>
              <a:rPr i="1" lang="en-US" sz="2400">
                <a:solidFill>
                  <a:schemeClr val="dk1"/>
                </a:solidFill>
                <a:latin typeface="Arial"/>
                <a:ea typeface="Arial"/>
                <a:cs typeface="Arial"/>
                <a:sym typeface="Arial"/>
              </a:rPr>
              <a:t> </a:t>
            </a:r>
            <a:r>
              <a:rPr lang="en-US" sz="2400">
                <a:solidFill>
                  <a:schemeClr val="accent2"/>
                </a:solidFill>
                <a:latin typeface="Arial"/>
                <a:ea typeface="Arial"/>
                <a:cs typeface="Arial"/>
                <a:sym typeface="Arial"/>
              </a:rPr>
              <a:t>– between parallel plates</a:t>
            </a:r>
            <a:endParaRPr/>
          </a:p>
        </p:txBody>
      </p:sp>
      <p:sp>
        <p:nvSpPr>
          <p:cNvPr id="1019" name="Google Shape;1019;p56"/>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grpSp>
        <p:nvGrpSpPr>
          <p:cNvPr id="1020" name="Google Shape;1020;p56"/>
          <p:cNvGrpSpPr/>
          <p:nvPr/>
        </p:nvGrpSpPr>
        <p:grpSpPr>
          <a:xfrm>
            <a:off x="5814219" y="2006600"/>
            <a:ext cx="3329781" cy="1576388"/>
            <a:chOff x="3614" y="1279"/>
            <a:chExt cx="2098" cy="993"/>
          </a:xfrm>
        </p:grpSpPr>
        <p:grpSp>
          <p:nvGrpSpPr>
            <p:cNvPr id="1021" name="Google Shape;1021;p56"/>
            <p:cNvGrpSpPr/>
            <p:nvPr/>
          </p:nvGrpSpPr>
          <p:grpSpPr>
            <a:xfrm>
              <a:off x="4053" y="1279"/>
              <a:ext cx="1659" cy="993"/>
              <a:chOff x="4053" y="1279"/>
              <a:chExt cx="1659" cy="993"/>
            </a:xfrm>
          </p:grpSpPr>
          <p:pic>
            <p:nvPicPr>
              <p:cNvPr id="1022" name="Google Shape;1022;p56"/>
              <p:cNvPicPr preferRelativeResize="0"/>
              <p:nvPr/>
            </p:nvPicPr>
            <p:blipFill rotWithShape="1">
              <a:blip r:embed="rId3">
                <a:alphaModFix/>
              </a:blip>
              <a:srcRect b="0" l="0" r="0" t="0"/>
              <a:stretch/>
            </p:blipFill>
            <p:spPr>
              <a:xfrm flipH="1" rot="10800000">
                <a:off x="4053" y="1279"/>
                <a:ext cx="1328" cy="993"/>
              </a:xfrm>
              <a:prstGeom prst="rect">
                <a:avLst/>
              </a:prstGeom>
              <a:noFill/>
              <a:ln>
                <a:noFill/>
              </a:ln>
            </p:spPr>
          </p:pic>
          <p:sp>
            <p:nvSpPr>
              <p:cNvPr id="1023" name="Google Shape;1023;p56"/>
              <p:cNvSpPr txBox="1"/>
              <p:nvPr/>
            </p:nvSpPr>
            <p:spPr>
              <a:xfrm>
                <a:off x="4828" y="1935"/>
                <a:ext cx="23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2"/>
                  </a:buClr>
                  <a:buSzPts val="2400"/>
                  <a:buFont typeface="Courier New"/>
                  <a:buNone/>
                </a:pPr>
                <a:r>
                  <a:rPr b="1" lang="en-US" sz="2400">
                    <a:solidFill>
                      <a:schemeClr val="accent2"/>
                    </a:solidFill>
                    <a:latin typeface="Courier New"/>
                    <a:ea typeface="Courier New"/>
                    <a:cs typeface="Courier New"/>
                    <a:sym typeface="Courier New"/>
                  </a:rPr>
                  <a:t>E</a:t>
                </a:r>
                <a:endParaRPr/>
              </a:p>
            </p:txBody>
          </p:sp>
          <p:sp>
            <p:nvSpPr>
              <p:cNvPr id="1024" name="Google Shape;1024;p56"/>
              <p:cNvSpPr/>
              <p:nvPr/>
            </p:nvSpPr>
            <p:spPr>
              <a:xfrm>
                <a:off x="5379" y="1597"/>
                <a:ext cx="151" cy="383"/>
              </a:xfrm>
              <a:prstGeom prst="rightBrace">
                <a:avLst>
                  <a:gd fmla="val 21137" name="adj1"/>
                  <a:gd fmla="val 50000" name="adj2"/>
                </a:avLst>
              </a:prstGeom>
              <a:noFill/>
              <a:ln cap="flat" cmpd="sng" w="190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1025" name="Google Shape;1025;p56"/>
              <p:cNvSpPr txBox="1"/>
              <p:nvPr/>
            </p:nvSpPr>
            <p:spPr>
              <a:xfrm>
                <a:off x="5500" y="1662"/>
                <a:ext cx="21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2"/>
                  </a:buClr>
                  <a:buSzPts val="2000"/>
                  <a:buFont typeface="Courier New"/>
                  <a:buNone/>
                </a:pPr>
                <a:r>
                  <a:rPr b="1" i="1" lang="en-US" sz="2000">
                    <a:solidFill>
                      <a:schemeClr val="accent2"/>
                    </a:solidFill>
                    <a:latin typeface="Courier New"/>
                    <a:ea typeface="Courier New"/>
                    <a:cs typeface="Courier New"/>
                    <a:sym typeface="Courier New"/>
                  </a:rPr>
                  <a:t>d</a:t>
                </a:r>
                <a:endParaRPr/>
              </a:p>
            </p:txBody>
          </p:sp>
        </p:grpSp>
        <p:pic>
          <p:nvPicPr>
            <p:cNvPr id="1026" name="Google Shape;1026;p56"/>
            <p:cNvPicPr preferRelativeResize="0"/>
            <p:nvPr/>
          </p:nvPicPr>
          <p:blipFill rotWithShape="1">
            <a:blip r:embed="rId4">
              <a:alphaModFix/>
            </a:blip>
            <a:srcRect b="0" l="6000" r="7066" t="0"/>
            <a:stretch/>
          </p:blipFill>
          <p:spPr>
            <a:xfrm flipH="1" rot="5400000">
              <a:off x="3622" y="1548"/>
              <a:ext cx="417" cy="432"/>
            </a:xfrm>
            <a:prstGeom prst="rect">
              <a:avLst/>
            </a:prstGeom>
            <a:noFill/>
            <a:ln>
              <a:noFill/>
            </a:ln>
          </p:spPr>
        </p:pic>
        <p:cxnSp>
          <p:nvCxnSpPr>
            <p:cNvPr id="1027" name="Google Shape;1027;p56"/>
            <p:cNvCxnSpPr/>
            <p:nvPr/>
          </p:nvCxnSpPr>
          <p:spPr>
            <a:xfrm>
              <a:off x="3820" y="1555"/>
              <a:ext cx="242" cy="0"/>
            </a:xfrm>
            <a:prstGeom prst="straightConnector1">
              <a:avLst/>
            </a:prstGeom>
            <a:noFill/>
            <a:ln cap="flat" cmpd="sng" w="12700">
              <a:solidFill>
                <a:srgbClr val="5F5F5F"/>
              </a:solidFill>
              <a:prstDash val="solid"/>
              <a:round/>
              <a:headEnd len="med" w="med" type="none"/>
              <a:tailEnd len="med" w="med" type="none"/>
            </a:ln>
          </p:spPr>
        </p:cxnSp>
        <p:cxnSp>
          <p:nvCxnSpPr>
            <p:cNvPr id="1028" name="Google Shape;1028;p56"/>
            <p:cNvCxnSpPr/>
            <p:nvPr/>
          </p:nvCxnSpPr>
          <p:spPr>
            <a:xfrm>
              <a:off x="3828" y="1965"/>
              <a:ext cx="242" cy="0"/>
            </a:xfrm>
            <a:prstGeom prst="straightConnector1">
              <a:avLst/>
            </a:prstGeom>
            <a:noFill/>
            <a:ln cap="flat" cmpd="sng" w="12700">
              <a:solidFill>
                <a:srgbClr val="5F5F5F"/>
              </a:solidFill>
              <a:prstDash val="solid"/>
              <a:round/>
              <a:headEnd len="med" w="med" type="none"/>
              <a:tailEnd len="med" w="med" type="none"/>
            </a:ln>
          </p:spPr>
        </p:cxnSp>
      </p:grpSp>
      <p:sp>
        <p:nvSpPr>
          <p:cNvPr id="1029" name="Google Shape;1029;p56"/>
          <p:cNvSpPr/>
          <p:nvPr/>
        </p:nvSpPr>
        <p:spPr>
          <a:xfrm>
            <a:off x="7483475" y="2911475"/>
            <a:ext cx="131763" cy="131763"/>
          </a:xfrm>
          <a:prstGeom prst="ellipse">
            <a:avLst/>
          </a:prstGeom>
          <a:gradFill>
            <a:gsLst>
              <a:gs pos="0">
                <a:srgbClr val="FF9999"/>
              </a:gs>
              <a:gs pos="100000">
                <a:srgbClr val="764747"/>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1030" name="Google Shape;1030;p56"/>
          <p:cNvSpPr txBox="1"/>
          <p:nvPr/>
        </p:nvSpPr>
        <p:spPr>
          <a:xfrm>
            <a:off x="7386638" y="2611438"/>
            <a:ext cx="36195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Courier New"/>
              <a:buNone/>
            </a:pPr>
            <a:r>
              <a:rPr b="1" lang="en-US" sz="2000">
                <a:solidFill>
                  <a:schemeClr val="dk1"/>
                </a:solidFill>
                <a:latin typeface="Courier New"/>
                <a:ea typeface="Courier New"/>
                <a:cs typeface="Courier New"/>
                <a:sym typeface="Courier New"/>
              </a:rPr>
              <a:t>A</a:t>
            </a:r>
            <a:endParaRPr/>
          </a:p>
        </p:txBody>
      </p:sp>
      <p:sp>
        <p:nvSpPr>
          <p:cNvPr id="1031" name="Google Shape;1031;p56"/>
          <p:cNvSpPr txBox="1"/>
          <p:nvPr/>
        </p:nvSpPr>
        <p:spPr>
          <a:xfrm>
            <a:off x="7388225" y="3479800"/>
            <a:ext cx="36195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Courier New"/>
              <a:buNone/>
            </a:pPr>
            <a:r>
              <a:rPr b="1" lang="en-US" sz="2000">
                <a:solidFill>
                  <a:schemeClr val="dk1"/>
                </a:solidFill>
                <a:latin typeface="Courier New"/>
                <a:ea typeface="Courier New"/>
                <a:cs typeface="Courier New"/>
                <a:sym typeface="Courier New"/>
              </a:rPr>
              <a:t>B</a:t>
            </a:r>
            <a:endParaRPr/>
          </a:p>
        </p:txBody>
      </p:sp>
      <p:pic>
        <p:nvPicPr>
          <p:cNvPr id="1032" name="Google Shape;1032;p56"/>
          <p:cNvPicPr preferRelativeResize="0"/>
          <p:nvPr/>
        </p:nvPicPr>
        <p:blipFill rotWithShape="1">
          <a:blip r:embed="rId5">
            <a:alphaModFix/>
          </a:blip>
          <a:srcRect b="0" l="0" r="0" t="0"/>
          <a:stretch/>
        </p:blipFill>
        <p:spPr>
          <a:xfrm>
            <a:off x="7386638" y="6013081"/>
            <a:ext cx="804497" cy="75483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7">
                                            <p:txEl>
                                              <p:pRg end="0" st="0"/>
                                            </p:txEl>
                                          </p:spTgt>
                                        </p:tgtEl>
                                        <p:attrNameLst>
                                          <p:attrName>style.visibility</p:attrName>
                                        </p:attrNameLst>
                                      </p:cBhvr>
                                      <p:to>
                                        <p:strVal val="visible"/>
                                      </p:to>
                                    </p:set>
                                    <p:anim calcmode="lin" valueType="num">
                                      <p:cBhvr additive="base">
                                        <p:cTn dur="500"/>
                                        <p:tgtEl>
                                          <p:spTgt spid="101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7">
                                            <p:txEl>
                                              <p:pRg end="1" st="1"/>
                                            </p:txEl>
                                          </p:spTgt>
                                        </p:tgtEl>
                                        <p:attrNameLst>
                                          <p:attrName>style.visibility</p:attrName>
                                        </p:attrNameLst>
                                      </p:cBhvr>
                                      <p:to>
                                        <p:strVal val="visible"/>
                                      </p:to>
                                    </p:set>
                                    <p:anim calcmode="lin" valueType="num">
                                      <p:cBhvr additive="base">
                                        <p:cTn dur="500"/>
                                        <p:tgtEl>
                                          <p:spTgt spid="101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7">
                                            <p:txEl>
                                              <p:pRg end="2" st="2"/>
                                            </p:txEl>
                                          </p:spTgt>
                                        </p:tgtEl>
                                        <p:attrNameLst>
                                          <p:attrName>style.visibility</p:attrName>
                                        </p:attrNameLst>
                                      </p:cBhvr>
                                      <p:to>
                                        <p:strVal val="visible"/>
                                      </p:to>
                                    </p:set>
                                    <p:anim calcmode="lin" valueType="num">
                                      <p:cBhvr additive="base">
                                        <p:cTn dur="500"/>
                                        <p:tgtEl>
                                          <p:spTgt spid="101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7">
                                            <p:txEl>
                                              <p:pRg end="3" st="3"/>
                                            </p:txEl>
                                          </p:spTgt>
                                        </p:tgtEl>
                                        <p:attrNameLst>
                                          <p:attrName>style.visibility</p:attrName>
                                        </p:attrNameLst>
                                      </p:cBhvr>
                                      <p:to>
                                        <p:strVal val="visible"/>
                                      </p:to>
                                    </p:set>
                                    <p:anim calcmode="lin" valueType="num">
                                      <p:cBhvr additive="base">
                                        <p:cTn dur="500"/>
                                        <p:tgtEl>
                                          <p:spTgt spid="101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7">
                                            <p:txEl>
                                              <p:pRg end="4" st="4"/>
                                            </p:txEl>
                                          </p:spTgt>
                                        </p:tgtEl>
                                        <p:attrNameLst>
                                          <p:attrName>style.visibility</p:attrName>
                                        </p:attrNameLst>
                                      </p:cBhvr>
                                      <p:to>
                                        <p:strVal val="visible"/>
                                      </p:to>
                                    </p:set>
                                    <p:anim calcmode="lin" valueType="num">
                                      <p:cBhvr additive="base">
                                        <p:cTn dur="500"/>
                                        <p:tgtEl>
                                          <p:spTgt spid="101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7">
                                            <p:txEl>
                                              <p:pRg end="5" st="5"/>
                                            </p:txEl>
                                          </p:spTgt>
                                        </p:tgtEl>
                                        <p:attrNameLst>
                                          <p:attrName>style.visibility</p:attrName>
                                        </p:attrNameLst>
                                      </p:cBhvr>
                                      <p:to>
                                        <p:strVal val="visible"/>
                                      </p:to>
                                    </p:set>
                                    <p:anim calcmode="lin" valueType="num">
                                      <p:cBhvr additive="base">
                                        <p:cTn dur="500"/>
                                        <p:tgtEl>
                                          <p:spTgt spid="1017">
                                            <p:txEl>
                                              <p:pRg end="5" st="5"/>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0"/>
                                  </p:stCondLst>
                                  <p:childTnLst>
                                    <p:set>
                                      <p:cBhvr>
                                        <p:cTn dur="1" fill="hold">
                                          <p:stCondLst>
                                            <p:cond delay="0"/>
                                          </p:stCondLst>
                                        </p:cTn>
                                        <p:tgtEl>
                                          <p:spTgt spid="1020"/>
                                        </p:tgtEl>
                                        <p:attrNameLst>
                                          <p:attrName>style.visibility</p:attrName>
                                        </p:attrNameLst>
                                      </p:cBhvr>
                                      <p:to>
                                        <p:strVal val="visible"/>
                                      </p:to>
                                    </p:set>
                                    <p:anim calcmode="lin" valueType="num">
                                      <p:cBhvr additive="base">
                                        <p:cTn dur="500"/>
                                        <p:tgtEl>
                                          <p:spTgt spid="1020"/>
                                        </p:tgtEl>
                                        <p:attrNameLst>
                                          <p:attrName>ppt_w</p:attrName>
                                        </p:attrNameLst>
                                      </p:cBhvr>
                                      <p:tavLst>
                                        <p:tav fmla="" tm="0">
                                          <p:val>
                                            <p:strVal val="0"/>
                                          </p:val>
                                        </p:tav>
                                        <p:tav fmla="" tm="100000">
                                          <p:val>
                                            <p:strVal val="#ppt_w"/>
                                          </p:val>
                                        </p:tav>
                                      </p:tavLst>
                                    </p:anim>
                                    <p:anim calcmode="lin" valueType="num">
                                      <p:cBhvr additive="base">
                                        <p:cTn dur="500"/>
                                        <p:tgtEl>
                                          <p:spTgt spid="102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0"/>
                                        </p:tgtEl>
                                        <p:attrNameLst>
                                          <p:attrName>style.visibility</p:attrName>
                                        </p:attrNameLst>
                                      </p:cBhvr>
                                      <p:to>
                                        <p:strVal val="visible"/>
                                      </p:to>
                                    </p:set>
                                    <p:anim calcmode="lin" valueType="num">
                                      <p:cBhvr additive="base">
                                        <p:cTn dur="500"/>
                                        <p:tgtEl>
                                          <p:spTgt spid="1030"/>
                                        </p:tgtEl>
                                        <p:attrNameLst>
                                          <p:attrName>ppt_w</p:attrName>
                                        </p:attrNameLst>
                                      </p:cBhvr>
                                      <p:tavLst>
                                        <p:tav fmla="" tm="0">
                                          <p:val>
                                            <p:strVal val="0"/>
                                          </p:val>
                                        </p:tav>
                                        <p:tav fmla="" tm="100000">
                                          <p:val>
                                            <p:strVal val="#ppt_w"/>
                                          </p:val>
                                        </p:tav>
                                      </p:tavLst>
                                    </p:anim>
                                    <p:anim calcmode="lin" valueType="num">
                                      <p:cBhvr additive="base">
                                        <p:cTn dur="500"/>
                                        <p:tgtEl>
                                          <p:spTgt spid="103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1"/>
                                        </p:tgtEl>
                                        <p:attrNameLst>
                                          <p:attrName>style.visibility</p:attrName>
                                        </p:attrNameLst>
                                      </p:cBhvr>
                                      <p:to>
                                        <p:strVal val="visible"/>
                                      </p:to>
                                    </p:set>
                                    <p:anim calcmode="lin" valueType="num">
                                      <p:cBhvr additive="base">
                                        <p:cTn dur="500"/>
                                        <p:tgtEl>
                                          <p:spTgt spid="1031"/>
                                        </p:tgtEl>
                                        <p:attrNameLst>
                                          <p:attrName>ppt_w</p:attrName>
                                        </p:attrNameLst>
                                      </p:cBhvr>
                                      <p:tavLst>
                                        <p:tav fmla="" tm="0">
                                          <p:val>
                                            <p:strVal val="0"/>
                                          </p:val>
                                        </p:tav>
                                        <p:tav fmla="" tm="100000">
                                          <p:val>
                                            <p:strVal val="#ppt_w"/>
                                          </p:val>
                                        </p:tav>
                                      </p:tavLst>
                                    </p:anim>
                                    <p:anim calcmode="lin" valueType="num">
                                      <p:cBhvr additive="base">
                                        <p:cTn dur="500"/>
                                        <p:tgtEl>
                                          <p:spTgt spid="103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29"/>
                                        </p:tgtEl>
                                        <p:attrNameLst>
                                          <p:attrName>style.visibility</p:attrName>
                                        </p:attrNameLst>
                                      </p:cBhvr>
                                      <p:to>
                                        <p:strVal val="visible"/>
                                      </p:to>
                                    </p:set>
                                    <p:anim calcmode="lin" valueType="num">
                                      <p:cBhvr additive="base">
                                        <p:cTn dur="500"/>
                                        <p:tgtEl>
                                          <p:spTgt spid="1029"/>
                                        </p:tgtEl>
                                        <p:attrNameLst>
                                          <p:attrName>ppt_w</p:attrName>
                                        </p:attrNameLst>
                                      </p:cBhvr>
                                      <p:tavLst>
                                        <p:tav fmla="" tm="0">
                                          <p:val>
                                            <p:strVal val="0"/>
                                          </p:val>
                                        </p:tav>
                                        <p:tav fmla="" tm="100000">
                                          <p:val>
                                            <p:strVal val="#ppt_w"/>
                                          </p:val>
                                        </p:tav>
                                      </p:tavLst>
                                    </p:anim>
                                    <p:anim calcmode="lin" valueType="num">
                                      <p:cBhvr additive="base">
                                        <p:cTn dur="500"/>
                                        <p:tgtEl>
                                          <p:spTgt spid="102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2"/>
                                        </p:tgtEl>
                                        <p:attrNameLst>
                                          <p:attrName>style.visibility</p:attrName>
                                        </p:attrNameLst>
                                      </p:cBhvr>
                                      <p:to>
                                        <p:strVal val="visible"/>
                                      </p:to>
                                    </p:set>
                                    <p:animEffect filter="fade" transition="in">
                                      <p:cBhvr>
                                        <p:cTn dur="2000"/>
                                        <p:tgtEl>
                                          <p:spTgt spid="10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57"/>
          <p:cNvSpPr/>
          <p:nvPr/>
        </p:nvSpPr>
        <p:spPr>
          <a:xfrm>
            <a:off x="687388" y="1979613"/>
            <a:ext cx="7772400" cy="4878387"/>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PRACTICE: Two parallel plates with plate              separation 2.0 cm</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are charged up to the                    potential difference shown.  Which one of                        the following shows the correct direction                         and strength of the resulting electric field?</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SOLUTION:</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∙Since the greater positive is plate Y, the electric field lines point from Y → X.</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∙From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Ed</a:t>
            </a:r>
            <a:r>
              <a:rPr lang="en-US" sz="2400">
                <a:solidFill>
                  <a:schemeClr val="dk1"/>
                </a:solidFill>
                <a:latin typeface="Arial"/>
                <a:ea typeface="Arial"/>
                <a:cs typeface="Arial"/>
                <a:sym typeface="Arial"/>
              </a:rPr>
              <a:t> we see that </a:t>
            </a:r>
            <a:endParaRPr/>
          </a:p>
          <a:p>
            <a:pPr indent="0" lvl="0" marL="0" marR="0" rtl="0" algn="l">
              <a:spcBef>
                <a:spcPts val="480"/>
              </a:spcBef>
              <a:spcAft>
                <a:spcPts val="0"/>
              </a:spcAft>
              <a:buClr>
                <a:schemeClr val="dk1"/>
              </a:buClr>
              <a:buSzPts val="2400"/>
              <a:buFont typeface="Arial"/>
              <a:buNone/>
            </a:pPr>
            <a:r>
              <a:rPr i="1" lang="en-US" sz="2400">
                <a:solidFill>
                  <a:schemeClr val="dk1"/>
                </a:solidFill>
                <a:latin typeface="Arial"/>
                <a:ea typeface="Arial"/>
                <a:cs typeface="Arial"/>
                <a:sym typeface="Arial"/>
              </a:rPr>
              <a:t>      E</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 / d</a:t>
            </a:r>
            <a:r>
              <a:rPr lang="en-US" sz="2400">
                <a:solidFill>
                  <a:schemeClr val="dk1"/>
                </a:solidFill>
                <a:latin typeface="Arial"/>
                <a:ea typeface="Arial"/>
                <a:cs typeface="Arial"/>
                <a:sym typeface="Arial"/>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 (100 – 50) </a:t>
            </a:r>
            <a:r>
              <a:rPr i="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 2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 25 V</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cm</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endParaRPr/>
          </a:p>
        </p:txBody>
      </p:sp>
      <p:sp>
        <p:nvSpPr>
          <p:cNvPr id="1038" name="Google Shape;1038;p57"/>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Fields</a:t>
            </a:r>
            <a:br>
              <a:rPr b="1" lang="en-US" sz="2800"/>
            </a:br>
            <a:r>
              <a:rPr lang="en-US" sz="2800">
                <a:solidFill>
                  <a:schemeClr val="dk1"/>
                </a:solidFill>
              </a:rPr>
              <a:t>D.2 – Electric fields (SL)</a:t>
            </a:r>
            <a:endParaRPr/>
          </a:p>
        </p:txBody>
      </p:sp>
      <p:pic>
        <p:nvPicPr>
          <p:cNvPr id="1039" name="Google Shape;1039;p57"/>
          <p:cNvPicPr preferRelativeResize="0"/>
          <p:nvPr/>
        </p:nvPicPr>
        <p:blipFill rotWithShape="1">
          <a:blip r:embed="rId3">
            <a:alphaModFix/>
          </a:blip>
          <a:srcRect b="0" l="0" r="0" t="0"/>
          <a:stretch/>
        </p:blipFill>
        <p:spPr>
          <a:xfrm>
            <a:off x="4579938" y="4803775"/>
            <a:ext cx="3865562" cy="2054225"/>
          </a:xfrm>
          <a:prstGeom prst="rect">
            <a:avLst/>
          </a:prstGeom>
          <a:noFill/>
          <a:ln>
            <a:noFill/>
          </a:ln>
        </p:spPr>
      </p:pic>
      <p:grpSp>
        <p:nvGrpSpPr>
          <p:cNvPr id="1040" name="Google Shape;1040;p57"/>
          <p:cNvGrpSpPr/>
          <p:nvPr/>
        </p:nvGrpSpPr>
        <p:grpSpPr>
          <a:xfrm>
            <a:off x="5146675" y="5178425"/>
            <a:ext cx="1203325" cy="352425"/>
            <a:chOff x="3721" y="2410"/>
            <a:chExt cx="614" cy="826"/>
          </a:xfrm>
        </p:grpSpPr>
        <p:cxnSp>
          <p:nvCxnSpPr>
            <p:cNvPr id="1041" name="Google Shape;1041;p57"/>
            <p:cNvCxnSpPr/>
            <p:nvPr/>
          </p:nvCxnSpPr>
          <p:spPr>
            <a:xfrm>
              <a:off x="3721" y="2418"/>
              <a:ext cx="614" cy="818"/>
            </a:xfrm>
            <a:prstGeom prst="straightConnector1">
              <a:avLst/>
            </a:prstGeom>
            <a:noFill/>
            <a:ln cap="flat" cmpd="sng" w="9525">
              <a:solidFill>
                <a:srgbClr val="FF0000"/>
              </a:solidFill>
              <a:prstDash val="solid"/>
              <a:round/>
              <a:headEnd len="med" w="med" type="none"/>
              <a:tailEnd len="med" w="med" type="none"/>
            </a:ln>
          </p:spPr>
        </p:cxnSp>
        <p:cxnSp>
          <p:nvCxnSpPr>
            <p:cNvPr id="1042" name="Google Shape;1042;p57"/>
            <p:cNvCxnSpPr/>
            <p:nvPr/>
          </p:nvCxnSpPr>
          <p:spPr>
            <a:xfrm flipH="1">
              <a:off x="3729" y="2410"/>
              <a:ext cx="606" cy="826"/>
            </a:xfrm>
            <a:prstGeom prst="straightConnector1">
              <a:avLst/>
            </a:prstGeom>
            <a:noFill/>
            <a:ln cap="flat" cmpd="sng" w="9525">
              <a:solidFill>
                <a:srgbClr val="FF0000"/>
              </a:solidFill>
              <a:prstDash val="solid"/>
              <a:round/>
              <a:headEnd len="med" w="med" type="none"/>
              <a:tailEnd len="med" w="med" type="none"/>
            </a:ln>
          </p:spPr>
        </p:cxnSp>
      </p:grpSp>
      <p:grpSp>
        <p:nvGrpSpPr>
          <p:cNvPr id="1043" name="Google Shape;1043;p57"/>
          <p:cNvGrpSpPr/>
          <p:nvPr/>
        </p:nvGrpSpPr>
        <p:grpSpPr>
          <a:xfrm>
            <a:off x="5137150" y="5608638"/>
            <a:ext cx="1203325" cy="352425"/>
            <a:chOff x="3721" y="2410"/>
            <a:chExt cx="614" cy="826"/>
          </a:xfrm>
        </p:grpSpPr>
        <p:cxnSp>
          <p:nvCxnSpPr>
            <p:cNvPr id="1044" name="Google Shape;1044;p57"/>
            <p:cNvCxnSpPr/>
            <p:nvPr/>
          </p:nvCxnSpPr>
          <p:spPr>
            <a:xfrm>
              <a:off x="3721" y="2418"/>
              <a:ext cx="614" cy="818"/>
            </a:xfrm>
            <a:prstGeom prst="straightConnector1">
              <a:avLst/>
            </a:prstGeom>
            <a:noFill/>
            <a:ln cap="flat" cmpd="sng" w="9525">
              <a:solidFill>
                <a:srgbClr val="FF0000"/>
              </a:solidFill>
              <a:prstDash val="solid"/>
              <a:round/>
              <a:headEnd len="med" w="med" type="none"/>
              <a:tailEnd len="med" w="med" type="none"/>
            </a:ln>
          </p:spPr>
        </p:cxnSp>
        <p:cxnSp>
          <p:nvCxnSpPr>
            <p:cNvPr id="1045" name="Google Shape;1045;p57"/>
            <p:cNvCxnSpPr/>
            <p:nvPr/>
          </p:nvCxnSpPr>
          <p:spPr>
            <a:xfrm flipH="1">
              <a:off x="3729" y="2410"/>
              <a:ext cx="606" cy="826"/>
            </a:xfrm>
            <a:prstGeom prst="straightConnector1">
              <a:avLst/>
            </a:prstGeom>
            <a:noFill/>
            <a:ln cap="flat" cmpd="sng" w="9525">
              <a:solidFill>
                <a:srgbClr val="FF0000"/>
              </a:solidFill>
              <a:prstDash val="solid"/>
              <a:round/>
              <a:headEnd len="med" w="med" type="none"/>
              <a:tailEnd len="med" w="med" type="none"/>
            </a:ln>
          </p:spPr>
        </p:cxnSp>
      </p:grpSp>
      <p:sp>
        <p:nvSpPr>
          <p:cNvPr id="1046" name="Google Shape;1046;p57"/>
          <p:cNvSpPr/>
          <p:nvPr/>
        </p:nvSpPr>
        <p:spPr>
          <a:xfrm>
            <a:off x="4541838" y="6056313"/>
            <a:ext cx="276225" cy="276225"/>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1047" name="Google Shape;1047;p57"/>
          <p:cNvSpPr/>
          <p:nvPr/>
        </p:nvSpPr>
        <p:spPr>
          <a:xfrm>
            <a:off x="685800" y="1549400"/>
            <a:ext cx="7772400" cy="4572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Potential difference</a:t>
            </a:r>
            <a:r>
              <a:rPr i="1" lang="en-US" sz="2400">
                <a:solidFill>
                  <a:schemeClr val="dk1"/>
                </a:solidFill>
                <a:latin typeface="Arial"/>
                <a:ea typeface="Arial"/>
                <a:cs typeface="Arial"/>
                <a:sym typeface="Arial"/>
              </a:rPr>
              <a:t> </a:t>
            </a:r>
            <a:r>
              <a:rPr lang="en-US" sz="2400">
                <a:solidFill>
                  <a:schemeClr val="accent2"/>
                </a:solidFill>
                <a:latin typeface="Arial"/>
                <a:ea typeface="Arial"/>
                <a:cs typeface="Arial"/>
                <a:sym typeface="Arial"/>
              </a:rPr>
              <a:t>– between parallel plates</a:t>
            </a:r>
            <a:endParaRPr/>
          </a:p>
        </p:txBody>
      </p:sp>
      <p:pic>
        <p:nvPicPr>
          <p:cNvPr id="1048" name="Google Shape;1048;p57"/>
          <p:cNvPicPr preferRelativeResize="0"/>
          <p:nvPr/>
        </p:nvPicPr>
        <p:blipFill rotWithShape="1">
          <a:blip r:embed="rId4">
            <a:alphaModFix/>
          </a:blip>
          <a:srcRect b="0" l="0" r="0" t="0"/>
          <a:stretch/>
        </p:blipFill>
        <p:spPr>
          <a:xfrm>
            <a:off x="6469063" y="1825625"/>
            <a:ext cx="2343150" cy="2514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7">
                                            <p:txEl>
                                              <p:pRg end="0" st="0"/>
                                            </p:txEl>
                                          </p:spTgt>
                                        </p:tgtEl>
                                        <p:attrNameLst>
                                          <p:attrName>style.visibility</p:attrName>
                                        </p:attrNameLst>
                                      </p:cBhvr>
                                      <p:to>
                                        <p:strVal val="visible"/>
                                      </p:to>
                                    </p:set>
                                    <p:anim calcmode="lin" valueType="num">
                                      <p:cBhvr additive="base">
                                        <p:cTn dur="500"/>
                                        <p:tgtEl>
                                          <p:spTgt spid="103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7">
                                            <p:txEl>
                                              <p:pRg end="1" st="1"/>
                                            </p:txEl>
                                          </p:spTgt>
                                        </p:tgtEl>
                                        <p:attrNameLst>
                                          <p:attrName>style.visibility</p:attrName>
                                        </p:attrNameLst>
                                      </p:cBhvr>
                                      <p:to>
                                        <p:strVal val="visible"/>
                                      </p:to>
                                    </p:set>
                                    <p:anim calcmode="lin" valueType="num">
                                      <p:cBhvr additive="base">
                                        <p:cTn dur="500"/>
                                        <p:tgtEl>
                                          <p:spTgt spid="103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7">
                                            <p:txEl>
                                              <p:pRg end="2" st="2"/>
                                            </p:txEl>
                                          </p:spTgt>
                                        </p:tgtEl>
                                        <p:attrNameLst>
                                          <p:attrName>style.visibility</p:attrName>
                                        </p:attrNameLst>
                                      </p:cBhvr>
                                      <p:to>
                                        <p:strVal val="visible"/>
                                      </p:to>
                                    </p:set>
                                    <p:anim calcmode="lin" valueType="num">
                                      <p:cBhvr additive="base">
                                        <p:cTn dur="500"/>
                                        <p:tgtEl>
                                          <p:spTgt spid="103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7">
                                            <p:txEl>
                                              <p:pRg end="3" st="3"/>
                                            </p:txEl>
                                          </p:spTgt>
                                        </p:tgtEl>
                                        <p:attrNameLst>
                                          <p:attrName>style.visibility</p:attrName>
                                        </p:attrNameLst>
                                      </p:cBhvr>
                                      <p:to>
                                        <p:strVal val="visible"/>
                                      </p:to>
                                    </p:set>
                                    <p:anim calcmode="lin" valueType="num">
                                      <p:cBhvr additive="base">
                                        <p:cTn dur="500"/>
                                        <p:tgtEl>
                                          <p:spTgt spid="103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7">
                                            <p:txEl>
                                              <p:pRg end="4" st="4"/>
                                            </p:txEl>
                                          </p:spTgt>
                                        </p:tgtEl>
                                        <p:attrNameLst>
                                          <p:attrName>style.visibility</p:attrName>
                                        </p:attrNameLst>
                                      </p:cBhvr>
                                      <p:to>
                                        <p:strVal val="visible"/>
                                      </p:to>
                                    </p:set>
                                    <p:anim calcmode="lin" valueType="num">
                                      <p:cBhvr additive="base">
                                        <p:cTn dur="500"/>
                                        <p:tgtEl>
                                          <p:spTgt spid="103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7">
                                            <p:txEl>
                                              <p:pRg end="5" st="5"/>
                                            </p:txEl>
                                          </p:spTgt>
                                        </p:tgtEl>
                                        <p:attrNameLst>
                                          <p:attrName>style.visibility</p:attrName>
                                        </p:attrNameLst>
                                      </p:cBhvr>
                                      <p:to>
                                        <p:strVal val="visible"/>
                                      </p:to>
                                    </p:set>
                                    <p:anim calcmode="lin" valueType="num">
                                      <p:cBhvr additive="base">
                                        <p:cTn dur="500"/>
                                        <p:tgtEl>
                                          <p:spTgt spid="103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7">
                                            <p:txEl>
                                              <p:pRg end="6" st="6"/>
                                            </p:txEl>
                                          </p:spTgt>
                                        </p:tgtEl>
                                        <p:attrNameLst>
                                          <p:attrName>style.visibility</p:attrName>
                                        </p:attrNameLst>
                                      </p:cBhvr>
                                      <p:to>
                                        <p:strVal val="visible"/>
                                      </p:to>
                                    </p:set>
                                    <p:anim calcmode="lin" valueType="num">
                                      <p:cBhvr additive="base">
                                        <p:cTn dur="500"/>
                                        <p:tgtEl>
                                          <p:spTgt spid="1037">
                                            <p:txEl>
                                              <p:pRg end="6" st="6"/>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048"/>
                                        </p:tgtEl>
                                        <p:attrNameLst>
                                          <p:attrName>style.visibility</p:attrName>
                                        </p:attrNameLst>
                                      </p:cBhvr>
                                      <p:to>
                                        <p:strVal val="visible"/>
                                      </p:to>
                                    </p:set>
                                    <p:animEffect filter="fade" transition="in">
                                      <p:cBhvr>
                                        <p:cTn dur="2000"/>
                                        <p:tgtEl>
                                          <p:spTgt spid="1048"/>
                                        </p:tgtEl>
                                      </p:cBhvr>
                                    </p:animEffect>
                                  </p:childTnLst>
                                </p:cTn>
                              </p:par>
                              <p:par>
                                <p:cTn fill="hold" nodeType="withEffect" presetClass="entr" presetID="10" presetSubtype="0">
                                  <p:stCondLst>
                                    <p:cond delay="0"/>
                                  </p:stCondLst>
                                  <p:childTnLst>
                                    <p:set>
                                      <p:cBhvr>
                                        <p:cTn dur="1" fill="hold">
                                          <p:stCondLst>
                                            <p:cond delay="0"/>
                                          </p:stCondLst>
                                        </p:cTn>
                                        <p:tgtEl>
                                          <p:spTgt spid="1039"/>
                                        </p:tgtEl>
                                        <p:attrNameLst>
                                          <p:attrName>style.visibility</p:attrName>
                                        </p:attrNameLst>
                                      </p:cBhvr>
                                      <p:to>
                                        <p:strVal val="visible"/>
                                      </p:to>
                                    </p:set>
                                    <p:animEffect filter="fade" transition="in">
                                      <p:cBhvr>
                                        <p:cTn dur="2000"/>
                                        <p:tgtEl>
                                          <p:spTgt spid="10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40"/>
                                        </p:tgtEl>
                                        <p:attrNameLst>
                                          <p:attrName>style.visibility</p:attrName>
                                        </p:attrNameLst>
                                      </p:cBhvr>
                                      <p:to>
                                        <p:strVal val="visible"/>
                                      </p:to>
                                    </p:set>
                                    <p:anim calcmode="lin" valueType="num">
                                      <p:cBhvr additive="base">
                                        <p:cTn dur="500"/>
                                        <p:tgtEl>
                                          <p:spTgt spid="1040"/>
                                        </p:tgtEl>
                                        <p:attrNameLst>
                                          <p:attrName>ppt_w</p:attrName>
                                        </p:attrNameLst>
                                      </p:cBhvr>
                                      <p:tavLst>
                                        <p:tav fmla="" tm="0">
                                          <p:val>
                                            <p:strVal val="0"/>
                                          </p:val>
                                        </p:tav>
                                        <p:tav fmla="" tm="100000">
                                          <p:val>
                                            <p:strVal val="#ppt_w"/>
                                          </p:val>
                                        </p:tav>
                                      </p:tavLst>
                                    </p:anim>
                                    <p:anim calcmode="lin" valueType="num">
                                      <p:cBhvr additive="base">
                                        <p:cTn dur="500"/>
                                        <p:tgtEl>
                                          <p:spTgt spid="104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43"/>
                                        </p:tgtEl>
                                        <p:attrNameLst>
                                          <p:attrName>style.visibility</p:attrName>
                                        </p:attrNameLst>
                                      </p:cBhvr>
                                      <p:to>
                                        <p:strVal val="visible"/>
                                      </p:to>
                                    </p:set>
                                    <p:anim calcmode="lin" valueType="num">
                                      <p:cBhvr additive="base">
                                        <p:cTn dur="500"/>
                                        <p:tgtEl>
                                          <p:spTgt spid="1043"/>
                                        </p:tgtEl>
                                        <p:attrNameLst>
                                          <p:attrName>ppt_w</p:attrName>
                                        </p:attrNameLst>
                                      </p:cBhvr>
                                      <p:tavLst>
                                        <p:tav fmla="" tm="0">
                                          <p:val>
                                            <p:strVal val="0"/>
                                          </p:val>
                                        </p:tav>
                                        <p:tav fmla="" tm="100000">
                                          <p:val>
                                            <p:strVal val="#ppt_w"/>
                                          </p:val>
                                        </p:tav>
                                      </p:tavLst>
                                    </p:anim>
                                    <p:anim calcmode="lin" valueType="num">
                                      <p:cBhvr additive="base">
                                        <p:cTn dur="500"/>
                                        <p:tgtEl>
                                          <p:spTgt spid="104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46"/>
                                        </p:tgtEl>
                                        <p:attrNameLst>
                                          <p:attrName>style.visibility</p:attrName>
                                        </p:attrNameLst>
                                      </p:cBhvr>
                                      <p:to>
                                        <p:strVal val="visible"/>
                                      </p:to>
                                    </p:set>
                                    <p:anim calcmode="lin" valueType="num">
                                      <p:cBhvr additive="base">
                                        <p:cTn dur="500"/>
                                        <p:tgtEl>
                                          <p:spTgt spid="1046"/>
                                        </p:tgtEl>
                                        <p:attrNameLst>
                                          <p:attrName>ppt_w</p:attrName>
                                        </p:attrNameLst>
                                      </p:cBhvr>
                                      <p:tavLst>
                                        <p:tav fmla="" tm="0">
                                          <p:val>
                                            <p:strVal val="0"/>
                                          </p:val>
                                        </p:tav>
                                        <p:tav fmla="" tm="100000">
                                          <p:val>
                                            <p:strVal val="#ppt_w"/>
                                          </p:val>
                                        </p:tav>
                                      </p:tavLst>
                                    </p:anim>
                                    <p:anim calcmode="lin" valueType="num">
                                      <p:cBhvr additive="base">
                                        <p:cTn dur="500"/>
                                        <p:tgtEl>
                                          <p:spTgt spid="104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Millikan’s Oil Drop Experiment</a:t>
            </a:r>
            <a:endParaRPr/>
          </a:p>
        </p:txBody>
      </p:sp>
      <p:sp>
        <p:nvSpPr>
          <p:cNvPr id="1055" name="Google Shape;1055;p5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812800" lvl="0" marL="812800" rtl="0" algn="l">
              <a:spcBef>
                <a:spcPts val="0"/>
              </a:spcBef>
              <a:spcAft>
                <a:spcPts val="0"/>
              </a:spcAft>
              <a:buClr>
                <a:schemeClr val="dk1"/>
              </a:buClr>
              <a:buSzPts val="3200"/>
              <a:buFont typeface="Arial"/>
              <a:buAutoNum type="romanUcPeriod"/>
            </a:pPr>
            <a:r>
              <a:rPr lang="en-US"/>
              <a:t>Charge of electron – very important application of uniform electric field between two plate – Robert Millikan (1868-1953)</a:t>
            </a:r>
            <a:endParaRPr/>
          </a:p>
          <a:p>
            <a:pPr indent="-533400" lvl="1" marL="1168400" rtl="0" algn="l">
              <a:spcBef>
                <a:spcPts val="560"/>
              </a:spcBef>
              <a:spcAft>
                <a:spcPts val="0"/>
              </a:spcAft>
              <a:buClr>
                <a:schemeClr val="dk1"/>
              </a:buClr>
              <a:buSzPts val="2800"/>
              <a:buFont typeface="Arial"/>
              <a:buNone/>
            </a:pPr>
            <a:r>
              <a:t/>
            </a:r>
            <a:endParaRPr/>
          </a:p>
          <a:p>
            <a:pPr indent="-711200" lvl="1" marL="1168400" rtl="0" algn="l">
              <a:spcBef>
                <a:spcPts val="560"/>
              </a:spcBef>
              <a:spcAft>
                <a:spcPts val="0"/>
              </a:spcAft>
              <a:buClr>
                <a:schemeClr val="dk1"/>
              </a:buClr>
              <a:buSzPts val="2800"/>
              <a:buFont typeface="Arial"/>
              <a:buAutoNum type="alphaUcPeriod"/>
            </a:pPr>
            <a:r>
              <a:rPr lang="en-US"/>
              <a:t>Purpose: to find charge of an electron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pic>
        <p:nvPicPr>
          <p:cNvPr id="1061" name="Google Shape;1061;p59"/>
          <p:cNvPicPr preferRelativeResize="0"/>
          <p:nvPr/>
        </p:nvPicPr>
        <p:blipFill rotWithShape="1">
          <a:blip r:embed="rId3">
            <a:alphaModFix/>
          </a:blip>
          <a:srcRect b="0" l="0" r="0" t="0"/>
          <a:stretch/>
        </p:blipFill>
        <p:spPr>
          <a:xfrm>
            <a:off x="457200" y="1663700"/>
            <a:ext cx="7772400" cy="4356100"/>
          </a:xfrm>
          <a:prstGeom prst="rect">
            <a:avLst/>
          </a:prstGeom>
          <a:noFill/>
          <a:ln>
            <a:noFill/>
          </a:ln>
        </p:spPr>
      </p:pic>
      <p:sp>
        <p:nvSpPr>
          <p:cNvPr id="1062" name="Google Shape;1062;p59"/>
          <p:cNvSpPr txBox="1"/>
          <p:nvPr>
            <p:ph idx="1" type="subTitle"/>
          </p:nvPr>
        </p:nvSpPr>
        <p:spPr>
          <a:xfrm>
            <a:off x="-1600200" y="5867400"/>
            <a:ext cx="5486400" cy="990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200"/>
              <a:buFont typeface="Arial"/>
              <a:buNone/>
            </a:pPr>
            <a:r>
              <a:rPr lang="en-US" sz="1200"/>
              <a:t>John D. Bookstaver</a:t>
            </a:r>
            <a:endParaRPr/>
          </a:p>
          <a:p>
            <a:pPr indent="0" lvl="0" marL="0" rtl="0" algn="ctr">
              <a:spcBef>
                <a:spcPts val="240"/>
              </a:spcBef>
              <a:spcAft>
                <a:spcPts val="0"/>
              </a:spcAft>
              <a:buClr>
                <a:schemeClr val="dk1"/>
              </a:buClr>
              <a:buSzPts val="1200"/>
              <a:buFont typeface="Arial"/>
              <a:buNone/>
            </a:pPr>
            <a:r>
              <a:rPr lang="en-US" sz="1200"/>
              <a:t>St. Charles Community College</a:t>
            </a:r>
            <a:endParaRPr/>
          </a:p>
          <a:p>
            <a:pPr indent="0" lvl="0" marL="0" rtl="0" algn="ctr">
              <a:spcBef>
                <a:spcPts val="240"/>
              </a:spcBef>
              <a:spcAft>
                <a:spcPts val="0"/>
              </a:spcAft>
              <a:buClr>
                <a:schemeClr val="dk1"/>
              </a:buClr>
              <a:buSzPts val="1200"/>
              <a:buFont typeface="Arial"/>
              <a:buNone/>
            </a:pPr>
            <a:r>
              <a:rPr lang="en-US" sz="1200"/>
              <a:t>St. Peters, MO</a:t>
            </a:r>
            <a:endParaRPr/>
          </a:p>
          <a:p>
            <a:pPr indent="0" lvl="0" marL="0" rtl="0" algn="ctr">
              <a:spcBef>
                <a:spcPts val="240"/>
              </a:spcBef>
              <a:spcAft>
                <a:spcPts val="0"/>
              </a:spcAft>
              <a:buClr>
                <a:schemeClr val="dk1"/>
              </a:buClr>
              <a:buSzPts val="1200"/>
              <a:buFont typeface="Arial"/>
              <a:buNone/>
            </a:pPr>
            <a:r>
              <a:rPr lang="en-US" sz="1200"/>
              <a:t>© 2006, Prentice Hall, Inc.</a:t>
            </a:r>
            <a:endParaRPr/>
          </a:p>
        </p:txBody>
      </p:sp>
      <p:sp>
        <p:nvSpPr>
          <p:cNvPr id="1063" name="Google Shape;1063;p59"/>
          <p:cNvSpPr txBox="1"/>
          <p:nvPr/>
        </p:nvSpPr>
        <p:spPr>
          <a:xfrm>
            <a:off x="152400" y="609600"/>
            <a:ext cx="8991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1.  Fine oil sprayed into air in top – gravity causes them to fall</a:t>
            </a:r>
            <a:endParaRPr/>
          </a:p>
        </p:txBody>
      </p:sp>
      <p:cxnSp>
        <p:nvCxnSpPr>
          <p:cNvPr id="1064" name="Google Shape;1064;p59"/>
          <p:cNvCxnSpPr/>
          <p:nvPr/>
        </p:nvCxnSpPr>
        <p:spPr>
          <a:xfrm flipH="1">
            <a:off x="5181600" y="1143000"/>
            <a:ext cx="1981200" cy="1447800"/>
          </a:xfrm>
          <a:prstGeom prst="straightConnector1">
            <a:avLst/>
          </a:prstGeom>
          <a:noFill/>
          <a:ln cap="flat" cmpd="sng" w="63500">
            <a:solidFill>
              <a:srgbClr val="FF00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3"/>
                                        </p:tgtEl>
                                        <p:attrNameLst>
                                          <p:attrName>style.visibility</p:attrName>
                                        </p:attrNameLst>
                                      </p:cBhvr>
                                      <p:to>
                                        <p:strVal val="visible"/>
                                      </p:to>
                                    </p:set>
                                    <p:animEffect filter="fade" transition="in">
                                      <p:cBhvr>
                                        <p:cTn dur="500"/>
                                        <p:tgtEl>
                                          <p:spTgt spid="106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64"/>
                                        </p:tgtEl>
                                        <p:attrNameLst>
                                          <p:attrName>style.visibility</p:attrName>
                                        </p:attrNameLst>
                                      </p:cBhvr>
                                      <p:to>
                                        <p:strVal val="visible"/>
                                      </p:to>
                                    </p:set>
                                    <p:animEffect filter="fade" transition="in">
                                      <p:cBhvr>
                                        <p:cTn dur="500"/>
                                        <p:tgtEl>
                                          <p:spTgt spid="10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pic>
        <p:nvPicPr>
          <p:cNvPr id="1070" name="Google Shape;1070;p60"/>
          <p:cNvPicPr preferRelativeResize="0"/>
          <p:nvPr/>
        </p:nvPicPr>
        <p:blipFill rotWithShape="1">
          <a:blip r:embed="rId3">
            <a:alphaModFix/>
          </a:blip>
          <a:srcRect b="0" l="0" r="0" t="0"/>
          <a:stretch/>
        </p:blipFill>
        <p:spPr>
          <a:xfrm>
            <a:off x="457200" y="1663700"/>
            <a:ext cx="7772400" cy="4356100"/>
          </a:xfrm>
          <a:prstGeom prst="rect">
            <a:avLst/>
          </a:prstGeom>
          <a:noFill/>
          <a:ln>
            <a:noFill/>
          </a:ln>
        </p:spPr>
      </p:pic>
      <p:sp>
        <p:nvSpPr>
          <p:cNvPr id="1071" name="Google Shape;1071;p60"/>
          <p:cNvSpPr txBox="1"/>
          <p:nvPr>
            <p:ph idx="1" type="subTitle"/>
          </p:nvPr>
        </p:nvSpPr>
        <p:spPr>
          <a:xfrm>
            <a:off x="-1600200" y="5867400"/>
            <a:ext cx="5486400" cy="990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200"/>
              <a:buFont typeface="Arial"/>
              <a:buNone/>
            </a:pPr>
            <a:r>
              <a:rPr lang="en-US" sz="1200"/>
              <a:t>John D. Bookstaver</a:t>
            </a:r>
            <a:endParaRPr/>
          </a:p>
          <a:p>
            <a:pPr indent="0" lvl="0" marL="0" rtl="0" algn="ctr">
              <a:spcBef>
                <a:spcPts val="240"/>
              </a:spcBef>
              <a:spcAft>
                <a:spcPts val="0"/>
              </a:spcAft>
              <a:buClr>
                <a:schemeClr val="dk1"/>
              </a:buClr>
              <a:buSzPts val="1200"/>
              <a:buFont typeface="Arial"/>
              <a:buNone/>
            </a:pPr>
            <a:r>
              <a:rPr lang="en-US" sz="1200"/>
              <a:t>St. Charles Community College</a:t>
            </a:r>
            <a:endParaRPr/>
          </a:p>
          <a:p>
            <a:pPr indent="0" lvl="0" marL="0" rtl="0" algn="ctr">
              <a:spcBef>
                <a:spcPts val="240"/>
              </a:spcBef>
              <a:spcAft>
                <a:spcPts val="0"/>
              </a:spcAft>
              <a:buClr>
                <a:schemeClr val="dk1"/>
              </a:buClr>
              <a:buSzPts val="1200"/>
              <a:buFont typeface="Arial"/>
              <a:buNone/>
            </a:pPr>
            <a:r>
              <a:rPr lang="en-US" sz="1200"/>
              <a:t>St. Peters, MO</a:t>
            </a:r>
            <a:endParaRPr/>
          </a:p>
          <a:p>
            <a:pPr indent="0" lvl="0" marL="0" rtl="0" algn="ctr">
              <a:spcBef>
                <a:spcPts val="240"/>
              </a:spcBef>
              <a:spcAft>
                <a:spcPts val="0"/>
              </a:spcAft>
              <a:buClr>
                <a:schemeClr val="dk1"/>
              </a:buClr>
              <a:buSzPts val="1200"/>
              <a:buFont typeface="Arial"/>
              <a:buNone/>
            </a:pPr>
            <a:r>
              <a:rPr lang="en-US" sz="1200"/>
              <a:t>© 2006, Prentice Hall, Inc.</a:t>
            </a:r>
            <a:endParaRPr/>
          </a:p>
        </p:txBody>
      </p:sp>
      <p:sp>
        <p:nvSpPr>
          <p:cNvPr id="1072" name="Google Shape;1072;p60"/>
          <p:cNvSpPr txBox="1"/>
          <p:nvPr/>
        </p:nvSpPr>
        <p:spPr>
          <a:xfrm>
            <a:off x="152400" y="609600"/>
            <a:ext cx="8991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2.  A few enter the hole</a:t>
            </a:r>
            <a:endParaRPr/>
          </a:p>
        </p:txBody>
      </p:sp>
      <p:cxnSp>
        <p:nvCxnSpPr>
          <p:cNvPr id="1073" name="Google Shape;1073;p60"/>
          <p:cNvCxnSpPr/>
          <p:nvPr/>
        </p:nvCxnSpPr>
        <p:spPr>
          <a:xfrm>
            <a:off x="3429000" y="990600"/>
            <a:ext cx="1143000" cy="2133600"/>
          </a:xfrm>
          <a:prstGeom prst="straightConnector1">
            <a:avLst/>
          </a:prstGeom>
          <a:noFill/>
          <a:ln cap="flat" cmpd="sng" w="63500">
            <a:solidFill>
              <a:srgbClr val="FF00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2"/>
                                        </p:tgtEl>
                                        <p:attrNameLst>
                                          <p:attrName>style.visibility</p:attrName>
                                        </p:attrNameLst>
                                      </p:cBhvr>
                                      <p:to>
                                        <p:strVal val="visible"/>
                                      </p:to>
                                    </p:set>
                                    <p:animEffect filter="fade" transition="in">
                                      <p:cBhvr>
                                        <p:cTn dur="500"/>
                                        <p:tgtEl>
                                          <p:spTgt spid="107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73"/>
                                        </p:tgtEl>
                                        <p:attrNameLst>
                                          <p:attrName>style.visibility</p:attrName>
                                        </p:attrNameLst>
                                      </p:cBhvr>
                                      <p:to>
                                        <p:strVal val="visible"/>
                                      </p:to>
                                    </p:set>
                                    <p:animEffect filter="fade" transition="in">
                                      <p:cBhvr>
                                        <p:cTn dur="500"/>
                                        <p:tgtEl>
                                          <p:spTgt spid="10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pic>
        <p:nvPicPr>
          <p:cNvPr id="1079" name="Google Shape;1079;p61"/>
          <p:cNvPicPr preferRelativeResize="0"/>
          <p:nvPr/>
        </p:nvPicPr>
        <p:blipFill rotWithShape="1">
          <a:blip r:embed="rId3">
            <a:alphaModFix/>
          </a:blip>
          <a:srcRect b="0" l="0" r="0" t="0"/>
          <a:stretch/>
        </p:blipFill>
        <p:spPr>
          <a:xfrm>
            <a:off x="457200" y="1663700"/>
            <a:ext cx="7772400" cy="4356100"/>
          </a:xfrm>
          <a:prstGeom prst="rect">
            <a:avLst/>
          </a:prstGeom>
          <a:noFill/>
          <a:ln>
            <a:noFill/>
          </a:ln>
        </p:spPr>
      </p:pic>
      <p:sp>
        <p:nvSpPr>
          <p:cNvPr id="1080" name="Google Shape;1080;p61"/>
          <p:cNvSpPr txBox="1"/>
          <p:nvPr>
            <p:ph idx="1" type="subTitle"/>
          </p:nvPr>
        </p:nvSpPr>
        <p:spPr>
          <a:xfrm>
            <a:off x="-1600200" y="5867400"/>
            <a:ext cx="5486400" cy="990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200"/>
              <a:buFont typeface="Arial"/>
              <a:buNone/>
            </a:pPr>
            <a:r>
              <a:rPr lang="en-US" sz="1200"/>
              <a:t>John D. Bookstaver</a:t>
            </a:r>
            <a:endParaRPr/>
          </a:p>
          <a:p>
            <a:pPr indent="0" lvl="0" marL="0" rtl="0" algn="ctr">
              <a:spcBef>
                <a:spcPts val="240"/>
              </a:spcBef>
              <a:spcAft>
                <a:spcPts val="0"/>
              </a:spcAft>
              <a:buClr>
                <a:schemeClr val="dk1"/>
              </a:buClr>
              <a:buSzPts val="1200"/>
              <a:buFont typeface="Arial"/>
              <a:buNone/>
            </a:pPr>
            <a:r>
              <a:rPr lang="en-US" sz="1200"/>
              <a:t>St. Charles Community College</a:t>
            </a:r>
            <a:endParaRPr/>
          </a:p>
          <a:p>
            <a:pPr indent="0" lvl="0" marL="0" rtl="0" algn="ctr">
              <a:spcBef>
                <a:spcPts val="240"/>
              </a:spcBef>
              <a:spcAft>
                <a:spcPts val="0"/>
              </a:spcAft>
              <a:buClr>
                <a:schemeClr val="dk1"/>
              </a:buClr>
              <a:buSzPts val="1200"/>
              <a:buFont typeface="Arial"/>
              <a:buNone/>
            </a:pPr>
            <a:r>
              <a:rPr lang="en-US" sz="1200"/>
              <a:t>St. Peters, MO</a:t>
            </a:r>
            <a:endParaRPr/>
          </a:p>
          <a:p>
            <a:pPr indent="0" lvl="0" marL="0" rtl="0" algn="ctr">
              <a:spcBef>
                <a:spcPts val="240"/>
              </a:spcBef>
              <a:spcAft>
                <a:spcPts val="0"/>
              </a:spcAft>
              <a:buClr>
                <a:schemeClr val="dk1"/>
              </a:buClr>
              <a:buSzPts val="1200"/>
              <a:buFont typeface="Arial"/>
              <a:buNone/>
            </a:pPr>
            <a:r>
              <a:rPr lang="en-US" sz="1200"/>
              <a:t>© 2006, Prentice Hall, Inc.</a:t>
            </a:r>
            <a:endParaRPr/>
          </a:p>
        </p:txBody>
      </p:sp>
      <p:sp>
        <p:nvSpPr>
          <p:cNvPr id="1081" name="Google Shape;1081;p61"/>
          <p:cNvSpPr txBox="1"/>
          <p:nvPr/>
        </p:nvSpPr>
        <p:spPr>
          <a:xfrm>
            <a:off x="152400" y="609600"/>
            <a:ext cx="8991600" cy="82232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AutoNum type="arabicPeriod" startAt="3"/>
            </a:pPr>
            <a:r>
              <a:rPr lang="en-US" sz="2400">
                <a:solidFill>
                  <a:schemeClr val="dk1"/>
                </a:solidFill>
                <a:latin typeface="Arial"/>
                <a:ea typeface="Arial"/>
                <a:cs typeface="Arial"/>
                <a:sym typeface="Arial"/>
              </a:rPr>
              <a:t>Potential difference between plates is applied – exerts a force </a:t>
            </a:r>
            <a:endParaRPr/>
          </a:p>
          <a:p>
            <a:pPr indent="-342900" lvl="0" marL="342900" marR="0" rtl="0" algn="l">
              <a:spcBef>
                <a:spcPts val="0"/>
              </a:spcBef>
              <a:spcAft>
                <a:spcPts val="0"/>
              </a:spcAft>
              <a:buNone/>
            </a:pPr>
            <a:r>
              <a:rPr lang="en-US" sz="2400">
                <a:solidFill>
                  <a:schemeClr val="dk1"/>
                </a:solidFill>
                <a:latin typeface="Arial"/>
                <a:ea typeface="Arial"/>
                <a:cs typeface="Arial"/>
                <a:sym typeface="Arial"/>
              </a:rPr>
              <a:t>	on the charged drops</a:t>
            </a:r>
            <a:endParaRPr/>
          </a:p>
        </p:txBody>
      </p:sp>
      <p:cxnSp>
        <p:nvCxnSpPr>
          <p:cNvPr id="1082" name="Google Shape;1082;p61"/>
          <p:cNvCxnSpPr/>
          <p:nvPr/>
        </p:nvCxnSpPr>
        <p:spPr>
          <a:xfrm flipH="1">
            <a:off x="2514600" y="1524000"/>
            <a:ext cx="609600" cy="1752600"/>
          </a:xfrm>
          <a:prstGeom prst="straightConnector1">
            <a:avLst/>
          </a:prstGeom>
          <a:noFill/>
          <a:ln cap="flat" cmpd="sng" w="63500">
            <a:solidFill>
              <a:srgbClr val="FF0000"/>
            </a:solidFill>
            <a:prstDash val="solid"/>
            <a:round/>
            <a:headEnd len="med" w="med" type="none"/>
            <a:tailEnd len="med" w="med" type="triangle"/>
          </a:ln>
        </p:spPr>
      </p:cxnSp>
      <p:sp>
        <p:nvSpPr>
          <p:cNvPr id="1083" name="Google Shape;1083;p61"/>
          <p:cNvSpPr/>
          <p:nvPr/>
        </p:nvSpPr>
        <p:spPr>
          <a:xfrm>
            <a:off x="2819400" y="1538288"/>
            <a:ext cx="315913" cy="3109912"/>
          </a:xfrm>
          <a:custGeom>
            <a:rect b="b" l="l" r="r" t="t"/>
            <a:pathLst>
              <a:path extrusionOk="0" h="1959" w="199">
                <a:moveTo>
                  <a:pt x="199" y="0"/>
                </a:moveTo>
                <a:lnTo>
                  <a:pt x="0" y="1959"/>
                </a:lnTo>
              </a:path>
            </a:pathLst>
          </a:custGeom>
          <a:noFill/>
          <a:ln cap="flat" cmpd="sng" w="635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1"/>
                                        </p:tgtEl>
                                        <p:attrNameLst>
                                          <p:attrName>style.visibility</p:attrName>
                                        </p:attrNameLst>
                                      </p:cBhvr>
                                      <p:to>
                                        <p:strVal val="visible"/>
                                      </p:to>
                                    </p:set>
                                    <p:animEffect filter="fade" transition="in">
                                      <p:cBhvr>
                                        <p:cTn dur="500"/>
                                        <p:tgtEl>
                                          <p:spTgt spid="108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82"/>
                                        </p:tgtEl>
                                        <p:attrNameLst>
                                          <p:attrName>style.visibility</p:attrName>
                                        </p:attrNameLst>
                                      </p:cBhvr>
                                      <p:to>
                                        <p:strVal val="visible"/>
                                      </p:to>
                                    </p:set>
                                    <p:animEffect filter="fade" transition="in">
                                      <p:cBhvr>
                                        <p:cTn dur="500"/>
                                        <p:tgtEl>
                                          <p:spTgt spid="10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83"/>
                                        </p:tgtEl>
                                        <p:attrNameLst>
                                          <p:attrName>style.visibility</p:attrName>
                                        </p:attrNameLst>
                                      </p:cBhvr>
                                      <p:to>
                                        <p:strVal val="visible"/>
                                      </p:to>
                                    </p:set>
                                    <p:animEffect filter="fade" transition="in">
                                      <p:cBhvr>
                                        <p:cTn dur="500"/>
                                        <p:tgtEl>
                                          <p:spTgt spid="10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pic>
        <p:nvPicPr>
          <p:cNvPr id="1089" name="Google Shape;1089;p62"/>
          <p:cNvPicPr preferRelativeResize="0"/>
          <p:nvPr/>
        </p:nvPicPr>
        <p:blipFill rotWithShape="1">
          <a:blip r:embed="rId3">
            <a:alphaModFix/>
          </a:blip>
          <a:srcRect b="0" l="0" r="0" t="0"/>
          <a:stretch/>
        </p:blipFill>
        <p:spPr>
          <a:xfrm>
            <a:off x="457200" y="1663700"/>
            <a:ext cx="7772400" cy="4356100"/>
          </a:xfrm>
          <a:prstGeom prst="rect">
            <a:avLst/>
          </a:prstGeom>
          <a:noFill/>
          <a:ln>
            <a:noFill/>
          </a:ln>
        </p:spPr>
      </p:pic>
      <p:sp>
        <p:nvSpPr>
          <p:cNvPr id="1090" name="Google Shape;1090;p62"/>
          <p:cNvSpPr txBox="1"/>
          <p:nvPr>
            <p:ph idx="1" type="subTitle"/>
          </p:nvPr>
        </p:nvSpPr>
        <p:spPr>
          <a:xfrm>
            <a:off x="-1600200" y="5867400"/>
            <a:ext cx="5486400" cy="990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200"/>
              <a:buFont typeface="Arial"/>
              <a:buNone/>
            </a:pPr>
            <a:r>
              <a:rPr lang="en-US" sz="1200"/>
              <a:t>John D. Bookstaver</a:t>
            </a:r>
            <a:endParaRPr/>
          </a:p>
          <a:p>
            <a:pPr indent="0" lvl="0" marL="0" rtl="0" algn="ctr">
              <a:spcBef>
                <a:spcPts val="240"/>
              </a:spcBef>
              <a:spcAft>
                <a:spcPts val="0"/>
              </a:spcAft>
              <a:buClr>
                <a:schemeClr val="dk1"/>
              </a:buClr>
              <a:buSzPts val="1200"/>
              <a:buFont typeface="Arial"/>
              <a:buNone/>
            </a:pPr>
            <a:r>
              <a:rPr lang="en-US" sz="1200"/>
              <a:t>St. Charles Community College</a:t>
            </a:r>
            <a:endParaRPr/>
          </a:p>
          <a:p>
            <a:pPr indent="0" lvl="0" marL="0" rtl="0" algn="ctr">
              <a:spcBef>
                <a:spcPts val="240"/>
              </a:spcBef>
              <a:spcAft>
                <a:spcPts val="0"/>
              </a:spcAft>
              <a:buClr>
                <a:schemeClr val="dk1"/>
              </a:buClr>
              <a:buSzPts val="1200"/>
              <a:buFont typeface="Arial"/>
              <a:buNone/>
            </a:pPr>
            <a:r>
              <a:rPr lang="en-US" sz="1200"/>
              <a:t>St. Peters, MO</a:t>
            </a:r>
            <a:endParaRPr/>
          </a:p>
          <a:p>
            <a:pPr indent="0" lvl="0" marL="0" rtl="0" algn="ctr">
              <a:spcBef>
                <a:spcPts val="240"/>
              </a:spcBef>
              <a:spcAft>
                <a:spcPts val="0"/>
              </a:spcAft>
              <a:buClr>
                <a:schemeClr val="dk1"/>
              </a:buClr>
              <a:buSzPts val="1200"/>
              <a:buFont typeface="Arial"/>
              <a:buNone/>
            </a:pPr>
            <a:r>
              <a:rPr lang="en-US" sz="1200"/>
              <a:t>© 2006, Prentice Hall, Inc.</a:t>
            </a:r>
            <a:endParaRPr/>
          </a:p>
        </p:txBody>
      </p:sp>
      <p:sp>
        <p:nvSpPr>
          <p:cNvPr id="1091" name="Google Shape;1091;p62"/>
          <p:cNvSpPr txBox="1"/>
          <p:nvPr/>
        </p:nvSpPr>
        <p:spPr>
          <a:xfrm>
            <a:off x="152400" y="609600"/>
            <a:ext cx="8991600" cy="45720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AutoNum type="arabicPeriod" startAt="4"/>
            </a:pPr>
            <a:r>
              <a:rPr lang="en-US" sz="2400">
                <a:solidFill>
                  <a:schemeClr val="dk1"/>
                </a:solidFill>
                <a:latin typeface="Arial"/>
                <a:ea typeface="Arial"/>
                <a:cs typeface="Arial"/>
                <a:sym typeface="Arial"/>
              </a:rPr>
              <a:t>Top plate is positive enough that negative drops will rise</a:t>
            </a:r>
            <a:endParaRPr/>
          </a:p>
        </p:txBody>
      </p:sp>
      <p:sp>
        <p:nvSpPr>
          <p:cNvPr id="1092" name="Google Shape;1092;p62"/>
          <p:cNvSpPr/>
          <p:nvPr/>
        </p:nvSpPr>
        <p:spPr>
          <a:xfrm>
            <a:off x="4419600" y="4572000"/>
            <a:ext cx="228600" cy="2286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chemeClr val="dk1"/>
                </a:solidFill>
                <a:latin typeface="Arial"/>
                <a:ea typeface="Arial"/>
                <a:cs typeface="Arial"/>
                <a:sym typeface="Arial"/>
              </a:rPr>
              <a:t>-</a:t>
            </a:r>
            <a:endParaRPr/>
          </a:p>
        </p:txBody>
      </p:sp>
      <p:cxnSp>
        <p:nvCxnSpPr>
          <p:cNvPr id="1093" name="Google Shape;1093;p62"/>
          <p:cNvCxnSpPr/>
          <p:nvPr/>
        </p:nvCxnSpPr>
        <p:spPr>
          <a:xfrm>
            <a:off x="838200" y="1295400"/>
            <a:ext cx="3505200" cy="2743200"/>
          </a:xfrm>
          <a:prstGeom prst="straightConnector1">
            <a:avLst/>
          </a:prstGeom>
          <a:noFill/>
          <a:ln cap="flat" cmpd="sng" w="63500">
            <a:solidFill>
              <a:srgbClr val="FF00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gtEl>
                                        <p:attrNameLst>
                                          <p:attrName>style.visibility</p:attrName>
                                        </p:attrNameLst>
                                      </p:cBhvr>
                                      <p:to>
                                        <p:strVal val="visible"/>
                                      </p:to>
                                    </p:set>
                                    <p:animEffect filter="fade" transition="in">
                                      <p:cBhvr>
                                        <p:cTn dur="500"/>
                                        <p:tgtEl>
                                          <p:spTgt spid="109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93"/>
                                        </p:tgtEl>
                                        <p:attrNameLst>
                                          <p:attrName>style.visibility</p:attrName>
                                        </p:attrNameLst>
                                      </p:cBhvr>
                                      <p:to>
                                        <p:strVal val="visible"/>
                                      </p:to>
                                    </p:set>
                                    <p:animEffect filter="fade" transition="in">
                                      <p:cBhvr>
                                        <p:cTn dur="500"/>
                                        <p:tgtEl>
                                          <p:spTgt spid="10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pic>
        <p:nvPicPr>
          <p:cNvPr id="1099" name="Google Shape;1099;p63"/>
          <p:cNvPicPr preferRelativeResize="0"/>
          <p:nvPr/>
        </p:nvPicPr>
        <p:blipFill rotWithShape="1">
          <a:blip r:embed="rId3">
            <a:alphaModFix/>
          </a:blip>
          <a:srcRect b="0" l="0" r="0" t="0"/>
          <a:stretch/>
        </p:blipFill>
        <p:spPr>
          <a:xfrm>
            <a:off x="457200" y="1663700"/>
            <a:ext cx="7772400" cy="4356100"/>
          </a:xfrm>
          <a:prstGeom prst="rect">
            <a:avLst/>
          </a:prstGeom>
          <a:noFill/>
          <a:ln>
            <a:noFill/>
          </a:ln>
        </p:spPr>
      </p:pic>
      <p:sp>
        <p:nvSpPr>
          <p:cNvPr id="1100" name="Google Shape;1100;p63"/>
          <p:cNvSpPr txBox="1"/>
          <p:nvPr>
            <p:ph idx="1" type="subTitle"/>
          </p:nvPr>
        </p:nvSpPr>
        <p:spPr>
          <a:xfrm>
            <a:off x="-1600200" y="5867400"/>
            <a:ext cx="5486400" cy="990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200"/>
              <a:buFont typeface="Arial"/>
              <a:buNone/>
            </a:pPr>
            <a:r>
              <a:rPr lang="en-US" sz="1200"/>
              <a:t>John D. Bookstaver</a:t>
            </a:r>
            <a:endParaRPr/>
          </a:p>
          <a:p>
            <a:pPr indent="0" lvl="0" marL="0" rtl="0" algn="ctr">
              <a:spcBef>
                <a:spcPts val="240"/>
              </a:spcBef>
              <a:spcAft>
                <a:spcPts val="0"/>
              </a:spcAft>
              <a:buClr>
                <a:schemeClr val="dk1"/>
              </a:buClr>
              <a:buSzPts val="1200"/>
              <a:buFont typeface="Arial"/>
              <a:buNone/>
            </a:pPr>
            <a:r>
              <a:rPr lang="en-US" sz="1200"/>
              <a:t>St. Charles Community College</a:t>
            </a:r>
            <a:endParaRPr/>
          </a:p>
          <a:p>
            <a:pPr indent="0" lvl="0" marL="0" rtl="0" algn="ctr">
              <a:spcBef>
                <a:spcPts val="240"/>
              </a:spcBef>
              <a:spcAft>
                <a:spcPts val="0"/>
              </a:spcAft>
              <a:buClr>
                <a:schemeClr val="dk1"/>
              </a:buClr>
              <a:buSzPts val="1200"/>
              <a:buFont typeface="Arial"/>
              <a:buNone/>
            </a:pPr>
            <a:r>
              <a:rPr lang="en-US" sz="1200"/>
              <a:t>St. Peters, MO</a:t>
            </a:r>
            <a:endParaRPr/>
          </a:p>
          <a:p>
            <a:pPr indent="0" lvl="0" marL="0" rtl="0" algn="ctr">
              <a:spcBef>
                <a:spcPts val="240"/>
              </a:spcBef>
              <a:spcAft>
                <a:spcPts val="0"/>
              </a:spcAft>
              <a:buClr>
                <a:schemeClr val="dk1"/>
              </a:buClr>
              <a:buSzPts val="1200"/>
              <a:buFont typeface="Arial"/>
              <a:buNone/>
            </a:pPr>
            <a:r>
              <a:rPr lang="en-US" sz="1200"/>
              <a:t>© 2006, Prentice Hall, Inc.</a:t>
            </a:r>
            <a:endParaRPr/>
          </a:p>
        </p:txBody>
      </p:sp>
      <p:sp>
        <p:nvSpPr>
          <p:cNvPr id="1101" name="Google Shape;1101;p63"/>
          <p:cNvSpPr txBox="1"/>
          <p:nvPr/>
        </p:nvSpPr>
        <p:spPr>
          <a:xfrm>
            <a:off x="152400" y="609600"/>
            <a:ext cx="8991600" cy="45720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AutoNum type="arabicPeriod" startAt="5"/>
            </a:pPr>
            <a:r>
              <a:rPr lang="en-US" sz="2400">
                <a:solidFill>
                  <a:schemeClr val="dk1"/>
                </a:solidFill>
                <a:latin typeface="Arial"/>
                <a:ea typeface="Arial"/>
                <a:cs typeface="Arial"/>
                <a:sym typeface="Arial"/>
              </a:rPr>
              <a:t>Potential difference adjusted to suspend (float) particle</a:t>
            </a:r>
            <a:endParaRPr/>
          </a:p>
        </p:txBody>
      </p:sp>
      <p:sp>
        <p:nvSpPr>
          <p:cNvPr id="1102" name="Google Shape;1102;p63"/>
          <p:cNvSpPr/>
          <p:nvPr/>
        </p:nvSpPr>
        <p:spPr>
          <a:xfrm>
            <a:off x="4495800" y="3962400"/>
            <a:ext cx="228600" cy="2286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chemeClr val="dk1"/>
                </a:solidFill>
                <a:latin typeface="Arial"/>
                <a:ea typeface="Arial"/>
                <a:cs typeface="Arial"/>
                <a:sym typeface="Arial"/>
              </a:rPr>
              <a:t>-</a:t>
            </a:r>
            <a:endParaRPr/>
          </a:p>
        </p:txBody>
      </p:sp>
      <p:cxnSp>
        <p:nvCxnSpPr>
          <p:cNvPr id="1103" name="Google Shape;1103;p63"/>
          <p:cNvCxnSpPr/>
          <p:nvPr/>
        </p:nvCxnSpPr>
        <p:spPr>
          <a:xfrm>
            <a:off x="838200" y="1295400"/>
            <a:ext cx="3581400" cy="2743200"/>
          </a:xfrm>
          <a:prstGeom prst="straightConnector1">
            <a:avLst/>
          </a:prstGeom>
          <a:noFill/>
          <a:ln cap="flat" cmpd="sng" w="63500">
            <a:solidFill>
              <a:srgbClr val="FF0000"/>
            </a:solidFill>
            <a:prstDash val="solid"/>
            <a:round/>
            <a:headEnd len="med" w="med" type="none"/>
            <a:tailEnd len="med" w="med" type="triangle"/>
          </a:ln>
        </p:spPr>
      </p:cxnSp>
      <p:sp>
        <p:nvSpPr>
          <p:cNvPr id="1104" name="Google Shape;1104;p63"/>
          <p:cNvSpPr txBox="1"/>
          <p:nvPr/>
        </p:nvSpPr>
        <p:spPr>
          <a:xfrm>
            <a:off x="381000" y="4267200"/>
            <a:ext cx="1869423"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dk1"/>
                </a:solidFill>
                <a:latin typeface="Arial"/>
                <a:ea typeface="Arial"/>
                <a:cs typeface="Arial"/>
                <a:sym typeface="Arial"/>
              </a:rPr>
              <a:t>F</a:t>
            </a:r>
            <a:r>
              <a:rPr b="1" baseline="-25000" lang="en-US" sz="2800">
                <a:solidFill>
                  <a:schemeClr val="dk1"/>
                </a:solidFill>
                <a:latin typeface="Arial"/>
                <a:ea typeface="Arial"/>
                <a:cs typeface="Arial"/>
                <a:sym typeface="Arial"/>
              </a:rPr>
              <a:t>e</a:t>
            </a:r>
            <a:r>
              <a:rPr b="1" lang="en-US" sz="2800">
                <a:solidFill>
                  <a:schemeClr val="dk1"/>
                </a:solidFill>
                <a:latin typeface="Arial"/>
                <a:ea typeface="Arial"/>
                <a:cs typeface="Arial"/>
                <a:sym typeface="Arial"/>
              </a:rPr>
              <a:t> = F</a:t>
            </a:r>
            <a:r>
              <a:rPr b="1" baseline="-25000" lang="en-US" sz="2800">
                <a:solidFill>
                  <a:schemeClr val="dk1"/>
                </a:solidFill>
                <a:latin typeface="Arial"/>
                <a:ea typeface="Arial"/>
                <a:cs typeface="Arial"/>
                <a:sym typeface="Arial"/>
              </a:rPr>
              <a:t>g</a:t>
            </a:r>
            <a:endParaRPr b="1" baseline="-25000" sz="2800">
              <a:solidFill>
                <a:schemeClr val="dk1"/>
              </a:solidFill>
              <a:latin typeface="Arial"/>
              <a:ea typeface="Arial"/>
              <a:cs typeface="Arial"/>
              <a:sym typeface="Arial"/>
            </a:endParaRPr>
          </a:p>
          <a:p>
            <a:pPr indent="0" lvl="0" marL="0" marR="0" rtl="0" algn="ctr">
              <a:spcBef>
                <a:spcPts val="0"/>
              </a:spcBef>
              <a:spcAft>
                <a:spcPts val="0"/>
              </a:spcAft>
              <a:buNone/>
            </a:pPr>
            <a:r>
              <a:rPr b="1" lang="en-US" sz="2800">
                <a:solidFill>
                  <a:schemeClr val="dk1"/>
                </a:solidFill>
                <a:latin typeface="Arial"/>
                <a:ea typeface="Arial"/>
                <a:cs typeface="Arial"/>
                <a:sym typeface="Arial"/>
              </a:rPr>
              <a:t>E*q = m*g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1"/>
                                        </p:tgtEl>
                                        <p:attrNameLst>
                                          <p:attrName>style.visibility</p:attrName>
                                        </p:attrNameLst>
                                      </p:cBhvr>
                                      <p:to>
                                        <p:strVal val="visible"/>
                                      </p:to>
                                    </p:set>
                                    <p:animEffect filter="fade" transition="in">
                                      <p:cBhvr>
                                        <p:cTn dur="500"/>
                                        <p:tgtEl>
                                          <p:spTgt spid="110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03"/>
                                        </p:tgtEl>
                                        <p:attrNameLst>
                                          <p:attrName>style.visibility</p:attrName>
                                        </p:attrNameLst>
                                      </p:cBhvr>
                                      <p:to>
                                        <p:strVal val="visible"/>
                                      </p:to>
                                    </p:set>
                                    <p:animEffect filter="fade" transition="in">
                                      <p:cBhvr>
                                        <p:cTn dur="500"/>
                                        <p:tgtEl>
                                          <p:spTgt spid="11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4"/>
                                        </p:tgtEl>
                                        <p:attrNameLst>
                                          <p:attrName>style.visibility</p:attrName>
                                        </p:attrNameLst>
                                      </p:cBhvr>
                                      <p:to>
                                        <p:strVal val="visible"/>
                                      </p:to>
                                    </p:set>
                                    <p:animEffect filter="fade" transition="in">
                                      <p:cBhvr>
                                        <p:cTn dur="800"/>
                                        <p:tgtEl>
                                          <p:spTgt spid="11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pic>
        <p:nvPicPr>
          <p:cNvPr id="1110" name="Google Shape;1110;p64"/>
          <p:cNvPicPr preferRelativeResize="0"/>
          <p:nvPr/>
        </p:nvPicPr>
        <p:blipFill rotWithShape="1">
          <a:blip r:embed="rId3">
            <a:alphaModFix/>
          </a:blip>
          <a:srcRect b="0" l="0" r="0" t="0"/>
          <a:stretch/>
        </p:blipFill>
        <p:spPr>
          <a:xfrm>
            <a:off x="457200" y="1663700"/>
            <a:ext cx="7772400" cy="4356100"/>
          </a:xfrm>
          <a:prstGeom prst="rect">
            <a:avLst/>
          </a:prstGeom>
          <a:noFill/>
          <a:ln>
            <a:noFill/>
          </a:ln>
        </p:spPr>
      </p:pic>
      <p:sp>
        <p:nvSpPr>
          <p:cNvPr id="1111" name="Google Shape;1111;p64"/>
          <p:cNvSpPr txBox="1"/>
          <p:nvPr>
            <p:ph idx="1" type="subTitle"/>
          </p:nvPr>
        </p:nvSpPr>
        <p:spPr>
          <a:xfrm>
            <a:off x="-1600200" y="5867400"/>
            <a:ext cx="5486400" cy="990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200"/>
              <a:buFont typeface="Arial"/>
              <a:buNone/>
            </a:pPr>
            <a:r>
              <a:rPr lang="en-US" sz="1200"/>
              <a:t>John D. Bookstaver</a:t>
            </a:r>
            <a:endParaRPr/>
          </a:p>
          <a:p>
            <a:pPr indent="0" lvl="0" marL="0" rtl="0" algn="ctr">
              <a:spcBef>
                <a:spcPts val="240"/>
              </a:spcBef>
              <a:spcAft>
                <a:spcPts val="0"/>
              </a:spcAft>
              <a:buClr>
                <a:schemeClr val="dk1"/>
              </a:buClr>
              <a:buSzPts val="1200"/>
              <a:buFont typeface="Arial"/>
              <a:buNone/>
            </a:pPr>
            <a:r>
              <a:rPr lang="en-US" sz="1200"/>
              <a:t>St. Charles Community College</a:t>
            </a:r>
            <a:endParaRPr/>
          </a:p>
          <a:p>
            <a:pPr indent="0" lvl="0" marL="0" rtl="0" algn="ctr">
              <a:spcBef>
                <a:spcPts val="240"/>
              </a:spcBef>
              <a:spcAft>
                <a:spcPts val="0"/>
              </a:spcAft>
              <a:buClr>
                <a:schemeClr val="dk1"/>
              </a:buClr>
              <a:buSzPts val="1200"/>
              <a:buFont typeface="Arial"/>
              <a:buNone/>
            </a:pPr>
            <a:r>
              <a:rPr lang="en-US" sz="1200"/>
              <a:t>St. Peters, MO</a:t>
            </a:r>
            <a:endParaRPr/>
          </a:p>
          <a:p>
            <a:pPr indent="0" lvl="0" marL="0" rtl="0" algn="ctr">
              <a:spcBef>
                <a:spcPts val="240"/>
              </a:spcBef>
              <a:spcAft>
                <a:spcPts val="0"/>
              </a:spcAft>
              <a:buClr>
                <a:schemeClr val="dk1"/>
              </a:buClr>
              <a:buSzPts val="1200"/>
              <a:buFont typeface="Arial"/>
              <a:buNone/>
            </a:pPr>
            <a:r>
              <a:rPr lang="en-US" sz="1200"/>
              <a:t>© 2006, Prentice Hall, Inc.</a:t>
            </a:r>
            <a:endParaRPr/>
          </a:p>
        </p:txBody>
      </p:sp>
      <p:sp>
        <p:nvSpPr>
          <p:cNvPr id="1112" name="Google Shape;1112;p64"/>
          <p:cNvSpPr txBox="1"/>
          <p:nvPr/>
        </p:nvSpPr>
        <p:spPr>
          <a:xfrm>
            <a:off x="152400" y="609600"/>
            <a:ext cx="8991600" cy="82232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AutoNum type="arabicPeriod" startAt="6"/>
            </a:pPr>
            <a:r>
              <a:rPr lang="en-US" sz="2400">
                <a:solidFill>
                  <a:schemeClr val="dk1"/>
                </a:solidFill>
                <a:latin typeface="Arial"/>
                <a:ea typeface="Arial"/>
                <a:cs typeface="Arial"/>
                <a:sym typeface="Arial"/>
              </a:rPr>
              <a:t>Electric field was determined from potential difference between two plates (E = V/d)</a:t>
            </a:r>
            <a:endParaRPr/>
          </a:p>
        </p:txBody>
      </p:sp>
      <p:sp>
        <p:nvSpPr>
          <p:cNvPr id="1113" name="Google Shape;1113;p64"/>
          <p:cNvSpPr/>
          <p:nvPr/>
        </p:nvSpPr>
        <p:spPr>
          <a:xfrm>
            <a:off x="4495800" y="3962400"/>
            <a:ext cx="228600" cy="2286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chemeClr val="dk1"/>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2"/>
                                        </p:tgtEl>
                                        <p:attrNameLst>
                                          <p:attrName>style.visibility</p:attrName>
                                        </p:attrNameLst>
                                      </p:cBhvr>
                                      <p:to>
                                        <p:strVal val="visible"/>
                                      </p:to>
                                    </p:set>
                                    <p:animEffect filter="fade" transition="in">
                                      <p:cBhvr>
                                        <p:cTn dur="500"/>
                                        <p:tgtEl>
                                          <p:spTgt spid="1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pic>
        <p:nvPicPr>
          <p:cNvPr id="1119" name="Google Shape;1119;p65"/>
          <p:cNvPicPr preferRelativeResize="0"/>
          <p:nvPr/>
        </p:nvPicPr>
        <p:blipFill rotWithShape="1">
          <a:blip r:embed="rId3">
            <a:alphaModFix/>
          </a:blip>
          <a:srcRect b="0" l="0" r="0" t="0"/>
          <a:stretch/>
        </p:blipFill>
        <p:spPr>
          <a:xfrm>
            <a:off x="457200" y="1663700"/>
            <a:ext cx="7772400" cy="4356100"/>
          </a:xfrm>
          <a:prstGeom prst="rect">
            <a:avLst/>
          </a:prstGeom>
          <a:noFill/>
          <a:ln>
            <a:noFill/>
          </a:ln>
        </p:spPr>
      </p:pic>
      <p:sp>
        <p:nvSpPr>
          <p:cNvPr id="1120" name="Google Shape;1120;p65"/>
          <p:cNvSpPr txBox="1"/>
          <p:nvPr>
            <p:ph idx="1" type="subTitle"/>
          </p:nvPr>
        </p:nvSpPr>
        <p:spPr>
          <a:xfrm>
            <a:off x="-1600200" y="5867400"/>
            <a:ext cx="5486400" cy="990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200"/>
              <a:buFont typeface="Arial"/>
              <a:buNone/>
            </a:pPr>
            <a:r>
              <a:rPr lang="en-US" sz="1200"/>
              <a:t>John D. Bookstaver</a:t>
            </a:r>
            <a:endParaRPr/>
          </a:p>
          <a:p>
            <a:pPr indent="0" lvl="0" marL="0" rtl="0" algn="ctr">
              <a:spcBef>
                <a:spcPts val="240"/>
              </a:spcBef>
              <a:spcAft>
                <a:spcPts val="0"/>
              </a:spcAft>
              <a:buClr>
                <a:schemeClr val="dk1"/>
              </a:buClr>
              <a:buSzPts val="1200"/>
              <a:buFont typeface="Arial"/>
              <a:buNone/>
            </a:pPr>
            <a:r>
              <a:rPr lang="en-US" sz="1200"/>
              <a:t>St. Charles Community College</a:t>
            </a:r>
            <a:endParaRPr/>
          </a:p>
          <a:p>
            <a:pPr indent="0" lvl="0" marL="0" rtl="0" algn="ctr">
              <a:spcBef>
                <a:spcPts val="240"/>
              </a:spcBef>
              <a:spcAft>
                <a:spcPts val="0"/>
              </a:spcAft>
              <a:buClr>
                <a:schemeClr val="dk1"/>
              </a:buClr>
              <a:buSzPts val="1200"/>
              <a:buFont typeface="Arial"/>
              <a:buNone/>
            </a:pPr>
            <a:r>
              <a:rPr lang="en-US" sz="1200"/>
              <a:t>St. Peters, MO</a:t>
            </a:r>
            <a:endParaRPr/>
          </a:p>
          <a:p>
            <a:pPr indent="0" lvl="0" marL="0" rtl="0" algn="ctr">
              <a:spcBef>
                <a:spcPts val="240"/>
              </a:spcBef>
              <a:spcAft>
                <a:spcPts val="0"/>
              </a:spcAft>
              <a:buClr>
                <a:schemeClr val="dk1"/>
              </a:buClr>
              <a:buSzPts val="1200"/>
              <a:buFont typeface="Arial"/>
              <a:buNone/>
            </a:pPr>
            <a:r>
              <a:rPr lang="en-US" sz="1200"/>
              <a:t>© 2006, Prentice Hall, Inc.</a:t>
            </a:r>
            <a:endParaRPr/>
          </a:p>
        </p:txBody>
      </p:sp>
      <p:sp>
        <p:nvSpPr>
          <p:cNvPr id="1121" name="Google Shape;1121;p65"/>
          <p:cNvSpPr txBox="1"/>
          <p:nvPr/>
        </p:nvSpPr>
        <p:spPr>
          <a:xfrm>
            <a:off x="152400" y="609600"/>
            <a:ext cx="8991600" cy="11874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AutoNum type="arabicPeriod" startAt="7"/>
            </a:pPr>
            <a:r>
              <a:rPr lang="en-US" sz="2400">
                <a:solidFill>
                  <a:schemeClr val="dk1"/>
                </a:solidFill>
                <a:latin typeface="Arial"/>
                <a:ea typeface="Arial"/>
                <a:cs typeface="Arial"/>
                <a:sym typeface="Arial"/>
              </a:rPr>
              <a:t>Found velocity of charge when field was turned off.  Using velocity, mg was found.  Using E &amp; mg, the charge could be calculated.</a:t>
            </a:r>
            <a:endParaRPr/>
          </a:p>
        </p:txBody>
      </p:sp>
      <p:sp>
        <p:nvSpPr>
          <p:cNvPr id="1122" name="Google Shape;1122;p65"/>
          <p:cNvSpPr/>
          <p:nvPr/>
        </p:nvSpPr>
        <p:spPr>
          <a:xfrm>
            <a:off x="4495800" y="3962400"/>
            <a:ext cx="228600" cy="2286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chemeClr val="dk1"/>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1"/>
                                        </p:tgtEl>
                                        <p:attrNameLst>
                                          <p:attrName>style.visibility</p:attrName>
                                        </p:attrNameLst>
                                      </p:cBhvr>
                                      <p:to>
                                        <p:strVal val="visible"/>
                                      </p:to>
                                    </p:set>
                                    <p:animEffect filter="fade" transition="in">
                                      <p:cBhvr>
                                        <p:cTn dur="500"/>
                                        <p:tgtEl>
                                          <p:spTgt spid="1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pic>
        <p:nvPicPr>
          <p:cNvPr id="1128" name="Google Shape;1128;p66"/>
          <p:cNvPicPr preferRelativeResize="0"/>
          <p:nvPr/>
        </p:nvPicPr>
        <p:blipFill rotWithShape="1">
          <a:blip r:embed="rId3">
            <a:alphaModFix/>
          </a:blip>
          <a:srcRect b="0" l="0" r="0" t="0"/>
          <a:stretch/>
        </p:blipFill>
        <p:spPr>
          <a:xfrm>
            <a:off x="457200" y="1663700"/>
            <a:ext cx="7772400" cy="4356100"/>
          </a:xfrm>
          <a:prstGeom prst="rect">
            <a:avLst/>
          </a:prstGeom>
          <a:noFill/>
          <a:ln>
            <a:noFill/>
          </a:ln>
        </p:spPr>
      </p:pic>
      <p:sp>
        <p:nvSpPr>
          <p:cNvPr id="1129" name="Google Shape;1129;p66"/>
          <p:cNvSpPr txBox="1"/>
          <p:nvPr>
            <p:ph idx="1" type="subTitle"/>
          </p:nvPr>
        </p:nvSpPr>
        <p:spPr>
          <a:xfrm>
            <a:off x="-1600200" y="5867400"/>
            <a:ext cx="5486400" cy="990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200"/>
              <a:buFont typeface="Arial"/>
              <a:buNone/>
            </a:pPr>
            <a:r>
              <a:rPr lang="en-US" sz="1200"/>
              <a:t>John D. Bookstaver</a:t>
            </a:r>
            <a:endParaRPr/>
          </a:p>
          <a:p>
            <a:pPr indent="0" lvl="0" marL="0" rtl="0" algn="ctr">
              <a:spcBef>
                <a:spcPts val="240"/>
              </a:spcBef>
              <a:spcAft>
                <a:spcPts val="0"/>
              </a:spcAft>
              <a:buClr>
                <a:schemeClr val="dk1"/>
              </a:buClr>
              <a:buSzPts val="1200"/>
              <a:buFont typeface="Arial"/>
              <a:buNone/>
            </a:pPr>
            <a:r>
              <a:rPr lang="en-US" sz="1200"/>
              <a:t>St. Charles Community College</a:t>
            </a:r>
            <a:endParaRPr/>
          </a:p>
          <a:p>
            <a:pPr indent="0" lvl="0" marL="0" rtl="0" algn="ctr">
              <a:spcBef>
                <a:spcPts val="240"/>
              </a:spcBef>
              <a:spcAft>
                <a:spcPts val="0"/>
              </a:spcAft>
              <a:buClr>
                <a:schemeClr val="dk1"/>
              </a:buClr>
              <a:buSzPts val="1200"/>
              <a:buFont typeface="Arial"/>
              <a:buNone/>
            </a:pPr>
            <a:r>
              <a:rPr lang="en-US" sz="1200"/>
              <a:t>St. Peters, MO</a:t>
            </a:r>
            <a:endParaRPr/>
          </a:p>
          <a:p>
            <a:pPr indent="0" lvl="0" marL="0" rtl="0" algn="ctr">
              <a:spcBef>
                <a:spcPts val="240"/>
              </a:spcBef>
              <a:spcAft>
                <a:spcPts val="0"/>
              </a:spcAft>
              <a:buClr>
                <a:schemeClr val="dk1"/>
              </a:buClr>
              <a:buSzPts val="1200"/>
              <a:buFont typeface="Arial"/>
              <a:buNone/>
            </a:pPr>
            <a:r>
              <a:rPr lang="en-US" sz="1200"/>
              <a:t>© 2006, Prentice Hall, Inc.</a:t>
            </a:r>
            <a:endParaRPr/>
          </a:p>
        </p:txBody>
      </p:sp>
      <p:sp>
        <p:nvSpPr>
          <p:cNvPr id="1130" name="Google Shape;1130;p66"/>
          <p:cNvSpPr txBox="1"/>
          <p:nvPr/>
        </p:nvSpPr>
        <p:spPr>
          <a:xfrm>
            <a:off x="152400" y="609600"/>
            <a:ext cx="8991600" cy="15525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AutoNum type="arabicPeriod" startAt="8"/>
            </a:pPr>
            <a:r>
              <a:rPr lang="en-US" sz="2400">
                <a:solidFill>
                  <a:schemeClr val="dk1"/>
                </a:solidFill>
                <a:latin typeface="Arial"/>
                <a:ea typeface="Arial"/>
                <a:cs typeface="Arial"/>
                <a:sym typeface="Arial"/>
              </a:rPr>
              <a:t>The drops had a variety of charges.  So, he ionized the air, added or removed electrons.  The </a:t>
            </a:r>
            <a:r>
              <a:rPr lang="en-US" sz="2400" u="sng">
                <a:solidFill>
                  <a:schemeClr val="dk1"/>
                </a:solidFill>
                <a:latin typeface="Arial"/>
                <a:ea typeface="Arial"/>
                <a:cs typeface="Arial"/>
                <a:sym typeface="Arial"/>
              </a:rPr>
              <a:t>change</a:t>
            </a:r>
            <a:r>
              <a:rPr lang="en-US" sz="2400">
                <a:solidFill>
                  <a:schemeClr val="dk1"/>
                </a:solidFill>
                <a:latin typeface="Arial"/>
                <a:ea typeface="Arial"/>
                <a:cs typeface="Arial"/>
                <a:sym typeface="Arial"/>
              </a:rPr>
              <a:t> in charge was always a multiple of -1.6 x 10</a:t>
            </a:r>
            <a:r>
              <a:rPr baseline="30000" lang="en-US" sz="2400">
                <a:solidFill>
                  <a:schemeClr val="dk1"/>
                </a:solidFill>
                <a:latin typeface="Arial"/>
                <a:ea typeface="Arial"/>
                <a:cs typeface="Arial"/>
                <a:sym typeface="Arial"/>
              </a:rPr>
              <a:t>-19</a:t>
            </a:r>
            <a:r>
              <a:rPr lang="en-US" sz="2400">
                <a:solidFill>
                  <a:schemeClr val="dk1"/>
                </a:solidFill>
                <a:latin typeface="Arial"/>
                <a:ea typeface="Arial"/>
                <a:cs typeface="Arial"/>
                <a:sym typeface="Arial"/>
              </a:rPr>
              <a:t> C.  Thus, the charge on one electron.</a:t>
            </a:r>
            <a:endParaRPr/>
          </a:p>
        </p:txBody>
      </p:sp>
      <p:sp>
        <p:nvSpPr>
          <p:cNvPr id="1131" name="Google Shape;1131;p66"/>
          <p:cNvSpPr/>
          <p:nvPr/>
        </p:nvSpPr>
        <p:spPr>
          <a:xfrm>
            <a:off x="4495800" y="3962400"/>
            <a:ext cx="228600" cy="2286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chemeClr val="dk1"/>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0"/>
                                        </p:tgtEl>
                                        <p:attrNameLst>
                                          <p:attrName>style.visibility</p:attrName>
                                        </p:attrNameLst>
                                      </p:cBhvr>
                                      <p:to>
                                        <p:strVal val="visible"/>
                                      </p:to>
                                    </p:set>
                                    <p:animEffect filter="fade" transition="in">
                                      <p:cBhvr>
                                        <p:cTn dur="500"/>
                                        <p:tgtEl>
                                          <p:spTgt spid="1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pic>
        <p:nvPicPr>
          <p:cNvPr id="1137" name="Google Shape;1137;p67"/>
          <p:cNvPicPr preferRelativeResize="0"/>
          <p:nvPr/>
        </p:nvPicPr>
        <p:blipFill rotWithShape="1">
          <a:blip r:embed="rId3">
            <a:alphaModFix/>
          </a:blip>
          <a:srcRect b="0" l="0" r="0" t="0"/>
          <a:stretch/>
        </p:blipFill>
        <p:spPr>
          <a:xfrm>
            <a:off x="457200" y="1663700"/>
            <a:ext cx="7772400" cy="4356100"/>
          </a:xfrm>
          <a:prstGeom prst="rect">
            <a:avLst/>
          </a:prstGeom>
          <a:noFill/>
          <a:ln>
            <a:noFill/>
          </a:ln>
        </p:spPr>
      </p:pic>
      <p:sp>
        <p:nvSpPr>
          <p:cNvPr id="1138" name="Google Shape;1138;p67"/>
          <p:cNvSpPr txBox="1"/>
          <p:nvPr>
            <p:ph idx="1" type="subTitle"/>
          </p:nvPr>
        </p:nvSpPr>
        <p:spPr>
          <a:xfrm>
            <a:off x="-1600200" y="5867400"/>
            <a:ext cx="5486400" cy="990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200"/>
              <a:buFont typeface="Arial"/>
              <a:buNone/>
            </a:pPr>
            <a:r>
              <a:rPr lang="en-US" sz="1200"/>
              <a:t>John D. Bookstaver</a:t>
            </a:r>
            <a:endParaRPr/>
          </a:p>
          <a:p>
            <a:pPr indent="0" lvl="0" marL="0" rtl="0" algn="ctr">
              <a:spcBef>
                <a:spcPts val="240"/>
              </a:spcBef>
              <a:spcAft>
                <a:spcPts val="0"/>
              </a:spcAft>
              <a:buClr>
                <a:schemeClr val="dk1"/>
              </a:buClr>
              <a:buSzPts val="1200"/>
              <a:buFont typeface="Arial"/>
              <a:buNone/>
            </a:pPr>
            <a:r>
              <a:rPr lang="en-US" sz="1200"/>
              <a:t>St. Charles Community College</a:t>
            </a:r>
            <a:endParaRPr/>
          </a:p>
          <a:p>
            <a:pPr indent="0" lvl="0" marL="0" rtl="0" algn="ctr">
              <a:spcBef>
                <a:spcPts val="240"/>
              </a:spcBef>
              <a:spcAft>
                <a:spcPts val="0"/>
              </a:spcAft>
              <a:buClr>
                <a:schemeClr val="dk1"/>
              </a:buClr>
              <a:buSzPts val="1200"/>
              <a:buFont typeface="Arial"/>
              <a:buNone/>
            </a:pPr>
            <a:r>
              <a:rPr lang="en-US" sz="1200"/>
              <a:t>St. Peters, MO</a:t>
            </a:r>
            <a:endParaRPr/>
          </a:p>
          <a:p>
            <a:pPr indent="0" lvl="0" marL="0" rtl="0" algn="ctr">
              <a:spcBef>
                <a:spcPts val="240"/>
              </a:spcBef>
              <a:spcAft>
                <a:spcPts val="0"/>
              </a:spcAft>
              <a:buClr>
                <a:schemeClr val="dk1"/>
              </a:buClr>
              <a:buSzPts val="1200"/>
              <a:buFont typeface="Arial"/>
              <a:buNone/>
            </a:pPr>
            <a:r>
              <a:rPr lang="en-US" sz="1200"/>
              <a:t>© 2006, Prentice Hall, Inc.</a:t>
            </a:r>
            <a:endParaRPr/>
          </a:p>
        </p:txBody>
      </p:sp>
      <p:sp>
        <p:nvSpPr>
          <p:cNvPr id="1139" name="Google Shape;1139;p67"/>
          <p:cNvSpPr txBox="1"/>
          <p:nvPr/>
        </p:nvSpPr>
        <p:spPr>
          <a:xfrm>
            <a:off x="152400" y="609600"/>
            <a:ext cx="8991600" cy="11874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AutoNum type="arabicPeriod" startAt="9"/>
            </a:pPr>
            <a:r>
              <a:rPr lang="en-US" sz="2400">
                <a:solidFill>
                  <a:schemeClr val="dk1"/>
                </a:solidFill>
                <a:latin typeface="Arial"/>
                <a:ea typeface="Arial"/>
                <a:cs typeface="Arial"/>
                <a:sym typeface="Arial"/>
              </a:rPr>
              <a:t>Showed that charge is </a:t>
            </a:r>
            <a:r>
              <a:rPr i="1" lang="en-US" sz="2400">
                <a:solidFill>
                  <a:schemeClr val="dk1"/>
                </a:solidFill>
                <a:latin typeface="Arial"/>
                <a:ea typeface="Arial"/>
                <a:cs typeface="Arial"/>
                <a:sym typeface="Arial"/>
              </a:rPr>
              <a:t>quantized</a:t>
            </a:r>
            <a:r>
              <a:rPr lang="en-US" sz="2400">
                <a:solidFill>
                  <a:schemeClr val="dk1"/>
                </a:solidFill>
                <a:latin typeface="Arial"/>
                <a:ea typeface="Arial"/>
                <a:cs typeface="Arial"/>
                <a:sym typeface="Arial"/>
              </a:rPr>
              <a:t> – an object can only have charge with a magnitude that is some integral of the charge of an electron.</a:t>
            </a:r>
            <a:endParaRPr/>
          </a:p>
        </p:txBody>
      </p:sp>
      <p:sp>
        <p:nvSpPr>
          <p:cNvPr id="1140" name="Google Shape;1140;p67"/>
          <p:cNvSpPr/>
          <p:nvPr/>
        </p:nvSpPr>
        <p:spPr>
          <a:xfrm>
            <a:off x="4495800" y="3962400"/>
            <a:ext cx="228600" cy="2286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chemeClr val="dk1"/>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9"/>
                                        </p:tgtEl>
                                        <p:attrNameLst>
                                          <p:attrName>style.visibility</p:attrName>
                                        </p:attrNameLst>
                                      </p:cBhvr>
                                      <p:to>
                                        <p:strVal val="visible"/>
                                      </p:to>
                                    </p:set>
                                    <p:animEffect filter="fade" transition="in">
                                      <p:cBhvr>
                                        <p:cTn dur="500"/>
                                        <p:tgtEl>
                                          <p:spTgt spid="1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
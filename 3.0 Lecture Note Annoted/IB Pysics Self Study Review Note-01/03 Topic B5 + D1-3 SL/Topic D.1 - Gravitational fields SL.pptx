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08" name="Google Shape;10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58" name="Google Shape;15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72" name="Google Shape;17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181" name="Google Shape;1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06" name="Google Shape;20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34" name="Google Shape;23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60" name="Google Shape;26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73" name="Google Shape;27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86" name="Google Shape;28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297" name="Google Shape;29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08" name="Google Shape;30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29" name="Google Shape;32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37" name="Google Shape;3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45" name="Google Shape;3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54" name="Google Shape;35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73" name="Google Shape;37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93" name="Google Shape;39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01" name="Google Shape;40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15" name="Google Shape;41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39" name="Google Shape;43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495" name="Google Shape;49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32" name="Google Shape;53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575" name="Google Shape;57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22" name="Google Shape;62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44" name="Google Shape;64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56" name="Google Shape;65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65" name="Google Shape;66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6" name="Google Shape;666;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691" name="Google Shape;69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2" name="Google Shape;69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00" name="Google Shape;70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10" name="Google Shape;71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20" name="Google Shape;72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31" name="Google Shape;73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44" name="Google Shape;74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5" name="Google Shape;74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61" name="Google Shape;76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2" name="Google Shape;76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779" name="Google Shape;77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0" name="Google Shape;78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04" name="Google Shape;80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5" name="Google Shape;805;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17" name="Google Shape;81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8" name="Google Shape;81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32" name="Google Shape;83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3" name="Google Shape;83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41" name="Google Shape;84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53" name="Google Shape;853;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66" name="Google Shape;86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7" name="Google Shape;867;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882" name="Google Shape;88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3" name="Google Shape;883;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07" name="Google Shape;90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8" name="Google Shape;90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28" name="Google Shape;92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56" name="Google Shape;95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995" name="Google Shape;99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6" name="Google Shape;99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 2006 By Timothy K. Lund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0" name="Google Shape;30;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6" name="Google Shape;36;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7" name="Google Shape;37;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3" name="Google Shape;43;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4" name="Google Shape;44;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5" name="Google Shape;45;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6" name="Google Shape;46;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 Id="rId4" Type="http://schemas.openxmlformats.org/officeDocument/2006/relationships/image" Target="../media/image26.jp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26.jp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jpg"/><Relationship Id="rId4" Type="http://schemas.openxmlformats.org/officeDocument/2006/relationships/image" Target="../media/image17.png"/><Relationship Id="rId5"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jp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2.jpg"/><Relationship Id="rId4" Type="http://schemas.openxmlformats.org/officeDocument/2006/relationships/image" Target="../media/image3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jp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7.jp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7.jp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5.jpg"/><Relationship Id="rId4" Type="http://schemas.openxmlformats.org/officeDocument/2006/relationships/image" Target="../media/image35.jpg"/><Relationship Id="rId5"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8.jpg"/><Relationship Id="rId4" Type="http://schemas.openxmlformats.org/officeDocument/2006/relationships/hyperlink" Target="about:blank" TargetMode="External"/><Relationship Id="rId5" Type="http://schemas.openxmlformats.org/officeDocument/2006/relationships/image" Target="../media/image5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jpg"/><Relationship Id="rId4" Type="http://schemas.openxmlformats.org/officeDocument/2006/relationships/hyperlink" Target="about:blank"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49.png"/><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1.png"/><Relationship Id="rId4" Type="http://schemas.openxmlformats.org/officeDocument/2006/relationships/image" Target="../media/image5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1.png"/><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1.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p:nvPr/>
        </p:nvSpPr>
        <p:spPr>
          <a:xfrm>
            <a:off x="685800" y="1549400"/>
            <a:ext cx="7772400" cy="3468688"/>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rgbClr val="000000"/>
                </a:solidFill>
                <a:latin typeface="Arial"/>
                <a:ea typeface="Arial"/>
                <a:cs typeface="Arial"/>
                <a:sym typeface="Arial"/>
              </a:rPr>
              <a:t>Guiding questions</a:t>
            </a:r>
            <a:endParaRPr/>
          </a:p>
          <a:p>
            <a:pPr indent="-457200" lvl="0" marL="457200" marR="0" rtl="0" algn="l">
              <a:spcBef>
                <a:spcPts val="480"/>
              </a:spcBef>
              <a:spcAft>
                <a:spcPts val="0"/>
              </a:spcAft>
              <a:buNone/>
            </a:pPr>
            <a:r>
              <a:rPr b="0" i="0" lang="en-US" sz="2400" u="none" cap="none" strike="noStrike">
                <a:solidFill>
                  <a:srgbClr val="000000"/>
                </a:solidFill>
                <a:latin typeface="Arial"/>
                <a:ea typeface="Arial"/>
                <a:cs typeface="Arial"/>
                <a:sym typeface="Arial"/>
              </a:rPr>
              <a:t>How are the properties of a gravitational field quantified?</a:t>
            </a:r>
            <a:endParaRPr/>
          </a:p>
          <a:p>
            <a:pPr indent="-457200" lvl="0" marL="457200" marR="0" rtl="0" algn="l">
              <a:spcBef>
                <a:spcPts val="480"/>
              </a:spcBef>
              <a:spcAft>
                <a:spcPts val="0"/>
              </a:spcAft>
              <a:buNone/>
            </a:pPr>
            <a:r>
              <a:rPr b="0" i="0" lang="en-US" sz="2400" u="none" cap="none" strike="noStrike">
                <a:solidFill>
                  <a:srgbClr val="000000"/>
                </a:solidFill>
                <a:latin typeface="Arial"/>
                <a:ea typeface="Arial"/>
                <a:cs typeface="Arial"/>
                <a:sym typeface="Arial"/>
              </a:rPr>
              <a:t>How does an understanding of gravitational fields allow for humans to explore the solar system?</a:t>
            </a:r>
            <a:endParaRPr b="0" i="0" sz="2400" u="none" cap="none" strike="noStrike">
              <a:solidFill>
                <a:srgbClr val="000000"/>
              </a:solidFill>
              <a:latin typeface="Arial"/>
              <a:ea typeface="Arial"/>
              <a:cs typeface="Arial"/>
              <a:sym typeface="Arial"/>
            </a:endParaRPr>
          </a:p>
        </p:txBody>
      </p:sp>
      <p:sp>
        <p:nvSpPr>
          <p:cNvPr id="90" name="Google Shape;90;p1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 calcmode="lin" valueType="num">
                                      <p:cBhvr additive="base">
                                        <p:cTn dur="500"/>
                                        <p:tgtEl>
                                          <p:spTgt spid="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 calcmode="lin" valueType="num">
                                      <p:cBhvr additive="base">
                                        <p:cTn dur="500"/>
                                        <p:tgtEl>
                                          <p:spTgt spid="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 calcmode="lin" valueType="num">
                                      <p:cBhvr additive="base">
                                        <p:cTn dur="500"/>
                                        <p:tgtEl>
                                          <p:spTgt spid="8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chemeClr val="accent2"/>
                </a:solidFill>
                <a:latin typeface="Arial"/>
                <a:ea typeface="Arial"/>
                <a:cs typeface="Arial"/>
                <a:sym typeface="Arial"/>
              </a:rPr>
              <a:t>Understandings: </a:t>
            </a:r>
            <a:endParaRPr b="0" i="0" sz="2400" u="none" cap="none" strike="noStrike">
              <a:solidFill>
                <a:schemeClr val="accent2"/>
              </a:solidFill>
              <a:latin typeface="Arial"/>
              <a:ea typeface="Arial"/>
              <a:cs typeface="Arial"/>
              <a:sym typeface="Arial"/>
            </a:endParaRPr>
          </a:p>
          <a:p>
            <a:pPr indent="-457200" lvl="0" marL="457200" marR="0" rtl="0" algn="l">
              <a:spcBef>
                <a:spcPts val="480"/>
              </a:spcBef>
              <a:spcAft>
                <a:spcPts val="0"/>
              </a:spcAft>
              <a:buNone/>
            </a:pPr>
            <a:r>
              <a:rPr b="0" i="0" lang="en-US" sz="2400" u="none" cap="none" strike="noStrike">
                <a:solidFill>
                  <a:schemeClr val="accent2"/>
                </a:solidFill>
                <a:latin typeface="Arial"/>
                <a:ea typeface="Arial"/>
                <a:cs typeface="Arial"/>
                <a:sym typeface="Arial"/>
              </a:rPr>
              <a:t>• Kepler’s three laws of orbital motion ***</a:t>
            </a:r>
            <a:endParaRPr/>
          </a:p>
          <a:p>
            <a:pPr indent="-457200" lvl="0" marL="457200" marR="0" rtl="0" algn="l">
              <a:spcBef>
                <a:spcPts val="480"/>
              </a:spcBef>
              <a:spcAft>
                <a:spcPts val="0"/>
              </a:spcAft>
              <a:buNone/>
            </a:pPr>
            <a:r>
              <a:rPr b="0" i="0" lang="en-US" sz="2400" u="none" cap="none" strike="noStrike">
                <a:solidFill>
                  <a:schemeClr val="accent2"/>
                </a:solidFill>
                <a:latin typeface="Arial"/>
                <a:ea typeface="Arial"/>
                <a:cs typeface="Arial"/>
                <a:sym typeface="Arial"/>
              </a:rPr>
              <a:t>• Newton's universal law of gravitation as given by F = Gm</a:t>
            </a:r>
            <a:r>
              <a:rPr b="0" baseline="-25000" i="0" lang="en-US" sz="2400" u="none" cap="none" strike="noStrike">
                <a:solidFill>
                  <a:schemeClr val="accent2"/>
                </a:solidFill>
                <a:latin typeface="Arial"/>
                <a:ea typeface="Arial"/>
                <a:cs typeface="Arial"/>
                <a:sym typeface="Arial"/>
              </a:rPr>
              <a:t>1</a:t>
            </a:r>
            <a:r>
              <a:rPr b="0" i="0" lang="en-US" sz="2400" u="none" cap="none" strike="noStrike">
                <a:solidFill>
                  <a:schemeClr val="accent2"/>
                </a:solidFill>
                <a:latin typeface="Arial"/>
                <a:ea typeface="Arial"/>
                <a:cs typeface="Arial"/>
                <a:sym typeface="Arial"/>
              </a:rPr>
              <a:t>m</a:t>
            </a:r>
            <a:r>
              <a:rPr b="0" baseline="-25000" i="0" lang="en-US" sz="2400" u="none" cap="none" strike="noStrike">
                <a:solidFill>
                  <a:schemeClr val="accent2"/>
                </a:solidFill>
                <a:latin typeface="Arial"/>
                <a:ea typeface="Arial"/>
                <a:cs typeface="Arial"/>
                <a:sym typeface="Arial"/>
              </a:rPr>
              <a:t>2</a:t>
            </a:r>
            <a:r>
              <a:rPr b="0" i="0" lang="en-US" sz="2400" u="none" cap="none" strike="noStrike">
                <a:solidFill>
                  <a:schemeClr val="accent2"/>
                </a:solidFill>
                <a:latin typeface="Arial"/>
                <a:ea typeface="Arial"/>
                <a:cs typeface="Arial"/>
                <a:sym typeface="Arial"/>
              </a:rPr>
              <a:t>/r</a:t>
            </a:r>
            <a:r>
              <a:rPr b="0" baseline="30000" i="0" lang="en-US" sz="2400" u="none" cap="none" strike="noStrike">
                <a:solidFill>
                  <a:schemeClr val="accent2"/>
                </a:solidFill>
                <a:latin typeface="Arial"/>
                <a:ea typeface="Arial"/>
                <a:cs typeface="Arial"/>
                <a:sym typeface="Arial"/>
              </a:rPr>
              <a:t>2</a:t>
            </a:r>
            <a:r>
              <a:rPr b="0" i="0" lang="en-US" sz="2400" u="none" cap="none" strike="noStrike">
                <a:solidFill>
                  <a:schemeClr val="accent2"/>
                </a:solidFill>
                <a:latin typeface="Arial"/>
                <a:ea typeface="Arial"/>
                <a:cs typeface="Arial"/>
                <a:sym typeface="Arial"/>
              </a:rPr>
              <a:t> for bodies treated as point masses</a:t>
            </a:r>
            <a:endParaRPr/>
          </a:p>
          <a:p>
            <a:pPr indent="-457200" lvl="0" marL="457200" marR="0" rtl="0" algn="l">
              <a:spcBef>
                <a:spcPts val="480"/>
              </a:spcBef>
              <a:spcAft>
                <a:spcPts val="0"/>
              </a:spcAft>
              <a:buNone/>
            </a:pPr>
            <a:r>
              <a:rPr b="0" i="0" lang="en-US" sz="2400" u="none" cap="none" strike="noStrike">
                <a:solidFill>
                  <a:schemeClr val="accent2"/>
                </a:solidFill>
                <a:latin typeface="Arial"/>
                <a:ea typeface="Arial"/>
                <a:cs typeface="Arial"/>
                <a:sym typeface="Arial"/>
              </a:rPr>
              <a:t>• conditions under which extended bodies can be treated as point masses</a:t>
            </a:r>
            <a:endParaRPr/>
          </a:p>
          <a:p>
            <a:pPr indent="-457200" lvl="0" marL="457200" marR="0" rtl="0" algn="l">
              <a:spcBef>
                <a:spcPts val="480"/>
              </a:spcBef>
              <a:spcAft>
                <a:spcPts val="0"/>
              </a:spcAft>
              <a:buNone/>
            </a:pPr>
            <a:r>
              <a:rPr b="0" i="0" lang="en-US" sz="2400" u="none" cap="none" strike="noStrike">
                <a:solidFill>
                  <a:schemeClr val="accent2"/>
                </a:solidFill>
                <a:latin typeface="Arial"/>
                <a:ea typeface="Arial"/>
                <a:cs typeface="Arial"/>
                <a:sym typeface="Arial"/>
              </a:rPr>
              <a:t>• that gravitational field strength g at a point is the force per unit mass experienced by a small point mass at that point as given by g = F/m = GM=/r</a:t>
            </a:r>
            <a:r>
              <a:rPr b="0" baseline="30000" i="0" lang="en-US" sz="2400" u="none" cap="none" strike="noStrike">
                <a:solidFill>
                  <a:schemeClr val="accent2"/>
                </a:solidFill>
                <a:latin typeface="Arial"/>
                <a:ea typeface="Arial"/>
                <a:cs typeface="Arial"/>
                <a:sym typeface="Arial"/>
              </a:rPr>
              <a:t>2</a:t>
            </a:r>
            <a:endParaRPr/>
          </a:p>
          <a:p>
            <a:pPr indent="-457200" lvl="0" marL="457200" marR="0" rtl="0" algn="l">
              <a:spcBef>
                <a:spcPts val="480"/>
              </a:spcBef>
              <a:spcAft>
                <a:spcPts val="0"/>
              </a:spcAft>
              <a:buNone/>
            </a:pPr>
            <a:r>
              <a:rPr b="0" i="0" lang="en-US" sz="2400" u="none" cap="none" strike="noStrike">
                <a:solidFill>
                  <a:schemeClr val="accent2"/>
                </a:solidFill>
                <a:latin typeface="Arial"/>
                <a:ea typeface="Arial"/>
                <a:cs typeface="Arial"/>
                <a:sym typeface="Arial"/>
              </a:rPr>
              <a:t>• gravitational field lines.</a:t>
            </a:r>
            <a:endParaRPr/>
          </a:p>
        </p:txBody>
      </p:sp>
      <p:sp>
        <p:nvSpPr>
          <p:cNvPr id="97" name="Google Shape;97;p1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 calcmode="lin" valueType="num">
                                      <p:cBhvr additive="base">
                                        <p:cTn dur="500"/>
                                        <p:tgtEl>
                                          <p:spTgt spid="9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 calcmode="lin" valueType="num">
                                      <p:cBhvr additive="base">
                                        <p:cTn dur="500"/>
                                        <p:tgtEl>
                                          <p:spTgt spid="9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685800" y="1549400"/>
            <a:ext cx="7772400" cy="4449763"/>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None/>
            </a:pPr>
            <a:r>
              <a:rPr b="1" i="0" lang="en-US" sz="2400" u="none" cap="none" strike="noStrike">
                <a:solidFill>
                  <a:srgbClr val="FF0000"/>
                </a:solidFill>
                <a:latin typeface="Arial"/>
                <a:ea typeface="Arial"/>
                <a:cs typeface="Arial"/>
                <a:sym typeface="Arial"/>
              </a:rPr>
              <a:t>Data booklet reference: </a:t>
            </a:r>
            <a:endParaRPr b="0" i="0" sz="2400" u="none" cap="none" strike="noStrike">
              <a:solidFill>
                <a:srgbClr val="FF0000"/>
              </a:solidFill>
              <a:latin typeface="Arial"/>
              <a:ea typeface="Arial"/>
              <a:cs typeface="Arial"/>
              <a:sym typeface="Arial"/>
            </a:endParaRPr>
          </a:p>
        </p:txBody>
      </p:sp>
      <p:sp>
        <p:nvSpPr>
          <p:cNvPr id="104" name="Google Shape;104;p1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id="105" name="Google Shape;105;p15"/>
          <p:cNvPicPr preferRelativeResize="0"/>
          <p:nvPr/>
        </p:nvPicPr>
        <p:blipFill rotWithShape="1">
          <a:blip r:embed="rId3">
            <a:alphaModFix/>
          </a:blip>
          <a:srcRect b="0" l="0" r="0" t="0"/>
          <a:stretch/>
        </p:blipFill>
        <p:spPr>
          <a:xfrm>
            <a:off x="3177798" y="2244991"/>
            <a:ext cx="2170183" cy="19571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6"/>
          <p:cNvSpPr/>
          <p:nvPr/>
        </p:nvSpPr>
        <p:spPr>
          <a:xfrm>
            <a:off x="684213" y="2881313"/>
            <a:ext cx="7772400" cy="39528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chemeClr val="dk1"/>
              </a:solidFill>
              <a:latin typeface="Courier New"/>
              <a:ea typeface="Courier New"/>
              <a:cs typeface="Courier New"/>
              <a:sym typeface="Courier New"/>
            </a:endParaRPr>
          </a:p>
        </p:txBody>
      </p:sp>
      <p:sp>
        <p:nvSpPr>
          <p:cNvPr id="112" name="Google Shape;112;p16"/>
          <p:cNvSpPr/>
          <p:nvPr/>
        </p:nvSpPr>
        <p:spPr>
          <a:xfrm>
            <a:off x="685800" y="1549400"/>
            <a:ext cx="7772400" cy="13350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1" lang="en-US" sz="2400" u="none" cap="none" strike="noStrike">
                <a:solidFill>
                  <a:schemeClr val="accent2"/>
                </a:solidFill>
                <a:latin typeface="Arial"/>
                <a:ea typeface="Arial"/>
                <a:cs typeface="Arial"/>
                <a:sym typeface="Arial"/>
              </a:rPr>
              <a:t>Newton’s law of gravitation</a:t>
            </a:r>
            <a:r>
              <a:rPr b="0" i="0" lang="en-US" sz="2400" u="none" cap="none" strike="noStrike">
                <a:solidFill>
                  <a:schemeClr val="accent2"/>
                </a:solidFill>
                <a:latin typeface="Arial"/>
                <a:ea typeface="Arial"/>
                <a:cs typeface="Arial"/>
                <a:sym typeface="Arial"/>
              </a:rPr>
              <a:t> </a:t>
            </a:r>
            <a:r>
              <a:rPr b="0" i="0" lang="en-US" sz="2400" u="none" cap="none" strike="noStrike">
                <a:solidFill>
                  <a:srgbClr val="000000"/>
                </a:solidFill>
                <a:latin typeface="Arial"/>
                <a:ea typeface="Arial"/>
                <a:cs typeface="Arial"/>
                <a:sym typeface="Arial"/>
              </a:rPr>
              <a:t>	</a:t>
            </a:r>
            <a:endParaRPr/>
          </a:p>
          <a:p>
            <a:pPr indent="0" lvl="0" marL="0" marR="0" rtl="0" algn="l">
              <a:spcBef>
                <a:spcPts val="480"/>
              </a:spcBef>
              <a:spcAft>
                <a:spcPts val="0"/>
              </a:spcAft>
              <a:buNone/>
            </a:pPr>
            <a:r>
              <a:rPr b="0" i="0" lang="en-US" sz="2400" u="none" cap="none" strike="noStrike">
                <a:solidFill>
                  <a:srgbClr val="000000"/>
                </a:solidFill>
                <a:latin typeface="Arial"/>
                <a:ea typeface="Arial"/>
                <a:cs typeface="Arial"/>
                <a:sym typeface="Arial"/>
              </a:rPr>
              <a:t>∙The gravitational force is the weakest of the four fundamental forces, as the following visual shows:	</a:t>
            </a:r>
            <a:endParaRPr/>
          </a:p>
        </p:txBody>
      </p:sp>
      <p:sp>
        <p:nvSpPr>
          <p:cNvPr id="113" name="Google Shape;113;p1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cxnSp>
        <p:nvCxnSpPr>
          <p:cNvPr id="114" name="Google Shape;114;p16"/>
          <p:cNvCxnSpPr/>
          <p:nvPr/>
        </p:nvCxnSpPr>
        <p:spPr>
          <a:xfrm flipH="1" rot="10800000">
            <a:off x="2489200" y="4821238"/>
            <a:ext cx="642938" cy="271462"/>
          </a:xfrm>
          <a:prstGeom prst="straightConnector1">
            <a:avLst/>
          </a:prstGeom>
          <a:noFill/>
          <a:ln cap="flat" cmpd="sng" w="76200">
            <a:solidFill>
              <a:schemeClr val="accent1"/>
            </a:solidFill>
            <a:prstDash val="solid"/>
            <a:round/>
            <a:headEnd len="med" w="med" type="none"/>
            <a:tailEnd len="med" w="med" type="none"/>
          </a:ln>
        </p:spPr>
      </p:cxnSp>
      <p:sp>
        <p:nvSpPr>
          <p:cNvPr id="115" name="Google Shape;115;p16"/>
          <p:cNvSpPr txBox="1"/>
          <p:nvPr/>
        </p:nvSpPr>
        <p:spPr>
          <a:xfrm>
            <a:off x="6896100" y="3170238"/>
            <a:ext cx="151288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GRAVITY</a:t>
            </a:r>
            <a:endParaRPr/>
          </a:p>
        </p:txBody>
      </p:sp>
      <p:sp>
        <p:nvSpPr>
          <p:cNvPr id="116" name="Google Shape;116;p16"/>
          <p:cNvSpPr txBox="1"/>
          <p:nvPr/>
        </p:nvSpPr>
        <p:spPr>
          <a:xfrm>
            <a:off x="750888" y="3529013"/>
            <a:ext cx="150018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STRONG</a:t>
            </a:r>
            <a:endParaRPr/>
          </a:p>
        </p:txBody>
      </p:sp>
      <p:sp>
        <p:nvSpPr>
          <p:cNvPr id="117" name="Google Shape;117;p16"/>
          <p:cNvSpPr txBox="1"/>
          <p:nvPr/>
        </p:nvSpPr>
        <p:spPr>
          <a:xfrm>
            <a:off x="2203450" y="3184525"/>
            <a:ext cx="32623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ELECTROMAGNETIC</a:t>
            </a:r>
            <a:endParaRPr/>
          </a:p>
        </p:txBody>
      </p:sp>
      <p:sp>
        <p:nvSpPr>
          <p:cNvPr id="118" name="Google Shape;118;p16"/>
          <p:cNvSpPr txBox="1"/>
          <p:nvPr/>
        </p:nvSpPr>
        <p:spPr>
          <a:xfrm>
            <a:off x="5443538" y="3559175"/>
            <a:ext cx="10906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WEAK</a:t>
            </a:r>
            <a:endParaRPr/>
          </a:p>
        </p:txBody>
      </p:sp>
      <p:sp>
        <p:nvSpPr>
          <p:cNvPr id="119" name="Google Shape;119;p16"/>
          <p:cNvSpPr/>
          <p:nvPr/>
        </p:nvSpPr>
        <p:spPr>
          <a:xfrm>
            <a:off x="1803400" y="4329113"/>
            <a:ext cx="290513" cy="290512"/>
          </a:xfrm>
          <a:prstGeom prst="ellipse">
            <a:avLst/>
          </a:prstGeom>
          <a:gradFill>
            <a:gsLst>
              <a:gs pos="0">
                <a:schemeClr val="accent2"/>
              </a:gs>
              <a:gs pos="100000">
                <a:srgbClr val="2323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16"/>
          <p:cNvSpPr/>
          <p:nvPr/>
        </p:nvSpPr>
        <p:spPr>
          <a:xfrm>
            <a:off x="950913" y="4781550"/>
            <a:ext cx="290512" cy="290513"/>
          </a:xfrm>
          <a:prstGeom prst="ellipse">
            <a:avLst/>
          </a:prstGeom>
          <a:gradFill>
            <a:gsLst>
              <a:gs pos="0">
                <a:schemeClr val="accent2"/>
              </a:gs>
              <a:gs pos="100000">
                <a:srgbClr val="2323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1" name="Google Shape;121;p16"/>
          <p:cNvGrpSpPr/>
          <p:nvPr/>
        </p:nvGrpSpPr>
        <p:grpSpPr>
          <a:xfrm>
            <a:off x="1198563" y="4184650"/>
            <a:ext cx="317500" cy="366713"/>
            <a:chOff x="3123" y="2217"/>
            <a:chExt cx="200" cy="231"/>
          </a:xfrm>
        </p:grpSpPr>
        <p:sp>
          <p:nvSpPr>
            <p:cNvPr id="122" name="Google Shape;122;p16"/>
            <p:cNvSpPr/>
            <p:nvPr/>
          </p:nvSpPr>
          <p:spPr>
            <a:xfrm>
              <a:off x="3127" y="2240"/>
              <a:ext cx="183" cy="183"/>
            </a:xfrm>
            <a:prstGeom prst="ellipse">
              <a:avLst/>
            </a:prstGeom>
            <a:gradFill>
              <a:gsLst>
                <a:gs pos="0">
                  <a:srgbClr val="FF3300"/>
                </a:gs>
                <a:gs pos="100000">
                  <a:srgbClr val="7618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16"/>
            <p:cNvSpPr txBox="1"/>
            <p:nvPr/>
          </p:nvSpPr>
          <p:spPr>
            <a:xfrm>
              <a:off x="3123" y="2217"/>
              <a:ext cx="2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a:t>
              </a:r>
              <a:endParaRPr/>
            </a:p>
          </p:txBody>
        </p:sp>
      </p:grpSp>
      <p:grpSp>
        <p:nvGrpSpPr>
          <p:cNvPr id="124" name="Google Shape;124;p16"/>
          <p:cNvGrpSpPr/>
          <p:nvPr/>
        </p:nvGrpSpPr>
        <p:grpSpPr>
          <a:xfrm>
            <a:off x="1544638" y="4857750"/>
            <a:ext cx="325437" cy="366713"/>
            <a:chOff x="3077" y="2733"/>
            <a:chExt cx="205" cy="231"/>
          </a:xfrm>
        </p:grpSpPr>
        <p:sp>
          <p:nvSpPr>
            <p:cNvPr id="125" name="Google Shape;125;p16"/>
            <p:cNvSpPr/>
            <p:nvPr/>
          </p:nvSpPr>
          <p:spPr>
            <a:xfrm>
              <a:off x="3077" y="2748"/>
              <a:ext cx="183" cy="183"/>
            </a:xfrm>
            <a:prstGeom prst="ellipse">
              <a:avLst/>
            </a:prstGeom>
            <a:gradFill>
              <a:gsLst>
                <a:gs pos="0">
                  <a:srgbClr val="FF3300"/>
                </a:gs>
                <a:gs pos="100000">
                  <a:srgbClr val="7618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16"/>
            <p:cNvSpPr txBox="1"/>
            <p:nvPr/>
          </p:nvSpPr>
          <p:spPr>
            <a:xfrm>
              <a:off x="3082" y="2733"/>
              <a:ext cx="20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Arial"/>
                  <a:ea typeface="Arial"/>
                  <a:cs typeface="Arial"/>
                  <a:sym typeface="Arial"/>
                </a:rPr>
                <a:t>+</a:t>
              </a:r>
              <a:endParaRPr/>
            </a:p>
          </p:txBody>
        </p:sp>
      </p:grpSp>
      <p:sp>
        <p:nvSpPr>
          <p:cNvPr id="127" name="Google Shape;127;p16"/>
          <p:cNvSpPr/>
          <p:nvPr/>
        </p:nvSpPr>
        <p:spPr>
          <a:xfrm>
            <a:off x="769938" y="3944938"/>
            <a:ext cx="1509712" cy="1509712"/>
          </a:xfrm>
          <a:prstGeom prst="ellipse">
            <a:avLst/>
          </a:prstGeom>
          <a:noFill/>
          <a:ln cap="flat" cmpd="sng" w="9525">
            <a:solidFill>
              <a:srgbClr val="C0C0C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28" name="Google Shape;128;p16"/>
          <p:cNvCxnSpPr/>
          <p:nvPr/>
        </p:nvCxnSpPr>
        <p:spPr>
          <a:xfrm>
            <a:off x="1484313" y="4433888"/>
            <a:ext cx="338137" cy="74612"/>
          </a:xfrm>
          <a:prstGeom prst="straightConnector1">
            <a:avLst/>
          </a:prstGeom>
          <a:noFill/>
          <a:ln cap="flat" cmpd="sng" w="9525">
            <a:solidFill>
              <a:schemeClr val="dk1"/>
            </a:solidFill>
            <a:prstDash val="solid"/>
            <a:round/>
            <a:headEnd len="med" w="med" type="none"/>
            <a:tailEnd len="med" w="med" type="triangle"/>
          </a:ln>
        </p:spPr>
      </p:cxnSp>
      <p:cxnSp>
        <p:nvCxnSpPr>
          <p:cNvPr id="129" name="Google Shape;129;p16"/>
          <p:cNvCxnSpPr/>
          <p:nvPr/>
        </p:nvCxnSpPr>
        <p:spPr>
          <a:xfrm rot="10800000">
            <a:off x="1473200" y="4344988"/>
            <a:ext cx="350838" cy="74612"/>
          </a:xfrm>
          <a:prstGeom prst="straightConnector1">
            <a:avLst/>
          </a:prstGeom>
          <a:noFill/>
          <a:ln cap="flat" cmpd="sng" w="9525">
            <a:solidFill>
              <a:schemeClr val="dk1"/>
            </a:solidFill>
            <a:prstDash val="solid"/>
            <a:round/>
            <a:headEnd len="med" w="med" type="none"/>
            <a:tailEnd len="med" w="med" type="triangle"/>
          </a:ln>
        </p:spPr>
      </p:cxnSp>
      <p:cxnSp>
        <p:nvCxnSpPr>
          <p:cNvPr id="130" name="Google Shape;130;p16"/>
          <p:cNvCxnSpPr/>
          <p:nvPr/>
        </p:nvCxnSpPr>
        <p:spPr>
          <a:xfrm>
            <a:off x="1360488" y="4495800"/>
            <a:ext cx="238125" cy="400050"/>
          </a:xfrm>
          <a:prstGeom prst="straightConnector1">
            <a:avLst/>
          </a:prstGeom>
          <a:noFill/>
          <a:ln cap="flat" cmpd="sng" w="9525">
            <a:solidFill>
              <a:schemeClr val="dk1"/>
            </a:solidFill>
            <a:prstDash val="solid"/>
            <a:round/>
            <a:headEnd len="med" w="med" type="none"/>
            <a:tailEnd len="med" w="med" type="triangle"/>
          </a:ln>
        </p:spPr>
      </p:cxnSp>
      <p:cxnSp>
        <p:nvCxnSpPr>
          <p:cNvPr id="131" name="Google Shape;131;p16"/>
          <p:cNvCxnSpPr/>
          <p:nvPr/>
        </p:nvCxnSpPr>
        <p:spPr>
          <a:xfrm rot="10800000">
            <a:off x="1435100" y="4483100"/>
            <a:ext cx="250825" cy="400050"/>
          </a:xfrm>
          <a:prstGeom prst="straightConnector1">
            <a:avLst/>
          </a:prstGeom>
          <a:noFill/>
          <a:ln cap="flat" cmpd="sng" w="9525">
            <a:solidFill>
              <a:schemeClr val="dk1"/>
            </a:solidFill>
            <a:prstDash val="solid"/>
            <a:round/>
            <a:headEnd len="med" w="med" type="none"/>
            <a:tailEnd len="med" w="med" type="triangle"/>
          </a:ln>
        </p:spPr>
      </p:cxnSp>
      <p:cxnSp>
        <p:nvCxnSpPr>
          <p:cNvPr id="132" name="Google Shape;132;p16"/>
          <p:cNvCxnSpPr/>
          <p:nvPr/>
        </p:nvCxnSpPr>
        <p:spPr>
          <a:xfrm flipH="1" rot="10800000">
            <a:off x="1196975" y="4508500"/>
            <a:ext cx="614363" cy="312738"/>
          </a:xfrm>
          <a:prstGeom prst="straightConnector1">
            <a:avLst/>
          </a:prstGeom>
          <a:noFill/>
          <a:ln cap="flat" cmpd="sng" w="9525">
            <a:solidFill>
              <a:schemeClr val="dk1"/>
            </a:solidFill>
            <a:prstDash val="solid"/>
            <a:round/>
            <a:headEnd len="med" w="med" type="none"/>
            <a:tailEnd len="med" w="med" type="triangle"/>
          </a:ln>
        </p:spPr>
      </p:cxnSp>
      <p:cxnSp>
        <p:nvCxnSpPr>
          <p:cNvPr id="133" name="Google Shape;133;p16"/>
          <p:cNvCxnSpPr/>
          <p:nvPr/>
        </p:nvCxnSpPr>
        <p:spPr>
          <a:xfrm flipH="1">
            <a:off x="1247775" y="4570413"/>
            <a:ext cx="588963" cy="300037"/>
          </a:xfrm>
          <a:prstGeom prst="straightConnector1">
            <a:avLst/>
          </a:prstGeom>
          <a:noFill/>
          <a:ln cap="flat" cmpd="sng" w="9525">
            <a:solidFill>
              <a:schemeClr val="dk1"/>
            </a:solidFill>
            <a:prstDash val="solid"/>
            <a:round/>
            <a:headEnd len="med" w="med" type="none"/>
            <a:tailEnd len="med" w="med" type="triangle"/>
          </a:ln>
        </p:spPr>
      </p:cxnSp>
      <p:grpSp>
        <p:nvGrpSpPr>
          <p:cNvPr id="134" name="Google Shape;134;p16"/>
          <p:cNvGrpSpPr/>
          <p:nvPr/>
        </p:nvGrpSpPr>
        <p:grpSpPr>
          <a:xfrm>
            <a:off x="2794000" y="4195763"/>
            <a:ext cx="1339850" cy="1228725"/>
            <a:chOff x="1831" y="2896"/>
            <a:chExt cx="844" cy="774"/>
          </a:xfrm>
        </p:grpSpPr>
        <p:sp>
          <p:nvSpPr>
            <p:cNvPr id="135" name="Google Shape;135;p16"/>
            <p:cNvSpPr/>
            <p:nvPr/>
          </p:nvSpPr>
          <p:spPr>
            <a:xfrm>
              <a:off x="2107" y="2896"/>
              <a:ext cx="568" cy="536"/>
            </a:xfrm>
            <a:prstGeom prst="triangle">
              <a:avLst>
                <a:gd fmla="val 50000" name="adj"/>
              </a:avLst>
            </a:prstGeom>
            <a:solidFill>
              <a:schemeClr val="accent1">
                <a:alpha val="22745"/>
              </a:scheme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16"/>
            <p:cNvSpPr/>
            <p:nvPr/>
          </p:nvSpPr>
          <p:spPr>
            <a:xfrm>
              <a:off x="2115" y="2896"/>
              <a:ext cx="560" cy="773"/>
            </a:xfrm>
            <a:custGeom>
              <a:rect b="b" l="l" r="r" t="t"/>
              <a:pathLst>
                <a:path extrusionOk="0" h="773" w="560">
                  <a:moveTo>
                    <a:pt x="0" y="236"/>
                  </a:moveTo>
                  <a:lnTo>
                    <a:pt x="276" y="0"/>
                  </a:lnTo>
                  <a:lnTo>
                    <a:pt x="560" y="536"/>
                  </a:lnTo>
                  <a:lnTo>
                    <a:pt x="292" y="773"/>
                  </a:lnTo>
                  <a:lnTo>
                    <a:pt x="0" y="236"/>
                  </a:lnTo>
                  <a:close/>
                </a:path>
              </a:pathLst>
            </a:custGeom>
            <a:solidFill>
              <a:schemeClr val="accent1">
                <a:alpha val="29803"/>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7" name="Google Shape;137;p16"/>
            <p:cNvSpPr/>
            <p:nvPr/>
          </p:nvSpPr>
          <p:spPr>
            <a:xfrm>
              <a:off x="1831" y="2896"/>
              <a:ext cx="560" cy="773"/>
            </a:xfrm>
            <a:custGeom>
              <a:rect b="b" l="l" r="r" t="t"/>
              <a:pathLst>
                <a:path extrusionOk="0" h="773" w="560">
                  <a:moveTo>
                    <a:pt x="560" y="0"/>
                  </a:moveTo>
                  <a:lnTo>
                    <a:pt x="284" y="236"/>
                  </a:lnTo>
                  <a:lnTo>
                    <a:pt x="0" y="773"/>
                  </a:lnTo>
                  <a:lnTo>
                    <a:pt x="276" y="536"/>
                  </a:lnTo>
                  <a:lnTo>
                    <a:pt x="560" y="0"/>
                  </a:lnTo>
                  <a:close/>
                </a:path>
              </a:pathLst>
            </a:custGeom>
            <a:solidFill>
              <a:schemeClr val="accent1">
                <a:alpha val="33725"/>
              </a:scheme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8" name="Google Shape;138;p16"/>
            <p:cNvSpPr/>
            <p:nvPr/>
          </p:nvSpPr>
          <p:spPr>
            <a:xfrm>
              <a:off x="1832" y="3134"/>
              <a:ext cx="568" cy="536"/>
            </a:xfrm>
            <a:prstGeom prst="triangle">
              <a:avLst>
                <a:gd fmla="val 50000" name="adj"/>
              </a:avLst>
            </a:prstGeom>
            <a:solidFill>
              <a:schemeClr val="accent1">
                <a:alpha val="41568"/>
              </a:scheme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139" name="Google Shape;139;p16"/>
          <p:cNvCxnSpPr/>
          <p:nvPr/>
        </p:nvCxnSpPr>
        <p:spPr>
          <a:xfrm flipH="1" rot="10800000">
            <a:off x="3732213" y="4422775"/>
            <a:ext cx="1254125" cy="236538"/>
          </a:xfrm>
          <a:prstGeom prst="straightConnector1">
            <a:avLst/>
          </a:prstGeom>
          <a:noFill/>
          <a:ln cap="flat" cmpd="sng" w="76200">
            <a:solidFill>
              <a:srgbClr val="FF3300"/>
            </a:solidFill>
            <a:prstDash val="solid"/>
            <a:round/>
            <a:headEnd len="med" w="med" type="none"/>
            <a:tailEnd len="med" w="med" type="none"/>
          </a:ln>
        </p:spPr>
      </p:cxnSp>
      <p:cxnSp>
        <p:nvCxnSpPr>
          <p:cNvPr id="140" name="Google Shape;140;p16"/>
          <p:cNvCxnSpPr/>
          <p:nvPr/>
        </p:nvCxnSpPr>
        <p:spPr>
          <a:xfrm flipH="1" rot="10800000">
            <a:off x="3733800" y="4500563"/>
            <a:ext cx="1266825" cy="185737"/>
          </a:xfrm>
          <a:prstGeom prst="straightConnector1">
            <a:avLst/>
          </a:prstGeom>
          <a:noFill/>
          <a:ln cap="flat" cmpd="sng" w="76200">
            <a:solidFill>
              <a:srgbClr val="FF9933"/>
            </a:solidFill>
            <a:prstDash val="solid"/>
            <a:round/>
            <a:headEnd len="med" w="med" type="none"/>
            <a:tailEnd len="med" w="med" type="none"/>
          </a:ln>
        </p:spPr>
      </p:cxnSp>
      <p:cxnSp>
        <p:nvCxnSpPr>
          <p:cNvPr id="141" name="Google Shape;141;p16"/>
          <p:cNvCxnSpPr/>
          <p:nvPr/>
        </p:nvCxnSpPr>
        <p:spPr>
          <a:xfrm flipH="1" rot="10800000">
            <a:off x="3760788" y="4576763"/>
            <a:ext cx="1254125" cy="123825"/>
          </a:xfrm>
          <a:prstGeom prst="straightConnector1">
            <a:avLst/>
          </a:prstGeom>
          <a:noFill/>
          <a:ln cap="flat" cmpd="sng" w="76200">
            <a:solidFill>
              <a:srgbClr val="FFFF00"/>
            </a:solidFill>
            <a:prstDash val="solid"/>
            <a:round/>
            <a:headEnd len="med" w="med" type="none"/>
            <a:tailEnd len="med" w="med" type="none"/>
          </a:ln>
        </p:spPr>
      </p:cxnSp>
      <p:cxnSp>
        <p:nvCxnSpPr>
          <p:cNvPr id="142" name="Google Shape;142;p16"/>
          <p:cNvCxnSpPr/>
          <p:nvPr/>
        </p:nvCxnSpPr>
        <p:spPr>
          <a:xfrm flipH="1" rot="10800000">
            <a:off x="3749675" y="4656138"/>
            <a:ext cx="1266825" cy="60325"/>
          </a:xfrm>
          <a:prstGeom prst="straightConnector1">
            <a:avLst/>
          </a:prstGeom>
          <a:noFill/>
          <a:ln cap="flat" cmpd="sng" w="76200">
            <a:solidFill>
              <a:srgbClr val="33CC33"/>
            </a:solidFill>
            <a:prstDash val="solid"/>
            <a:round/>
            <a:headEnd len="med" w="med" type="none"/>
            <a:tailEnd len="med" w="med" type="none"/>
          </a:ln>
        </p:spPr>
      </p:cxnSp>
      <p:cxnSp>
        <p:nvCxnSpPr>
          <p:cNvPr id="143" name="Google Shape;143;p16"/>
          <p:cNvCxnSpPr/>
          <p:nvPr/>
        </p:nvCxnSpPr>
        <p:spPr>
          <a:xfrm>
            <a:off x="3738563" y="4730750"/>
            <a:ext cx="1292225" cy="1588"/>
          </a:xfrm>
          <a:prstGeom prst="straightConnector1">
            <a:avLst/>
          </a:prstGeom>
          <a:noFill/>
          <a:ln cap="flat" cmpd="sng" w="76200">
            <a:solidFill>
              <a:schemeClr val="accent2"/>
            </a:solidFill>
            <a:prstDash val="solid"/>
            <a:round/>
            <a:headEnd len="med" w="med" type="none"/>
            <a:tailEnd len="med" w="med" type="none"/>
          </a:ln>
        </p:spPr>
      </p:cxnSp>
      <p:cxnSp>
        <p:nvCxnSpPr>
          <p:cNvPr id="144" name="Google Shape;144;p16"/>
          <p:cNvCxnSpPr/>
          <p:nvPr/>
        </p:nvCxnSpPr>
        <p:spPr>
          <a:xfrm>
            <a:off x="3740150" y="4770438"/>
            <a:ext cx="1266825" cy="39687"/>
          </a:xfrm>
          <a:prstGeom prst="straightConnector1">
            <a:avLst/>
          </a:prstGeom>
          <a:noFill/>
          <a:ln cap="flat" cmpd="sng" w="76200">
            <a:solidFill>
              <a:srgbClr val="FF00FF"/>
            </a:solidFill>
            <a:prstDash val="solid"/>
            <a:round/>
            <a:headEnd len="med" w="med" type="none"/>
            <a:tailEnd len="med" w="med" type="none"/>
          </a:ln>
        </p:spPr>
      </p:cxnSp>
      <p:sp>
        <p:nvSpPr>
          <p:cNvPr id="145" name="Google Shape;145;p16"/>
          <p:cNvSpPr txBox="1"/>
          <p:nvPr/>
        </p:nvSpPr>
        <p:spPr>
          <a:xfrm>
            <a:off x="930275" y="5405438"/>
            <a:ext cx="1185863"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nuclear</a:t>
            </a:r>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force</a:t>
            </a:r>
            <a:endParaRPr/>
          </a:p>
        </p:txBody>
      </p:sp>
      <p:pic>
        <p:nvPicPr>
          <p:cNvPr descr="j0303547[1]" id="146" name="Google Shape;146;p16"/>
          <p:cNvPicPr preferRelativeResize="0"/>
          <p:nvPr/>
        </p:nvPicPr>
        <p:blipFill rotWithShape="1">
          <a:blip r:embed="rId3">
            <a:alphaModFix/>
          </a:blip>
          <a:srcRect b="0" l="0" r="0" t="0"/>
          <a:stretch/>
        </p:blipFill>
        <p:spPr>
          <a:xfrm>
            <a:off x="5289550" y="4095750"/>
            <a:ext cx="1411288" cy="1298575"/>
          </a:xfrm>
          <a:prstGeom prst="rect">
            <a:avLst/>
          </a:prstGeom>
          <a:noFill/>
          <a:ln>
            <a:noFill/>
          </a:ln>
        </p:spPr>
      </p:pic>
      <p:sp>
        <p:nvSpPr>
          <p:cNvPr id="147" name="Google Shape;147;p16"/>
          <p:cNvSpPr txBox="1"/>
          <p:nvPr/>
        </p:nvSpPr>
        <p:spPr>
          <a:xfrm>
            <a:off x="2211388" y="5407025"/>
            <a:ext cx="2771775"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light, heat, charge and magnets</a:t>
            </a:r>
            <a:endParaRPr/>
          </a:p>
        </p:txBody>
      </p:sp>
      <p:sp>
        <p:nvSpPr>
          <p:cNvPr id="148" name="Google Shape;148;p16"/>
          <p:cNvSpPr txBox="1"/>
          <p:nvPr/>
        </p:nvSpPr>
        <p:spPr>
          <a:xfrm>
            <a:off x="5081588" y="5416550"/>
            <a:ext cx="185737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radioactivity</a:t>
            </a:r>
            <a:endParaRPr/>
          </a:p>
        </p:txBody>
      </p:sp>
      <p:pic>
        <p:nvPicPr>
          <p:cNvPr descr="j0198175[1]" id="149" name="Google Shape;149;p16"/>
          <p:cNvPicPr preferRelativeResize="0"/>
          <p:nvPr/>
        </p:nvPicPr>
        <p:blipFill rotWithShape="1">
          <a:blip r:embed="rId4">
            <a:alphaModFix/>
          </a:blip>
          <a:srcRect b="0" l="0" r="0" t="0"/>
          <a:stretch/>
        </p:blipFill>
        <p:spPr>
          <a:xfrm>
            <a:off x="6891338" y="3795713"/>
            <a:ext cx="1522412" cy="1684337"/>
          </a:xfrm>
          <a:prstGeom prst="rect">
            <a:avLst/>
          </a:prstGeom>
          <a:noFill/>
          <a:ln>
            <a:noFill/>
          </a:ln>
        </p:spPr>
      </p:pic>
      <p:sp>
        <p:nvSpPr>
          <p:cNvPr id="150" name="Google Shape;150;p16"/>
          <p:cNvSpPr txBox="1"/>
          <p:nvPr/>
        </p:nvSpPr>
        <p:spPr>
          <a:xfrm>
            <a:off x="6891338" y="5416550"/>
            <a:ext cx="1584325"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freefall, orbits</a:t>
            </a:r>
            <a:endParaRPr/>
          </a:p>
        </p:txBody>
      </p:sp>
      <p:sp>
        <p:nvSpPr>
          <p:cNvPr id="151" name="Google Shape;151;p16"/>
          <p:cNvSpPr/>
          <p:nvPr/>
        </p:nvSpPr>
        <p:spPr>
          <a:xfrm>
            <a:off x="2251075" y="3189288"/>
            <a:ext cx="4473575" cy="792162"/>
          </a:xfrm>
          <a:prstGeom prst="rect">
            <a:avLst/>
          </a:prstGeom>
          <a:noFill/>
          <a:ln cap="flat" cmpd="sng" w="28575">
            <a:solidFill>
              <a:schemeClr val="accent2"/>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16"/>
          <p:cNvSpPr txBox="1"/>
          <p:nvPr/>
        </p:nvSpPr>
        <p:spPr>
          <a:xfrm>
            <a:off x="3143250" y="2787650"/>
            <a:ext cx="2622550" cy="45720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ELECTRO-WEAK</a:t>
            </a:r>
            <a:endParaRPr/>
          </a:p>
        </p:txBody>
      </p:sp>
      <p:sp>
        <p:nvSpPr>
          <p:cNvPr id="153" name="Google Shape;153;p16"/>
          <p:cNvSpPr txBox="1"/>
          <p:nvPr/>
        </p:nvSpPr>
        <p:spPr>
          <a:xfrm>
            <a:off x="6848475" y="6246813"/>
            <a:ext cx="16732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3300"/>
                </a:solidFill>
                <a:latin typeface="Arial"/>
                <a:ea typeface="Arial"/>
                <a:cs typeface="Arial"/>
                <a:sym typeface="Arial"/>
              </a:rPr>
              <a:t>WEAKEST</a:t>
            </a:r>
            <a:endParaRPr/>
          </a:p>
        </p:txBody>
      </p:sp>
      <p:sp>
        <p:nvSpPr>
          <p:cNvPr id="154" name="Google Shape;154;p16"/>
          <p:cNvSpPr txBox="1"/>
          <p:nvPr/>
        </p:nvSpPr>
        <p:spPr>
          <a:xfrm>
            <a:off x="401638" y="6213475"/>
            <a:ext cx="2417762"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3300"/>
                </a:solidFill>
                <a:latin typeface="Arial"/>
                <a:ea typeface="Arial"/>
                <a:cs typeface="Arial"/>
                <a:sym typeface="Arial"/>
              </a:rPr>
              <a:t>STRONGEST</a:t>
            </a:r>
            <a:endParaRPr/>
          </a:p>
        </p:txBody>
      </p:sp>
      <p:cxnSp>
        <p:nvCxnSpPr>
          <p:cNvPr id="155" name="Google Shape;155;p16"/>
          <p:cNvCxnSpPr/>
          <p:nvPr/>
        </p:nvCxnSpPr>
        <p:spPr>
          <a:xfrm flipH="1" rot="10800000">
            <a:off x="2827338" y="6456363"/>
            <a:ext cx="3883025" cy="14287"/>
          </a:xfrm>
          <a:prstGeom prst="straightConnector1">
            <a:avLst/>
          </a:prstGeom>
          <a:noFill/>
          <a:ln cap="flat" cmpd="sng" w="76200">
            <a:solidFill>
              <a:srgbClr val="FF3300"/>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anim calcmode="lin" valueType="num">
                                      <p:cBhvr additive="base">
                                        <p:cTn dur="500"/>
                                        <p:tgtEl>
                                          <p:spTgt spid="11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anim calcmode="lin" valueType="num">
                                      <p:cBhvr additive="base">
                                        <p:cTn dur="500"/>
                                        <p:tgtEl>
                                          <p:spTgt spid="11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20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2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2000"/>
                                        <p:tgtEl>
                                          <p:spTgt spid="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Newton’s law of gravitation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1687 Isaac Newton published what has been          called by some the greatest scientific discovery                    of all time – his universal law of gravitation.</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law states that the gravitational force                 between two </a:t>
            </a:r>
            <a:r>
              <a:rPr b="1" lang="en-US" sz="2400">
                <a:solidFill>
                  <a:srgbClr val="000000"/>
                </a:solidFill>
                <a:latin typeface="Arial"/>
                <a:ea typeface="Arial"/>
                <a:cs typeface="Arial"/>
                <a:sym typeface="Arial"/>
              </a:rPr>
              <a:t>point masses </a:t>
            </a:r>
            <a:r>
              <a:rPr i="1" lang="en-US" sz="2400">
                <a:solidFill>
                  <a:srgbClr val="000000"/>
                </a:solidFill>
                <a:latin typeface="Arial"/>
                <a:ea typeface="Arial"/>
                <a:cs typeface="Arial"/>
                <a:sym typeface="Arial"/>
              </a:rPr>
              <a:t>m</a:t>
            </a:r>
            <a:r>
              <a:rPr baseline="-25000" lang="en-US" sz="2400">
                <a:solidFill>
                  <a:srgbClr val="000000"/>
                </a:solidFill>
                <a:latin typeface="Arial"/>
                <a:ea typeface="Arial"/>
                <a:cs typeface="Arial"/>
                <a:sym typeface="Arial"/>
              </a:rPr>
              <a:t>1</a:t>
            </a:r>
            <a:r>
              <a:rPr lang="en-US" sz="2400">
                <a:solidFill>
                  <a:srgbClr val="000000"/>
                </a:solidFill>
                <a:latin typeface="Arial"/>
                <a:ea typeface="Arial"/>
                <a:cs typeface="Arial"/>
                <a:sym typeface="Arial"/>
              </a:rPr>
              <a:t> and </a:t>
            </a:r>
            <a:r>
              <a:rPr i="1" lang="en-US" sz="2400">
                <a:solidFill>
                  <a:srgbClr val="000000"/>
                </a:solidFill>
                <a:latin typeface="Arial"/>
                <a:ea typeface="Arial"/>
                <a:cs typeface="Arial"/>
                <a:sym typeface="Arial"/>
              </a:rPr>
              <a:t>m</a:t>
            </a:r>
            <a:r>
              <a:rPr baseline="-25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 is                proportional to their product, and inversely            proportional to the square of their separation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actual value of </a:t>
            </a:r>
            <a:r>
              <a:rPr i="1" lang="en-US" sz="2400">
                <a:solidFill>
                  <a:srgbClr val="000000"/>
                </a:solidFill>
                <a:latin typeface="Arial"/>
                <a:ea typeface="Arial"/>
                <a:cs typeface="Arial"/>
                <a:sym typeface="Arial"/>
              </a:rPr>
              <a:t>G</a:t>
            </a:r>
            <a:r>
              <a:rPr lang="en-US" sz="2400">
                <a:solidFill>
                  <a:srgbClr val="000000"/>
                </a:solidFill>
                <a:latin typeface="Arial"/>
                <a:ea typeface="Arial"/>
                <a:cs typeface="Arial"/>
                <a:sym typeface="Arial"/>
              </a:rPr>
              <a:t>, the </a:t>
            </a:r>
            <a:r>
              <a:rPr b="1" lang="en-US" sz="2400">
                <a:solidFill>
                  <a:srgbClr val="000000"/>
                </a:solidFill>
                <a:latin typeface="Arial"/>
                <a:ea typeface="Arial"/>
                <a:cs typeface="Arial"/>
                <a:sym typeface="Arial"/>
              </a:rPr>
              <a:t>universal gravitational constant</a:t>
            </a:r>
            <a:r>
              <a:rPr lang="en-US" sz="2400">
                <a:solidFill>
                  <a:srgbClr val="000000"/>
                </a:solidFill>
                <a:latin typeface="Arial"/>
                <a:ea typeface="Arial"/>
                <a:cs typeface="Arial"/>
                <a:sym typeface="Arial"/>
              </a:rPr>
              <a:t>, was not known until Henry Cavendish conducted a tricky experiment in 1798 to find it.</a:t>
            </a:r>
            <a:endParaRPr/>
          </a:p>
        </p:txBody>
      </p:sp>
      <p:sp>
        <p:nvSpPr>
          <p:cNvPr id="162" name="Google Shape;162;p1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descr="newton" id="163" name="Google Shape;163;p17"/>
          <p:cNvPicPr preferRelativeResize="0"/>
          <p:nvPr/>
        </p:nvPicPr>
        <p:blipFill rotWithShape="1">
          <a:blip r:embed="rId3">
            <a:alphaModFix/>
          </a:blip>
          <a:srcRect b="0" l="0" r="0" t="0"/>
          <a:stretch/>
        </p:blipFill>
        <p:spPr>
          <a:xfrm>
            <a:off x="7664450" y="153988"/>
            <a:ext cx="1338263" cy="1744662"/>
          </a:xfrm>
          <a:prstGeom prst="rect">
            <a:avLst/>
          </a:prstGeom>
          <a:noFill/>
          <a:ln>
            <a:noFill/>
          </a:ln>
          <a:effectLst>
            <a:outerShdw blurRad="292100" rotWithShape="0" algn="tl" dir="2700000" dist="139700">
              <a:srgbClr val="333333">
                <a:alpha val="64705"/>
              </a:srgbClr>
            </a:outerShdw>
          </a:effectLst>
        </p:spPr>
      </p:pic>
      <p:pic>
        <p:nvPicPr>
          <p:cNvPr descr="newton3-1" id="164" name="Google Shape;164;p17"/>
          <p:cNvPicPr preferRelativeResize="0"/>
          <p:nvPr/>
        </p:nvPicPr>
        <p:blipFill rotWithShape="1">
          <a:blip r:embed="rId4">
            <a:alphaModFix/>
          </a:blip>
          <a:srcRect b="0" l="0" r="0" t="0"/>
          <a:stretch/>
        </p:blipFill>
        <p:spPr>
          <a:xfrm rot="419695">
            <a:off x="7243763" y="2082800"/>
            <a:ext cx="1857375" cy="2674938"/>
          </a:xfrm>
          <a:prstGeom prst="rect">
            <a:avLst/>
          </a:prstGeom>
          <a:noFill/>
          <a:ln>
            <a:noFill/>
          </a:ln>
          <a:effectLst>
            <a:outerShdw blurRad="292100" rotWithShape="0" algn="tl" dir="2700000" dist="139700">
              <a:srgbClr val="333333">
                <a:alpha val="64705"/>
              </a:srgbClr>
            </a:outerShdw>
          </a:effectLst>
        </p:spPr>
      </p:pic>
      <p:grpSp>
        <p:nvGrpSpPr>
          <p:cNvPr id="165" name="Google Shape;165;p17"/>
          <p:cNvGrpSpPr/>
          <p:nvPr/>
        </p:nvGrpSpPr>
        <p:grpSpPr>
          <a:xfrm>
            <a:off x="809625" y="4721225"/>
            <a:ext cx="7464425" cy="823913"/>
            <a:chOff x="510" y="3230"/>
            <a:chExt cx="4702" cy="519"/>
          </a:xfrm>
        </p:grpSpPr>
        <p:sp>
          <p:nvSpPr>
            <p:cNvPr id="166" name="Google Shape;166;p17"/>
            <p:cNvSpPr/>
            <p:nvPr/>
          </p:nvSpPr>
          <p:spPr>
            <a:xfrm>
              <a:off x="592" y="3243"/>
              <a:ext cx="1530" cy="26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1</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endParaRPr i="1" sz="2400">
                <a:solidFill>
                  <a:schemeClr val="dk1"/>
                </a:solidFill>
                <a:latin typeface="Arial"/>
                <a:ea typeface="Arial"/>
                <a:cs typeface="Arial"/>
                <a:sym typeface="Arial"/>
              </a:endParaRPr>
            </a:p>
          </p:txBody>
        </p:sp>
        <p:sp>
          <p:nvSpPr>
            <p:cNvPr id="167" name="Google Shape;167;p17"/>
            <p:cNvSpPr txBox="1"/>
            <p:nvPr/>
          </p:nvSpPr>
          <p:spPr>
            <a:xfrm>
              <a:off x="3762" y="3230"/>
              <a:ext cx="1450"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Universal law of gravitation</a:t>
              </a:r>
              <a:endParaRPr/>
            </a:p>
          </p:txBody>
        </p:sp>
        <p:sp>
          <p:nvSpPr>
            <p:cNvPr id="168" name="Google Shape;168;p17"/>
            <p:cNvSpPr/>
            <p:nvPr/>
          </p:nvSpPr>
          <p:spPr>
            <a:xfrm>
              <a:off x="510" y="3232"/>
              <a:ext cx="4701" cy="51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9" name="Google Shape;169;p17"/>
            <p:cNvSpPr/>
            <p:nvPr/>
          </p:nvSpPr>
          <p:spPr>
            <a:xfrm>
              <a:off x="914" y="3487"/>
              <a:ext cx="303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hlink"/>
                  </a:solidFill>
                  <a:latin typeface="Arial"/>
                  <a:ea typeface="Arial"/>
                  <a:cs typeface="Arial"/>
                  <a:sym typeface="Arial"/>
                </a:rPr>
                <a:t>where G</a:t>
              </a:r>
              <a:r>
                <a:rPr lang="en-US" sz="2400">
                  <a:solidFill>
                    <a:schemeClr val="hlink"/>
                  </a:solidFill>
                  <a:latin typeface="Arial"/>
                  <a:ea typeface="Arial"/>
                  <a:cs typeface="Arial"/>
                  <a:sym typeface="Arial"/>
                </a:rPr>
                <a:t> = 6.67×10</a:t>
              </a:r>
              <a:r>
                <a:rPr baseline="30000" lang="en-US" sz="2400">
                  <a:solidFill>
                    <a:schemeClr val="hlink"/>
                  </a:solidFill>
                  <a:latin typeface="Arial"/>
                  <a:ea typeface="Arial"/>
                  <a:cs typeface="Arial"/>
                  <a:sym typeface="Arial"/>
                </a:rPr>
                <a:t>−11</a:t>
              </a:r>
              <a:r>
                <a:rPr lang="en-US" sz="2400">
                  <a:solidFill>
                    <a:schemeClr val="hlink"/>
                  </a:solidFill>
                  <a:latin typeface="Arial"/>
                  <a:ea typeface="Arial"/>
                  <a:cs typeface="Arial"/>
                  <a:sym typeface="Arial"/>
                </a:rPr>
                <a:t> N</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m</a:t>
              </a:r>
              <a:r>
                <a:rPr baseline="30000" lang="en-US" sz="2400">
                  <a:solidFill>
                    <a:schemeClr val="hlink"/>
                  </a:solidFill>
                  <a:latin typeface="Arial"/>
                  <a:ea typeface="Arial"/>
                  <a:cs typeface="Arial"/>
                  <a:sym typeface="Arial"/>
                </a:rPr>
                <a:t>2</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kg</a:t>
              </a:r>
              <a:r>
                <a:rPr baseline="30000" lang="en-US" sz="2400">
                  <a:solidFill>
                    <a:schemeClr val="hlink"/>
                  </a:solidFill>
                  <a:latin typeface="Arial"/>
                  <a:ea typeface="Arial"/>
                  <a:cs typeface="Arial"/>
                  <a:sym typeface="Arial"/>
                </a:rPr>
                <a:t>−2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2000"/>
                                        <p:tgtEl>
                                          <p:spTgt spid="163"/>
                                        </p:tgtEl>
                                      </p:cBhvr>
                                    </p:animEffect>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3000"/>
                                        <p:tgtEl>
                                          <p:spTgt spid="164"/>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0"/>
                                  </p:stCondLst>
                                  <p:childTnLst>
                                    <p:animRot by="-21600000">
                                      <p:cBhvr>
                                        <p:cTn dur="3000" fill="hold"/>
                                        <p:tgtEl>
                                          <p:spTgt spid="164"/>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ppt_w</p:attrName>
                                        </p:attrNameLst>
                                      </p:cBhvr>
                                      <p:tavLst>
                                        <p:tav fmla="" tm="0">
                                          <p:val>
                                            <p:strVal val="0"/>
                                          </p:val>
                                        </p:tav>
                                        <p:tav fmla="" tm="100000">
                                          <p:val>
                                            <p:strVal val="#ppt_w"/>
                                          </p:val>
                                        </p:tav>
                                      </p:tavLst>
                                    </p:anim>
                                    <p:anim calcmode="lin" valueType="num">
                                      <p:cBhvr additive="base">
                                        <p:cTn dur="500"/>
                                        <p:tgtEl>
                                          <p:spTgt spid="16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8"/>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Newton’s law of gravitation</a:t>
            </a:r>
            <a:r>
              <a:rPr lang="en-US" sz="2400">
                <a:solidFill>
                  <a:schemeClr val="accent2"/>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Earth, planets,                                                                moons, and even                                                                      the sun, have                                                       many layers – kind of                                                                  like an onion:</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other words,                                                                     NONE of the                                                                        celestial bodies we                                                                        observe are point                                                                    masses.</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∙Given that the law is called the universal law of gravitation, how do we use it for planets and such?</a:t>
            </a:r>
            <a:endParaRPr sz="2400">
              <a:solidFill>
                <a:schemeClr val="dk1"/>
              </a:solidFill>
              <a:latin typeface="Arial"/>
              <a:ea typeface="Arial"/>
              <a:cs typeface="Arial"/>
              <a:sym typeface="Arial"/>
            </a:endParaRPr>
          </a:p>
        </p:txBody>
      </p:sp>
      <p:sp>
        <p:nvSpPr>
          <p:cNvPr id="176" name="Google Shape;176;p1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descr="http://www.gg.uwyo.edu/media/solarSystem/diagrams/globe_layers.gif" id="177" name="Google Shape;177;p18"/>
          <p:cNvPicPr preferRelativeResize="0"/>
          <p:nvPr/>
        </p:nvPicPr>
        <p:blipFill rotWithShape="1">
          <a:blip r:embed="rId3">
            <a:alphaModFix/>
          </a:blip>
          <a:srcRect b="0" l="0" r="0" t="0"/>
          <a:stretch/>
        </p:blipFill>
        <p:spPr>
          <a:xfrm>
            <a:off x="3914775" y="1606550"/>
            <a:ext cx="5130800" cy="4133850"/>
          </a:xfrm>
          <a:prstGeom prst="rect">
            <a:avLst/>
          </a:prstGeom>
          <a:noFill/>
          <a:ln>
            <a:noFill/>
          </a:ln>
          <a:effectLst>
            <a:outerShdw blurRad="292100" rotWithShape="0" algn="tl" dir="2700000" dist="139700">
              <a:srgbClr val="333333">
                <a:alpha val="64705"/>
              </a:srgbClr>
            </a:outerShdw>
          </a:effectLst>
        </p:spPr>
      </p:pic>
      <p:pic>
        <p:nvPicPr>
          <p:cNvPr descr="newton" id="178" name="Google Shape;178;p18"/>
          <p:cNvPicPr preferRelativeResize="0"/>
          <p:nvPr/>
        </p:nvPicPr>
        <p:blipFill rotWithShape="1">
          <a:blip r:embed="rId4">
            <a:alphaModFix/>
          </a:blip>
          <a:srcRect b="0" l="0" r="0" t="0"/>
          <a:stretch/>
        </p:blipFill>
        <p:spPr>
          <a:xfrm>
            <a:off x="7664450" y="153988"/>
            <a:ext cx="1338263" cy="1744662"/>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ppt_w</p:attrName>
                                        </p:attrNameLst>
                                      </p:cBhvr>
                                      <p:tavLst>
                                        <p:tav fmla="" tm="0">
                                          <p:val>
                                            <p:strVal val="0"/>
                                          </p:val>
                                        </p:tav>
                                        <p:tav fmla="" tm="100000">
                                          <p:val>
                                            <p:strVal val="#ppt_w"/>
                                          </p:val>
                                        </p:tav>
                                      </p:tavLst>
                                    </p:anim>
                                    <p:anim calcmode="lin" valueType="num">
                                      <p:cBhvr additive="base">
                                        <p:cTn dur="500"/>
                                        <p:tgtEl>
                                          <p:spTgt spid="17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Newton’s law of gravitation</a:t>
            </a:r>
            <a:r>
              <a:rPr lang="en-US" sz="2400">
                <a:solidFill>
                  <a:schemeClr val="accent2"/>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∙Newton spent much time developing integral calculus to prove that </a:t>
            </a:r>
            <a:endParaRPr/>
          </a:p>
          <a:p>
            <a:pPr indent="0" lvl="0" marL="0" marR="0" rtl="0" algn="l">
              <a:spcBef>
                <a:spcPts val="480"/>
              </a:spcBef>
              <a:spcAft>
                <a:spcPts val="0"/>
              </a:spcAft>
              <a:buNone/>
            </a:pPr>
            <a:r>
              <a:rPr lang="en-US" sz="2400">
                <a:solidFill>
                  <a:srgbClr val="009999"/>
                </a:solidFill>
                <a:latin typeface="Arial"/>
                <a:ea typeface="Arial"/>
                <a:cs typeface="Arial"/>
                <a:sym typeface="Arial"/>
              </a:rPr>
              <a:t>   “A</a:t>
            </a:r>
            <a:r>
              <a:rPr lang="en-US" sz="2400">
                <a:solidFill>
                  <a:srgbClr val="000000"/>
                </a:solidFill>
                <a:latin typeface="Arial"/>
                <a:ea typeface="Arial"/>
                <a:cs typeface="Arial"/>
                <a:sym typeface="Arial"/>
              </a:rPr>
              <a:t> </a:t>
            </a:r>
            <a:r>
              <a:rPr lang="en-US" sz="2400">
                <a:solidFill>
                  <a:schemeClr val="hlink"/>
                </a:solidFill>
                <a:latin typeface="Arial"/>
                <a:ea typeface="Arial"/>
                <a:cs typeface="Arial"/>
                <a:sym typeface="Arial"/>
              </a:rPr>
              <a:t>spherically symmetric shell of mass </a:t>
            </a:r>
            <a:r>
              <a:rPr i="1" lang="en-US" sz="2400">
                <a:solidFill>
                  <a:schemeClr val="hlink"/>
                </a:solidFill>
                <a:latin typeface="Arial"/>
                <a:ea typeface="Arial"/>
                <a:cs typeface="Arial"/>
                <a:sym typeface="Arial"/>
              </a:rPr>
              <a:t>M</a:t>
            </a:r>
            <a:r>
              <a:rPr lang="en-US" sz="2400">
                <a:solidFill>
                  <a:schemeClr val="hlink"/>
                </a:solidFill>
                <a:latin typeface="Arial"/>
                <a:ea typeface="Arial"/>
                <a:cs typeface="Arial"/>
                <a:sym typeface="Arial"/>
              </a:rPr>
              <a:t> acts as if all   	of its mass is located at its center</a:t>
            </a:r>
            <a:r>
              <a:rPr lang="en-US" sz="2400">
                <a:solidFill>
                  <a:srgbClr val="009999"/>
                </a:solidFill>
                <a:latin typeface="Arial"/>
                <a:ea typeface="Arial"/>
                <a:cs typeface="Arial"/>
                <a:sym typeface="Arial"/>
              </a:rPr>
              <a:t>.”</a:t>
            </a:r>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0"/>
              </a:spcBef>
              <a:spcAft>
                <a:spcPts val="0"/>
              </a:spcAft>
              <a:buNone/>
            </a:pPr>
            <a:r>
              <a:t/>
            </a:r>
            <a:endParaRPr sz="2400">
              <a:solidFill>
                <a:srgbClr val="000000"/>
              </a:solidFill>
              <a:latin typeface="Arial"/>
              <a:ea typeface="Arial"/>
              <a:cs typeface="Arial"/>
              <a:sym typeface="Arial"/>
            </a:endParaRPr>
          </a:p>
          <a:p>
            <a:pPr indent="0" lvl="0" marL="0" marR="0" rtl="0" algn="l">
              <a:spcBef>
                <a:spcPts val="0"/>
              </a:spcBef>
              <a:spcAft>
                <a:spcPts val="0"/>
              </a:spcAft>
              <a:buNone/>
            </a:pPr>
            <a:r>
              <a:rPr lang="en-US" sz="2400">
                <a:solidFill>
                  <a:srgbClr val="000000"/>
                </a:solidFill>
                <a:latin typeface="Arial"/>
                <a:ea typeface="Arial"/>
                <a:cs typeface="Arial"/>
                <a:sym typeface="Arial"/>
              </a:rPr>
              <a:t>∙Thus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1</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works not only for point masses, which have no radii, but for any spherically symmetric distribution of mass at any radius like planets and stars.</a:t>
            </a:r>
            <a:endParaRPr/>
          </a:p>
        </p:txBody>
      </p:sp>
      <p:grpSp>
        <p:nvGrpSpPr>
          <p:cNvPr id="185" name="Google Shape;185;p19"/>
          <p:cNvGrpSpPr/>
          <p:nvPr/>
        </p:nvGrpSpPr>
        <p:grpSpPr>
          <a:xfrm>
            <a:off x="6116638" y="4510088"/>
            <a:ext cx="438150" cy="438150"/>
            <a:chOff x="8283794" y="4636333"/>
            <a:chExt cx="480377" cy="480377"/>
          </a:xfrm>
        </p:grpSpPr>
        <p:sp>
          <p:nvSpPr>
            <p:cNvPr id="186" name="Google Shape;186;p19"/>
            <p:cNvSpPr/>
            <p:nvPr/>
          </p:nvSpPr>
          <p:spPr>
            <a:xfrm>
              <a:off x="8283794" y="4636333"/>
              <a:ext cx="480377" cy="480377"/>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87" name="Google Shape;187;p19"/>
            <p:cNvGrpSpPr/>
            <p:nvPr/>
          </p:nvGrpSpPr>
          <p:grpSpPr>
            <a:xfrm>
              <a:off x="8368860" y="4725601"/>
              <a:ext cx="347663" cy="333375"/>
              <a:chOff x="1344" y="2331"/>
              <a:chExt cx="219" cy="210"/>
            </a:xfrm>
          </p:grpSpPr>
          <p:cxnSp>
            <p:nvCxnSpPr>
              <p:cNvPr id="188" name="Google Shape;188;p19"/>
              <p:cNvCxnSpPr/>
              <p:nvPr/>
            </p:nvCxnSpPr>
            <p:spPr>
              <a:xfrm>
                <a:off x="1344" y="2423"/>
                <a:ext cx="219" cy="0"/>
              </a:xfrm>
              <a:prstGeom prst="straightConnector1">
                <a:avLst/>
              </a:prstGeom>
              <a:noFill/>
              <a:ln cap="flat" cmpd="sng" w="9525">
                <a:solidFill>
                  <a:schemeClr val="dk1"/>
                </a:solidFill>
                <a:prstDash val="solid"/>
                <a:round/>
                <a:headEnd len="med" w="med" type="none"/>
                <a:tailEnd len="med" w="med" type="none"/>
              </a:ln>
            </p:spPr>
          </p:cxnSp>
          <p:cxnSp>
            <p:nvCxnSpPr>
              <p:cNvPr id="189" name="Google Shape;189;p19"/>
              <p:cNvCxnSpPr/>
              <p:nvPr/>
            </p:nvCxnSpPr>
            <p:spPr>
              <a:xfrm>
                <a:off x="1445" y="2331"/>
                <a:ext cx="0" cy="210"/>
              </a:xfrm>
              <a:prstGeom prst="straightConnector1">
                <a:avLst/>
              </a:prstGeom>
              <a:noFill/>
              <a:ln cap="flat" cmpd="sng" w="9525">
                <a:solidFill>
                  <a:schemeClr val="dk1"/>
                </a:solidFill>
                <a:prstDash val="solid"/>
                <a:round/>
                <a:headEnd len="med" w="med" type="none"/>
                <a:tailEnd len="med" w="med" type="none"/>
              </a:ln>
            </p:spPr>
          </p:cxnSp>
        </p:grpSp>
      </p:grpSp>
      <p:sp>
        <p:nvSpPr>
          <p:cNvPr id="190" name="Google Shape;190;p19"/>
          <p:cNvSpPr/>
          <p:nvPr/>
        </p:nvSpPr>
        <p:spPr>
          <a:xfrm>
            <a:off x="1985963" y="3865563"/>
            <a:ext cx="1760537" cy="1760537"/>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19"/>
          <p:cNvSpPr/>
          <p:nvPr/>
        </p:nvSpPr>
        <p:spPr>
          <a:xfrm>
            <a:off x="2082126" y="3961083"/>
            <a:ext cx="1567528" cy="1567529"/>
          </a:xfrm>
          <a:prstGeom prst="ellipse">
            <a:avLst/>
          </a:prstGeom>
          <a:gradFill>
            <a:gsLst>
              <a:gs pos="0">
                <a:srgbClr val="666666"/>
              </a:gs>
              <a:gs pos="50000">
                <a:srgbClr val="949494"/>
              </a:gs>
              <a:gs pos="100000">
                <a:srgbClr val="B2B2B2"/>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1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193" name="Google Shape;193;p19"/>
          <p:cNvSpPr txBox="1"/>
          <p:nvPr/>
        </p:nvSpPr>
        <p:spPr>
          <a:xfrm>
            <a:off x="6403975" y="4176713"/>
            <a:ext cx="438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m</a:t>
            </a:r>
            <a:endParaRPr/>
          </a:p>
        </p:txBody>
      </p:sp>
      <p:sp>
        <p:nvSpPr>
          <p:cNvPr id="194" name="Google Shape;194;p19"/>
          <p:cNvSpPr txBox="1"/>
          <p:nvPr/>
        </p:nvSpPr>
        <p:spPr>
          <a:xfrm>
            <a:off x="3390900" y="3609975"/>
            <a:ext cx="438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M</a:t>
            </a:r>
            <a:endParaRPr/>
          </a:p>
        </p:txBody>
      </p:sp>
      <p:sp>
        <p:nvSpPr>
          <p:cNvPr id="195" name="Google Shape;195;p19"/>
          <p:cNvSpPr txBox="1"/>
          <p:nvPr/>
        </p:nvSpPr>
        <p:spPr>
          <a:xfrm>
            <a:off x="4437063" y="5314950"/>
            <a:ext cx="358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a:t>
            </a:r>
            <a:endParaRPr/>
          </a:p>
        </p:txBody>
      </p:sp>
      <p:grpSp>
        <p:nvGrpSpPr>
          <p:cNvPr id="196" name="Google Shape;196;p19"/>
          <p:cNvGrpSpPr/>
          <p:nvPr/>
        </p:nvGrpSpPr>
        <p:grpSpPr>
          <a:xfrm>
            <a:off x="2701925" y="4587875"/>
            <a:ext cx="347663" cy="333375"/>
            <a:chOff x="1344" y="2331"/>
            <a:chExt cx="219" cy="210"/>
          </a:xfrm>
        </p:grpSpPr>
        <p:cxnSp>
          <p:nvCxnSpPr>
            <p:cNvPr id="197" name="Google Shape;197;p19"/>
            <p:cNvCxnSpPr/>
            <p:nvPr/>
          </p:nvCxnSpPr>
          <p:spPr>
            <a:xfrm>
              <a:off x="1344" y="2423"/>
              <a:ext cx="219" cy="0"/>
            </a:xfrm>
            <a:prstGeom prst="straightConnector1">
              <a:avLst/>
            </a:prstGeom>
            <a:noFill/>
            <a:ln cap="flat" cmpd="sng" w="9525">
              <a:solidFill>
                <a:schemeClr val="dk1"/>
              </a:solidFill>
              <a:prstDash val="solid"/>
              <a:round/>
              <a:headEnd len="med" w="med" type="none"/>
              <a:tailEnd len="med" w="med" type="none"/>
            </a:ln>
          </p:spPr>
        </p:cxnSp>
        <p:cxnSp>
          <p:nvCxnSpPr>
            <p:cNvPr id="198" name="Google Shape;198;p19"/>
            <p:cNvCxnSpPr/>
            <p:nvPr/>
          </p:nvCxnSpPr>
          <p:spPr>
            <a:xfrm>
              <a:off x="1445" y="2331"/>
              <a:ext cx="0" cy="210"/>
            </a:xfrm>
            <a:prstGeom prst="straightConnector1">
              <a:avLst/>
            </a:prstGeom>
            <a:noFill/>
            <a:ln cap="flat" cmpd="sng" w="9525">
              <a:solidFill>
                <a:schemeClr val="dk1"/>
              </a:solidFill>
              <a:prstDash val="solid"/>
              <a:round/>
              <a:headEnd len="med" w="med" type="none"/>
              <a:tailEnd len="med" w="med" type="none"/>
            </a:ln>
          </p:spPr>
        </p:cxnSp>
      </p:grpSp>
      <p:sp>
        <p:nvSpPr>
          <p:cNvPr id="199" name="Google Shape;199;p19"/>
          <p:cNvSpPr txBox="1"/>
          <p:nvPr/>
        </p:nvSpPr>
        <p:spPr>
          <a:xfrm>
            <a:off x="4398963" y="3540125"/>
            <a:ext cx="4065587" cy="4572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chemeClr val="accent6"/>
                </a:solidFill>
                <a:latin typeface="Arial"/>
                <a:ea typeface="Arial"/>
                <a:cs typeface="Arial"/>
                <a:sym typeface="Arial"/>
              </a:rPr>
              <a:t>-Newton’s shell theorem.</a:t>
            </a:r>
            <a:endParaRPr/>
          </a:p>
        </p:txBody>
      </p:sp>
      <p:pic>
        <p:nvPicPr>
          <p:cNvPr descr="newton" id="200" name="Google Shape;200;p19"/>
          <p:cNvPicPr preferRelativeResize="0"/>
          <p:nvPr/>
        </p:nvPicPr>
        <p:blipFill rotWithShape="1">
          <a:blip r:embed="rId3">
            <a:alphaModFix/>
          </a:blip>
          <a:srcRect b="0" l="0" r="0" t="0"/>
          <a:stretch/>
        </p:blipFill>
        <p:spPr>
          <a:xfrm>
            <a:off x="7664450" y="153988"/>
            <a:ext cx="1338263" cy="1744662"/>
          </a:xfrm>
          <a:prstGeom prst="rect">
            <a:avLst/>
          </a:prstGeom>
          <a:noFill/>
          <a:ln>
            <a:noFill/>
          </a:ln>
          <a:effectLst>
            <a:outerShdw blurRad="292100" rotWithShape="0" algn="tl" dir="2700000" dist="139700">
              <a:srgbClr val="333333">
                <a:alpha val="64705"/>
              </a:srgbClr>
            </a:outerShdw>
          </a:effectLst>
        </p:spPr>
      </p:pic>
      <p:cxnSp>
        <p:nvCxnSpPr>
          <p:cNvPr id="201" name="Google Shape;201;p19"/>
          <p:cNvCxnSpPr/>
          <p:nvPr/>
        </p:nvCxnSpPr>
        <p:spPr>
          <a:xfrm>
            <a:off x="2860675" y="4733925"/>
            <a:ext cx="4354513" cy="0"/>
          </a:xfrm>
          <a:prstGeom prst="straightConnector1">
            <a:avLst/>
          </a:prstGeom>
          <a:noFill/>
          <a:ln cap="flat" cmpd="sng" w="28575">
            <a:solidFill>
              <a:srgbClr val="FF0000"/>
            </a:solidFill>
            <a:prstDash val="dash"/>
            <a:round/>
            <a:headEnd len="med" w="med" type="none"/>
            <a:tailEnd len="med" w="med" type="stealth"/>
          </a:ln>
        </p:spPr>
      </p:cxnSp>
      <p:sp>
        <p:nvSpPr>
          <p:cNvPr id="202" name="Google Shape;202;p19"/>
          <p:cNvSpPr/>
          <p:nvPr/>
        </p:nvSpPr>
        <p:spPr>
          <a:xfrm rot="-5400000">
            <a:off x="4364831" y="3288507"/>
            <a:ext cx="485775" cy="3484562"/>
          </a:xfrm>
          <a:prstGeom prst="leftBrace">
            <a:avLst>
              <a:gd fmla="val 59777"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txBox="1"/>
          <p:nvPr/>
        </p:nvSpPr>
        <p:spPr>
          <a:xfrm>
            <a:off x="2950482" y="4787894"/>
            <a:ext cx="3314460" cy="17174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ppt_w</p:attrName>
                                        </p:attrNameLst>
                                      </p:cBhvr>
                                      <p:tavLst>
                                        <p:tav fmla="" tm="0">
                                          <p:val>
                                            <p:strVal val="0"/>
                                          </p:val>
                                        </p:tav>
                                        <p:tav fmla="" tm="100000">
                                          <p:val>
                                            <p:strVal val="#ppt_w"/>
                                          </p:val>
                                        </p:tav>
                                      </p:tavLst>
                                    </p:anim>
                                    <p:anim calcmode="lin" valueType="num">
                                      <p:cBhvr additive="base">
                                        <p:cTn dur="500"/>
                                        <p:tgtEl>
                                          <p:spTgt spid="18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20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3000"/>
                                        <p:tgtEl>
                                          <p:spTgt spid="191"/>
                                        </p:tgtEl>
                                      </p:cBhvr>
                                    </p:animEffect>
                                    <p:set>
                                      <p:cBhvr>
                                        <p:cTn dur="1" fill="hold">
                                          <p:stCondLst>
                                            <p:cond delay="3000"/>
                                          </p:stCondLst>
                                        </p:cTn>
                                        <p:tgtEl>
                                          <p:spTgt spid="1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0"/>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force</a:t>
            </a:r>
            <a:r>
              <a:rPr lang="en-US" sz="2400">
                <a:solidFill>
                  <a:schemeClr val="accent2"/>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∙As we have said, the earth                                                      has four shells:</a:t>
            </a:r>
            <a:endParaRPr/>
          </a:p>
          <a:p>
            <a:pPr indent="0" lvl="0" marL="0" marR="0" rtl="0" algn="l">
              <a:spcBef>
                <a:spcPts val="480"/>
              </a:spcBef>
              <a:spcAft>
                <a:spcPts val="0"/>
              </a:spcAft>
              <a:buNone/>
            </a:pPr>
            <a:r>
              <a:t/>
            </a:r>
            <a:endParaRPr sz="2400">
              <a:solidFill>
                <a:srgbClr val="000000"/>
              </a:solidFill>
              <a:latin typeface="Arial"/>
              <a:ea typeface="Arial"/>
              <a:cs typeface="Arial"/>
              <a:sym typeface="Arial"/>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∙Assuming                                                                          that each shell is                                                                  symmetric, the gravitational force caused by that shell acts as though its mass is all concentrated at its center.</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∙The net force at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caused by the shells is given by</a:t>
            </a:r>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I</a:t>
            </a:r>
            <a:r>
              <a:rPr i="1" lang="en-US" sz="2400">
                <a:solidFill>
                  <a:schemeClr val="dk1"/>
                </a:solidFill>
                <a:latin typeface="Arial"/>
                <a:ea typeface="Arial"/>
                <a:cs typeface="Arial"/>
                <a:sym typeface="Arial"/>
              </a:rPr>
              <a:t>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O</a:t>
            </a:r>
            <a:r>
              <a:rPr i="1" lang="en-US" sz="2400">
                <a:solidFill>
                  <a:schemeClr val="dk1"/>
                </a:solidFill>
                <a:latin typeface="Arial"/>
                <a:ea typeface="Arial"/>
                <a:cs typeface="Arial"/>
                <a:sym typeface="Arial"/>
              </a:rPr>
              <a:t>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M</a:t>
            </a:r>
            <a:r>
              <a:rPr i="1" lang="en-US" sz="2400">
                <a:solidFill>
                  <a:schemeClr val="dk1"/>
                </a:solidFill>
                <a:latin typeface="Arial"/>
                <a:ea typeface="Arial"/>
                <a:cs typeface="Arial"/>
                <a:sym typeface="Arial"/>
              </a:rPr>
              <a:t>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C</a:t>
            </a:r>
            <a:r>
              <a:rPr i="1" lang="en-US" sz="2400">
                <a:solidFill>
                  <a:schemeClr val="dk1"/>
                </a:solidFill>
                <a:latin typeface="Arial"/>
                <a:ea typeface="Arial"/>
                <a:cs typeface="Arial"/>
                <a:sym typeface="Arial"/>
              </a:rPr>
              <a:t>m / r</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a:p>
            <a:pPr indent="0" lvl="0" marL="0" marR="0" rtl="0" algn="l">
              <a:spcBef>
                <a:spcPts val="30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I</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O</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C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m / r</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∙Thus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where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I</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O</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a:t>
            </a:r>
            <a:endParaRPr/>
          </a:p>
          <a:p>
            <a:pPr indent="0" lvl="0" marL="0" marR="0" rtl="0" algn="l">
              <a:spcBef>
                <a:spcPts val="300"/>
              </a:spcBef>
              <a:spcAft>
                <a:spcPts val="0"/>
              </a:spcAft>
              <a:buNone/>
            </a:pPr>
            <a:r>
              <a:rPr lang="en-US" sz="2400">
                <a:solidFill>
                  <a:srgbClr val="000000"/>
                </a:solidFill>
                <a:latin typeface="Arial"/>
                <a:ea typeface="Arial"/>
                <a:cs typeface="Arial"/>
                <a:sym typeface="Arial"/>
              </a:rPr>
              <a:t>∙Note that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is just the total mass of the earth.</a:t>
            </a:r>
            <a:endParaRPr sz="2400">
              <a:solidFill>
                <a:schemeClr val="dk1"/>
              </a:solidFill>
              <a:latin typeface="Arial"/>
              <a:ea typeface="Arial"/>
              <a:cs typeface="Arial"/>
              <a:sym typeface="Arial"/>
            </a:endParaRPr>
          </a:p>
        </p:txBody>
      </p:sp>
      <p:sp>
        <p:nvSpPr>
          <p:cNvPr id="210" name="Google Shape;210;p2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211" name="Google Shape;211;p20"/>
          <p:cNvSpPr/>
          <p:nvPr/>
        </p:nvSpPr>
        <p:spPr>
          <a:xfrm>
            <a:off x="5130800" y="2051050"/>
            <a:ext cx="1992313" cy="1992313"/>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20"/>
          <p:cNvSpPr/>
          <p:nvPr/>
        </p:nvSpPr>
        <p:spPr>
          <a:xfrm>
            <a:off x="5254625" y="2174875"/>
            <a:ext cx="1741488" cy="1741488"/>
          </a:xfrm>
          <a:prstGeom prst="ellipse">
            <a:avLst/>
          </a:prstGeom>
          <a:solidFill>
            <a:srgbClr val="FFFF99"/>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20"/>
          <p:cNvSpPr/>
          <p:nvPr/>
        </p:nvSpPr>
        <p:spPr>
          <a:xfrm>
            <a:off x="5799138" y="2719388"/>
            <a:ext cx="652462" cy="652462"/>
          </a:xfrm>
          <a:prstGeom prst="ellipse">
            <a:avLst/>
          </a:prstGeom>
          <a:solidFill>
            <a:srgbClr val="C0C0C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20"/>
          <p:cNvSpPr/>
          <p:nvPr/>
        </p:nvSpPr>
        <p:spPr>
          <a:xfrm>
            <a:off x="5965825" y="2873375"/>
            <a:ext cx="333375" cy="333375"/>
          </a:xfrm>
          <a:prstGeom prst="ellipse">
            <a:avLst/>
          </a:prstGeom>
          <a:gradFill>
            <a:gsLst>
              <a:gs pos="0">
                <a:schemeClr val="lt2"/>
              </a:gs>
              <a:gs pos="100000">
                <a:srgbClr val="5A5A5A"/>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15" name="Google Shape;215;p20"/>
          <p:cNvGrpSpPr/>
          <p:nvPr/>
        </p:nvGrpSpPr>
        <p:grpSpPr>
          <a:xfrm>
            <a:off x="6037263" y="2955925"/>
            <a:ext cx="203200" cy="195263"/>
            <a:chOff x="1344" y="2331"/>
            <a:chExt cx="219" cy="210"/>
          </a:xfrm>
        </p:grpSpPr>
        <p:cxnSp>
          <p:nvCxnSpPr>
            <p:cNvPr id="216" name="Google Shape;216;p20"/>
            <p:cNvCxnSpPr/>
            <p:nvPr/>
          </p:nvCxnSpPr>
          <p:spPr>
            <a:xfrm>
              <a:off x="1344" y="2423"/>
              <a:ext cx="219" cy="0"/>
            </a:xfrm>
            <a:prstGeom prst="straightConnector1">
              <a:avLst/>
            </a:prstGeom>
            <a:noFill/>
            <a:ln cap="flat" cmpd="sng" w="9525">
              <a:solidFill>
                <a:schemeClr val="lt1"/>
              </a:solidFill>
              <a:prstDash val="solid"/>
              <a:round/>
              <a:headEnd len="med" w="med" type="none"/>
              <a:tailEnd len="med" w="med" type="none"/>
            </a:ln>
          </p:spPr>
        </p:cxnSp>
        <p:cxnSp>
          <p:nvCxnSpPr>
            <p:cNvPr id="217" name="Google Shape;217;p20"/>
            <p:cNvCxnSpPr/>
            <p:nvPr/>
          </p:nvCxnSpPr>
          <p:spPr>
            <a:xfrm>
              <a:off x="1445" y="2331"/>
              <a:ext cx="0" cy="210"/>
            </a:xfrm>
            <a:prstGeom prst="straightConnector1">
              <a:avLst/>
            </a:prstGeom>
            <a:noFill/>
            <a:ln cap="flat" cmpd="sng" w="9525">
              <a:solidFill>
                <a:schemeClr val="lt1"/>
              </a:solidFill>
              <a:prstDash val="solid"/>
              <a:round/>
              <a:headEnd len="med" w="med" type="none"/>
              <a:tailEnd len="med" w="med" type="none"/>
            </a:ln>
          </p:spPr>
        </p:cxnSp>
      </p:grpSp>
      <p:sp>
        <p:nvSpPr>
          <p:cNvPr id="218" name="Google Shape;218;p20"/>
          <p:cNvSpPr/>
          <p:nvPr/>
        </p:nvSpPr>
        <p:spPr>
          <a:xfrm>
            <a:off x="6457950" y="2054225"/>
            <a:ext cx="1333500" cy="128588"/>
          </a:xfrm>
          <a:custGeom>
            <a:rect b="b" l="l" r="r" t="t"/>
            <a:pathLst>
              <a:path extrusionOk="0" h="89" w="484">
                <a:moveTo>
                  <a:pt x="484" y="0"/>
                </a:moveTo>
                <a:lnTo>
                  <a:pt x="155" y="0"/>
                </a:lnTo>
                <a:lnTo>
                  <a:pt x="0" y="89"/>
                </a:lnTo>
              </a:path>
            </a:pathLst>
          </a:custGeom>
          <a:noFill/>
          <a:ln cap="flat" cmpd="sng" w="9525">
            <a:solidFill>
              <a:schemeClr val="dk1"/>
            </a:solidFill>
            <a:prstDash val="solid"/>
            <a:round/>
            <a:headEnd len="sm" w="sm" type="none"/>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19" name="Google Shape;219;p20"/>
          <p:cNvCxnSpPr/>
          <p:nvPr/>
        </p:nvCxnSpPr>
        <p:spPr>
          <a:xfrm flipH="1">
            <a:off x="6427788" y="2419350"/>
            <a:ext cx="1189037" cy="1588"/>
          </a:xfrm>
          <a:prstGeom prst="straightConnector1">
            <a:avLst/>
          </a:prstGeom>
          <a:noFill/>
          <a:ln cap="flat" cmpd="sng" w="9525">
            <a:solidFill>
              <a:schemeClr val="dk1"/>
            </a:solidFill>
            <a:prstDash val="solid"/>
            <a:round/>
            <a:headEnd len="med" w="med" type="none"/>
            <a:tailEnd len="med" w="med" type="stealth"/>
          </a:ln>
        </p:spPr>
      </p:cxnSp>
      <p:cxnSp>
        <p:nvCxnSpPr>
          <p:cNvPr id="220" name="Google Shape;220;p20"/>
          <p:cNvCxnSpPr/>
          <p:nvPr/>
        </p:nvCxnSpPr>
        <p:spPr>
          <a:xfrm flipH="1">
            <a:off x="6159500" y="2789238"/>
            <a:ext cx="1017588" cy="1587"/>
          </a:xfrm>
          <a:prstGeom prst="straightConnector1">
            <a:avLst/>
          </a:prstGeom>
          <a:noFill/>
          <a:ln cap="flat" cmpd="sng" w="9525">
            <a:solidFill>
              <a:schemeClr val="dk1"/>
            </a:solidFill>
            <a:prstDash val="solid"/>
            <a:round/>
            <a:headEnd len="med" w="med" type="none"/>
            <a:tailEnd len="med" w="med" type="stealth"/>
          </a:ln>
        </p:spPr>
      </p:cxnSp>
      <p:cxnSp>
        <p:nvCxnSpPr>
          <p:cNvPr id="221" name="Google Shape;221;p20"/>
          <p:cNvCxnSpPr/>
          <p:nvPr/>
        </p:nvCxnSpPr>
        <p:spPr>
          <a:xfrm flipH="1">
            <a:off x="6196013" y="3132138"/>
            <a:ext cx="1006475" cy="1587"/>
          </a:xfrm>
          <a:prstGeom prst="straightConnector1">
            <a:avLst/>
          </a:prstGeom>
          <a:noFill/>
          <a:ln cap="flat" cmpd="sng" w="9525">
            <a:solidFill>
              <a:schemeClr val="dk1"/>
            </a:solidFill>
            <a:prstDash val="solid"/>
            <a:round/>
            <a:headEnd len="med" w="med" type="none"/>
            <a:tailEnd len="med" w="med" type="stealth"/>
          </a:ln>
        </p:spPr>
      </p:cxnSp>
      <p:sp>
        <p:nvSpPr>
          <p:cNvPr id="222" name="Google Shape;222;p20"/>
          <p:cNvSpPr txBox="1"/>
          <p:nvPr/>
        </p:nvSpPr>
        <p:spPr>
          <a:xfrm>
            <a:off x="7145338" y="2909888"/>
            <a:ext cx="21542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inner core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I</a:t>
            </a:r>
            <a:endParaRPr/>
          </a:p>
        </p:txBody>
      </p:sp>
      <p:sp>
        <p:nvSpPr>
          <p:cNvPr id="223" name="Google Shape;223;p20"/>
          <p:cNvSpPr txBox="1"/>
          <p:nvPr/>
        </p:nvSpPr>
        <p:spPr>
          <a:xfrm>
            <a:off x="7132638" y="2541588"/>
            <a:ext cx="2190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outer core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O</a:t>
            </a:r>
            <a:endParaRPr/>
          </a:p>
        </p:txBody>
      </p:sp>
      <p:sp>
        <p:nvSpPr>
          <p:cNvPr id="224" name="Google Shape;224;p20"/>
          <p:cNvSpPr txBox="1"/>
          <p:nvPr/>
        </p:nvSpPr>
        <p:spPr>
          <a:xfrm>
            <a:off x="7570788" y="2159000"/>
            <a:ext cx="17907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mantle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M</a:t>
            </a:r>
            <a:endParaRPr sz="2400">
              <a:solidFill>
                <a:schemeClr val="hlink"/>
              </a:solidFill>
              <a:latin typeface="Arial"/>
              <a:ea typeface="Arial"/>
              <a:cs typeface="Arial"/>
              <a:sym typeface="Arial"/>
            </a:endParaRPr>
          </a:p>
        </p:txBody>
      </p:sp>
      <p:sp>
        <p:nvSpPr>
          <p:cNvPr id="225" name="Google Shape;225;p20"/>
          <p:cNvSpPr txBox="1"/>
          <p:nvPr/>
        </p:nvSpPr>
        <p:spPr>
          <a:xfrm>
            <a:off x="7839075" y="1803400"/>
            <a:ext cx="16208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crust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C</a:t>
            </a:r>
            <a:endParaRPr sz="2400">
              <a:solidFill>
                <a:schemeClr val="hlink"/>
              </a:solidFill>
              <a:latin typeface="Arial"/>
              <a:ea typeface="Arial"/>
              <a:cs typeface="Arial"/>
              <a:sym typeface="Arial"/>
            </a:endParaRPr>
          </a:p>
        </p:txBody>
      </p:sp>
      <p:sp>
        <p:nvSpPr>
          <p:cNvPr id="226" name="Google Shape;226;p20"/>
          <p:cNvSpPr txBox="1"/>
          <p:nvPr/>
        </p:nvSpPr>
        <p:spPr>
          <a:xfrm>
            <a:off x="2628900" y="2636838"/>
            <a:ext cx="438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m</a:t>
            </a:r>
            <a:endParaRPr/>
          </a:p>
        </p:txBody>
      </p:sp>
      <p:cxnSp>
        <p:nvCxnSpPr>
          <p:cNvPr id="227" name="Google Shape;227;p20"/>
          <p:cNvCxnSpPr/>
          <p:nvPr/>
        </p:nvCxnSpPr>
        <p:spPr>
          <a:xfrm>
            <a:off x="1770063" y="3055938"/>
            <a:ext cx="4354512" cy="0"/>
          </a:xfrm>
          <a:prstGeom prst="straightConnector1">
            <a:avLst/>
          </a:prstGeom>
          <a:noFill/>
          <a:ln cap="flat" cmpd="sng" w="28575">
            <a:solidFill>
              <a:srgbClr val="FF0000"/>
            </a:solidFill>
            <a:prstDash val="dash"/>
            <a:round/>
            <a:headEnd len="med" w="med" type="stealth"/>
            <a:tailEnd len="med" w="med" type="none"/>
          </a:ln>
        </p:spPr>
      </p:cxnSp>
      <p:sp>
        <p:nvSpPr>
          <p:cNvPr id="228" name="Google Shape;228;p20"/>
          <p:cNvSpPr txBox="1"/>
          <p:nvPr/>
        </p:nvSpPr>
        <p:spPr>
          <a:xfrm>
            <a:off x="4198938" y="3500438"/>
            <a:ext cx="358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a:t>
            </a:r>
            <a:endParaRPr/>
          </a:p>
        </p:txBody>
      </p:sp>
      <p:sp>
        <p:nvSpPr>
          <p:cNvPr id="229" name="Google Shape;229;p20"/>
          <p:cNvSpPr/>
          <p:nvPr/>
        </p:nvSpPr>
        <p:spPr>
          <a:xfrm>
            <a:off x="2520950" y="2955925"/>
            <a:ext cx="150813" cy="150813"/>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20"/>
          <p:cNvSpPr/>
          <p:nvPr/>
        </p:nvSpPr>
        <p:spPr>
          <a:xfrm rot="-5400000">
            <a:off x="4093369" y="1554956"/>
            <a:ext cx="522288" cy="3521075"/>
          </a:xfrm>
          <a:prstGeom prst="leftBrace">
            <a:avLst>
              <a:gd fmla="val 5618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txBox="1"/>
          <p:nvPr/>
        </p:nvSpPr>
        <p:spPr>
          <a:xfrm>
            <a:off x="2679898" y="3054343"/>
            <a:ext cx="3349193" cy="18465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 calcmode="lin" valueType="num">
                                      <p:cBhvr additive="base">
                                        <p:cTn dur="500"/>
                                        <p:tgtEl>
                                          <p:spTgt spid="2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 calcmode="lin" valueType="num">
                                      <p:cBhvr additive="base">
                                        <p:cTn dur="500"/>
                                        <p:tgtEl>
                                          <p:spTgt spid="2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 calcmode="lin" valueType="num">
                                      <p:cBhvr additive="base">
                                        <p:cTn dur="500"/>
                                        <p:tgtEl>
                                          <p:spTgt spid="2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 calcmode="lin" valueType="num">
                                      <p:cBhvr additive="base">
                                        <p:cTn dur="500"/>
                                        <p:tgtEl>
                                          <p:spTgt spid="2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 calcmode="lin" valueType="num">
                                      <p:cBhvr additive="base">
                                        <p:cTn dur="500"/>
                                        <p:tgtEl>
                                          <p:spTgt spid="2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 calcmode="lin" valueType="num">
                                      <p:cBhvr additive="base">
                                        <p:cTn dur="500"/>
                                        <p:tgtEl>
                                          <p:spTgt spid="20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 calcmode="lin" valueType="num">
                                      <p:cBhvr additive="base">
                                        <p:cTn dur="500"/>
                                        <p:tgtEl>
                                          <p:spTgt spid="20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anim calcmode="lin" valueType="num">
                                      <p:cBhvr additive="base">
                                        <p:cTn dur="500"/>
                                        <p:tgtEl>
                                          <p:spTgt spid="20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anim calcmode="lin" valueType="num">
                                      <p:cBhvr additive="base">
                                        <p:cTn dur="500"/>
                                        <p:tgtEl>
                                          <p:spTgt spid="20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500"/>
                                        <p:tgtEl>
                                          <p:spTgt spid="2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2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20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p:nvPr/>
        </p:nvSpPr>
        <p:spPr>
          <a:xfrm>
            <a:off x="674688" y="3673475"/>
            <a:ext cx="7772400" cy="31845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The earth has a mass of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5.98×10</a:t>
            </a:r>
            <a:r>
              <a:rPr baseline="30000" lang="en-US" sz="2400">
                <a:solidFill>
                  <a:schemeClr val="dk1"/>
                </a:solidFill>
                <a:latin typeface="Arial"/>
                <a:ea typeface="Arial"/>
                <a:cs typeface="Arial"/>
                <a:sym typeface="Arial"/>
              </a:rPr>
              <a:t>24</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 and the moon has a mass of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7.36×10</a:t>
            </a:r>
            <a:r>
              <a:rPr baseline="30000" lang="en-US" sz="2400">
                <a:solidFill>
                  <a:schemeClr val="dk1"/>
                </a:solidFill>
                <a:latin typeface="Arial"/>
                <a:ea typeface="Arial"/>
                <a:cs typeface="Arial"/>
                <a:sym typeface="Arial"/>
              </a:rPr>
              <a:t>22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 The mean distance between the earth and the moon is 3.82×10</a:t>
            </a:r>
            <a:r>
              <a:rPr baseline="30000" lang="en-US" sz="2400">
                <a:solidFill>
                  <a:schemeClr val="dk1"/>
                </a:solidFill>
                <a:latin typeface="Arial"/>
                <a:ea typeface="Arial"/>
                <a:cs typeface="Arial"/>
                <a:sym typeface="Arial"/>
              </a:rPr>
              <a:t>8</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What is the gravitational force between them?</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(6.67×10</a:t>
            </a:r>
            <a:r>
              <a:rPr baseline="30000" lang="en-US" sz="2400">
                <a:solidFill>
                  <a:schemeClr val="dk1"/>
                </a:solidFill>
                <a:latin typeface="Arial"/>
                <a:ea typeface="Arial"/>
                <a:cs typeface="Arial"/>
                <a:sym typeface="Arial"/>
              </a:rPr>
              <a:t>−11</a:t>
            </a:r>
            <a:r>
              <a:rPr lang="en-US" sz="2400">
                <a:solidFill>
                  <a:schemeClr val="dk1"/>
                </a:solidFill>
                <a:latin typeface="Arial"/>
                <a:ea typeface="Arial"/>
                <a:cs typeface="Arial"/>
                <a:sym typeface="Arial"/>
              </a:rPr>
              <a:t>)(5.98×10</a:t>
            </a:r>
            <a:r>
              <a:rPr baseline="30000" lang="en-US" sz="2400">
                <a:solidFill>
                  <a:schemeClr val="dk1"/>
                </a:solidFill>
                <a:latin typeface="Arial"/>
                <a:ea typeface="Arial"/>
                <a:cs typeface="Arial"/>
                <a:sym typeface="Arial"/>
              </a:rPr>
              <a:t>24</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)(7.36×10</a:t>
            </a:r>
            <a:r>
              <a:rPr baseline="30000" lang="en-US" sz="2400">
                <a:solidFill>
                  <a:schemeClr val="dk1"/>
                </a:solidFill>
                <a:latin typeface="Arial"/>
                <a:ea typeface="Arial"/>
                <a:cs typeface="Arial"/>
                <a:sym typeface="Arial"/>
              </a:rPr>
              <a:t>22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(3.82×10</a:t>
            </a:r>
            <a:r>
              <a:rPr baseline="30000" lang="en-US" sz="2400">
                <a:solidFill>
                  <a:schemeClr val="dk1"/>
                </a:solidFill>
                <a:latin typeface="Arial"/>
                <a:ea typeface="Arial"/>
                <a:cs typeface="Arial"/>
                <a:sym typeface="Arial"/>
              </a:rPr>
              <a:t>8</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2.01×10</a:t>
            </a:r>
            <a:r>
              <a:rPr baseline="30000" lang="en-US" sz="2400">
                <a:solidFill>
                  <a:schemeClr val="dk1"/>
                </a:solidFill>
                <a:latin typeface="Arial"/>
                <a:ea typeface="Arial"/>
                <a:cs typeface="Arial"/>
                <a:sym typeface="Arial"/>
              </a:rPr>
              <a:t>20</a:t>
            </a:r>
            <a:r>
              <a:rPr lang="en-US" sz="2400">
                <a:solidFill>
                  <a:schemeClr val="dk1"/>
                </a:solidFill>
                <a:latin typeface="Arial"/>
                <a:ea typeface="Arial"/>
                <a:cs typeface="Arial"/>
                <a:sym typeface="Arial"/>
              </a:rPr>
              <a:t> N.</a:t>
            </a:r>
            <a:r>
              <a:rPr baseline="-25000" lang="en-US" sz="2400">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sp>
        <p:nvSpPr>
          <p:cNvPr id="238" name="Google Shape;238;p21"/>
          <p:cNvSpPr/>
          <p:nvPr/>
        </p:nvSpPr>
        <p:spPr>
          <a:xfrm>
            <a:off x="685800" y="1549400"/>
            <a:ext cx="7772400" cy="21431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force</a:t>
            </a:r>
            <a:endParaRPr sz="2000">
              <a:solidFill>
                <a:srgbClr val="000000"/>
              </a:solidFill>
              <a:latin typeface="Courier New"/>
              <a:ea typeface="Courier New"/>
              <a:cs typeface="Courier New"/>
              <a:sym typeface="Courier New"/>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∙Be very clear that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is the </a:t>
            </a:r>
            <a:r>
              <a:rPr b="1" lang="en-US" sz="2400">
                <a:solidFill>
                  <a:srgbClr val="000000"/>
                </a:solidFill>
                <a:latin typeface="Arial"/>
                <a:ea typeface="Arial"/>
                <a:cs typeface="Arial"/>
                <a:sym typeface="Arial"/>
              </a:rPr>
              <a:t>distance between the centers</a:t>
            </a:r>
            <a:r>
              <a:rPr lang="en-US" sz="2400">
                <a:solidFill>
                  <a:srgbClr val="000000"/>
                </a:solidFill>
                <a:latin typeface="Arial"/>
                <a:ea typeface="Arial"/>
                <a:cs typeface="Arial"/>
                <a:sym typeface="Arial"/>
              </a:rPr>
              <a:t> of the masses.	</a:t>
            </a:r>
            <a:endParaRPr/>
          </a:p>
        </p:txBody>
      </p:sp>
      <p:cxnSp>
        <p:nvCxnSpPr>
          <p:cNvPr id="239" name="Google Shape;239;p21"/>
          <p:cNvCxnSpPr/>
          <p:nvPr/>
        </p:nvCxnSpPr>
        <p:spPr>
          <a:xfrm>
            <a:off x="696913" y="3000375"/>
            <a:ext cx="4441825" cy="0"/>
          </a:xfrm>
          <a:prstGeom prst="straightConnector1">
            <a:avLst/>
          </a:prstGeom>
          <a:noFill/>
          <a:ln cap="flat" cmpd="sng" w="9525">
            <a:solidFill>
              <a:schemeClr val="dk1"/>
            </a:solidFill>
            <a:prstDash val="dashDot"/>
            <a:round/>
            <a:headEnd len="med" w="med" type="none"/>
            <a:tailEnd len="med" w="med" type="none"/>
          </a:ln>
        </p:spPr>
      </p:cxnSp>
      <p:sp>
        <p:nvSpPr>
          <p:cNvPr id="240" name="Google Shape;240;p2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241" name="Google Shape;241;p21"/>
          <p:cNvGrpSpPr/>
          <p:nvPr/>
        </p:nvGrpSpPr>
        <p:grpSpPr>
          <a:xfrm>
            <a:off x="760413" y="2703513"/>
            <a:ext cx="749300" cy="603250"/>
            <a:chOff x="1668" y="3371"/>
            <a:chExt cx="361" cy="291"/>
          </a:xfrm>
        </p:grpSpPr>
        <p:sp>
          <p:nvSpPr>
            <p:cNvPr id="242" name="Google Shape;242;p21"/>
            <p:cNvSpPr/>
            <p:nvPr/>
          </p:nvSpPr>
          <p:spPr>
            <a:xfrm>
              <a:off x="1691" y="3392"/>
              <a:ext cx="219" cy="219"/>
            </a:xfrm>
            <a:prstGeom prst="ellipse">
              <a:avLst/>
            </a:prstGeom>
            <a:gradFill>
              <a:gsLst>
                <a:gs pos="0">
                  <a:srgbClr val="C0C0C0"/>
                </a:gs>
                <a:gs pos="100000">
                  <a:srgbClr val="595959"/>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3" name="Google Shape;243;p21"/>
            <p:cNvSpPr txBox="1"/>
            <p:nvPr/>
          </p:nvSpPr>
          <p:spPr>
            <a:xfrm>
              <a:off x="1668" y="3371"/>
              <a:ext cx="36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lt1"/>
                  </a:solidFill>
                  <a:latin typeface="Arial"/>
                  <a:ea typeface="Arial"/>
                  <a:cs typeface="Arial"/>
                  <a:sym typeface="Arial"/>
                </a:rPr>
                <a:t>m</a:t>
              </a:r>
              <a:r>
                <a:rPr baseline="-25000" lang="en-US" sz="2400">
                  <a:solidFill>
                    <a:schemeClr val="lt1"/>
                  </a:solidFill>
                  <a:latin typeface="Arial"/>
                  <a:ea typeface="Arial"/>
                  <a:cs typeface="Arial"/>
                  <a:sym typeface="Arial"/>
                </a:rPr>
                <a:t>1</a:t>
              </a:r>
              <a:endParaRPr i="1" sz="2400">
                <a:solidFill>
                  <a:schemeClr val="lt1"/>
                </a:solidFill>
                <a:latin typeface="Arial"/>
                <a:ea typeface="Arial"/>
                <a:cs typeface="Arial"/>
                <a:sym typeface="Arial"/>
              </a:endParaRPr>
            </a:p>
          </p:txBody>
        </p:sp>
      </p:grpSp>
      <p:grpSp>
        <p:nvGrpSpPr>
          <p:cNvPr id="244" name="Google Shape;244;p21"/>
          <p:cNvGrpSpPr/>
          <p:nvPr/>
        </p:nvGrpSpPr>
        <p:grpSpPr>
          <a:xfrm>
            <a:off x="4541838" y="2714625"/>
            <a:ext cx="573087" cy="511175"/>
            <a:chOff x="2918" y="3348"/>
            <a:chExt cx="361" cy="322"/>
          </a:xfrm>
        </p:grpSpPr>
        <p:sp>
          <p:nvSpPr>
            <p:cNvPr id="245" name="Google Shape;245;p21"/>
            <p:cNvSpPr/>
            <p:nvPr/>
          </p:nvSpPr>
          <p:spPr>
            <a:xfrm>
              <a:off x="2939" y="3387"/>
              <a:ext cx="283" cy="283"/>
            </a:xfrm>
            <a:prstGeom prst="ellipse">
              <a:avLst/>
            </a:prstGeom>
            <a:gradFill>
              <a:gsLst>
                <a:gs pos="0">
                  <a:srgbClr val="C0C0C0"/>
                </a:gs>
                <a:gs pos="100000">
                  <a:srgbClr val="595959"/>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6" name="Google Shape;246;p21"/>
            <p:cNvSpPr txBox="1"/>
            <p:nvPr/>
          </p:nvSpPr>
          <p:spPr>
            <a:xfrm>
              <a:off x="2918" y="3348"/>
              <a:ext cx="36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lt1"/>
                  </a:solidFill>
                  <a:latin typeface="Arial"/>
                  <a:ea typeface="Arial"/>
                  <a:cs typeface="Arial"/>
                  <a:sym typeface="Arial"/>
                </a:rPr>
                <a:t>m</a:t>
              </a:r>
              <a:r>
                <a:rPr baseline="-25000" lang="en-US" sz="2400">
                  <a:solidFill>
                    <a:schemeClr val="lt1"/>
                  </a:solidFill>
                  <a:latin typeface="Arial"/>
                  <a:ea typeface="Arial"/>
                  <a:cs typeface="Arial"/>
                  <a:sym typeface="Arial"/>
                </a:rPr>
                <a:t>2</a:t>
              </a:r>
              <a:endParaRPr i="1" sz="2400">
                <a:solidFill>
                  <a:schemeClr val="lt1"/>
                </a:solidFill>
                <a:latin typeface="Arial"/>
                <a:ea typeface="Arial"/>
                <a:cs typeface="Arial"/>
                <a:sym typeface="Arial"/>
              </a:endParaRPr>
            </a:p>
          </p:txBody>
        </p:sp>
      </p:grpSp>
      <p:cxnSp>
        <p:nvCxnSpPr>
          <p:cNvPr id="247" name="Google Shape;247;p21"/>
          <p:cNvCxnSpPr/>
          <p:nvPr/>
        </p:nvCxnSpPr>
        <p:spPr>
          <a:xfrm>
            <a:off x="1025525" y="3478213"/>
            <a:ext cx="3817938" cy="0"/>
          </a:xfrm>
          <a:prstGeom prst="straightConnector1">
            <a:avLst/>
          </a:prstGeom>
          <a:noFill/>
          <a:ln cap="flat" cmpd="sng" w="28575">
            <a:solidFill>
              <a:srgbClr val="FF3300"/>
            </a:solidFill>
            <a:prstDash val="solid"/>
            <a:round/>
            <a:headEnd len="med" w="med" type="stealth"/>
            <a:tailEnd len="med" w="med" type="stealth"/>
          </a:ln>
        </p:spPr>
      </p:cxnSp>
      <p:cxnSp>
        <p:nvCxnSpPr>
          <p:cNvPr id="248" name="Google Shape;248;p21"/>
          <p:cNvCxnSpPr/>
          <p:nvPr/>
        </p:nvCxnSpPr>
        <p:spPr>
          <a:xfrm rot="10800000">
            <a:off x="1039813" y="3232150"/>
            <a:ext cx="0" cy="246063"/>
          </a:xfrm>
          <a:prstGeom prst="straightConnector1">
            <a:avLst/>
          </a:prstGeom>
          <a:noFill/>
          <a:ln cap="flat" cmpd="sng" w="9525">
            <a:solidFill>
              <a:srgbClr val="FF3300"/>
            </a:solidFill>
            <a:prstDash val="solid"/>
            <a:round/>
            <a:headEnd len="med" w="med" type="none"/>
            <a:tailEnd len="med" w="med" type="none"/>
          </a:ln>
        </p:spPr>
      </p:cxnSp>
      <p:cxnSp>
        <p:nvCxnSpPr>
          <p:cNvPr id="249" name="Google Shape;249;p21"/>
          <p:cNvCxnSpPr/>
          <p:nvPr/>
        </p:nvCxnSpPr>
        <p:spPr>
          <a:xfrm rot="10800000">
            <a:off x="4822825" y="3224213"/>
            <a:ext cx="0" cy="246062"/>
          </a:xfrm>
          <a:prstGeom prst="straightConnector1">
            <a:avLst/>
          </a:prstGeom>
          <a:noFill/>
          <a:ln cap="flat" cmpd="sng" w="9525">
            <a:solidFill>
              <a:srgbClr val="FF3300"/>
            </a:solidFill>
            <a:prstDash val="solid"/>
            <a:round/>
            <a:headEnd len="med" w="med" type="none"/>
            <a:tailEnd len="med" w="med" type="none"/>
          </a:ln>
        </p:spPr>
      </p:cxnSp>
      <p:sp>
        <p:nvSpPr>
          <p:cNvPr id="250" name="Google Shape;250;p21"/>
          <p:cNvSpPr txBox="1"/>
          <p:nvPr/>
        </p:nvSpPr>
        <p:spPr>
          <a:xfrm>
            <a:off x="2740025" y="3233738"/>
            <a:ext cx="285750" cy="457200"/>
          </a:xfrm>
          <a:prstGeom prst="rect">
            <a:avLst/>
          </a:prstGeom>
          <a:solidFill>
            <a:srgbClr val="EAEAEA"/>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rgbClr val="FF3300"/>
                </a:solidFill>
                <a:latin typeface="Arial"/>
                <a:ea typeface="Arial"/>
                <a:cs typeface="Arial"/>
                <a:sym typeface="Arial"/>
              </a:rPr>
              <a:t>r</a:t>
            </a:r>
            <a:endParaRPr/>
          </a:p>
        </p:txBody>
      </p:sp>
      <p:cxnSp>
        <p:nvCxnSpPr>
          <p:cNvPr id="251" name="Google Shape;251;p21"/>
          <p:cNvCxnSpPr/>
          <p:nvPr/>
        </p:nvCxnSpPr>
        <p:spPr>
          <a:xfrm>
            <a:off x="1363663" y="3000375"/>
            <a:ext cx="900112" cy="0"/>
          </a:xfrm>
          <a:prstGeom prst="straightConnector1">
            <a:avLst/>
          </a:prstGeom>
          <a:noFill/>
          <a:ln cap="flat" cmpd="sng" w="57150">
            <a:solidFill>
              <a:srgbClr val="33CC33"/>
            </a:solidFill>
            <a:prstDash val="solid"/>
            <a:round/>
            <a:headEnd len="med" w="med" type="none"/>
            <a:tailEnd len="med" w="med" type="stealth"/>
          </a:ln>
        </p:spPr>
      </p:cxnSp>
      <p:sp>
        <p:nvSpPr>
          <p:cNvPr id="252" name="Google Shape;252;p21"/>
          <p:cNvSpPr txBox="1"/>
          <p:nvPr/>
        </p:nvSpPr>
        <p:spPr>
          <a:xfrm>
            <a:off x="2109788" y="2992438"/>
            <a:ext cx="5953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CC33"/>
                </a:solidFill>
                <a:latin typeface="Arial"/>
                <a:ea typeface="Arial"/>
                <a:cs typeface="Arial"/>
                <a:sym typeface="Arial"/>
              </a:rPr>
              <a:t>F</a:t>
            </a:r>
            <a:r>
              <a:rPr baseline="-25000" lang="en-US" sz="2400">
                <a:solidFill>
                  <a:srgbClr val="33CC33"/>
                </a:solidFill>
                <a:latin typeface="Arial"/>
                <a:ea typeface="Arial"/>
                <a:cs typeface="Arial"/>
                <a:sym typeface="Arial"/>
              </a:rPr>
              <a:t>12</a:t>
            </a:r>
            <a:endParaRPr sz="2400">
              <a:solidFill>
                <a:srgbClr val="33CC33"/>
              </a:solidFill>
              <a:latin typeface="Arial"/>
              <a:ea typeface="Arial"/>
              <a:cs typeface="Arial"/>
              <a:sym typeface="Arial"/>
            </a:endParaRPr>
          </a:p>
        </p:txBody>
      </p:sp>
      <p:cxnSp>
        <p:nvCxnSpPr>
          <p:cNvPr id="253" name="Google Shape;253;p21"/>
          <p:cNvCxnSpPr/>
          <p:nvPr/>
        </p:nvCxnSpPr>
        <p:spPr>
          <a:xfrm>
            <a:off x="3568700" y="2992438"/>
            <a:ext cx="900113" cy="0"/>
          </a:xfrm>
          <a:prstGeom prst="straightConnector1">
            <a:avLst/>
          </a:prstGeom>
          <a:noFill/>
          <a:ln cap="flat" cmpd="sng" w="57150">
            <a:solidFill>
              <a:srgbClr val="33CC33"/>
            </a:solidFill>
            <a:prstDash val="solid"/>
            <a:round/>
            <a:headEnd len="med" w="med" type="stealth"/>
            <a:tailEnd len="med" w="med" type="none"/>
          </a:ln>
        </p:spPr>
      </p:cxnSp>
      <p:sp>
        <p:nvSpPr>
          <p:cNvPr id="254" name="Google Shape;254;p21"/>
          <p:cNvSpPr txBox="1"/>
          <p:nvPr/>
        </p:nvSpPr>
        <p:spPr>
          <a:xfrm>
            <a:off x="3244850" y="2984500"/>
            <a:ext cx="5953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3CC33"/>
                </a:solidFill>
                <a:latin typeface="Arial"/>
                <a:ea typeface="Arial"/>
                <a:cs typeface="Arial"/>
                <a:sym typeface="Arial"/>
              </a:rPr>
              <a:t>F</a:t>
            </a:r>
            <a:r>
              <a:rPr baseline="-25000" lang="en-US" sz="2400">
                <a:solidFill>
                  <a:srgbClr val="33CC33"/>
                </a:solidFill>
                <a:latin typeface="Arial"/>
                <a:ea typeface="Arial"/>
                <a:cs typeface="Arial"/>
                <a:sym typeface="Arial"/>
              </a:rPr>
              <a:t>21</a:t>
            </a:r>
            <a:endParaRPr sz="2400">
              <a:solidFill>
                <a:srgbClr val="33CC33"/>
              </a:solidFill>
              <a:latin typeface="Arial"/>
              <a:ea typeface="Arial"/>
              <a:cs typeface="Arial"/>
              <a:sym typeface="Arial"/>
            </a:endParaRPr>
          </a:p>
        </p:txBody>
      </p:sp>
      <p:pic>
        <p:nvPicPr>
          <p:cNvPr descr="moon-1" id="255" name="Google Shape;255;p21"/>
          <p:cNvPicPr preferRelativeResize="0"/>
          <p:nvPr/>
        </p:nvPicPr>
        <p:blipFill rotWithShape="1">
          <a:blip r:embed="rId3">
            <a:alphaModFix/>
          </a:blip>
          <a:srcRect b="0" l="0" r="0" t="0"/>
          <a:stretch/>
        </p:blipFill>
        <p:spPr>
          <a:xfrm>
            <a:off x="-28575" y="4248150"/>
            <a:ext cx="742950" cy="742950"/>
          </a:xfrm>
          <a:prstGeom prst="rect">
            <a:avLst/>
          </a:prstGeom>
          <a:noFill/>
          <a:ln>
            <a:noFill/>
          </a:ln>
          <a:effectLst>
            <a:outerShdw blurRad="292100" rotWithShape="0" algn="tl" dir="2700000" dist="139700">
              <a:srgbClr val="333333">
                <a:alpha val="64705"/>
              </a:srgbClr>
            </a:outerShdw>
          </a:effectLst>
        </p:spPr>
      </p:pic>
      <p:pic>
        <p:nvPicPr>
          <p:cNvPr descr="Earth view-white background" id="256" name="Google Shape;256;p21"/>
          <p:cNvPicPr preferRelativeResize="0"/>
          <p:nvPr/>
        </p:nvPicPr>
        <p:blipFill rotWithShape="1">
          <a:blip r:embed="rId4">
            <a:alphaModFix/>
          </a:blip>
          <a:srcRect b="0" l="0" r="0" t="0"/>
          <a:stretch/>
        </p:blipFill>
        <p:spPr>
          <a:xfrm>
            <a:off x="7754938" y="3932238"/>
            <a:ext cx="1389062" cy="1344612"/>
          </a:xfrm>
          <a:prstGeom prst="rect">
            <a:avLst/>
          </a:prstGeom>
          <a:noFill/>
          <a:ln>
            <a:noFill/>
          </a:ln>
          <a:effectLst>
            <a:outerShdw blurRad="292100" rotWithShape="0" algn="tl" dir="2700000" dist="139700">
              <a:srgbClr val="333333">
                <a:alpha val="64705"/>
              </a:srgbClr>
            </a:outerShdw>
          </a:effectLst>
        </p:spPr>
      </p:pic>
      <p:sp>
        <p:nvSpPr>
          <p:cNvPr id="257" name="Google Shape;257;p21"/>
          <p:cNvSpPr/>
          <p:nvPr/>
        </p:nvSpPr>
        <p:spPr>
          <a:xfrm>
            <a:off x="5184775" y="2474913"/>
            <a:ext cx="3255963" cy="1211262"/>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endParaRPr/>
          </a:p>
          <a:p>
            <a:pPr indent="0" lvl="0" marL="0" marR="0" rtl="0" algn="l">
              <a:spcBef>
                <a:spcPts val="3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radius of each mass is immaterial.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 calcmode="lin" valueType="num">
                                      <p:cBhvr additive="base">
                                        <p:cTn dur="500"/>
                                        <p:tgtEl>
                                          <p:spTgt spid="2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 calcmode="lin" valueType="num">
                                      <p:cBhvr additive="base">
                                        <p:cTn dur="500"/>
                                        <p:tgtEl>
                                          <p:spTgt spid="23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 calcmode="lin" valueType="num">
                                      <p:cBhvr additive="base">
                                        <p:cTn dur="500"/>
                                        <p:tgtEl>
                                          <p:spTgt spid="23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 calcmode="lin" valueType="num">
                                      <p:cBhvr additive="base">
                                        <p:cTn dur="500"/>
                                        <p:tgtEl>
                                          <p:spTgt spid="23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ppt_w</p:attrName>
                                        </p:attrNameLst>
                                      </p:cBhvr>
                                      <p:tavLst>
                                        <p:tav fmla="" tm="0">
                                          <p:val>
                                            <p:strVal val="0"/>
                                          </p:val>
                                        </p:tav>
                                        <p:tav fmla="" tm="100000">
                                          <p:val>
                                            <p:strVal val="#ppt_w"/>
                                          </p:val>
                                        </p:tav>
                                      </p:tavLst>
                                    </p:anim>
                                    <p:anim calcmode="lin" valueType="num">
                                      <p:cBhvr additive="base">
                                        <p:cTn dur="500"/>
                                        <p:tgtEl>
                                          <p:spTgt spid="2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ppt_w</p:attrName>
                                        </p:attrNameLst>
                                      </p:cBhvr>
                                      <p:tavLst>
                                        <p:tav fmla="" tm="0">
                                          <p:val>
                                            <p:strVal val="0"/>
                                          </p:val>
                                        </p:tav>
                                        <p:tav fmla="" tm="100000">
                                          <p:val>
                                            <p:strVal val="#ppt_w"/>
                                          </p:val>
                                        </p:tav>
                                      </p:tavLst>
                                    </p:anim>
                                    <p:anim calcmode="lin" valueType="num">
                                      <p:cBhvr additive="base">
                                        <p:cTn dur="500"/>
                                        <p:tgtEl>
                                          <p:spTgt spid="25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2"/>
          <p:cNvSpPr/>
          <p:nvPr/>
        </p:nvSpPr>
        <p:spPr>
          <a:xfrm>
            <a:off x="688975" y="5648325"/>
            <a:ext cx="7751763" cy="12096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endParaRPr/>
          </a:p>
          <a:p>
            <a:pPr indent="0" lvl="0" marL="0" marR="0" rtl="0" algn="l">
              <a:spcBef>
                <a:spcPts val="3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For circular orbits, the gravitational force </a:t>
            </a:r>
            <a:r>
              <a:rPr i="1" lang="en-US" sz="2400">
                <a:solidFill>
                  <a:schemeClr val="dk1"/>
                </a:solidFill>
                <a:latin typeface="Arial"/>
                <a:ea typeface="Arial"/>
                <a:cs typeface="Arial"/>
                <a:sym typeface="Arial"/>
              </a:rPr>
              <a:t>is</a:t>
            </a:r>
            <a:r>
              <a:rPr lang="en-US" sz="2400">
                <a:solidFill>
                  <a:schemeClr val="dk1"/>
                </a:solidFill>
                <a:latin typeface="Arial"/>
                <a:ea typeface="Arial"/>
                <a:cs typeface="Arial"/>
                <a:sym typeface="Arial"/>
              </a:rPr>
              <a:t> the centripetal force. Thus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a:t>
            </a:r>
            <a:endParaRPr/>
          </a:p>
        </p:txBody>
      </p:sp>
      <p:sp>
        <p:nvSpPr>
          <p:cNvPr id="264" name="Google Shape;264;p22"/>
          <p:cNvSpPr/>
          <p:nvPr/>
        </p:nvSpPr>
        <p:spPr>
          <a:xfrm>
            <a:off x="674688" y="1982788"/>
            <a:ext cx="7772400" cy="36861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The moon has a mass                                        of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7.36×10</a:t>
            </a:r>
            <a:r>
              <a:rPr baseline="30000" lang="en-US" sz="2400">
                <a:solidFill>
                  <a:schemeClr val="dk1"/>
                </a:solidFill>
                <a:latin typeface="Arial"/>
                <a:ea typeface="Arial"/>
                <a:cs typeface="Arial"/>
                <a:sym typeface="Arial"/>
              </a:rPr>
              <a:t>22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 The mean                                        distance  between the earth and                                              the moon is 3.82×10</a:t>
            </a:r>
            <a:r>
              <a:rPr baseline="30000" lang="en-US" sz="2400">
                <a:solidFill>
                  <a:schemeClr val="dk1"/>
                </a:solidFill>
                <a:latin typeface="Arial"/>
                <a:ea typeface="Arial"/>
                <a:cs typeface="Arial"/>
                <a:sym typeface="Arial"/>
              </a:rPr>
              <a:t>8</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What is the speed of the moon in its orbit about earth?</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C</a:t>
            </a:r>
            <a:r>
              <a:rPr i="1" lang="en-US" sz="2400">
                <a:solidFill>
                  <a:schemeClr val="dk1"/>
                </a:solidFill>
                <a:latin typeface="Arial"/>
                <a:ea typeface="Arial"/>
                <a:cs typeface="Arial"/>
                <a:sym typeface="Arial"/>
              </a:rPr>
              <a:t> = F</a:t>
            </a:r>
            <a:r>
              <a:rPr baseline="-25000"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mv</a:t>
            </a:r>
            <a:r>
              <a:rPr baseline="30000"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From</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the previous slide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2.01×10</a:t>
            </a:r>
            <a:r>
              <a:rPr baseline="30000" lang="en-US" sz="2400">
                <a:solidFill>
                  <a:schemeClr val="dk1"/>
                </a:solidFill>
                <a:latin typeface="Arial"/>
                <a:ea typeface="Arial"/>
                <a:cs typeface="Arial"/>
                <a:sym typeface="Arial"/>
              </a:rPr>
              <a:t>20</a:t>
            </a:r>
            <a:r>
              <a:rPr lang="en-US" sz="2400">
                <a:solidFill>
                  <a:schemeClr val="dk1"/>
                </a:solidFill>
                <a:latin typeface="Arial"/>
                <a:ea typeface="Arial"/>
                <a:cs typeface="Arial"/>
                <a:sym typeface="Arial"/>
              </a:rPr>
              <a:t> N. Then </a:t>
            </a:r>
            <a:endParaRPr/>
          </a:p>
          <a:p>
            <a:pPr indent="0" lvl="0" marL="0" marR="0" rtl="0" algn="l">
              <a:spcBef>
                <a:spcPts val="48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2.01×10</a:t>
            </a:r>
            <a:r>
              <a:rPr baseline="30000" lang="en-US" sz="2400">
                <a:solidFill>
                  <a:schemeClr val="dk1"/>
                </a:solidFill>
                <a:latin typeface="Arial"/>
                <a:ea typeface="Arial"/>
                <a:cs typeface="Arial"/>
                <a:sym typeface="Arial"/>
              </a:rPr>
              <a:t>20</a:t>
            </a:r>
            <a:r>
              <a:rPr lang="en-US" sz="2400">
                <a:solidFill>
                  <a:schemeClr val="dk1"/>
                </a:solidFill>
                <a:latin typeface="Arial"/>
                <a:ea typeface="Arial"/>
                <a:cs typeface="Arial"/>
                <a:sym typeface="Arial"/>
              </a:rPr>
              <a:t> = ( 7.36×10</a:t>
            </a:r>
            <a:r>
              <a:rPr baseline="30000" lang="en-US" sz="2400">
                <a:solidFill>
                  <a:schemeClr val="dk1"/>
                </a:solidFill>
                <a:latin typeface="Arial"/>
                <a:ea typeface="Arial"/>
                <a:cs typeface="Arial"/>
                <a:sym typeface="Arial"/>
              </a:rPr>
              <a:t>22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 / </a:t>
            </a:r>
            <a:r>
              <a:rPr lang="en-US" sz="2400">
                <a:solidFill>
                  <a:schemeClr val="dk1"/>
                </a:solidFill>
                <a:latin typeface="Arial"/>
                <a:ea typeface="Arial"/>
                <a:cs typeface="Arial"/>
                <a:sym typeface="Arial"/>
              </a:rPr>
              <a:t>3.82×10</a:t>
            </a:r>
            <a:r>
              <a:rPr baseline="30000" lang="en-US" sz="2400">
                <a:solidFill>
                  <a:schemeClr val="dk1"/>
                </a:solidFill>
                <a:latin typeface="Arial"/>
                <a:ea typeface="Arial"/>
                <a:cs typeface="Arial"/>
                <a:sym typeface="Arial"/>
              </a:rPr>
              <a:t>8</a:t>
            </a:r>
            <a:endParaRPr/>
          </a:p>
          <a:p>
            <a:pPr indent="0" lvl="0" marL="0" marR="0" rtl="0" algn="l">
              <a:spcBef>
                <a:spcPts val="48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Then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1.02×10</a:t>
            </a:r>
            <a:r>
              <a:rPr baseline="30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baseline="30000" i="1" sz="2400">
              <a:solidFill>
                <a:schemeClr val="dk1"/>
              </a:solidFill>
              <a:latin typeface="Arial"/>
              <a:ea typeface="Arial"/>
              <a:cs typeface="Arial"/>
              <a:sym typeface="Arial"/>
            </a:endParaRPr>
          </a:p>
        </p:txBody>
      </p:sp>
      <p:pic>
        <p:nvPicPr>
          <p:cNvPr id="265" name="Google Shape;265;p22"/>
          <p:cNvPicPr preferRelativeResize="0"/>
          <p:nvPr/>
        </p:nvPicPr>
        <p:blipFill rotWithShape="1">
          <a:blip r:embed="rId3">
            <a:alphaModFix/>
          </a:blip>
          <a:srcRect b="0" l="0" r="0" t="0"/>
          <a:stretch/>
        </p:blipFill>
        <p:spPr>
          <a:xfrm>
            <a:off x="6643688" y="2563813"/>
            <a:ext cx="1247775" cy="603250"/>
          </a:xfrm>
          <a:prstGeom prst="rect">
            <a:avLst/>
          </a:prstGeom>
          <a:noFill/>
          <a:ln>
            <a:noFill/>
          </a:ln>
        </p:spPr>
      </p:pic>
      <p:sp>
        <p:nvSpPr>
          <p:cNvPr id="266" name="Google Shape;266;p22"/>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force</a:t>
            </a:r>
            <a:endParaRPr sz="2000">
              <a:solidFill>
                <a:srgbClr val="000000"/>
              </a:solidFill>
              <a:latin typeface="Courier New"/>
              <a:ea typeface="Courier New"/>
              <a:cs typeface="Courier New"/>
              <a:sym typeface="Courier New"/>
            </a:endParaRPr>
          </a:p>
        </p:txBody>
      </p:sp>
      <p:sp>
        <p:nvSpPr>
          <p:cNvPr id="267" name="Google Shape;267;p2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268" name="Google Shape;268;p22"/>
          <p:cNvSpPr/>
          <p:nvPr/>
        </p:nvSpPr>
        <p:spPr>
          <a:xfrm>
            <a:off x="5568950" y="2039938"/>
            <a:ext cx="3476625" cy="928687"/>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pic>
        <p:nvPicPr>
          <p:cNvPr descr="moon-1" id="269" name="Google Shape;269;p22"/>
          <p:cNvPicPr preferRelativeResize="0"/>
          <p:nvPr/>
        </p:nvPicPr>
        <p:blipFill rotWithShape="1">
          <a:blip r:embed="rId4">
            <a:alphaModFix/>
          </a:blip>
          <a:srcRect b="0" l="0" r="0" t="0"/>
          <a:stretch/>
        </p:blipFill>
        <p:spPr>
          <a:xfrm>
            <a:off x="6946900" y="1882775"/>
            <a:ext cx="565150" cy="565150"/>
          </a:xfrm>
          <a:prstGeom prst="rect">
            <a:avLst/>
          </a:prstGeom>
          <a:noFill/>
          <a:ln>
            <a:noFill/>
          </a:ln>
        </p:spPr>
      </p:pic>
      <p:pic>
        <p:nvPicPr>
          <p:cNvPr id="270" name="Google Shape;270;p22"/>
          <p:cNvPicPr preferRelativeResize="0"/>
          <p:nvPr/>
        </p:nvPicPr>
        <p:blipFill rotWithShape="1">
          <a:blip r:embed="rId5">
            <a:alphaModFix/>
          </a:blip>
          <a:srcRect b="0" l="0" r="0" t="0"/>
          <a:stretch/>
        </p:blipFill>
        <p:spPr>
          <a:xfrm>
            <a:off x="6643688" y="1968500"/>
            <a:ext cx="1247775" cy="6080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 calcmode="lin" valueType="num">
                                      <p:cBhvr additive="base">
                                        <p:cTn dur="500"/>
                                        <p:tgtEl>
                                          <p:spTgt spid="2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 calcmode="lin" valueType="num">
                                      <p:cBhvr additive="base">
                                        <p:cTn dur="500"/>
                                        <p:tgtEl>
                                          <p:spTgt spid="2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 calcmode="lin" valueType="num">
                                      <p:cBhvr additive="base">
                                        <p:cTn dur="500"/>
                                        <p:tgtEl>
                                          <p:spTgt spid="2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 calcmode="lin" valueType="num">
                                      <p:cBhvr additive="base">
                                        <p:cTn dur="500"/>
                                        <p:tgtEl>
                                          <p:spTgt spid="2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 calcmode="lin" valueType="num">
                                      <p:cBhvr additive="base">
                                        <p:cTn dur="500"/>
                                        <p:tgtEl>
                                          <p:spTgt spid="264">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500"/>
                                        <p:tgtEl>
                                          <p:spTgt spid="269"/>
                                        </p:tgtEl>
                                        <p:attrNameLst>
                                          <p:attrName>ppt_w</p:attrName>
                                        </p:attrNameLst>
                                      </p:cBhvr>
                                      <p:tavLst>
                                        <p:tav fmla="" tm="0">
                                          <p:val>
                                            <p:strVal val="0"/>
                                          </p:val>
                                        </p:tav>
                                        <p:tav fmla="" tm="100000">
                                          <p:val>
                                            <p:strVal val="#ppt_w"/>
                                          </p:val>
                                        </p:tav>
                                      </p:tavLst>
                                    </p:anim>
                                    <p:anim calcmode="lin" valueType="num">
                                      <p:cBhvr additive="base">
                                        <p:cTn dur="500"/>
                                        <p:tgtEl>
                                          <p:spTgt spid="26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3"/>
          <p:cNvSpPr/>
          <p:nvPr/>
        </p:nvSpPr>
        <p:spPr>
          <a:xfrm>
            <a:off x="688975" y="5648325"/>
            <a:ext cx="7751763" cy="12096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endParaRPr/>
          </a:p>
          <a:p>
            <a:pPr indent="0" lvl="0" marL="0" marR="0" rtl="0" algn="l">
              <a:spcBef>
                <a:spcPts val="30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For circular orbits, the gravitational force </a:t>
            </a:r>
            <a:r>
              <a:rPr i="1" lang="en-US" sz="2400">
                <a:solidFill>
                  <a:schemeClr val="dk1"/>
                </a:solidFill>
                <a:latin typeface="Arial"/>
                <a:ea typeface="Arial"/>
                <a:cs typeface="Arial"/>
                <a:sym typeface="Arial"/>
              </a:rPr>
              <a:t>is</a:t>
            </a:r>
            <a:r>
              <a:rPr lang="en-US" sz="2400">
                <a:solidFill>
                  <a:schemeClr val="dk1"/>
                </a:solidFill>
                <a:latin typeface="Arial"/>
                <a:ea typeface="Arial"/>
                <a:cs typeface="Arial"/>
                <a:sym typeface="Arial"/>
              </a:rPr>
              <a:t> the centripetal force. Thus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a:t>
            </a:r>
            <a:endParaRPr/>
          </a:p>
        </p:txBody>
      </p:sp>
      <p:sp>
        <p:nvSpPr>
          <p:cNvPr id="277" name="Google Shape;277;p23"/>
          <p:cNvSpPr/>
          <p:nvPr/>
        </p:nvSpPr>
        <p:spPr>
          <a:xfrm>
            <a:off x="674688" y="1982788"/>
            <a:ext cx="7772400" cy="36861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The moon has a mass                                        of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7.36×10</a:t>
            </a:r>
            <a:r>
              <a:rPr baseline="30000" lang="en-US" sz="2400">
                <a:solidFill>
                  <a:schemeClr val="dk1"/>
                </a:solidFill>
                <a:latin typeface="Arial"/>
                <a:ea typeface="Arial"/>
                <a:cs typeface="Arial"/>
                <a:sym typeface="Arial"/>
              </a:rPr>
              <a:t>22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 The mean                                        distance  between the earth and                                              the moon is 3.82×10</a:t>
            </a:r>
            <a:r>
              <a:rPr baseline="30000" lang="en-US" sz="2400">
                <a:solidFill>
                  <a:schemeClr val="dk1"/>
                </a:solidFill>
                <a:latin typeface="Arial"/>
                <a:ea typeface="Arial"/>
                <a:cs typeface="Arial"/>
                <a:sym typeface="Arial"/>
              </a:rPr>
              <a:t>8</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m. What is the period of the moon (in days) in its orbit about earth?</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Use </a:t>
            </a:r>
            <a:r>
              <a:rPr i="1" lang="en-US" sz="2400">
                <a:solidFill>
                  <a:schemeClr val="dk1"/>
                </a:solidFill>
                <a:latin typeface="Arial"/>
                <a:ea typeface="Arial"/>
                <a:cs typeface="Arial"/>
                <a:sym typeface="Arial"/>
              </a:rPr>
              <a:t>v = d / t </a:t>
            </a:r>
            <a:r>
              <a:rPr lang="en-US" sz="2400">
                <a:solidFill>
                  <a:schemeClr val="dk1"/>
                </a:solidFill>
                <a:latin typeface="Arial"/>
                <a:ea typeface="Arial"/>
                <a:cs typeface="Arial"/>
                <a:sym typeface="Arial"/>
              </a:rPr>
              <a:t>= 2π</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T</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From</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the previous slide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1.02×10</a:t>
            </a:r>
            <a:r>
              <a:rPr baseline="30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Then </a:t>
            </a:r>
            <a:endParaRPr/>
          </a:p>
          <a:p>
            <a:pPr indent="0" lvl="0" marL="0" marR="0" rtl="0" algn="l">
              <a:spcBef>
                <a:spcPts val="48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  T</a:t>
            </a:r>
            <a:r>
              <a:rPr lang="en-US" sz="2400">
                <a:solidFill>
                  <a:schemeClr val="dk1"/>
                </a:solidFill>
                <a:latin typeface="Arial"/>
                <a:ea typeface="Arial"/>
                <a:cs typeface="Arial"/>
                <a:sym typeface="Arial"/>
              </a:rPr>
              <a:t> = 2π</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v</a:t>
            </a:r>
            <a:r>
              <a:rPr lang="en-US" sz="2400">
                <a:solidFill>
                  <a:schemeClr val="dk1"/>
                </a:solidFill>
                <a:latin typeface="Arial"/>
                <a:ea typeface="Arial"/>
                <a:cs typeface="Arial"/>
                <a:sym typeface="Arial"/>
              </a:rPr>
              <a:t> = 2π( 3.82×10</a:t>
            </a:r>
            <a:r>
              <a:rPr baseline="30000" lang="en-US" sz="2400">
                <a:solidFill>
                  <a:schemeClr val="dk1"/>
                </a:solidFill>
                <a:latin typeface="Arial"/>
                <a:ea typeface="Arial"/>
                <a:cs typeface="Arial"/>
                <a:sym typeface="Arial"/>
              </a:rPr>
              <a:t>8</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1.02×10</a:t>
            </a:r>
            <a:r>
              <a:rPr baseline="30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 (2.35 ×10</a:t>
            </a:r>
            <a:r>
              <a:rPr baseline="30000" lang="en-US" sz="2400">
                <a:solidFill>
                  <a:schemeClr val="dk1"/>
                </a:solidFill>
                <a:latin typeface="Arial"/>
                <a:ea typeface="Arial"/>
                <a:cs typeface="Arial"/>
                <a:sym typeface="Arial"/>
              </a:rPr>
              <a:t>6</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s)(1 h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3600 s)(1 d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24 h) = 27.2 d.</a:t>
            </a:r>
            <a:endParaRPr baseline="30000" i="1" sz="2400">
              <a:solidFill>
                <a:schemeClr val="dk1"/>
              </a:solidFill>
              <a:latin typeface="Arial"/>
              <a:ea typeface="Arial"/>
              <a:cs typeface="Arial"/>
              <a:sym typeface="Arial"/>
            </a:endParaRPr>
          </a:p>
        </p:txBody>
      </p:sp>
      <p:pic>
        <p:nvPicPr>
          <p:cNvPr id="278" name="Google Shape;278;p23"/>
          <p:cNvPicPr preferRelativeResize="0"/>
          <p:nvPr/>
        </p:nvPicPr>
        <p:blipFill rotWithShape="1">
          <a:blip r:embed="rId3">
            <a:alphaModFix/>
          </a:blip>
          <a:srcRect b="0" l="0" r="0" t="0"/>
          <a:stretch/>
        </p:blipFill>
        <p:spPr>
          <a:xfrm>
            <a:off x="6643688" y="2563813"/>
            <a:ext cx="1247775" cy="603250"/>
          </a:xfrm>
          <a:prstGeom prst="rect">
            <a:avLst/>
          </a:prstGeom>
          <a:noFill/>
          <a:ln>
            <a:noFill/>
          </a:ln>
        </p:spPr>
      </p:pic>
      <p:sp>
        <p:nvSpPr>
          <p:cNvPr id="279" name="Google Shape;279;p23"/>
          <p:cNvSpPr/>
          <p:nvPr/>
        </p:nvSpPr>
        <p:spPr>
          <a:xfrm>
            <a:off x="685800" y="1549400"/>
            <a:ext cx="7772400" cy="447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force</a:t>
            </a:r>
            <a:endParaRPr sz="2000">
              <a:solidFill>
                <a:srgbClr val="000000"/>
              </a:solidFill>
              <a:latin typeface="Courier New"/>
              <a:ea typeface="Courier New"/>
              <a:cs typeface="Courier New"/>
              <a:sym typeface="Courier New"/>
            </a:endParaRPr>
          </a:p>
        </p:txBody>
      </p:sp>
      <p:sp>
        <p:nvSpPr>
          <p:cNvPr id="280" name="Google Shape;280;p2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281" name="Google Shape;281;p23"/>
          <p:cNvSpPr/>
          <p:nvPr/>
        </p:nvSpPr>
        <p:spPr>
          <a:xfrm>
            <a:off x="5568950" y="2039938"/>
            <a:ext cx="3476625" cy="928687"/>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pic>
        <p:nvPicPr>
          <p:cNvPr descr="moon-1" id="282" name="Google Shape;282;p23"/>
          <p:cNvPicPr preferRelativeResize="0"/>
          <p:nvPr/>
        </p:nvPicPr>
        <p:blipFill rotWithShape="1">
          <a:blip r:embed="rId4">
            <a:alphaModFix/>
          </a:blip>
          <a:srcRect b="0" l="0" r="0" t="0"/>
          <a:stretch/>
        </p:blipFill>
        <p:spPr>
          <a:xfrm>
            <a:off x="6946900" y="1882775"/>
            <a:ext cx="565150" cy="565150"/>
          </a:xfrm>
          <a:prstGeom prst="rect">
            <a:avLst/>
          </a:prstGeom>
          <a:noFill/>
          <a:ln>
            <a:noFill/>
          </a:ln>
        </p:spPr>
      </p:pic>
      <p:pic>
        <p:nvPicPr>
          <p:cNvPr id="283" name="Google Shape;283;p23"/>
          <p:cNvPicPr preferRelativeResize="0"/>
          <p:nvPr/>
        </p:nvPicPr>
        <p:blipFill rotWithShape="1">
          <a:blip r:embed="rId5">
            <a:alphaModFix/>
          </a:blip>
          <a:srcRect b="0" l="0" r="0" t="0"/>
          <a:stretch/>
        </p:blipFill>
        <p:spPr>
          <a:xfrm>
            <a:off x="6643688" y="1968500"/>
            <a:ext cx="1247775" cy="6080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 calcmode="lin" valueType="num">
                                      <p:cBhvr additive="base">
                                        <p:cTn dur="500"/>
                                        <p:tgtEl>
                                          <p:spTgt spid="27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 calcmode="lin" valueType="num">
                                      <p:cBhvr additive="base">
                                        <p:cTn dur="500"/>
                                        <p:tgtEl>
                                          <p:spTgt spid="277">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 calcmode="lin" valueType="num">
                                      <p:cBhvr additive="base">
                                        <p:cTn dur="500"/>
                                        <p:tgtEl>
                                          <p:spTgt spid="277">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 calcmode="lin" valueType="num">
                                      <p:cBhvr additive="base">
                                        <p:cTn dur="500"/>
                                        <p:tgtEl>
                                          <p:spTgt spid="277">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 calcmode="lin" valueType="num">
                                      <p:cBhvr additive="base">
                                        <p:cTn dur="500"/>
                                        <p:tgtEl>
                                          <p:spTgt spid="2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i="1"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∙Suppose a mass </a:t>
            </a:r>
            <a:r>
              <a:rPr i="1" lang="en-US" sz="2400">
                <a:solidFill>
                  <a:srgbClr val="000000"/>
                </a:solidFill>
                <a:latin typeface="Arial"/>
                <a:ea typeface="Arial"/>
                <a:cs typeface="Arial"/>
                <a:sym typeface="Arial"/>
              </a:rPr>
              <a:t>m </a:t>
            </a:r>
            <a:r>
              <a:rPr lang="en-US" sz="2400">
                <a:solidFill>
                  <a:srgbClr val="000000"/>
                </a:solidFill>
                <a:latin typeface="Arial"/>
                <a:ea typeface="Arial"/>
                <a:cs typeface="Arial"/>
                <a:sym typeface="Arial"/>
              </a:rPr>
              <a:t>is located a distance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from a another mass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a:t>
            </a:r>
            <a:r>
              <a:rPr b="1" lang="en-US" sz="2400">
                <a:solidFill>
                  <a:srgbClr val="000000"/>
                </a:solidFill>
                <a:latin typeface="Arial"/>
                <a:ea typeface="Arial"/>
                <a:cs typeface="Arial"/>
                <a:sym typeface="Arial"/>
              </a:rPr>
              <a:t>gravitational field strength</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g</a:t>
            </a:r>
            <a:r>
              <a:rPr lang="en-US" sz="2400">
                <a:solidFill>
                  <a:srgbClr val="000000"/>
                </a:solidFill>
                <a:latin typeface="Arial"/>
                <a:ea typeface="Arial"/>
                <a:cs typeface="Arial"/>
                <a:sym typeface="Arial"/>
              </a:rPr>
              <a:t> is the force per unit mass acting on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due to the presence of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Thus</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Question: What is the weight </a:t>
            </a:r>
            <a:r>
              <a:rPr i="1" lang="en-US" sz="2400">
                <a:solidFill>
                  <a:schemeClr val="dk1"/>
                </a:solidFill>
                <a:latin typeface="Arial"/>
                <a:ea typeface="Arial"/>
                <a:cs typeface="Arial"/>
                <a:sym typeface="Arial"/>
              </a:rPr>
              <a:t>W</a:t>
            </a:r>
            <a:r>
              <a:rPr lang="en-US" sz="2400">
                <a:solidFill>
                  <a:schemeClr val="dk1"/>
                </a:solidFill>
                <a:latin typeface="Arial"/>
                <a:ea typeface="Arial"/>
                <a:cs typeface="Arial"/>
                <a:sym typeface="Arial"/>
              </a:rPr>
              <a:t> of a 100 kg person standing on the surface of the Earth?</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Answer: </a:t>
            </a:r>
            <a:r>
              <a:rPr i="1" lang="en-US" sz="2400">
                <a:solidFill>
                  <a:schemeClr val="dk1"/>
                </a:solidFill>
                <a:latin typeface="Arial"/>
                <a:ea typeface="Arial"/>
                <a:cs typeface="Arial"/>
                <a:sym typeface="Arial"/>
              </a:rPr>
              <a:t>F</a:t>
            </a:r>
            <a:r>
              <a:rPr baseline="-25000" i="1" lang="en-US" sz="2400">
                <a:solidFill>
                  <a:schemeClr val="dk1"/>
                </a:solidFill>
                <a:latin typeface="Arial"/>
                <a:ea typeface="Arial"/>
                <a:cs typeface="Arial"/>
                <a:sym typeface="Arial"/>
              </a:rPr>
              <a:t>g</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 (100 kg)(9.8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980 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Question: What is the gravitational field strength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where that person stands?</a:t>
            </a:r>
            <a:endParaRPr i="1"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Answer: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(980 N) / (100 kg) = 9.8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 -1</a:t>
            </a:r>
            <a:r>
              <a:rPr lang="en-US" sz="2400">
                <a:solidFill>
                  <a:schemeClr val="dk1"/>
                </a:solidFill>
                <a:latin typeface="Arial"/>
                <a:ea typeface="Arial"/>
                <a:cs typeface="Arial"/>
                <a:sym typeface="Arial"/>
              </a:rPr>
              <a:t> = 9.8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a:p>
        </p:txBody>
      </p:sp>
      <p:sp>
        <p:nvSpPr>
          <p:cNvPr id="290" name="Google Shape;290;p2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291" name="Google Shape;291;p24"/>
          <p:cNvGrpSpPr/>
          <p:nvPr/>
        </p:nvGrpSpPr>
        <p:grpSpPr>
          <a:xfrm>
            <a:off x="809625" y="3609975"/>
            <a:ext cx="7464425" cy="457200"/>
            <a:chOff x="510" y="2502"/>
            <a:chExt cx="4702" cy="288"/>
          </a:xfrm>
        </p:grpSpPr>
        <p:sp>
          <p:nvSpPr>
            <p:cNvPr id="292" name="Google Shape;292;p24"/>
            <p:cNvSpPr/>
            <p:nvPr/>
          </p:nvSpPr>
          <p:spPr>
            <a:xfrm>
              <a:off x="592" y="2515"/>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endParaRPr i="1" sz="2400">
                <a:solidFill>
                  <a:schemeClr val="dk1"/>
                </a:solidFill>
                <a:latin typeface="Arial"/>
                <a:ea typeface="Arial"/>
                <a:cs typeface="Arial"/>
                <a:sym typeface="Arial"/>
              </a:endParaRPr>
            </a:p>
          </p:txBody>
        </p:sp>
        <p:sp>
          <p:nvSpPr>
            <p:cNvPr id="293" name="Google Shape;293;p24"/>
            <p:cNvSpPr txBox="1"/>
            <p:nvPr/>
          </p:nvSpPr>
          <p:spPr>
            <a:xfrm>
              <a:off x="2769" y="2502"/>
              <a:ext cx="2443"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field strength</a:t>
              </a:r>
              <a:endParaRPr/>
            </a:p>
          </p:txBody>
        </p:sp>
        <p:sp>
          <p:nvSpPr>
            <p:cNvPr id="294" name="Google Shape;294;p24"/>
            <p:cNvSpPr/>
            <p:nvPr/>
          </p:nvSpPr>
          <p:spPr>
            <a:xfrm>
              <a:off x="510" y="2504"/>
              <a:ext cx="4701" cy="28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anim calcmode="lin" valueType="num">
                                      <p:cBhvr additive="base">
                                        <p:cTn dur="500"/>
                                        <p:tgtEl>
                                          <p:spTgt spid="2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anim calcmode="lin" valueType="num">
                                      <p:cBhvr additive="base">
                                        <p:cTn dur="500"/>
                                        <p:tgtEl>
                                          <p:spTgt spid="2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anim calcmode="lin" valueType="num">
                                      <p:cBhvr additive="base">
                                        <p:cTn dur="500"/>
                                        <p:tgtEl>
                                          <p:spTgt spid="28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anim calcmode="lin" valueType="num">
                                      <p:cBhvr additive="base">
                                        <p:cTn dur="500"/>
                                        <p:tgtEl>
                                          <p:spTgt spid="28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4" st="4"/>
                                            </p:txEl>
                                          </p:spTgt>
                                        </p:tgtEl>
                                        <p:attrNameLst>
                                          <p:attrName>style.visibility</p:attrName>
                                        </p:attrNameLst>
                                      </p:cBhvr>
                                      <p:to>
                                        <p:strVal val="visible"/>
                                      </p:to>
                                    </p:set>
                                    <p:anim calcmode="lin" valueType="num">
                                      <p:cBhvr additive="base">
                                        <p:cTn dur="500"/>
                                        <p:tgtEl>
                                          <p:spTgt spid="28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5" st="5"/>
                                            </p:txEl>
                                          </p:spTgt>
                                        </p:tgtEl>
                                        <p:attrNameLst>
                                          <p:attrName>style.visibility</p:attrName>
                                        </p:attrNameLst>
                                      </p:cBhvr>
                                      <p:to>
                                        <p:strVal val="visible"/>
                                      </p:to>
                                    </p:set>
                                    <p:anim calcmode="lin" valueType="num">
                                      <p:cBhvr additive="base">
                                        <p:cTn dur="500"/>
                                        <p:tgtEl>
                                          <p:spTgt spid="28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6" st="6"/>
                                            </p:txEl>
                                          </p:spTgt>
                                        </p:tgtEl>
                                        <p:attrNameLst>
                                          <p:attrName>style.visibility</p:attrName>
                                        </p:attrNameLst>
                                      </p:cBhvr>
                                      <p:to>
                                        <p:strVal val="visible"/>
                                      </p:to>
                                    </p:set>
                                    <p:anim calcmode="lin" valueType="num">
                                      <p:cBhvr additive="base">
                                        <p:cTn dur="500"/>
                                        <p:tgtEl>
                                          <p:spTgt spid="28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9">
                                            <p:txEl>
                                              <p:pRg end="7" st="7"/>
                                            </p:txEl>
                                          </p:spTgt>
                                        </p:tgtEl>
                                        <p:attrNameLst>
                                          <p:attrName>style.visibility</p:attrName>
                                        </p:attrNameLst>
                                      </p:cBhvr>
                                      <p:to>
                                        <p:strVal val="visible"/>
                                      </p:to>
                                    </p:set>
                                    <p:anim calcmode="lin" valueType="num">
                                      <p:cBhvr additive="base">
                                        <p:cTn dur="500"/>
                                        <p:tgtEl>
                                          <p:spTgt spid="28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ppt_w</p:attrName>
                                        </p:attrNameLst>
                                      </p:cBhvr>
                                      <p:tavLst>
                                        <p:tav fmla="" tm="0">
                                          <p:val>
                                            <p:strVal val="0"/>
                                          </p:val>
                                        </p:tav>
                                        <p:tav fmla="" tm="100000">
                                          <p:val>
                                            <p:strVal val="#ppt_w"/>
                                          </p:val>
                                        </p:tav>
                                      </p:tavLst>
                                    </p:anim>
                                    <p:anim calcmode="lin" valueType="num">
                                      <p:cBhvr additive="base">
                                        <p:cTn dur="500"/>
                                        <p:tgtEl>
                                          <p:spTgt spid="29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i="1"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∙Suppose a mass </a:t>
            </a:r>
            <a:r>
              <a:rPr i="1" lang="en-US" sz="2400">
                <a:solidFill>
                  <a:srgbClr val="000000"/>
                </a:solidFill>
                <a:latin typeface="Arial"/>
                <a:ea typeface="Arial"/>
                <a:cs typeface="Arial"/>
                <a:sym typeface="Arial"/>
              </a:rPr>
              <a:t>m </a:t>
            </a:r>
            <a:r>
              <a:rPr lang="en-US" sz="2400">
                <a:solidFill>
                  <a:srgbClr val="000000"/>
                </a:solidFill>
                <a:latin typeface="Arial"/>
                <a:ea typeface="Arial"/>
                <a:cs typeface="Arial"/>
                <a:sym typeface="Arial"/>
              </a:rPr>
              <a:t>is located a distance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from a another mass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a:t>
            </a:r>
            <a:r>
              <a:rPr b="1" lang="en-US" sz="2400">
                <a:solidFill>
                  <a:srgbClr val="000000"/>
                </a:solidFill>
                <a:latin typeface="Arial"/>
                <a:ea typeface="Arial"/>
                <a:cs typeface="Arial"/>
                <a:sym typeface="Arial"/>
              </a:rPr>
              <a:t>gravitational field strength</a:t>
            </a:r>
            <a:r>
              <a:rPr lang="en-US" sz="2400">
                <a:solidFill>
                  <a:srgbClr val="000000"/>
                </a:solidFill>
                <a:latin typeface="Arial"/>
                <a:ea typeface="Arial"/>
                <a:cs typeface="Arial"/>
                <a:sym typeface="Arial"/>
              </a:rPr>
              <a:t> </a:t>
            </a:r>
            <a:r>
              <a:rPr i="1" lang="en-US" sz="2400">
                <a:solidFill>
                  <a:srgbClr val="000000"/>
                </a:solidFill>
                <a:latin typeface="Arial"/>
                <a:ea typeface="Arial"/>
                <a:cs typeface="Arial"/>
                <a:sym typeface="Arial"/>
              </a:rPr>
              <a:t>g</a:t>
            </a:r>
            <a:r>
              <a:rPr lang="en-US" sz="2400">
                <a:solidFill>
                  <a:srgbClr val="000000"/>
                </a:solidFill>
                <a:latin typeface="Arial"/>
                <a:ea typeface="Arial"/>
                <a:cs typeface="Arial"/>
                <a:sym typeface="Arial"/>
              </a:rPr>
              <a:t> is the force per unit mass acting on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due to the presence of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Thus</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The units are newtons per kilogram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 -1</a:t>
            </a:r>
            <a:r>
              <a:rPr lang="en-US" sz="2400">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Note that from Newton’s second law,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a:t>
            </a:r>
            <a:r>
              <a:rPr lang="en-US" sz="2400">
                <a:solidFill>
                  <a:schemeClr val="dk1"/>
                </a:solidFill>
                <a:latin typeface="Arial"/>
                <a:ea typeface="Arial"/>
                <a:cs typeface="Arial"/>
                <a:sym typeface="Arial"/>
              </a:rPr>
              <a:t>, we see that a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 -1</a:t>
            </a:r>
            <a:r>
              <a:rPr lang="en-US" sz="2400">
                <a:solidFill>
                  <a:schemeClr val="dk1"/>
                </a:solidFill>
                <a:latin typeface="Arial"/>
                <a:ea typeface="Arial"/>
                <a:cs typeface="Arial"/>
                <a:sym typeface="Arial"/>
              </a:rPr>
              <a:t> is also a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the units for acceleration.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Note further that weight has the formula </a:t>
            </a:r>
            <a:r>
              <a:rPr i="1" lang="en-US" sz="2400">
                <a:solidFill>
                  <a:schemeClr val="dk1"/>
                </a:solidFill>
                <a:latin typeface="Arial"/>
                <a:ea typeface="Arial"/>
                <a:cs typeface="Arial"/>
                <a:sym typeface="Arial"/>
              </a:rPr>
              <a:t>F</a:t>
            </a:r>
            <a:r>
              <a:rPr baseline="-25000"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and that the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in this formula is none other than the gravitational field strength!</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On the earth’s surface,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9.8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 -1</a:t>
            </a:r>
            <a:r>
              <a:rPr lang="en-US" sz="2400">
                <a:solidFill>
                  <a:schemeClr val="dk1"/>
                </a:solidFill>
                <a:latin typeface="Arial"/>
                <a:ea typeface="Arial"/>
                <a:cs typeface="Arial"/>
                <a:sym typeface="Arial"/>
              </a:rPr>
              <a:t> = 9.8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a:p>
        </p:txBody>
      </p:sp>
      <p:sp>
        <p:nvSpPr>
          <p:cNvPr id="301" name="Google Shape;301;p2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302" name="Google Shape;302;p25"/>
          <p:cNvGrpSpPr/>
          <p:nvPr/>
        </p:nvGrpSpPr>
        <p:grpSpPr>
          <a:xfrm>
            <a:off x="809625" y="3609975"/>
            <a:ext cx="7464425" cy="457200"/>
            <a:chOff x="510" y="2502"/>
            <a:chExt cx="4702" cy="288"/>
          </a:xfrm>
        </p:grpSpPr>
        <p:sp>
          <p:nvSpPr>
            <p:cNvPr id="303" name="Google Shape;303;p25"/>
            <p:cNvSpPr/>
            <p:nvPr/>
          </p:nvSpPr>
          <p:spPr>
            <a:xfrm>
              <a:off x="592" y="2515"/>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endParaRPr i="1" sz="2400">
                <a:solidFill>
                  <a:schemeClr val="dk1"/>
                </a:solidFill>
                <a:latin typeface="Arial"/>
                <a:ea typeface="Arial"/>
                <a:cs typeface="Arial"/>
                <a:sym typeface="Arial"/>
              </a:endParaRPr>
            </a:p>
          </p:txBody>
        </p:sp>
        <p:sp>
          <p:nvSpPr>
            <p:cNvPr id="304" name="Google Shape;304;p25"/>
            <p:cNvSpPr txBox="1"/>
            <p:nvPr/>
          </p:nvSpPr>
          <p:spPr>
            <a:xfrm>
              <a:off x="2769" y="2502"/>
              <a:ext cx="2443"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field strength</a:t>
              </a:r>
              <a:endParaRPr/>
            </a:p>
          </p:txBody>
        </p:sp>
        <p:sp>
          <p:nvSpPr>
            <p:cNvPr id="305" name="Google Shape;305;p25"/>
            <p:cNvSpPr/>
            <p:nvPr/>
          </p:nvSpPr>
          <p:spPr>
            <a:xfrm>
              <a:off x="510" y="2504"/>
              <a:ext cx="4701" cy="28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∙Suppose a mass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is located on the surface of a planet of radius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We know that it’s weight is </a:t>
            </a:r>
            <a:r>
              <a:rPr i="1" lang="en-US" sz="2400">
                <a:solidFill>
                  <a:srgbClr val="000000"/>
                </a:solidFill>
                <a:latin typeface="Arial"/>
                <a:ea typeface="Arial"/>
                <a:cs typeface="Arial"/>
                <a:sym typeface="Arial"/>
              </a:rPr>
              <a:t>F</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mg</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∙But from the law of universal gravitation, the weight of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is equal to its attraction to the planet’s mass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and equals </a:t>
            </a:r>
            <a:r>
              <a:rPr i="1" lang="en-US" sz="2400">
                <a:solidFill>
                  <a:srgbClr val="000000"/>
                </a:solidFill>
                <a:latin typeface="Arial"/>
                <a:ea typeface="Arial"/>
                <a:cs typeface="Arial"/>
                <a:sym typeface="Arial"/>
              </a:rPr>
              <a:t>F</a:t>
            </a:r>
            <a:r>
              <a:rPr lang="en-US" sz="2400">
                <a:solidFill>
                  <a:srgbClr val="000000"/>
                </a:solidFill>
                <a:latin typeface="Arial"/>
                <a:ea typeface="Arial"/>
                <a:cs typeface="Arial"/>
                <a:sym typeface="Arial"/>
              </a:rPr>
              <a:t> = </a:t>
            </a:r>
            <a:r>
              <a:rPr i="1" lang="en-US" sz="2400">
                <a:solidFill>
                  <a:schemeClr val="dk1"/>
                </a:solidFill>
                <a:latin typeface="Arial"/>
                <a:ea typeface="Arial"/>
                <a:cs typeface="Arial"/>
                <a:sym typeface="Arial"/>
              </a:rPr>
              <a:t>GMm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sz="2400">
              <a:solidFill>
                <a:srgbClr val="000000"/>
              </a:solidFill>
              <a:latin typeface="Arial"/>
              <a:ea typeface="Arial"/>
              <a:cs typeface="Arial"/>
              <a:sym typeface="Arial"/>
            </a:endParaRPr>
          </a:p>
          <a:p>
            <a:pPr indent="-152400" lvl="0" marL="0" marR="0" rtl="0" algn="l">
              <a:spcBef>
                <a:spcPts val="48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Thus</a:t>
            </a:r>
            <a:r>
              <a:rPr i="1" lang="en-US" sz="2400">
                <a:solidFill>
                  <a:srgbClr val="000000"/>
                </a:solidFill>
                <a:latin typeface="Arial"/>
                <a:ea typeface="Arial"/>
                <a:cs typeface="Arial"/>
                <a:sym typeface="Arial"/>
              </a:rPr>
              <a:t> mg</a:t>
            </a:r>
            <a:r>
              <a:rPr lang="en-US" sz="2400">
                <a:solidFill>
                  <a:srgbClr val="000000"/>
                </a:solidFill>
                <a:latin typeface="Arial"/>
                <a:ea typeface="Arial"/>
                <a:cs typeface="Arial"/>
                <a:sym typeface="Arial"/>
              </a:rPr>
              <a:t> = </a:t>
            </a:r>
            <a:r>
              <a:rPr i="1" lang="en-US" sz="2400">
                <a:solidFill>
                  <a:schemeClr val="dk1"/>
                </a:solidFill>
                <a:latin typeface="Arial"/>
                <a:ea typeface="Arial"/>
                <a:cs typeface="Arial"/>
                <a:sym typeface="Arial"/>
              </a:rPr>
              <a:t>GMm /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This same derivation works for any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12" name="Google Shape;312;p2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313" name="Google Shape;313;p26"/>
          <p:cNvGrpSpPr/>
          <p:nvPr/>
        </p:nvGrpSpPr>
        <p:grpSpPr>
          <a:xfrm>
            <a:off x="809625" y="4433888"/>
            <a:ext cx="7464425" cy="825500"/>
            <a:chOff x="510" y="2753"/>
            <a:chExt cx="4702" cy="520"/>
          </a:xfrm>
        </p:grpSpPr>
        <p:sp>
          <p:nvSpPr>
            <p:cNvPr id="314" name="Google Shape;314;p26"/>
            <p:cNvSpPr/>
            <p:nvPr/>
          </p:nvSpPr>
          <p:spPr>
            <a:xfrm>
              <a:off x="592" y="2766"/>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endParaRPr i="1" sz="2400">
                <a:solidFill>
                  <a:schemeClr val="dk1"/>
                </a:solidFill>
                <a:latin typeface="Arial"/>
                <a:ea typeface="Arial"/>
                <a:cs typeface="Arial"/>
                <a:sym typeface="Arial"/>
              </a:endParaRPr>
            </a:p>
          </p:txBody>
        </p:sp>
        <p:sp>
          <p:nvSpPr>
            <p:cNvPr id="315" name="Google Shape;315;p26"/>
            <p:cNvSpPr txBox="1"/>
            <p:nvPr/>
          </p:nvSpPr>
          <p:spPr>
            <a:xfrm>
              <a:off x="1841" y="2753"/>
              <a:ext cx="3371"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field strength at surface of a planet of mass </a:t>
              </a:r>
              <a:r>
                <a:rPr i="1" lang="en-US" sz="2400">
                  <a:solidFill>
                    <a:schemeClr val="lt1"/>
                  </a:solidFill>
                  <a:latin typeface="Arial"/>
                  <a:ea typeface="Arial"/>
                  <a:cs typeface="Arial"/>
                  <a:sym typeface="Arial"/>
                </a:rPr>
                <a:t>M</a:t>
              </a:r>
              <a:r>
                <a:rPr lang="en-US" sz="2400">
                  <a:solidFill>
                    <a:schemeClr val="lt1"/>
                  </a:solidFill>
                  <a:latin typeface="Arial"/>
                  <a:ea typeface="Arial"/>
                  <a:cs typeface="Arial"/>
                  <a:sym typeface="Arial"/>
                </a:rPr>
                <a:t> and radius </a:t>
              </a:r>
              <a:r>
                <a:rPr i="1" lang="en-US" sz="2400">
                  <a:solidFill>
                    <a:schemeClr val="lt1"/>
                  </a:solidFill>
                  <a:latin typeface="Arial"/>
                  <a:ea typeface="Arial"/>
                  <a:cs typeface="Arial"/>
                  <a:sym typeface="Arial"/>
                </a:rPr>
                <a:t>R</a:t>
              </a:r>
              <a:endParaRPr/>
            </a:p>
          </p:txBody>
        </p:sp>
        <p:sp>
          <p:nvSpPr>
            <p:cNvPr id="316" name="Google Shape;316;p26"/>
            <p:cNvSpPr/>
            <p:nvPr/>
          </p:nvSpPr>
          <p:spPr>
            <a:xfrm>
              <a:off x="510" y="2755"/>
              <a:ext cx="4701" cy="51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grpSp>
        <p:nvGrpSpPr>
          <p:cNvPr id="317" name="Google Shape;317;p26"/>
          <p:cNvGrpSpPr/>
          <p:nvPr/>
        </p:nvGrpSpPr>
        <p:grpSpPr>
          <a:xfrm>
            <a:off x="806450" y="5775325"/>
            <a:ext cx="7464425" cy="830263"/>
            <a:chOff x="508" y="3638"/>
            <a:chExt cx="4702" cy="523"/>
          </a:xfrm>
        </p:grpSpPr>
        <p:sp>
          <p:nvSpPr>
            <p:cNvPr id="318" name="Google Shape;318;p26"/>
            <p:cNvSpPr/>
            <p:nvPr/>
          </p:nvSpPr>
          <p:spPr>
            <a:xfrm>
              <a:off x="590" y="3651"/>
              <a:ext cx="179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 r</a:t>
              </a:r>
              <a:r>
                <a:rPr baseline="30000" lang="en-US" sz="2400">
                  <a:solidFill>
                    <a:schemeClr val="dk1"/>
                  </a:solidFill>
                  <a:latin typeface="Arial"/>
                  <a:ea typeface="Arial"/>
                  <a:cs typeface="Arial"/>
                  <a:sym typeface="Arial"/>
                </a:rPr>
                <a:t> 2</a:t>
              </a:r>
              <a:endParaRPr i="1" sz="2400">
                <a:solidFill>
                  <a:schemeClr val="dk1"/>
                </a:solidFill>
                <a:latin typeface="Arial"/>
                <a:ea typeface="Arial"/>
                <a:cs typeface="Arial"/>
                <a:sym typeface="Arial"/>
              </a:endParaRPr>
            </a:p>
          </p:txBody>
        </p:sp>
        <p:sp>
          <p:nvSpPr>
            <p:cNvPr id="319" name="Google Shape;319;p26"/>
            <p:cNvSpPr txBox="1"/>
            <p:nvPr/>
          </p:nvSpPr>
          <p:spPr>
            <a:xfrm>
              <a:off x="1860" y="3638"/>
              <a:ext cx="3350" cy="523"/>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gravitational field strength at distance </a:t>
              </a:r>
              <a:r>
                <a:rPr i="1" lang="en-US" sz="2400">
                  <a:solidFill>
                    <a:schemeClr val="lt1"/>
                  </a:solidFill>
                  <a:latin typeface="Arial"/>
                  <a:ea typeface="Arial"/>
                  <a:cs typeface="Arial"/>
                  <a:sym typeface="Arial"/>
                </a:rPr>
                <a:t>r</a:t>
              </a:r>
              <a:r>
                <a:rPr lang="en-US" sz="2400">
                  <a:solidFill>
                    <a:schemeClr val="lt1"/>
                  </a:solidFill>
                  <a:latin typeface="Arial"/>
                  <a:ea typeface="Arial"/>
                  <a:cs typeface="Arial"/>
                  <a:sym typeface="Arial"/>
                </a:rPr>
                <a:t>  from center of a mass </a:t>
              </a:r>
              <a:r>
                <a:rPr i="1" lang="en-US" sz="2400">
                  <a:solidFill>
                    <a:schemeClr val="lt1"/>
                  </a:solidFill>
                  <a:latin typeface="Arial"/>
                  <a:ea typeface="Arial"/>
                  <a:cs typeface="Arial"/>
                  <a:sym typeface="Arial"/>
                </a:rPr>
                <a:t>M</a:t>
              </a:r>
              <a:endParaRPr sz="2400">
                <a:solidFill>
                  <a:schemeClr val="lt1"/>
                </a:solidFill>
                <a:latin typeface="Arial"/>
                <a:ea typeface="Arial"/>
                <a:cs typeface="Arial"/>
                <a:sym typeface="Arial"/>
              </a:endParaRPr>
            </a:p>
          </p:txBody>
        </p:sp>
        <p:sp>
          <p:nvSpPr>
            <p:cNvPr id="320" name="Google Shape;320;p26"/>
            <p:cNvSpPr/>
            <p:nvPr/>
          </p:nvSpPr>
          <p:spPr>
            <a:xfrm>
              <a:off x="508" y="3640"/>
              <a:ext cx="4701" cy="51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321" name="Google Shape;321;p26"/>
          <p:cNvSpPr/>
          <p:nvPr/>
        </p:nvSpPr>
        <p:spPr>
          <a:xfrm>
            <a:off x="7034213" y="2430463"/>
            <a:ext cx="280987" cy="355600"/>
          </a:xfrm>
          <a:prstGeom prst="rect">
            <a:avLst/>
          </a:prstGeom>
          <a:solidFill>
            <a:srgbClr val="FF0000">
              <a:alpha val="2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2" name="Google Shape;322;p26"/>
          <p:cNvSpPr/>
          <p:nvPr/>
        </p:nvSpPr>
        <p:spPr>
          <a:xfrm>
            <a:off x="1727200" y="3573463"/>
            <a:ext cx="284163" cy="365125"/>
          </a:xfrm>
          <a:prstGeom prst="rect">
            <a:avLst/>
          </a:prstGeom>
          <a:solidFill>
            <a:srgbClr val="FF0000">
              <a:alpha val="2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23" name="Google Shape;323;p26"/>
          <p:cNvCxnSpPr/>
          <p:nvPr/>
        </p:nvCxnSpPr>
        <p:spPr>
          <a:xfrm flipH="1">
            <a:off x="1689100" y="4103688"/>
            <a:ext cx="238125" cy="231775"/>
          </a:xfrm>
          <a:prstGeom prst="straightConnector1">
            <a:avLst/>
          </a:prstGeom>
          <a:noFill/>
          <a:ln cap="flat" cmpd="sng" w="19050">
            <a:solidFill>
              <a:srgbClr val="FF0000"/>
            </a:solidFill>
            <a:prstDash val="solid"/>
            <a:round/>
            <a:headEnd len="med" w="med" type="none"/>
            <a:tailEnd len="med" w="med" type="none"/>
          </a:ln>
        </p:spPr>
      </p:cxnSp>
      <p:cxnSp>
        <p:nvCxnSpPr>
          <p:cNvPr id="324" name="Google Shape;324;p26"/>
          <p:cNvCxnSpPr/>
          <p:nvPr/>
        </p:nvCxnSpPr>
        <p:spPr>
          <a:xfrm>
            <a:off x="3014663" y="4089400"/>
            <a:ext cx="123825" cy="220663"/>
          </a:xfrm>
          <a:prstGeom prst="straightConnector1">
            <a:avLst/>
          </a:prstGeom>
          <a:noFill/>
          <a:ln cap="flat" cmpd="sng" w="19050">
            <a:solidFill>
              <a:srgbClr val="FF0000"/>
            </a:solidFill>
            <a:prstDash val="solid"/>
            <a:round/>
            <a:headEnd len="med" w="med" type="none"/>
            <a:tailEnd len="med" w="med" type="none"/>
          </a:ln>
        </p:spPr>
      </p:cxnSp>
      <p:sp>
        <p:nvSpPr>
          <p:cNvPr id="325" name="Google Shape;325;p26"/>
          <p:cNvSpPr/>
          <p:nvPr/>
        </p:nvSpPr>
        <p:spPr>
          <a:xfrm>
            <a:off x="7594600" y="2405063"/>
            <a:ext cx="481013" cy="354012"/>
          </a:xfrm>
          <a:prstGeom prst="rect">
            <a:avLst/>
          </a:prstGeom>
          <a:solidFill>
            <a:srgbClr val="FFCC00">
              <a:alpha val="2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6" name="Google Shape;326;p26"/>
          <p:cNvSpPr/>
          <p:nvPr/>
        </p:nvSpPr>
        <p:spPr>
          <a:xfrm>
            <a:off x="2281238" y="3559175"/>
            <a:ext cx="1431925" cy="374650"/>
          </a:xfrm>
          <a:prstGeom prst="rect">
            <a:avLst/>
          </a:prstGeom>
          <a:solidFill>
            <a:srgbClr val="FFCC00">
              <a:alpha val="21568"/>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 calcmode="lin" valueType="num">
                                      <p:cBhvr additive="base">
                                        <p:cTn dur="500"/>
                                        <p:tgtEl>
                                          <p:spTgt spid="3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anim calcmode="lin" valueType="num">
                                      <p:cBhvr additive="base">
                                        <p:cTn dur="500"/>
                                        <p:tgtEl>
                                          <p:spTgt spid="3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anim calcmode="lin" valueType="num">
                                      <p:cBhvr additive="base">
                                        <p:cTn dur="500"/>
                                        <p:tgtEl>
                                          <p:spTgt spid="3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anim calcmode="lin" valueType="num">
                                      <p:cBhvr additive="base">
                                        <p:cTn dur="500"/>
                                        <p:tgtEl>
                                          <p:spTgt spid="3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anim calcmode="lin" valueType="num">
                                      <p:cBhvr additive="base">
                                        <p:cTn dur="500"/>
                                        <p:tgtEl>
                                          <p:spTgt spid="3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anim calcmode="lin" valueType="num">
                                      <p:cBhvr additive="base">
                                        <p:cTn dur="500"/>
                                        <p:tgtEl>
                                          <p:spTgt spid="3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6" st="6"/>
                                            </p:txEl>
                                          </p:spTgt>
                                        </p:tgtEl>
                                        <p:attrNameLst>
                                          <p:attrName>style.visibility</p:attrName>
                                        </p:attrNameLst>
                                      </p:cBhvr>
                                      <p:to>
                                        <p:strVal val="visible"/>
                                      </p:to>
                                    </p:set>
                                    <p:anim calcmode="lin" valueType="num">
                                      <p:cBhvr additive="base">
                                        <p:cTn dur="500"/>
                                        <p:tgtEl>
                                          <p:spTgt spid="31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xEl>
                                              <p:pRg end="7" st="7"/>
                                            </p:txEl>
                                          </p:spTgt>
                                        </p:tgtEl>
                                        <p:attrNameLst>
                                          <p:attrName>style.visibility</p:attrName>
                                        </p:attrNameLst>
                                      </p:cBhvr>
                                      <p:to>
                                        <p:strVal val="visible"/>
                                      </p:to>
                                    </p:set>
                                    <p:anim calcmode="lin" valueType="num">
                                      <p:cBhvr additive="base">
                                        <p:cTn dur="500"/>
                                        <p:tgtEl>
                                          <p:spTgt spid="31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500"/>
                                        <p:tgtEl>
                                          <p:spTgt spid="321"/>
                                        </p:tgtEl>
                                        <p:attrNameLst>
                                          <p:attrName>ppt_w</p:attrName>
                                        </p:attrNameLst>
                                      </p:cBhvr>
                                      <p:tavLst>
                                        <p:tav fmla="" tm="0">
                                          <p:val>
                                            <p:strVal val="0"/>
                                          </p:val>
                                        </p:tav>
                                        <p:tav fmla="" tm="100000">
                                          <p:val>
                                            <p:strVal val="#ppt_w"/>
                                          </p:val>
                                        </p:tav>
                                      </p:tavLst>
                                    </p:anim>
                                    <p:anim calcmode="lin" valueType="num">
                                      <p:cBhvr additive="base">
                                        <p:cTn dur="500"/>
                                        <p:tgtEl>
                                          <p:spTgt spid="321"/>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ppt_w</p:attrName>
                                        </p:attrNameLst>
                                      </p:cBhvr>
                                      <p:tavLst>
                                        <p:tav fmla="" tm="0">
                                          <p:val>
                                            <p:strVal val="0"/>
                                          </p:val>
                                        </p:tav>
                                        <p:tav fmla="" tm="100000">
                                          <p:val>
                                            <p:strVal val="#ppt_w"/>
                                          </p:val>
                                        </p:tav>
                                      </p:tavLst>
                                    </p:anim>
                                    <p:anim calcmode="lin" valueType="num">
                                      <p:cBhvr additive="base">
                                        <p:cTn dur="500"/>
                                        <p:tgtEl>
                                          <p:spTgt spid="3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500"/>
                                        <p:tgtEl>
                                          <p:spTgt spid="325"/>
                                        </p:tgtEl>
                                        <p:attrNameLst>
                                          <p:attrName>ppt_w</p:attrName>
                                        </p:attrNameLst>
                                      </p:cBhvr>
                                      <p:tavLst>
                                        <p:tav fmla="" tm="0">
                                          <p:val>
                                            <p:strVal val="0"/>
                                          </p:val>
                                        </p:tav>
                                        <p:tav fmla="" tm="100000">
                                          <p:val>
                                            <p:strVal val="#ppt_w"/>
                                          </p:val>
                                        </p:tav>
                                      </p:tavLst>
                                    </p:anim>
                                    <p:anim calcmode="lin" valueType="num">
                                      <p:cBhvr additive="base">
                                        <p:cTn dur="500"/>
                                        <p:tgtEl>
                                          <p:spTgt spid="32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26"/>
                                        </p:tgtEl>
                                        <p:attrNameLst>
                                          <p:attrName>style.visibility</p:attrName>
                                        </p:attrNameLst>
                                      </p:cBhvr>
                                      <p:to>
                                        <p:strVal val="visible"/>
                                      </p:to>
                                    </p:set>
                                    <p:anim calcmode="lin" valueType="num">
                                      <p:cBhvr additive="base">
                                        <p:cTn dur="500"/>
                                        <p:tgtEl>
                                          <p:spTgt spid="326"/>
                                        </p:tgtEl>
                                        <p:attrNameLst>
                                          <p:attrName>ppt_w</p:attrName>
                                        </p:attrNameLst>
                                      </p:cBhvr>
                                      <p:tavLst>
                                        <p:tav fmla="" tm="0">
                                          <p:val>
                                            <p:strVal val="0"/>
                                          </p:val>
                                        </p:tav>
                                        <p:tav fmla="" tm="100000">
                                          <p:val>
                                            <p:strVal val="#ppt_w"/>
                                          </p:val>
                                        </p:tav>
                                      </p:tavLst>
                                    </p:anim>
                                    <p:anim calcmode="lin" valueType="num">
                                      <p:cBhvr additive="base">
                                        <p:cTn dur="500"/>
                                        <p:tgtEl>
                                          <p:spTgt spid="32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500"/>
                                        <p:tgtEl>
                                          <p:spTgt spid="323"/>
                                        </p:tgtEl>
                                        <p:attrNameLst>
                                          <p:attrName>ppt_w</p:attrName>
                                        </p:attrNameLst>
                                      </p:cBhvr>
                                      <p:tavLst>
                                        <p:tav fmla="" tm="0">
                                          <p:val>
                                            <p:strVal val="0"/>
                                          </p:val>
                                        </p:tav>
                                        <p:tav fmla="" tm="100000">
                                          <p:val>
                                            <p:strVal val="#ppt_w"/>
                                          </p:val>
                                        </p:tav>
                                      </p:tavLst>
                                    </p:anim>
                                    <p:anim calcmode="lin" valueType="num">
                                      <p:cBhvr additive="base">
                                        <p:cTn dur="500"/>
                                        <p:tgtEl>
                                          <p:spTgt spid="3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4"/>
                                        </p:tgtEl>
                                        <p:attrNameLst>
                                          <p:attrName>style.visibility</p:attrName>
                                        </p:attrNameLst>
                                      </p:cBhvr>
                                      <p:to>
                                        <p:strVal val="visible"/>
                                      </p:to>
                                    </p:set>
                                    <p:anim calcmode="lin" valueType="num">
                                      <p:cBhvr additive="base">
                                        <p:cTn dur="500"/>
                                        <p:tgtEl>
                                          <p:spTgt spid="324"/>
                                        </p:tgtEl>
                                        <p:attrNameLst>
                                          <p:attrName>ppt_w</p:attrName>
                                        </p:attrNameLst>
                                      </p:cBhvr>
                                      <p:tavLst>
                                        <p:tav fmla="" tm="0">
                                          <p:val>
                                            <p:strVal val="0"/>
                                          </p:val>
                                        </p:tav>
                                        <p:tav fmla="" tm="100000">
                                          <p:val>
                                            <p:strVal val="#ppt_w"/>
                                          </p:val>
                                        </p:tav>
                                      </p:tavLst>
                                    </p:anim>
                                    <p:anim calcmode="lin" valueType="num">
                                      <p:cBhvr additive="base">
                                        <p:cTn dur="500"/>
                                        <p:tgtEl>
                                          <p:spTgt spid="32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ppt_w</p:attrName>
                                        </p:attrNameLst>
                                      </p:cBhvr>
                                      <p:tavLst>
                                        <p:tav fmla="" tm="0">
                                          <p:val>
                                            <p:strVal val="0"/>
                                          </p:val>
                                        </p:tav>
                                        <p:tav fmla="" tm="100000">
                                          <p:val>
                                            <p:strVal val="#ppt_w"/>
                                          </p:val>
                                        </p:tav>
                                      </p:tavLst>
                                    </p:anim>
                                    <p:anim calcmode="lin" valueType="num">
                                      <p:cBhvr additive="base">
                                        <p:cTn dur="500"/>
                                        <p:tgtEl>
                                          <p:spTgt spid="3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500"/>
                                        <p:tgtEl>
                                          <p:spTgt spid="317"/>
                                        </p:tgtEl>
                                        <p:attrNameLst>
                                          <p:attrName>ppt_w</p:attrName>
                                        </p:attrNameLst>
                                      </p:cBhvr>
                                      <p:tavLst>
                                        <p:tav fmla="" tm="0">
                                          <p:val>
                                            <p:strVal val="0"/>
                                          </p:val>
                                        </p:tav>
                                        <p:tav fmla="" tm="100000">
                                          <p:val>
                                            <p:strVal val="#ppt_w"/>
                                          </p:val>
                                        </p:tav>
                                      </p:tavLst>
                                    </p:anim>
                                    <p:anim calcmode="lin" valueType="num">
                                      <p:cBhvr additive="base">
                                        <p:cTn dur="500"/>
                                        <p:tgtEl>
                                          <p:spTgt spid="31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7"/>
          <p:cNvSpPr/>
          <p:nvPr/>
        </p:nvSpPr>
        <p:spPr>
          <a:xfrm>
            <a:off x="685800" y="1549400"/>
            <a:ext cx="7772400" cy="473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p:txBody>
      </p:sp>
      <p:sp>
        <p:nvSpPr>
          <p:cNvPr id="333" name="Google Shape;333;p2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334" name="Google Shape;334;p27"/>
          <p:cNvSpPr/>
          <p:nvPr/>
        </p:nvSpPr>
        <p:spPr>
          <a:xfrm>
            <a:off x="687388" y="1993900"/>
            <a:ext cx="7772400" cy="486410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The mass of the earth is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 5.98×10</a:t>
            </a:r>
            <a:r>
              <a:rPr baseline="30000" lang="en-US" sz="2400">
                <a:solidFill>
                  <a:schemeClr val="dk1"/>
                </a:solidFill>
                <a:latin typeface="Arial"/>
                <a:ea typeface="Arial"/>
                <a:cs typeface="Arial"/>
                <a:sym typeface="Arial"/>
              </a:rPr>
              <a:t>24</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 and the radius of the earth is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 6.37×10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m. Find the gravitational field strength at the surface of the earth, and at a distance of one earth radius above its surface.</a:t>
            </a:r>
            <a:endParaRPr/>
          </a:p>
          <a:p>
            <a:pPr indent="0" lvl="0" marL="0" marR="0" rtl="0" algn="l">
              <a:spcBef>
                <a:spcPts val="36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360"/>
              </a:spcBef>
              <a:spcAft>
                <a:spcPts val="0"/>
              </a:spcAft>
              <a:buNone/>
            </a:pPr>
            <a:r>
              <a:rPr lang="en-US" sz="2400">
                <a:solidFill>
                  <a:schemeClr val="dk1"/>
                </a:solidFill>
                <a:latin typeface="Arial"/>
                <a:ea typeface="Arial"/>
                <a:cs typeface="Arial"/>
                <a:sym typeface="Arial"/>
              </a:rPr>
              <a:t>∙For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a:t>
            </a:r>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 R</a:t>
            </a:r>
            <a:r>
              <a:rPr baseline="30000" lang="en-US" sz="2400">
                <a:solidFill>
                  <a:schemeClr val="dk1"/>
                </a:solidFill>
                <a:latin typeface="Arial"/>
                <a:ea typeface="Arial"/>
                <a:cs typeface="Arial"/>
                <a:sym typeface="Arial"/>
              </a:rPr>
              <a:t> 2</a:t>
            </a:r>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(6.67×10</a:t>
            </a:r>
            <a:r>
              <a:rPr baseline="30000" lang="en-US" sz="2400">
                <a:solidFill>
                  <a:schemeClr val="dk1"/>
                </a:solidFill>
                <a:latin typeface="Arial"/>
                <a:ea typeface="Arial"/>
                <a:cs typeface="Arial"/>
                <a:sym typeface="Arial"/>
              </a:rPr>
              <a:t>−11</a:t>
            </a:r>
            <a:r>
              <a:rPr lang="en-US" sz="2400">
                <a:solidFill>
                  <a:schemeClr val="dk1"/>
                </a:solidFill>
                <a:latin typeface="Arial"/>
                <a:ea typeface="Arial"/>
                <a:cs typeface="Arial"/>
                <a:sym typeface="Arial"/>
              </a:rPr>
              <a:t>)(5.98×10</a:t>
            </a:r>
            <a:r>
              <a:rPr baseline="30000" lang="en-US" sz="2400">
                <a:solidFill>
                  <a:schemeClr val="dk1"/>
                </a:solidFill>
                <a:latin typeface="Arial"/>
                <a:ea typeface="Arial"/>
                <a:cs typeface="Arial"/>
                <a:sym typeface="Arial"/>
              </a:rPr>
              <a:t>24</a:t>
            </a:r>
            <a:r>
              <a:rPr lang="en-US" sz="2400">
                <a:solidFill>
                  <a:schemeClr val="dk1"/>
                </a:solidFill>
                <a:latin typeface="Arial"/>
                <a:ea typeface="Arial"/>
                <a:cs typeface="Arial"/>
                <a:sym typeface="Arial"/>
              </a:rPr>
              <a:t>)/(6.37×10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9.83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0" lvl="0" marL="0" marR="0" rtl="0" algn="l">
              <a:spcBef>
                <a:spcPts val="360"/>
              </a:spcBef>
              <a:spcAft>
                <a:spcPts val="0"/>
              </a:spcAft>
              <a:buNone/>
            </a:pPr>
            <a:r>
              <a:rPr lang="en-US" sz="2400">
                <a:solidFill>
                  <a:schemeClr val="dk1"/>
                </a:solidFill>
                <a:latin typeface="Arial"/>
                <a:ea typeface="Arial"/>
                <a:cs typeface="Arial"/>
                <a:sym typeface="Arial"/>
              </a:rPr>
              <a:t>∙For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Since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is squared…just divide by 2</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4. Thus</a:t>
            </a:r>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9.83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4 = 2.46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 calcmode="lin" valueType="num">
                                      <p:cBhvr additive="base">
                                        <p:cTn dur="500"/>
                                        <p:tgtEl>
                                          <p:spTgt spid="3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 calcmode="lin" valueType="num">
                                      <p:cBhvr additive="base">
                                        <p:cTn dur="500"/>
                                        <p:tgtEl>
                                          <p:spTgt spid="3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 calcmode="lin" valueType="num">
                                      <p:cBhvr additive="base">
                                        <p:cTn dur="500"/>
                                        <p:tgtEl>
                                          <p:spTgt spid="3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 calcmode="lin" valueType="num">
                                      <p:cBhvr additive="base">
                                        <p:cTn dur="500"/>
                                        <p:tgtEl>
                                          <p:spTgt spid="3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anim calcmode="lin" valueType="num">
                                      <p:cBhvr additive="base">
                                        <p:cTn dur="500"/>
                                        <p:tgtEl>
                                          <p:spTgt spid="33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anim calcmode="lin" valueType="num">
                                      <p:cBhvr additive="base">
                                        <p:cTn dur="500"/>
                                        <p:tgtEl>
                                          <p:spTgt spid="33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6" st="6"/>
                                            </p:txEl>
                                          </p:spTgt>
                                        </p:tgtEl>
                                        <p:attrNameLst>
                                          <p:attrName>style.visibility</p:attrName>
                                        </p:attrNameLst>
                                      </p:cBhvr>
                                      <p:to>
                                        <p:strVal val="visible"/>
                                      </p:to>
                                    </p:set>
                                    <p:anim calcmode="lin" valueType="num">
                                      <p:cBhvr additive="base">
                                        <p:cTn dur="500"/>
                                        <p:tgtEl>
                                          <p:spTgt spid="33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xEl>
                                              <p:pRg end="7" st="7"/>
                                            </p:txEl>
                                          </p:spTgt>
                                        </p:tgtEl>
                                        <p:attrNameLst>
                                          <p:attrName>style.visibility</p:attrName>
                                        </p:attrNameLst>
                                      </p:cBhvr>
                                      <p:to>
                                        <p:strVal val="visible"/>
                                      </p:to>
                                    </p:set>
                                    <p:anim calcmode="lin" valueType="num">
                                      <p:cBhvr additive="base">
                                        <p:cTn dur="500"/>
                                        <p:tgtEl>
                                          <p:spTgt spid="33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8"/>
          <p:cNvSpPr/>
          <p:nvPr/>
        </p:nvSpPr>
        <p:spPr>
          <a:xfrm>
            <a:off x="685800" y="1549400"/>
            <a:ext cx="7772400" cy="4857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field strength</a:t>
            </a:r>
            <a:endParaRPr/>
          </a:p>
        </p:txBody>
      </p:sp>
      <p:sp>
        <p:nvSpPr>
          <p:cNvPr id="341" name="Google Shape;341;p2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342" name="Google Shape;342;p28"/>
          <p:cNvSpPr/>
          <p:nvPr/>
        </p:nvSpPr>
        <p:spPr>
          <a:xfrm>
            <a:off x="687388" y="2006600"/>
            <a:ext cx="7772400" cy="485140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A 525-kg satellite is launched from the earth’s surface to a height of one earth radius above the surface. What is its weight (a) at the surface, and (b) at altitude?</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Use information from the previous slide:</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a:t>
            </a:r>
            <a:r>
              <a:rPr i="1" lang="en-US" sz="2400">
                <a:solidFill>
                  <a:schemeClr val="dk1"/>
                </a:solidFill>
                <a:latin typeface="Arial"/>
                <a:ea typeface="Arial"/>
                <a:cs typeface="Arial"/>
                <a:sym typeface="Arial"/>
              </a:rPr>
              <a:t> AT </a:t>
            </a:r>
            <a:r>
              <a:rPr lang="en-US" sz="2400">
                <a:solidFill>
                  <a:schemeClr val="dk1"/>
                </a:solidFill>
                <a:latin typeface="Arial"/>
                <a:ea typeface="Arial"/>
                <a:cs typeface="Arial"/>
                <a:sym typeface="Arial"/>
              </a:rPr>
              <a:t>SURFACE:</a:t>
            </a:r>
            <a:r>
              <a:rPr i="1" lang="en-US" sz="2400">
                <a:solidFill>
                  <a:schemeClr val="dk1"/>
                </a:solidFill>
                <a:latin typeface="Arial"/>
                <a:ea typeface="Arial"/>
                <a:cs typeface="Arial"/>
                <a:sym typeface="Arial"/>
              </a:rPr>
              <a:t>  g</a:t>
            </a:r>
            <a:r>
              <a:rPr baseline="-25000" lang="en-US" sz="2400">
                <a:solidFill>
                  <a:schemeClr val="dk1"/>
                </a:solidFill>
                <a:latin typeface="Arial"/>
                <a:ea typeface="Arial"/>
                <a:cs typeface="Arial"/>
                <a:sym typeface="Arial"/>
              </a:rPr>
              <a:t>surface</a:t>
            </a:r>
            <a:r>
              <a:rPr lang="en-US" sz="2400">
                <a:solidFill>
                  <a:schemeClr val="dk1"/>
                </a:solidFill>
                <a:latin typeface="Arial"/>
                <a:ea typeface="Arial"/>
                <a:cs typeface="Arial"/>
                <a:sym typeface="Arial"/>
              </a:rPr>
              <a:t> = 9.83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∙Then from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we get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(525)(9.83) = 5160 N.</a:t>
            </a:r>
            <a:endParaRPr baseline="30000"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(b)</a:t>
            </a:r>
            <a:r>
              <a:rPr i="1" lang="en-US" sz="2400">
                <a:solidFill>
                  <a:schemeClr val="dk1"/>
                </a:solidFill>
                <a:latin typeface="Arial"/>
                <a:ea typeface="Arial"/>
                <a:cs typeface="Arial"/>
                <a:sym typeface="Arial"/>
              </a:rPr>
              <a:t> AT </a:t>
            </a:r>
            <a:r>
              <a:rPr lang="en-US" sz="2400">
                <a:solidFill>
                  <a:schemeClr val="dk1"/>
                </a:solidFill>
                <a:latin typeface="Arial"/>
                <a:ea typeface="Arial"/>
                <a:cs typeface="Arial"/>
                <a:sym typeface="Arial"/>
              </a:rPr>
              <a:t>ALTITUDE: </a:t>
            </a:r>
            <a:r>
              <a:rPr i="1" lang="en-US" sz="2400">
                <a:solidFill>
                  <a:schemeClr val="dk1"/>
                </a:solidFill>
                <a:latin typeface="Arial"/>
                <a:ea typeface="Arial"/>
                <a:cs typeface="Arial"/>
                <a:sym typeface="Arial"/>
              </a:rPr>
              <a:t>g</a:t>
            </a:r>
            <a:r>
              <a:rPr baseline="-25000" lang="en-US" sz="2400">
                <a:solidFill>
                  <a:schemeClr val="dk1"/>
                </a:solidFill>
                <a:latin typeface="Arial"/>
                <a:ea typeface="Arial"/>
                <a:cs typeface="Arial"/>
                <a:sym typeface="Arial"/>
              </a:rPr>
              <a:t>surface+R</a:t>
            </a:r>
            <a:r>
              <a:rPr lang="en-US" sz="2400">
                <a:solidFill>
                  <a:schemeClr val="dk1"/>
                </a:solidFill>
                <a:latin typeface="Arial"/>
                <a:ea typeface="Arial"/>
                <a:cs typeface="Arial"/>
                <a:sym typeface="Arial"/>
              </a:rPr>
              <a:t> = 2.46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∙Then from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we get</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(525)(2.46) = 1290 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0" st="0"/>
                                            </p:txEl>
                                          </p:spTgt>
                                        </p:tgtEl>
                                        <p:attrNameLst>
                                          <p:attrName>style.visibility</p:attrName>
                                        </p:attrNameLst>
                                      </p:cBhvr>
                                      <p:to>
                                        <p:strVal val="visible"/>
                                      </p:to>
                                    </p:set>
                                    <p:anim calcmode="lin" valueType="num">
                                      <p:cBhvr additive="base">
                                        <p:cTn dur="500"/>
                                        <p:tgtEl>
                                          <p:spTgt spid="3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1" st="1"/>
                                            </p:txEl>
                                          </p:spTgt>
                                        </p:tgtEl>
                                        <p:attrNameLst>
                                          <p:attrName>style.visibility</p:attrName>
                                        </p:attrNameLst>
                                      </p:cBhvr>
                                      <p:to>
                                        <p:strVal val="visible"/>
                                      </p:to>
                                    </p:set>
                                    <p:anim calcmode="lin" valueType="num">
                                      <p:cBhvr additive="base">
                                        <p:cTn dur="500"/>
                                        <p:tgtEl>
                                          <p:spTgt spid="3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2" st="2"/>
                                            </p:txEl>
                                          </p:spTgt>
                                        </p:tgtEl>
                                        <p:attrNameLst>
                                          <p:attrName>style.visibility</p:attrName>
                                        </p:attrNameLst>
                                      </p:cBhvr>
                                      <p:to>
                                        <p:strVal val="visible"/>
                                      </p:to>
                                    </p:set>
                                    <p:anim calcmode="lin" valueType="num">
                                      <p:cBhvr additive="base">
                                        <p:cTn dur="500"/>
                                        <p:tgtEl>
                                          <p:spTgt spid="34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3" st="3"/>
                                            </p:txEl>
                                          </p:spTgt>
                                        </p:tgtEl>
                                        <p:attrNameLst>
                                          <p:attrName>style.visibility</p:attrName>
                                        </p:attrNameLst>
                                      </p:cBhvr>
                                      <p:to>
                                        <p:strVal val="visible"/>
                                      </p:to>
                                    </p:set>
                                    <p:anim calcmode="lin" valueType="num">
                                      <p:cBhvr additive="base">
                                        <p:cTn dur="500"/>
                                        <p:tgtEl>
                                          <p:spTgt spid="34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4" st="4"/>
                                            </p:txEl>
                                          </p:spTgt>
                                        </p:tgtEl>
                                        <p:attrNameLst>
                                          <p:attrName>style.visibility</p:attrName>
                                        </p:attrNameLst>
                                      </p:cBhvr>
                                      <p:to>
                                        <p:strVal val="visible"/>
                                      </p:to>
                                    </p:set>
                                    <p:anim calcmode="lin" valueType="num">
                                      <p:cBhvr additive="base">
                                        <p:cTn dur="500"/>
                                        <p:tgtEl>
                                          <p:spTgt spid="34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5" st="5"/>
                                            </p:txEl>
                                          </p:spTgt>
                                        </p:tgtEl>
                                        <p:attrNameLst>
                                          <p:attrName>style.visibility</p:attrName>
                                        </p:attrNameLst>
                                      </p:cBhvr>
                                      <p:to>
                                        <p:strVal val="visible"/>
                                      </p:to>
                                    </p:set>
                                    <p:anim calcmode="lin" valueType="num">
                                      <p:cBhvr additive="base">
                                        <p:cTn dur="500"/>
                                        <p:tgtEl>
                                          <p:spTgt spid="34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6" st="6"/>
                                            </p:txEl>
                                          </p:spTgt>
                                        </p:tgtEl>
                                        <p:attrNameLst>
                                          <p:attrName>style.visibility</p:attrName>
                                        </p:attrNameLst>
                                      </p:cBhvr>
                                      <p:to>
                                        <p:strVal val="visible"/>
                                      </p:to>
                                    </p:set>
                                    <p:anim calcmode="lin" valueType="num">
                                      <p:cBhvr additive="base">
                                        <p:cTn dur="500"/>
                                        <p:tgtEl>
                                          <p:spTgt spid="34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2">
                                            <p:txEl>
                                              <p:pRg end="7" st="7"/>
                                            </p:txEl>
                                          </p:spTgt>
                                        </p:tgtEl>
                                        <p:attrNameLst>
                                          <p:attrName>style.visibility</p:attrName>
                                        </p:attrNameLst>
                                      </p:cBhvr>
                                      <p:to>
                                        <p:strVal val="visible"/>
                                      </p:to>
                                    </p:set>
                                    <p:anim calcmode="lin" valueType="num">
                                      <p:cBhvr additive="base">
                                        <p:cTn dur="500"/>
                                        <p:tgtEl>
                                          <p:spTgt spid="34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9"/>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∙Compare the gravitational force formula </a:t>
            </a:r>
            <a:endParaRPr/>
          </a:p>
          <a:p>
            <a:pPr indent="0" lvl="0" marL="0" marR="0" rtl="0" algn="l">
              <a:spcBef>
                <a:spcPts val="480"/>
              </a:spcBef>
              <a:spcAft>
                <a:spcPts val="0"/>
              </a:spcAft>
              <a:buNone/>
            </a:pPr>
            <a:r>
              <a:rPr i="1" lang="en-US" sz="2400">
                <a:solidFill>
                  <a:srgbClr val="000000"/>
                </a:solidFill>
                <a:latin typeface="Arial"/>
                <a:ea typeface="Arial"/>
                <a:cs typeface="Arial"/>
                <a:sym typeface="Arial"/>
              </a:rPr>
              <a:t>      F</a:t>
            </a:r>
            <a:r>
              <a:rPr lang="en-US" sz="2400">
                <a:solidFill>
                  <a:srgbClr val="000000"/>
                </a:solidFill>
                <a:latin typeface="Arial"/>
                <a:ea typeface="Arial"/>
                <a:cs typeface="Arial"/>
                <a:sym typeface="Arial"/>
              </a:rPr>
              <a:t> = </a:t>
            </a:r>
            <a:r>
              <a:rPr i="1" lang="en-US" sz="2400">
                <a:solidFill>
                  <a:schemeClr val="dk1"/>
                </a:solidFill>
                <a:latin typeface="Arial"/>
                <a:ea typeface="Arial"/>
                <a:cs typeface="Arial"/>
                <a:sym typeface="Arial"/>
              </a:rPr>
              <a:t>GMm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Force – action at a distance</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with the gravitational field formula</a:t>
            </a:r>
            <a:endParaRPr/>
          </a:p>
          <a:p>
            <a:pPr indent="0" lvl="0" marL="0" marR="0" rtl="0" algn="l">
              <a:spcBef>
                <a:spcPts val="480"/>
              </a:spcBef>
              <a:spcAft>
                <a:spcPts val="0"/>
              </a:spcAft>
              <a:buNone/>
            </a:pPr>
            <a:r>
              <a:rPr i="1" lang="en-US" sz="2400">
                <a:solidFill>
                  <a:srgbClr val="000000"/>
                </a:solidFill>
                <a:latin typeface="Arial"/>
                <a:ea typeface="Arial"/>
                <a:cs typeface="Arial"/>
                <a:sym typeface="Arial"/>
              </a:rPr>
              <a:t>      g</a:t>
            </a:r>
            <a:r>
              <a:rPr lang="en-US" sz="2400">
                <a:solidFill>
                  <a:srgbClr val="000000"/>
                </a:solidFill>
                <a:latin typeface="Arial"/>
                <a:ea typeface="Arial"/>
                <a:cs typeface="Arial"/>
                <a:sym typeface="Arial"/>
              </a:rPr>
              <a:t> = </a:t>
            </a:r>
            <a:r>
              <a:rPr i="1" lang="en-US" sz="2400">
                <a:solidFill>
                  <a:schemeClr val="dk1"/>
                </a:solidFill>
                <a:latin typeface="Arial"/>
                <a:ea typeface="Arial"/>
                <a:cs typeface="Arial"/>
                <a:sym typeface="Arial"/>
              </a:rPr>
              <a:t>GM / r</a:t>
            </a:r>
            <a:r>
              <a:rPr baseline="30000" lang="en-US" sz="2400">
                <a:solidFill>
                  <a:schemeClr val="dk1"/>
                </a:solidFill>
                <a:latin typeface="Arial"/>
                <a:ea typeface="Arial"/>
                <a:cs typeface="Arial"/>
                <a:sym typeface="Arial"/>
              </a:rPr>
              <a:t> 2</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Field – local curvature of space</a:t>
            </a:r>
            <a:r>
              <a:rPr lang="en-US" sz="2400">
                <a:solidFill>
                  <a:schemeClr val="dk1"/>
                </a:solidFill>
                <a:latin typeface="Arial"/>
                <a:ea typeface="Arial"/>
                <a:cs typeface="Arial"/>
                <a:sym typeface="Arial"/>
              </a:rPr>
              <a:t>)</a:t>
            </a:r>
            <a:endParaRPr sz="2400">
              <a:solidFill>
                <a:srgbClr val="000000"/>
              </a:solidFill>
              <a:latin typeface="Arial"/>
              <a:ea typeface="Arial"/>
              <a:cs typeface="Arial"/>
              <a:sym typeface="Arial"/>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∙Note that the force formula has </a:t>
            </a:r>
            <a:r>
              <a:rPr b="1" lang="en-US" sz="2400">
                <a:solidFill>
                  <a:srgbClr val="FF9933"/>
                </a:solidFill>
                <a:latin typeface="Arial"/>
                <a:ea typeface="Arial"/>
                <a:cs typeface="Arial"/>
                <a:sym typeface="Arial"/>
              </a:rPr>
              <a:t>two masses</a:t>
            </a:r>
            <a:r>
              <a:rPr lang="en-US" sz="2400">
                <a:solidFill>
                  <a:srgbClr val="000000"/>
                </a:solidFill>
                <a:latin typeface="Arial"/>
                <a:ea typeface="Arial"/>
                <a:cs typeface="Arial"/>
                <a:sym typeface="Arial"/>
              </a:rPr>
              <a:t>, and the force is the result of their interaction </a:t>
            </a:r>
            <a:r>
              <a:rPr b="1" lang="en-US" sz="2400">
                <a:solidFill>
                  <a:srgbClr val="000000"/>
                </a:solidFill>
                <a:latin typeface="Arial"/>
                <a:ea typeface="Arial"/>
                <a:cs typeface="Arial"/>
                <a:sym typeface="Arial"/>
              </a:rPr>
              <a:t>at a distance </a:t>
            </a:r>
            <a:r>
              <a:rPr b="1"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Note that the field formula has just </a:t>
            </a:r>
            <a:r>
              <a:rPr b="1" lang="en-US" sz="2400">
                <a:solidFill>
                  <a:srgbClr val="FF0000"/>
                </a:solidFill>
                <a:latin typeface="Arial"/>
                <a:ea typeface="Arial"/>
                <a:cs typeface="Arial"/>
                <a:sym typeface="Arial"/>
              </a:rPr>
              <a:t>one mass</a:t>
            </a:r>
            <a:r>
              <a:rPr lang="en-US" sz="2400">
                <a:solidFill>
                  <a:schemeClr val="dk1"/>
                </a:solidFill>
                <a:latin typeface="Arial"/>
                <a:ea typeface="Arial"/>
                <a:cs typeface="Arial"/>
                <a:sym typeface="Arial"/>
              </a:rPr>
              <a:t> – namely the mass that “sets up” the local field in the space surrounding it. It “curves” it.</a:t>
            </a:r>
            <a:endParaRPr sz="2400">
              <a:solidFill>
                <a:srgbClr val="000000"/>
              </a:solidFill>
              <a:latin typeface="Arial"/>
              <a:ea typeface="Arial"/>
              <a:cs typeface="Arial"/>
              <a:sym typeface="Arial"/>
            </a:endParaRPr>
          </a:p>
          <a:p>
            <a:pPr indent="-152400" lvl="0" marL="0" marR="0" rtl="0" algn="l">
              <a:spcBef>
                <a:spcPts val="480"/>
              </a:spcBef>
              <a:spcAft>
                <a:spcPts val="0"/>
              </a:spcAft>
              <a:buClr>
                <a:srgbClr val="000000"/>
              </a:buClr>
              <a:buSzPts val="2400"/>
              <a:buFont typeface="Noto Sans Symbols"/>
              <a:buChar char="∙"/>
            </a:pPr>
            <a:r>
              <a:rPr lang="en-US" sz="2400">
                <a:solidFill>
                  <a:srgbClr val="000000"/>
                </a:solidFill>
                <a:latin typeface="Arial"/>
                <a:ea typeface="Arial"/>
                <a:cs typeface="Arial"/>
                <a:sym typeface="Arial"/>
              </a:rPr>
              <a:t>The field view of the universe (</a:t>
            </a:r>
            <a:r>
              <a:rPr lang="en-US" sz="2400">
                <a:solidFill>
                  <a:schemeClr val="hlink"/>
                </a:solidFill>
                <a:latin typeface="Arial"/>
                <a:ea typeface="Arial"/>
                <a:cs typeface="Arial"/>
                <a:sym typeface="Arial"/>
              </a:rPr>
              <a:t>spatial disruption by a single mass</a:t>
            </a:r>
            <a:r>
              <a:rPr lang="en-US" sz="2400">
                <a:solidFill>
                  <a:srgbClr val="000000"/>
                </a:solidFill>
                <a:latin typeface="Arial"/>
                <a:ea typeface="Arial"/>
                <a:cs typeface="Arial"/>
                <a:sym typeface="Arial"/>
              </a:rPr>
              <a:t>) is currently preferred over the force view (</a:t>
            </a:r>
            <a:r>
              <a:rPr lang="en-US" sz="2400">
                <a:solidFill>
                  <a:schemeClr val="hlink"/>
                </a:solidFill>
                <a:latin typeface="Arial"/>
                <a:ea typeface="Arial"/>
                <a:cs typeface="Arial"/>
                <a:sym typeface="Arial"/>
              </a:rPr>
              <a:t>action at a distance</a:t>
            </a:r>
            <a:r>
              <a:rPr lang="en-US" sz="2400">
                <a:solidFill>
                  <a:srgbClr val="000000"/>
                </a:solidFill>
                <a:latin typeface="Arial"/>
                <a:ea typeface="Arial"/>
                <a:cs typeface="Arial"/>
                <a:sym typeface="Arial"/>
              </a:rPr>
              <a:t>) as the next slides will show.</a:t>
            </a:r>
            <a:endParaRPr/>
          </a:p>
        </p:txBody>
      </p:sp>
      <p:sp>
        <p:nvSpPr>
          <p:cNvPr id="349" name="Google Shape;349;p2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350" name="Google Shape;350;p29"/>
          <p:cNvSpPr/>
          <p:nvPr/>
        </p:nvSpPr>
        <p:spPr>
          <a:xfrm>
            <a:off x="2014538" y="2503488"/>
            <a:ext cx="576262" cy="323850"/>
          </a:xfrm>
          <a:prstGeom prst="rect">
            <a:avLst/>
          </a:prstGeom>
          <a:solidFill>
            <a:srgbClr val="FF9933">
              <a:alpha val="3254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1" name="Google Shape;351;p29"/>
          <p:cNvSpPr/>
          <p:nvPr/>
        </p:nvSpPr>
        <p:spPr>
          <a:xfrm>
            <a:off x="2006600" y="3384550"/>
            <a:ext cx="307975" cy="300038"/>
          </a:xfrm>
          <a:prstGeom prst="rect">
            <a:avLst/>
          </a:prstGeom>
          <a:solidFill>
            <a:srgbClr val="FF0000">
              <a:alpha val="22745"/>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0" st="0"/>
                                            </p:txEl>
                                          </p:spTgt>
                                        </p:tgtEl>
                                        <p:attrNameLst>
                                          <p:attrName>style.visibility</p:attrName>
                                        </p:attrNameLst>
                                      </p:cBhvr>
                                      <p:to>
                                        <p:strVal val="visible"/>
                                      </p:to>
                                    </p:set>
                                    <p:anim calcmode="lin" valueType="num">
                                      <p:cBhvr additive="base">
                                        <p:cTn dur="500"/>
                                        <p:tgtEl>
                                          <p:spTgt spid="3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1" st="1"/>
                                            </p:txEl>
                                          </p:spTgt>
                                        </p:tgtEl>
                                        <p:attrNameLst>
                                          <p:attrName>style.visibility</p:attrName>
                                        </p:attrNameLst>
                                      </p:cBhvr>
                                      <p:to>
                                        <p:strVal val="visible"/>
                                      </p:to>
                                    </p:set>
                                    <p:anim calcmode="lin" valueType="num">
                                      <p:cBhvr additive="base">
                                        <p:cTn dur="500"/>
                                        <p:tgtEl>
                                          <p:spTgt spid="3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2" st="2"/>
                                            </p:txEl>
                                          </p:spTgt>
                                        </p:tgtEl>
                                        <p:attrNameLst>
                                          <p:attrName>style.visibility</p:attrName>
                                        </p:attrNameLst>
                                      </p:cBhvr>
                                      <p:to>
                                        <p:strVal val="visible"/>
                                      </p:to>
                                    </p:set>
                                    <p:anim calcmode="lin" valueType="num">
                                      <p:cBhvr additive="base">
                                        <p:cTn dur="500"/>
                                        <p:tgtEl>
                                          <p:spTgt spid="3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3" st="3"/>
                                            </p:txEl>
                                          </p:spTgt>
                                        </p:tgtEl>
                                        <p:attrNameLst>
                                          <p:attrName>style.visibility</p:attrName>
                                        </p:attrNameLst>
                                      </p:cBhvr>
                                      <p:to>
                                        <p:strVal val="visible"/>
                                      </p:to>
                                    </p:set>
                                    <p:anim calcmode="lin" valueType="num">
                                      <p:cBhvr additive="base">
                                        <p:cTn dur="500"/>
                                        <p:tgtEl>
                                          <p:spTgt spid="34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4" st="4"/>
                                            </p:txEl>
                                          </p:spTgt>
                                        </p:tgtEl>
                                        <p:attrNameLst>
                                          <p:attrName>style.visibility</p:attrName>
                                        </p:attrNameLst>
                                      </p:cBhvr>
                                      <p:to>
                                        <p:strVal val="visible"/>
                                      </p:to>
                                    </p:set>
                                    <p:anim calcmode="lin" valueType="num">
                                      <p:cBhvr additive="base">
                                        <p:cTn dur="500"/>
                                        <p:tgtEl>
                                          <p:spTgt spid="34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5" st="5"/>
                                            </p:txEl>
                                          </p:spTgt>
                                        </p:tgtEl>
                                        <p:attrNameLst>
                                          <p:attrName>style.visibility</p:attrName>
                                        </p:attrNameLst>
                                      </p:cBhvr>
                                      <p:to>
                                        <p:strVal val="visible"/>
                                      </p:to>
                                    </p:set>
                                    <p:anim calcmode="lin" valueType="num">
                                      <p:cBhvr additive="base">
                                        <p:cTn dur="500"/>
                                        <p:tgtEl>
                                          <p:spTgt spid="34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6" st="6"/>
                                            </p:txEl>
                                          </p:spTgt>
                                        </p:tgtEl>
                                        <p:attrNameLst>
                                          <p:attrName>style.visibility</p:attrName>
                                        </p:attrNameLst>
                                      </p:cBhvr>
                                      <p:to>
                                        <p:strVal val="visible"/>
                                      </p:to>
                                    </p:set>
                                    <p:anim calcmode="lin" valueType="num">
                                      <p:cBhvr additive="base">
                                        <p:cTn dur="500"/>
                                        <p:tgtEl>
                                          <p:spTgt spid="34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8">
                                            <p:txEl>
                                              <p:pRg end="7" st="7"/>
                                            </p:txEl>
                                          </p:spTgt>
                                        </p:tgtEl>
                                        <p:attrNameLst>
                                          <p:attrName>style.visibility</p:attrName>
                                        </p:attrNameLst>
                                      </p:cBhvr>
                                      <p:to>
                                        <p:strVal val="visible"/>
                                      </p:to>
                                    </p:set>
                                    <p:anim calcmode="lin" valueType="num">
                                      <p:cBhvr additive="base">
                                        <p:cTn dur="500"/>
                                        <p:tgtEl>
                                          <p:spTgt spid="34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0"/>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∙Consider the force view (action at a distance).</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the force view, the masses know the locations of each other at all times, and the force is instantaneously felt by both masses at all times.</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∙This requires the “force signal” to                                    be transferred between the masses                      instantaneously.</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∙As we will learn later, Einstein’s                                special theory of relativity states                          unequivocally that the fastest </a:t>
            </a:r>
            <a:r>
              <a:rPr b="1" lang="en-US" sz="2400">
                <a:solidFill>
                  <a:srgbClr val="000000"/>
                </a:solidFill>
                <a:latin typeface="Arial"/>
                <a:ea typeface="Arial"/>
                <a:cs typeface="Arial"/>
                <a:sym typeface="Arial"/>
              </a:rPr>
              <a:t>any                                </a:t>
            </a:r>
            <a:r>
              <a:rPr lang="en-US" sz="2400">
                <a:solidFill>
                  <a:srgbClr val="000000"/>
                </a:solidFill>
                <a:latin typeface="Arial"/>
                <a:ea typeface="Arial"/>
                <a:cs typeface="Arial"/>
                <a:sym typeface="Arial"/>
              </a:rPr>
              <a:t>signal can travel is at the (finite)                                    speed of light </a:t>
            </a:r>
            <a:r>
              <a:rPr i="1" lang="en-US" sz="2400">
                <a:solidFill>
                  <a:srgbClr val="000000"/>
                </a:solidFill>
                <a:latin typeface="Arial"/>
                <a:ea typeface="Arial"/>
                <a:cs typeface="Arial"/>
                <a:sym typeface="Arial"/>
              </a:rPr>
              <a:t>c</a:t>
            </a:r>
            <a:r>
              <a:rPr lang="en-US" sz="2400">
                <a:solidFill>
                  <a:srgbClr val="000000"/>
                </a:solidFill>
                <a:latin typeface="Arial"/>
                <a:ea typeface="Arial"/>
                <a:cs typeface="Arial"/>
                <a:sym typeface="Arial"/>
              </a:rPr>
              <a:t>. </a:t>
            </a:r>
            <a:endParaRPr/>
          </a:p>
        </p:txBody>
      </p:sp>
      <p:sp>
        <p:nvSpPr>
          <p:cNvPr id="358" name="Google Shape;358;p30"/>
          <p:cNvSpPr/>
          <p:nvPr/>
        </p:nvSpPr>
        <p:spPr>
          <a:xfrm>
            <a:off x="5727700" y="3648075"/>
            <a:ext cx="3416300" cy="32099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9" name="Google Shape;359;p3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360" name="Google Shape;360;p30"/>
          <p:cNvGrpSpPr/>
          <p:nvPr/>
        </p:nvGrpSpPr>
        <p:grpSpPr>
          <a:xfrm>
            <a:off x="7118350" y="4887913"/>
            <a:ext cx="668338" cy="663575"/>
            <a:chOff x="2171" y="2654"/>
            <a:chExt cx="421" cy="418"/>
          </a:xfrm>
        </p:grpSpPr>
        <p:sp>
          <p:nvSpPr>
            <p:cNvPr id="361" name="Google Shape;361;p30"/>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2" name="Google Shape;362;p30"/>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sp>
        <p:nvSpPr>
          <p:cNvPr id="363" name="Google Shape;363;p30"/>
          <p:cNvSpPr/>
          <p:nvPr/>
        </p:nvSpPr>
        <p:spPr>
          <a:xfrm>
            <a:off x="6000750" y="3794125"/>
            <a:ext cx="2886075" cy="2886075"/>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64" name="Google Shape;364;p30"/>
          <p:cNvCxnSpPr/>
          <p:nvPr/>
        </p:nvCxnSpPr>
        <p:spPr>
          <a:xfrm rot="10800000">
            <a:off x="7319963" y="5235575"/>
            <a:ext cx="293687" cy="0"/>
          </a:xfrm>
          <a:prstGeom prst="straightConnector1">
            <a:avLst/>
          </a:prstGeom>
          <a:noFill/>
          <a:ln cap="flat" cmpd="sng" w="38100">
            <a:solidFill>
              <a:srgbClr val="FF0000"/>
            </a:solidFill>
            <a:prstDash val="solid"/>
            <a:round/>
            <a:headEnd len="med" w="med" type="none"/>
            <a:tailEnd len="med" w="med" type="stealth"/>
          </a:ln>
        </p:spPr>
      </p:cxnSp>
      <p:grpSp>
        <p:nvGrpSpPr>
          <p:cNvPr id="365" name="Google Shape;365;p30"/>
          <p:cNvGrpSpPr/>
          <p:nvPr/>
        </p:nvGrpSpPr>
        <p:grpSpPr>
          <a:xfrm>
            <a:off x="5815013" y="4681538"/>
            <a:ext cx="3225800" cy="1096962"/>
            <a:chOff x="3069" y="2813"/>
            <a:chExt cx="2032" cy="691"/>
          </a:xfrm>
        </p:grpSpPr>
        <p:sp>
          <p:nvSpPr>
            <p:cNvPr id="366" name="Google Shape;366;p30"/>
            <p:cNvSpPr/>
            <p:nvPr/>
          </p:nvSpPr>
          <p:spPr>
            <a:xfrm>
              <a:off x="3069" y="2813"/>
              <a:ext cx="2032" cy="68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367" name="Google Shape;367;p30"/>
            <p:cNvGrpSpPr/>
            <p:nvPr/>
          </p:nvGrpSpPr>
          <p:grpSpPr>
            <a:xfrm>
              <a:off x="4799" y="3082"/>
              <a:ext cx="274" cy="422"/>
              <a:chOff x="1805" y="3036"/>
              <a:chExt cx="274" cy="422"/>
            </a:xfrm>
          </p:grpSpPr>
          <p:sp>
            <p:nvSpPr>
              <p:cNvPr id="368" name="Google Shape;368;p30"/>
              <p:cNvSpPr/>
              <p:nvPr/>
            </p:nvSpPr>
            <p:spPr>
              <a:xfrm>
                <a:off x="1922" y="3036"/>
                <a:ext cx="157" cy="157"/>
              </a:xfrm>
              <a:prstGeom prst="ellipse">
                <a:avLst/>
              </a:prstGeom>
              <a:solidFill>
                <a:schemeClr val="hlink"/>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69" name="Google Shape;369;p30"/>
              <p:cNvCxnSpPr/>
              <p:nvPr/>
            </p:nvCxnSpPr>
            <p:spPr>
              <a:xfrm flipH="1">
                <a:off x="1992" y="3111"/>
                <a:ext cx="4" cy="347"/>
              </a:xfrm>
              <a:prstGeom prst="straightConnector1">
                <a:avLst/>
              </a:prstGeom>
              <a:noFill/>
              <a:ln cap="flat" cmpd="sng" w="38100">
                <a:solidFill>
                  <a:schemeClr val="accent2"/>
                </a:solidFill>
                <a:prstDash val="solid"/>
                <a:round/>
                <a:headEnd len="med" w="med" type="none"/>
                <a:tailEnd len="med" w="med" type="stealth"/>
              </a:ln>
            </p:spPr>
          </p:cxnSp>
          <p:cxnSp>
            <p:nvCxnSpPr>
              <p:cNvPr id="370" name="Google Shape;370;p30"/>
              <p:cNvCxnSpPr/>
              <p:nvPr/>
            </p:nvCxnSpPr>
            <p:spPr>
              <a:xfrm rot="10800000">
                <a:off x="1805" y="3118"/>
                <a:ext cx="185" cy="0"/>
              </a:xfrm>
              <a:prstGeom prst="straightConnector1">
                <a:avLst/>
              </a:prstGeom>
              <a:noFill/>
              <a:ln cap="flat" cmpd="sng" w="38100">
                <a:solidFill>
                  <a:srgbClr val="FF0000"/>
                </a:solidFill>
                <a:prstDash val="solid"/>
                <a:round/>
                <a:headEnd len="med" w="med" type="none"/>
                <a:tailEnd len="med" w="med" type="stealth"/>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65"/>
                                        </p:tgtEl>
                                        <p:attrNameLst>
                                          <p:attrName>r</p:attrName>
                                        </p:attrNameLst>
                                      </p:cBhvr>
                                    </p:animRot>
                                  </p:childTnLst>
                                </p:cTn>
                              </p:par>
                              <p:par>
                                <p:cTn fill="hold" nodeType="withEffect" presetClass="exit" presetID="10" presetSubtype="0">
                                  <p:stCondLst>
                                    <p:cond delay="0"/>
                                  </p:stCondLst>
                                  <p:childTnLst>
                                    <p:animEffect filter="fade" transition="out">
                                      <p:cBhvr>
                                        <p:cTn dur="2000"/>
                                        <p:tgtEl>
                                          <p:spTgt spid="364"/>
                                        </p:tgtEl>
                                      </p:cBhvr>
                                    </p:animEffect>
                                    <p:set>
                                      <p:cBhvr>
                                        <p:cTn dur="1" fill="hold">
                                          <p:stCondLst>
                                            <p:cond delay="2000"/>
                                          </p:stCondLst>
                                        </p:cTn>
                                        <p:tgtEl>
                                          <p:spTgt spid="3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1"/>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sz="2400">
              <a:solidFill>
                <a:srgbClr val="000000"/>
              </a:solidFill>
              <a:latin typeface="Arial"/>
              <a:ea typeface="Arial"/>
              <a:cs typeface="Arial"/>
              <a:sym typeface="Arial"/>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∙Thus the action at a distance “force signal” will be slightly delayed in telling the orbital mass when to turn.</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end result would have to be an expanding spiral motion, as illustrated in the following animation:</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∙We do </a:t>
            </a:r>
            <a:r>
              <a:rPr b="1" lang="en-US" sz="2400">
                <a:solidFill>
                  <a:srgbClr val="000000"/>
                </a:solidFill>
                <a:latin typeface="Arial"/>
                <a:ea typeface="Arial"/>
                <a:cs typeface="Arial"/>
                <a:sym typeface="Arial"/>
              </a:rPr>
              <a:t>not</a:t>
            </a:r>
            <a:r>
              <a:rPr lang="en-US" sz="2400">
                <a:solidFill>
                  <a:srgbClr val="000000"/>
                </a:solidFill>
                <a:latin typeface="Arial"/>
                <a:ea typeface="Arial"/>
                <a:cs typeface="Arial"/>
                <a:sym typeface="Arial"/>
              </a:rPr>
              <a:t> observe planets leaving                                  their orbits as they travel around the                                 sun.</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∙Thus action at a distance doesn’t                                  work if we are to believe special                               relativity.</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∙And all current evidence points to                                      the correctness of special relativity.</a:t>
            </a:r>
            <a:endParaRPr/>
          </a:p>
        </p:txBody>
      </p:sp>
      <p:sp>
        <p:nvSpPr>
          <p:cNvPr id="377" name="Google Shape;377;p31"/>
          <p:cNvSpPr/>
          <p:nvPr/>
        </p:nvSpPr>
        <p:spPr>
          <a:xfrm>
            <a:off x="5727700" y="3671584"/>
            <a:ext cx="3416300" cy="32099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78" name="Google Shape;378;p3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379" name="Google Shape;379;p31"/>
          <p:cNvGrpSpPr/>
          <p:nvPr/>
        </p:nvGrpSpPr>
        <p:grpSpPr>
          <a:xfrm>
            <a:off x="7118350" y="4887913"/>
            <a:ext cx="668338" cy="663575"/>
            <a:chOff x="2171" y="2654"/>
            <a:chExt cx="421" cy="418"/>
          </a:xfrm>
        </p:grpSpPr>
        <p:sp>
          <p:nvSpPr>
            <p:cNvPr id="380" name="Google Shape;380;p31"/>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81" name="Google Shape;381;p31"/>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sp>
        <p:nvSpPr>
          <p:cNvPr id="382" name="Google Shape;382;p31"/>
          <p:cNvSpPr/>
          <p:nvPr/>
        </p:nvSpPr>
        <p:spPr>
          <a:xfrm>
            <a:off x="6000750" y="3794125"/>
            <a:ext cx="2886075" cy="2886075"/>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83" name="Google Shape;383;p31"/>
          <p:cNvCxnSpPr/>
          <p:nvPr/>
        </p:nvCxnSpPr>
        <p:spPr>
          <a:xfrm rot="10800000">
            <a:off x="7319963" y="5235575"/>
            <a:ext cx="293687" cy="0"/>
          </a:xfrm>
          <a:prstGeom prst="straightConnector1">
            <a:avLst/>
          </a:prstGeom>
          <a:noFill/>
          <a:ln cap="flat" cmpd="sng" w="38100">
            <a:solidFill>
              <a:srgbClr val="FF0000"/>
            </a:solidFill>
            <a:prstDash val="solid"/>
            <a:round/>
            <a:headEnd len="med" w="med" type="none"/>
            <a:tailEnd len="med" w="med" type="stealth"/>
          </a:ln>
        </p:spPr>
      </p:cxnSp>
      <p:grpSp>
        <p:nvGrpSpPr>
          <p:cNvPr id="384" name="Google Shape;384;p31"/>
          <p:cNvGrpSpPr/>
          <p:nvPr/>
        </p:nvGrpSpPr>
        <p:grpSpPr>
          <a:xfrm>
            <a:off x="5815013" y="4681538"/>
            <a:ext cx="3225800" cy="1096962"/>
            <a:chOff x="3069" y="2813"/>
            <a:chExt cx="2032" cy="691"/>
          </a:xfrm>
        </p:grpSpPr>
        <p:sp>
          <p:nvSpPr>
            <p:cNvPr id="385" name="Google Shape;385;p31"/>
            <p:cNvSpPr/>
            <p:nvPr/>
          </p:nvSpPr>
          <p:spPr>
            <a:xfrm>
              <a:off x="3069" y="2813"/>
              <a:ext cx="2032" cy="68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386" name="Google Shape;386;p31"/>
            <p:cNvGrpSpPr/>
            <p:nvPr/>
          </p:nvGrpSpPr>
          <p:grpSpPr>
            <a:xfrm>
              <a:off x="4799" y="3082"/>
              <a:ext cx="274" cy="422"/>
              <a:chOff x="1805" y="3036"/>
              <a:chExt cx="274" cy="422"/>
            </a:xfrm>
          </p:grpSpPr>
          <p:sp>
            <p:nvSpPr>
              <p:cNvPr id="387" name="Google Shape;387;p31"/>
              <p:cNvSpPr/>
              <p:nvPr/>
            </p:nvSpPr>
            <p:spPr>
              <a:xfrm>
                <a:off x="1922" y="3036"/>
                <a:ext cx="157" cy="157"/>
              </a:xfrm>
              <a:prstGeom prst="ellipse">
                <a:avLst/>
              </a:prstGeom>
              <a:solidFill>
                <a:schemeClr val="hlink"/>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88" name="Google Shape;388;p31"/>
              <p:cNvCxnSpPr/>
              <p:nvPr/>
            </p:nvCxnSpPr>
            <p:spPr>
              <a:xfrm flipH="1">
                <a:off x="1992" y="3111"/>
                <a:ext cx="4" cy="347"/>
              </a:xfrm>
              <a:prstGeom prst="straightConnector1">
                <a:avLst/>
              </a:prstGeom>
              <a:noFill/>
              <a:ln cap="flat" cmpd="sng" w="38100">
                <a:solidFill>
                  <a:schemeClr val="accent2"/>
                </a:solidFill>
                <a:prstDash val="solid"/>
                <a:round/>
                <a:headEnd len="med" w="med" type="none"/>
                <a:tailEnd len="med" w="med" type="stealth"/>
              </a:ln>
            </p:spPr>
          </p:cxnSp>
          <p:cxnSp>
            <p:nvCxnSpPr>
              <p:cNvPr id="389" name="Google Shape;389;p31"/>
              <p:cNvCxnSpPr/>
              <p:nvPr/>
            </p:nvCxnSpPr>
            <p:spPr>
              <a:xfrm rot="10800000">
                <a:off x="1805" y="3118"/>
                <a:ext cx="185" cy="0"/>
              </a:xfrm>
              <a:prstGeom prst="straightConnector1">
                <a:avLst/>
              </a:prstGeom>
              <a:noFill/>
              <a:ln cap="flat" cmpd="sng" w="38100">
                <a:solidFill>
                  <a:srgbClr val="FF0000"/>
                </a:solidFill>
                <a:prstDash val="solid"/>
                <a:round/>
                <a:headEnd len="med" w="med" type="none"/>
                <a:tailEnd len="med" w="med" type="stealth"/>
              </a:ln>
            </p:spPr>
          </p:cxnSp>
        </p:grpSp>
      </p:grpSp>
      <p:sp>
        <p:nvSpPr>
          <p:cNvPr id="390" name="Google Shape;390;p31"/>
          <p:cNvSpPr/>
          <p:nvPr/>
        </p:nvSpPr>
        <p:spPr>
          <a:xfrm>
            <a:off x="8745538" y="5110163"/>
            <a:ext cx="249237" cy="249237"/>
          </a:xfrm>
          <a:prstGeom prst="ellipse">
            <a:avLst/>
          </a:prstGeom>
          <a:solidFill>
            <a:schemeClr val="hlink"/>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384"/>
                                        </p:tgtEl>
                                        <p:attrNameLst>
                                          <p:attrName>r</p:attrName>
                                        </p:attrNameLst>
                                      </p:cBhvr>
                                    </p:animRot>
                                  </p:childTnLst>
                                </p:cTn>
                              </p:par>
                              <p:par>
                                <p:cTn fill="hold" nodeType="withEffect" presetClass="exit" presetID="10" presetSubtype="0">
                                  <p:stCondLst>
                                    <p:cond delay="0"/>
                                  </p:stCondLst>
                                  <p:childTnLst>
                                    <p:animEffect filter="fade" transition="out">
                                      <p:cBhvr>
                                        <p:cTn dur="500"/>
                                        <p:tgtEl>
                                          <p:spTgt spid="383"/>
                                        </p:tgtEl>
                                      </p:cBhvr>
                                    </p:animEffect>
                                    <p:set>
                                      <p:cBhvr>
                                        <p:cTn dur="1" fill="hold">
                                          <p:stCondLst>
                                            <p:cond delay="500"/>
                                          </p:stCondLst>
                                        </p:cTn>
                                        <p:tgtEl>
                                          <p:spTgt spid="38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xit" presetID="10" presetSubtype="0">
                                  <p:stCondLst>
                                    <p:cond delay="0"/>
                                  </p:stCondLst>
                                  <p:childTnLst>
                                    <p:animEffect filter="fade" transition="out">
                                      <p:cBhvr>
                                        <p:cTn dur="500"/>
                                        <p:tgtEl>
                                          <p:spTgt spid="384"/>
                                        </p:tgtEl>
                                      </p:cBhvr>
                                    </p:animEffect>
                                    <p:set>
                                      <p:cBhvr>
                                        <p:cTn dur="1" fill="hold">
                                          <p:stCondLst>
                                            <p:cond delay="500"/>
                                          </p:stCondLst>
                                        </p:cTn>
                                        <p:tgtEl>
                                          <p:spTgt spid="3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sz="2400">
              <a:solidFill>
                <a:srgbClr val="000000"/>
              </a:solidFill>
              <a:latin typeface="Arial"/>
              <a:ea typeface="Arial"/>
              <a:cs typeface="Arial"/>
              <a:sym typeface="Arial"/>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∙So how does the field view take care of this “signal lag” problem?</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∙Simply put – the gravitational field distorts the space around the mass that is causing it so that any other mass placed at any position in the field will “know” how to respond immediately.</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∙Think of space as a stretched                                                   rubber sheet – like a drum head.</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∙Bigger masses “curve” the rubber                                           sheet more than smaller masses.</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next slide illustrates this gravitational “curvature” of the space surrounding, for example, the sun.</a:t>
            </a:r>
            <a:endParaRPr/>
          </a:p>
        </p:txBody>
      </p:sp>
      <p:sp>
        <p:nvSpPr>
          <p:cNvPr id="397" name="Google Shape;397;p3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id="398" name="Google Shape;398;p32"/>
          <p:cNvPicPr preferRelativeResize="0"/>
          <p:nvPr/>
        </p:nvPicPr>
        <p:blipFill rotWithShape="1">
          <a:blip r:embed="rId3">
            <a:alphaModFix/>
          </a:blip>
          <a:srcRect b="0" l="0" r="0" t="0"/>
          <a:stretch/>
        </p:blipFill>
        <p:spPr>
          <a:xfrm>
            <a:off x="5392738" y="4192588"/>
            <a:ext cx="3751262" cy="16811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98"/>
                                        </p:tgtEl>
                                        <p:attrNameLst>
                                          <p:attrName>style.visibility</p:attrName>
                                        </p:attrNameLst>
                                      </p:cBhvr>
                                      <p:to>
                                        <p:strVal val="visible"/>
                                      </p:to>
                                    </p:set>
                                    <p:anim calcmode="lin" valueType="num">
                                      <p:cBhvr additive="base">
                                        <p:cTn dur="500"/>
                                        <p:tgtEl>
                                          <p:spTgt spid="398"/>
                                        </p:tgtEl>
                                        <p:attrNameLst>
                                          <p:attrName>ppt_w</p:attrName>
                                        </p:attrNameLst>
                                      </p:cBhvr>
                                      <p:tavLst>
                                        <p:tav fmla="" tm="0">
                                          <p:val>
                                            <p:strVal val="0"/>
                                          </p:val>
                                        </p:tav>
                                        <p:tav fmla="" tm="100000">
                                          <p:val>
                                            <p:strVal val="#ppt_w"/>
                                          </p:val>
                                        </p:tav>
                                      </p:tavLst>
                                    </p:anim>
                                    <p:anim calcmode="lin" valueType="num">
                                      <p:cBhvr additive="base">
                                        <p:cTn dur="500"/>
                                        <p:tgtEl>
                                          <p:spTgt spid="39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3"/>
          <p:cNvSpPr/>
          <p:nvPr/>
        </p:nvSpPr>
        <p:spPr>
          <a:xfrm>
            <a:off x="685800" y="1549400"/>
            <a:ext cx="7772400" cy="12541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∙Note that each mass “feels” a different “slope” and must travel at a particular speed to stay in orbit.</a:t>
            </a:r>
            <a:endParaRPr/>
          </a:p>
        </p:txBody>
      </p:sp>
      <p:sp>
        <p:nvSpPr>
          <p:cNvPr id="405" name="Google Shape;405;p3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406" name="Google Shape;406;p33"/>
          <p:cNvSpPr/>
          <p:nvPr/>
        </p:nvSpPr>
        <p:spPr>
          <a:xfrm>
            <a:off x="682625" y="5260975"/>
            <a:ext cx="7777163" cy="15970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field view eliminates the need for long distance signaling between </a:t>
            </a:r>
            <a:r>
              <a:rPr lang="en-US" sz="2400" u="sng">
                <a:solidFill>
                  <a:schemeClr val="dk1"/>
                </a:solidFill>
                <a:latin typeface="Arial"/>
                <a:ea typeface="Arial"/>
                <a:cs typeface="Arial"/>
                <a:sym typeface="Arial"/>
              </a:rPr>
              <a:t>two</a:t>
            </a:r>
            <a:r>
              <a:rPr lang="en-US" sz="2400">
                <a:solidFill>
                  <a:schemeClr val="dk1"/>
                </a:solidFill>
                <a:latin typeface="Arial"/>
                <a:ea typeface="Arial"/>
                <a:cs typeface="Arial"/>
                <a:sym typeface="Arial"/>
              </a:rPr>
              <a:t> masses. Rather, it distorts the space about </a:t>
            </a:r>
            <a:r>
              <a:rPr lang="en-US" sz="2400" u="sng">
                <a:solidFill>
                  <a:schemeClr val="dk1"/>
                </a:solidFill>
                <a:latin typeface="Arial"/>
                <a:ea typeface="Arial"/>
                <a:cs typeface="Arial"/>
                <a:sym typeface="Arial"/>
              </a:rPr>
              <a:t>one</a:t>
            </a:r>
            <a:r>
              <a:rPr lang="en-US" sz="2400">
                <a:solidFill>
                  <a:schemeClr val="dk1"/>
                </a:solidFill>
                <a:latin typeface="Arial"/>
                <a:ea typeface="Arial"/>
                <a:cs typeface="Arial"/>
                <a:sym typeface="Arial"/>
              </a:rPr>
              <a:t> mass.</a:t>
            </a:r>
            <a:endParaRPr/>
          </a:p>
        </p:txBody>
      </p:sp>
      <p:sp>
        <p:nvSpPr>
          <p:cNvPr id="407" name="Google Shape;407;p33"/>
          <p:cNvSpPr/>
          <p:nvPr/>
        </p:nvSpPr>
        <p:spPr>
          <a:xfrm>
            <a:off x="4629150" y="5041900"/>
            <a:ext cx="619125" cy="619125"/>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408" name="Google Shape;408;p33"/>
          <p:cNvPicPr preferRelativeResize="0"/>
          <p:nvPr/>
        </p:nvPicPr>
        <p:blipFill rotWithShape="1">
          <a:blip r:embed="rId3">
            <a:alphaModFix/>
          </a:blip>
          <a:srcRect b="0" l="0" r="0" t="0"/>
          <a:stretch/>
        </p:blipFill>
        <p:spPr>
          <a:xfrm>
            <a:off x="184150" y="2924175"/>
            <a:ext cx="8807450" cy="2774950"/>
          </a:xfrm>
          <a:prstGeom prst="rect">
            <a:avLst/>
          </a:prstGeom>
          <a:noFill/>
          <a:ln>
            <a:noFill/>
          </a:ln>
          <a:effectLst>
            <a:outerShdw blurRad="292100" rotWithShape="0" algn="tl" dir="2700000" dist="139700">
              <a:srgbClr val="333333">
                <a:alpha val="64705"/>
              </a:srgbClr>
            </a:outerShdw>
          </a:effectLst>
        </p:spPr>
      </p:pic>
      <p:sp>
        <p:nvSpPr>
          <p:cNvPr id="409" name="Google Shape;409;p33"/>
          <p:cNvSpPr/>
          <p:nvPr/>
        </p:nvSpPr>
        <p:spPr>
          <a:xfrm>
            <a:off x="4862513" y="4083050"/>
            <a:ext cx="141287" cy="141288"/>
          </a:xfrm>
          <a:prstGeom prst="ellipse">
            <a:avLst/>
          </a:prstGeom>
          <a:gradFill>
            <a:gsLst>
              <a:gs pos="0">
                <a:srgbClr val="008000"/>
              </a:gs>
              <a:gs pos="100000">
                <a:srgbClr val="003B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0" name="Google Shape;410;p33"/>
          <p:cNvSpPr/>
          <p:nvPr/>
        </p:nvSpPr>
        <p:spPr>
          <a:xfrm>
            <a:off x="4857750" y="4189413"/>
            <a:ext cx="184150" cy="184150"/>
          </a:xfrm>
          <a:prstGeom prst="ellipse">
            <a:avLst/>
          </a:prstGeom>
          <a:gradFill>
            <a:gsLst>
              <a:gs pos="0">
                <a:schemeClr val="hlink"/>
              </a:gs>
              <a:gs pos="100000">
                <a:srgbClr val="006B6B"/>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1" name="Google Shape;411;p33"/>
          <p:cNvSpPr/>
          <p:nvPr/>
        </p:nvSpPr>
        <p:spPr>
          <a:xfrm>
            <a:off x="4854575" y="4286250"/>
            <a:ext cx="184150" cy="184150"/>
          </a:xfrm>
          <a:prstGeom prst="ellipse">
            <a:avLst/>
          </a:prstGeom>
          <a:gradFill>
            <a:gsLst>
              <a:gs pos="0">
                <a:srgbClr val="D60093"/>
              </a:gs>
              <a:gs pos="100000">
                <a:srgbClr val="630044"/>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2" name="Google Shape;412;p33"/>
          <p:cNvSpPr/>
          <p:nvPr/>
        </p:nvSpPr>
        <p:spPr>
          <a:xfrm>
            <a:off x="4862513" y="4427538"/>
            <a:ext cx="184150" cy="184150"/>
          </a:xfrm>
          <a:prstGeom prst="ellipse">
            <a:avLst/>
          </a:prstGeom>
          <a:gradFill>
            <a:gsLst>
              <a:gs pos="0">
                <a:srgbClr val="FF9933"/>
              </a:gs>
              <a:gs pos="100000">
                <a:srgbClr val="764718"/>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500"/>
                                        <p:tgtEl>
                                          <p:spTgt spid="4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20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5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5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4"/>
          <p:cNvSpPr/>
          <p:nvPr/>
        </p:nvSpPr>
        <p:spPr>
          <a:xfrm>
            <a:off x="682625" y="5575300"/>
            <a:ext cx="7777163" cy="12827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 The field arrow is bigger for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than </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Why?</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(b) The field arrow always points to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Why?</a:t>
            </a:r>
            <a:endParaRPr/>
          </a:p>
        </p:txBody>
      </p:sp>
      <p:grpSp>
        <p:nvGrpSpPr>
          <p:cNvPr id="419" name="Google Shape;419;p34"/>
          <p:cNvGrpSpPr/>
          <p:nvPr/>
        </p:nvGrpSpPr>
        <p:grpSpPr>
          <a:xfrm>
            <a:off x="4629150" y="5334000"/>
            <a:ext cx="619125" cy="619125"/>
            <a:chOff x="2916" y="3376"/>
            <a:chExt cx="390" cy="390"/>
          </a:xfrm>
        </p:grpSpPr>
        <p:sp>
          <p:nvSpPr>
            <p:cNvPr id="420" name="Google Shape;420;p34"/>
            <p:cNvSpPr/>
            <p:nvPr/>
          </p:nvSpPr>
          <p:spPr>
            <a:xfrm>
              <a:off x="2916" y="3376"/>
              <a:ext cx="390" cy="390"/>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1" name="Google Shape;421;p34"/>
            <p:cNvSpPr txBox="1"/>
            <p:nvPr/>
          </p:nvSpPr>
          <p:spPr>
            <a:xfrm>
              <a:off x="2968" y="3426"/>
              <a:ext cx="27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M</a:t>
              </a:r>
              <a:endParaRPr/>
            </a:p>
          </p:txBody>
        </p:sp>
      </p:grpSp>
      <p:pic>
        <p:nvPicPr>
          <p:cNvPr id="422" name="Google Shape;422;p34"/>
          <p:cNvPicPr preferRelativeResize="0"/>
          <p:nvPr/>
        </p:nvPicPr>
        <p:blipFill rotWithShape="1">
          <a:blip r:embed="rId3">
            <a:alphaModFix/>
          </a:blip>
          <a:srcRect b="0" l="0" r="0" t="0"/>
          <a:stretch/>
        </p:blipFill>
        <p:spPr>
          <a:xfrm>
            <a:off x="184150" y="3241675"/>
            <a:ext cx="8807450" cy="2774950"/>
          </a:xfrm>
          <a:prstGeom prst="rect">
            <a:avLst/>
          </a:prstGeom>
          <a:noFill/>
          <a:ln>
            <a:noFill/>
          </a:ln>
          <a:effectLst>
            <a:outerShdw blurRad="292100" rotWithShape="0" algn="tl" dir="2700000" dist="139700">
              <a:srgbClr val="333333">
                <a:alpha val="64705"/>
              </a:srgbClr>
            </a:outerShdw>
          </a:effectLst>
        </p:spPr>
      </p:pic>
      <p:sp>
        <p:nvSpPr>
          <p:cNvPr id="423" name="Google Shape;423;p34"/>
          <p:cNvSpPr/>
          <p:nvPr/>
        </p:nvSpPr>
        <p:spPr>
          <a:xfrm>
            <a:off x="685800" y="1549400"/>
            <a:ext cx="7772400" cy="15906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the space surrounding the mass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which sets up the field we can release “test masses” </a:t>
            </a:r>
            <a:r>
              <a:rPr i="1" lang="en-US" sz="2400">
                <a:solidFill>
                  <a:srgbClr val="000000"/>
                </a:solidFill>
                <a:latin typeface="Arial"/>
                <a:ea typeface="Arial"/>
                <a:cs typeface="Arial"/>
                <a:sym typeface="Arial"/>
              </a:rPr>
              <a:t>m</a:t>
            </a:r>
            <a:r>
              <a:rPr baseline="-25000" lang="en-US" sz="2400">
                <a:solidFill>
                  <a:srgbClr val="000000"/>
                </a:solidFill>
                <a:latin typeface="Arial"/>
                <a:ea typeface="Arial"/>
                <a:cs typeface="Arial"/>
                <a:sym typeface="Arial"/>
              </a:rPr>
              <a:t>1</a:t>
            </a:r>
            <a:r>
              <a:rPr lang="en-US" sz="2400">
                <a:solidFill>
                  <a:srgbClr val="000000"/>
                </a:solidFill>
                <a:latin typeface="Arial"/>
                <a:ea typeface="Arial"/>
                <a:cs typeface="Arial"/>
                <a:sym typeface="Arial"/>
              </a:rPr>
              <a:t> and </a:t>
            </a:r>
            <a:r>
              <a:rPr i="1" lang="en-US" sz="2400">
                <a:solidFill>
                  <a:srgbClr val="000000"/>
                </a:solidFill>
                <a:latin typeface="Arial"/>
                <a:ea typeface="Arial"/>
                <a:cs typeface="Arial"/>
                <a:sym typeface="Arial"/>
              </a:rPr>
              <a:t>m</a:t>
            </a:r>
            <a:r>
              <a:rPr baseline="-25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 as shown to determine the strength of the field.</a:t>
            </a:r>
            <a:endParaRPr/>
          </a:p>
        </p:txBody>
      </p:sp>
      <p:sp>
        <p:nvSpPr>
          <p:cNvPr id="424" name="Google Shape;424;p3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425" name="Google Shape;425;p34"/>
          <p:cNvGrpSpPr/>
          <p:nvPr/>
        </p:nvGrpSpPr>
        <p:grpSpPr>
          <a:xfrm>
            <a:off x="7046913" y="2705100"/>
            <a:ext cx="568325" cy="614363"/>
            <a:chOff x="4532" y="1245"/>
            <a:chExt cx="358" cy="387"/>
          </a:xfrm>
        </p:grpSpPr>
        <p:sp>
          <p:nvSpPr>
            <p:cNvPr id="426" name="Google Shape;426;p34"/>
            <p:cNvSpPr/>
            <p:nvPr/>
          </p:nvSpPr>
          <p:spPr>
            <a:xfrm>
              <a:off x="4587" y="1495"/>
              <a:ext cx="137" cy="137"/>
            </a:xfrm>
            <a:prstGeom prst="ellipse">
              <a:avLst/>
            </a:prstGeom>
            <a:gradFill>
              <a:gsLst>
                <a:gs pos="0">
                  <a:srgbClr val="DDDDDD"/>
                </a:gs>
                <a:gs pos="100000">
                  <a:srgbClr val="666666"/>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7" name="Google Shape;427;p34"/>
            <p:cNvSpPr txBox="1"/>
            <p:nvPr/>
          </p:nvSpPr>
          <p:spPr>
            <a:xfrm>
              <a:off x="4532" y="1245"/>
              <a:ext cx="35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m</a:t>
              </a:r>
              <a:r>
                <a:rPr b="1" baseline="-25000" lang="en-US" sz="2400">
                  <a:solidFill>
                    <a:schemeClr val="dk1"/>
                  </a:solidFill>
                  <a:latin typeface="Arial"/>
                  <a:ea typeface="Arial"/>
                  <a:cs typeface="Arial"/>
                  <a:sym typeface="Arial"/>
                </a:rPr>
                <a:t>1</a:t>
              </a:r>
              <a:endParaRPr/>
            </a:p>
          </p:txBody>
        </p:sp>
      </p:grpSp>
      <p:grpSp>
        <p:nvGrpSpPr>
          <p:cNvPr id="428" name="Google Shape;428;p34"/>
          <p:cNvGrpSpPr/>
          <p:nvPr/>
        </p:nvGrpSpPr>
        <p:grpSpPr>
          <a:xfrm>
            <a:off x="3922713" y="3119438"/>
            <a:ext cx="568325" cy="614362"/>
            <a:chOff x="4532" y="1245"/>
            <a:chExt cx="358" cy="387"/>
          </a:xfrm>
        </p:grpSpPr>
        <p:sp>
          <p:nvSpPr>
            <p:cNvPr id="429" name="Google Shape;429;p34"/>
            <p:cNvSpPr/>
            <p:nvPr/>
          </p:nvSpPr>
          <p:spPr>
            <a:xfrm>
              <a:off x="4587" y="1495"/>
              <a:ext cx="137" cy="137"/>
            </a:xfrm>
            <a:prstGeom prst="ellipse">
              <a:avLst/>
            </a:prstGeom>
            <a:gradFill>
              <a:gsLst>
                <a:gs pos="0">
                  <a:srgbClr val="DDDDDD"/>
                </a:gs>
                <a:gs pos="100000">
                  <a:srgbClr val="666666"/>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0" name="Google Shape;430;p34"/>
            <p:cNvSpPr txBox="1"/>
            <p:nvPr/>
          </p:nvSpPr>
          <p:spPr>
            <a:xfrm>
              <a:off x="4532" y="1245"/>
              <a:ext cx="35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m</a:t>
              </a:r>
              <a:r>
                <a:rPr b="1" baseline="-25000" lang="en-US" sz="2400">
                  <a:solidFill>
                    <a:schemeClr val="dk1"/>
                  </a:solidFill>
                  <a:latin typeface="Arial"/>
                  <a:ea typeface="Arial"/>
                  <a:cs typeface="Arial"/>
                  <a:sym typeface="Arial"/>
                </a:rPr>
                <a:t>2</a:t>
              </a:r>
              <a:endParaRPr/>
            </a:p>
          </p:txBody>
        </p:sp>
      </p:grpSp>
      <p:cxnSp>
        <p:nvCxnSpPr>
          <p:cNvPr id="431" name="Google Shape;431;p34"/>
          <p:cNvCxnSpPr/>
          <p:nvPr/>
        </p:nvCxnSpPr>
        <p:spPr>
          <a:xfrm flipH="1">
            <a:off x="6835775" y="3289300"/>
            <a:ext cx="385763" cy="117475"/>
          </a:xfrm>
          <a:prstGeom prst="straightConnector1">
            <a:avLst/>
          </a:prstGeom>
          <a:noFill/>
          <a:ln cap="flat" cmpd="sng" w="38100">
            <a:solidFill>
              <a:srgbClr val="FF0000"/>
            </a:solidFill>
            <a:prstDash val="solid"/>
            <a:round/>
            <a:headEnd len="med" w="med" type="none"/>
            <a:tailEnd len="med" w="med" type="stealth"/>
          </a:ln>
        </p:spPr>
      </p:cxnSp>
      <p:cxnSp>
        <p:nvCxnSpPr>
          <p:cNvPr id="432" name="Google Shape;432;p34"/>
          <p:cNvCxnSpPr/>
          <p:nvPr/>
        </p:nvCxnSpPr>
        <p:spPr>
          <a:xfrm>
            <a:off x="4097338" y="3646488"/>
            <a:ext cx="641350" cy="271462"/>
          </a:xfrm>
          <a:prstGeom prst="straightConnector1">
            <a:avLst/>
          </a:prstGeom>
          <a:noFill/>
          <a:ln cap="flat" cmpd="sng" w="38100">
            <a:solidFill>
              <a:srgbClr val="FF0000"/>
            </a:solidFill>
            <a:prstDash val="solid"/>
            <a:round/>
            <a:headEnd len="med" w="med" type="none"/>
            <a:tailEnd len="med" w="med" type="stealth"/>
          </a:ln>
        </p:spPr>
      </p:cxnSp>
      <p:sp>
        <p:nvSpPr>
          <p:cNvPr id="433" name="Google Shape;433;p34"/>
          <p:cNvSpPr txBox="1"/>
          <p:nvPr/>
        </p:nvSpPr>
        <p:spPr>
          <a:xfrm>
            <a:off x="6919913" y="3214688"/>
            <a:ext cx="482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g</a:t>
            </a:r>
            <a:r>
              <a:rPr b="1" baseline="-25000" lang="en-US" sz="2400">
                <a:solidFill>
                  <a:schemeClr val="dk1"/>
                </a:solidFill>
                <a:latin typeface="Arial"/>
                <a:ea typeface="Arial"/>
                <a:cs typeface="Arial"/>
                <a:sym typeface="Arial"/>
              </a:rPr>
              <a:t>1</a:t>
            </a:r>
            <a:endParaRPr b="1" i="1" sz="2400">
              <a:solidFill>
                <a:schemeClr val="dk1"/>
              </a:solidFill>
              <a:latin typeface="Arial"/>
              <a:ea typeface="Arial"/>
              <a:cs typeface="Arial"/>
              <a:sym typeface="Arial"/>
            </a:endParaRPr>
          </a:p>
        </p:txBody>
      </p:sp>
      <p:sp>
        <p:nvSpPr>
          <p:cNvPr id="434" name="Google Shape;434;p34"/>
          <p:cNvSpPr txBox="1"/>
          <p:nvPr/>
        </p:nvSpPr>
        <p:spPr>
          <a:xfrm>
            <a:off x="4567238" y="3421063"/>
            <a:ext cx="482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g</a:t>
            </a:r>
            <a:r>
              <a:rPr b="1" baseline="-25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435" name="Google Shape;435;p34"/>
          <p:cNvSpPr txBox="1"/>
          <p:nvPr/>
        </p:nvSpPr>
        <p:spPr>
          <a:xfrm>
            <a:off x="693738" y="4949825"/>
            <a:ext cx="3625850"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 Because </a:t>
            </a:r>
            <a:r>
              <a:rPr i="1" lang="en-US" sz="2400">
                <a:solidFill>
                  <a:schemeClr val="hlink"/>
                </a:solidFill>
                <a:latin typeface="Arial"/>
                <a:ea typeface="Arial"/>
                <a:cs typeface="Arial"/>
                <a:sym typeface="Arial"/>
              </a:rPr>
              <a:t>g</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It varies as 1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lang="en-US" sz="2400">
                <a:solidFill>
                  <a:schemeClr val="dk1"/>
                </a:solidFill>
                <a:latin typeface="Arial"/>
                <a:ea typeface="Arial"/>
                <a:cs typeface="Arial"/>
                <a:sym typeface="Arial"/>
              </a:rPr>
              <a:t> </a:t>
            </a:r>
            <a:endParaRPr/>
          </a:p>
        </p:txBody>
      </p:sp>
      <p:sp>
        <p:nvSpPr>
          <p:cNvPr id="436" name="Google Shape;436;p34"/>
          <p:cNvSpPr txBox="1"/>
          <p:nvPr/>
        </p:nvSpPr>
        <p:spPr>
          <a:xfrm>
            <a:off x="5680075" y="4951413"/>
            <a:ext cx="2765425" cy="118745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hlink"/>
                </a:solidFill>
                <a:latin typeface="Arial"/>
                <a:ea typeface="Arial"/>
                <a:cs typeface="Arial"/>
                <a:sym typeface="Arial"/>
              </a:rPr>
              <a:t>(b) Because the gravitational force is attractive.</a:t>
            </a:r>
            <a:r>
              <a:rPr lang="en-US" sz="2000">
                <a:solidFill>
                  <a:schemeClr val="dk1"/>
                </a:solidFill>
                <a:latin typeface="Courier New"/>
                <a:ea typeface="Courier New"/>
                <a:cs typeface="Courier New"/>
                <a:sym typeface="Courier New"/>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500"/>
                                        <p:tgtEl>
                                          <p:spTgt spid="419"/>
                                        </p:tgtEl>
                                        <p:attrNameLst>
                                          <p:attrName>ppt_w</p:attrName>
                                        </p:attrNameLst>
                                      </p:cBhvr>
                                      <p:tavLst>
                                        <p:tav fmla="" tm="0">
                                          <p:val>
                                            <p:strVal val="0"/>
                                          </p:val>
                                        </p:tav>
                                        <p:tav fmla="" tm="100000">
                                          <p:val>
                                            <p:strVal val="#ppt_w"/>
                                          </p:val>
                                        </p:tav>
                                      </p:tavLst>
                                    </p:anim>
                                    <p:anim calcmode="lin" valueType="num">
                                      <p:cBhvr additive="base">
                                        <p:cTn dur="500"/>
                                        <p:tgtEl>
                                          <p:spTgt spid="4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22"/>
                                        </p:tgtEl>
                                        <p:attrNameLst>
                                          <p:attrName>style.visibility</p:attrName>
                                        </p:attrNameLst>
                                      </p:cBhvr>
                                      <p:to>
                                        <p:strVal val="visible"/>
                                      </p:to>
                                    </p:set>
                                    <p:anim calcmode="lin" valueType="num">
                                      <p:cBhvr additive="base">
                                        <p:cTn dur="500"/>
                                        <p:tgtEl>
                                          <p:spTgt spid="422"/>
                                        </p:tgtEl>
                                        <p:attrNameLst>
                                          <p:attrName>ppt_w</p:attrName>
                                        </p:attrNameLst>
                                      </p:cBhvr>
                                      <p:tavLst>
                                        <p:tav fmla="" tm="0">
                                          <p:val>
                                            <p:strVal val="0"/>
                                          </p:val>
                                        </p:tav>
                                        <p:tav fmla="" tm="100000">
                                          <p:val>
                                            <p:strVal val="#ppt_w"/>
                                          </p:val>
                                        </p:tav>
                                      </p:tavLst>
                                    </p:anim>
                                    <p:anim calcmode="lin" valueType="num">
                                      <p:cBhvr additive="base">
                                        <p:cTn dur="500"/>
                                        <p:tgtEl>
                                          <p:spTgt spid="4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25"/>
                                        </p:tgtEl>
                                        <p:attrNameLst>
                                          <p:attrName>style.visibility</p:attrName>
                                        </p:attrNameLst>
                                      </p:cBhvr>
                                      <p:to>
                                        <p:strVal val="visible"/>
                                      </p:to>
                                    </p:set>
                                    <p:anim calcmode="lin" valueType="num">
                                      <p:cBhvr additive="base">
                                        <p:cTn dur="500"/>
                                        <p:tgtEl>
                                          <p:spTgt spid="4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500"/>
                                        <p:tgtEl>
                                          <p:spTgt spid="4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500"/>
                                        <p:tgtEl>
                                          <p:spTgt spid="433"/>
                                        </p:tgtEl>
                                        <p:attrNameLst>
                                          <p:attrName>ppt_w</p:attrName>
                                        </p:attrNameLst>
                                      </p:cBhvr>
                                      <p:tavLst>
                                        <p:tav fmla="" tm="0">
                                          <p:val>
                                            <p:strVal val="0"/>
                                          </p:val>
                                        </p:tav>
                                        <p:tav fmla="" tm="100000">
                                          <p:val>
                                            <p:strVal val="#ppt_w"/>
                                          </p:val>
                                        </p:tav>
                                      </p:tavLst>
                                    </p:anim>
                                    <p:anim calcmode="lin" valueType="num">
                                      <p:cBhvr additive="base">
                                        <p:cTn dur="500"/>
                                        <p:tgtEl>
                                          <p:spTgt spid="4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4"/>
                                        </p:tgtEl>
                                        <p:attrNameLst>
                                          <p:attrName>style.visibility</p:attrName>
                                        </p:attrNameLst>
                                      </p:cBhvr>
                                      <p:to>
                                        <p:strVal val="visible"/>
                                      </p:to>
                                    </p:set>
                                    <p:anim calcmode="lin" valueType="num">
                                      <p:cBhvr additive="base">
                                        <p:cTn dur="500"/>
                                        <p:tgtEl>
                                          <p:spTgt spid="434"/>
                                        </p:tgtEl>
                                        <p:attrNameLst>
                                          <p:attrName>ppt_w</p:attrName>
                                        </p:attrNameLst>
                                      </p:cBhvr>
                                      <p:tavLst>
                                        <p:tav fmla="" tm="0">
                                          <p:val>
                                            <p:strVal val="0"/>
                                          </p:val>
                                        </p:tav>
                                        <p:tav fmla="" tm="100000">
                                          <p:val>
                                            <p:strVal val="#ppt_w"/>
                                          </p:val>
                                        </p:tav>
                                      </p:tavLst>
                                    </p:anim>
                                    <p:anim calcmode="lin" valueType="num">
                                      <p:cBhvr additive="base">
                                        <p:cTn dur="500"/>
                                        <p:tgtEl>
                                          <p:spTgt spid="43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ppt_w</p:attrName>
                                        </p:attrNameLst>
                                      </p:cBhvr>
                                      <p:tavLst>
                                        <p:tav fmla="" tm="0">
                                          <p:val>
                                            <p:strVal val="0"/>
                                          </p:val>
                                        </p:tav>
                                        <p:tav fmla="" tm="100000">
                                          <p:val>
                                            <p:strVal val="#ppt_w"/>
                                          </p:val>
                                        </p:tav>
                                      </p:tavLst>
                                    </p:anim>
                                    <p:anim calcmode="lin" valueType="num">
                                      <p:cBhvr additive="base">
                                        <p:cTn dur="500"/>
                                        <p:tgtEl>
                                          <p:spTgt spid="43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500"/>
                                        <p:tgtEl>
                                          <p:spTgt spid="436"/>
                                        </p:tgtEl>
                                        <p:attrNameLst>
                                          <p:attrName>ppt_w</p:attrName>
                                        </p:attrNameLst>
                                      </p:cBhvr>
                                      <p:tavLst>
                                        <p:tav fmla="" tm="0">
                                          <p:val>
                                            <p:strVal val="0"/>
                                          </p:val>
                                        </p:tav>
                                        <p:tav fmla="" tm="100000">
                                          <p:val>
                                            <p:strVal val="#ppt_w"/>
                                          </p:val>
                                        </p:tav>
                                      </p:tavLst>
                                    </p:anim>
                                    <p:anim calcmode="lin" valueType="num">
                                      <p:cBhvr additive="base">
                                        <p:cTn dur="500"/>
                                        <p:tgtEl>
                                          <p:spTgt spid="4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5"/>
          <p:cNvSpPr/>
          <p:nvPr/>
        </p:nvSpPr>
        <p:spPr>
          <a:xfrm>
            <a:off x="682625" y="5264150"/>
            <a:ext cx="7777163" cy="159385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field arrows of the inner ring are longer than the field arrows of the outer ring and all field arrows point to the centerline.</a:t>
            </a:r>
            <a:endParaRPr/>
          </a:p>
        </p:txBody>
      </p:sp>
      <p:grpSp>
        <p:nvGrpSpPr>
          <p:cNvPr id="443" name="Google Shape;443;p35"/>
          <p:cNvGrpSpPr/>
          <p:nvPr/>
        </p:nvGrpSpPr>
        <p:grpSpPr>
          <a:xfrm>
            <a:off x="4629150" y="5040313"/>
            <a:ext cx="619125" cy="619125"/>
            <a:chOff x="2916" y="3376"/>
            <a:chExt cx="390" cy="390"/>
          </a:xfrm>
        </p:grpSpPr>
        <p:sp>
          <p:nvSpPr>
            <p:cNvPr id="444" name="Google Shape;444;p35"/>
            <p:cNvSpPr/>
            <p:nvPr/>
          </p:nvSpPr>
          <p:spPr>
            <a:xfrm>
              <a:off x="2916" y="3376"/>
              <a:ext cx="390" cy="390"/>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5" name="Google Shape;445;p35"/>
            <p:cNvSpPr txBox="1"/>
            <p:nvPr/>
          </p:nvSpPr>
          <p:spPr>
            <a:xfrm>
              <a:off x="2968" y="3426"/>
              <a:ext cx="27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M</a:t>
              </a:r>
              <a:endParaRPr/>
            </a:p>
          </p:txBody>
        </p:sp>
      </p:grpSp>
      <p:pic>
        <p:nvPicPr>
          <p:cNvPr id="446" name="Google Shape;446;p35"/>
          <p:cNvPicPr preferRelativeResize="0"/>
          <p:nvPr/>
        </p:nvPicPr>
        <p:blipFill rotWithShape="1">
          <a:blip r:embed="rId3">
            <a:alphaModFix/>
          </a:blip>
          <a:srcRect b="0" l="0" r="0" t="0"/>
          <a:stretch/>
        </p:blipFill>
        <p:spPr>
          <a:xfrm>
            <a:off x="184150" y="2949575"/>
            <a:ext cx="8807450" cy="2774950"/>
          </a:xfrm>
          <a:prstGeom prst="rect">
            <a:avLst/>
          </a:prstGeom>
          <a:noFill/>
          <a:ln>
            <a:noFill/>
          </a:ln>
          <a:effectLst>
            <a:outerShdw blurRad="292100" rotWithShape="0" algn="tl" dir="2700000" dist="139700">
              <a:srgbClr val="333333">
                <a:alpha val="64705"/>
              </a:srgbClr>
            </a:outerShdw>
          </a:effectLst>
        </p:spPr>
      </p:pic>
      <p:sp>
        <p:nvSpPr>
          <p:cNvPr id="447" name="Google Shape;447;p35"/>
          <p:cNvSpPr/>
          <p:nvPr/>
        </p:nvSpPr>
        <p:spPr>
          <a:xfrm>
            <a:off x="685800" y="1549400"/>
            <a:ext cx="7772400" cy="12779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∙By “placing” a series of small </a:t>
            </a:r>
            <a:r>
              <a:rPr b="1" lang="en-US" sz="2400">
                <a:solidFill>
                  <a:srgbClr val="000000"/>
                </a:solidFill>
                <a:latin typeface="Arial"/>
                <a:ea typeface="Arial"/>
                <a:cs typeface="Arial"/>
                <a:sym typeface="Arial"/>
              </a:rPr>
              <a:t>test masses </a:t>
            </a:r>
            <a:r>
              <a:rPr lang="en-US" sz="2400">
                <a:solidFill>
                  <a:srgbClr val="000000"/>
                </a:solidFill>
                <a:latin typeface="Arial"/>
                <a:ea typeface="Arial"/>
                <a:cs typeface="Arial"/>
                <a:sym typeface="Arial"/>
              </a:rPr>
              <a:t>about a larger mass, we can map out its gravitational field:</a:t>
            </a:r>
            <a:endParaRPr/>
          </a:p>
        </p:txBody>
      </p:sp>
      <p:sp>
        <p:nvSpPr>
          <p:cNvPr id="448" name="Google Shape;448;p3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6: Circular motion and gravitation</a:t>
            </a:r>
            <a:br>
              <a:rPr b="1" lang="en-US" sz="2800"/>
            </a:br>
            <a:r>
              <a:rPr lang="en-US" sz="2800">
                <a:solidFill>
                  <a:schemeClr val="dk1"/>
                </a:solidFill>
              </a:rPr>
              <a:t>6.2 – Newton’s law of gravitation</a:t>
            </a:r>
            <a:endParaRPr sz="2800">
              <a:solidFill>
                <a:schemeClr val="dk1"/>
              </a:solidFill>
            </a:endParaRPr>
          </a:p>
        </p:txBody>
      </p:sp>
      <p:sp>
        <p:nvSpPr>
          <p:cNvPr id="449" name="Google Shape;449;p35"/>
          <p:cNvSpPr/>
          <p:nvPr/>
        </p:nvSpPr>
        <p:spPr>
          <a:xfrm>
            <a:off x="3568700" y="3465513"/>
            <a:ext cx="2732088" cy="719137"/>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450" name="Google Shape;450;p35"/>
          <p:cNvCxnSpPr/>
          <p:nvPr/>
        </p:nvCxnSpPr>
        <p:spPr>
          <a:xfrm rot="10800000">
            <a:off x="4938713" y="3314700"/>
            <a:ext cx="0" cy="457200"/>
          </a:xfrm>
          <a:prstGeom prst="straightConnector1">
            <a:avLst/>
          </a:prstGeom>
          <a:noFill/>
          <a:ln cap="flat" cmpd="sng" w="9525">
            <a:solidFill>
              <a:schemeClr val="dk1"/>
            </a:solidFill>
            <a:prstDash val="solid"/>
            <a:round/>
            <a:headEnd len="med" w="med" type="none"/>
            <a:tailEnd len="med" w="med" type="none"/>
          </a:ln>
        </p:spPr>
      </p:cxnSp>
      <p:cxnSp>
        <p:nvCxnSpPr>
          <p:cNvPr id="451" name="Google Shape;451;p35"/>
          <p:cNvCxnSpPr/>
          <p:nvPr/>
        </p:nvCxnSpPr>
        <p:spPr>
          <a:xfrm flipH="1">
            <a:off x="5241925" y="3487738"/>
            <a:ext cx="219075" cy="119062"/>
          </a:xfrm>
          <a:prstGeom prst="straightConnector1">
            <a:avLst/>
          </a:prstGeom>
          <a:noFill/>
          <a:ln cap="flat" cmpd="sng" w="9525">
            <a:solidFill>
              <a:srgbClr val="FF0000"/>
            </a:solidFill>
            <a:prstDash val="solid"/>
            <a:round/>
            <a:headEnd len="med" w="med" type="none"/>
            <a:tailEnd len="med" w="med" type="triangle"/>
          </a:ln>
        </p:spPr>
      </p:cxnSp>
      <p:cxnSp>
        <p:nvCxnSpPr>
          <p:cNvPr id="452" name="Google Shape;452;p35"/>
          <p:cNvCxnSpPr/>
          <p:nvPr/>
        </p:nvCxnSpPr>
        <p:spPr>
          <a:xfrm flipH="1">
            <a:off x="4970463" y="3476625"/>
            <a:ext cx="42862" cy="120650"/>
          </a:xfrm>
          <a:prstGeom prst="straightConnector1">
            <a:avLst/>
          </a:prstGeom>
          <a:noFill/>
          <a:ln cap="flat" cmpd="sng" w="9525">
            <a:solidFill>
              <a:srgbClr val="FF0000"/>
            </a:solidFill>
            <a:prstDash val="solid"/>
            <a:round/>
            <a:headEnd len="med" w="med" type="none"/>
            <a:tailEnd len="med" w="med" type="triangle"/>
          </a:ln>
        </p:spPr>
      </p:cxnSp>
      <p:cxnSp>
        <p:nvCxnSpPr>
          <p:cNvPr id="453" name="Google Shape;453;p35"/>
          <p:cNvCxnSpPr/>
          <p:nvPr/>
        </p:nvCxnSpPr>
        <p:spPr>
          <a:xfrm>
            <a:off x="4622800" y="3487738"/>
            <a:ext cx="128588" cy="107950"/>
          </a:xfrm>
          <a:prstGeom prst="straightConnector1">
            <a:avLst/>
          </a:prstGeom>
          <a:noFill/>
          <a:ln cap="flat" cmpd="sng" w="9525">
            <a:solidFill>
              <a:srgbClr val="FF0000"/>
            </a:solidFill>
            <a:prstDash val="solid"/>
            <a:round/>
            <a:headEnd len="med" w="med" type="none"/>
            <a:tailEnd len="med" w="med" type="triangle"/>
          </a:ln>
        </p:spPr>
      </p:cxnSp>
      <p:cxnSp>
        <p:nvCxnSpPr>
          <p:cNvPr id="454" name="Google Shape;454;p35"/>
          <p:cNvCxnSpPr/>
          <p:nvPr/>
        </p:nvCxnSpPr>
        <p:spPr>
          <a:xfrm>
            <a:off x="4241800" y="3533775"/>
            <a:ext cx="206375" cy="96838"/>
          </a:xfrm>
          <a:prstGeom prst="straightConnector1">
            <a:avLst/>
          </a:prstGeom>
          <a:noFill/>
          <a:ln cap="flat" cmpd="sng" w="9525">
            <a:solidFill>
              <a:srgbClr val="FF0000"/>
            </a:solidFill>
            <a:prstDash val="solid"/>
            <a:round/>
            <a:headEnd len="med" w="med" type="none"/>
            <a:tailEnd len="med" w="med" type="triangle"/>
          </a:ln>
        </p:spPr>
      </p:cxnSp>
      <p:cxnSp>
        <p:nvCxnSpPr>
          <p:cNvPr id="455" name="Google Shape;455;p35"/>
          <p:cNvCxnSpPr/>
          <p:nvPr/>
        </p:nvCxnSpPr>
        <p:spPr>
          <a:xfrm>
            <a:off x="3870325" y="3609975"/>
            <a:ext cx="369888" cy="66675"/>
          </a:xfrm>
          <a:prstGeom prst="straightConnector1">
            <a:avLst/>
          </a:prstGeom>
          <a:noFill/>
          <a:ln cap="flat" cmpd="sng" w="9525">
            <a:solidFill>
              <a:srgbClr val="FF0000"/>
            </a:solidFill>
            <a:prstDash val="solid"/>
            <a:round/>
            <a:headEnd len="med" w="med" type="none"/>
            <a:tailEnd len="med" w="med" type="triangle"/>
          </a:ln>
        </p:spPr>
      </p:cxnSp>
      <p:cxnSp>
        <p:nvCxnSpPr>
          <p:cNvPr id="456" name="Google Shape;456;p35"/>
          <p:cNvCxnSpPr/>
          <p:nvPr/>
        </p:nvCxnSpPr>
        <p:spPr>
          <a:xfrm>
            <a:off x="3621088" y="3738563"/>
            <a:ext cx="481012" cy="1587"/>
          </a:xfrm>
          <a:prstGeom prst="straightConnector1">
            <a:avLst/>
          </a:prstGeom>
          <a:noFill/>
          <a:ln cap="flat" cmpd="sng" w="9525">
            <a:solidFill>
              <a:srgbClr val="FF0000"/>
            </a:solidFill>
            <a:prstDash val="solid"/>
            <a:round/>
            <a:headEnd len="med" w="med" type="none"/>
            <a:tailEnd len="med" w="med" type="triangle"/>
          </a:ln>
        </p:spPr>
      </p:cxnSp>
      <p:cxnSp>
        <p:nvCxnSpPr>
          <p:cNvPr id="457" name="Google Shape;457;p35"/>
          <p:cNvCxnSpPr/>
          <p:nvPr/>
        </p:nvCxnSpPr>
        <p:spPr>
          <a:xfrm flipH="1" rot="10800000">
            <a:off x="3575050" y="3805238"/>
            <a:ext cx="512763" cy="65087"/>
          </a:xfrm>
          <a:prstGeom prst="straightConnector1">
            <a:avLst/>
          </a:prstGeom>
          <a:noFill/>
          <a:ln cap="flat" cmpd="sng" w="9525">
            <a:solidFill>
              <a:srgbClr val="FF0000"/>
            </a:solidFill>
            <a:prstDash val="solid"/>
            <a:round/>
            <a:headEnd len="med" w="med" type="none"/>
            <a:tailEnd len="med" w="med" type="triangle"/>
          </a:ln>
        </p:spPr>
      </p:cxnSp>
      <p:cxnSp>
        <p:nvCxnSpPr>
          <p:cNvPr id="458" name="Google Shape;458;p35"/>
          <p:cNvCxnSpPr/>
          <p:nvPr/>
        </p:nvCxnSpPr>
        <p:spPr>
          <a:xfrm flipH="1" rot="10800000">
            <a:off x="3665538" y="3859213"/>
            <a:ext cx="468312" cy="77787"/>
          </a:xfrm>
          <a:prstGeom prst="straightConnector1">
            <a:avLst/>
          </a:prstGeom>
          <a:noFill/>
          <a:ln cap="flat" cmpd="sng" w="9525">
            <a:solidFill>
              <a:srgbClr val="FF0000"/>
            </a:solidFill>
            <a:prstDash val="solid"/>
            <a:round/>
            <a:headEnd len="med" w="med" type="none"/>
            <a:tailEnd len="med" w="med" type="triangle"/>
          </a:ln>
        </p:spPr>
      </p:cxnSp>
      <p:cxnSp>
        <p:nvCxnSpPr>
          <p:cNvPr id="459" name="Google Shape;459;p35"/>
          <p:cNvCxnSpPr/>
          <p:nvPr/>
        </p:nvCxnSpPr>
        <p:spPr>
          <a:xfrm flipH="1" rot="10800000">
            <a:off x="3751263" y="3894138"/>
            <a:ext cx="481012" cy="96837"/>
          </a:xfrm>
          <a:prstGeom prst="straightConnector1">
            <a:avLst/>
          </a:prstGeom>
          <a:noFill/>
          <a:ln cap="flat" cmpd="sng" w="9525">
            <a:solidFill>
              <a:srgbClr val="FF0000"/>
            </a:solidFill>
            <a:prstDash val="solid"/>
            <a:round/>
            <a:headEnd len="med" w="med" type="none"/>
            <a:tailEnd len="med" w="med" type="triangle"/>
          </a:ln>
        </p:spPr>
      </p:cxnSp>
      <p:cxnSp>
        <p:nvCxnSpPr>
          <p:cNvPr id="460" name="Google Shape;460;p35"/>
          <p:cNvCxnSpPr/>
          <p:nvPr/>
        </p:nvCxnSpPr>
        <p:spPr>
          <a:xfrm flipH="1" rot="10800000">
            <a:off x="3870325" y="3924300"/>
            <a:ext cx="468313" cy="131763"/>
          </a:xfrm>
          <a:prstGeom prst="straightConnector1">
            <a:avLst/>
          </a:prstGeom>
          <a:noFill/>
          <a:ln cap="flat" cmpd="sng" w="9525">
            <a:solidFill>
              <a:srgbClr val="FF0000"/>
            </a:solidFill>
            <a:prstDash val="solid"/>
            <a:round/>
            <a:headEnd len="med" w="med" type="none"/>
            <a:tailEnd len="med" w="med" type="triangle"/>
          </a:ln>
        </p:spPr>
      </p:cxnSp>
      <p:cxnSp>
        <p:nvCxnSpPr>
          <p:cNvPr id="461" name="Google Shape;461;p35"/>
          <p:cNvCxnSpPr/>
          <p:nvPr/>
        </p:nvCxnSpPr>
        <p:spPr>
          <a:xfrm flipH="1" rot="10800000">
            <a:off x="4208463" y="3967163"/>
            <a:ext cx="338137" cy="142875"/>
          </a:xfrm>
          <a:prstGeom prst="straightConnector1">
            <a:avLst/>
          </a:prstGeom>
          <a:noFill/>
          <a:ln cap="flat" cmpd="sng" w="9525">
            <a:solidFill>
              <a:srgbClr val="FF0000"/>
            </a:solidFill>
            <a:prstDash val="solid"/>
            <a:round/>
            <a:headEnd len="med" w="med" type="none"/>
            <a:tailEnd len="med" w="med" type="triangle"/>
          </a:ln>
        </p:spPr>
      </p:cxnSp>
      <p:cxnSp>
        <p:nvCxnSpPr>
          <p:cNvPr id="462" name="Google Shape;462;p35"/>
          <p:cNvCxnSpPr/>
          <p:nvPr/>
        </p:nvCxnSpPr>
        <p:spPr>
          <a:xfrm flipH="1" rot="10800000">
            <a:off x="4665663" y="3968750"/>
            <a:ext cx="207962" cy="206375"/>
          </a:xfrm>
          <a:prstGeom prst="straightConnector1">
            <a:avLst/>
          </a:prstGeom>
          <a:noFill/>
          <a:ln cap="flat" cmpd="sng" w="9525">
            <a:solidFill>
              <a:srgbClr val="FF0000"/>
            </a:solidFill>
            <a:prstDash val="solid"/>
            <a:round/>
            <a:headEnd len="med" w="med" type="none"/>
            <a:tailEnd len="med" w="med" type="triangle"/>
          </a:ln>
        </p:spPr>
      </p:cxnSp>
      <p:cxnSp>
        <p:nvCxnSpPr>
          <p:cNvPr id="463" name="Google Shape;463;p35"/>
          <p:cNvCxnSpPr/>
          <p:nvPr/>
        </p:nvCxnSpPr>
        <p:spPr>
          <a:xfrm rot="10800000">
            <a:off x="5080000" y="3979863"/>
            <a:ext cx="195263" cy="195262"/>
          </a:xfrm>
          <a:prstGeom prst="straightConnector1">
            <a:avLst/>
          </a:prstGeom>
          <a:noFill/>
          <a:ln cap="flat" cmpd="sng" w="9525">
            <a:solidFill>
              <a:srgbClr val="FF0000"/>
            </a:solidFill>
            <a:prstDash val="solid"/>
            <a:round/>
            <a:headEnd len="med" w="med" type="none"/>
            <a:tailEnd len="med" w="med" type="triangle"/>
          </a:ln>
        </p:spPr>
      </p:cxnSp>
      <p:cxnSp>
        <p:nvCxnSpPr>
          <p:cNvPr id="464" name="Google Shape;464;p35"/>
          <p:cNvCxnSpPr/>
          <p:nvPr/>
        </p:nvCxnSpPr>
        <p:spPr>
          <a:xfrm rot="10800000">
            <a:off x="5462588" y="3948113"/>
            <a:ext cx="379412" cy="130175"/>
          </a:xfrm>
          <a:prstGeom prst="straightConnector1">
            <a:avLst/>
          </a:prstGeom>
          <a:noFill/>
          <a:ln cap="flat" cmpd="sng" w="9525">
            <a:solidFill>
              <a:srgbClr val="FF0000"/>
            </a:solidFill>
            <a:prstDash val="solid"/>
            <a:round/>
            <a:headEnd len="med" w="med" type="none"/>
            <a:tailEnd len="med" w="med" type="triangle"/>
          </a:ln>
        </p:spPr>
      </p:cxnSp>
      <p:cxnSp>
        <p:nvCxnSpPr>
          <p:cNvPr id="465" name="Google Shape;465;p35"/>
          <p:cNvCxnSpPr/>
          <p:nvPr/>
        </p:nvCxnSpPr>
        <p:spPr>
          <a:xfrm rot="10800000">
            <a:off x="5626100" y="3894138"/>
            <a:ext cx="444500" cy="119062"/>
          </a:xfrm>
          <a:prstGeom prst="straightConnector1">
            <a:avLst/>
          </a:prstGeom>
          <a:noFill/>
          <a:ln cap="flat" cmpd="sng" w="9525">
            <a:solidFill>
              <a:srgbClr val="FF0000"/>
            </a:solidFill>
            <a:prstDash val="solid"/>
            <a:round/>
            <a:headEnd len="med" w="med" type="none"/>
            <a:tailEnd len="med" w="med" type="triangle"/>
          </a:ln>
        </p:spPr>
      </p:cxnSp>
      <p:cxnSp>
        <p:nvCxnSpPr>
          <p:cNvPr id="466" name="Google Shape;466;p35"/>
          <p:cNvCxnSpPr/>
          <p:nvPr/>
        </p:nvCxnSpPr>
        <p:spPr>
          <a:xfrm rot="10800000">
            <a:off x="5746750" y="3862388"/>
            <a:ext cx="465138" cy="96837"/>
          </a:xfrm>
          <a:prstGeom prst="straightConnector1">
            <a:avLst/>
          </a:prstGeom>
          <a:noFill/>
          <a:ln cap="flat" cmpd="sng" w="9525">
            <a:solidFill>
              <a:srgbClr val="FF0000"/>
            </a:solidFill>
            <a:prstDash val="solid"/>
            <a:round/>
            <a:headEnd len="med" w="med" type="none"/>
            <a:tailEnd len="med" w="med" type="triangle"/>
          </a:ln>
        </p:spPr>
      </p:cxnSp>
      <p:cxnSp>
        <p:nvCxnSpPr>
          <p:cNvPr id="467" name="Google Shape;467;p35"/>
          <p:cNvCxnSpPr/>
          <p:nvPr/>
        </p:nvCxnSpPr>
        <p:spPr>
          <a:xfrm rot="10800000">
            <a:off x="5800725" y="3841750"/>
            <a:ext cx="487363" cy="52388"/>
          </a:xfrm>
          <a:prstGeom prst="straightConnector1">
            <a:avLst/>
          </a:prstGeom>
          <a:noFill/>
          <a:ln cap="flat" cmpd="sng" w="9525">
            <a:solidFill>
              <a:srgbClr val="FF0000"/>
            </a:solidFill>
            <a:prstDash val="solid"/>
            <a:round/>
            <a:headEnd len="med" w="med" type="none"/>
            <a:tailEnd len="med" w="med" type="triangle"/>
          </a:ln>
        </p:spPr>
      </p:cxnSp>
      <p:cxnSp>
        <p:nvCxnSpPr>
          <p:cNvPr id="468" name="Google Shape;468;p35"/>
          <p:cNvCxnSpPr/>
          <p:nvPr/>
        </p:nvCxnSpPr>
        <p:spPr>
          <a:xfrm flipH="1">
            <a:off x="5824538" y="3775075"/>
            <a:ext cx="463550" cy="1588"/>
          </a:xfrm>
          <a:prstGeom prst="straightConnector1">
            <a:avLst/>
          </a:prstGeom>
          <a:noFill/>
          <a:ln cap="flat" cmpd="sng" w="9525">
            <a:solidFill>
              <a:srgbClr val="FF0000"/>
            </a:solidFill>
            <a:prstDash val="solid"/>
            <a:round/>
            <a:headEnd len="med" w="med" type="none"/>
            <a:tailEnd len="med" w="med" type="triangle"/>
          </a:ln>
        </p:spPr>
      </p:cxnSp>
      <p:cxnSp>
        <p:nvCxnSpPr>
          <p:cNvPr id="469" name="Google Shape;469;p35"/>
          <p:cNvCxnSpPr/>
          <p:nvPr/>
        </p:nvCxnSpPr>
        <p:spPr>
          <a:xfrm flipH="1">
            <a:off x="5757863" y="3665538"/>
            <a:ext cx="388937" cy="34925"/>
          </a:xfrm>
          <a:prstGeom prst="straightConnector1">
            <a:avLst/>
          </a:prstGeom>
          <a:noFill/>
          <a:ln cap="flat" cmpd="sng" w="9525">
            <a:solidFill>
              <a:srgbClr val="FF0000"/>
            </a:solidFill>
            <a:prstDash val="solid"/>
            <a:round/>
            <a:headEnd len="med" w="med" type="none"/>
            <a:tailEnd len="med" w="med" type="triangle"/>
          </a:ln>
        </p:spPr>
      </p:cxnSp>
      <p:cxnSp>
        <p:nvCxnSpPr>
          <p:cNvPr id="470" name="Google Shape;470;p35"/>
          <p:cNvCxnSpPr/>
          <p:nvPr/>
        </p:nvCxnSpPr>
        <p:spPr>
          <a:xfrm flipH="1">
            <a:off x="5508625" y="3568700"/>
            <a:ext cx="344488" cy="66675"/>
          </a:xfrm>
          <a:prstGeom prst="straightConnector1">
            <a:avLst/>
          </a:prstGeom>
          <a:noFill/>
          <a:ln cap="flat" cmpd="sng" w="9525">
            <a:solidFill>
              <a:srgbClr val="FF0000"/>
            </a:solidFill>
            <a:prstDash val="solid"/>
            <a:round/>
            <a:headEnd len="med" w="med" type="none"/>
            <a:tailEnd len="med" w="med" type="triangle"/>
          </a:ln>
        </p:spPr>
      </p:cxnSp>
      <p:sp>
        <p:nvSpPr>
          <p:cNvPr id="471" name="Google Shape;471;p35"/>
          <p:cNvSpPr/>
          <p:nvPr/>
        </p:nvSpPr>
        <p:spPr>
          <a:xfrm>
            <a:off x="2390775" y="3111500"/>
            <a:ext cx="5040313" cy="129698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472" name="Google Shape;472;p35"/>
          <p:cNvCxnSpPr/>
          <p:nvPr/>
        </p:nvCxnSpPr>
        <p:spPr>
          <a:xfrm rot="10800000">
            <a:off x="4949825" y="2786063"/>
            <a:ext cx="0" cy="895350"/>
          </a:xfrm>
          <a:prstGeom prst="straightConnector1">
            <a:avLst/>
          </a:prstGeom>
          <a:noFill/>
          <a:ln cap="flat" cmpd="sng" w="19050">
            <a:solidFill>
              <a:schemeClr val="dk1"/>
            </a:solidFill>
            <a:prstDash val="dashDot"/>
            <a:round/>
            <a:headEnd len="med" w="med" type="none"/>
            <a:tailEnd len="med" w="med" type="none"/>
          </a:ln>
        </p:spPr>
      </p:cxnSp>
      <p:cxnSp>
        <p:nvCxnSpPr>
          <p:cNvPr id="473" name="Google Shape;473;p35"/>
          <p:cNvCxnSpPr/>
          <p:nvPr/>
        </p:nvCxnSpPr>
        <p:spPr>
          <a:xfrm flipH="1">
            <a:off x="5011738" y="3113088"/>
            <a:ext cx="79375" cy="125412"/>
          </a:xfrm>
          <a:prstGeom prst="straightConnector1">
            <a:avLst/>
          </a:prstGeom>
          <a:noFill/>
          <a:ln cap="flat" cmpd="sng" w="9525">
            <a:solidFill>
              <a:srgbClr val="FF0000"/>
            </a:solidFill>
            <a:prstDash val="solid"/>
            <a:round/>
            <a:headEnd len="med" w="med" type="none"/>
            <a:tailEnd len="med" w="med" type="triangle"/>
          </a:ln>
        </p:spPr>
      </p:cxnSp>
      <p:cxnSp>
        <p:nvCxnSpPr>
          <p:cNvPr id="474" name="Google Shape;474;p35"/>
          <p:cNvCxnSpPr/>
          <p:nvPr/>
        </p:nvCxnSpPr>
        <p:spPr>
          <a:xfrm>
            <a:off x="4478338" y="3122613"/>
            <a:ext cx="115887" cy="115887"/>
          </a:xfrm>
          <a:prstGeom prst="straightConnector1">
            <a:avLst/>
          </a:prstGeom>
          <a:noFill/>
          <a:ln cap="flat" cmpd="sng" w="9525">
            <a:solidFill>
              <a:srgbClr val="FF0000"/>
            </a:solidFill>
            <a:prstDash val="solid"/>
            <a:round/>
            <a:headEnd len="med" w="med" type="none"/>
            <a:tailEnd len="med" w="med" type="triangle"/>
          </a:ln>
        </p:spPr>
      </p:cxnSp>
      <p:cxnSp>
        <p:nvCxnSpPr>
          <p:cNvPr id="475" name="Google Shape;475;p35"/>
          <p:cNvCxnSpPr/>
          <p:nvPr/>
        </p:nvCxnSpPr>
        <p:spPr>
          <a:xfrm>
            <a:off x="3937000" y="3157538"/>
            <a:ext cx="222250" cy="98425"/>
          </a:xfrm>
          <a:prstGeom prst="straightConnector1">
            <a:avLst/>
          </a:prstGeom>
          <a:noFill/>
          <a:ln cap="flat" cmpd="sng" w="9525">
            <a:solidFill>
              <a:srgbClr val="FF0000"/>
            </a:solidFill>
            <a:prstDash val="solid"/>
            <a:round/>
            <a:headEnd len="med" w="med" type="none"/>
            <a:tailEnd len="med" w="med" type="triangle"/>
          </a:ln>
        </p:spPr>
      </p:cxnSp>
      <p:cxnSp>
        <p:nvCxnSpPr>
          <p:cNvPr id="476" name="Google Shape;476;p35"/>
          <p:cNvCxnSpPr/>
          <p:nvPr/>
        </p:nvCxnSpPr>
        <p:spPr>
          <a:xfrm>
            <a:off x="3413125" y="3238500"/>
            <a:ext cx="301625" cy="52388"/>
          </a:xfrm>
          <a:prstGeom prst="straightConnector1">
            <a:avLst/>
          </a:prstGeom>
          <a:noFill/>
          <a:ln cap="flat" cmpd="sng" w="9525">
            <a:solidFill>
              <a:srgbClr val="FF0000"/>
            </a:solidFill>
            <a:prstDash val="solid"/>
            <a:round/>
            <a:headEnd len="med" w="med" type="none"/>
            <a:tailEnd len="med" w="med" type="triangle"/>
          </a:ln>
        </p:spPr>
      </p:cxnSp>
      <p:cxnSp>
        <p:nvCxnSpPr>
          <p:cNvPr id="477" name="Google Shape;477;p35"/>
          <p:cNvCxnSpPr/>
          <p:nvPr/>
        </p:nvCxnSpPr>
        <p:spPr>
          <a:xfrm>
            <a:off x="2906713" y="3362325"/>
            <a:ext cx="276225" cy="26988"/>
          </a:xfrm>
          <a:prstGeom prst="straightConnector1">
            <a:avLst/>
          </a:prstGeom>
          <a:noFill/>
          <a:ln cap="flat" cmpd="sng" w="9525">
            <a:solidFill>
              <a:srgbClr val="FF0000"/>
            </a:solidFill>
            <a:prstDash val="solid"/>
            <a:round/>
            <a:headEnd len="med" w="med" type="none"/>
            <a:tailEnd len="med" w="med" type="triangle"/>
          </a:ln>
        </p:spPr>
      </p:cxnSp>
      <p:cxnSp>
        <p:nvCxnSpPr>
          <p:cNvPr id="478" name="Google Shape;478;p35"/>
          <p:cNvCxnSpPr/>
          <p:nvPr/>
        </p:nvCxnSpPr>
        <p:spPr>
          <a:xfrm>
            <a:off x="2427288" y="3663950"/>
            <a:ext cx="187325" cy="0"/>
          </a:xfrm>
          <a:prstGeom prst="straightConnector1">
            <a:avLst/>
          </a:prstGeom>
          <a:noFill/>
          <a:ln cap="flat" cmpd="sng" w="9525">
            <a:solidFill>
              <a:srgbClr val="FF0000"/>
            </a:solidFill>
            <a:prstDash val="solid"/>
            <a:round/>
            <a:headEnd len="med" w="med" type="none"/>
            <a:tailEnd len="med" w="med" type="triangle"/>
          </a:ln>
        </p:spPr>
      </p:cxnSp>
      <p:cxnSp>
        <p:nvCxnSpPr>
          <p:cNvPr id="479" name="Google Shape;479;p35"/>
          <p:cNvCxnSpPr/>
          <p:nvPr/>
        </p:nvCxnSpPr>
        <p:spPr>
          <a:xfrm flipH="1" rot="10800000">
            <a:off x="2525713" y="3930650"/>
            <a:ext cx="239712" cy="17463"/>
          </a:xfrm>
          <a:prstGeom prst="straightConnector1">
            <a:avLst/>
          </a:prstGeom>
          <a:noFill/>
          <a:ln cap="flat" cmpd="sng" w="9525">
            <a:solidFill>
              <a:srgbClr val="FF0000"/>
            </a:solidFill>
            <a:prstDash val="solid"/>
            <a:round/>
            <a:headEnd len="med" w="med" type="none"/>
            <a:tailEnd len="med" w="med" type="triangle"/>
          </a:ln>
        </p:spPr>
      </p:cxnSp>
      <p:cxnSp>
        <p:nvCxnSpPr>
          <p:cNvPr id="480" name="Google Shape;480;p35"/>
          <p:cNvCxnSpPr/>
          <p:nvPr/>
        </p:nvCxnSpPr>
        <p:spPr>
          <a:xfrm flipH="1" rot="10800000">
            <a:off x="2800350" y="4029075"/>
            <a:ext cx="284163" cy="79375"/>
          </a:xfrm>
          <a:prstGeom prst="straightConnector1">
            <a:avLst/>
          </a:prstGeom>
          <a:noFill/>
          <a:ln cap="flat" cmpd="sng" w="9525">
            <a:solidFill>
              <a:srgbClr val="FF0000"/>
            </a:solidFill>
            <a:prstDash val="solid"/>
            <a:round/>
            <a:headEnd len="med" w="med" type="none"/>
            <a:tailEnd len="med" w="med" type="triangle"/>
          </a:ln>
        </p:spPr>
      </p:cxnSp>
      <p:cxnSp>
        <p:nvCxnSpPr>
          <p:cNvPr id="481" name="Google Shape;481;p35"/>
          <p:cNvCxnSpPr/>
          <p:nvPr/>
        </p:nvCxnSpPr>
        <p:spPr>
          <a:xfrm flipH="1" rot="10800000">
            <a:off x="3208338" y="4125913"/>
            <a:ext cx="276225" cy="106362"/>
          </a:xfrm>
          <a:prstGeom prst="straightConnector1">
            <a:avLst/>
          </a:prstGeom>
          <a:noFill/>
          <a:ln cap="flat" cmpd="sng" w="9525">
            <a:solidFill>
              <a:srgbClr val="FF0000"/>
            </a:solidFill>
            <a:prstDash val="solid"/>
            <a:round/>
            <a:headEnd len="med" w="med" type="none"/>
            <a:tailEnd len="med" w="med" type="triangle"/>
          </a:ln>
        </p:spPr>
      </p:cxnSp>
      <p:cxnSp>
        <p:nvCxnSpPr>
          <p:cNvPr id="482" name="Google Shape;482;p35"/>
          <p:cNvCxnSpPr/>
          <p:nvPr/>
        </p:nvCxnSpPr>
        <p:spPr>
          <a:xfrm flipH="1" rot="10800000">
            <a:off x="3776663" y="4197350"/>
            <a:ext cx="293687" cy="141288"/>
          </a:xfrm>
          <a:prstGeom prst="straightConnector1">
            <a:avLst/>
          </a:prstGeom>
          <a:noFill/>
          <a:ln cap="flat" cmpd="sng" w="9525">
            <a:solidFill>
              <a:srgbClr val="FF0000"/>
            </a:solidFill>
            <a:prstDash val="solid"/>
            <a:round/>
            <a:headEnd len="med" w="med" type="none"/>
            <a:tailEnd len="med" w="med" type="triangle"/>
          </a:ln>
        </p:spPr>
      </p:cxnSp>
      <p:cxnSp>
        <p:nvCxnSpPr>
          <p:cNvPr id="483" name="Google Shape;483;p35"/>
          <p:cNvCxnSpPr/>
          <p:nvPr/>
        </p:nvCxnSpPr>
        <p:spPr>
          <a:xfrm flipH="1" rot="10800000">
            <a:off x="4584700" y="4232275"/>
            <a:ext cx="134938" cy="168275"/>
          </a:xfrm>
          <a:prstGeom prst="straightConnector1">
            <a:avLst/>
          </a:prstGeom>
          <a:noFill/>
          <a:ln cap="flat" cmpd="sng" w="9525">
            <a:solidFill>
              <a:srgbClr val="FF0000"/>
            </a:solidFill>
            <a:prstDash val="solid"/>
            <a:round/>
            <a:headEnd len="med" w="med" type="none"/>
            <a:tailEnd len="med" w="med" type="triangle"/>
          </a:ln>
        </p:spPr>
      </p:cxnSp>
      <p:cxnSp>
        <p:nvCxnSpPr>
          <p:cNvPr id="484" name="Google Shape;484;p35"/>
          <p:cNvCxnSpPr/>
          <p:nvPr/>
        </p:nvCxnSpPr>
        <p:spPr>
          <a:xfrm rot="10800000">
            <a:off x="5384800" y="4232275"/>
            <a:ext cx="185738" cy="150813"/>
          </a:xfrm>
          <a:prstGeom prst="straightConnector1">
            <a:avLst/>
          </a:prstGeom>
          <a:noFill/>
          <a:ln cap="flat" cmpd="sng" w="9525">
            <a:solidFill>
              <a:srgbClr val="FF0000"/>
            </a:solidFill>
            <a:prstDash val="solid"/>
            <a:round/>
            <a:headEnd len="med" w="med" type="none"/>
            <a:tailEnd len="med" w="med" type="triangle"/>
          </a:ln>
        </p:spPr>
      </p:cxnSp>
      <p:cxnSp>
        <p:nvCxnSpPr>
          <p:cNvPr id="485" name="Google Shape;485;p35"/>
          <p:cNvCxnSpPr/>
          <p:nvPr/>
        </p:nvCxnSpPr>
        <p:spPr>
          <a:xfrm rot="10800000">
            <a:off x="6049963" y="4160838"/>
            <a:ext cx="336550" cy="123825"/>
          </a:xfrm>
          <a:prstGeom prst="straightConnector1">
            <a:avLst/>
          </a:prstGeom>
          <a:noFill/>
          <a:ln cap="flat" cmpd="sng" w="9525">
            <a:solidFill>
              <a:srgbClr val="FF0000"/>
            </a:solidFill>
            <a:prstDash val="solid"/>
            <a:round/>
            <a:headEnd len="med" w="med" type="none"/>
            <a:tailEnd len="med" w="med" type="triangle"/>
          </a:ln>
        </p:spPr>
      </p:cxnSp>
      <p:cxnSp>
        <p:nvCxnSpPr>
          <p:cNvPr id="486" name="Google Shape;486;p35"/>
          <p:cNvCxnSpPr/>
          <p:nvPr/>
        </p:nvCxnSpPr>
        <p:spPr>
          <a:xfrm rot="10800000">
            <a:off x="6521450" y="4089400"/>
            <a:ext cx="381000" cy="63500"/>
          </a:xfrm>
          <a:prstGeom prst="straightConnector1">
            <a:avLst/>
          </a:prstGeom>
          <a:noFill/>
          <a:ln cap="flat" cmpd="sng" w="9525">
            <a:solidFill>
              <a:srgbClr val="FF0000"/>
            </a:solidFill>
            <a:prstDash val="solid"/>
            <a:round/>
            <a:headEnd len="med" w="med" type="none"/>
            <a:tailEnd len="med" w="med" type="triangle"/>
          </a:ln>
        </p:spPr>
      </p:cxnSp>
      <p:cxnSp>
        <p:nvCxnSpPr>
          <p:cNvPr id="487" name="Google Shape;487;p35"/>
          <p:cNvCxnSpPr/>
          <p:nvPr/>
        </p:nvCxnSpPr>
        <p:spPr>
          <a:xfrm rot="10800000">
            <a:off x="6989763" y="3948113"/>
            <a:ext cx="293687" cy="26987"/>
          </a:xfrm>
          <a:prstGeom prst="straightConnector1">
            <a:avLst/>
          </a:prstGeom>
          <a:noFill/>
          <a:ln cap="flat" cmpd="sng" w="9525">
            <a:solidFill>
              <a:srgbClr val="FF0000"/>
            </a:solidFill>
            <a:prstDash val="solid"/>
            <a:round/>
            <a:headEnd len="med" w="med" type="none"/>
            <a:tailEnd len="med" w="med" type="triangle"/>
          </a:ln>
        </p:spPr>
      </p:cxnSp>
      <p:cxnSp>
        <p:nvCxnSpPr>
          <p:cNvPr id="488" name="Google Shape;488;p35"/>
          <p:cNvCxnSpPr/>
          <p:nvPr/>
        </p:nvCxnSpPr>
        <p:spPr>
          <a:xfrm flipH="1">
            <a:off x="7221538" y="3663950"/>
            <a:ext cx="195262" cy="9525"/>
          </a:xfrm>
          <a:prstGeom prst="straightConnector1">
            <a:avLst/>
          </a:prstGeom>
          <a:noFill/>
          <a:ln cap="flat" cmpd="sng" w="9525">
            <a:solidFill>
              <a:srgbClr val="FF0000"/>
            </a:solidFill>
            <a:prstDash val="solid"/>
            <a:round/>
            <a:headEnd len="med" w="med" type="none"/>
            <a:tailEnd len="med" w="med" type="triangle"/>
          </a:ln>
        </p:spPr>
      </p:cxnSp>
      <p:cxnSp>
        <p:nvCxnSpPr>
          <p:cNvPr id="489" name="Google Shape;489;p35"/>
          <p:cNvCxnSpPr/>
          <p:nvPr/>
        </p:nvCxnSpPr>
        <p:spPr>
          <a:xfrm flipH="1">
            <a:off x="6875463" y="3406775"/>
            <a:ext cx="177800" cy="44450"/>
          </a:xfrm>
          <a:prstGeom prst="straightConnector1">
            <a:avLst/>
          </a:prstGeom>
          <a:noFill/>
          <a:ln cap="flat" cmpd="sng" w="9525">
            <a:solidFill>
              <a:srgbClr val="FF0000"/>
            </a:solidFill>
            <a:prstDash val="solid"/>
            <a:round/>
            <a:headEnd len="med" w="med" type="none"/>
            <a:tailEnd len="med" w="med" type="triangle"/>
          </a:ln>
        </p:spPr>
      </p:cxnSp>
      <p:cxnSp>
        <p:nvCxnSpPr>
          <p:cNvPr id="490" name="Google Shape;490;p35"/>
          <p:cNvCxnSpPr/>
          <p:nvPr/>
        </p:nvCxnSpPr>
        <p:spPr>
          <a:xfrm flipH="1">
            <a:off x="6386513" y="3282950"/>
            <a:ext cx="266700" cy="69850"/>
          </a:xfrm>
          <a:prstGeom prst="straightConnector1">
            <a:avLst/>
          </a:prstGeom>
          <a:noFill/>
          <a:ln cap="flat" cmpd="sng" w="9525">
            <a:solidFill>
              <a:srgbClr val="FF0000"/>
            </a:solidFill>
            <a:prstDash val="solid"/>
            <a:round/>
            <a:headEnd len="med" w="med" type="none"/>
            <a:tailEnd len="med" w="med" type="triangle"/>
          </a:ln>
        </p:spPr>
      </p:cxnSp>
      <p:cxnSp>
        <p:nvCxnSpPr>
          <p:cNvPr id="491" name="Google Shape;491;p35"/>
          <p:cNvCxnSpPr/>
          <p:nvPr/>
        </p:nvCxnSpPr>
        <p:spPr>
          <a:xfrm flipH="1">
            <a:off x="6032500" y="3201988"/>
            <a:ext cx="203200" cy="80962"/>
          </a:xfrm>
          <a:prstGeom prst="straightConnector1">
            <a:avLst/>
          </a:prstGeom>
          <a:noFill/>
          <a:ln cap="flat" cmpd="sng" w="9525">
            <a:solidFill>
              <a:srgbClr val="FF0000"/>
            </a:solidFill>
            <a:prstDash val="solid"/>
            <a:round/>
            <a:headEnd len="med" w="med" type="none"/>
            <a:tailEnd len="med" w="med" type="triangle"/>
          </a:ln>
        </p:spPr>
      </p:cxnSp>
      <p:cxnSp>
        <p:nvCxnSpPr>
          <p:cNvPr id="492" name="Google Shape;492;p35"/>
          <p:cNvCxnSpPr/>
          <p:nvPr/>
        </p:nvCxnSpPr>
        <p:spPr>
          <a:xfrm flipH="1">
            <a:off x="5570538" y="3140075"/>
            <a:ext cx="160337" cy="106363"/>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ppt_w</p:attrName>
                                        </p:attrNameLst>
                                      </p:cBhvr>
                                      <p:tavLst>
                                        <p:tav fmla="" tm="0">
                                          <p:val>
                                            <p:strVal val="0"/>
                                          </p:val>
                                        </p:tav>
                                        <p:tav fmla="" tm="100000">
                                          <p:val>
                                            <p:strVal val="#ppt_w"/>
                                          </p:val>
                                        </p:tav>
                                      </p:tavLst>
                                    </p:anim>
                                    <p:anim calcmode="lin" valueType="num">
                                      <p:cBhvr additive="base">
                                        <p:cTn dur="500"/>
                                        <p:tgtEl>
                                          <p:spTgt spid="4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500"/>
                                        <p:tgtEl>
                                          <p:spTgt spid="446"/>
                                        </p:tgtEl>
                                        <p:attrNameLst>
                                          <p:attrName>ppt_w</p:attrName>
                                        </p:attrNameLst>
                                      </p:cBhvr>
                                      <p:tavLst>
                                        <p:tav fmla="" tm="0">
                                          <p:val>
                                            <p:strVal val="0"/>
                                          </p:val>
                                        </p:tav>
                                        <p:tav fmla="" tm="100000">
                                          <p:val>
                                            <p:strVal val="#ppt_w"/>
                                          </p:val>
                                        </p:tav>
                                      </p:tavLst>
                                    </p:anim>
                                    <p:anim calcmode="lin" valueType="num">
                                      <p:cBhvr additive="base">
                                        <p:cTn dur="500"/>
                                        <p:tgtEl>
                                          <p:spTgt spid="4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500"/>
                                        <p:tgtEl>
                                          <p:spTgt spid="4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1">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500"/>
                                        <p:tgtEl>
                                          <p:spTgt spid="453"/>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1">
                                  <p:stCondLst>
                                    <p:cond delay="0"/>
                                  </p:stCondLst>
                                  <p:childTnLst>
                                    <p:set>
                                      <p:cBhvr>
                                        <p:cTn dur="1" fill="hold">
                                          <p:stCondLst>
                                            <p:cond delay="0"/>
                                          </p:stCondLst>
                                        </p:cTn>
                                        <p:tgtEl>
                                          <p:spTgt spid="454"/>
                                        </p:tgtEl>
                                        <p:attrNameLst>
                                          <p:attrName>style.visibility</p:attrName>
                                        </p:attrNameLst>
                                      </p:cBhvr>
                                      <p:to>
                                        <p:strVal val="visible"/>
                                      </p:to>
                                    </p:set>
                                    <p:anim calcmode="lin" valueType="num">
                                      <p:cBhvr additive="base">
                                        <p:cTn dur="500"/>
                                        <p:tgtEl>
                                          <p:spTgt spid="454"/>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1">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500"/>
                                        <p:tgtEl>
                                          <p:spTgt spid="456"/>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1">
                                  <p:stCondLst>
                                    <p:cond delay="0"/>
                                  </p:stCondLst>
                                  <p:childTnLst>
                                    <p:set>
                                      <p:cBhvr>
                                        <p:cTn dur="1" fill="hold">
                                          <p:stCondLst>
                                            <p:cond delay="0"/>
                                          </p:stCondLst>
                                        </p:cTn>
                                        <p:tgtEl>
                                          <p:spTgt spid="457"/>
                                        </p:tgtEl>
                                        <p:attrNameLst>
                                          <p:attrName>style.visibility</p:attrName>
                                        </p:attrNameLst>
                                      </p:cBhvr>
                                      <p:to>
                                        <p:strVal val="visible"/>
                                      </p:to>
                                    </p:set>
                                    <p:anim calcmode="lin" valueType="num">
                                      <p:cBhvr additive="base">
                                        <p:cTn dur="500"/>
                                        <p:tgtEl>
                                          <p:spTgt spid="457"/>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1">
                                  <p:stCondLst>
                                    <p:cond delay="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500"/>
                                        <p:tgtEl>
                                          <p:spTgt spid="458"/>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1">
                                  <p:stCondLst>
                                    <p:cond delay="0"/>
                                  </p:stCondLst>
                                  <p:childTnLst>
                                    <p:set>
                                      <p:cBhvr>
                                        <p:cTn dur="1" fill="hold">
                                          <p:stCondLst>
                                            <p:cond delay="0"/>
                                          </p:stCondLst>
                                        </p:cTn>
                                        <p:tgtEl>
                                          <p:spTgt spid="459"/>
                                        </p:tgtEl>
                                        <p:attrNameLst>
                                          <p:attrName>style.visibility</p:attrName>
                                        </p:attrNameLst>
                                      </p:cBhvr>
                                      <p:to>
                                        <p:strVal val="visible"/>
                                      </p:to>
                                    </p:set>
                                    <p:anim calcmode="lin" valueType="num">
                                      <p:cBhvr additive="base">
                                        <p:cTn dur="500"/>
                                        <p:tgtEl>
                                          <p:spTgt spid="459"/>
                                        </p:tgtEl>
                                        <p:attrNameLst>
                                          <p:attrName>ppt_y</p:attrName>
                                        </p:attrNameLst>
                                      </p:cBhvr>
                                      <p:tavLst>
                                        <p:tav fmla="" tm="0">
                                          <p:val>
                                            <p:strVal val="#ppt_y-1"/>
                                          </p:val>
                                        </p:tav>
                                        <p:tav fmla="" tm="100000">
                                          <p:val>
                                            <p:strVal val="#ppt_y"/>
                                          </p:val>
                                        </p:tav>
                                      </p:tavLst>
                                    </p:anim>
                                  </p:childTnLst>
                                </p:cTn>
                              </p:par>
                            </p:childTnLst>
                          </p:cTn>
                        </p:par>
                        <p:par>
                          <p:cTn fill="hold">
                            <p:stCondLst>
                              <p:cond delay="4500"/>
                            </p:stCondLst>
                            <p:childTnLst>
                              <p:par>
                                <p:cTn fill="hold" nodeType="afterEffect" presetClass="entr" presetID="2" presetSubtype="1">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ppt_y</p:attrName>
                                        </p:attrNameLst>
                                      </p:cBhvr>
                                      <p:tavLst>
                                        <p:tav fmla="" tm="0">
                                          <p:val>
                                            <p:strVal val="#ppt_y-1"/>
                                          </p:val>
                                        </p:tav>
                                        <p:tav fmla="" tm="100000">
                                          <p:val>
                                            <p:strVal val="#ppt_y"/>
                                          </p:val>
                                        </p:tav>
                                      </p:tavLst>
                                    </p:anim>
                                  </p:childTnLst>
                                </p:cTn>
                              </p:par>
                            </p:childTnLst>
                          </p:cTn>
                        </p:par>
                        <p:par>
                          <p:cTn fill="hold">
                            <p:stCondLst>
                              <p:cond delay="5000"/>
                            </p:stCondLst>
                            <p:childTnLst>
                              <p:par>
                                <p:cTn fill="hold" nodeType="afterEffect" presetClass="entr" presetID="2" presetSubtype="1">
                                  <p:stCondLst>
                                    <p:cond delay="0"/>
                                  </p:stCondLst>
                                  <p:childTnLst>
                                    <p:set>
                                      <p:cBhvr>
                                        <p:cTn dur="1" fill="hold">
                                          <p:stCondLst>
                                            <p:cond delay="0"/>
                                          </p:stCondLst>
                                        </p:cTn>
                                        <p:tgtEl>
                                          <p:spTgt spid="461"/>
                                        </p:tgtEl>
                                        <p:attrNameLst>
                                          <p:attrName>style.visibility</p:attrName>
                                        </p:attrNameLst>
                                      </p:cBhvr>
                                      <p:to>
                                        <p:strVal val="visible"/>
                                      </p:to>
                                    </p:set>
                                    <p:anim calcmode="lin" valueType="num">
                                      <p:cBhvr additive="base">
                                        <p:cTn dur="500"/>
                                        <p:tgtEl>
                                          <p:spTgt spid="461"/>
                                        </p:tgtEl>
                                        <p:attrNameLst>
                                          <p:attrName>ppt_y</p:attrName>
                                        </p:attrNameLst>
                                      </p:cBhvr>
                                      <p:tavLst>
                                        <p:tav fmla="" tm="0">
                                          <p:val>
                                            <p:strVal val="#ppt_y-1"/>
                                          </p:val>
                                        </p:tav>
                                        <p:tav fmla="" tm="100000">
                                          <p:val>
                                            <p:strVal val="#ppt_y"/>
                                          </p:val>
                                        </p:tav>
                                      </p:tavLst>
                                    </p:anim>
                                  </p:childTnLst>
                                </p:cTn>
                              </p:par>
                            </p:childTnLst>
                          </p:cTn>
                        </p:par>
                        <p:par>
                          <p:cTn fill="hold">
                            <p:stCondLst>
                              <p:cond delay="5500"/>
                            </p:stCondLst>
                            <p:childTnLst>
                              <p:par>
                                <p:cTn fill="hold" nodeType="afterEffect" presetClass="entr" presetID="2" presetSubtype="1">
                                  <p:stCondLst>
                                    <p:cond delay="0"/>
                                  </p:stCondLst>
                                  <p:childTnLst>
                                    <p:set>
                                      <p:cBhvr>
                                        <p:cTn dur="1" fill="hold">
                                          <p:stCondLst>
                                            <p:cond delay="0"/>
                                          </p:stCondLst>
                                        </p:cTn>
                                        <p:tgtEl>
                                          <p:spTgt spid="462"/>
                                        </p:tgtEl>
                                        <p:attrNameLst>
                                          <p:attrName>style.visibility</p:attrName>
                                        </p:attrNameLst>
                                      </p:cBhvr>
                                      <p:to>
                                        <p:strVal val="visible"/>
                                      </p:to>
                                    </p:set>
                                    <p:anim calcmode="lin" valueType="num">
                                      <p:cBhvr additive="base">
                                        <p:cTn dur="500"/>
                                        <p:tgtEl>
                                          <p:spTgt spid="462"/>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1">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500"/>
                                        <p:tgtEl>
                                          <p:spTgt spid="463"/>
                                        </p:tgtEl>
                                        <p:attrNameLst>
                                          <p:attrName>ppt_y</p:attrName>
                                        </p:attrNameLst>
                                      </p:cBhvr>
                                      <p:tavLst>
                                        <p:tav fmla="" tm="0">
                                          <p:val>
                                            <p:strVal val="#ppt_y-1"/>
                                          </p:val>
                                        </p:tav>
                                        <p:tav fmla="" tm="100000">
                                          <p:val>
                                            <p:strVal val="#ppt_y"/>
                                          </p:val>
                                        </p:tav>
                                      </p:tavLst>
                                    </p:anim>
                                  </p:childTnLst>
                                </p:cTn>
                              </p:par>
                            </p:childTnLst>
                          </p:cTn>
                        </p:par>
                        <p:par>
                          <p:cTn fill="hold">
                            <p:stCondLst>
                              <p:cond delay="6500"/>
                            </p:stCondLst>
                            <p:childTnLst>
                              <p:par>
                                <p:cTn fill="hold" nodeType="afterEffect" presetClass="entr" presetID="2" presetSubtype="1">
                                  <p:stCondLst>
                                    <p:cond delay="0"/>
                                  </p:stCondLst>
                                  <p:childTnLst>
                                    <p:set>
                                      <p:cBhvr>
                                        <p:cTn dur="1" fill="hold">
                                          <p:stCondLst>
                                            <p:cond delay="0"/>
                                          </p:stCondLst>
                                        </p:cTn>
                                        <p:tgtEl>
                                          <p:spTgt spid="464"/>
                                        </p:tgtEl>
                                        <p:attrNameLst>
                                          <p:attrName>style.visibility</p:attrName>
                                        </p:attrNameLst>
                                      </p:cBhvr>
                                      <p:to>
                                        <p:strVal val="visible"/>
                                      </p:to>
                                    </p:set>
                                    <p:anim calcmode="lin" valueType="num">
                                      <p:cBhvr additive="base">
                                        <p:cTn dur="500"/>
                                        <p:tgtEl>
                                          <p:spTgt spid="464"/>
                                        </p:tgtEl>
                                        <p:attrNameLst>
                                          <p:attrName>ppt_y</p:attrName>
                                        </p:attrNameLst>
                                      </p:cBhvr>
                                      <p:tavLst>
                                        <p:tav fmla="" tm="0">
                                          <p:val>
                                            <p:strVal val="#ppt_y-1"/>
                                          </p:val>
                                        </p:tav>
                                        <p:tav fmla="" tm="100000">
                                          <p:val>
                                            <p:strVal val="#ppt_y"/>
                                          </p:val>
                                        </p:tav>
                                      </p:tavLst>
                                    </p:anim>
                                  </p:childTnLst>
                                </p:cTn>
                              </p:par>
                            </p:childTnLst>
                          </p:cTn>
                        </p:par>
                        <p:par>
                          <p:cTn fill="hold">
                            <p:stCondLst>
                              <p:cond delay="7000"/>
                            </p:stCondLst>
                            <p:childTnLst>
                              <p:par>
                                <p:cTn fill="hold" nodeType="afterEffect" presetClass="entr" presetID="2" presetSubtype="1">
                                  <p:stCondLst>
                                    <p:cond delay="0"/>
                                  </p:stCondLst>
                                  <p:childTnLst>
                                    <p:set>
                                      <p:cBhvr>
                                        <p:cTn dur="1" fill="hold">
                                          <p:stCondLst>
                                            <p:cond delay="0"/>
                                          </p:stCondLst>
                                        </p:cTn>
                                        <p:tgtEl>
                                          <p:spTgt spid="465"/>
                                        </p:tgtEl>
                                        <p:attrNameLst>
                                          <p:attrName>style.visibility</p:attrName>
                                        </p:attrNameLst>
                                      </p:cBhvr>
                                      <p:to>
                                        <p:strVal val="visible"/>
                                      </p:to>
                                    </p:set>
                                    <p:anim calcmode="lin" valueType="num">
                                      <p:cBhvr additive="base">
                                        <p:cTn dur="500"/>
                                        <p:tgtEl>
                                          <p:spTgt spid="465"/>
                                        </p:tgtEl>
                                        <p:attrNameLst>
                                          <p:attrName>ppt_y</p:attrName>
                                        </p:attrNameLst>
                                      </p:cBhvr>
                                      <p:tavLst>
                                        <p:tav fmla="" tm="0">
                                          <p:val>
                                            <p:strVal val="#ppt_y-1"/>
                                          </p:val>
                                        </p:tav>
                                        <p:tav fmla="" tm="100000">
                                          <p:val>
                                            <p:strVal val="#ppt_y"/>
                                          </p:val>
                                        </p:tav>
                                      </p:tavLst>
                                    </p:anim>
                                  </p:childTnLst>
                                </p:cTn>
                              </p:par>
                            </p:childTnLst>
                          </p:cTn>
                        </p:par>
                        <p:par>
                          <p:cTn fill="hold">
                            <p:stCondLst>
                              <p:cond delay="7500"/>
                            </p:stCondLst>
                            <p:childTnLst>
                              <p:par>
                                <p:cTn fill="hold" nodeType="afterEffect" presetClass="entr" presetID="2" presetSubtype="1">
                                  <p:stCondLst>
                                    <p:cond delay="0"/>
                                  </p:stCondLst>
                                  <p:childTnLst>
                                    <p:set>
                                      <p:cBhvr>
                                        <p:cTn dur="1" fill="hold">
                                          <p:stCondLst>
                                            <p:cond delay="0"/>
                                          </p:stCondLst>
                                        </p:cTn>
                                        <p:tgtEl>
                                          <p:spTgt spid="466"/>
                                        </p:tgtEl>
                                        <p:attrNameLst>
                                          <p:attrName>style.visibility</p:attrName>
                                        </p:attrNameLst>
                                      </p:cBhvr>
                                      <p:to>
                                        <p:strVal val="visible"/>
                                      </p:to>
                                    </p:set>
                                    <p:anim calcmode="lin" valueType="num">
                                      <p:cBhvr additive="base">
                                        <p:cTn dur="500"/>
                                        <p:tgtEl>
                                          <p:spTgt spid="466"/>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1">
                                  <p:stCondLst>
                                    <p:cond delay="0"/>
                                  </p:stCondLst>
                                  <p:childTnLst>
                                    <p:set>
                                      <p:cBhvr>
                                        <p:cTn dur="1" fill="hold">
                                          <p:stCondLst>
                                            <p:cond delay="0"/>
                                          </p:stCondLst>
                                        </p:cTn>
                                        <p:tgtEl>
                                          <p:spTgt spid="467"/>
                                        </p:tgtEl>
                                        <p:attrNameLst>
                                          <p:attrName>style.visibility</p:attrName>
                                        </p:attrNameLst>
                                      </p:cBhvr>
                                      <p:to>
                                        <p:strVal val="visible"/>
                                      </p:to>
                                    </p:set>
                                    <p:anim calcmode="lin" valueType="num">
                                      <p:cBhvr additive="base">
                                        <p:cTn dur="500"/>
                                        <p:tgtEl>
                                          <p:spTgt spid="467"/>
                                        </p:tgtEl>
                                        <p:attrNameLst>
                                          <p:attrName>ppt_y</p:attrName>
                                        </p:attrNameLst>
                                      </p:cBhvr>
                                      <p:tavLst>
                                        <p:tav fmla="" tm="0">
                                          <p:val>
                                            <p:strVal val="#ppt_y-1"/>
                                          </p:val>
                                        </p:tav>
                                        <p:tav fmla="" tm="100000">
                                          <p:val>
                                            <p:strVal val="#ppt_y"/>
                                          </p:val>
                                        </p:tav>
                                      </p:tavLst>
                                    </p:anim>
                                  </p:childTnLst>
                                </p:cTn>
                              </p:par>
                            </p:childTnLst>
                          </p:cTn>
                        </p:par>
                        <p:par>
                          <p:cTn fill="hold">
                            <p:stCondLst>
                              <p:cond delay="8500"/>
                            </p:stCondLst>
                            <p:childTnLst>
                              <p:par>
                                <p:cTn fill="hold" nodeType="afterEffect" presetClass="entr" presetID="2" presetSubtype="1">
                                  <p:stCondLst>
                                    <p:cond delay="0"/>
                                  </p:stCondLst>
                                  <p:childTnLst>
                                    <p:set>
                                      <p:cBhvr>
                                        <p:cTn dur="1" fill="hold">
                                          <p:stCondLst>
                                            <p:cond delay="0"/>
                                          </p:stCondLst>
                                        </p:cTn>
                                        <p:tgtEl>
                                          <p:spTgt spid="468"/>
                                        </p:tgtEl>
                                        <p:attrNameLst>
                                          <p:attrName>style.visibility</p:attrName>
                                        </p:attrNameLst>
                                      </p:cBhvr>
                                      <p:to>
                                        <p:strVal val="visible"/>
                                      </p:to>
                                    </p:set>
                                    <p:anim calcmode="lin" valueType="num">
                                      <p:cBhvr additive="base">
                                        <p:cTn dur="500"/>
                                        <p:tgtEl>
                                          <p:spTgt spid="468"/>
                                        </p:tgtEl>
                                        <p:attrNameLst>
                                          <p:attrName>ppt_y</p:attrName>
                                        </p:attrNameLst>
                                      </p:cBhvr>
                                      <p:tavLst>
                                        <p:tav fmla="" tm="0">
                                          <p:val>
                                            <p:strVal val="#ppt_y-1"/>
                                          </p:val>
                                        </p:tav>
                                        <p:tav fmla="" tm="100000">
                                          <p:val>
                                            <p:strVal val="#ppt_y"/>
                                          </p:val>
                                        </p:tav>
                                      </p:tavLst>
                                    </p:anim>
                                  </p:childTnLst>
                                </p:cTn>
                              </p:par>
                            </p:childTnLst>
                          </p:cTn>
                        </p:par>
                        <p:par>
                          <p:cTn fill="hold">
                            <p:stCondLst>
                              <p:cond delay="9000"/>
                            </p:stCondLst>
                            <p:childTnLst>
                              <p:par>
                                <p:cTn fill="hold" nodeType="afterEffect" presetClass="entr" presetID="2" presetSubtype="1">
                                  <p:stCondLst>
                                    <p:cond delay="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ppt_y</p:attrName>
                                        </p:attrNameLst>
                                      </p:cBhvr>
                                      <p:tavLst>
                                        <p:tav fmla="" tm="0">
                                          <p:val>
                                            <p:strVal val="#ppt_y-1"/>
                                          </p:val>
                                        </p:tav>
                                        <p:tav fmla="" tm="100000">
                                          <p:val>
                                            <p:strVal val="#ppt_y"/>
                                          </p:val>
                                        </p:tav>
                                      </p:tavLst>
                                    </p:anim>
                                  </p:childTnLst>
                                </p:cTn>
                              </p:par>
                            </p:childTnLst>
                          </p:cTn>
                        </p:par>
                        <p:par>
                          <p:cTn fill="hold">
                            <p:stCondLst>
                              <p:cond delay="9500"/>
                            </p:stCondLst>
                            <p:childTnLst>
                              <p:par>
                                <p:cTn fill="hold" nodeType="afterEffect" presetClass="entr" presetID="2" presetSubtype="1">
                                  <p:stCondLst>
                                    <p:cond delay="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1">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500"/>
                                        <p:tgtEl>
                                          <p:spTgt spid="4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500"/>
                                        <p:tgtEl>
                                          <p:spTgt spid="449"/>
                                        </p:tgtEl>
                                        <p:attrNameLst>
                                          <p:attrName>ppt_y</p:attrName>
                                        </p:attrNameLst>
                                      </p:cBhvr>
                                      <p:tavLst>
                                        <p:tav fmla="" tm="0">
                                          <p:val>
                                            <p:strVal val="#ppt_y"/>
                                          </p:val>
                                        </p:tav>
                                        <p:tav fmla="" tm="100000">
                                          <p:val>
                                            <p:strVal val="#ppt_y-1"/>
                                          </p:val>
                                        </p:tav>
                                      </p:tavLst>
                                    </p:anim>
                                    <p:set>
                                      <p:cBhvr>
                                        <p:cTn dur="1" fill="hold">
                                          <p:stCondLst>
                                            <p:cond delay="500"/>
                                          </p:stCondLst>
                                        </p:cTn>
                                        <p:tgtEl>
                                          <p:spTgt spid="449"/>
                                        </p:tgtEl>
                                        <p:attrNameLst>
                                          <p:attrName>style.visibility</p:attrName>
                                        </p:attrNameLst>
                                      </p:cBhvr>
                                      <p:to>
                                        <p:strVal val="hidden"/>
                                      </p:to>
                                    </p:set>
                                  </p:childTnLst>
                                </p:cTn>
                              </p:par>
                              <p:par>
                                <p:cTn fill="hold" nodeType="withEffect" presetClass="exit" presetID="2" presetSubtype="1">
                                  <p:stCondLst>
                                    <p:cond delay="0"/>
                                  </p:stCondLst>
                                  <p:childTnLst>
                                    <p:anim calcmode="lin" valueType="num">
                                      <p:cBhvr additive="base">
                                        <p:cTn dur="500"/>
                                        <p:tgtEl>
                                          <p:spTgt spid="450"/>
                                        </p:tgtEl>
                                        <p:attrNameLst>
                                          <p:attrName>ppt_y</p:attrName>
                                        </p:attrNameLst>
                                      </p:cBhvr>
                                      <p:tavLst>
                                        <p:tav fmla="" tm="0">
                                          <p:val>
                                            <p:strVal val="#ppt_y"/>
                                          </p:val>
                                        </p:tav>
                                        <p:tav fmla="" tm="100000">
                                          <p:val>
                                            <p:strVal val="#ppt_y-1"/>
                                          </p:val>
                                        </p:tav>
                                      </p:tavLst>
                                    </p:anim>
                                    <p:set>
                                      <p:cBhvr>
                                        <p:cTn dur="1" fill="hold">
                                          <p:stCondLst>
                                            <p:cond delay="500"/>
                                          </p:stCondLst>
                                        </p:cTn>
                                        <p:tgtEl>
                                          <p:spTgt spid="45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72"/>
                                        </p:tgtEl>
                                        <p:attrNameLst>
                                          <p:attrName>style.visibility</p:attrName>
                                        </p:attrNameLst>
                                      </p:cBhvr>
                                      <p:to>
                                        <p:strVal val="visible"/>
                                      </p:to>
                                    </p:set>
                                    <p:anim calcmode="lin" valueType="num">
                                      <p:cBhvr additive="base">
                                        <p:cTn dur="500"/>
                                        <p:tgtEl>
                                          <p:spTgt spid="472"/>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1">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500"/>
                                        <p:tgtEl>
                                          <p:spTgt spid="473"/>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1">
                                  <p:stCondLst>
                                    <p:cond delay="0"/>
                                  </p:stCondLst>
                                  <p:childTnLst>
                                    <p:set>
                                      <p:cBhvr>
                                        <p:cTn dur="1" fill="hold">
                                          <p:stCondLst>
                                            <p:cond delay="0"/>
                                          </p:stCondLst>
                                        </p:cTn>
                                        <p:tgtEl>
                                          <p:spTgt spid="475"/>
                                        </p:tgtEl>
                                        <p:attrNameLst>
                                          <p:attrName>style.visibility</p:attrName>
                                        </p:attrNameLst>
                                      </p:cBhvr>
                                      <p:to>
                                        <p:strVal val="visible"/>
                                      </p:to>
                                    </p:set>
                                    <p:anim calcmode="lin" valueType="num">
                                      <p:cBhvr additive="base">
                                        <p:cTn dur="500"/>
                                        <p:tgtEl>
                                          <p:spTgt spid="475"/>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476"/>
                                        </p:tgtEl>
                                        <p:attrNameLst>
                                          <p:attrName>style.visibility</p:attrName>
                                        </p:attrNameLst>
                                      </p:cBhvr>
                                      <p:to>
                                        <p:strVal val="visible"/>
                                      </p:to>
                                    </p:set>
                                    <p:anim calcmode="lin" valueType="num">
                                      <p:cBhvr additive="base">
                                        <p:cTn dur="500"/>
                                        <p:tgtEl>
                                          <p:spTgt spid="476"/>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1">
                                  <p:stCondLst>
                                    <p:cond delay="0"/>
                                  </p:stCondLst>
                                  <p:childTnLst>
                                    <p:set>
                                      <p:cBhvr>
                                        <p:cTn dur="1" fill="hold">
                                          <p:stCondLst>
                                            <p:cond delay="0"/>
                                          </p:stCondLst>
                                        </p:cTn>
                                        <p:tgtEl>
                                          <p:spTgt spid="477"/>
                                        </p:tgtEl>
                                        <p:attrNameLst>
                                          <p:attrName>style.visibility</p:attrName>
                                        </p:attrNameLst>
                                      </p:cBhvr>
                                      <p:to>
                                        <p:strVal val="visible"/>
                                      </p:to>
                                    </p:set>
                                    <p:anim calcmode="lin" valueType="num">
                                      <p:cBhvr additive="base">
                                        <p:cTn dur="500"/>
                                        <p:tgtEl>
                                          <p:spTgt spid="477"/>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1">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500"/>
                                        <p:tgtEl>
                                          <p:spTgt spid="478"/>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1">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500"/>
                                        <p:tgtEl>
                                          <p:spTgt spid="479"/>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1">
                                  <p:stCondLst>
                                    <p:cond delay="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500"/>
                                        <p:tgtEl>
                                          <p:spTgt spid="480"/>
                                        </p:tgtEl>
                                        <p:attrNameLst>
                                          <p:attrName>ppt_y</p:attrName>
                                        </p:attrNameLst>
                                      </p:cBhvr>
                                      <p:tavLst>
                                        <p:tav fmla="" tm="0">
                                          <p:val>
                                            <p:strVal val="#ppt_y-1"/>
                                          </p:val>
                                        </p:tav>
                                        <p:tav fmla="" tm="100000">
                                          <p:val>
                                            <p:strVal val="#ppt_y"/>
                                          </p:val>
                                        </p:tav>
                                      </p:tavLst>
                                    </p:anim>
                                  </p:childTnLst>
                                </p:cTn>
                              </p:par>
                            </p:childTnLst>
                          </p:cTn>
                        </p:par>
                        <p:par>
                          <p:cTn fill="hold">
                            <p:stCondLst>
                              <p:cond delay="4500"/>
                            </p:stCondLst>
                            <p:childTnLst>
                              <p:par>
                                <p:cTn fill="hold" nodeType="afterEffect" presetClass="entr" presetID="2" presetSubtype="1">
                                  <p:stCondLst>
                                    <p:cond delay="0"/>
                                  </p:stCondLst>
                                  <p:childTnLst>
                                    <p:set>
                                      <p:cBhvr>
                                        <p:cTn dur="1" fill="hold">
                                          <p:stCondLst>
                                            <p:cond delay="0"/>
                                          </p:stCondLst>
                                        </p:cTn>
                                        <p:tgtEl>
                                          <p:spTgt spid="481"/>
                                        </p:tgtEl>
                                        <p:attrNameLst>
                                          <p:attrName>style.visibility</p:attrName>
                                        </p:attrNameLst>
                                      </p:cBhvr>
                                      <p:to>
                                        <p:strVal val="visible"/>
                                      </p:to>
                                    </p:set>
                                    <p:anim calcmode="lin" valueType="num">
                                      <p:cBhvr additive="base">
                                        <p:cTn dur="500"/>
                                        <p:tgtEl>
                                          <p:spTgt spid="481"/>
                                        </p:tgtEl>
                                        <p:attrNameLst>
                                          <p:attrName>ppt_y</p:attrName>
                                        </p:attrNameLst>
                                      </p:cBhvr>
                                      <p:tavLst>
                                        <p:tav fmla="" tm="0">
                                          <p:val>
                                            <p:strVal val="#ppt_y-1"/>
                                          </p:val>
                                        </p:tav>
                                        <p:tav fmla="" tm="100000">
                                          <p:val>
                                            <p:strVal val="#ppt_y"/>
                                          </p:val>
                                        </p:tav>
                                      </p:tavLst>
                                    </p:anim>
                                  </p:childTnLst>
                                </p:cTn>
                              </p:par>
                            </p:childTnLst>
                          </p:cTn>
                        </p:par>
                        <p:par>
                          <p:cTn fill="hold">
                            <p:stCondLst>
                              <p:cond delay="5000"/>
                            </p:stCondLst>
                            <p:childTnLst>
                              <p:par>
                                <p:cTn fill="hold" nodeType="afterEffect" presetClass="entr" presetID="2" presetSubtype="1">
                                  <p:stCondLst>
                                    <p:cond delay="0"/>
                                  </p:stCondLst>
                                  <p:childTnLst>
                                    <p:set>
                                      <p:cBhvr>
                                        <p:cTn dur="1" fill="hold">
                                          <p:stCondLst>
                                            <p:cond delay="0"/>
                                          </p:stCondLst>
                                        </p:cTn>
                                        <p:tgtEl>
                                          <p:spTgt spid="482"/>
                                        </p:tgtEl>
                                        <p:attrNameLst>
                                          <p:attrName>style.visibility</p:attrName>
                                        </p:attrNameLst>
                                      </p:cBhvr>
                                      <p:to>
                                        <p:strVal val="visible"/>
                                      </p:to>
                                    </p:set>
                                    <p:anim calcmode="lin" valueType="num">
                                      <p:cBhvr additive="base">
                                        <p:cTn dur="500"/>
                                        <p:tgtEl>
                                          <p:spTgt spid="482"/>
                                        </p:tgtEl>
                                        <p:attrNameLst>
                                          <p:attrName>ppt_y</p:attrName>
                                        </p:attrNameLst>
                                      </p:cBhvr>
                                      <p:tavLst>
                                        <p:tav fmla="" tm="0">
                                          <p:val>
                                            <p:strVal val="#ppt_y-1"/>
                                          </p:val>
                                        </p:tav>
                                        <p:tav fmla="" tm="100000">
                                          <p:val>
                                            <p:strVal val="#ppt_y"/>
                                          </p:val>
                                        </p:tav>
                                      </p:tavLst>
                                    </p:anim>
                                  </p:childTnLst>
                                </p:cTn>
                              </p:par>
                            </p:childTnLst>
                          </p:cTn>
                        </p:par>
                        <p:par>
                          <p:cTn fill="hold">
                            <p:stCondLst>
                              <p:cond delay="5500"/>
                            </p:stCondLst>
                            <p:childTnLst>
                              <p:par>
                                <p:cTn fill="hold" nodeType="afterEffect" presetClass="entr" presetID="2" presetSubtype="1">
                                  <p:stCondLst>
                                    <p:cond delay="0"/>
                                  </p:stCondLst>
                                  <p:childTnLst>
                                    <p:set>
                                      <p:cBhvr>
                                        <p:cTn dur="1" fill="hold">
                                          <p:stCondLst>
                                            <p:cond delay="0"/>
                                          </p:stCondLst>
                                        </p:cTn>
                                        <p:tgtEl>
                                          <p:spTgt spid="483"/>
                                        </p:tgtEl>
                                        <p:attrNameLst>
                                          <p:attrName>style.visibility</p:attrName>
                                        </p:attrNameLst>
                                      </p:cBhvr>
                                      <p:to>
                                        <p:strVal val="visible"/>
                                      </p:to>
                                    </p:set>
                                    <p:anim calcmode="lin" valueType="num">
                                      <p:cBhvr additive="base">
                                        <p:cTn dur="500"/>
                                        <p:tgtEl>
                                          <p:spTgt spid="483"/>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1">
                                  <p:stCondLst>
                                    <p:cond delay="0"/>
                                  </p:stCondLst>
                                  <p:childTnLst>
                                    <p:set>
                                      <p:cBhvr>
                                        <p:cTn dur="1" fill="hold">
                                          <p:stCondLst>
                                            <p:cond delay="0"/>
                                          </p:stCondLst>
                                        </p:cTn>
                                        <p:tgtEl>
                                          <p:spTgt spid="484"/>
                                        </p:tgtEl>
                                        <p:attrNameLst>
                                          <p:attrName>style.visibility</p:attrName>
                                        </p:attrNameLst>
                                      </p:cBhvr>
                                      <p:to>
                                        <p:strVal val="visible"/>
                                      </p:to>
                                    </p:set>
                                    <p:anim calcmode="lin" valueType="num">
                                      <p:cBhvr additive="base">
                                        <p:cTn dur="500"/>
                                        <p:tgtEl>
                                          <p:spTgt spid="484"/>
                                        </p:tgtEl>
                                        <p:attrNameLst>
                                          <p:attrName>ppt_y</p:attrName>
                                        </p:attrNameLst>
                                      </p:cBhvr>
                                      <p:tavLst>
                                        <p:tav fmla="" tm="0">
                                          <p:val>
                                            <p:strVal val="#ppt_y-1"/>
                                          </p:val>
                                        </p:tav>
                                        <p:tav fmla="" tm="100000">
                                          <p:val>
                                            <p:strVal val="#ppt_y"/>
                                          </p:val>
                                        </p:tav>
                                      </p:tavLst>
                                    </p:anim>
                                  </p:childTnLst>
                                </p:cTn>
                              </p:par>
                            </p:childTnLst>
                          </p:cTn>
                        </p:par>
                        <p:par>
                          <p:cTn fill="hold">
                            <p:stCondLst>
                              <p:cond delay="6500"/>
                            </p:stCondLst>
                            <p:childTnLst>
                              <p:par>
                                <p:cTn fill="hold" nodeType="afterEffect" presetClass="entr" presetID="2" presetSubtype="1">
                                  <p:stCondLst>
                                    <p:cond delay="0"/>
                                  </p:stCondLst>
                                  <p:childTnLst>
                                    <p:set>
                                      <p:cBhvr>
                                        <p:cTn dur="1" fill="hold">
                                          <p:stCondLst>
                                            <p:cond delay="0"/>
                                          </p:stCondLst>
                                        </p:cTn>
                                        <p:tgtEl>
                                          <p:spTgt spid="485"/>
                                        </p:tgtEl>
                                        <p:attrNameLst>
                                          <p:attrName>style.visibility</p:attrName>
                                        </p:attrNameLst>
                                      </p:cBhvr>
                                      <p:to>
                                        <p:strVal val="visible"/>
                                      </p:to>
                                    </p:set>
                                    <p:anim calcmode="lin" valueType="num">
                                      <p:cBhvr additive="base">
                                        <p:cTn dur="500"/>
                                        <p:tgtEl>
                                          <p:spTgt spid="485"/>
                                        </p:tgtEl>
                                        <p:attrNameLst>
                                          <p:attrName>ppt_y</p:attrName>
                                        </p:attrNameLst>
                                      </p:cBhvr>
                                      <p:tavLst>
                                        <p:tav fmla="" tm="0">
                                          <p:val>
                                            <p:strVal val="#ppt_y-1"/>
                                          </p:val>
                                        </p:tav>
                                        <p:tav fmla="" tm="100000">
                                          <p:val>
                                            <p:strVal val="#ppt_y"/>
                                          </p:val>
                                        </p:tav>
                                      </p:tavLst>
                                    </p:anim>
                                  </p:childTnLst>
                                </p:cTn>
                              </p:par>
                            </p:childTnLst>
                          </p:cTn>
                        </p:par>
                        <p:par>
                          <p:cTn fill="hold">
                            <p:stCondLst>
                              <p:cond delay="7000"/>
                            </p:stCondLst>
                            <p:childTnLst>
                              <p:par>
                                <p:cTn fill="hold" nodeType="afterEffect" presetClass="entr" presetID="2" presetSubtype="1">
                                  <p:stCondLst>
                                    <p:cond delay="0"/>
                                  </p:stCondLst>
                                  <p:childTnLst>
                                    <p:set>
                                      <p:cBhvr>
                                        <p:cTn dur="1" fill="hold">
                                          <p:stCondLst>
                                            <p:cond delay="0"/>
                                          </p:stCondLst>
                                        </p:cTn>
                                        <p:tgtEl>
                                          <p:spTgt spid="486"/>
                                        </p:tgtEl>
                                        <p:attrNameLst>
                                          <p:attrName>style.visibility</p:attrName>
                                        </p:attrNameLst>
                                      </p:cBhvr>
                                      <p:to>
                                        <p:strVal val="visible"/>
                                      </p:to>
                                    </p:set>
                                    <p:anim calcmode="lin" valueType="num">
                                      <p:cBhvr additive="base">
                                        <p:cTn dur="500"/>
                                        <p:tgtEl>
                                          <p:spTgt spid="486"/>
                                        </p:tgtEl>
                                        <p:attrNameLst>
                                          <p:attrName>ppt_y</p:attrName>
                                        </p:attrNameLst>
                                      </p:cBhvr>
                                      <p:tavLst>
                                        <p:tav fmla="" tm="0">
                                          <p:val>
                                            <p:strVal val="#ppt_y-1"/>
                                          </p:val>
                                        </p:tav>
                                        <p:tav fmla="" tm="100000">
                                          <p:val>
                                            <p:strVal val="#ppt_y"/>
                                          </p:val>
                                        </p:tav>
                                      </p:tavLst>
                                    </p:anim>
                                  </p:childTnLst>
                                </p:cTn>
                              </p:par>
                            </p:childTnLst>
                          </p:cTn>
                        </p:par>
                        <p:par>
                          <p:cTn fill="hold">
                            <p:stCondLst>
                              <p:cond delay="7500"/>
                            </p:stCondLst>
                            <p:childTnLst>
                              <p:par>
                                <p:cTn fill="hold" nodeType="afterEffect" presetClass="entr" presetID="2" presetSubtype="1">
                                  <p:stCondLst>
                                    <p:cond delay="0"/>
                                  </p:stCondLst>
                                  <p:childTnLst>
                                    <p:set>
                                      <p:cBhvr>
                                        <p:cTn dur="1" fill="hold">
                                          <p:stCondLst>
                                            <p:cond delay="0"/>
                                          </p:stCondLst>
                                        </p:cTn>
                                        <p:tgtEl>
                                          <p:spTgt spid="487"/>
                                        </p:tgtEl>
                                        <p:attrNameLst>
                                          <p:attrName>style.visibility</p:attrName>
                                        </p:attrNameLst>
                                      </p:cBhvr>
                                      <p:to>
                                        <p:strVal val="visible"/>
                                      </p:to>
                                    </p:set>
                                    <p:anim calcmode="lin" valueType="num">
                                      <p:cBhvr additive="base">
                                        <p:cTn dur="500"/>
                                        <p:tgtEl>
                                          <p:spTgt spid="487"/>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1">
                                  <p:stCondLst>
                                    <p:cond delay="0"/>
                                  </p:stCondLst>
                                  <p:childTnLst>
                                    <p:set>
                                      <p:cBhvr>
                                        <p:cTn dur="1" fill="hold">
                                          <p:stCondLst>
                                            <p:cond delay="0"/>
                                          </p:stCondLst>
                                        </p:cTn>
                                        <p:tgtEl>
                                          <p:spTgt spid="488"/>
                                        </p:tgtEl>
                                        <p:attrNameLst>
                                          <p:attrName>style.visibility</p:attrName>
                                        </p:attrNameLst>
                                      </p:cBhvr>
                                      <p:to>
                                        <p:strVal val="visible"/>
                                      </p:to>
                                    </p:set>
                                    <p:anim calcmode="lin" valueType="num">
                                      <p:cBhvr additive="base">
                                        <p:cTn dur="500"/>
                                        <p:tgtEl>
                                          <p:spTgt spid="488"/>
                                        </p:tgtEl>
                                        <p:attrNameLst>
                                          <p:attrName>ppt_y</p:attrName>
                                        </p:attrNameLst>
                                      </p:cBhvr>
                                      <p:tavLst>
                                        <p:tav fmla="" tm="0">
                                          <p:val>
                                            <p:strVal val="#ppt_y-1"/>
                                          </p:val>
                                        </p:tav>
                                        <p:tav fmla="" tm="100000">
                                          <p:val>
                                            <p:strVal val="#ppt_y"/>
                                          </p:val>
                                        </p:tav>
                                      </p:tavLst>
                                    </p:anim>
                                  </p:childTnLst>
                                </p:cTn>
                              </p:par>
                            </p:childTnLst>
                          </p:cTn>
                        </p:par>
                        <p:par>
                          <p:cTn fill="hold">
                            <p:stCondLst>
                              <p:cond delay="8500"/>
                            </p:stCondLst>
                            <p:childTnLst>
                              <p:par>
                                <p:cTn fill="hold" nodeType="afterEffect" presetClass="entr" presetID="2" presetSubtype="1">
                                  <p:stCondLst>
                                    <p:cond delay="0"/>
                                  </p:stCondLst>
                                  <p:childTnLst>
                                    <p:set>
                                      <p:cBhvr>
                                        <p:cTn dur="1" fill="hold">
                                          <p:stCondLst>
                                            <p:cond delay="0"/>
                                          </p:stCondLst>
                                        </p:cTn>
                                        <p:tgtEl>
                                          <p:spTgt spid="489"/>
                                        </p:tgtEl>
                                        <p:attrNameLst>
                                          <p:attrName>style.visibility</p:attrName>
                                        </p:attrNameLst>
                                      </p:cBhvr>
                                      <p:to>
                                        <p:strVal val="visible"/>
                                      </p:to>
                                    </p:set>
                                    <p:anim calcmode="lin" valueType="num">
                                      <p:cBhvr additive="base">
                                        <p:cTn dur="500"/>
                                        <p:tgtEl>
                                          <p:spTgt spid="489"/>
                                        </p:tgtEl>
                                        <p:attrNameLst>
                                          <p:attrName>ppt_y</p:attrName>
                                        </p:attrNameLst>
                                      </p:cBhvr>
                                      <p:tavLst>
                                        <p:tav fmla="" tm="0">
                                          <p:val>
                                            <p:strVal val="#ppt_y-1"/>
                                          </p:val>
                                        </p:tav>
                                        <p:tav fmla="" tm="100000">
                                          <p:val>
                                            <p:strVal val="#ppt_y"/>
                                          </p:val>
                                        </p:tav>
                                      </p:tavLst>
                                    </p:anim>
                                  </p:childTnLst>
                                </p:cTn>
                              </p:par>
                            </p:childTnLst>
                          </p:cTn>
                        </p:par>
                        <p:par>
                          <p:cTn fill="hold">
                            <p:stCondLst>
                              <p:cond delay="9000"/>
                            </p:stCondLst>
                            <p:childTnLst>
                              <p:par>
                                <p:cTn fill="hold" nodeType="afterEffect" presetClass="entr" presetID="2" presetSubtype="1">
                                  <p:stCondLst>
                                    <p:cond delay="0"/>
                                  </p:stCondLst>
                                  <p:childTnLst>
                                    <p:set>
                                      <p:cBhvr>
                                        <p:cTn dur="1" fill="hold">
                                          <p:stCondLst>
                                            <p:cond delay="0"/>
                                          </p:stCondLst>
                                        </p:cTn>
                                        <p:tgtEl>
                                          <p:spTgt spid="490"/>
                                        </p:tgtEl>
                                        <p:attrNameLst>
                                          <p:attrName>style.visibility</p:attrName>
                                        </p:attrNameLst>
                                      </p:cBhvr>
                                      <p:to>
                                        <p:strVal val="visible"/>
                                      </p:to>
                                    </p:set>
                                    <p:anim calcmode="lin" valueType="num">
                                      <p:cBhvr additive="base">
                                        <p:cTn dur="500"/>
                                        <p:tgtEl>
                                          <p:spTgt spid="490"/>
                                        </p:tgtEl>
                                        <p:attrNameLst>
                                          <p:attrName>ppt_y</p:attrName>
                                        </p:attrNameLst>
                                      </p:cBhvr>
                                      <p:tavLst>
                                        <p:tav fmla="" tm="0">
                                          <p:val>
                                            <p:strVal val="#ppt_y-1"/>
                                          </p:val>
                                        </p:tav>
                                        <p:tav fmla="" tm="100000">
                                          <p:val>
                                            <p:strVal val="#ppt_y"/>
                                          </p:val>
                                        </p:tav>
                                      </p:tavLst>
                                    </p:anim>
                                  </p:childTnLst>
                                </p:cTn>
                              </p:par>
                            </p:childTnLst>
                          </p:cTn>
                        </p:par>
                        <p:par>
                          <p:cTn fill="hold">
                            <p:stCondLst>
                              <p:cond delay="9500"/>
                            </p:stCondLst>
                            <p:childTnLst>
                              <p:par>
                                <p:cTn fill="hold" nodeType="afterEffect" presetClass="entr" presetID="2" presetSubtype="1">
                                  <p:stCondLst>
                                    <p:cond delay="0"/>
                                  </p:stCondLst>
                                  <p:childTnLst>
                                    <p:set>
                                      <p:cBhvr>
                                        <p:cTn dur="1" fill="hold">
                                          <p:stCondLst>
                                            <p:cond delay="0"/>
                                          </p:stCondLst>
                                        </p:cTn>
                                        <p:tgtEl>
                                          <p:spTgt spid="491"/>
                                        </p:tgtEl>
                                        <p:attrNameLst>
                                          <p:attrName>style.visibility</p:attrName>
                                        </p:attrNameLst>
                                      </p:cBhvr>
                                      <p:to>
                                        <p:strVal val="visible"/>
                                      </p:to>
                                    </p:set>
                                    <p:anim calcmode="lin" valueType="num">
                                      <p:cBhvr additive="base">
                                        <p:cTn dur="500"/>
                                        <p:tgtEl>
                                          <p:spTgt spid="491"/>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1">
                                  <p:stCondLst>
                                    <p:cond delay="0"/>
                                  </p:stCondLst>
                                  <p:childTnLst>
                                    <p:set>
                                      <p:cBhvr>
                                        <p:cTn dur="1" fill="hold">
                                          <p:stCondLst>
                                            <p:cond delay="0"/>
                                          </p:stCondLst>
                                        </p:cTn>
                                        <p:tgtEl>
                                          <p:spTgt spid="492"/>
                                        </p:tgtEl>
                                        <p:attrNameLst>
                                          <p:attrName>style.visibility</p:attrName>
                                        </p:attrNameLst>
                                      </p:cBhvr>
                                      <p:to>
                                        <p:strVal val="visible"/>
                                      </p:to>
                                    </p:set>
                                    <p:anim calcmode="lin" valueType="num">
                                      <p:cBhvr additive="base">
                                        <p:cTn dur="500"/>
                                        <p:tgtEl>
                                          <p:spTgt spid="4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500"/>
                                        <p:tgtEl>
                                          <p:spTgt spid="471"/>
                                        </p:tgtEl>
                                        <p:attrNameLst>
                                          <p:attrName>ppt_y</p:attrName>
                                        </p:attrNameLst>
                                      </p:cBhvr>
                                      <p:tavLst>
                                        <p:tav fmla="" tm="0">
                                          <p:val>
                                            <p:strVal val="#ppt_y"/>
                                          </p:val>
                                        </p:tav>
                                        <p:tav fmla="" tm="100000">
                                          <p:val>
                                            <p:strVal val="#ppt_y-1"/>
                                          </p:val>
                                        </p:tav>
                                      </p:tavLst>
                                    </p:anim>
                                    <p:set>
                                      <p:cBhvr>
                                        <p:cTn dur="1" fill="hold">
                                          <p:stCondLst>
                                            <p:cond delay="500"/>
                                          </p:stCondLst>
                                        </p:cTn>
                                        <p:tgtEl>
                                          <p:spTgt spid="4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6"/>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∙If we take a top view, and eliminate                              some of the field arrows, our sketch                                  of the gravitational field is vastly                                simplified:</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fact, we don’t even have to draw                                 the sun – the arrows are sufficient to                             denote its presence.</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∙To simplify field drawings even                                   more, we take the convention of                                drawing “field lines” as a single                                     arrow.</a:t>
            </a:r>
            <a:endParaRPr/>
          </a:p>
        </p:txBody>
      </p:sp>
      <p:sp>
        <p:nvSpPr>
          <p:cNvPr id="499" name="Google Shape;499;p3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500" name="Google Shape;500;p36"/>
          <p:cNvGrpSpPr/>
          <p:nvPr/>
        </p:nvGrpSpPr>
        <p:grpSpPr>
          <a:xfrm>
            <a:off x="6570663" y="2487613"/>
            <a:ext cx="668337" cy="663575"/>
            <a:chOff x="2171" y="2654"/>
            <a:chExt cx="421" cy="418"/>
          </a:xfrm>
        </p:grpSpPr>
        <p:sp>
          <p:nvSpPr>
            <p:cNvPr id="501" name="Google Shape;501;p36"/>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02" name="Google Shape;502;p36"/>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cxnSp>
        <p:nvCxnSpPr>
          <p:cNvPr id="503" name="Google Shape;503;p36"/>
          <p:cNvCxnSpPr/>
          <p:nvPr/>
        </p:nvCxnSpPr>
        <p:spPr>
          <a:xfrm>
            <a:off x="6904038" y="2098675"/>
            <a:ext cx="0" cy="303213"/>
          </a:xfrm>
          <a:prstGeom prst="straightConnector1">
            <a:avLst/>
          </a:prstGeom>
          <a:noFill/>
          <a:ln cap="flat" cmpd="sng" w="28575">
            <a:solidFill>
              <a:schemeClr val="dk1"/>
            </a:solidFill>
            <a:prstDash val="solid"/>
            <a:round/>
            <a:headEnd len="med" w="med" type="none"/>
            <a:tailEnd len="med" w="med" type="triangle"/>
          </a:ln>
        </p:spPr>
      </p:cxnSp>
      <p:cxnSp>
        <p:nvCxnSpPr>
          <p:cNvPr id="504" name="Google Shape;504;p36"/>
          <p:cNvCxnSpPr/>
          <p:nvPr/>
        </p:nvCxnSpPr>
        <p:spPr>
          <a:xfrm>
            <a:off x="6399213" y="2295525"/>
            <a:ext cx="203200" cy="215900"/>
          </a:xfrm>
          <a:prstGeom prst="straightConnector1">
            <a:avLst/>
          </a:prstGeom>
          <a:noFill/>
          <a:ln cap="flat" cmpd="sng" w="28575">
            <a:solidFill>
              <a:schemeClr val="dk1"/>
            </a:solidFill>
            <a:prstDash val="solid"/>
            <a:round/>
            <a:headEnd len="med" w="med" type="none"/>
            <a:tailEnd len="med" w="med" type="triangle"/>
          </a:ln>
        </p:spPr>
      </p:cxnSp>
      <p:cxnSp>
        <p:nvCxnSpPr>
          <p:cNvPr id="505" name="Google Shape;505;p36"/>
          <p:cNvCxnSpPr/>
          <p:nvPr/>
        </p:nvCxnSpPr>
        <p:spPr>
          <a:xfrm flipH="1">
            <a:off x="7200900" y="2314575"/>
            <a:ext cx="212725" cy="215900"/>
          </a:xfrm>
          <a:prstGeom prst="straightConnector1">
            <a:avLst/>
          </a:prstGeom>
          <a:noFill/>
          <a:ln cap="flat" cmpd="sng" w="28575">
            <a:solidFill>
              <a:schemeClr val="dk1"/>
            </a:solidFill>
            <a:prstDash val="solid"/>
            <a:round/>
            <a:headEnd len="med" w="med" type="none"/>
            <a:tailEnd len="med" w="med" type="triangle"/>
          </a:ln>
        </p:spPr>
      </p:cxnSp>
      <p:cxnSp>
        <p:nvCxnSpPr>
          <p:cNvPr id="506" name="Google Shape;506;p36"/>
          <p:cNvCxnSpPr/>
          <p:nvPr/>
        </p:nvCxnSpPr>
        <p:spPr>
          <a:xfrm>
            <a:off x="6189663" y="2820988"/>
            <a:ext cx="301625" cy="0"/>
          </a:xfrm>
          <a:prstGeom prst="straightConnector1">
            <a:avLst/>
          </a:prstGeom>
          <a:noFill/>
          <a:ln cap="flat" cmpd="sng" w="28575">
            <a:solidFill>
              <a:schemeClr val="dk1"/>
            </a:solidFill>
            <a:prstDash val="solid"/>
            <a:round/>
            <a:headEnd len="med" w="med" type="none"/>
            <a:tailEnd len="med" w="med" type="triangle"/>
          </a:ln>
        </p:spPr>
      </p:cxnSp>
      <p:cxnSp>
        <p:nvCxnSpPr>
          <p:cNvPr id="507" name="Google Shape;507;p36"/>
          <p:cNvCxnSpPr/>
          <p:nvPr/>
        </p:nvCxnSpPr>
        <p:spPr>
          <a:xfrm flipH="1" rot="10800000">
            <a:off x="6403975" y="3109913"/>
            <a:ext cx="211138" cy="201612"/>
          </a:xfrm>
          <a:prstGeom prst="straightConnector1">
            <a:avLst/>
          </a:prstGeom>
          <a:noFill/>
          <a:ln cap="flat" cmpd="sng" w="28575">
            <a:solidFill>
              <a:schemeClr val="dk1"/>
            </a:solidFill>
            <a:prstDash val="solid"/>
            <a:round/>
            <a:headEnd len="med" w="med" type="none"/>
            <a:tailEnd len="med" w="med" type="triangle"/>
          </a:ln>
        </p:spPr>
      </p:cxnSp>
      <p:cxnSp>
        <p:nvCxnSpPr>
          <p:cNvPr id="508" name="Google Shape;508;p36"/>
          <p:cNvCxnSpPr/>
          <p:nvPr/>
        </p:nvCxnSpPr>
        <p:spPr>
          <a:xfrm rot="10800000">
            <a:off x="7318375" y="2806700"/>
            <a:ext cx="293688" cy="0"/>
          </a:xfrm>
          <a:prstGeom prst="straightConnector1">
            <a:avLst/>
          </a:prstGeom>
          <a:noFill/>
          <a:ln cap="flat" cmpd="sng" w="28575">
            <a:solidFill>
              <a:schemeClr val="dk1"/>
            </a:solidFill>
            <a:prstDash val="solid"/>
            <a:round/>
            <a:headEnd len="med" w="med" type="none"/>
            <a:tailEnd len="med" w="med" type="triangle"/>
          </a:ln>
        </p:spPr>
      </p:cxnSp>
      <p:cxnSp>
        <p:nvCxnSpPr>
          <p:cNvPr id="509" name="Google Shape;509;p36"/>
          <p:cNvCxnSpPr/>
          <p:nvPr/>
        </p:nvCxnSpPr>
        <p:spPr>
          <a:xfrm rot="10800000">
            <a:off x="7196138" y="3092450"/>
            <a:ext cx="214312" cy="212725"/>
          </a:xfrm>
          <a:prstGeom prst="straightConnector1">
            <a:avLst/>
          </a:prstGeom>
          <a:noFill/>
          <a:ln cap="flat" cmpd="sng" w="28575">
            <a:solidFill>
              <a:schemeClr val="dk1"/>
            </a:solidFill>
            <a:prstDash val="solid"/>
            <a:round/>
            <a:headEnd len="med" w="med" type="none"/>
            <a:tailEnd len="med" w="med" type="triangle"/>
          </a:ln>
        </p:spPr>
      </p:cxnSp>
      <p:cxnSp>
        <p:nvCxnSpPr>
          <p:cNvPr id="510" name="Google Shape;510;p36"/>
          <p:cNvCxnSpPr/>
          <p:nvPr/>
        </p:nvCxnSpPr>
        <p:spPr>
          <a:xfrm>
            <a:off x="6905625" y="3217863"/>
            <a:ext cx="0" cy="303212"/>
          </a:xfrm>
          <a:prstGeom prst="straightConnector1">
            <a:avLst/>
          </a:prstGeom>
          <a:noFill/>
          <a:ln cap="flat" cmpd="sng" w="28575">
            <a:solidFill>
              <a:schemeClr val="dk1"/>
            </a:solidFill>
            <a:prstDash val="solid"/>
            <a:round/>
            <a:headEnd len="med" w="med" type="triangle"/>
            <a:tailEnd len="med" w="med" type="none"/>
          </a:ln>
        </p:spPr>
      </p:cxnSp>
      <p:cxnSp>
        <p:nvCxnSpPr>
          <p:cNvPr id="511" name="Google Shape;511;p36"/>
          <p:cNvCxnSpPr/>
          <p:nvPr/>
        </p:nvCxnSpPr>
        <p:spPr>
          <a:xfrm flipH="1">
            <a:off x="6904038" y="1789113"/>
            <a:ext cx="1587" cy="180975"/>
          </a:xfrm>
          <a:prstGeom prst="straightConnector1">
            <a:avLst/>
          </a:prstGeom>
          <a:noFill/>
          <a:ln cap="flat" cmpd="sng" w="28575">
            <a:solidFill>
              <a:schemeClr val="dk1"/>
            </a:solidFill>
            <a:prstDash val="solid"/>
            <a:round/>
            <a:headEnd len="med" w="med" type="none"/>
            <a:tailEnd len="med" w="med" type="triangle"/>
          </a:ln>
        </p:spPr>
      </p:cxnSp>
      <p:cxnSp>
        <p:nvCxnSpPr>
          <p:cNvPr id="512" name="Google Shape;512;p36"/>
          <p:cNvCxnSpPr/>
          <p:nvPr/>
        </p:nvCxnSpPr>
        <p:spPr>
          <a:xfrm>
            <a:off x="6180138" y="2084388"/>
            <a:ext cx="131762" cy="146050"/>
          </a:xfrm>
          <a:prstGeom prst="straightConnector1">
            <a:avLst/>
          </a:prstGeom>
          <a:noFill/>
          <a:ln cap="flat" cmpd="sng" w="28575">
            <a:solidFill>
              <a:schemeClr val="dk1"/>
            </a:solidFill>
            <a:prstDash val="solid"/>
            <a:round/>
            <a:headEnd len="med" w="med" type="none"/>
            <a:tailEnd len="med" w="med" type="triangle"/>
          </a:ln>
        </p:spPr>
      </p:cxnSp>
      <p:cxnSp>
        <p:nvCxnSpPr>
          <p:cNvPr id="513" name="Google Shape;513;p36"/>
          <p:cNvCxnSpPr/>
          <p:nvPr/>
        </p:nvCxnSpPr>
        <p:spPr>
          <a:xfrm flipH="1">
            <a:off x="7496175" y="2101850"/>
            <a:ext cx="133350" cy="117475"/>
          </a:xfrm>
          <a:prstGeom prst="straightConnector1">
            <a:avLst/>
          </a:prstGeom>
          <a:noFill/>
          <a:ln cap="flat" cmpd="sng" w="28575">
            <a:solidFill>
              <a:schemeClr val="dk1"/>
            </a:solidFill>
            <a:prstDash val="solid"/>
            <a:round/>
            <a:headEnd len="med" w="med" type="none"/>
            <a:tailEnd len="med" w="med" type="triangle"/>
          </a:ln>
        </p:spPr>
      </p:cxnSp>
      <p:cxnSp>
        <p:nvCxnSpPr>
          <p:cNvPr id="514" name="Google Shape;514;p36"/>
          <p:cNvCxnSpPr/>
          <p:nvPr/>
        </p:nvCxnSpPr>
        <p:spPr>
          <a:xfrm>
            <a:off x="5880100" y="2814638"/>
            <a:ext cx="179388" cy="1587"/>
          </a:xfrm>
          <a:prstGeom prst="straightConnector1">
            <a:avLst/>
          </a:prstGeom>
          <a:noFill/>
          <a:ln cap="flat" cmpd="sng" w="28575">
            <a:solidFill>
              <a:schemeClr val="dk1"/>
            </a:solidFill>
            <a:prstDash val="solid"/>
            <a:round/>
            <a:headEnd len="med" w="med" type="none"/>
            <a:tailEnd len="med" w="med" type="triangle"/>
          </a:ln>
        </p:spPr>
      </p:cxnSp>
      <p:cxnSp>
        <p:nvCxnSpPr>
          <p:cNvPr id="515" name="Google Shape;515;p36"/>
          <p:cNvCxnSpPr/>
          <p:nvPr/>
        </p:nvCxnSpPr>
        <p:spPr>
          <a:xfrm flipH="1" rot="10800000">
            <a:off x="6183313" y="3403600"/>
            <a:ext cx="131762" cy="139700"/>
          </a:xfrm>
          <a:prstGeom prst="straightConnector1">
            <a:avLst/>
          </a:prstGeom>
          <a:noFill/>
          <a:ln cap="flat" cmpd="sng" w="28575">
            <a:solidFill>
              <a:schemeClr val="dk1"/>
            </a:solidFill>
            <a:prstDash val="solid"/>
            <a:round/>
            <a:headEnd len="med" w="med" type="none"/>
            <a:tailEnd len="med" w="med" type="triangle"/>
          </a:ln>
        </p:spPr>
      </p:cxnSp>
      <p:cxnSp>
        <p:nvCxnSpPr>
          <p:cNvPr id="516" name="Google Shape;516;p36"/>
          <p:cNvCxnSpPr/>
          <p:nvPr/>
        </p:nvCxnSpPr>
        <p:spPr>
          <a:xfrm rot="10800000">
            <a:off x="7727950" y="2808288"/>
            <a:ext cx="195263" cy="0"/>
          </a:xfrm>
          <a:prstGeom prst="straightConnector1">
            <a:avLst/>
          </a:prstGeom>
          <a:noFill/>
          <a:ln cap="flat" cmpd="sng" w="28575">
            <a:solidFill>
              <a:schemeClr val="dk1"/>
            </a:solidFill>
            <a:prstDash val="solid"/>
            <a:round/>
            <a:headEnd len="med" w="med" type="none"/>
            <a:tailEnd len="med" w="med" type="triangle"/>
          </a:ln>
        </p:spPr>
      </p:cxnSp>
      <p:cxnSp>
        <p:nvCxnSpPr>
          <p:cNvPr id="517" name="Google Shape;517;p36"/>
          <p:cNvCxnSpPr/>
          <p:nvPr/>
        </p:nvCxnSpPr>
        <p:spPr>
          <a:xfrm rot="10800000">
            <a:off x="7480300" y="3386138"/>
            <a:ext cx="144463" cy="141287"/>
          </a:xfrm>
          <a:prstGeom prst="straightConnector1">
            <a:avLst/>
          </a:prstGeom>
          <a:noFill/>
          <a:ln cap="flat" cmpd="sng" w="28575">
            <a:solidFill>
              <a:schemeClr val="dk1"/>
            </a:solidFill>
            <a:prstDash val="solid"/>
            <a:round/>
            <a:headEnd len="med" w="med" type="none"/>
            <a:tailEnd len="med" w="med" type="triangle"/>
          </a:ln>
        </p:spPr>
      </p:cxnSp>
      <p:cxnSp>
        <p:nvCxnSpPr>
          <p:cNvPr id="518" name="Google Shape;518;p36"/>
          <p:cNvCxnSpPr/>
          <p:nvPr/>
        </p:nvCxnSpPr>
        <p:spPr>
          <a:xfrm flipH="1">
            <a:off x="6907213" y="3651250"/>
            <a:ext cx="9525" cy="179388"/>
          </a:xfrm>
          <a:prstGeom prst="straightConnector1">
            <a:avLst/>
          </a:prstGeom>
          <a:noFill/>
          <a:ln cap="flat" cmpd="sng" w="28575">
            <a:solidFill>
              <a:schemeClr val="dk1"/>
            </a:solidFill>
            <a:prstDash val="solid"/>
            <a:round/>
            <a:headEnd len="med" w="med" type="triangle"/>
            <a:tailEnd len="med" w="med" type="none"/>
          </a:ln>
        </p:spPr>
      </p:cxnSp>
      <p:grpSp>
        <p:nvGrpSpPr>
          <p:cNvPr id="519" name="Google Shape;519;p36"/>
          <p:cNvGrpSpPr/>
          <p:nvPr/>
        </p:nvGrpSpPr>
        <p:grpSpPr>
          <a:xfrm>
            <a:off x="6580188" y="5008563"/>
            <a:ext cx="668337" cy="663575"/>
            <a:chOff x="2171" y="2654"/>
            <a:chExt cx="421" cy="418"/>
          </a:xfrm>
        </p:grpSpPr>
        <p:sp>
          <p:nvSpPr>
            <p:cNvPr id="520" name="Google Shape;520;p36"/>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21" name="Google Shape;521;p36"/>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cxnSp>
        <p:nvCxnSpPr>
          <p:cNvPr id="522" name="Google Shape;522;p36"/>
          <p:cNvCxnSpPr/>
          <p:nvPr/>
        </p:nvCxnSpPr>
        <p:spPr>
          <a:xfrm>
            <a:off x="6913563" y="4308475"/>
            <a:ext cx="0" cy="695325"/>
          </a:xfrm>
          <a:prstGeom prst="straightConnector1">
            <a:avLst/>
          </a:prstGeom>
          <a:noFill/>
          <a:ln cap="flat" cmpd="sng" w="28575">
            <a:solidFill>
              <a:schemeClr val="dk1"/>
            </a:solidFill>
            <a:prstDash val="solid"/>
            <a:round/>
            <a:headEnd len="med" w="med" type="none"/>
            <a:tailEnd len="med" w="med" type="triangle"/>
          </a:ln>
        </p:spPr>
      </p:cxnSp>
      <p:cxnSp>
        <p:nvCxnSpPr>
          <p:cNvPr id="523" name="Google Shape;523;p36"/>
          <p:cNvCxnSpPr/>
          <p:nvPr/>
        </p:nvCxnSpPr>
        <p:spPr>
          <a:xfrm>
            <a:off x="6192838" y="4586288"/>
            <a:ext cx="485775" cy="515937"/>
          </a:xfrm>
          <a:prstGeom prst="straightConnector1">
            <a:avLst/>
          </a:prstGeom>
          <a:noFill/>
          <a:ln cap="flat" cmpd="sng" w="28575">
            <a:solidFill>
              <a:schemeClr val="dk1"/>
            </a:solidFill>
            <a:prstDash val="solid"/>
            <a:round/>
            <a:headEnd len="med" w="med" type="none"/>
            <a:tailEnd len="med" w="med" type="triangle"/>
          </a:ln>
        </p:spPr>
      </p:cxnSp>
      <p:cxnSp>
        <p:nvCxnSpPr>
          <p:cNvPr id="524" name="Google Shape;524;p36"/>
          <p:cNvCxnSpPr/>
          <p:nvPr/>
        </p:nvCxnSpPr>
        <p:spPr>
          <a:xfrm flipH="1">
            <a:off x="7158038" y="4632325"/>
            <a:ext cx="465137" cy="473075"/>
          </a:xfrm>
          <a:prstGeom prst="straightConnector1">
            <a:avLst/>
          </a:prstGeom>
          <a:noFill/>
          <a:ln cap="flat" cmpd="sng" w="28575">
            <a:solidFill>
              <a:schemeClr val="dk1"/>
            </a:solidFill>
            <a:prstDash val="solid"/>
            <a:round/>
            <a:headEnd len="med" w="med" type="none"/>
            <a:tailEnd len="med" w="med" type="triangle"/>
          </a:ln>
        </p:spPr>
      </p:cxnSp>
      <p:cxnSp>
        <p:nvCxnSpPr>
          <p:cNvPr id="525" name="Google Shape;525;p36"/>
          <p:cNvCxnSpPr/>
          <p:nvPr/>
        </p:nvCxnSpPr>
        <p:spPr>
          <a:xfrm>
            <a:off x="5880100" y="5341938"/>
            <a:ext cx="709613" cy="0"/>
          </a:xfrm>
          <a:prstGeom prst="straightConnector1">
            <a:avLst/>
          </a:prstGeom>
          <a:noFill/>
          <a:ln cap="flat" cmpd="sng" w="28575">
            <a:solidFill>
              <a:schemeClr val="dk1"/>
            </a:solidFill>
            <a:prstDash val="solid"/>
            <a:round/>
            <a:headEnd len="med" w="med" type="none"/>
            <a:tailEnd len="med" w="med" type="triangle"/>
          </a:ln>
        </p:spPr>
      </p:cxnSp>
      <p:cxnSp>
        <p:nvCxnSpPr>
          <p:cNvPr id="526" name="Google Shape;526;p36"/>
          <p:cNvCxnSpPr/>
          <p:nvPr/>
        </p:nvCxnSpPr>
        <p:spPr>
          <a:xfrm flipH="1" rot="10800000">
            <a:off x="6181725" y="5578475"/>
            <a:ext cx="498475" cy="474663"/>
          </a:xfrm>
          <a:prstGeom prst="straightConnector1">
            <a:avLst/>
          </a:prstGeom>
          <a:noFill/>
          <a:ln cap="flat" cmpd="sng" w="28575">
            <a:solidFill>
              <a:schemeClr val="dk1"/>
            </a:solidFill>
            <a:prstDash val="solid"/>
            <a:round/>
            <a:headEnd len="med" w="med" type="none"/>
            <a:tailEnd len="med" w="med" type="triangle"/>
          </a:ln>
        </p:spPr>
      </p:cxnSp>
      <p:cxnSp>
        <p:nvCxnSpPr>
          <p:cNvPr id="527" name="Google Shape;527;p36"/>
          <p:cNvCxnSpPr/>
          <p:nvPr/>
        </p:nvCxnSpPr>
        <p:spPr>
          <a:xfrm rot="10800000">
            <a:off x="7239000" y="5327650"/>
            <a:ext cx="711200" cy="0"/>
          </a:xfrm>
          <a:prstGeom prst="straightConnector1">
            <a:avLst/>
          </a:prstGeom>
          <a:noFill/>
          <a:ln cap="flat" cmpd="sng" w="28575">
            <a:solidFill>
              <a:schemeClr val="dk1"/>
            </a:solidFill>
            <a:prstDash val="solid"/>
            <a:round/>
            <a:headEnd len="med" w="med" type="none"/>
            <a:tailEnd len="med" w="med" type="triangle"/>
          </a:ln>
        </p:spPr>
      </p:cxnSp>
      <p:cxnSp>
        <p:nvCxnSpPr>
          <p:cNvPr id="528" name="Google Shape;528;p36"/>
          <p:cNvCxnSpPr/>
          <p:nvPr/>
        </p:nvCxnSpPr>
        <p:spPr>
          <a:xfrm rot="10800000">
            <a:off x="7169150" y="5576888"/>
            <a:ext cx="473075" cy="469900"/>
          </a:xfrm>
          <a:prstGeom prst="straightConnector1">
            <a:avLst/>
          </a:prstGeom>
          <a:noFill/>
          <a:ln cap="flat" cmpd="sng" w="28575">
            <a:solidFill>
              <a:schemeClr val="dk1"/>
            </a:solidFill>
            <a:prstDash val="solid"/>
            <a:round/>
            <a:headEnd len="med" w="med" type="none"/>
            <a:tailEnd len="med" w="med" type="triangle"/>
          </a:ln>
        </p:spPr>
      </p:cxnSp>
      <p:cxnSp>
        <p:nvCxnSpPr>
          <p:cNvPr id="529" name="Google Shape;529;p36"/>
          <p:cNvCxnSpPr/>
          <p:nvPr/>
        </p:nvCxnSpPr>
        <p:spPr>
          <a:xfrm>
            <a:off x="6915150" y="5667375"/>
            <a:ext cx="0" cy="666750"/>
          </a:xfrm>
          <a:prstGeom prst="straightConnector1">
            <a:avLst/>
          </a:prstGeom>
          <a:noFill/>
          <a:ln cap="flat" cmpd="sng" w="28575">
            <a:solidFill>
              <a:schemeClr val="dk1"/>
            </a:solidFill>
            <a:prstDash val="solid"/>
            <a:round/>
            <a:headEnd len="med" w="med" type="triangl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500"/>
                                        <p:tgtEl>
                                          <p:spTgt spid="50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500"/>
                                        <p:tgtEl>
                                          <p:spTgt spid="5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5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00"/>
                                        </p:tgtEl>
                                        <p:attrNameLst>
                                          <p:attrName>ppt_y</p:attrName>
                                        </p:attrNameLst>
                                      </p:cBhvr>
                                      <p:tavLst>
                                        <p:tav fmla="" tm="0">
                                          <p:val>
                                            <p:strVal val="#ppt_y"/>
                                          </p:val>
                                        </p:tav>
                                        <p:tav fmla="" tm="100000">
                                          <p:val>
                                            <p:strVal val="#ppt_y+1"/>
                                          </p:val>
                                        </p:tav>
                                      </p:tavLst>
                                    </p:anim>
                                    <p:set>
                                      <p:cBhvr>
                                        <p:cTn dur="1" fill="hold">
                                          <p:stCondLst>
                                            <p:cond delay="500"/>
                                          </p:stCondLst>
                                        </p:cTn>
                                        <p:tgtEl>
                                          <p:spTgt spid="5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519"/>
                                        </p:tgtEl>
                                        <p:attrNameLst>
                                          <p:attrName>ppt_y</p:attrName>
                                        </p:attrNameLst>
                                      </p:cBhvr>
                                      <p:tavLst>
                                        <p:tav fmla="" tm="0">
                                          <p:val>
                                            <p:strVal val="#ppt_y"/>
                                          </p:val>
                                        </p:tav>
                                        <p:tav fmla="" tm="100000">
                                          <p:val>
                                            <p:strVal val="#ppt_y+1"/>
                                          </p:val>
                                        </p:tav>
                                      </p:tavLst>
                                    </p:anim>
                                    <p:set>
                                      <p:cBhvr>
                                        <p:cTn dur="1" fill="hold">
                                          <p:stCondLst>
                                            <p:cond delay="500"/>
                                          </p:stCondLst>
                                        </p:cTn>
                                        <p:tgtEl>
                                          <p:spTgt spid="5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7"/>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Gravitational field strength</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the first sketch the strength of the field                          at a point is determined by the length of                      the field arrows in the vicinity of that point.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second sketch has </a:t>
            </a:r>
            <a:r>
              <a:rPr lang="en-US" sz="2400" u="sng">
                <a:solidFill>
                  <a:srgbClr val="000000"/>
                </a:solidFill>
                <a:latin typeface="Arial"/>
                <a:ea typeface="Arial"/>
                <a:cs typeface="Arial"/>
                <a:sym typeface="Arial"/>
              </a:rPr>
              <a:t>single</a:t>
            </a:r>
            <a:r>
              <a:rPr lang="en-US" sz="2400">
                <a:solidFill>
                  <a:srgbClr val="000000"/>
                </a:solidFill>
                <a:latin typeface="Arial"/>
                <a:ea typeface="Arial"/>
                <a:cs typeface="Arial"/>
                <a:sym typeface="Arial"/>
              </a:rPr>
              <a:t> arrows, so                        how do we know how strong the field is                             at a particular point in the vicinity of a mass?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∙We simply look at the </a:t>
            </a:r>
            <a:r>
              <a:rPr b="1" lang="en-US" sz="2400">
                <a:solidFill>
                  <a:srgbClr val="000000"/>
                </a:solidFill>
                <a:latin typeface="Arial"/>
                <a:ea typeface="Arial"/>
                <a:cs typeface="Arial"/>
                <a:sym typeface="Arial"/>
              </a:rPr>
              <a:t>concentration</a:t>
            </a:r>
            <a:r>
              <a:rPr lang="en-US" sz="2400">
                <a:solidFill>
                  <a:srgbClr val="000000"/>
                </a:solidFill>
                <a:latin typeface="Arial"/>
                <a:ea typeface="Arial"/>
                <a:cs typeface="Arial"/>
                <a:sym typeface="Arial"/>
              </a:rPr>
              <a:t> of the                    field lines. </a:t>
            </a:r>
            <a:r>
              <a:rPr lang="en-US" sz="2400">
                <a:solidFill>
                  <a:schemeClr val="hlink"/>
                </a:solidFill>
                <a:latin typeface="Arial"/>
                <a:ea typeface="Arial"/>
                <a:cs typeface="Arial"/>
                <a:sym typeface="Arial"/>
              </a:rPr>
              <a:t>The closer together the field                       lines, the stronger the field</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∙In the </a:t>
            </a:r>
            <a:r>
              <a:rPr lang="en-US" sz="2400">
                <a:solidFill>
                  <a:srgbClr val="FF0000"/>
                </a:solidFill>
                <a:latin typeface="Arial"/>
                <a:ea typeface="Arial"/>
                <a:cs typeface="Arial"/>
                <a:sym typeface="Arial"/>
              </a:rPr>
              <a:t>red region</a:t>
            </a:r>
            <a:r>
              <a:rPr lang="en-US" sz="2400">
                <a:solidFill>
                  <a:srgbClr val="000000"/>
                </a:solidFill>
                <a:latin typeface="Arial"/>
                <a:ea typeface="Arial"/>
                <a:cs typeface="Arial"/>
                <a:sym typeface="Arial"/>
              </a:rPr>
              <a:t> the field lines are closer               together than in the </a:t>
            </a:r>
            <a:r>
              <a:rPr lang="en-US" sz="2400">
                <a:solidFill>
                  <a:srgbClr val="008000"/>
                </a:solidFill>
                <a:latin typeface="Arial"/>
                <a:ea typeface="Arial"/>
                <a:cs typeface="Arial"/>
                <a:sym typeface="Arial"/>
              </a:rPr>
              <a:t>green region</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∙Thus the </a:t>
            </a:r>
            <a:r>
              <a:rPr lang="en-US" sz="2400">
                <a:solidFill>
                  <a:srgbClr val="FF0000"/>
                </a:solidFill>
                <a:latin typeface="Arial"/>
                <a:ea typeface="Arial"/>
                <a:cs typeface="Arial"/>
                <a:sym typeface="Arial"/>
              </a:rPr>
              <a:t>red field</a:t>
            </a:r>
            <a:r>
              <a:rPr lang="en-US" sz="2400">
                <a:solidFill>
                  <a:srgbClr val="000000"/>
                </a:solidFill>
                <a:latin typeface="Arial"/>
                <a:ea typeface="Arial"/>
                <a:cs typeface="Arial"/>
                <a:sym typeface="Arial"/>
              </a:rPr>
              <a:t> is stronger than the </a:t>
            </a:r>
            <a:r>
              <a:rPr lang="en-US" sz="2400">
                <a:solidFill>
                  <a:srgbClr val="008000"/>
                </a:solidFill>
                <a:latin typeface="Arial"/>
                <a:ea typeface="Arial"/>
                <a:cs typeface="Arial"/>
                <a:sym typeface="Arial"/>
              </a:rPr>
              <a:t>green field</a:t>
            </a:r>
            <a:r>
              <a:rPr lang="en-US" sz="2400">
                <a:solidFill>
                  <a:srgbClr val="000000"/>
                </a:solidFill>
                <a:latin typeface="Arial"/>
                <a:ea typeface="Arial"/>
                <a:cs typeface="Arial"/>
                <a:sym typeface="Arial"/>
              </a:rPr>
              <a:t>.</a:t>
            </a:r>
            <a:endParaRPr/>
          </a:p>
        </p:txBody>
      </p:sp>
      <p:sp>
        <p:nvSpPr>
          <p:cNvPr id="536" name="Google Shape;536;p3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537" name="Google Shape;537;p37"/>
          <p:cNvGrpSpPr/>
          <p:nvPr/>
        </p:nvGrpSpPr>
        <p:grpSpPr>
          <a:xfrm>
            <a:off x="6643688" y="1755775"/>
            <a:ext cx="2043112" cy="2041525"/>
            <a:chOff x="3704" y="1127"/>
            <a:chExt cx="1287" cy="1286"/>
          </a:xfrm>
        </p:grpSpPr>
        <p:grpSp>
          <p:nvGrpSpPr>
            <p:cNvPr id="538" name="Google Shape;538;p37"/>
            <p:cNvGrpSpPr/>
            <p:nvPr/>
          </p:nvGrpSpPr>
          <p:grpSpPr>
            <a:xfrm>
              <a:off x="4139" y="1567"/>
              <a:ext cx="421" cy="418"/>
              <a:chOff x="2171" y="2654"/>
              <a:chExt cx="421" cy="418"/>
            </a:xfrm>
          </p:grpSpPr>
          <p:sp>
            <p:nvSpPr>
              <p:cNvPr id="539" name="Google Shape;539;p37"/>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40" name="Google Shape;540;p37"/>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cxnSp>
          <p:nvCxnSpPr>
            <p:cNvPr id="541" name="Google Shape;541;p37"/>
            <p:cNvCxnSpPr/>
            <p:nvPr/>
          </p:nvCxnSpPr>
          <p:spPr>
            <a:xfrm>
              <a:off x="4349" y="1322"/>
              <a:ext cx="0" cy="191"/>
            </a:xfrm>
            <a:prstGeom prst="straightConnector1">
              <a:avLst/>
            </a:prstGeom>
            <a:noFill/>
            <a:ln cap="flat" cmpd="sng" w="28575">
              <a:solidFill>
                <a:schemeClr val="dk1"/>
              </a:solidFill>
              <a:prstDash val="solid"/>
              <a:round/>
              <a:headEnd len="med" w="med" type="none"/>
              <a:tailEnd len="med" w="med" type="triangle"/>
            </a:ln>
          </p:spPr>
        </p:cxnSp>
        <p:cxnSp>
          <p:nvCxnSpPr>
            <p:cNvPr id="542" name="Google Shape;542;p37"/>
            <p:cNvCxnSpPr/>
            <p:nvPr/>
          </p:nvCxnSpPr>
          <p:spPr>
            <a:xfrm>
              <a:off x="4031" y="1446"/>
              <a:ext cx="128" cy="136"/>
            </a:xfrm>
            <a:prstGeom prst="straightConnector1">
              <a:avLst/>
            </a:prstGeom>
            <a:noFill/>
            <a:ln cap="flat" cmpd="sng" w="28575">
              <a:solidFill>
                <a:schemeClr val="dk1"/>
              </a:solidFill>
              <a:prstDash val="solid"/>
              <a:round/>
              <a:headEnd len="med" w="med" type="none"/>
              <a:tailEnd len="med" w="med" type="triangle"/>
            </a:ln>
          </p:spPr>
        </p:cxnSp>
        <p:cxnSp>
          <p:nvCxnSpPr>
            <p:cNvPr id="543" name="Google Shape;543;p37"/>
            <p:cNvCxnSpPr/>
            <p:nvPr/>
          </p:nvCxnSpPr>
          <p:spPr>
            <a:xfrm flipH="1">
              <a:off x="4536" y="1458"/>
              <a:ext cx="134" cy="136"/>
            </a:xfrm>
            <a:prstGeom prst="straightConnector1">
              <a:avLst/>
            </a:prstGeom>
            <a:noFill/>
            <a:ln cap="flat" cmpd="sng" w="28575">
              <a:solidFill>
                <a:schemeClr val="dk1"/>
              </a:solidFill>
              <a:prstDash val="solid"/>
              <a:round/>
              <a:headEnd len="med" w="med" type="none"/>
              <a:tailEnd len="med" w="med" type="triangle"/>
            </a:ln>
          </p:spPr>
        </p:cxnSp>
        <p:cxnSp>
          <p:nvCxnSpPr>
            <p:cNvPr id="544" name="Google Shape;544;p37"/>
            <p:cNvCxnSpPr/>
            <p:nvPr/>
          </p:nvCxnSpPr>
          <p:spPr>
            <a:xfrm>
              <a:off x="3899" y="1777"/>
              <a:ext cx="190" cy="0"/>
            </a:xfrm>
            <a:prstGeom prst="straightConnector1">
              <a:avLst/>
            </a:prstGeom>
            <a:noFill/>
            <a:ln cap="flat" cmpd="sng" w="28575">
              <a:solidFill>
                <a:schemeClr val="dk1"/>
              </a:solidFill>
              <a:prstDash val="solid"/>
              <a:round/>
              <a:headEnd len="med" w="med" type="none"/>
              <a:tailEnd len="med" w="med" type="triangle"/>
            </a:ln>
          </p:spPr>
        </p:cxnSp>
        <p:cxnSp>
          <p:nvCxnSpPr>
            <p:cNvPr id="545" name="Google Shape;545;p37"/>
            <p:cNvCxnSpPr/>
            <p:nvPr/>
          </p:nvCxnSpPr>
          <p:spPr>
            <a:xfrm flipH="1" rot="10800000">
              <a:off x="4034" y="1959"/>
              <a:ext cx="133" cy="127"/>
            </a:xfrm>
            <a:prstGeom prst="straightConnector1">
              <a:avLst/>
            </a:prstGeom>
            <a:noFill/>
            <a:ln cap="flat" cmpd="sng" w="28575">
              <a:solidFill>
                <a:schemeClr val="dk1"/>
              </a:solidFill>
              <a:prstDash val="solid"/>
              <a:round/>
              <a:headEnd len="med" w="med" type="none"/>
              <a:tailEnd len="med" w="med" type="triangle"/>
            </a:ln>
          </p:spPr>
        </p:cxnSp>
        <p:cxnSp>
          <p:nvCxnSpPr>
            <p:cNvPr id="546" name="Google Shape;546;p37"/>
            <p:cNvCxnSpPr/>
            <p:nvPr/>
          </p:nvCxnSpPr>
          <p:spPr>
            <a:xfrm rot="10800000">
              <a:off x="4610" y="1768"/>
              <a:ext cx="185" cy="0"/>
            </a:xfrm>
            <a:prstGeom prst="straightConnector1">
              <a:avLst/>
            </a:prstGeom>
            <a:noFill/>
            <a:ln cap="flat" cmpd="sng" w="28575">
              <a:solidFill>
                <a:schemeClr val="dk1"/>
              </a:solidFill>
              <a:prstDash val="solid"/>
              <a:round/>
              <a:headEnd len="med" w="med" type="none"/>
              <a:tailEnd len="med" w="med" type="triangle"/>
            </a:ln>
          </p:spPr>
        </p:cxnSp>
        <p:cxnSp>
          <p:nvCxnSpPr>
            <p:cNvPr id="547" name="Google Shape;547;p37"/>
            <p:cNvCxnSpPr/>
            <p:nvPr/>
          </p:nvCxnSpPr>
          <p:spPr>
            <a:xfrm rot="10800000">
              <a:off x="4533" y="1948"/>
              <a:ext cx="135" cy="134"/>
            </a:xfrm>
            <a:prstGeom prst="straightConnector1">
              <a:avLst/>
            </a:prstGeom>
            <a:noFill/>
            <a:ln cap="flat" cmpd="sng" w="28575">
              <a:solidFill>
                <a:schemeClr val="dk1"/>
              </a:solidFill>
              <a:prstDash val="solid"/>
              <a:round/>
              <a:headEnd len="med" w="med" type="none"/>
              <a:tailEnd len="med" w="med" type="triangle"/>
            </a:ln>
          </p:spPr>
        </p:cxnSp>
        <p:cxnSp>
          <p:nvCxnSpPr>
            <p:cNvPr id="548" name="Google Shape;548;p37"/>
            <p:cNvCxnSpPr/>
            <p:nvPr/>
          </p:nvCxnSpPr>
          <p:spPr>
            <a:xfrm>
              <a:off x="4350" y="2027"/>
              <a:ext cx="0" cy="191"/>
            </a:xfrm>
            <a:prstGeom prst="straightConnector1">
              <a:avLst/>
            </a:prstGeom>
            <a:noFill/>
            <a:ln cap="flat" cmpd="sng" w="28575">
              <a:solidFill>
                <a:schemeClr val="dk1"/>
              </a:solidFill>
              <a:prstDash val="solid"/>
              <a:round/>
              <a:headEnd len="med" w="med" type="triangle"/>
              <a:tailEnd len="med" w="med" type="none"/>
            </a:ln>
          </p:spPr>
        </p:cxnSp>
        <p:cxnSp>
          <p:nvCxnSpPr>
            <p:cNvPr id="549" name="Google Shape;549;p37"/>
            <p:cNvCxnSpPr/>
            <p:nvPr/>
          </p:nvCxnSpPr>
          <p:spPr>
            <a:xfrm flipH="1">
              <a:off x="4349" y="1127"/>
              <a:ext cx="1" cy="114"/>
            </a:xfrm>
            <a:prstGeom prst="straightConnector1">
              <a:avLst/>
            </a:prstGeom>
            <a:noFill/>
            <a:ln cap="flat" cmpd="sng" w="28575">
              <a:solidFill>
                <a:schemeClr val="dk1"/>
              </a:solidFill>
              <a:prstDash val="solid"/>
              <a:round/>
              <a:headEnd len="med" w="med" type="none"/>
              <a:tailEnd len="med" w="med" type="triangle"/>
            </a:ln>
          </p:spPr>
        </p:cxnSp>
        <p:cxnSp>
          <p:nvCxnSpPr>
            <p:cNvPr id="550" name="Google Shape;550;p37"/>
            <p:cNvCxnSpPr/>
            <p:nvPr/>
          </p:nvCxnSpPr>
          <p:spPr>
            <a:xfrm>
              <a:off x="3893" y="1313"/>
              <a:ext cx="83" cy="92"/>
            </a:xfrm>
            <a:prstGeom prst="straightConnector1">
              <a:avLst/>
            </a:prstGeom>
            <a:noFill/>
            <a:ln cap="flat" cmpd="sng" w="28575">
              <a:solidFill>
                <a:schemeClr val="dk1"/>
              </a:solidFill>
              <a:prstDash val="solid"/>
              <a:round/>
              <a:headEnd len="med" w="med" type="none"/>
              <a:tailEnd len="med" w="med" type="triangle"/>
            </a:ln>
          </p:spPr>
        </p:cxnSp>
        <p:cxnSp>
          <p:nvCxnSpPr>
            <p:cNvPr id="551" name="Google Shape;551;p37"/>
            <p:cNvCxnSpPr/>
            <p:nvPr/>
          </p:nvCxnSpPr>
          <p:spPr>
            <a:xfrm flipH="1">
              <a:off x="4722" y="1324"/>
              <a:ext cx="84" cy="74"/>
            </a:xfrm>
            <a:prstGeom prst="straightConnector1">
              <a:avLst/>
            </a:prstGeom>
            <a:noFill/>
            <a:ln cap="flat" cmpd="sng" w="28575">
              <a:solidFill>
                <a:schemeClr val="dk1"/>
              </a:solidFill>
              <a:prstDash val="solid"/>
              <a:round/>
              <a:headEnd len="med" w="med" type="none"/>
              <a:tailEnd len="med" w="med" type="triangle"/>
            </a:ln>
          </p:spPr>
        </p:cxnSp>
        <p:cxnSp>
          <p:nvCxnSpPr>
            <p:cNvPr id="552" name="Google Shape;552;p37"/>
            <p:cNvCxnSpPr/>
            <p:nvPr/>
          </p:nvCxnSpPr>
          <p:spPr>
            <a:xfrm>
              <a:off x="3704" y="1773"/>
              <a:ext cx="113" cy="1"/>
            </a:xfrm>
            <a:prstGeom prst="straightConnector1">
              <a:avLst/>
            </a:prstGeom>
            <a:noFill/>
            <a:ln cap="flat" cmpd="sng" w="28575">
              <a:solidFill>
                <a:schemeClr val="dk1"/>
              </a:solidFill>
              <a:prstDash val="solid"/>
              <a:round/>
              <a:headEnd len="med" w="med" type="none"/>
              <a:tailEnd len="med" w="med" type="triangle"/>
            </a:ln>
          </p:spPr>
        </p:cxnSp>
        <p:cxnSp>
          <p:nvCxnSpPr>
            <p:cNvPr id="553" name="Google Shape;553;p37"/>
            <p:cNvCxnSpPr/>
            <p:nvPr/>
          </p:nvCxnSpPr>
          <p:spPr>
            <a:xfrm flipH="1" rot="10800000">
              <a:off x="3895" y="2144"/>
              <a:ext cx="83" cy="88"/>
            </a:xfrm>
            <a:prstGeom prst="straightConnector1">
              <a:avLst/>
            </a:prstGeom>
            <a:noFill/>
            <a:ln cap="flat" cmpd="sng" w="28575">
              <a:solidFill>
                <a:schemeClr val="dk1"/>
              </a:solidFill>
              <a:prstDash val="solid"/>
              <a:round/>
              <a:headEnd len="med" w="med" type="none"/>
              <a:tailEnd len="med" w="med" type="triangle"/>
            </a:ln>
          </p:spPr>
        </p:cxnSp>
        <p:cxnSp>
          <p:nvCxnSpPr>
            <p:cNvPr id="554" name="Google Shape;554;p37"/>
            <p:cNvCxnSpPr/>
            <p:nvPr/>
          </p:nvCxnSpPr>
          <p:spPr>
            <a:xfrm rot="10800000">
              <a:off x="4868" y="1769"/>
              <a:ext cx="123" cy="0"/>
            </a:xfrm>
            <a:prstGeom prst="straightConnector1">
              <a:avLst/>
            </a:prstGeom>
            <a:noFill/>
            <a:ln cap="flat" cmpd="sng" w="28575">
              <a:solidFill>
                <a:schemeClr val="dk1"/>
              </a:solidFill>
              <a:prstDash val="solid"/>
              <a:round/>
              <a:headEnd len="med" w="med" type="none"/>
              <a:tailEnd len="med" w="med" type="triangle"/>
            </a:ln>
          </p:spPr>
        </p:cxnSp>
        <p:cxnSp>
          <p:nvCxnSpPr>
            <p:cNvPr id="555" name="Google Shape;555;p37"/>
            <p:cNvCxnSpPr/>
            <p:nvPr/>
          </p:nvCxnSpPr>
          <p:spPr>
            <a:xfrm rot="10800000">
              <a:off x="4712" y="2133"/>
              <a:ext cx="91" cy="89"/>
            </a:xfrm>
            <a:prstGeom prst="straightConnector1">
              <a:avLst/>
            </a:prstGeom>
            <a:noFill/>
            <a:ln cap="flat" cmpd="sng" w="28575">
              <a:solidFill>
                <a:schemeClr val="dk1"/>
              </a:solidFill>
              <a:prstDash val="solid"/>
              <a:round/>
              <a:headEnd len="med" w="med" type="none"/>
              <a:tailEnd len="med" w="med" type="triangle"/>
            </a:ln>
          </p:spPr>
        </p:cxnSp>
        <p:cxnSp>
          <p:nvCxnSpPr>
            <p:cNvPr id="556" name="Google Shape;556;p37"/>
            <p:cNvCxnSpPr/>
            <p:nvPr/>
          </p:nvCxnSpPr>
          <p:spPr>
            <a:xfrm flipH="1">
              <a:off x="4351" y="2300"/>
              <a:ext cx="6" cy="113"/>
            </a:xfrm>
            <a:prstGeom prst="straightConnector1">
              <a:avLst/>
            </a:prstGeom>
            <a:noFill/>
            <a:ln cap="flat" cmpd="sng" w="28575">
              <a:solidFill>
                <a:schemeClr val="dk1"/>
              </a:solidFill>
              <a:prstDash val="solid"/>
              <a:round/>
              <a:headEnd len="med" w="med" type="triangle"/>
              <a:tailEnd len="med" w="med" type="none"/>
            </a:ln>
          </p:spPr>
        </p:cxnSp>
      </p:grpSp>
      <p:sp>
        <p:nvSpPr>
          <p:cNvPr id="557" name="Google Shape;557;p37"/>
          <p:cNvSpPr/>
          <p:nvPr/>
        </p:nvSpPr>
        <p:spPr>
          <a:xfrm>
            <a:off x="7696200" y="2116138"/>
            <a:ext cx="690563" cy="1320800"/>
          </a:xfrm>
          <a:custGeom>
            <a:rect b="b" l="l" r="r" t="t"/>
            <a:pathLst>
              <a:path extrusionOk="0" h="751" w="357">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5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58" name="Google Shape;558;p37"/>
          <p:cNvSpPr/>
          <p:nvPr/>
        </p:nvSpPr>
        <p:spPr>
          <a:xfrm>
            <a:off x="7893050" y="1825625"/>
            <a:ext cx="842963" cy="1909763"/>
          </a:xfrm>
          <a:custGeom>
            <a:rect b="b" l="l" r="r" t="t"/>
            <a:pathLst>
              <a:path extrusionOk="0" h="1086" w="43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5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559" name="Google Shape;559;p37"/>
          <p:cNvGrpSpPr/>
          <p:nvPr/>
        </p:nvGrpSpPr>
        <p:grpSpPr>
          <a:xfrm>
            <a:off x="6646863" y="4110038"/>
            <a:ext cx="2070100" cy="2025650"/>
            <a:chOff x="3819" y="2829"/>
            <a:chExt cx="1304" cy="1276"/>
          </a:xfrm>
        </p:grpSpPr>
        <p:grpSp>
          <p:nvGrpSpPr>
            <p:cNvPr id="560" name="Google Shape;560;p37"/>
            <p:cNvGrpSpPr/>
            <p:nvPr/>
          </p:nvGrpSpPr>
          <p:grpSpPr>
            <a:xfrm>
              <a:off x="4260" y="3270"/>
              <a:ext cx="421" cy="418"/>
              <a:chOff x="2171" y="2654"/>
              <a:chExt cx="421" cy="418"/>
            </a:xfrm>
          </p:grpSpPr>
          <p:sp>
            <p:nvSpPr>
              <p:cNvPr id="561" name="Google Shape;561;p37"/>
              <p:cNvSpPr/>
              <p:nvPr/>
            </p:nvSpPr>
            <p:spPr>
              <a:xfrm>
                <a:off x="2174" y="2654"/>
                <a:ext cx="418" cy="418"/>
              </a:xfrm>
              <a:prstGeom prst="ellipse">
                <a:avLst/>
              </a:prstGeom>
              <a:gradFill>
                <a:gsLst>
                  <a:gs pos="0">
                    <a:srgbClr val="767600"/>
                  </a:gs>
                  <a:gs pos="100000">
                    <a:srgbClr val="FFFF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62" name="Google Shape;562;p37"/>
              <p:cNvSpPr txBox="1"/>
              <p:nvPr/>
            </p:nvSpPr>
            <p:spPr>
              <a:xfrm>
                <a:off x="2171" y="2752"/>
                <a:ext cx="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SUN</a:t>
                </a:r>
                <a:endParaRPr/>
              </a:p>
            </p:txBody>
          </p:sp>
        </p:grpSp>
        <p:cxnSp>
          <p:nvCxnSpPr>
            <p:cNvPr id="563" name="Google Shape;563;p37"/>
            <p:cNvCxnSpPr/>
            <p:nvPr/>
          </p:nvCxnSpPr>
          <p:spPr>
            <a:xfrm>
              <a:off x="4470" y="2829"/>
              <a:ext cx="0" cy="438"/>
            </a:xfrm>
            <a:prstGeom prst="straightConnector1">
              <a:avLst/>
            </a:prstGeom>
            <a:noFill/>
            <a:ln cap="flat" cmpd="sng" w="28575">
              <a:solidFill>
                <a:schemeClr val="dk1"/>
              </a:solidFill>
              <a:prstDash val="solid"/>
              <a:round/>
              <a:headEnd len="med" w="med" type="none"/>
              <a:tailEnd len="med" w="med" type="triangle"/>
            </a:ln>
          </p:spPr>
        </p:cxnSp>
        <p:cxnSp>
          <p:nvCxnSpPr>
            <p:cNvPr id="564" name="Google Shape;564;p37"/>
            <p:cNvCxnSpPr/>
            <p:nvPr/>
          </p:nvCxnSpPr>
          <p:spPr>
            <a:xfrm>
              <a:off x="4016" y="3004"/>
              <a:ext cx="306" cy="325"/>
            </a:xfrm>
            <a:prstGeom prst="straightConnector1">
              <a:avLst/>
            </a:prstGeom>
            <a:noFill/>
            <a:ln cap="flat" cmpd="sng" w="28575">
              <a:solidFill>
                <a:schemeClr val="dk1"/>
              </a:solidFill>
              <a:prstDash val="solid"/>
              <a:round/>
              <a:headEnd len="med" w="med" type="none"/>
              <a:tailEnd len="med" w="med" type="triangle"/>
            </a:ln>
          </p:spPr>
        </p:cxnSp>
        <p:cxnSp>
          <p:nvCxnSpPr>
            <p:cNvPr id="565" name="Google Shape;565;p37"/>
            <p:cNvCxnSpPr/>
            <p:nvPr/>
          </p:nvCxnSpPr>
          <p:spPr>
            <a:xfrm flipH="1">
              <a:off x="4624" y="3033"/>
              <a:ext cx="293" cy="298"/>
            </a:xfrm>
            <a:prstGeom prst="straightConnector1">
              <a:avLst/>
            </a:prstGeom>
            <a:noFill/>
            <a:ln cap="flat" cmpd="sng" w="28575">
              <a:solidFill>
                <a:schemeClr val="dk1"/>
              </a:solidFill>
              <a:prstDash val="solid"/>
              <a:round/>
              <a:headEnd len="med" w="med" type="none"/>
              <a:tailEnd len="med" w="med" type="triangle"/>
            </a:ln>
          </p:spPr>
        </p:cxnSp>
        <p:cxnSp>
          <p:nvCxnSpPr>
            <p:cNvPr id="566" name="Google Shape;566;p37"/>
            <p:cNvCxnSpPr/>
            <p:nvPr/>
          </p:nvCxnSpPr>
          <p:spPr>
            <a:xfrm>
              <a:off x="3819" y="3480"/>
              <a:ext cx="447" cy="0"/>
            </a:xfrm>
            <a:prstGeom prst="straightConnector1">
              <a:avLst/>
            </a:prstGeom>
            <a:noFill/>
            <a:ln cap="flat" cmpd="sng" w="28575">
              <a:solidFill>
                <a:schemeClr val="dk1"/>
              </a:solidFill>
              <a:prstDash val="solid"/>
              <a:round/>
              <a:headEnd len="med" w="med" type="none"/>
              <a:tailEnd len="med" w="med" type="triangle"/>
            </a:ln>
          </p:spPr>
        </p:cxnSp>
        <p:cxnSp>
          <p:nvCxnSpPr>
            <p:cNvPr id="567" name="Google Shape;567;p37"/>
            <p:cNvCxnSpPr/>
            <p:nvPr/>
          </p:nvCxnSpPr>
          <p:spPr>
            <a:xfrm flipH="1" rot="10800000">
              <a:off x="4009" y="3629"/>
              <a:ext cx="314" cy="299"/>
            </a:xfrm>
            <a:prstGeom prst="straightConnector1">
              <a:avLst/>
            </a:prstGeom>
            <a:noFill/>
            <a:ln cap="flat" cmpd="sng" w="28575">
              <a:solidFill>
                <a:schemeClr val="dk1"/>
              </a:solidFill>
              <a:prstDash val="solid"/>
              <a:round/>
              <a:headEnd len="med" w="med" type="none"/>
              <a:tailEnd len="med" w="med" type="triangle"/>
            </a:ln>
          </p:spPr>
        </p:cxnSp>
        <p:cxnSp>
          <p:nvCxnSpPr>
            <p:cNvPr id="568" name="Google Shape;568;p37"/>
            <p:cNvCxnSpPr/>
            <p:nvPr/>
          </p:nvCxnSpPr>
          <p:spPr>
            <a:xfrm rot="10800000">
              <a:off x="4675" y="3471"/>
              <a:ext cx="448" cy="0"/>
            </a:xfrm>
            <a:prstGeom prst="straightConnector1">
              <a:avLst/>
            </a:prstGeom>
            <a:noFill/>
            <a:ln cap="flat" cmpd="sng" w="28575">
              <a:solidFill>
                <a:schemeClr val="dk1"/>
              </a:solidFill>
              <a:prstDash val="solid"/>
              <a:round/>
              <a:headEnd len="med" w="med" type="none"/>
              <a:tailEnd len="med" w="med" type="triangle"/>
            </a:ln>
          </p:spPr>
        </p:cxnSp>
        <p:cxnSp>
          <p:nvCxnSpPr>
            <p:cNvPr id="569" name="Google Shape;569;p37"/>
            <p:cNvCxnSpPr/>
            <p:nvPr/>
          </p:nvCxnSpPr>
          <p:spPr>
            <a:xfrm rot="10800000">
              <a:off x="4631" y="3628"/>
              <a:ext cx="298" cy="296"/>
            </a:xfrm>
            <a:prstGeom prst="straightConnector1">
              <a:avLst/>
            </a:prstGeom>
            <a:noFill/>
            <a:ln cap="flat" cmpd="sng" w="28575">
              <a:solidFill>
                <a:schemeClr val="dk1"/>
              </a:solidFill>
              <a:prstDash val="solid"/>
              <a:round/>
              <a:headEnd len="med" w="med" type="none"/>
              <a:tailEnd len="med" w="med" type="triangle"/>
            </a:ln>
          </p:spPr>
        </p:cxnSp>
        <p:cxnSp>
          <p:nvCxnSpPr>
            <p:cNvPr id="570" name="Google Shape;570;p37"/>
            <p:cNvCxnSpPr/>
            <p:nvPr/>
          </p:nvCxnSpPr>
          <p:spPr>
            <a:xfrm>
              <a:off x="4471" y="3685"/>
              <a:ext cx="0" cy="420"/>
            </a:xfrm>
            <a:prstGeom prst="straightConnector1">
              <a:avLst/>
            </a:prstGeom>
            <a:noFill/>
            <a:ln cap="flat" cmpd="sng" w="28575">
              <a:solidFill>
                <a:schemeClr val="dk1"/>
              </a:solidFill>
              <a:prstDash val="solid"/>
              <a:round/>
              <a:headEnd len="med" w="med" type="triangle"/>
              <a:tailEnd len="med" w="med" type="none"/>
            </a:ln>
          </p:spPr>
        </p:cxnSp>
      </p:grpSp>
      <p:sp>
        <p:nvSpPr>
          <p:cNvPr id="571" name="Google Shape;571;p37"/>
          <p:cNvSpPr/>
          <p:nvPr/>
        </p:nvSpPr>
        <p:spPr>
          <a:xfrm>
            <a:off x="7767638" y="4471988"/>
            <a:ext cx="636587" cy="1338262"/>
          </a:xfrm>
          <a:custGeom>
            <a:rect b="b" l="l" r="r" t="t"/>
            <a:pathLst>
              <a:path extrusionOk="0" h="751" w="357">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5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72" name="Google Shape;572;p37"/>
          <p:cNvSpPr/>
          <p:nvPr/>
        </p:nvSpPr>
        <p:spPr>
          <a:xfrm>
            <a:off x="7931150" y="4183063"/>
            <a:ext cx="776288" cy="1935162"/>
          </a:xfrm>
          <a:custGeom>
            <a:rect b="b" l="l" r="r" t="t"/>
            <a:pathLst>
              <a:path extrusionOk="0" h="1086" w="43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5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500"/>
                                        <p:tgtEl>
                                          <p:spTgt spid="537"/>
                                        </p:tgtEl>
                                        <p:attrNameLst>
                                          <p:attrName>ppt_w</p:attrName>
                                        </p:attrNameLst>
                                      </p:cBhvr>
                                      <p:tavLst>
                                        <p:tav fmla="" tm="0">
                                          <p:val>
                                            <p:strVal val="0"/>
                                          </p:val>
                                        </p:tav>
                                        <p:tav fmla="" tm="100000">
                                          <p:val>
                                            <p:strVal val="#ppt_w"/>
                                          </p:val>
                                        </p:tav>
                                      </p:tavLst>
                                    </p:anim>
                                    <p:anim calcmode="lin" valueType="num">
                                      <p:cBhvr additive="base">
                                        <p:cTn dur="500"/>
                                        <p:tgtEl>
                                          <p:spTgt spid="5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500"/>
                                        <p:tgtEl>
                                          <p:spTgt spid="557"/>
                                        </p:tgtEl>
                                        <p:attrNameLst>
                                          <p:attrName>ppt_w</p:attrName>
                                        </p:attrNameLst>
                                      </p:cBhvr>
                                      <p:tavLst>
                                        <p:tav fmla="" tm="0">
                                          <p:val>
                                            <p:strVal val="0"/>
                                          </p:val>
                                        </p:tav>
                                        <p:tav fmla="" tm="100000">
                                          <p:val>
                                            <p:strVal val="#ppt_w"/>
                                          </p:val>
                                        </p:tav>
                                      </p:tavLst>
                                    </p:anim>
                                    <p:anim calcmode="lin" valueType="num">
                                      <p:cBhvr additive="base">
                                        <p:cTn dur="500"/>
                                        <p:tgtEl>
                                          <p:spTgt spid="55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58"/>
                                        </p:tgtEl>
                                        <p:attrNameLst>
                                          <p:attrName>style.visibility</p:attrName>
                                        </p:attrNameLst>
                                      </p:cBhvr>
                                      <p:to>
                                        <p:strVal val="visible"/>
                                      </p:to>
                                    </p:set>
                                    <p:anim calcmode="lin" valueType="num">
                                      <p:cBhvr additive="base">
                                        <p:cTn dur="500"/>
                                        <p:tgtEl>
                                          <p:spTgt spid="558"/>
                                        </p:tgtEl>
                                        <p:attrNameLst>
                                          <p:attrName>ppt_w</p:attrName>
                                        </p:attrNameLst>
                                      </p:cBhvr>
                                      <p:tavLst>
                                        <p:tav fmla="" tm="0">
                                          <p:val>
                                            <p:strVal val="0"/>
                                          </p:val>
                                        </p:tav>
                                        <p:tav fmla="" tm="100000">
                                          <p:val>
                                            <p:strVal val="#ppt_w"/>
                                          </p:val>
                                        </p:tav>
                                      </p:tavLst>
                                    </p:anim>
                                    <p:anim calcmode="lin" valueType="num">
                                      <p:cBhvr additive="base">
                                        <p:cTn dur="500"/>
                                        <p:tgtEl>
                                          <p:spTgt spid="5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500"/>
                                        <p:tgtEl>
                                          <p:spTgt spid="559"/>
                                        </p:tgtEl>
                                        <p:attrNameLst>
                                          <p:attrName>ppt_w</p:attrName>
                                        </p:attrNameLst>
                                      </p:cBhvr>
                                      <p:tavLst>
                                        <p:tav fmla="" tm="0">
                                          <p:val>
                                            <p:strVal val="0"/>
                                          </p:val>
                                        </p:tav>
                                        <p:tav fmla="" tm="100000">
                                          <p:val>
                                            <p:strVal val="#ppt_w"/>
                                          </p:val>
                                        </p:tav>
                                      </p:tavLst>
                                    </p:anim>
                                    <p:anim calcmode="lin" valueType="num">
                                      <p:cBhvr additive="base">
                                        <p:cTn dur="500"/>
                                        <p:tgtEl>
                                          <p:spTgt spid="5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71"/>
                                        </p:tgtEl>
                                        <p:attrNameLst>
                                          <p:attrName>style.visibility</p:attrName>
                                        </p:attrNameLst>
                                      </p:cBhvr>
                                      <p:to>
                                        <p:strVal val="visible"/>
                                      </p:to>
                                    </p:set>
                                    <p:anim calcmode="lin" valueType="num">
                                      <p:cBhvr additive="base">
                                        <p:cTn dur="500"/>
                                        <p:tgtEl>
                                          <p:spTgt spid="571"/>
                                        </p:tgtEl>
                                        <p:attrNameLst>
                                          <p:attrName>ppt_w</p:attrName>
                                        </p:attrNameLst>
                                      </p:cBhvr>
                                      <p:tavLst>
                                        <p:tav fmla="" tm="0">
                                          <p:val>
                                            <p:strVal val="0"/>
                                          </p:val>
                                        </p:tav>
                                        <p:tav fmla="" tm="100000">
                                          <p:val>
                                            <p:strVal val="#ppt_w"/>
                                          </p:val>
                                        </p:tav>
                                      </p:tavLst>
                                    </p:anim>
                                    <p:anim calcmode="lin" valueType="num">
                                      <p:cBhvr additive="base">
                                        <p:cTn dur="500"/>
                                        <p:tgtEl>
                                          <p:spTgt spid="5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ppt_w</p:attrName>
                                        </p:attrNameLst>
                                      </p:cBhvr>
                                      <p:tavLst>
                                        <p:tav fmla="" tm="0">
                                          <p:val>
                                            <p:strVal val="0"/>
                                          </p:val>
                                        </p:tav>
                                        <p:tav fmla="" tm="100000">
                                          <p:val>
                                            <p:strVal val="#ppt_w"/>
                                          </p:val>
                                        </p:tav>
                                      </p:tavLst>
                                    </p:anim>
                                    <p:anim calcmode="lin" valueType="num">
                                      <p:cBhvr additive="base">
                                        <p:cTn dur="500"/>
                                        <p:tgtEl>
                                          <p:spTgt spid="5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8"/>
          <p:cNvSpPr/>
          <p:nvPr/>
        </p:nvSpPr>
        <p:spPr>
          <a:xfrm>
            <a:off x="673100" y="2022475"/>
            <a:ext cx="7772400" cy="3684588"/>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Sketch the gravitational field about the earth (a) as viewed from far away, and (b) as viewed “locally” (at the surface).</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a:t>
            </a:r>
            <a:endParaRPr/>
          </a:p>
        </p:txBody>
      </p:sp>
      <p:sp>
        <p:nvSpPr>
          <p:cNvPr id="579" name="Google Shape;579;p38"/>
          <p:cNvSpPr/>
          <p:nvPr/>
        </p:nvSpPr>
        <p:spPr>
          <a:xfrm>
            <a:off x="684213" y="5662613"/>
            <a:ext cx="7775575" cy="119538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 </a:t>
            </a: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Note that the closer to the surface we are, the more uniform the field concentration.</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At the surface, the field lines are approx. parallel!</a:t>
            </a:r>
            <a:endParaRPr/>
          </a:p>
        </p:txBody>
      </p:sp>
      <p:sp>
        <p:nvSpPr>
          <p:cNvPr id="580" name="Google Shape;580;p38"/>
          <p:cNvSpPr/>
          <p:nvPr/>
        </p:nvSpPr>
        <p:spPr>
          <a:xfrm>
            <a:off x="685800" y="1549400"/>
            <a:ext cx="7772400" cy="473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p:txBody>
      </p:sp>
      <p:sp>
        <p:nvSpPr>
          <p:cNvPr id="581" name="Google Shape;581;p3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grpSp>
        <p:nvGrpSpPr>
          <p:cNvPr id="582" name="Google Shape;582;p38"/>
          <p:cNvGrpSpPr/>
          <p:nvPr/>
        </p:nvGrpSpPr>
        <p:grpSpPr>
          <a:xfrm>
            <a:off x="1030288" y="3536950"/>
            <a:ext cx="2070100" cy="2025650"/>
            <a:chOff x="4186" y="2578"/>
            <a:chExt cx="1304" cy="1276"/>
          </a:xfrm>
        </p:grpSpPr>
        <p:cxnSp>
          <p:nvCxnSpPr>
            <p:cNvPr id="583" name="Google Shape;583;p38"/>
            <p:cNvCxnSpPr/>
            <p:nvPr/>
          </p:nvCxnSpPr>
          <p:spPr>
            <a:xfrm>
              <a:off x="4837" y="2578"/>
              <a:ext cx="0" cy="438"/>
            </a:xfrm>
            <a:prstGeom prst="straightConnector1">
              <a:avLst/>
            </a:prstGeom>
            <a:noFill/>
            <a:ln cap="flat" cmpd="sng" w="28575">
              <a:solidFill>
                <a:schemeClr val="dk1"/>
              </a:solidFill>
              <a:prstDash val="solid"/>
              <a:round/>
              <a:headEnd len="med" w="med" type="none"/>
              <a:tailEnd len="med" w="med" type="none"/>
            </a:ln>
          </p:spPr>
        </p:cxnSp>
        <p:cxnSp>
          <p:nvCxnSpPr>
            <p:cNvPr id="584" name="Google Shape;584;p38"/>
            <p:cNvCxnSpPr/>
            <p:nvPr/>
          </p:nvCxnSpPr>
          <p:spPr>
            <a:xfrm>
              <a:off x="4383" y="2753"/>
              <a:ext cx="306" cy="325"/>
            </a:xfrm>
            <a:prstGeom prst="straightConnector1">
              <a:avLst/>
            </a:prstGeom>
            <a:noFill/>
            <a:ln cap="flat" cmpd="sng" w="28575">
              <a:solidFill>
                <a:schemeClr val="dk1"/>
              </a:solidFill>
              <a:prstDash val="solid"/>
              <a:round/>
              <a:headEnd len="med" w="med" type="none"/>
              <a:tailEnd len="med" w="med" type="none"/>
            </a:ln>
          </p:spPr>
        </p:cxnSp>
        <p:cxnSp>
          <p:nvCxnSpPr>
            <p:cNvPr id="585" name="Google Shape;585;p38"/>
            <p:cNvCxnSpPr/>
            <p:nvPr/>
          </p:nvCxnSpPr>
          <p:spPr>
            <a:xfrm flipH="1">
              <a:off x="4991" y="2782"/>
              <a:ext cx="293" cy="298"/>
            </a:xfrm>
            <a:prstGeom prst="straightConnector1">
              <a:avLst/>
            </a:prstGeom>
            <a:noFill/>
            <a:ln cap="flat" cmpd="sng" w="28575">
              <a:solidFill>
                <a:schemeClr val="dk1"/>
              </a:solidFill>
              <a:prstDash val="solid"/>
              <a:round/>
              <a:headEnd len="med" w="med" type="none"/>
              <a:tailEnd len="med" w="med" type="none"/>
            </a:ln>
          </p:spPr>
        </p:cxnSp>
        <p:cxnSp>
          <p:nvCxnSpPr>
            <p:cNvPr id="586" name="Google Shape;586;p38"/>
            <p:cNvCxnSpPr/>
            <p:nvPr/>
          </p:nvCxnSpPr>
          <p:spPr>
            <a:xfrm>
              <a:off x="4186" y="3229"/>
              <a:ext cx="447" cy="0"/>
            </a:xfrm>
            <a:prstGeom prst="straightConnector1">
              <a:avLst/>
            </a:prstGeom>
            <a:noFill/>
            <a:ln cap="flat" cmpd="sng" w="28575">
              <a:solidFill>
                <a:schemeClr val="dk1"/>
              </a:solidFill>
              <a:prstDash val="solid"/>
              <a:round/>
              <a:headEnd len="med" w="med" type="none"/>
              <a:tailEnd len="med" w="med" type="none"/>
            </a:ln>
          </p:spPr>
        </p:cxnSp>
        <p:cxnSp>
          <p:nvCxnSpPr>
            <p:cNvPr id="587" name="Google Shape;587;p38"/>
            <p:cNvCxnSpPr/>
            <p:nvPr/>
          </p:nvCxnSpPr>
          <p:spPr>
            <a:xfrm flipH="1" rot="10800000">
              <a:off x="4376" y="3378"/>
              <a:ext cx="314" cy="299"/>
            </a:xfrm>
            <a:prstGeom prst="straightConnector1">
              <a:avLst/>
            </a:prstGeom>
            <a:noFill/>
            <a:ln cap="flat" cmpd="sng" w="28575">
              <a:solidFill>
                <a:schemeClr val="dk1"/>
              </a:solidFill>
              <a:prstDash val="solid"/>
              <a:round/>
              <a:headEnd len="med" w="med" type="none"/>
              <a:tailEnd len="med" w="med" type="none"/>
            </a:ln>
          </p:spPr>
        </p:cxnSp>
        <p:cxnSp>
          <p:nvCxnSpPr>
            <p:cNvPr id="588" name="Google Shape;588;p38"/>
            <p:cNvCxnSpPr/>
            <p:nvPr/>
          </p:nvCxnSpPr>
          <p:spPr>
            <a:xfrm rot="10800000">
              <a:off x="5042" y="3220"/>
              <a:ext cx="448" cy="0"/>
            </a:xfrm>
            <a:prstGeom prst="straightConnector1">
              <a:avLst/>
            </a:prstGeom>
            <a:noFill/>
            <a:ln cap="flat" cmpd="sng" w="28575">
              <a:solidFill>
                <a:schemeClr val="dk1"/>
              </a:solidFill>
              <a:prstDash val="solid"/>
              <a:round/>
              <a:headEnd len="med" w="med" type="none"/>
              <a:tailEnd len="med" w="med" type="none"/>
            </a:ln>
          </p:spPr>
        </p:cxnSp>
        <p:cxnSp>
          <p:nvCxnSpPr>
            <p:cNvPr id="589" name="Google Shape;589;p38"/>
            <p:cNvCxnSpPr/>
            <p:nvPr/>
          </p:nvCxnSpPr>
          <p:spPr>
            <a:xfrm rot="10800000">
              <a:off x="4998" y="3377"/>
              <a:ext cx="298" cy="296"/>
            </a:xfrm>
            <a:prstGeom prst="straightConnector1">
              <a:avLst/>
            </a:prstGeom>
            <a:noFill/>
            <a:ln cap="flat" cmpd="sng" w="28575">
              <a:solidFill>
                <a:schemeClr val="dk1"/>
              </a:solidFill>
              <a:prstDash val="solid"/>
              <a:round/>
              <a:headEnd len="med" w="med" type="none"/>
              <a:tailEnd len="med" w="med" type="none"/>
            </a:ln>
          </p:spPr>
        </p:cxnSp>
        <p:cxnSp>
          <p:nvCxnSpPr>
            <p:cNvPr id="590" name="Google Shape;590;p38"/>
            <p:cNvCxnSpPr/>
            <p:nvPr/>
          </p:nvCxnSpPr>
          <p:spPr>
            <a:xfrm>
              <a:off x="4838" y="3434"/>
              <a:ext cx="0" cy="420"/>
            </a:xfrm>
            <a:prstGeom prst="straightConnector1">
              <a:avLst/>
            </a:prstGeom>
            <a:noFill/>
            <a:ln cap="flat" cmpd="sng" w="28575">
              <a:solidFill>
                <a:schemeClr val="dk1"/>
              </a:solidFill>
              <a:prstDash val="solid"/>
              <a:round/>
              <a:headEnd len="med" w="med" type="none"/>
              <a:tailEnd len="med" w="med" type="none"/>
            </a:ln>
          </p:spPr>
        </p:cxnSp>
        <p:cxnSp>
          <p:nvCxnSpPr>
            <p:cNvPr id="591" name="Google Shape;591;p38"/>
            <p:cNvCxnSpPr/>
            <p:nvPr/>
          </p:nvCxnSpPr>
          <p:spPr>
            <a:xfrm flipH="1">
              <a:off x="4837" y="2725"/>
              <a:ext cx="1" cy="114"/>
            </a:xfrm>
            <a:prstGeom prst="straightConnector1">
              <a:avLst/>
            </a:prstGeom>
            <a:noFill/>
            <a:ln cap="flat" cmpd="sng" w="28575">
              <a:solidFill>
                <a:schemeClr val="dk1"/>
              </a:solidFill>
              <a:prstDash val="solid"/>
              <a:round/>
              <a:headEnd len="med" w="med" type="none"/>
              <a:tailEnd len="med" w="med" type="triangle"/>
            </a:ln>
          </p:spPr>
        </p:cxnSp>
        <p:cxnSp>
          <p:nvCxnSpPr>
            <p:cNvPr id="592" name="Google Shape;592;p38"/>
            <p:cNvCxnSpPr/>
            <p:nvPr/>
          </p:nvCxnSpPr>
          <p:spPr>
            <a:xfrm>
              <a:off x="4489" y="2861"/>
              <a:ext cx="83" cy="92"/>
            </a:xfrm>
            <a:prstGeom prst="straightConnector1">
              <a:avLst/>
            </a:prstGeom>
            <a:noFill/>
            <a:ln cap="flat" cmpd="sng" w="28575">
              <a:solidFill>
                <a:schemeClr val="dk1"/>
              </a:solidFill>
              <a:prstDash val="solid"/>
              <a:round/>
              <a:headEnd len="med" w="med" type="none"/>
              <a:tailEnd len="med" w="med" type="triangle"/>
            </a:ln>
          </p:spPr>
        </p:cxnSp>
        <p:cxnSp>
          <p:nvCxnSpPr>
            <p:cNvPr id="593" name="Google Shape;593;p38"/>
            <p:cNvCxnSpPr/>
            <p:nvPr/>
          </p:nvCxnSpPr>
          <p:spPr>
            <a:xfrm flipH="1">
              <a:off x="5104" y="2876"/>
              <a:ext cx="84" cy="74"/>
            </a:xfrm>
            <a:prstGeom prst="straightConnector1">
              <a:avLst/>
            </a:prstGeom>
            <a:noFill/>
            <a:ln cap="flat" cmpd="sng" w="28575">
              <a:solidFill>
                <a:schemeClr val="dk1"/>
              </a:solidFill>
              <a:prstDash val="solid"/>
              <a:round/>
              <a:headEnd len="med" w="med" type="none"/>
              <a:tailEnd len="med" w="med" type="triangle"/>
            </a:ln>
          </p:spPr>
        </p:cxnSp>
        <p:cxnSp>
          <p:nvCxnSpPr>
            <p:cNvPr id="594" name="Google Shape;594;p38"/>
            <p:cNvCxnSpPr/>
            <p:nvPr/>
          </p:nvCxnSpPr>
          <p:spPr>
            <a:xfrm>
              <a:off x="4336" y="3225"/>
              <a:ext cx="113" cy="1"/>
            </a:xfrm>
            <a:prstGeom prst="straightConnector1">
              <a:avLst/>
            </a:prstGeom>
            <a:noFill/>
            <a:ln cap="flat" cmpd="sng" w="28575">
              <a:solidFill>
                <a:schemeClr val="dk1"/>
              </a:solidFill>
              <a:prstDash val="solid"/>
              <a:round/>
              <a:headEnd len="med" w="med" type="none"/>
              <a:tailEnd len="med" w="med" type="triangle"/>
            </a:ln>
          </p:spPr>
        </p:cxnSp>
        <p:cxnSp>
          <p:nvCxnSpPr>
            <p:cNvPr id="595" name="Google Shape;595;p38"/>
            <p:cNvCxnSpPr/>
            <p:nvPr/>
          </p:nvCxnSpPr>
          <p:spPr>
            <a:xfrm flipH="1" rot="10800000">
              <a:off x="4477" y="3496"/>
              <a:ext cx="83" cy="88"/>
            </a:xfrm>
            <a:prstGeom prst="straightConnector1">
              <a:avLst/>
            </a:prstGeom>
            <a:noFill/>
            <a:ln cap="flat" cmpd="sng" w="28575">
              <a:solidFill>
                <a:schemeClr val="dk1"/>
              </a:solidFill>
              <a:prstDash val="solid"/>
              <a:round/>
              <a:headEnd len="med" w="med" type="none"/>
              <a:tailEnd len="med" w="med" type="triangle"/>
            </a:ln>
          </p:spPr>
        </p:cxnSp>
        <p:cxnSp>
          <p:nvCxnSpPr>
            <p:cNvPr id="596" name="Google Shape;596;p38"/>
            <p:cNvCxnSpPr/>
            <p:nvPr/>
          </p:nvCxnSpPr>
          <p:spPr>
            <a:xfrm rot="10800000">
              <a:off x="5212" y="3221"/>
              <a:ext cx="123" cy="0"/>
            </a:xfrm>
            <a:prstGeom prst="straightConnector1">
              <a:avLst/>
            </a:prstGeom>
            <a:noFill/>
            <a:ln cap="flat" cmpd="sng" w="28575">
              <a:solidFill>
                <a:schemeClr val="dk1"/>
              </a:solidFill>
              <a:prstDash val="solid"/>
              <a:round/>
              <a:headEnd len="med" w="med" type="none"/>
              <a:tailEnd len="med" w="med" type="triangle"/>
            </a:ln>
          </p:spPr>
        </p:cxnSp>
        <p:cxnSp>
          <p:nvCxnSpPr>
            <p:cNvPr id="597" name="Google Shape;597;p38"/>
            <p:cNvCxnSpPr/>
            <p:nvPr/>
          </p:nvCxnSpPr>
          <p:spPr>
            <a:xfrm rot="10800000">
              <a:off x="5104" y="3489"/>
              <a:ext cx="91" cy="89"/>
            </a:xfrm>
            <a:prstGeom prst="straightConnector1">
              <a:avLst/>
            </a:prstGeom>
            <a:noFill/>
            <a:ln cap="flat" cmpd="sng" w="28575">
              <a:solidFill>
                <a:schemeClr val="dk1"/>
              </a:solidFill>
              <a:prstDash val="solid"/>
              <a:round/>
              <a:headEnd len="med" w="med" type="none"/>
              <a:tailEnd len="med" w="med" type="triangle"/>
            </a:ln>
          </p:spPr>
        </p:cxnSp>
        <p:cxnSp>
          <p:nvCxnSpPr>
            <p:cNvPr id="598" name="Google Shape;598;p38"/>
            <p:cNvCxnSpPr/>
            <p:nvPr/>
          </p:nvCxnSpPr>
          <p:spPr>
            <a:xfrm flipH="1">
              <a:off x="4833" y="3602"/>
              <a:ext cx="6" cy="113"/>
            </a:xfrm>
            <a:prstGeom prst="straightConnector1">
              <a:avLst/>
            </a:prstGeom>
            <a:noFill/>
            <a:ln cap="flat" cmpd="sng" w="28575">
              <a:solidFill>
                <a:schemeClr val="dk1"/>
              </a:solidFill>
              <a:prstDash val="solid"/>
              <a:round/>
              <a:headEnd len="med" w="med" type="triangle"/>
              <a:tailEnd len="med" w="med" type="none"/>
            </a:ln>
          </p:spPr>
        </p:cxnSp>
        <p:pic>
          <p:nvPicPr>
            <p:cNvPr descr="Earth view-white background" id="599" name="Google Shape;599;p38"/>
            <p:cNvPicPr preferRelativeResize="0"/>
            <p:nvPr/>
          </p:nvPicPr>
          <p:blipFill rotWithShape="1">
            <a:blip r:embed="rId3">
              <a:alphaModFix/>
            </a:blip>
            <a:srcRect b="0" l="0" r="0" t="0"/>
            <a:stretch/>
          </p:blipFill>
          <p:spPr>
            <a:xfrm>
              <a:off x="4616" y="3013"/>
              <a:ext cx="437" cy="423"/>
            </a:xfrm>
            <a:prstGeom prst="rect">
              <a:avLst/>
            </a:prstGeom>
            <a:noFill/>
            <a:ln>
              <a:noFill/>
            </a:ln>
          </p:spPr>
        </p:pic>
      </p:grpSp>
      <p:pic>
        <p:nvPicPr>
          <p:cNvPr descr="Earth view-white background" id="600" name="Google Shape;600;p38"/>
          <p:cNvPicPr preferRelativeResize="0"/>
          <p:nvPr/>
        </p:nvPicPr>
        <p:blipFill rotWithShape="1">
          <a:blip r:embed="rId4">
            <a:alphaModFix/>
          </a:blip>
          <a:srcRect b="88928" l="18044" r="17902" t="0"/>
          <a:stretch/>
        </p:blipFill>
        <p:spPr>
          <a:xfrm>
            <a:off x="3017838" y="3792538"/>
            <a:ext cx="5392737" cy="903287"/>
          </a:xfrm>
          <a:prstGeom prst="rect">
            <a:avLst/>
          </a:prstGeom>
          <a:noFill/>
          <a:ln>
            <a:noFill/>
          </a:ln>
        </p:spPr>
      </p:pic>
      <p:sp>
        <p:nvSpPr>
          <p:cNvPr id="601" name="Google Shape;601;p38"/>
          <p:cNvSpPr/>
          <p:nvPr/>
        </p:nvSpPr>
        <p:spPr>
          <a:xfrm>
            <a:off x="2152650" y="3952875"/>
            <a:ext cx="566738" cy="1192213"/>
          </a:xfrm>
          <a:custGeom>
            <a:rect b="b" l="l" r="r" t="t"/>
            <a:pathLst>
              <a:path extrusionOk="0" h="751" w="357">
                <a:moveTo>
                  <a:pt x="95" y="0"/>
                </a:moveTo>
                <a:lnTo>
                  <a:pt x="0" y="189"/>
                </a:lnTo>
                <a:lnTo>
                  <a:pt x="51" y="204"/>
                </a:lnTo>
                <a:lnTo>
                  <a:pt x="102" y="240"/>
                </a:lnTo>
                <a:lnTo>
                  <a:pt x="146" y="299"/>
                </a:lnTo>
                <a:lnTo>
                  <a:pt x="160" y="379"/>
                </a:lnTo>
                <a:lnTo>
                  <a:pt x="146" y="466"/>
                </a:lnTo>
                <a:lnTo>
                  <a:pt x="102" y="539"/>
                </a:lnTo>
                <a:lnTo>
                  <a:pt x="29" y="583"/>
                </a:lnTo>
                <a:lnTo>
                  <a:pt x="124" y="751"/>
                </a:lnTo>
                <a:lnTo>
                  <a:pt x="240" y="671"/>
                </a:lnTo>
                <a:lnTo>
                  <a:pt x="335" y="532"/>
                </a:lnTo>
                <a:lnTo>
                  <a:pt x="357" y="372"/>
                </a:lnTo>
                <a:lnTo>
                  <a:pt x="328" y="219"/>
                </a:lnTo>
                <a:lnTo>
                  <a:pt x="240" y="95"/>
                </a:lnTo>
                <a:lnTo>
                  <a:pt x="95" y="0"/>
                </a:lnTo>
                <a:close/>
              </a:path>
            </a:pathLst>
          </a:custGeom>
          <a:solidFill>
            <a:srgbClr val="FF0000">
              <a:alpha val="3450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02" name="Google Shape;602;p38"/>
          <p:cNvSpPr/>
          <p:nvPr/>
        </p:nvSpPr>
        <p:spPr>
          <a:xfrm>
            <a:off x="2300288" y="3686175"/>
            <a:ext cx="717550" cy="1724025"/>
          </a:xfrm>
          <a:custGeom>
            <a:rect b="b" l="l" r="r" t="t"/>
            <a:pathLst>
              <a:path extrusionOk="0" h="1086" w="436">
                <a:moveTo>
                  <a:pt x="79" y="0"/>
                </a:moveTo>
                <a:lnTo>
                  <a:pt x="0" y="168"/>
                </a:lnTo>
                <a:lnTo>
                  <a:pt x="80" y="211"/>
                </a:lnTo>
                <a:lnTo>
                  <a:pt x="138" y="262"/>
                </a:lnTo>
                <a:lnTo>
                  <a:pt x="225" y="394"/>
                </a:lnTo>
                <a:lnTo>
                  <a:pt x="254" y="540"/>
                </a:lnTo>
                <a:lnTo>
                  <a:pt x="232" y="707"/>
                </a:lnTo>
                <a:lnTo>
                  <a:pt x="137" y="831"/>
                </a:lnTo>
                <a:lnTo>
                  <a:pt x="21" y="919"/>
                </a:lnTo>
                <a:lnTo>
                  <a:pt x="108" y="1086"/>
                </a:lnTo>
                <a:lnTo>
                  <a:pt x="276" y="963"/>
                </a:lnTo>
                <a:lnTo>
                  <a:pt x="400" y="773"/>
                </a:lnTo>
                <a:lnTo>
                  <a:pt x="436" y="547"/>
                </a:lnTo>
                <a:lnTo>
                  <a:pt x="400" y="328"/>
                </a:lnTo>
                <a:lnTo>
                  <a:pt x="269" y="131"/>
                </a:lnTo>
                <a:lnTo>
                  <a:pt x="79" y="0"/>
                </a:lnTo>
                <a:close/>
              </a:path>
            </a:pathLst>
          </a:custGeom>
          <a:solidFill>
            <a:srgbClr val="33CC33">
              <a:alpha val="4352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03" name="Google Shape;603;p38"/>
          <p:cNvSpPr/>
          <p:nvPr/>
        </p:nvSpPr>
        <p:spPr>
          <a:xfrm>
            <a:off x="5495925" y="3290888"/>
            <a:ext cx="3000375" cy="1300162"/>
          </a:xfrm>
          <a:custGeom>
            <a:rect b="b" l="l" r="r" t="t"/>
            <a:pathLst>
              <a:path extrusionOk="0" h="819" w="1890">
                <a:moveTo>
                  <a:pt x="156" y="0"/>
                </a:moveTo>
                <a:lnTo>
                  <a:pt x="324" y="6"/>
                </a:lnTo>
                <a:lnTo>
                  <a:pt x="520" y="17"/>
                </a:lnTo>
                <a:lnTo>
                  <a:pt x="716" y="46"/>
                </a:lnTo>
                <a:lnTo>
                  <a:pt x="883" y="81"/>
                </a:lnTo>
                <a:lnTo>
                  <a:pt x="1051" y="127"/>
                </a:lnTo>
                <a:lnTo>
                  <a:pt x="1208" y="183"/>
                </a:lnTo>
                <a:lnTo>
                  <a:pt x="1370" y="251"/>
                </a:lnTo>
                <a:lnTo>
                  <a:pt x="1515" y="320"/>
                </a:lnTo>
                <a:lnTo>
                  <a:pt x="1655" y="394"/>
                </a:lnTo>
                <a:lnTo>
                  <a:pt x="1788" y="476"/>
                </a:lnTo>
                <a:lnTo>
                  <a:pt x="1890" y="559"/>
                </a:lnTo>
                <a:lnTo>
                  <a:pt x="1715" y="819"/>
                </a:lnTo>
                <a:lnTo>
                  <a:pt x="1635" y="752"/>
                </a:lnTo>
                <a:lnTo>
                  <a:pt x="1496" y="663"/>
                </a:lnTo>
                <a:lnTo>
                  <a:pt x="1398" y="599"/>
                </a:lnTo>
                <a:lnTo>
                  <a:pt x="1247" y="536"/>
                </a:lnTo>
                <a:lnTo>
                  <a:pt x="1107" y="481"/>
                </a:lnTo>
                <a:lnTo>
                  <a:pt x="956" y="420"/>
                </a:lnTo>
                <a:lnTo>
                  <a:pt x="816" y="381"/>
                </a:lnTo>
                <a:lnTo>
                  <a:pt x="654" y="342"/>
                </a:lnTo>
                <a:lnTo>
                  <a:pt x="486" y="320"/>
                </a:lnTo>
                <a:lnTo>
                  <a:pt x="322" y="313"/>
                </a:lnTo>
                <a:lnTo>
                  <a:pt x="169" y="313"/>
                </a:lnTo>
                <a:lnTo>
                  <a:pt x="16" y="313"/>
                </a:lnTo>
                <a:lnTo>
                  <a:pt x="0" y="12"/>
                </a:lnTo>
                <a:lnTo>
                  <a:pt x="156" y="0"/>
                </a:lnTo>
                <a:close/>
              </a:path>
            </a:pathLst>
          </a:custGeom>
          <a:solidFill>
            <a:srgbClr val="FF0000">
              <a:alpha val="2470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04" name="Google Shape;604;p38"/>
          <p:cNvSpPr/>
          <p:nvPr/>
        </p:nvSpPr>
        <p:spPr>
          <a:xfrm>
            <a:off x="5475288" y="2806700"/>
            <a:ext cx="3328987" cy="1344613"/>
          </a:xfrm>
          <a:custGeom>
            <a:rect b="b" l="l" r="r" t="t"/>
            <a:pathLst>
              <a:path extrusionOk="0" h="803" w="1890">
                <a:moveTo>
                  <a:pt x="156" y="0"/>
                </a:moveTo>
                <a:lnTo>
                  <a:pt x="324" y="6"/>
                </a:lnTo>
                <a:lnTo>
                  <a:pt x="520" y="17"/>
                </a:lnTo>
                <a:lnTo>
                  <a:pt x="716" y="45"/>
                </a:lnTo>
                <a:lnTo>
                  <a:pt x="883" y="79"/>
                </a:lnTo>
                <a:lnTo>
                  <a:pt x="1051" y="125"/>
                </a:lnTo>
                <a:lnTo>
                  <a:pt x="1208" y="179"/>
                </a:lnTo>
                <a:lnTo>
                  <a:pt x="1370" y="246"/>
                </a:lnTo>
                <a:lnTo>
                  <a:pt x="1515" y="314"/>
                </a:lnTo>
                <a:lnTo>
                  <a:pt x="1655" y="386"/>
                </a:lnTo>
                <a:lnTo>
                  <a:pt x="1788" y="467"/>
                </a:lnTo>
                <a:lnTo>
                  <a:pt x="1890" y="548"/>
                </a:lnTo>
                <a:lnTo>
                  <a:pt x="1715" y="803"/>
                </a:lnTo>
                <a:lnTo>
                  <a:pt x="1635" y="737"/>
                </a:lnTo>
                <a:lnTo>
                  <a:pt x="1496" y="650"/>
                </a:lnTo>
                <a:lnTo>
                  <a:pt x="1392" y="588"/>
                </a:lnTo>
                <a:lnTo>
                  <a:pt x="1247" y="526"/>
                </a:lnTo>
                <a:lnTo>
                  <a:pt x="1107" y="465"/>
                </a:lnTo>
                <a:lnTo>
                  <a:pt x="967" y="403"/>
                </a:lnTo>
                <a:lnTo>
                  <a:pt x="816" y="369"/>
                </a:lnTo>
                <a:lnTo>
                  <a:pt x="657" y="336"/>
                </a:lnTo>
                <a:lnTo>
                  <a:pt x="486" y="314"/>
                </a:lnTo>
                <a:lnTo>
                  <a:pt x="322" y="307"/>
                </a:lnTo>
                <a:lnTo>
                  <a:pt x="169" y="307"/>
                </a:lnTo>
                <a:lnTo>
                  <a:pt x="16" y="307"/>
                </a:lnTo>
                <a:lnTo>
                  <a:pt x="0" y="12"/>
                </a:lnTo>
                <a:lnTo>
                  <a:pt x="156" y="0"/>
                </a:lnTo>
                <a:close/>
              </a:path>
            </a:pathLst>
          </a:custGeom>
          <a:solidFill>
            <a:srgbClr val="33CC33">
              <a:alpha val="24705"/>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05" name="Google Shape;605;p38"/>
          <p:cNvSpPr txBox="1"/>
          <p:nvPr/>
        </p:nvSpPr>
        <p:spPr>
          <a:xfrm>
            <a:off x="3565525" y="3629025"/>
            <a:ext cx="5572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(b)</a:t>
            </a:r>
            <a:endParaRPr/>
          </a:p>
        </p:txBody>
      </p:sp>
      <p:sp>
        <p:nvSpPr>
          <p:cNvPr id="606" name="Google Shape;606;p38"/>
          <p:cNvSpPr txBox="1"/>
          <p:nvPr/>
        </p:nvSpPr>
        <p:spPr>
          <a:xfrm>
            <a:off x="3616325" y="4954588"/>
            <a:ext cx="4556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or</a:t>
            </a:r>
            <a:endParaRPr/>
          </a:p>
        </p:txBody>
      </p:sp>
      <p:pic>
        <p:nvPicPr>
          <p:cNvPr id="607" name="Google Shape;607;p38"/>
          <p:cNvPicPr preferRelativeResize="0"/>
          <p:nvPr/>
        </p:nvPicPr>
        <p:blipFill rotWithShape="1">
          <a:blip r:embed="rId5">
            <a:alphaModFix/>
          </a:blip>
          <a:srcRect b="0" l="0" r="0" t="0"/>
          <a:stretch/>
        </p:blipFill>
        <p:spPr>
          <a:xfrm>
            <a:off x="4732338" y="5046663"/>
            <a:ext cx="3000375" cy="647700"/>
          </a:xfrm>
          <a:prstGeom prst="rect">
            <a:avLst/>
          </a:prstGeom>
          <a:noFill/>
          <a:ln>
            <a:noFill/>
          </a:ln>
        </p:spPr>
      </p:pic>
      <p:cxnSp>
        <p:nvCxnSpPr>
          <p:cNvPr id="608" name="Google Shape;608;p38"/>
          <p:cNvCxnSpPr/>
          <p:nvPr/>
        </p:nvCxnSpPr>
        <p:spPr>
          <a:xfrm rot="5400000">
            <a:off x="4474369" y="5218906"/>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09" name="Google Shape;609;p38"/>
          <p:cNvCxnSpPr/>
          <p:nvPr/>
        </p:nvCxnSpPr>
        <p:spPr>
          <a:xfrm rot="5400000">
            <a:off x="4779169" y="5214144"/>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0" name="Google Shape;610;p38"/>
          <p:cNvCxnSpPr/>
          <p:nvPr/>
        </p:nvCxnSpPr>
        <p:spPr>
          <a:xfrm rot="5400000">
            <a:off x="5083969" y="5237956"/>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1" name="Google Shape;611;p38"/>
          <p:cNvCxnSpPr/>
          <p:nvPr/>
        </p:nvCxnSpPr>
        <p:spPr>
          <a:xfrm rot="5400000">
            <a:off x="5388769" y="5233194"/>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2" name="Google Shape;612;p38"/>
          <p:cNvCxnSpPr/>
          <p:nvPr/>
        </p:nvCxnSpPr>
        <p:spPr>
          <a:xfrm rot="5400000">
            <a:off x="5693569" y="5228431"/>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3" name="Google Shape;613;p38"/>
          <p:cNvCxnSpPr/>
          <p:nvPr/>
        </p:nvCxnSpPr>
        <p:spPr>
          <a:xfrm rot="5400000">
            <a:off x="5998369" y="5237956"/>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4" name="Google Shape;614;p38"/>
          <p:cNvCxnSpPr/>
          <p:nvPr/>
        </p:nvCxnSpPr>
        <p:spPr>
          <a:xfrm rot="5400000">
            <a:off x="6303169" y="5233194"/>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5" name="Google Shape;615;p38"/>
          <p:cNvCxnSpPr/>
          <p:nvPr/>
        </p:nvCxnSpPr>
        <p:spPr>
          <a:xfrm rot="5400000">
            <a:off x="6607969" y="5228431"/>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6" name="Google Shape;616;p38"/>
          <p:cNvCxnSpPr/>
          <p:nvPr/>
        </p:nvCxnSpPr>
        <p:spPr>
          <a:xfrm rot="5400000">
            <a:off x="6912769" y="5237956"/>
            <a:ext cx="787400" cy="1588"/>
          </a:xfrm>
          <a:prstGeom prst="straightConnector1">
            <a:avLst/>
          </a:prstGeom>
          <a:noFill/>
          <a:ln cap="flat" cmpd="sng" w="19050">
            <a:solidFill>
              <a:srgbClr val="FF0000"/>
            </a:solidFill>
            <a:prstDash val="solid"/>
            <a:round/>
            <a:headEnd len="sm" w="sm" type="none"/>
            <a:tailEnd len="med" w="med" type="stealth"/>
          </a:ln>
        </p:spPr>
      </p:cxnSp>
      <p:cxnSp>
        <p:nvCxnSpPr>
          <p:cNvPr id="617" name="Google Shape;617;p38"/>
          <p:cNvCxnSpPr/>
          <p:nvPr/>
        </p:nvCxnSpPr>
        <p:spPr>
          <a:xfrm rot="5400000">
            <a:off x="7217569" y="5233194"/>
            <a:ext cx="787400" cy="1588"/>
          </a:xfrm>
          <a:prstGeom prst="straightConnector1">
            <a:avLst/>
          </a:prstGeom>
          <a:noFill/>
          <a:ln cap="flat" cmpd="sng" w="19050">
            <a:solidFill>
              <a:srgbClr val="FF0000"/>
            </a:solidFill>
            <a:prstDash val="solid"/>
            <a:round/>
            <a:headEnd len="sm" w="sm" type="none"/>
            <a:tailEnd len="med" w="med" type="stealth"/>
          </a:ln>
        </p:spPr>
      </p:cxnSp>
      <p:sp>
        <p:nvSpPr>
          <p:cNvPr id="618" name="Google Shape;618;p38"/>
          <p:cNvSpPr/>
          <p:nvPr/>
        </p:nvSpPr>
        <p:spPr>
          <a:xfrm>
            <a:off x="4454525" y="5227638"/>
            <a:ext cx="3563938" cy="525462"/>
          </a:xfrm>
          <a:prstGeom prst="rect">
            <a:avLst/>
          </a:prstGeom>
          <a:solidFill>
            <a:srgbClr val="FF0000">
              <a:alpha val="24705"/>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19" name="Google Shape;619;p38"/>
          <p:cNvSpPr/>
          <p:nvPr/>
        </p:nvSpPr>
        <p:spPr>
          <a:xfrm>
            <a:off x="4464050" y="4803775"/>
            <a:ext cx="3568700" cy="434975"/>
          </a:xfrm>
          <a:prstGeom prst="rect">
            <a:avLst/>
          </a:prstGeom>
          <a:solidFill>
            <a:srgbClr val="33CC33">
              <a:alpha val="24705"/>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0">
                                            <p:txEl>
                                              <p:pRg end="0" st="0"/>
                                            </p:txEl>
                                          </p:spTgt>
                                        </p:tgtEl>
                                        <p:attrNameLst>
                                          <p:attrName>style.visibility</p:attrName>
                                        </p:attrNameLst>
                                      </p:cBhvr>
                                      <p:to>
                                        <p:strVal val="visible"/>
                                      </p:to>
                                    </p:set>
                                    <p:anim calcmode="lin" valueType="num">
                                      <p:cBhvr additive="base">
                                        <p:cTn dur="500"/>
                                        <p:tgtEl>
                                          <p:spTgt spid="58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anim calcmode="lin" valueType="num">
                                      <p:cBhvr additive="base">
                                        <p:cTn dur="500"/>
                                        <p:tgtEl>
                                          <p:spTgt spid="5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anim calcmode="lin" valueType="num">
                                      <p:cBhvr additive="base">
                                        <p:cTn dur="500"/>
                                        <p:tgtEl>
                                          <p:spTgt spid="5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anim calcmode="lin" valueType="num">
                                      <p:cBhvr additive="base">
                                        <p:cTn dur="500"/>
                                        <p:tgtEl>
                                          <p:spTgt spid="5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20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5"/>
                                        </p:tgtEl>
                                        <p:attrNameLst>
                                          <p:attrName>style.visibility</p:attrName>
                                        </p:attrNameLst>
                                      </p:cBhvr>
                                      <p:to>
                                        <p:strVal val="visible"/>
                                      </p:to>
                                    </p:set>
                                    <p:anim calcmode="lin" valueType="num">
                                      <p:cBhvr additive="base">
                                        <p:cTn dur="500"/>
                                        <p:tgtEl>
                                          <p:spTgt spid="6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0"/>
                                        </p:tgtEl>
                                        <p:attrNameLst>
                                          <p:attrName>style.visibility</p:attrName>
                                        </p:attrNameLst>
                                      </p:cBhvr>
                                      <p:to>
                                        <p:strVal val="visible"/>
                                      </p:to>
                                    </p:set>
                                    <p:anim calcmode="lin" valueType="num">
                                      <p:cBhvr additive="base">
                                        <p:cTn dur="500"/>
                                        <p:tgtEl>
                                          <p:spTgt spid="600"/>
                                        </p:tgtEl>
                                        <p:attrNameLst>
                                          <p:attrName>ppt_w</p:attrName>
                                        </p:attrNameLst>
                                      </p:cBhvr>
                                      <p:tavLst>
                                        <p:tav fmla="" tm="0">
                                          <p:val>
                                            <p:strVal val="0"/>
                                          </p:val>
                                        </p:tav>
                                        <p:tav fmla="" tm="100000">
                                          <p:val>
                                            <p:strVal val="#ppt_w"/>
                                          </p:val>
                                        </p:tav>
                                      </p:tavLst>
                                    </p:anim>
                                    <p:anim calcmode="lin" valueType="num">
                                      <p:cBhvr additive="base">
                                        <p:cTn dur="500"/>
                                        <p:tgtEl>
                                          <p:spTgt spid="6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6"/>
                                        </p:tgtEl>
                                        <p:attrNameLst>
                                          <p:attrName>style.visibility</p:attrName>
                                        </p:attrNameLst>
                                      </p:cBhvr>
                                      <p:to>
                                        <p:strVal val="visible"/>
                                      </p:to>
                                    </p:set>
                                    <p:anim calcmode="lin" valueType="num">
                                      <p:cBhvr additive="base">
                                        <p:cTn dur="500"/>
                                        <p:tgtEl>
                                          <p:spTgt spid="6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7"/>
                                        </p:tgtEl>
                                        <p:attrNameLst>
                                          <p:attrName>style.visibility</p:attrName>
                                        </p:attrNameLst>
                                      </p:cBhvr>
                                      <p:to>
                                        <p:strVal val="visible"/>
                                      </p:to>
                                    </p:set>
                                    <p:anim calcmode="lin" valueType="num">
                                      <p:cBhvr additive="base">
                                        <p:cTn dur="500"/>
                                        <p:tgtEl>
                                          <p:spTgt spid="607"/>
                                        </p:tgtEl>
                                        <p:attrNameLst>
                                          <p:attrName>ppt_w</p:attrName>
                                        </p:attrNameLst>
                                      </p:cBhvr>
                                      <p:tavLst>
                                        <p:tav fmla="" tm="0">
                                          <p:val>
                                            <p:strVal val="0"/>
                                          </p:val>
                                        </p:tav>
                                        <p:tav fmla="" tm="100000">
                                          <p:val>
                                            <p:strVal val="#ppt_w"/>
                                          </p:val>
                                        </p:tav>
                                      </p:tavLst>
                                    </p:anim>
                                    <p:anim calcmode="lin" valueType="num">
                                      <p:cBhvr additive="base">
                                        <p:cTn dur="500"/>
                                        <p:tgtEl>
                                          <p:spTgt spid="6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xEl>
                                              <p:pRg end="0" st="0"/>
                                            </p:txEl>
                                          </p:spTgt>
                                        </p:tgtEl>
                                        <p:attrNameLst>
                                          <p:attrName>style.visibility</p:attrName>
                                        </p:attrNameLst>
                                      </p:cBhvr>
                                      <p:to>
                                        <p:strVal val="visible"/>
                                      </p:to>
                                    </p:set>
                                    <p:animEffect filter="fade" transition="in">
                                      <p:cBhvr>
                                        <p:cTn dur="500"/>
                                        <p:tgtEl>
                                          <p:spTgt spid="5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xEl>
                                              <p:pRg end="1" st="1"/>
                                            </p:txEl>
                                          </p:spTgt>
                                        </p:tgtEl>
                                        <p:attrNameLst>
                                          <p:attrName>style.visibility</p:attrName>
                                        </p:attrNameLst>
                                      </p:cBhvr>
                                      <p:to>
                                        <p:strVal val="visible"/>
                                      </p:to>
                                    </p:set>
                                    <p:animEffect filter="fade" transition="in">
                                      <p:cBhvr>
                                        <p:cTn dur="500"/>
                                        <p:tgtEl>
                                          <p:spTgt spid="5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1"/>
                                        </p:tgtEl>
                                        <p:attrNameLst>
                                          <p:attrName>style.visibility</p:attrName>
                                        </p:attrNameLst>
                                      </p:cBhvr>
                                      <p:to>
                                        <p:strVal val="visible"/>
                                      </p:to>
                                    </p:set>
                                    <p:anim calcmode="lin" valueType="num">
                                      <p:cBhvr additive="base">
                                        <p:cTn dur="500"/>
                                        <p:tgtEl>
                                          <p:spTgt spid="601"/>
                                        </p:tgtEl>
                                        <p:attrNameLst>
                                          <p:attrName>ppt_w</p:attrName>
                                        </p:attrNameLst>
                                      </p:cBhvr>
                                      <p:tavLst>
                                        <p:tav fmla="" tm="0">
                                          <p:val>
                                            <p:strVal val="0"/>
                                          </p:val>
                                        </p:tav>
                                        <p:tav fmla="" tm="100000">
                                          <p:val>
                                            <p:strVal val="#ppt_w"/>
                                          </p:val>
                                        </p:tav>
                                      </p:tavLst>
                                    </p:anim>
                                    <p:anim calcmode="lin" valueType="num">
                                      <p:cBhvr additive="base">
                                        <p:cTn dur="500"/>
                                        <p:tgtEl>
                                          <p:spTgt spid="60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2"/>
                                        </p:tgtEl>
                                        <p:attrNameLst>
                                          <p:attrName>style.visibility</p:attrName>
                                        </p:attrNameLst>
                                      </p:cBhvr>
                                      <p:to>
                                        <p:strVal val="visible"/>
                                      </p:to>
                                    </p:set>
                                    <p:anim calcmode="lin" valueType="num">
                                      <p:cBhvr additive="base">
                                        <p:cTn dur="500"/>
                                        <p:tgtEl>
                                          <p:spTgt spid="602"/>
                                        </p:tgtEl>
                                        <p:attrNameLst>
                                          <p:attrName>ppt_w</p:attrName>
                                        </p:attrNameLst>
                                      </p:cBhvr>
                                      <p:tavLst>
                                        <p:tav fmla="" tm="0">
                                          <p:val>
                                            <p:strVal val="0"/>
                                          </p:val>
                                        </p:tav>
                                        <p:tav fmla="" tm="100000">
                                          <p:val>
                                            <p:strVal val="#ppt_w"/>
                                          </p:val>
                                        </p:tav>
                                      </p:tavLst>
                                    </p:anim>
                                    <p:anim calcmode="lin" valueType="num">
                                      <p:cBhvr additive="base">
                                        <p:cTn dur="500"/>
                                        <p:tgtEl>
                                          <p:spTgt spid="60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3"/>
                                        </p:tgtEl>
                                        <p:attrNameLst>
                                          <p:attrName>style.visibility</p:attrName>
                                        </p:attrNameLst>
                                      </p:cBhvr>
                                      <p:to>
                                        <p:strVal val="visible"/>
                                      </p:to>
                                    </p:set>
                                    <p:anim calcmode="lin" valueType="num">
                                      <p:cBhvr additive="base">
                                        <p:cTn dur="500"/>
                                        <p:tgtEl>
                                          <p:spTgt spid="603"/>
                                        </p:tgtEl>
                                        <p:attrNameLst>
                                          <p:attrName>ppt_w</p:attrName>
                                        </p:attrNameLst>
                                      </p:cBhvr>
                                      <p:tavLst>
                                        <p:tav fmla="" tm="0">
                                          <p:val>
                                            <p:strVal val="0"/>
                                          </p:val>
                                        </p:tav>
                                        <p:tav fmla="" tm="100000">
                                          <p:val>
                                            <p:strVal val="#ppt_w"/>
                                          </p:val>
                                        </p:tav>
                                      </p:tavLst>
                                    </p:anim>
                                    <p:anim calcmode="lin" valueType="num">
                                      <p:cBhvr additive="base">
                                        <p:cTn dur="500"/>
                                        <p:tgtEl>
                                          <p:spTgt spid="60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04"/>
                                        </p:tgtEl>
                                        <p:attrNameLst>
                                          <p:attrName>style.visibility</p:attrName>
                                        </p:attrNameLst>
                                      </p:cBhvr>
                                      <p:to>
                                        <p:strVal val="visible"/>
                                      </p:to>
                                    </p:set>
                                    <p:anim calcmode="lin" valueType="num">
                                      <p:cBhvr additive="base">
                                        <p:cTn dur="500"/>
                                        <p:tgtEl>
                                          <p:spTgt spid="604"/>
                                        </p:tgtEl>
                                        <p:attrNameLst>
                                          <p:attrName>ppt_w</p:attrName>
                                        </p:attrNameLst>
                                      </p:cBhvr>
                                      <p:tavLst>
                                        <p:tav fmla="" tm="0">
                                          <p:val>
                                            <p:strVal val="0"/>
                                          </p:val>
                                        </p:tav>
                                        <p:tav fmla="" tm="100000">
                                          <p:val>
                                            <p:strVal val="#ppt_w"/>
                                          </p:val>
                                        </p:tav>
                                      </p:tavLst>
                                    </p:anim>
                                    <p:anim calcmode="lin" valueType="num">
                                      <p:cBhvr additive="base">
                                        <p:cTn dur="500"/>
                                        <p:tgtEl>
                                          <p:spTgt spid="6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18"/>
                                        </p:tgtEl>
                                        <p:attrNameLst>
                                          <p:attrName>style.visibility</p:attrName>
                                        </p:attrNameLst>
                                      </p:cBhvr>
                                      <p:to>
                                        <p:strVal val="visible"/>
                                      </p:to>
                                    </p:set>
                                    <p:anim calcmode="lin" valueType="num">
                                      <p:cBhvr additive="base">
                                        <p:cTn dur="500"/>
                                        <p:tgtEl>
                                          <p:spTgt spid="618"/>
                                        </p:tgtEl>
                                        <p:attrNameLst>
                                          <p:attrName>ppt_w</p:attrName>
                                        </p:attrNameLst>
                                      </p:cBhvr>
                                      <p:tavLst>
                                        <p:tav fmla="" tm="0">
                                          <p:val>
                                            <p:strVal val="0"/>
                                          </p:val>
                                        </p:tav>
                                        <p:tav fmla="" tm="100000">
                                          <p:val>
                                            <p:strVal val="#ppt_w"/>
                                          </p:val>
                                        </p:tav>
                                      </p:tavLst>
                                    </p:anim>
                                    <p:anim calcmode="lin" valueType="num">
                                      <p:cBhvr additive="base">
                                        <p:cTn dur="500"/>
                                        <p:tgtEl>
                                          <p:spTgt spid="6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ppt_w</p:attrName>
                                        </p:attrNameLst>
                                      </p:cBhvr>
                                      <p:tavLst>
                                        <p:tav fmla="" tm="0">
                                          <p:val>
                                            <p:strVal val="0"/>
                                          </p:val>
                                        </p:tav>
                                        <p:tav fmla="" tm="100000">
                                          <p:val>
                                            <p:strVal val="#ppt_w"/>
                                          </p:val>
                                        </p:tav>
                                      </p:tavLst>
                                    </p:anim>
                                    <p:anim calcmode="lin" valueType="num">
                                      <p:cBhvr additive="base">
                                        <p:cTn dur="500"/>
                                        <p:tgtEl>
                                          <p:spTgt spid="61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9"/>
          <p:cNvSpPr/>
          <p:nvPr/>
        </p:nvSpPr>
        <p:spPr>
          <a:xfrm>
            <a:off x="685800" y="1549400"/>
            <a:ext cx="7772400" cy="4730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p:txBody>
      </p:sp>
      <p:sp>
        <p:nvSpPr>
          <p:cNvPr id="626" name="Google Shape;626;p3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627" name="Google Shape;627;p39"/>
          <p:cNvSpPr/>
          <p:nvPr/>
        </p:nvSpPr>
        <p:spPr>
          <a:xfrm>
            <a:off x="687388" y="2019300"/>
            <a:ext cx="7772400" cy="48387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Find the gravitational field strength at a point between the earth and the moon that is right between their centers.</a:t>
            </a:r>
            <a:endParaRPr/>
          </a:p>
          <a:p>
            <a:pPr indent="0" lvl="0" marL="0" marR="0" rtl="0" algn="l">
              <a:spcBef>
                <a:spcPts val="120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∙Make a sketch.</a:t>
            </a:r>
            <a:endParaRPr/>
          </a:p>
          <a:p>
            <a:pPr indent="0" lvl="0" marL="0" marR="0" rtl="0" algn="l">
              <a:spcBef>
                <a:spcPts val="720"/>
              </a:spcBef>
              <a:spcAft>
                <a:spcPts val="0"/>
              </a:spcAft>
              <a:buNone/>
            </a:pPr>
            <a:r>
              <a:rPr lang="en-US" sz="2400">
                <a:solidFill>
                  <a:schemeClr val="dk1"/>
                </a:solidFill>
                <a:latin typeface="Arial"/>
                <a:ea typeface="Arial"/>
                <a:cs typeface="Arial"/>
                <a:sym typeface="Arial"/>
              </a:rPr>
              <a:t>∙Note that </a:t>
            </a: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d / </a:t>
            </a:r>
            <a:r>
              <a:rPr lang="en-US" sz="2400">
                <a:solidFill>
                  <a:schemeClr val="dk1"/>
                </a:solidFill>
                <a:latin typeface="Arial"/>
                <a:ea typeface="Arial"/>
                <a:cs typeface="Arial"/>
                <a:sym typeface="Arial"/>
              </a:rPr>
              <a:t>2 = 3.82×10</a:t>
            </a:r>
            <a:r>
              <a:rPr baseline="30000" lang="en-US" sz="2400">
                <a:solidFill>
                  <a:schemeClr val="dk1"/>
                </a:solidFill>
                <a:latin typeface="Arial"/>
                <a:ea typeface="Arial"/>
                <a:cs typeface="Arial"/>
                <a:sym typeface="Arial"/>
              </a:rPr>
              <a:t>8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2 = 1.91 ×10</a:t>
            </a:r>
            <a:r>
              <a:rPr baseline="30000" lang="en-US" sz="2400">
                <a:solidFill>
                  <a:schemeClr val="dk1"/>
                </a:solidFill>
                <a:latin typeface="Arial"/>
                <a:ea typeface="Arial"/>
                <a:cs typeface="Arial"/>
                <a:sym typeface="Arial"/>
              </a:rPr>
              <a:t>8 </a:t>
            </a:r>
            <a:r>
              <a:rPr lang="en-US" sz="2400">
                <a:solidFill>
                  <a:schemeClr val="dk1"/>
                </a:solidFill>
                <a:latin typeface="Arial"/>
                <a:ea typeface="Arial"/>
                <a:cs typeface="Arial"/>
                <a:sym typeface="Arial"/>
              </a:rPr>
              <a:t>m.</a:t>
            </a:r>
            <a:endParaRPr/>
          </a:p>
          <a:p>
            <a:pPr indent="0" lvl="0" marL="0" marR="0" rtl="0" algn="l">
              <a:spcBef>
                <a:spcPts val="440"/>
              </a:spcBef>
              <a:spcAft>
                <a:spcPts val="0"/>
              </a:spcAft>
              <a:buNone/>
            </a:pPr>
            <a:r>
              <a:rPr lang="en-US" sz="2200">
                <a:solidFill>
                  <a:schemeClr val="dk1"/>
                </a:solidFill>
                <a:latin typeface="Arial"/>
                <a:ea typeface="Arial"/>
                <a:cs typeface="Arial"/>
                <a:sym typeface="Arial"/>
              </a:rPr>
              <a:t>∙</a:t>
            </a:r>
            <a:r>
              <a:rPr i="1" lang="en-US" sz="2200">
                <a:solidFill>
                  <a:schemeClr val="dk1"/>
                </a:solidFill>
                <a:latin typeface="Arial"/>
                <a:ea typeface="Arial"/>
                <a:cs typeface="Arial"/>
                <a:sym typeface="Arial"/>
              </a:rPr>
              <a:t>g</a:t>
            </a:r>
            <a:r>
              <a:rPr baseline="-25000"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a:t>
            </a:r>
            <a:r>
              <a:rPr i="1" lang="en-US" sz="2200">
                <a:solidFill>
                  <a:schemeClr val="dk1"/>
                </a:solidFill>
                <a:latin typeface="Arial"/>
                <a:ea typeface="Arial"/>
                <a:cs typeface="Arial"/>
                <a:sym typeface="Arial"/>
              </a:rPr>
              <a:t>Gm /</a:t>
            </a:r>
            <a:r>
              <a:rPr lang="en-US" sz="2200">
                <a:solidFill>
                  <a:schemeClr val="dk1"/>
                </a:solidFill>
                <a:latin typeface="Arial"/>
                <a:ea typeface="Arial"/>
                <a:cs typeface="Arial"/>
                <a:sym typeface="Arial"/>
              </a:rPr>
              <a:t> </a:t>
            </a:r>
            <a:r>
              <a:rPr i="1" lang="en-US" sz="2200">
                <a:solidFill>
                  <a:schemeClr val="dk1"/>
                </a:solidFill>
                <a:latin typeface="Arial"/>
                <a:ea typeface="Arial"/>
                <a:cs typeface="Arial"/>
                <a:sym typeface="Arial"/>
              </a:rPr>
              <a:t>r</a:t>
            </a:r>
            <a:r>
              <a:rPr baseline="30000" lang="en-US" sz="2200">
                <a:solidFill>
                  <a:schemeClr val="dk1"/>
                </a:solidFill>
                <a:latin typeface="Arial"/>
                <a:ea typeface="Arial"/>
                <a:cs typeface="Arial"/>
                <a:sym typeface="Arial"/>
              </a:rPr>
              <a:t> 2</a:t>
            </a:r>
            <a:r>
              <a:rPr lang="en-US" sz="2200">
                <a:solidFill>
                  <a:schemeClr val="dk1"/>
                </a:solidFill>
                <a:latin typeface="Arial"/>
                <a:ea typeface="Arial"/>
                <a:cs typeface="Arial"/>
                <a:sym typeface="Arial"/>
              </a:rPr>
              <a:t> </a:t>
            </a:r>
            <a:endParaRPr/>
          </a:p>
          <a:p>
            <a:pPr indent="0" lvl="0" marL="0" marR="0" rtl="0" algn="l">
              <a:spcBef>
                <a:spcPts val="440"/>
              </a:spcBef>
              <a:spcAft>
                <a:spcPts val="0"/>
              </a:spcAft>
              <a:buNone/>
            </a:pPr>
            <a:r>
              <a:rPr baseline="-25000" i="1" lang="en-US" sz="2200">
                <a:solidFill>
                  <a:schemeClr val="dk1"/>
                </a:solidFill>
                <a:latin typeface="Arial"/>
                <a:ea typeface="Arial"/>
                <a:cs typeface="Arial"/>
                <a:sym typeface="Arial"/>
              </a:rPr>
              <a:t>  </a:t>
            </a:r>
            <a:r>
              <a:rPr i="1" lang="en-US" sz="2200">
                <a:solidFill>
                  <a:schemeClr val="dk1"/>
                </a:solidFill>
                <a:latin typeface="Arial"/>
                <a:ea typeface="Arial"/>
                <a:cs typeface="Arial"/>
                <a:sym typeface="Arial"/>
              </a:rPr>
              <a:t>g</a:t>
            </a:r>
            <a:r>
              <a:rPr baseline="-25000"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(6.67×10</a:t>
            </a:r>
            <a:r>
              <a:rPr baseline="30000" lang="en-US" sz="2200">
                <a:solidFill>
                  <a:schemeClr val="dk1"/>
                </a:solidFill>
                <a:latin typeface="Arial"/>
                <a:ea typeface="Arial"/>
                <a:cs typeface="Arial"/>
                <a:sym typeface="Arial"/>
              </a:rPr>
              <a:t>-11</a:t>
            </a:r>
            <a:r>
              <a:rPr lang="en-US" sz="2200">
                <a:solidFill>
                  <a:schemeClr val="dk1"/>
                </a:solidFill>
                <a:latin typeface="Arial"/>
                <a:ea typeface="Arial"/>
                <a:cs typeface="Arial"/>
                <a:sym typeface="Arial"/>
              </a:rPr>
              <a:t>)(7.36×10</a:t>
            </a:r>
            <a:r>
              <a:rPr baseline="30000" lang="en-US" sz="2200">
                <a:solidFill>
                  <a:schemeClr val="dk1"/>
                </a:solidFill>
                <a:latin typeface="Arial"/>
                <a:ea typeface="Arial"/>
                <a:cs typeface="Arial"/>
                <a:sym typeface="Arial"/>
              </a:rPr>
              <a:t>22</a:t>
            </a:r>
            <a:r>
              <a:rPr lang="en-US" sz="2200">
                <a:solidFill>
                  <a:schemeClr val="dk1"/>
                </a:solidFill>
                <a:latin typeface="Arial"/>
                <a:ea typeface="Arial"/>
                <a:cs typeface="Arial"/>
                <a:sym typeface="Arial"/>
              </a:rPr>
              <a:t>)</a:t>
            </a:r>
            <a:r>
              <a:rPr i="1" lang="en-US" sz="2200">
                <a:solidFill>
                  <a:schemeClr val="dk1"/>
                </a:solidFill>
                <a:latin typeface="Arial"/>
                <a:ea typeface="Arial"/>
                <a:cs typeface="Arial"/>
                <a:sym typeface="Arial"/>
              </a:rPr>
              <a:t>/</a:t>
            </a:r>
            <a:r>
              <a:rPr lang="en-US" sz="2200">
                <a:solidFill>
                  <a:schemeClr val="dk1"/>
                </a:solidFill>
                <a:latin typeface="Arial"/>
                <a:ea typeface="Arial"/>
                <a:cs typeface="Arial"/>
                <a:sym typeface="Arial"/>
              </a:rPr>
              <a:t>(1.91×10</a:t>
            </a:r>
            <a:r>
              <a:rPr baseline="30000" lang="en-US" sz="2200">
                <a:solidFill>
                  <a:schemeClr val="dk1"/>
                </a:solidFill>
                <a:latin typeface="Arial"/>
                <a:ea typeface="Arial"/>
                <a:cs typeface="Arial"/>
                <a:sym typeface="Arial"/>
              </a:rPr>
              <a:t>8</a:t>
            </a:r>
            <a:r>
              <a:rPr lang="en-US" sz="2200">
                <a:solidFill>
                  <a:schemeClr val="dk1"/>
                </a:solidFill>
                <a:latin typeface="Arial"/>
                <a:ea typeface="Arial"/>
                <a:cs typeface="Arial"/>
                <a:sym typeface="Arial"/>
              </a:rPr>
              <a:t>)</a:t>
            </a:r>
            <a:r>
              <a:rPr baseline="30000" lang="en-US" sz="2200">
                <a:solidFill>
                  <a:schemeClr val="dk1"/>
                </a:solidFill>
                <a:latin typeface="Arial"/>
                <a:ea typeface="Arial"/>
                <a:cs typeface="Arial"/>
                <a:sym typeface="Arial"/>
              </a:rPr>
              <a:t>2 </a:t>
            </a:r>
            <a:r>
              <a:rPr lang="en-US" sz="2200">
                <a:solidFill>
                  <a:schemeClr val="dk1"/>
                </a:solidFill>
                <a:latin typeface="Arial"/>
                <a:ea typeface="Arial"/>
                <a:cs typeface="Arial"/>
                <a:sym typeface="Arial"/>
              </a:rPr>
              <a:t>= 1.35×10</a:t>
            </a:r>
            <a:r>
              <a:rPr baseline="30000" lang="en-US" sz="2200">
                <a:solidFill>
                  <a:schemeClr val="dk1"/>
                </a:solidFill>
                <a:latin typeface="Arial"/>
                <a:ea typeface="Arial"/>
                <a:cs typeface="Arial"/>
                <a:sym typeface="Arial"/>
              </a:rPr>
              <a:t>-4 </a:t>
            </a:r>
            <a:r>
              <a:rPr lang="en-US" sz="2200">
                <a:solidFill>
                  <a:schemeClr val="dk1"/>
                </a:solidFill>
                <a:latin typeface="Arial"/>
                <a:ea typeface="Arial"/>
                <a:cs typeface="Arial"/>
                <a:sym typeface="Arial"/>
              </a:rPr>
              <a:t>N</a:t>
            </a:r>
            <a:r>
              <a:rPr baseline="-25000" lang="en-US" sz="2200">
                <a:solidFill>
                  <a:schemeClr val="dk1"/>
                </a:solidFill>
                <a:latin typeface="Arial"/>
                <a:ea typeface="Arial"/>
                <a:cs typeface="Arial"/>
                <a:sym typeface="Arial"/>
              </a:rPr>
              <a:t> </a:t>
            </a:r>
            <a:r>
              <a:rPr lang="en-US" sz="2200">
                <a:solidFill>
                  <a:schemeClr val="dk1"/>
                </a:solidFill>
                <a:latin typeface="Arial"/>
                <a:ea typeface="Arial"/>
                <a:cs typeface="Arial"/>
                <a:sym typeface="Arial"/>
              </a:rPr>
              <a:t>kg</a:t>
            </a:r>
            <a:r>
              <a:rPr baseline="30000" lang="en-US" sz="2200">
                <a:solidFill>
                  <a:schemeClr val="dk1"/>
                </a:solidFill>
                <a:latin typeface="Arial"/>
                <a:ea typeface="Arial"/>
                <a:cs typeface="Arial"/>
                <a:sym typeface="Arial"/>
              </a:rPr>
              <a:t> -1</a:t>
            </a:r>
            <a:endParaRPr sz="2200">
              <a:solidFill>
                <a:schemeClr val="dk1"/>
              </a:solidFill>
              <a:latin typeface="Arial"/>
              <a:ea typeface="Arial"/>
              <a:cs typeface="Arial"/>
              <a:sym typeface="Arial"/>
            </a:endParaRPr>
          </a:p>
          <a:p>
            <a:pPr indent="0" lvl="0" marL="0" marR="0" rtl="0" algn="l">
              <a:spcBef>
                <a:spcPts val="440"/>
              </a:spcBef>
              <a:spcAft>
                <a:spcPts val="0"/>
              </a:spcAft>
              <a:buNone/>
            </a:pPr>
            <a:r>
              <a:rPr lang="en-US" sz="2200">
                <a:solidFill>
                  <a:schemeClr val="dk1"/>
                </a:solidFill>
                <a:latin typeface="Arial"/>
                <a:ea typeface="Arial"/>
                <a:cs typeface="Arial"/>
                <a:sym typeface="Arial"/>
              </a:rPr>
              <a:t>∙</a:t>
            </a:r>
            <a:r>
              <a:rPr i="1" lang="en-US" sz="2200">
                <a:solidFill>
                  <a:schemeClr val="dk1"/>
                </a:solidFill>
                <a:latin typeface="Arial"/>
                <a:ea typeface="Arial"/>
                <a:cs typeface="Arial"/>
                <a:sym typeface="Arial"/>
              </a:rPr>
              <a:t>g</a:t>
            </a:r>
            <a:r>
              <a:rPr baseline="-25000"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a:t>
            </a:r>
            <a:r>
              <a:rPr i="1" lang="en-US" sz="2200">
                <a:solidFill>
                  <a:schemeClr val="dk1"/>
                </a:solidFill>
                <a:latin typeface="Arial"/>
                <a:ea typeface="Arial"/>
                <a:cs typeface="Arial"/>
                <a:sym typeface="Arial"/>
              </a:rPr>
              <a:t>GM /</a:t>
            </a:r>
            <a:r>
              <a:rPr lang="en-US" sz="2200">
                <a:solidFill>
                  <a:schemeClr val="dk1"/>
                </a:solidFill>
                <a:latin typeface="Arial"/>
                <a:ea typeface="Arial"/>
                <a:cs typeface="Arial"/>
                <a:sym typeface="Arial"/>
              </a:rPr>
              <a:t> </a:t>
            </a:r>
            <a:r>
              <a:rPr i="1" lang="en-US" sz="2200">
                <a:solidFill>
                  <a:schemeClr val="dk1"/>
                </a:solidFill>
                <a:latin typeface="Arial"/>
                <a:ea typeface="Arial"/>
                <a:cs typeface="Arial"/>
                <a:sym typeface="Arial"/>
              </a:rPr>
              <a:t>r</a:t>
            </a:r>
            <a:r>
              <a:rPr baseline="30000" lang="en-US" sz="2200">
                <a:solidFill>
                  <a:schemeClr val="dk1"/>
                </a:solidFill>
                <a:latin typeface="Arial"/>
                <a:ea typeface="Arial"/>
                <a:cs typeface="Arial"/>
                <a:sym typeface="Arial"/>
              </a:rPr>
              <a:t> 2</a:t>
            </a:r>
            <a:r>
              <a:rPr lang="en-US" sz="2200">
                <a:solidFill>
                  <a:schemeClr val="dk1"/>
                </a:solidFill>
                <a:latin typeface="Arial"/>
                <a:ea typeface="Arial"/>
                <a:cs typeface="Arial"/>
                <a:sym typeface="Arial"/>
              </a:rPr>
              <a:t> </a:t>
            </a:r>
            <a:endParaRPr/>
          </a:p>
          <a:p>
            <a:pPr indent="0" lvl="0" marL="0" marR="0" rtl="0" algn="l">
              <a:spcBef>
                <a:spcPts val="440"/>
              </a:spcBef>
              <a:spcAft>
                <a:spcPts val="0"/>
              </a:spcAft>
              <a:buNone/>
            </a:pPr>
            <a:r>
              <a:rPr baseline="-25000" i="1" lang="en-US" sz="2200">
                <a:solidFill>
                  <a:schemeClr val="dk1"/>
                </a:solidFill>
                <a:latin typeface="Arial"/>
                <a:ea typeface="Arial"/>
                <a:cs typeface="Arial"/>
                <a:sym typeface="Arial"/>
              </a:rPr>
              <a:t>  </a:t>
            </a:r>
            <a:r>
              <a:rPr i="1" lang="en-US" sz="2200">
                <a:solidFill>
                  <a:schemeClr val="dk1"/>
                </a:solidFill>
                <a:latin typeface="Arial"/>
                <a:ea typeface="Arial"/>
                <a:cs typeface="Arial"/>
                <a:sym typeface="Arial"/>
              </a:rPr>
              <a:t>g</a:t>
            </a:r>
            <a:r>
              <a:rPr baseline="-25000"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(6.67×10</a:t>
            </a:r>
            <a:r>
              <a:rPr baseline="30000" lang="en-US" sz="2200">
                <a:solidFill>
                  <a:schemeClr val="dk1"/>
                </a:solidFill>
                <a:latin typeface="Arial"/>
                <a:ea typeface="Arial"/>
                <a:cs typeface="Arial"/>
                <a:sym typeface="Arial"/>
              </a:rPr>
              <a:t>-11</a:t>
            </a:r>
            <a:r>
              <a:rPr lang="en-US" sz="2200">
                <a:solidFill>
                  <a:schemeClr val="dk1"/>
                </a:solidFill>
                <a:latin typeface="Arial"/>
                <a:ea typeface="Arial"/>
                <a:cs typeface="Arial"/>
                <a:sym typeface="Arial"/>
              </a:rPr>
              <a:t>)(5.98×10</a:t>
            </a:r>
            <a:r>
              <a:rPr baseline="30000" lang="en-US" sz="2200">
                <a:solidFill>
                  <a:schemeClr val="dk1"/>
                </a:solidFill>
                <a:latin typeface="Arial"/>
                <a:ea typeface="Arial"/>
                <a:cs typeface="Arial"/>
                <a:sym typeface="Arial"/>
              </a:rPr>
              <a:t>24</a:t>
            </a:r>
            <a:r>
              <a:rPr lang="en-US" sz="2200">
                <a:solidFill>
                  <a:schemeClr val="dk1"/>
                </a:solidFill>
                <a:latin typeface="Arial"/>
                <a:ea typeface="Arial"/>
                <a:cs typeface="Arial"/>
                <a:sym typeface="Arial"/>
              </a:rPr>
              <a:t>)</a:t>
            </a:r>
            <a:r>
              <a:rPr i="1" lang="en-US" sz="2200">
                <a:solidFill>
                  <a:schemeClr val="dk1"/>
                </a:solidFill>
                <a:latin typeface="Arial"/>
                <a:ea typeface="Arial"/>
                <a:cs typeface="Arial"/>
                <a:sym typeface="Arial"/>
              </a:rPr>
              <a:t>/</a:t>
            </a:r>
            <a:r>
              <a:rPr lang="en-US" sz="2200">
                <a:solidFill>
                  <a:schemeClr val="dk1"/>
                </a:solidFill>
                <a:latin typeface="Arial"/>
                <a:ea typeface="Arial"/>
                <a:cs typeface="Arial"/>
                <a:sym typeface="Arial"/>
              </a:rPr>
              <a:t>(1.91×10</a:t>
            </a:r>
            <a:r>
              <a:rPr baseline="30000" lang="en-US" sz="2200">
                <a:solidFill>
                  <a:schemeClr val="dk1"/>
                </a:solidFill>
                <a:latin typeface="Arial"/>
                <a:ea typeface="Arial"/>
                <a:cs typeface="Arial"/>
                <a:sym typeface="Arial"/>
              </a:rPr>
              <a:t>8</a:t>
            </a:r>
            <a:r>
              <a:rPr lang="en-US" sz="2200">
                <a:solidFill>
                  <a:schemeClr val="dk1"/>
                </a:solidFill>
                <a:latin typeface="Arial"/>
                <a:ea typeface="Arial"/>
                <a:cs typeface="Arial"/>
                <a:sym typeface="Arial"/>
              </a:rPr>
              <a:t>)</a:t>
            </a:r>
            <a:r>
              <a:rPr baseline="30000" lang="en-US" sz="2200">
                <a:solidFill>
                  <a:schemeClr val="dk1"/>
                </a:solidFill>
                <a:latin typeface="Arial"/>
                <a:ea typeface="Arial"/>
                <a:cs typeface="Arial"/>
                <a:sym typeface="Arial"/>
              </a:rPr>
              <a:t>2</a:t>
            </a:r>
            <a:r>
              <a:rPr lang="en-US" sz="2200">
                <a:solidFill>
                  <a:schemeClr val="dk1"/>
                </a:solidFill>
                <a:latin typeface="Arial"/>
                <a:ea typeface="Arial"/>
                <a:cs typeface="Arial"/>
                <a:sym typeface="Arial"/>
              </a:rPr>
              <a:t> = 1.09×10</a:t>
            </a:r>
            <a:r>
              <a:rPr baseline="30000" lang="en-US" sz="2200">
                <a:solidFill>
                  <a:schemeClr val="dk1"/>
                </a:solidFill>
                <a:latin typeface="Arial"/>
                <a:ea typeface="Arial"/>
                <a:cs typeface="Arial"/>
                <a:sym typeface="Arial"/>
              </a:rPr>
              <a:t>-2 </a:t>
            </a:r>
            <a:r>
              <a:rPr lang="en-US" sz="2200">
                <a:solidFill>
                  <a:schemeClr val="dk1"/>
                </a:solidFill>
                <a:latin typeface="Arial"/>
                <a:ea typeface="Arial"/>
                <a:cs typeface="Arial"/>
                <a:sym typeface="Arial"/>
              </a:rPr>
              <a:t>N</a:t>
            </a:r>
            <a:r>
              <a:rPr baseline="-25000" lang="en-US" sz="2200">
                <a:solidFill>
                  <a:schemeClr val="dk1"/>
                </a:solidFill>
                <a:latin typeface="Arial"/>
                <a:ea typeface="Arial"/>
                <a:cs typeface="Arial"/>
                <a:sym typeface="Arial"/>
              </a:rPr>
              <a:t> </a:t>
            </a:r>
            <a:r>
              <a:rPr lang="en-US" sz="2200">
                <a:solidFill>
                  <a:schemeClr val="dk1"/>
                </a:solidFill>
                <a:latin typeface="Arial"/>
                <a:ea typeface="Arial"/>
                <a:cs typeface="Arial"/>
                <a:sym typeface="Arial"/>
              </a:rPr>
              <a:t>kg</a:t>
            </a:r>
            <a:r>
              <a:rPr baseline="30000" lang="en-US" sz="2200">
                <a:solidFill>
                  <a:schemeClr val="dk1"/>
                </a:solidFill>
                <a:latin typeface="Arial"/>
                <a:ea typeface="Arial"/>
                <a:cs typeface="Arial"/>
                <a:sym typeface="Arial"/>
              </a:rPr>
              <a:t> -1</a:t>
            </a:r>
            <a:endParaRPr sz="2200">
              <a:solidFill>
                <a:schemeClr val="dk1"/>
              </a:solidFill>
              <a:latin typeface="Arial"/>
              <a:ea typeface="Arial"/>
              <a:cs typeface="Arial"/>
              <a:sym typeface="Arial"/>
            </a:endParaRPr>
          </a:p>
          <a:p>
            <a:pPr indent="0" lvl="0" marL="0" marR="0" rtl="0" algn="l">
              <a:spcBef>
                <a:spcPts val="440"/>
              </a:spcBef>
              <a:spcAft>
                <a:spcPts val="0"/>
              </a:spcAft>
              <a:buNone/>
            </a:pPr>
            <a:r>
              <a:rPr lang="en-US" sz="2200">
                <a:solidFill>
                  <a:schemeClr val="dk1"/>
                </a:solidFill>
                <a:latin typeface="Arial"/>
                <a:ea typeface="Arial"/>
                <a:cs typeface="Arial"/>
                <a:sym typeface="Arial"/>
              </a:rPr>
              <a:t> ∙Finally, </a:t>
            </a:r>
            <a:r>
              <a:rPr i="1" lang="en-US" sz="2200">
                <a:solidFill>
                  <a:schemeClr val="dk1"/>
                </a:solidFill>
                <a:latin typeface="Arial"/>
                <a:ea typeface="Arial"/>
                <a:cs typeface="Arial"/>
                <a:sym typeface="Arial"/>
              </a:rPr>
              <a:t>g</a:t>
            </a:r>
            <a:r>
              <a:rPr lang="en-US" sz="2200">
                <a:solidFill>
                  <a:schemeClr val="dk1"/>
                </a:solidFill>
                <a:latin typeface="Arial"/>
                <a:ea typeface="Arial"/>
                <a:cs typeface="Arial"/>
                <a:sym typeface="Arial"/>
              </a:rPr>
              <a:t> = </a:t>
            </a:r>
            <a:r>
              <a:rPr i="1" lang="en-US" sz="2200">
                <a:solidFill>
                  <a:schemeClr val="dk1"/>
                </a:solidFill>
                <a:latin typeface="Arial"/>
                <a:ea typeface="Arial"/>
                <a:cs typeface="Arial"/>
                <a:sym typeface="Arial"/>
              </a:rPr>
              <a:t>g</a:t>
            </a:r>
            <a:r>
              <a:rPr baseline="-25000" i="1"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a:t>
            </a:r>
            <a:r>
              <a:rPr i="1" lang="en-US" sz="2200">
                <a:solidFill>
                  <a:schemeClr val="dk1"/>
                </a:solidFill>
                <a:latin typeface="Arial"/>
                <a:ea typeface="Arial"/>
                <a:cs typeface="Arial"/>
                <a:sym typeface="Arial"/>
              </a:rPr>
              <a:t>g</a:t>
            </a:r>
            <a:r>
              <a:rPr baseline="-25000" i="1" lang="en-US" sz="2200">
                <a:solidFill>
                  <a:schemeClr val="dk1"/>
                </a:solidFill>
                <a:latin typeface="Arial"/>
                <a:ea typeface="Arial"/>
                <a:cs typeface="Arial"/>
                <a:sym typeface="Arial"/>
              </a:rPr>
              <a:t>m</a:t>
            </a:r>
            <a:r>
              <a:rPr lang="en-US" sz="2200">
                <a:solidFill>
                  <a:schemeClr val="dk1"/>
                </a:solidFill>
                <a:latin typeface="Arial"/>
                <a:ea typeface="Arial"/>
                <a:cs typeface="Arial"/>
                <a:sym typeface="Arial"/>
              </a:rPr>
              <a:t> = 1.08×10</a:t>
            </a:r>
            <a:r>
              <a:rPr baseline="30000" lang="en-US" sz="2200">
                <a:solidFill>
                  <a:schemeClr val="dk1"/>
                </a:solidFill>
                <a:latin typeface="Arial"/>
                <a:ea typeface="Arial"/>
                <a:cs typeface="Arial"/>
                <a:sym typeface="Arial"/>
              </a:rPr>
              <a:t> -2 </a:t>
            </a:r>
            <a:r>
              <a:rPr lang="en-US" sz="2200">
                <a:solidFill>
                  <a:schemeClr val="dk1"/>
                </a:solidFill>
                <a:latin typeface="Arial"/>
                <a:ea typeface="Arial"/>
                <a:cs typeface="Arial"/>
                <a:sym typeface="Arial"/>
              </a:rPr>
              <a:t>N</a:t>
            </a:r>
            <a:r>
              <a:rPr baseline="-25000" lang="en-US" sz="2200">
                <a:solidFill>
                  <a:schemeClr val="dk1"/>
                </a:solidFill>
                <a:latin typeface="Arial"/>
                <a:ea typeface="Arial"/>
                <a:cs typeface="Arial"/>
                <a:sym typeface="Arial"/>
              </a:rPr>
              <a:t> </a:t>
            </a:r>
            <a:r>
              <a:rPr lang="en-US" sz="2200">
                <a:solidFill>
                  <a:schemeClr val="dk1"/>
                </a:solidFill>
                <a:latin typeface="Arial"/>
                <a:ea typeface="Arial"/>
                <a:cs typeface="Arial"/>
                <a:sym typeface="Arial"/>
              </a:rPr>
              <a:t>kg</a:t>
            </a:r>
            <a:r>
              <a:rPr baseline="30000" lang="en-US" sz="2200">
                <a:solidFill>
                  <a:schemeClr val="dk1"/>
                </a:solidFill>
                <a:latin typeface="Arial"/>
                <a:ea typeface="Arial"/>
                <a:cs typeface="Arial"/>
                <a:sym typeface="Arial"/>
              </a:rPr>
              <a:t> -1</a:t>
            </a:r>
            <a:r>
              <a:rPr lang="en-US" sz="2200">
                <a:solidFill>
                  <a:schemeClr val="dk1"/>
                </a:solidFill>
                <a:latin typeface="Arial"/>
                <a:ea typeface="Arial"/>
                <a:cs typeface="Arial"/>
                <a:sym typeface="Arial"/>
              </a:rPr>
              <a:t>,→</a:t>
            </a:r>
            <a:endParaRPr/>
          </a:p>
        </p:txBody>
      </p:sp>
      <p:pic>
        <p:nvPicPr>
          <p:cNvPr descr="moon-1" id="628" name="Google Shape;628;p39"/>
          <p:cNvPicPr preferRelativeResize="0"/>
          <p:nvPr/>
        </p:nvPicPr>
        <p:blipFill rotWithShape="1">
          <a:blip r:embed="rId3">
            <a:alphaModFix/>
          </a:blip>
          <a:srcRect b="0" l="0" r="0" t="0"/>
          <a:stretch/>
        </p:blipFill>
        <p:spPr>
          <a:xfrm>
            <a:off x="2768600" y="3151188"/>
            <a:ext cx="827088" cy="827087"/>
          </a:xfrm>
          <a:prstGeom prst="rect">
            <a:avLst/>
          </a:prstGeom>
          <a:noFill/>
          <a:ln>
            <a:noFill/>
          </a:ln>
          <a:effectLst>
            <a:outerShdw blurRad="292100" rotWithShape="0" algn="tl" dir="2700000" dist="139700">
              <a:srgbClr val="333333">
                <a:alpha val="64705"/>
              </a:srgbClr>
            </a:outerShdw>
          </a:effectLst>
        </p:spPr>
      </p:pic>
      <p:pic>
        <p:nvPicPr>
          <p:cNvPr descr="Earth view-white background" id="629" name="Google Shape;629;p39"/>
          <p:cNvPicPr preferRelativeResize="0"/>
          <p:nvPr/>
        </p:nvPicPr>
        <p:blipFill rotWithShape="1">
          <a:blip r:embed="rId4">
            <a:alphaModFix/>
          </a:blip>
          <a:srcRect b="0" l="0" r="0" t="0"/>
          <a:stretch/>
        </p:blipFill>
        <p:spPr>
          <a:xfrm>
            <a:off x="7718425" y="2876550"/>
            <a:ext cx="1389063" cy="1344613"/>
          </a:xfrm>
          <a:prstGeom prst="rect">
            <a:avLst/>
          </a:prstGeom>
          <a:noFill/>
          <a:ln>
            <a:noFill/>
          </a:ln>
          <a:effectLst>
            <a:outerShdw blurRad="292100" rotWithShape="0" algn="tl" dir="2700000" dist="139700">
              <a:srgbClr val="333333">
                <a:alpha val="64705"/>
              </a:srgbClr>
            </a:outerShdw>
          </a:effectLst>
        </p:spPr>
      </p:pic>
      <p:cxnSp>
        <p:nvCxnSpPr>
          <p:cNvPr id="630" name="Google Shape;630;p39"/>
          <p:cNvCxnSpPr/>
          <p:nvPr/>
        </p:nvCxnSpPr>
        <p:spPr>
          <a:xfrm>
            <a:off x="3219450" y="3565525"/>
            <a:ext cx="5187950" cy="0"/>
          </a:xfrm>
          <a:prstGeom prst="straightConnector1">
            <a:avLst/>
          </a:prstGeom>
          <a:noFill/>
          <a:ln cap="flat" cmpd="sng" w="19050">
            <a:solidFill>
              <a:srgbClr val="FF0000"/>
            </a:solidFill>
            <a:prstDash val="solid"/>
            <a:round/>
            <a:headEnd len="med" w="med" type="none"/>
            <a:tailEnd len="med" w="med" type="none"/>
          </a:ln>
        </p:spPr>
      </p:cxnSp>
      <p:sp>
        <p:nvSpPr>
          <p:cNvPr id="631" name="Google Shape;631;p39"/>
          <p:cNvSpPr txBox="1"/>
          <p:nvPr/>
        </p:nvSpPr>
        <p:spPr>
          <a:xfrm>
            <a:off x="5722938" y="2713038"/>
            <a:ext cx="2908300" cy="4572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chemeClr val="hlink"/>
                </a:solidFill>
                <a:latin typeface="Arial"/>
                <a:ea typeface="Arial"/>
                <a:cs typeface="Arial"/>
                <a:sym typeface="Arial"/>
              </a:rPr>
              <a:t>M</a:t>
            </a:r>
            <a:r>
              <a:rPr lang="en-US" sz="2400">
                <a:solidFill>
                  <a:schemeClr val="hlink"/>
                </a:solidFill>
                <a:latin typeface="Arial"/>
                <a:ea typeface="Arial"/>
                <a:cs typeface="Arial"/>
                <a:sym typeface="Arial"/>
              </a:rPr>
              <a:t> = 5.98×10</a:t>
            </a:r>
            <a:r>
              <a:rPr baseline="30000" lang="en-US" sz="2400">
                <a:solidFill>
                  <a:schemeClr val="hlink"/>
                </a:solidFill>
                <a:latin typeface="Arial"/>
                <a:ea typeface="Arial"/>
                <a:cs typeface="Arial"/>
                <a:sym typeface="Arial"/>
              </a:rPr>
              <a:t>24</a:t>
            </a:r>
            <a:r>
              <a:rPr lang="en-US" sz="2400">
                <a:solidFill>
                  <a:schemeClr val="hlink"/>
                </a:solidFill>
                <a:latin typeface="Arial"/>
                <a:ea typeface="Arial"/>
                <a:cs typeface="Arial"/>
                <a:sym typeface="Arial"/>
              </a:rPr>
              <a:t> kg</a:t>
            </a:r>
            <a:endParaRPr/>
          </a:p>
        </p:txBody>
      </p:sp>
      <p:sp>
        <p:nvSpPr>
          <p:cNvPr id="632" name="Google Shape;632;p39"/>
          <p:cNvSpPr txBox="1"/>
          <p:nvPr/>
        </p:nvSpPr>
        <p:spPr>
          <a:xfrm>
            <a:off x="3411538" y="3046413"/>
            <a:ext cx="24892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a:t>
            </a:r>
            <a:r>
              <a:rPr lang="en-US" sz="2400">
                <a:solidFill>
                  <a:schemeClr val="hlink"/>
                </a:solidFill>
                <a:latin typeface="Arial"/>
                <a:ea typeface="Arial"/>
                <a:cs typeface="Arial"/>
                <a:sym typeface="Arial"/>
              </a:rPr>
              <a:t> = 7.36×10</a:t>
            </a:r>
            <a:r>
              <a:rPr baseline="30000" lang="en-US" sz="2400">
                <a:solidFill>
                  <a:schemeClr val="hlink"/>
                </a:solidFill>
                <a:latin typeface="Arial"/>
                <a:ea typeface="Arial"/>
                <a:cs typeface="Arial"/>
                <a:sym typeface="Arial"/>
              </a:rPr>
              <a:t>22</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kg</a:t>
            </a:r>
            <a:endParaRPr/>
          </a:p>
        </p:txBody>
      </p:sp>
      <p:sp>
        <p:nvSpPr>
          <p:cNvPr id="633" name="Google Shape;633;p39"/>
          <p:cNvSpPr/>
          <p:nvPr/>
        </p:nvSpPr>
        <p:spPr>
          <a:xfrm>
            <a:off x="3216275" y="3552825"/>
            <a:ext cx="5208588" cy="446088"/>
          </a:xfrm>
          <a:custGeom>
            <a:rect b="b" l="l" r="r" t="t"/>
            <a:pathLst>
              <a:path extrusionOk="0" h="416" w="3281">
                <a:moveTo>
                  <a:pt x="0" y="0"/>
                </a:moveTo>
                <a:lnTo>
                  <a:pt x="0" y="416"/>
                </a:lnTo>
                <a:lnTo>
                  <a:pt x="3281" y="416"/>
                </a:lnTo>
                <a:lnTo>
                  <a:pt x="3281" y="0"/>
                </a:lnTo>
              </a:path>
            </a:pathLst>
          </a:custGeom>
          <a:noFill/>
          <a:ln cap="flat" cmpd="sng" w="19050">
            <a:solidFill>
              <a:srgbClr val="FF0000"/>
            </a:solidFill>
            <a:prstDash val="dash"/>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34" name="Google Shape;634;p39"/>
          <p:cNvSpPr/>
          <p:nvPr/>
        </p:nvSpPr>
        <p:spPr>
          <a:xfrm>
            <a:off x="5773738" y="3508375"/>
            <a:ext cx="115887" cy="115888"/>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635" name="Google Shape;635;p39"/>
          <p:cNvCxnSpPr/>
          <p:nvPr/>
        </p:nvCxnSpPr>
        <p:spPr>
          <a:xfrm>
            <a:off x="5819775" y="3565525"/>
            <a:ext cx="741363" cy="0"/>
          </a:xfrm>
          <a:prstGeom prst="straightConnector1">
            <a:avLst/>
          </a:prstGeom>
          <a:noFill/>
          <a:ln cap="flat" cmpd="sng" w="57150">
            <a:solidFill>
              <a:schemeClr val="dk1"/>
            </a:solidFill>
            <a:prstDash val="solid"/>
            <a:round/>
            <a:headEnd len="med" w="med" type="none"/>
            <a:tailEnd len="med" w="med" type="triangle"/>
          </a:ln>
        </p:spPr>
      </p:cxnSp>
      <p:cxnSp>
        <p:nvCxnSpPr>
          <p:cNvPr id="636" name="Google Shape;636;p39"/>
          <p:cNvCxnSpPr/>
          <p:nvPr/>
        </p:nvCxnSpPr>
        <p:spPr>
          <a:xfrm>
            <a:off x="5332413" y="3562350"/>
            <a:ext cx="487362" cy="0"/>
          </a:xfrm>
          <a:prstGeom prst="straightConnector1">
            <a:avLst/>
          </a:prstGeom>
          <a:noFill/>
          <a:ln cap="flat" cmpd="sng" w="57150">
            <a:solidFill>
              <a:schemeClr val="dk1"/>
            </a:solidFill>
            <a:prstDash val="solid"/>
            <a:round/>
            <a:headEnd len="med" w="med" type="triangle"/>
            <a:tailEnd len="med" w="med" type="none"/>
          </a:ln>
        </p:spPr>
      </p:cxnSp>
      <p:sp>
        <p:nvSpPr>
          <p:cNvPr id="637" name="Google Shape;637;p39"/>
          <p:cNvSpPr txBox="1"/>
          <p:nvPr/>
        </p:nvSpPr>
        <p:spPr>
          <a:xfrm>
            <a:off x="6410325" y="3430588"/>
            <a:ext cx="5238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baseline="-25000" lang="en-US" sz="2400">
                <a:solidFill>
                  <a:schemeClr val="dk1"/>
                </a:solidFill>
                <a:latin typeface="Arial"/>
                <a:ea typeface="Arial"/>
                <a:cs typeface="Arial"/>
                <a:sym typeface="Arial"/>
              </a:rPr>
              <a:t>M</a:t>
            </a:r>
            <a:endParaRPr i="1" sz="2400">
              <a:solidFill>
                <a:schemeClr val="dk1"/>
              </a:solidFill>
              <a:latin typeface="Arial"/>
              <a:ea typeface="Arial"/>
              <a:cs typeface="Arial"/>
              <a:sym typeface="Arial"/>
            </a:endParaRPr>
          </a:p>
        </p:txBody>
      </p:sp>
      <p:sp>
        <p:nvSpPr>
          <p:cNvPr id="638" name="Google Shape;638;p39"/>
          <p:cNvSpPr txBox="1"/>
          <p:nvPr/>
        </p:nvSpPr>
        <p:spPr>
          <a:xfrm>
            <a:off x="5059363" y="3427413"/>
            <a:ext cx="5238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baseline="-25000" lang="en-US" sz="2400">
                <a:solidFill>
                  <a:schemeClr val="dk1"/>
                </a:solidFill>
                <a:latin typeface="Arial"/>
                <a:ea typeface="Arial"/>
                <a:cs typeface="Arial"/>
                <a:sym typeface="Arial"/>
              </a:rPr>
              <a:t>m</a:t>
            </a:r>
            <a:endParaRPr i="1" sz="2400">
              <a:solidFill>
                <a:schemeClr val="dk1"/>
              </a:solidFill>
              <a:latin typeface="Arial"/>
              <a:ea typeface="Arial"/>
              <a:cs typeface="Arial"/>
              <a:sym typeface="Arial"/>
            </a:endParaRPr>
          </a:p>
        </p:txBody>
      </p:sp>
      <p:grpSp>
        <p:nvGrpSpPr>
          <p:cNvPr id="639" name="Google Shape;639;p39"/>
          <p:cNvGrpSpPr/>
          <p:nvPr/>
        </p:nvGrpSpPr>
        <p:grpSpPr>
          <a:xfrm>
            <a:off x="4762500" y="3775075"/>
            <a:ext cx="2262188" cy="457200"/>
            <a:chOff x="3088" y="2378"/>
            <a:chExt cx="1425" cy="288"/>
          </a:xfrm>
        </p:grpSpPr>
        <p:sp>
          <p:nvSpPr>
            <p:cNvPr id="640" name="Google Shape;640;p39"/>
            <p:cNvSpPr/>
            <p:nvPr/>
          </p:nvSpPr>
          <p:spPr>
            <a:xfrm>
              <a:off x="3088" y="2483"/>
              <a:ext cx="1400" cy="69"/>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41" name="Google Shape;641;p39"/>
            <p:cNvSpPr txBox="1"/>
            <p:nvPr/>
          </p:nvSpPr>
          <p:spPr>
            <a:xfrm>
              <a:off x="3095" y="2378"/>
              <a:ext cx="141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d</a:t>
              </a:r>
              <a:r>
                <a:rPr lang="en-US" sz="2400">
                  <a:solidFill>
                    <a:schemeClr val="hlink"/>
                  </a:solidFill>
                  <a:latin typeface="Arial"/>
                  <a:ea typeface="Arial"/>
                  <a:cs typeface="Arial"/>
                  <a:sym typeface="Arial"/>
                </a:rPr>
                <a:t> = 3.82×10</a:t>
              </a:r>
              <a:r>
                <a:rPr baseline="30000" lang="en-US" sz="2400">
                  <a:solidFill>
                    <a:schemeClr val="hlink"/>
                  </a:solidFill>
                  <a:latin typeface="Arial"/>
                  <a:ea typeface="Arial"/>
                  <a:cs typeface="Arial"/>
                  <a:sym typeface="Arial"/>
                </a:rPr>
                <a:t>8</a:t>
              </a:r>
              <a:r>
                <a:rPr lang="en-US" sz="2400">
                  <a:solidFill>
                    <a:schemeClr val="hlink"/>
                  </a:solidFill>
                  <a:latin typeface="Arial"/>
                  <a:ea typeface="Arial"/>
                  <a:cs typeface="Arial"/>
                  <a:sym typeface="Arial"/>
                </a:rPr>
                <a:t> m</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0" st="0"/>
                                            </p:txEl>
                                          </p:spTgt>
                                        </p:tgtEl>
                                        <p:attrNameLst>
                                          <p:attrName>style.visibility</p:attrName>
                                        </p:attrNameLst>
                                      </p:cBhvr>
                                      <p:to>
                                        <p:strVal val="visible"/>
                                      </p:to>
                                    </p:set>
                                    <p:anim calcmode="lin" valueType="num">
                                      <p:cBhvr additive="base">
                                        <p:cTn dur="500"/>
                                        <p:tgtEl>
                                          <p:spTgt spid="6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1" st="1"/>
                                            </p:txEl>
                                          </p:spTgt>
                                        </p:tgtEl>
                                        <p:attrNameLst>
                                          <p:attrName>style.visibility</p:attrName>
                                        </p:attrNameLst>
                                      </p:cBhvr>
                                      <p:to>
                                        <p:strVal val="visible"/>
                                      </p:to>
                                    </p:set>
                                    <p:anim calcmode="lin" valueType="num">
                                      <p:cBhvr additive="base">
                                        <p:cTn dur="500"/>
                                        <p:tgtEl>
                                          <p:spTgt spid="6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2" st="2"/>
                                            </p:txEl>
                                          </p:spTgt>
                                        </p:tgtEl>
                                        <p:attrNameLst>
                                          <p:attrName>style.visibility</p:attrName>
                                        </p:attrNameLst>
                                      </p:cBhvr>
                                      <p:to>
                                        <p:strVal val="visible"/>
                                      </p:to>
                                    </p:set>
                                    <p:anim calcmode="lin" valueType="num">
                                      <p:cBhvr additive="base">
                                        <p:cTn dur="500"/>
                                        <p:tgtEl>
                                          <p:spTgt spid="6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3" st="3"/>
                                            </p:txEl>
                                          </p:spTgt>
                                        </p:tgtEl>
                                        <p:attrNameLst>
                                          <p:attrName>style.visibility</p:attrName>
                                        </p:attrNameLst>
                                      </p:cBhvr>
                                      <p:to>
                                        <p:strVal val="visible"/>
                                      </p:to>
                                    </p:set>
                                    <p:anim calcmode="lin" valueType="num">
                                      <p:cBhvr additive="base">
                                        <p:cTn dur="500"/>
                                        <p:tgtEl>
                                          <p:spTgt spid="6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4" st="4"/>
                                            </p:txEl>
                                          </p:spTgt>
                                        </p:tgtEl>
                                        <p:attrNameLst>
                                          <p:attrName>style.visibility</p:attrName>
                                        </p:attrNameLst>
                                      </p:cBhvr>
                                      <p:to>
                                        <p:strVal val="visible"/>
                                      </p:to>
                                    </p:set>
                                    <p:anim calcmode="lin" valueType="num">
                                      <p:cBhvr additive="base">
                                        <p:cTn dur="500"/>
                                        <p:tgtEl>
                                          <p:spTgt spid="6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5" st="5"/>
                                            </p:txEl>
                                          </p:spTgt>
                                        </p:tgtEl>
                                        <p:attrNameLst>
                                          <p:attrName>style.visibility</p:attrName>
                                        </p:attrNameLst>
                                      </p:cBhvr>
                                      <p:to>
                                        <p:strVal val="visible"/>
                                      </p:to>
                                    </p:set>
                                    <p:anim calcmode="lin" valueType="num">
                                      <p:cBhvr additive="base">
                                        <p:cTn dur="500"/>
                                        <p:tgtEl>
                                          <p:spTgt spid="62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6" st="6"/>
                                            </p:txEl>
                                          </p:spTgt>
                                        </p:tgtEl>
                                        <p:attrNameLst>
                                          <p:attrName>style.visibility</p:attrName>
                                        </p:attrNameLst>
                                      </p:cBhvr>
                                      <p:to>
                                        <p:strVal val="visible"/>
                                      </p:to>
                                    </p:set>
                                    <p:anim calcmode="lin" valueType="num">
                                      <p:cBhvr additive="base">
                                        <p:cTn dur="500"/>
                                        <p:tgtEl>
                                          <p:spTgt spid="62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7" st="7"/>
                                            </p:txEl>
                                          </p:spTgt>
                                        </p:tgtEl>
                                        <p:attrNameLst>
                                          <p:attrName>style.visibility</p:attrName>
                                        </p:attrNameLst>
                                      </p:cBhvr>
                                      <p:to>
                                        <p:strVal val="visible"/>
                                      </p:to>
                                    </p:set>
                                    <p:anim calcmode="lin" valueType="num">
                                      <p:cBhvr additive="base">
                                        <p:cTn dur="500"/>
                                        <p:tgtEl>
                                          <p:spTgt spid="62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xEl>
                                              <p:pRg end="8" st="8"/>
                                            </p:txEl>
                                          </p:spTgt>
                                        </p:tgtEl>
                                        <p:attrNameLst>
                                          <p:attrName>style.visibility</p:attrName>
                                        </p:attrNameLst>
                                      </p:cBhvr>
                                      <p:to>
                                        <p:strVal val="visible"/>
                                      </p:to>
                                    </p:set>
                                    <p:anim calcmode="lin" valueType="num">
                                      <p:cBhvr additive="base">
                                        <p:cTn dur="500"/>
                                        <p:tgtEl>
                                          <p:spTgt spid="62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28"/>
                                        </p:tgtEl>
                                        <p:attrNameLst>
                                          <p:attrName>style.visibility</p:attrName>
                                        </p:attrNameLst>
                                      </p:cBhvr>
                                      <p:to>
                                        <p:strVal val="visible"/>
                                      </p:to>
                                    </p:set>
                                    <p:anim calcmode="lin" valueType="num">
                                      <p:cBhvr additive="base">
                                        <p:cTn dur="500"/>
                                        <p:tgtEl>
                                          <p:spTgt spid="628"/>
                                        </p:tgtEl>
                                        <p:attrNameLst>
                                          <p:attrName>ppt_w</p:attrName>
                                        </p:attrNameLst>
                                      </p:cBhvr>
                                      <p:tavLst>
                                        <p:tav fmla="" tm="0">
                                          <p:val>
                                            <p:strVal val="0"/>
                                          </p:val>
                                        </p:tav>
                                        <p:tav fmla="" tm="100000">
                                          <p:val>
                                            <p:strVal val="#ppt_w"/>
                                          </p:val>
                                        </p:tav>
                                      </p:tavLst>
                                    </p:anim>
                                    <p:anim calcmode="lin" valueType="num">
                                      <p:cBhvr additive="base">
                                        <p:cTn dur="500"/>
                                        <p:tgtEl>
                                          <p:spTgt spid="62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29"/>
                                        </p:tgtEl>
                                        <p:attrNameLst>
                                          <p:attrName>style.visibility</p:attrName>
                                        </p:attrNameLst>
                                      </p:cBhvr>
                                      <p:to>
                                        <p:strVal val="visible"/>
                                      </p:to>
                                    </p:set>
                                    <p:anim calcmode="lin" valueType="num">
                                      <p:cBhvr additive="base">
                                        <p:cTn dur="500"/>
                                        <p:tgtEl>
                                          <p:spTgt spid="629"/>
                                        </p:tgtEl>
                                        <p:attrNameLst>
                                          <p:attrName>ppt_w</p:attrName>
                                        </p:attrNameLst>
                                      </p:cBhvr>
                                      <p:tavLst>
                                        <p:tav fmla="" tm="0">
                                          <p:val>
                                            <p:strVal val="0"/>
                                          </p:val>
                                        </p:tav>
                                        <p:tav fmla="" tm="100000">
                                          <p:val>
                                            <p:strVal val="#ppt_w"/>
                                          </p:val>
                                        </p:tav>
                                      </p:tavLst>
                                    </p:anim>
                                    <p:anim calcmode="lin" valueType="num">
                                      <p:cBhvr additive="base">
                                        <p:cTn dur="500"/>
                                        <p:tgtEl>
                                          <p:spTgt spid="6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9"/>
                                        </p:tgtEl>
                                        <p:attrNameLst>
                                          <p:attrName>style.visibility</p:attrName>
                                        </p:attrNameLst>
                                      </p:cBhvr>
                                      <p:to>
                                        <p:strVal val="visible"/>
                                      </p:to>
                                    </p:set>
                                    <p:anim calcmode="lin" valueType="num">
                                      <p:cBhvr additive="base">
                                        <p:cTn dur="500"/>
                                        <p:tgtEl>
                                          <p:spTgt spid="639"/>
                                        </p:tgtEl>
                                        <p:attrNameLst>
                                          <p:attrName>ppt_w</p:attrName>
                                        </p:attrNameLst>
                                      </p:cBhvr>
                                      <p:tavLst>
                                        <p:tav fmla="" tm="0">
                                          <p:val>
                                            <p:strVal val="0"/>
                                          </p:val>
                                        </p:tav>
                                        <p:tav fmla="" tm="100000">
                                          <p:val>
                                            <p:strVal val="#ppt_w"/>
                                          </p:val>
                                        </p:tav>
                                      </p:tavLst>
                                    </p:anim>
                                    <p:anim calcmode="lin" valueType="num">
                                      <p:cBhvr additive="base">
                                        <p:cTn dur="500"/>
                                        <p:tgtEl>
                                          <p:spTgt spid="6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0"/>
                                        </p:tgtEl>
                                        <p:attrNameLst>
                                          <p:attrName>style.visibility</p:attrName>
                                        </p:attrNameLst>
                                      </p:cBhvr>
                                      <p:to>
                                        <p:strVal val="visible"/>
                                      </p:to>
                                    </p:set>
                                    <p:anim calcmode="lin" valueType="num">
                                      <p:cBhvr additive="base">
                                        <p:cTn dur="500"/>
                                        <p:tgtEl>
                                          <p:spTgt spid="630"/>
                                        </p:tgtEl>
                                        <p:attrNameLst>
                                          <p:attrName>ppt_w</p:attrName>
                                        </p:attrNameLst>
                                      </p:cBhvr>
                                      <p:tavLst>
                                        <p:tav fmla="" tm="0">
                                          <p:val>
                                            <p:strVal val="0"/>
                                          </p:val>
                                        </p:tav>
                                        <p:tav fmla="" tm="100000">
                                          <p:val>
                                            <p:strVal val="#ppt_w"/>
                                          </p:val>
                                        </p:tav>
                                      </p:tavLst>
                                    </p:anim>
                                    <p:anim calcmode="lin" valueType="num">
                                      <p:cBhvr additive="base">
                                        <p:cTn dur="500"/>
                                        <p:tgtEl>
                                          <p:spTgt spid="6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4"/>
                                        </p:tgtEl>
                                        <p:attrNameLst>
                                          <p:attrName>style.visibility</p:attrName>
                                        </p:attrNameLst>
                                      </p:cBhvr>
                                      <p:to>
                                        <p:strVal val="visible"/>
                                      </p:to>
                                    </p:set>
                                    <p:anim calcmode="lin" valueType="num">
                                      <p:cBhvr additive="base">
                                        <p:cTn dur="500"/>
                                        <p:tgtEl>
                                          <p:spTgt spid="634"/>
                                        </p:tgtEl>
                                        <p:attrNameLst>
                                          <p:attrName>ppt_w</p:attrName>
                                        </p:attrNameLst>
                                      </p:cBhvr>
                                      <p:tavLst>
                                        <p:tav fmla="" tm="0">
                                          <p:val>
                                            <p:strVal val="0"/>
                                          </p:val>
                                        </p:tav>
                                        <p:tav fmla="" tm="100000">
                                          <p:val>
                                            <p:strVal val="#ppt_w"/>
                                          </p:val>
                                        </p:tav>
                                      </p:tavLst>
                                    </p:anim>
                                    <p:anim calcmode="lin" valueType="num">
                                      <p:cBhvr additive="base">
                                        <p:cTn dur="500"/>
                                        <p:tgtEl>
                                          <p:spTgt spid="63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2"/>
                                        </p:tgtEl>
                                        <p:attrNameLst>
                                          <p:attrName>style.visibility</p:attrName>
                                        </p:attrNameLst>
                                      </p:cBhvr>
                                      <p:to>
                                        <p:strVal val="visible"/>
                                      </p:to>
                                    </p:set>
                                    <p:anim calcmode="lin" valueType="num">
                                      <p:cBhvr additive="base">
                                        <p:cTn dur="500"/>
                                        <p:tgtEl>
                                          <p:spTgt spid="632"/>
                                        </p:tgtEl>
                                        <p:attrNameLst>
                                          <p:attrName>ppt_w</p:attrName>
                                        </p:attrNameLst>
                                      </p:cBhvr>
                                      <p:tavLst>
                                        <p:tav fmla="" tm="0">
                                          <p:val>
                                            <p:strVal val="0"/>
                                          </p:val>
                                        </p:tav>
                                        <p:tav fmla="" tm="100000">
                                          <p:val>
                                            <p:strVal val="#ppt_w"/>
                                          </p:val>
                                        </p:tav>
                                      </p:tavLst>
                                    </p:anim>
                                    <p:anim calcmode="lin" valueType="num">
                                      <p:cBhvr additive="base">
                                        <p:cTn dur="500"/>
                                        <p:tgtEl>
                                          <p:spTgt spid="6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1"/>
                                        </p:tgtEl>
                                        <p:attrNameLst>
                                          <p:attrName>style.visibility</p:attrName>
                                        </p:attrNameLst>
                                      </p:cBhvr>
                                      <p:to>
                                        <p:strVal val="visible"/>
                                      </p:to>
                                    </p:set>
                                    <p:anim calcmode="lin" valueType="num">
                                      <p:cBhvr additive="base">
                                        <p:cTn dur="500"/>
                                        <p:tgtEl>
                                          <p:spTgt spid="631"/>
                                        </p:tgtEl>
                                        <p:attrNameLst>
                                          <p:attrName>ppt_w</p:attrName>
                                        </p:attrNameLst>
                                      </p:cBhvr>
                                      <p:tavLst>
                                        <p:tav fmla="" tm="0">
                                          <p:val>
                                            <p:strVal val="0"/>
                                          </p:val>
                                        </p:tav>
                                        <p:tav fmla="" tm="100000">
                                          <p:val>
                                            <p:strVal val="#ppt_w"/>
                                          </p:val>
                                        </p:tav>
                                      </p:tavLst>
                                    </p:anim>
                                    <p:anim calcmode="lin" valueType="num">
                                      <p:cBhvr additive="base">
                                        <p:cTn dur="500"/>
                                        <p:tgtEl>
                                          <p:spTgt spid="6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7"/>
                                        </p:tgtEl>
                                        <p:attrNameLst>
                                          <p:attrName>style.visibility</p:attrName>
                                        </p:attrNameLst>
                                      </p:cBhvr>
                                      <p:to>
                                        <p:strVal val="visible"/>
                                      </p:to>
                                    </p:set>
                                    <p:anim calcmode="lin" valueType="num">
                                      <p:cBhvr additive="base">
                                        <p:cTn dur="500"/>
                                        <p:tgtEl>
                                          <p:spTgt spid="637"/>
                                        </p:tgtEl>
                                        <p:attrNameLst>
                                          <p:attrName>ppt_w</p:attrName>
                                        </p:attrNameLst>
                                      </p:cBhvr>
                                      <p:tavLst>
                                        <p:tav fmla="" tm="0">
                                          <p:val>
                                            <p:strVal val="0"/>
                                          </p:val>
                                        </p:tav>
                                        <p:tav fmla="" tm="100000">
                                          <p:val>
                                            <p:strVal val="#ppt_w"/>
                                          </p:val>
                                        </p:tav>
                                      </p:tavLst>
                                    </p:anim>
                                    <p:anim calcmode="lin" valueType="num">
                                      <p:cBhvr additive="base">
                                        <p:cTn dur="500"/>
                                        <p:tgtEl>
                                          <p:spTgt spid="6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38"/>
                                        </p:tgtEl>
                                        <p:attrNameLst>
                                          <p:attrName>style.visibility</p:attrName>
                                        </p:attrNameLst>
                                      </p:cBhvr>
                                      <p:to>
                                        <p:strVal val="visible"/>
                                      </p:to>
                                    </p:set>
                                    <p:anim calcmode="lin" valueType="num">
                                      <p:cBhvr additive="base">
                                        <p:cTn dur="500"/>
                                        <p:tgtEl>
                                          <p:spTgt spid="638"/>
                                        </p:tgtEl>
                                        <p:attrNameLst>
                                          <p:attrName>ppt_w</p:attrName>
                                        </p:attrNameLst>
                                      </p:cBhvr>
                                      <p:tavLst>
                                        <p:tav fmla="" tm="0">
                                          <p:val>
                                            <p:strVal val="0"/>
                                          </p:val>
                                        </p:tav>
                                        <p:tav fmla="" tm="100000">
                                          <p:val>
                                            <p:strVal val="#ppt_w"/>
                                          </p:val>
                                        </p:tav>
                                      </p:tavLst>
                                    </p:anim>
                                    <p:anim calcmode="lin" valueType="num">
                                      <p:cBhvr additive="base">
                                        <p:cTn dur="500"/>
                                        <p:tgtEl>
                                          <p:spTgt spid="6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0"/>
          <p:cNvSpPr/>
          <p:nvPr/>
        </p:nvSpPr>
        <p:spPr>
          <a:xfrm>
            <a:off x="687388" y="1997075"/>
            <a:ext cx="7772400" cy="48609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Jupiter’s gravitational field strength at its surface is 25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while its radius is 7.1×10</a:t>
            </a:r>
            <a:r>
              <a:rPr baseline="30000" lang="en-US" sz="2400">
                <a:solidFill>
                  <a:schemeClr val="dk1"/>
                </a:solidFill>
                <a:latin typeface="Arial"/>
                <a:ea typeface="Arial"/>
                <a:cs typeface="Arial"/>
                <a:sym typeface="Arial"/>
              </a:rPr>
              <a:t>7 </a:t>
            </a:r>
            <a:r>
              <a:rPr lang="en-US" sz="2400">
                <a:solidFill>
                  <a:schemeClr val="dk1"/>
                </a:solidFill>
                <a:latin typeface="Arial"/>
                <a:ea typeface="Arial"/>
                <a:cs typeface="Arial"/>
                <a:sym typeface="Arial"/>
              </a:rPr>
              <a:t>m.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 Derive an expression for the gravitational field strength at the surface of a planet in terms of its mass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and radius </a:t>
            </a:r>
            <a:r>
              <a:rPr i="1" lang="en-US" sz="2400">
                <a:solidFill>
                  <a:schemeClr val="dk1"/>
                </a:solidFill>
                <a:latin typeface="Arial"/>
                <a:ea typeface="Arial"/>
                <a:cs typeface="Arial"/>
                <a:sym typeface="Arial"/>
              </a:rPr>
              <a:t>R </a:t>
            </a:r>
            <a:r>
              <a:rPr lang="en-US" sz="2400">
                <a:solidFill>
                  <a:schemeClr val="dk1"/>
                </a:solidFill>
                <a:latin typeface="Arial"/>
                <a:ea typeface="Arial"/>
                <a:cs typeface="Arial"/>
                <a:sym typeface="Arial"/>
              </a:rPr>
              <a:t>and the gravitational constant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This is for a general planet…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a:t>
            </a: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a:t>
            </a:r>
            <a:r>
              <a:rPr baseline="-25000" lang="en-US" sz="2400">
                <a:solidFill>
                  <a:schemeClr val="dk1"/>
                </a:solidFill>
                <a:latin typeface="Arial"/>
                <a:ea typeface="Arial"/>
                <a:cs typeface="Arial"/>
                <a:sym typeface="Arial"/>
              </a:rPr>
              <a:t>1</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 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law of universal gravitation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a:t>
            </a:r>
            <a:r>
              <a:rPr i="1" lang="en-US" sz="2400">
                <a:solidFill>
                  <a:srgbClr val="FF0000"/>
                </a:solidFill>
                <a:latin typeface="Arial"/>
                <a:ea typeface="Arial"/>
                <a:cs typeface="Arial"/>
                <a:sym typeface="Arial"/>
              </a:rPr>
              <a:t>M</a:t>
            </a:r>
            <a:r>
              <a:rPr i="1" lang="en-US" sz="2400">
                <a:solidFill>
                  <a:schemeClr val="dk1"/>
                </a:solidFill>
                <a:latin typeface="Arial"/>
                <a:ea typeface="Arial"/>
                <a:cs typeface="Arial"/>
                <a:sym typeface="Arial"/>
              </a:rPr>
              <a:t>m</a:t>
            </a:r>
            <a:r>
              <a:rPr baseline="-25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rgbClr val="008000"/>
                </a:solidFill>
                <a:latin typeface="Arial"/>
                <a:ea typeface="Arial"/>
                <a:cs typeface="Arial"/>
                <a:sym typeface="Arial"/>
              </a:rPr>
              <a:t>R</a:t>
            </a:r>
            <a:r>
              <a:rPr baseline="30000" lang="en-US" sz="2400">
                <a:solidFill>
                  <a:schemeClr val="dk1"/>
                </a:solidFill>
                <a:latin typeface="Arial"/>
                <a:ea typeface="Arial"/>
                <a:cs typeface="Arial"/>
                <a:sym typeface="Arial"/>
              </a:rPr>
              <a:t> 2	</a:t>
            </a:r>
            <a:r>
              <a:rPr lang="en-US" sz="2400">
                <a:solidFill>
                  <a:schemeClr val="dk1"/>
                </a:solidFill>
                <a:latin typeface="Arial"/>
                <a:ea typeface="Arial"/>
                <a:cs typeface="Arial"/>
                <a:sym typeface="Arial"/>
              </a:rPr>
              <a:t>(</a:t>
            </a:r>
            <a:r>
              <a:rPr lang="en-US" sz="2400">
                <a:solidFill>
                  <a:schemeClr val="hlink"/>
                </a:solidFill>
                <a:latin typeface="Arial"/>
                <a:ea typeface="Arial"/>
                <a:cs typeface="Arial"/>
                <a:sym typeface="Arial"/>
              </a:rPr>
              <a:t>substitution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t>
            </a:r>
            <a:r>
              <a:rPr baseline="-25000" i="1"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gravitational field definition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GMm</a:t>
            </a:r>
            <a:r>
              <a:rPr baseline="-25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m</a:t>
            </a:r>
            <a:r>
              <a:rPr baseline="-25000" i="1"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r>
              <a:rPr lang="en-US" sz="2400">
                <a:solidFill>
                  <a:schemeClr val="hlink"/>
                </a:solidFill>
                <a:latin typeface="Arial"/>
                <a:ea typeface="Arial"/>
                <a:cs typeface="Arial"/>
                <a:sym typeface="Arial"/>
              </a:rPr>
              <a:t>substitution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 R</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p:txBody>
      </p:sp>
      <p:sp>
        <p:nvSpPr>
          <p:cNvPr id="648" name="Google Shape;648;p40"/>
          <p:cNvSpPr/>
          <p:nvPr/>
        </p:nvSpPr>
        <p:spPr>
          <a:xfrm>
            <a:off x="685800" y="1549400"/>
            <a:ext cx="7772400" cy="4619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p:txBody>
      </p:sp>
      <p:sp>
        <p:nvSpPr>
          <p:cNvPr id="649" name="Google Shape;649;p4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sp>
        <p:nvSpPr>
          <p:cNvPr id="650" name="Google Shape;650;p40"/>
          <p:cNvSpPr/>
          <p:nvPr/>
        </p:nvSpPr>
        <p:spPr>
          <a:xfrm>
            <a:off x="8069263" y="3230563"/>
            <a:ext cx="357187" cy="357187"/>
          </a:xfrm>
          <a:prstGeom prst="rect">
            <a:avLst/>
          </a:prstGeom>
          <a:solidFill>
            <a:srgbClr val="FF0000">
              <a:alpha val="3960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51" name="Google Shape;651;p40"/>
          <p:cNvSpPr/>
          <p:nvPr/>
        </p:nvSpPr>
        <p:spPr>
          <a:xfrm>
            <a:off x="2193925" y="3592513"/>
            <a:ext cx="352425" cy="319087"/>
          </a:xfrm>
          <a:prstGeom prst="rect">
            <a:avLst/>
          </a:prstGeom>
          <a:solidFill>
            <a:srgbClr val="008000">
              <a:alpha val="39607"/>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652" name="Google Shape;652;p40"/>
          <p:cNvCxnSpPr/>
          <p:nvPr/>
        </p:nvCxnSpPr>
        <p:spPr>
          <a:xfrm flipH="1">
            <a:off x="2914650" y="5891213"/>
            <a:ext cx="174625" cy="150812"/>
          </a:xfrm>
          <a:prstGeom prst="straightConnector1">
            <a:avLst/>
          </a:prstGeom>
          <a:noFill/>
          <a:ln cap="flat" cmpd="sng" w="19050">
            <a:solidFill>
              <a:srgbClr val="FF0000"/>
            </a:solidFill>
            <a:prstDash val="solid"/>
            <a:round/>
            <a:headEnd len="med" w="med" type="none"/>
            <a:tailEnd len="med" w="med" type="none"/>
          </a:ln>
        </p:spPr>
      </p:cxnSp>
      <p:cxnSp>
        <p:nvCxnSpPr>
          <p:cNvPr id="653" name="Google Shape;653;p40"/>
          <p:cNvCxnSpPr/>
          <p:nvPr/>
        </p:nvCxnSpPr>
        <p:spPr>
          <a:xfrm flipH="1">
            <a:off x="4152900" y="5905500"/>
            <a:ext cx="174625" cy="150813"/>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0" st="0"/>
                                            </p:txEl>
                                          </p:spTgt>
                                        </p:tgtEl>
                                        <p:attrNameLst>
                                          <p:attrName>style.visibility</p:attrName>
                                        </p:attrNameLst>
                                      </p:cBhvr>
                                      <p:to>
                                        <p:strVal val="visible"/>
                                      </p:to>
                                    </p:set>
                                    <p:anim calcmode="lin" valueType="num">
                                      <p:cBhvr additive="base">
                                        <p:cTn dur="500"/>
                                        <p:tgtEl>
                                          <p:spTgt spid="64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1" st="1"/>
                                            </p:txEl>
                                          </p:spTgt>
                                        </p:tgtEl>
                                        <p:attrNameLst>
                                          <p:attrName>style.visibility</p:attrName>
                                        </p:attrNameLst>
                                      </p:cBhvr>
                                      <p:to>
                                        <p:strVal val="visible"/>
                                      </p:to>
                                    </p:set>
                                    <p:anim calcmode="lin" valueType="num">
                                      <p:cBhvr additive="base">
                                        <p:cTn dur="500"/>
                                        <p:tgtEl>
                                          <p:spTgt spid="64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2" st="2"/>
                                            </p:txEl>
                                          </p:spTgt>
                                        </p:tgtEl>
                                        <p:attrNameLst>
                                          <p:attrName>style.visibility</p:attrName>
                                        </p:attrNameLst>
                                      </p:cBhvr>
                                      <p:to>
                                        <p:strVal val="visible"/>
                                      </p:to>
                                    </p:set>
                                    <p:anim calcmode="lin" valueType="num">
                                      <p:cBhvr additive="base">
                                        <p:cTn dur="500"/>
                                        <p:tgtEl>
                                          <p:spTgt spid="64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3" st="3"/>
                                            </p:txEl>
                                          </p:spTgt>
                                        </p:tgtEl>
                                        <p:attrNameLst>
                                          <p:attrName>style.visibility</p:attrName>
                                        </p:attrNameLst>
                                      </p:cBhvr>
                                      <p:to>
                                        <p:strVal val="visible"/>
                                      </p:to>
                                    </p:set>
                                    <p:anim calcmode="lin" valueType="num">
                                      <p:cBhvr additive="base">
                                        <p:cTn dur="500"/>
                                        <p:tgtEl>
                                          <p:spTgt spid="64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4" st="4"/>
                                            </p:txEl>
                                          </p:spTgt>
                                        </p:tgtEl>
                                        <p:attrNameLst>
                                          <p:attrName>style.visibility</p:attrName>
                                        </p:attrNameLst>
                                      </p:cBhvr>
                                      <p:to>
                                        <p:strVal val="visible"/>
                                      </p:to>
                                    </p:set>
                                    <p:anim calcmode="lin" valueType="num">
                                      <p:cBhvr additive="base">
                                        <p:cTn dur="500"/>
                                        <p:tgtEl>
                                          <p:spTgt spid="64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5" st="5"/>
                                            </p:txEl>
                                          </p:spTgt>
                                        </p:tgtEl>
                                        <p:attrNameLst>
                                          <p:attrName>style.visibility</p:attrName>
                                        </p:attrNameLst>
                                      </p:cBhvr>
                                      <p:to>
                                        <p:strVal val="visible"/>
                                      </p:to>
                                    </p:set>
                                    <p:anim calcmode="lin" valueType="num">
                                      <p:cBhvr additive="base">
                                        <p:cTn dur="500"/>
                                        <p:tgtEl>
                                          <p:spTgt spid="64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6" st="6"/>
                                            </p:txEl>
                                          </p:spTgt>
                                        </p:tgtEl>
                                        <p:attrNameLst>
                                          <p:attrName>style.visibility</p:attrName>
                                        </p:attrNameLst>
                                      </p:cBhvr>
                                      <p:to>
                                        <p:strVal val="visible"/>
                                      </p:to>
                                    </p:set>
                                    <p:anim calcmode="lin" valueType="num">
                                      <p:cBhvr additive="base">
                                        <p:cTn dur="500"/>
                                        <p:tgtEl>
                                          <p:spTgt spid="64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7">
                                            <p:txEl>
                                              <p:pRg end="7" st="7"/>
                                            </p:txEl>
                                          </p:spTgt>
                                        </p:tgtEl>
                                        <p:attrNameLst>
                                          <p:attrName>style.visibility</p:attrName>
                                        </p:attrNameLst>
                                      </p:cBhvr>
                                      <p:to>
                                        <p:strVal val="visible"/>
                                      </p:to>
                                    </p:set>
                                    <p:anim calcmode="lin" valueType="num">
                                      <p:cBhvr additive="base">
                                        <p:cTn dur="500"/>
                                        <p:tgtEl>
                                          <p:spTgt spid="64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50"/>
                                        </p:tgtEl>
                                        <p:attrNameLst>
                                          <p:attrName>style.visibility</p:attrName>
                                        </p:attrNameLst>
                                      </p:cBhvr>
                                      <p:to>
                                        <p:strVal val="visible"/>
                                      </p:to>
                                    </p:set>
                                    <p:anim calcmode="lin" valueType="num">
                                      <p:cBhvr additive="base">
                                        <p:cTn dur="500"/>
                                        <p:tgtEl>
                                          <p:spTgt spid="650"/>
                                        </p:tgtEl>
                                        <p:attrNameLst>
                                          <p:attrName>ppt_w</p:attrName>
                                        </p:attrNameLst>
                                      </p:cBhvr>
                                      <p:tavLst>
                                        <p:tav fmla="" tm="0">
                                          <p:val>
                                            <p:strVal val="0"/>
                                          </p:val>
                                        </p:tav>
                                        <p:tav fmla="" tm="100000">
                                          <p:val>
                                            <p:strVal val="#ppt_w"/>
                                          </p:val>
                                        </p:tav>
                                      </p:tavLst>
                                    </p:anim>
                                    <p:anim calcmode="lin" valueType="num">
                                      <p:cBhvr additive="base">
                                        <p:cTn dur="500"/>
                                        <p:tgtEl>
                                          <p:spTgt spid="6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51"/>
                                        </p:tgtEl>
                                        <p:attrNameLst>
                                          <p:attrName>style.visibility</p:attrName>
                                        </p:attrNameLst>
                                      </p:cBhvr>
                                      <p:to>
                                        <p:strVal val="visible"/>
                                      </p:to>
                                    </p:set>
                                    <p:anim calcmode="lin" valueType="num">
                                      <p:cBhvr additive="base">
                                        <p:cTn dur="500"/>
                                        <p:tgtEl>
                                          <p:spTgt spid="651"/>
                                        </p:tgtEl>
                                        <p:attrNameLst>
                                          <p:attrName>ppt_w</p:attrName>
                                        </p:attrNameLst>
                                      </p:cBhvr>
                                      <p:tavLst>
                                        <p:tav fmla="" tm="0">
                                          <p:val>
                                            <p:strVal val="0"/>
                                          </p:val>
                                        </p:tav>
                                        <p:tav fmla="" tm="100000">
                                          <p:val>
                                            <p:strVal val="#ppt_w"/>
                                          </p:val>
                                        </p:tav>
                                      </p:tavLst>
                                    </p:anim>
                                    <p:anim calcmode="lin" valueType="num">
                                      <p:cBhvr additive="base">
                                        <p:cTn dur="500"/>
                                        <p:tgtEl>
                                          <p:spTgt spid="65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5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500"/>
                                        <p:tgtEl>
                                          <p:spTgt spid="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41"/>
          <p:cNvSpPr/>
          <p:nvPr/>
        </p:nvSpPr>
        <p:spPr>
          <a:xfrm>
            <a:off x="687388" y="1997075"/>
            <a:ext cx="7772400" cy="48609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Jupiter’s gravitational field strength at its surface is 25 N</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kg</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while its radius is 7.1×10</a:t>
            </a:r>
            <a:r>
              <a:rPr baseline="30000" lang="en-US" sz="2400">
                <a:solidFill>
                  <a:schemeClr val="dk1"/>
                </a:solidFill>
                <a:latin typeface="Arial"/>
                <a:ea typeface="Arial"/>
                <a:cs typeface="Arial"/>
                <a:sym typeface="Arial"/>
              </a:rPr>
              <a:t>7 </a:t>
            </a:r>
            <a:r>
              <a:rPr lang="en-US" sz="2400">
                <a:solidFill>
                  <a:schemeClr val="dk1"/>
                </a:solidFill>
                <a:latin typeface="Arial"/>
                <a:ea typeface="Arial"/>
                <a:cs typeface="Arial"/>
                <a:sym typeface="Arial"/>
              </a:rPr>
              <a:t>m.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(b) Using the given information and the formula you just derived deduce Jupiter’s mass.</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(c) Find the weight of a 65-kg man on Jupiter.</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(b)</a:t>
            </a: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 </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just derived in (a)</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M</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gR</a:t>
            </a:r>
            <a:r>
              <a:rPr baseline="30000" lang="en-US" sz="2400">
                <a:solidFill>
                  <a:schemeClr val="dk1"/>
                </a:solidFill>
                <a:latin typeface="Arial"/>
                <a:ea typeface="Arial"/>
                <a:cs typeface="Arial"/>
                <a:sym typeface="Arial"/>
              </a:rPr>
              <a:t> 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G</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lang="en-US" sz="2400">
                <a:solidFill>
                  <a:schemeClr val="hlink"/>
                </a:solidFill>
                <a:latin typeface="Arial"/>
                <a:ea typeface="Arial"/>
                <a:cs typeface="Arial"/>
                <a:sym typeface="Arial"/>
              </a:rPr>
              <a:t>manipulation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M</a:t>
            </a:r>
            <a:r>
              <a:rPr lang="en-US" sz="2400">
                <a:solidFill>
                  <a:schemeClr val="dk1"/>
                </a:solidFill>
                <a:latin typeface="Arial"/>
                <a:ea typeface="Arial"/>
                <a:cs typeface="Arial"/>
                <a:sym typeface="Arial"/>
              </a:rPr>
              <a:t> = (25)(7.1×10</a:t>
            </a:r>
            <a:r>
              <a:rPr baseline="30000" lang="en-US" sz="2400">
                <a:solidFill>
                  <a:schemeClr val="dk1"/>
                </a:solidFill>
                <a:latin typeface="Arial"/>
                <a:ea typeface="Arial"/>
                <a:cs typeface="Arial"/>
                <a:sym typeface="Arial"/>
              </a:rPr>
              <a:t>7</a:t>
            </a:r>
            <a:r>
              <a:rPr lang="en-US" sz="2400">
                <a:solidFill>
                  <a:schemeClr val="dk1"/>
                </a:solidFill>
                <a:latin typeface="Arial"/>
                <a:ea typeface="Arial"/>
                <a:cs typeface="Arial"/>
                <a:sym typeface="Arial"/>
              </a:rPr>
              <a:t>)</a:t>
            </a:r>
            <a:r>
              <a:rPr baseline="30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 6.67×10</a:t>
            </a:r>
            <a:r>
              <a:rPr baseline="30000" lang="en-US" sz="2400">
                <a:solidFill>
                  <a:schemeClr val="dk1"/>
                </a:solidFill>
                <a:latin typeface="Arial"/>
                <a:ea typeface="Arial"/>
                <a:cs typeface="Arial"/>
                <a:sym typeface="Arial"/>
              </a:rPr>
              <a:t>−11</a:t>
            </a:r>
            <a:r>
              <a:rPr baseline="-25000" i="1" lang="en-US" sz="2400">
                <a:solidFill>
                  <a:schemeClr val="dk1"/>
                </a:solidFill>
                <a:latin typeface="Arial"/>
                <a:ea typeface="Arial"/>
                <a:cs typeface="Arial"/>
                <a:sym typeface="Arial"/>
              </a:rPr>
              <a:t> </a:t>
            </a:r>
            <a:r>
              <a:rPr lang="en-US" sz="2400">
                <a:solidFill>
                  <a:srgbClr val="000000"/>
                </a:solidFill>
                <a:latin typeface="Arial"/>
                <a:ea typeface="Arial"/>
                <a:cs typeface="Arial"/>
                <a:sym typeface="Arial"/>
              </a:rPr>
              <a:t>= </a:t>
            </a:r>
            <a:r>
              <a:rPr lang="en-US" sz="2400">
                <a:solidFill>
                  <a:schemeClr val="dk1"/>
                </a:solidFill>
                <a:latin typeface="Arial"/>
                <a:ea typeface="Arial"/>
                <a:cs typeface="Arial"/>
                <a:sym typeface="Arial"/>
              </a:rPr>
              <a:t>1.9×10</a:t>
            </a:r>
            <a:r>
              <a:rPr baseline="30000" lang="en-US" sz="2400">
                <a:solidFill>
                  <a:schemeClr val="dk1"/>
                </a:solidFill>
                <a:latin typeface="Arial"/>
                <a:ea typeface="Arial"/>
                <a:cs typeface="Arial"/>
                <a:sym typeface="Arial"/>
              </a:rPr>
              <a:t>27</a:t>
            </a:r>
            <a:r>
              <a:rPr lang="en-US" sz="2400">
                <a:solidFill>
                  <a:schemeClr val="dk1"/>
                </a:solidFill>
                <a:latin typeface="Arial"/>
                <a:ea typeface="Arial"/>
                <a:cs typeface="Arial"/>
                <a:sym typeface="Arial"/>
              </a:rPr>
              <a:t> kg.</a:t>
            </a:r>
            <a:r>
              <a:rPr baseline="-25000" i="1" lang="en-US" sz="2400">
                <a:solidFill>
                  <a:schemeClr val="dk1"/>
                </a:solidFill>
                <a:latin typeface="Arial"/>
                <a:ea typeface="Arial"/>
                <a:cs typeface="Arial"/>
                <a:sym typeface="Arial"/>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(c) 	 </a:t>
            </a:r>
            <a:r>
              <a:rPr i="1"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mg</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F </a:t>
            </a:r>
            <a:r>
              <a:rPr lang="en-US" sz="2400">
                <a:solidFill>
                  <a:schemeClr val="dk1"/>
                </a:solidFill>
                <a:latin typeface="Arial"/>
                <a:ea typeface="Arial"/>
                <a:cs typeface="Arial"/>
                <a:sym typeface="Arial"/>
              </a:rPr>
              <a:t>= 65(25) = 1600 N.	</a:t>
            </a:r>
            <a:endParaRPr/>
          </a:p>
        </p:txBody>
      </p:sp>
      <p:sp>
        <p:nvSpPr>
          <p:cNvPr id="660" name="Google Shape;660;p41"/>
          <p:cNvSpPr/>
          <p:nvPr/>
        </p:nvSpPr>
        <p:spPr>
          <a:xfrm>
            <a:off x="685800" y="1549400"/>
            <a:ext cx="7772400" cy="4619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 strength</a:t>
            </a:r>
            <a:r>
              <a:rPr lang="en-US" sz="2000">
                <a:solidFill>
                  <a:srgbClr val="000000"/>
                </a:solidFill>
                <a:latin typeface="Courier New"/>
                <a:ea typeface="Courier New"/>
                <a:cs typeface="Courier New"/>
                <a:sym typeface="Courier New"/>
              </a:rPr>
              <a:t>	</a:t>
            </a:r>
            <a:endParaRPr/>
          </a:p>
        </p:txBody>
      </p:sp>
      <p:sp>
        <p:nvSpPr>
          <p:cNvPr id="661" name="Google Shape;661;p4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id="662" name="Google Shape;662;p41"/>
          <p:cNvPicPr preferRelativeResize="0"/>
          <p:nvPr/>
        </p:nvPicPr>
        <p:blipFill rotWithShape="1">
          <a:blip r:embed="rId3">
            <a:alphaModFix/>
          </a:blip>
          <a:srcRect b="0" l="0" r="0" t="0"/>
          <a:stretch/>
        </p:blipFill>
        <p:spPr>
          <a:xfrm>
            <a:off x="7065963" y="3305175"/>
            <a:ext cx="2052637" cy="2054225"/>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0" st="0"/>
                                            </p:txEl>
                                          </p:spTgt>
                                        </p:tgtEl>
                                        <p:attrNameLst>
                                          <p:attrName>style.visibility</p:attrName>
                                        </p:attrNameLst>
                                      </p:cBhvr>
                                      <p:to>
                                        <p:strVal val="visible"/>
                                      </p:to>
                                    </p:set>
                                    <p:anim calcmode="lin" valueType="num">
                                      <p:cBhvr additive="base">
                                        <p:cTn dur="500"/>
                                        <p:tgtEl>
                                          <p:spTgt spid="6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1" st="1"/>
                                            </p:txEl>
                                          </p:spTgt>
                                        </p:tgtEl>
                                        <p:attrNameLst>
                                          <p:attrName>style.visibility</p:attrName>
                                        </p:attrNameLst>
                                      </p:cBhvr>
                                      <p:to>
                                        <p:strVal val="visible"/>
                                      </p:to>
                                    </p:set>
                                    <p:anim calcmode="lin" valueType="num">
                                      <p:cBhvr additive="base">
                                        <p:cTn dur="500"/>
                                        <p:tgtEl>
                                          <p:spTgt spid="6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2" st="2"/>
                                            </p:txEl>
                                          </p:spTgt>
                                        </p:tgtEl>
                                        <p:attrNameLst>
                                          <p:attrName>style.visibility</p:attrName>
                                        </p:attrNameLst>
                                      </p:cBhvr>
                                      <p:to>
                                        <p:strVal val="visible"/>
                                      </p:to>
                                    </p:set>
                                    <p:anim calcmode="lin" valueType="num">
                                      <p:cBhvr additive="base">
                                        <p:cTn dur="500"/>
                                        <p:tgtEl>
                                          <p:spTgt spid="6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3" st="3"/>
                                            </p:txEl>
                                          </p:spTgt>
                                        </p:tgtEl>
                                        <p:attrNameLst>
                                          <p:attrName>style.visibility</p:attrName>
                                        </p:attrNameLst>
                                      </p:cBhvr>
                                      <p:to>
                                        <p:strVal val="visible"/>
                                      </p:to>
                                    </p:set>
                                    <p:anim calcmode="lin" valueType="num">
                                      <p:cBhvr additive="base">
                                        <p:cTn dur="500"/>
                                        <p:tgtEl>
                                          <p:spTgt spid="6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4" st="4"/>
                                            </p:txEl>
                                          </p:spTgt>
                                        </p:tgtEl>
                                        <p:attrNameLst>
                                          <p:attrName>style.visibility</p:attrName>
                                        </p:attrNameLst>
                                      </p:cBhvr>
                                      <p:to>
                                        <p:strVal val="visible"/>
                                      </p:to>
                                    </p:set>
                                    <p:anim calcmode="lin" valueType="num">
                                      <p:cBhvr additive="base">
                                        <p:cTn dur="500"/>
                                        <p:tgtEl>
                                          <p:spTgt spid="6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5" st="5"/>
                                            </p:txEl>
                                          </p:spTgt>
                                        </p:tgtEl>
                                        <p:attrNameLst>
                                          <p:attrName>style.visibility</p:attrName>
                                        </p:attrNameLst>
                                      </p:cBhvr>
                                      <p:to>
                                        <p:strVal val="visible"/>
                                      </p:to>
                                    </p:set>
                                    <p:anim calcmode="lin" valueType="num">
                                      <p:cBhvr additive="base">
                                        <p:cTn dur="500"/>
                                        <p:tgtEl>
                                          <p:spTgt spid="6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6" st="6"/>
                                            </p:txEl>
                                          </p:spTgt>
                                        </p:tgtEl>
                                        <p:attrNameLst>
                                          <p:attrName>style.visibility</p:attrName>
                                        </p:attrNameLst>
                                      </p:cBhvr>
                                      <p:to>
                                        <p:strVal val="visible"/>
                                      </p:to>
                                    </p:set>
                                    <p:anim calcmode="lin" valueType="num">
                                      <p:cBhvr additive="base">
                                        <p:cTn dur="500"/>
                                        <p:tgtEl>
                                          <p:spTgt spid="65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7" st="7"/>
                                            </p:txEl>
                                          </p:spTgt>
                                        </p:tgtEl>
                                        <p:attrNameLst>
                                          <p:attrName>style.visibility</p:attrName>
                                        </p:attrNameLst>
                                      </p:cBhvr>
                                      <p:to>
                                        <p:strVal val="visible"/>
                                      </p:to>
                                    </p:set>
                                    <p:anim calcmode="lin" valueType="num">
                                      <p:cBhvr additive="base">
                                        <p:cTn dur="500"/>
                                        <p:tgtEl>
                                          <p:spTgt spid="65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xEl>
                                              <p:pRg end="8" st="8"/>
                                            </p:txEl>
                                          </p:spTgt>
                                        </p:tgtEl>
                                        <p:attrNameLst>
                                          <p:attrName>style.visibility</p:attrName>
                                        </p:attrNameLst>
                                      </p:cBhvr>
                                      <p:to>
                                        <p:strVal val="visible"/>
                                      </p:to>
                                    </p:set>
                                    <p:anim calcmode="lin" valueType="num">
                                      <p:cBhvr additive="base">
                                        <p:cTn dur="500"/>
                                        <p:tgtEl>
                                          <p:spTgt spid="65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822"/>
                                        <p:tgtEl>
                                          <p:spTgt spid="6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42"/>
          <p:cNvSpPr/>
          <p:nvPr/>
        </p:nvSpPr>
        <p:spPr>
          <a:xfrm>
            <a:off x="687388" y="1997075"/>
            <a:ext cx="7772400" cy="48609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Two spheres of equal                                      mass and different radii are held a                                                  distance </a:t>
            </a:r>
            <a:r>
              <a:rPr i="1" lang="en-US" sz="2400">
                <a:solidFill>
                  <a:schemeClr val="dk1"/>
                </a:solidFill>
                <a:latin typeface="Arial"/>
                <a:ea typeface="Arial"/>
                <a:cs typeface="Arial"/>
                <a:sym typeface="Arial"/>
              </a:rPr>
              <a:t>d</a:t>
            </a:r>
            <a:r>
              <a:rPr lang="en-US" sz="2400">
                <a:solidFill>
                  <a:schemeClr val="dk1"/>
                </a:solidFill>
                <a:latin typeface="Arial"/>
                <a:ea typeface="Arial"/>
                <a:cs typeface="Arial"/>
                <a:sym typeface="Arial"/>
              </a:rPr>
              <a:t>  apart. The gravitational                                 field strength is measured on the                                         line joining the two masses at position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which varies. Which graph shows the variation of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with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correctly?</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1200"/>
              </a:spcBef>
              <a:spcAft>
                <a:spcPts val="0"/>
              </a:spcAft>
              <a:buNone/>
            </a:pPr>
            <a:r>
              <a:rPr lang="en-US" sz="2400">
                <a:solidFill>
                  <a:schemeClr val="dk1"/>
                </a:solidFill>
                <a:latin typeface="Arial"/>
                <a:ea typeface="Arial"/>
                <a:cs typeface="Arial"/>
                <a:sym typeface="Arial"/>
              </a:rPr>
              <a:t>∙There is a point between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where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0.</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 R</a:t>
            </a:r>
            <a:r>
              <a:rPr baseline="30000" lang="en-US" sz="2400">
                <a:solidFill>
                  <a:schemeClr val="dk1"/>
                </a:solidFill>
                <a:latin typeface="Arial"/>
                <a:ea typeface="Arial"/>
                <a:cs typeface="Arial"/>
                <a:sym typeface="Arial"/>
              </a:rPr>
              <a:t> 2 </a:t>
            </a:r>
            <a:r>
              <a:rPr lang="en-US" sz="2400">
                <a:solidFill>
                  <a:schemeClr val="dk1"/>
                </a:solidFill>
                <a:latin typeface="Arial"/>
                <a:ea typeface="Arial"/>
                <a:cs typeface="Arial"/>
                <a:sym typeface="Arial"/>
              </a:rPr>
              <a:t>and </a:t>
            </a:r>
            <a:r>
              <a:rPr i="1" lang="en-US" sz="2400">
                <a:solidFill>
                  <a:schemeClr val="dk1"/>
                </a:solidFill>
                <a:latin typeface="Arial"/>
                <a:ea typeface="Arial"/>
                <a:cs typeface="Arial"/>
                <a:sym typeface="Arial"/>
              </a:rPr>
              <a:t>R</a:t>
            </a:r>
            <a:r>
              <a:rPr baseline="-25000" lang="en-US" sz="2400">
                <a:solidFill>
                  <a:schemeClr val="dk1"/>
                </a:solidFill>
                <a:latin typeface="Arial"/>
                <a:ea typeface="Arial"/>
                <a:cs typeface="Arial"/>
                <a:sym typeface="Arial"/>
              </a:rPr>
              <a:t>left</a:t>
            </a:r>
            <a:r>
              <a:rPr lang="en-US" sz="2400">
                <a:solidFill>
                  <a:schemeClr val="dk1"/>
                </a:solidFill>
                <a:latin typeface="Arial"/>
                <a:ea typeface="Arial"/>
                <a:cs typeface="Arial"/>
                <a:sym typeface="Arial"/>
              </a:rPr>
              <a:t> &lt; </a:t>
            </a:r>
            <a:r>
              <a:rPr i="1" lang="en-US" sz="2400">
                <a:solidFill>
                  <a:schemeClr val="dk1"/>
                </a:solidFill>
                <a:latin typeface="Arial"/>
                <a:ea typeface="Arial"/>
                <a:cs typeface="Arial"/>
                <a:sym typeface="Arial"/>
              </a:rPr>
              <a:t>R</a:t>
            </a:r>
            <a:r>
              <a:rPr baseline="-25000" lang="en-US" sz="2400">
                <a:solidFill>
                  <a:schemeClr val="dk1"/>
                </a:solidFill>
                <a:latin typeface="Arial"/>
                <a:ea typeface="Arial"/>
                <a:cs typeface="Arial"/>
                <a:sym typeface="Arial"/>
              </a:rPr>
              <a:t>right</a:t>
            </a:r>
            <a:r>
              <a:rPr lang="en-US" sz="2400">
                <a:solidFill>
                  <a:schemeClr val="dk1"/>
                </a:solidFill>
                <a:latin typeface="Arial"/>
                <a:ea typeface="Arial"/>
                <a:cs typeface="Arial"/>
                <a:sym typeface="Arial"/>
              </a:rPr>
              <a:t>, then </a:t>
            </a:r>
            <a:r>
              <a:rPr i="1" lang="en-US" sz="2400">
                <a:solidFill>
                  <a:schemeClr val="dk1"/>
                </a:solidFill>
                <a:latin typeface="Arial"/>
                <a:ea typeface="Arial"/>
                <a:cs typeface="Arial"/>
                <a:sym typeface="Arial"/>
              </a:rPr>
              <a:t>g</a:t>
            </a:r>
            <a:r>
              <a:rPr baseline="-25000" lang="en-US" sz="2400">
                <a:solidFill>
                  <a:schemeClr val="dk1"/>
                </a:solidFill>
                <a:latin typeface="Arial"/>
                <a:ea typeface="Arial"/>
                <a:cs typeface="Arial"/>
                <a:sym typeface="Arial"/>
              </a:rPr>
              <a:t>left </a:t>
            </a:r>
            <a:r>
              <a:rPr lang="en-US" sz="2400">
                <a:solidFill>
                  <a:schemeClr val="dk1"/>
                </a:solidFill>
                <a:latin typeface="Arial"/>
                <a:ea typeface="Arial"/>
                <a:cs typeface="Arial"/>
                <a:sym typeface="Arial"/>
              </a:rPr>
              <a:t>&gt; </a:t>
            </a:r>
            <a:r>
              <a:rPr i="1" lang="en-US" sz="2400">
                <a:solidFill>
                  <a:schemeClr val="dk1"/>
                </a:solidFill>
                <a:latin typeface="Arial"/>
                <a:ea typeface="Arial"/>
                <a:cs typeface="Arial"/>
                <a:sym typeface="Arial"/>
              </a:rPr>
              <a:t>g</a:t>
            </a:r>
            <a:r>
              <a:rPr baseline="-25000" lang="en-US" sz="2400">
                <a:solidFill>
                  <a:schemeClr val="dk1"/>
                </a:solidFill>
                <a:latin typeface="Arial"/>
                <a:ea typeface="Arial"/>
                <a:cs typeface="Arial"/>
                <a:sym typeface="Arial"/>
              </a:rPr>
              <a:t>right</a:t>
            </a:r>
            <a:r>
              <a:rPr lang="en-US" sz="2400">
                <a:solidFill>
                  <a:schemeClr val="dk1"/>
                </a:solidFill>
                <a:latin typeface="Arial"/>
                <a:ea typeface="Arial"/>
                <a:cs typeface="Arial"/>
                <a:sym typeface="Arial"/>
              </a:rPr>
              <a:t> at the surfaces of the masses.</a:t>
            </a:r>
            <a:endParaRPr/>
          </a:p>
        </p:txBody>
      </p:sp>
      <p:sp>
        <p:nvSpPr>
          <p:cNvPr id="669" name="Google Shape;669;p42"/>
          <p:cNvSpPr/>
          <p:nvPr/>
        </p:nvSpPr>
        <p:spPr>
          <a:xfrm>
            <a:off x="685800" y="1549400"/>
            <a:ext cx="7772400" cy="4619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 strength</a:t>
            </a:r>
            <a:endParaRPr sz="2000">
              <a:solidFill>
                <a:srgbClr val="000000"/>
              </a:solidFill>
              <a:latin typeface="Courier New"/>
              <a:ea typeface="Courier New"/>
              <a:cs typeface="Courier New"/>
              <a:sym typeface="Courier New"/>
            </a:endParaRPr>
          </a:p>
        </p:txBody>
      </p:sp>
      <p:sp>
        <p:nvSpPr>
          <p:cNvPr id="670" name="Google Shape;670;p4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800">
              <a:solidFill>
                <a:schemeClr val="dk1"/>
              </a:solidFill>
            </a:endParaRPr>
          </a:p>
        </p:txBody>
      </p:sp>
      <p:pic>
        <p:nvPicPr>
          <p:cNvPr id="671" name="Google Shape;671;p42"/>
          <p:cNvPicPr preferRelativeResize="0"/>
          <p:nvPr/>
        </p:nvPicPr>
        <p:blipFill rotWithShape="1">
          <a:blip r:embed="rId3">
            <a:alphaModFix/>
          </a:blip>
          <a:srcRect b="0" l="0" r="0" t="0"/>
          <a:stretch/>
        </p:blipFill>
        <p:spPr>
          <a:xfrm>
            <a:off x="901700" y="4135438"/>
            <a:ext cx="7448550" cy="1651000"/>
          </a:xfrm>
          <a:prstGeom prst="rect">
            <a:avLst/>
          </a:prstGeom>
          <a:noFill/>
          <a:ln>
            <a:noFill/>
          </a:ln>
        </p:spPr>
      </p:pic>
      <p:grpSp>
        <p:nvGrpSpPr>
          <p:cNvPr id="672" name="Google Shape;672;p42"/>
          <p:cNvGrpSpPr/>
          <p:nvPr/>
        </p:nvGrpSpPr>
        <p:grpSpPr>
          <a:xfrm>
            <a:off x="2894013" y="4256088"/>
            <a:ext cx="1481137" cy="1354137"/>
            <a:chOff x="1823" y="2778"/>
            <a:chExt cx="933" cy="853"/>
          </a:xfrm>
        </p:grpSpPr>
        <p:cxnSp>
          <p:nvCxnSpPr>
            <p:cNvPr id="673" name="Google Shape;673;p42"/>
            <p:cNvCxnSpPr/>
            <p:nvPr/>
          </p:nvCxnSpPr>
          <p:spPr>
            <a:xfrm flipH="1">
              <a:off x="1830" y="2778"/>
              <a:ext cx="926" cy="853"/>
            </a:xfrm>
            <a:prstGeom prst="straightConnector1">
              <a:avLst/>
            </a:prstGeom>
            <a:noFill/>
            <a:ln cap="flat" cmpd="sng" w="9525">
              <a:solidFill>
                <a:srgbClr val="FF0000"/>
              </a:solidFill>
              <a:prstDash val="solid"/>
              <a:round/>
              <a:headEnd len="med" w="med" type="none"/>
              <a:tailEnd len="med" w="med" type="none"/>
            </a:ln>
          </p:spPr>
        </p:cxnSp>
        <p:cxnSp>
          <p:nvCxnSpPr>
            <p:cNvPr id="674" name="Google Shape;674;p42"/>
            <p:cNvCxnSpPr/>
            <p:nvPr/>
          </p:nvCxnSpPr>
          <p:spPr>
            <a:xfrm>
              <a:off x="1823" y="2778"/>
              <a:ext cx="933" cy="853"/>
            </a:xfrm>
            <a:prstGeom prst="straightConnector1">
              <a:avLst/>
            </a:prstGeom>
            <a:noFill/>
            <a:ln cap="flat" cmpd="sng" w="9525">
              <a:solidFill>
                <a:srgbClr val="FF0000"/>
              </a:solidFill>
              <a:prstDash val="solid"/>
              <a:round/>
              <a:headEnd len="med" w="med" type="none"/>
              <a:tailEnd len="med" w="med" type="none"/>
            </a:ln>
          </p:spPr>
        </p:cxnSp>
      </p:grpSp>
      <p:grpSp>
        <p:nvGrpSpPr>
          <p:cNvPr id="675" name="Google Shape;675;p42"/>
          <p:cNvGrpSpPr/>
          <p:nvPr/>
        </p:nvGrpSpPr>
        <p:grpSpPr>
          <a:xfrm>
            <a:off x="4789488" y="4254500"/>
            <a:ext cx="1481137" cy="1354138"/>
            <a:chOff x="1823" y="2778"/>
            <a:chExt cx="933" cy="853"/>
          </a:xfrm>
        </p:grpSpPr>
        <p:cxnSp>
          <p:nvCxnSpPr>
            <p:cNvPr id="676" name="Google Shape;676;p42"/>
            <p:cNvCxnSpPr/>
            <p:nvPr/>
          </p:nvCxnSpPr>
          <p:spPr>
            <a:xfrm flipH="1">
              <a:off x="1830" y="2778"/>
              <a:ext cx="926" cy="853"/>
            </a:xfrm>
            <a:prstGeom prst="straightConnector1">
              <a:avLst/>
            </a:prstGeom>
            <a:noFill/>
            <a:ln cap="flat" cmpd="sng" w="9525">
              <a:solidFill>
                <a:srgbClr val="FF0000"/>
              </a:solidFill>
              <a:prstDash val="solid"/>
              <a:round/>
              <a:headEnd len="med" w="med" type="none"/>
              <a:tailEnd len="med" w="med" type="none"/>
            </a:ln>
          </p:spPr>
        </p:cxnSp>
        <p:cxnSp>
          <p:nvCxnSpPr>
            <p:cNvPr id="677" name="Google Shape;677;p42"/>
            <p:cNvCxnSpPr/>
            <p:nvPr/>
          </p:nvCxnSpPr>
          <p:spPr>
            <a:xfrm>
              <a:off x="1823" y="2778"/>
              <a:ext cx="933" cy="853"/>
            </a:xfrm>
            <a:prstGeom prst="straightConnector1">
              <a:avLst/>
            </a:prstGeom>
            <a:noFill/>
            <a:ln cap="flat" cmpd="sng" w="9525">
              <a:solidFill>
                <a:srgbClr val="FF0000"/>
              </a:solidFill>
              <a:prstDash val="solid"/>
              <a:round/>
              <a:headEnd len="med" w="med" type="none"/>
              <a:tailEnd len="med" w="med" type="none"/>
            </a:ln>
          </p:spPr>
        </p:cxnSp>
      </p:grpSp>
      <p:sp>
        <p:nvSpPr>
          <p:cNvPr id="678" name="Google Shape;678;p42"/>
          <p:cNvSpPr/>
          <p:nvPr/>
        </p:nvSpPr>
        <p:spPr>
          <a:xfrm>
            <a:off x="1746250" y="5575300"/>
            <a:ext cx="92075" cy="920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79" name="Google Shape;679;p42"/>
          <p:cNvSpPr/>
          <p:nvPr/>
        </p:nvSpPr>
        <p:spPr>
          <a:xfrm>
            <a:off x="7488238" y="5588000"/>
            <a:ext cx="92075" cy="920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80" name="Google Shape;680;p42"/>
          <p:cNvSpPr/>
          <p:nvPr/>
        </p:nvSpPr>
        <p:spPr>
          <a:xfrm>
            <a:off x="1003300" y="4530725"/>
            <a:ext cx="92075" cy="92075"/>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81" name="Google Shape;681;p42"/>
          <p:cNvSpPr/>
          <p:nvPr/>
        </p:nvSpPr>
        <p:spPr>
          <a:xfrm>
            <a:off x="2462213" y="4543425"/>
            <a:ext cx="92075" cy="92075"/>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682" name="Google Shape;682;p42"/>
          <p:cNvGrpSpPr/>
          <p:nvPr/>
        </p:nvGrpSpPr>
        <p:grpSpPr>
          <a:xfrm>
            <a:off x="1035050" y="4240213"/>
            <a:ext cx="1481138" cy="1354137"/>
            <a:chOff x="1823" y="2778"/>
            <a:chExt cx="933" cy="853"/>
          </a:xfrm>
        </p:grpSpPr>
        <p:cxnSp>
          <p:nvCxnSpPr>
            <p:cNvPr id="683" name="Google Shape;683;p42"/>
            <p:cNvCxnSpPr/>
            <p:nvPr/>
          </p:nvCxnSpPr>
          <p:spPr>
            <a:xfrm flipH="1">
              <a:off x="1830" y="2778"/>
              <a:ext cx="926" cy="853"/>
            </a:xfrm>
            <a:prstGeom prst="straightConnector1">
              <a:avLst/>
            </a:prstGeom>
            <a:noFill/>
            <a:ln cap="flat" cmpd="sng" w="9525">
              <a:solidFill>
                <a:srgbClr val="FF0000"/>
              </a:solidFill>
              <a:prstDash val="solid"/>
              <a:round/>
              <a:headEnd len="med" w="med" type="none"/>
              <a:tailEnd len="med" w="med" type="none"/>
            </a:ln>
          </p:spPr>
        </p:cxnSp>
        <p:cxnSp>
          <p:nvCxnSpPr>
            <p:cNvPr id="684" name="Google Shape;684;p42"/>
            <p:cNvCxnSpPr/>
            <p:nvPr/>
          </p:nvCxnSpPr>
          <p:spPr>
            <a:xfrm>
              <a:off x="1823" y="2778"/>
              <a:ext cx="933" cy="853"/>
            </a:xfrm>
            <a:prstGeom prst="straightConnector1">
              <a:avLst/>
            </a:prstGeom>
            <a:noFill/>
            <a:ln cap="flat" cmpd="sng" w="9525">
              <a:solidFill>
                <a:srgbClr val="FF0000"/>
              </a:solidFill>
              <a:prstDash val="solid"/>
              <a:round/>
              <a:headEnd len="med" w="med" type="none"/>
              <a:tailEnd len="med" w="med" type="none"/>
            </a:ln>
          </p:spPr>
        </p:cxnSp>
      </p:grpSp>
      <p:sp>
        <p:nvSpPr>
          <p:cNvPr id="685" name="Google Shape;685;p42"/>
          <p:cNvSpPr/>
          <p:nvPr/>
        </p:nvSpPr>
        <p:spPr>
          <a:xfrm>
            <a:off x="7234238" y="4186238"/>
            <a:ext cx="230187" cy="230187"/>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86" name="Google Shape;686;p42"/>
          <p:cNvSpPr/>
          <p:nvPr/>
        </p:nvSpPr>
        <p:spPr>
          <a:xfrm>
            <a:off x="6602413" y="4435475"/>
            <a:ext cx="92075" cy="92075"/>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87" name="Google Shape;687;p42"/>
          <p:cNvSpPr/>
          <p:nvPr/>
        </p:nvSpPr>
        <p:spPr>
          <a:xfrm>
            <a:off x="8061325" y="5270500"/>
            <a:ext cx="92075" cy="92075"/>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688" name="Google Shape;688;p42"/>
          <p:cNvPicPr preferRelativeResize="0"/>
          <p:nvPr/>
        </p:nvPicPr>
        <p:blipFill rotWithShape="1">
          <a:blip r:embed="rId4">
            <a:alphaModFix/>
          </a:blip>
          <a:srcRect b="0" l="0" r="0" t="0"/>
          <a:stretch/>
        </p:blipFill>
        <p:spPr>
          <a:xfrm>
            <a:off x="5476875" y="2065338"/>
            <a:ext cx="3594100" cy="146685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0" st="0"/>
                                            </p:txEl>
                                          </p:spTgt>
                                        </p:tgtEl>
                                        <p:attrNameLst>
                                          <p:attrName>style.visibility</p:attrName>
                                        </p:attrNameLst>
                                      </p:cBhvr>
                                      <p:to>
                                        <p:strVal val="visible"/>
                                      </p:to>
                                    </p:set>
                                    <p:anim calcmode="lin" valueType="num">
                                      <p:cBhvr additive="base">
                                        <p:cTn dur="500"/>
                                        <p:tgtEl>
                                          <p:spTgt spid="6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1" st="1"/>
                                            </p:txEl>
                                          </p:spTgt>
                                        </p:tgtEl>
                                        <p:attrNameLst>
                                          <p:attrName>style.visibility</p:attrName>
                                        </p:attrNameLst>
                                      </p:cBhvr>
                                      <p:to>
                                        <p:strVal val="visible"/>
                                      </p:to>
                                    </p:set>
                                    <p:anim calcmode="lin" valueType="num">
                                      <p:cBhvr additive="base">
                                        <p:cTn dur="500"/>
                                        <p:tgtEl>
                                          <p:spTgt spid="6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2" st="2"/>
                                            </p:txEl>
                                          </p:spTgt>
                                        </p:tgtEl>
                                        <p:attrNameLst>
                                          <p:attrName>style.visibility</p:attrName>
                                        </p:attrNameLst>
                                      </p:cBhvr>
                                      <p:to>
                                        <p:strVal val="visible"/>
                                      </p:to>
                                    </p:set>
                                    <p:anim calcmode="lin" valueType="num">
                                      <p:cBhvr additive="base">
                                        <p:cTn dur="500"/>
                                        <p:tgtEl>
                                          <p:spTgt spid="66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3" st="3"/>
                                            </p:txEl>
                                          </p:spTgt>
                                        </p:tgtEl>
                                        <p:attrNameLst>
                                          <p:attrName>style.visibility</p:attrName>
                                        </p:attrNameLst>
                                      </p:cBhvr>
                                      <p:to>
                                        <p:strVal val="visible"/>
                                      </p:to>
                                    </p:set>
                                    <p:anim calcmode="lin" valueType="num">
                                      <p:cBhvr additive="base">
                                        <p:cTn dur="500"/>
                                        <p:tgtEl>
                                          <p:spTgt spid="66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4" st="4"/>
                                            </p:txEl>
                                          </p:spTgt>
                                        </p:tgtEl>
                                        <p:attrNameLst>
                                          <p:attrName>style.visibility</p:attrName>
                                        </p:attrNameLst>
                                      </p:cBhvr>
                                      <p:to>
                                        <p:strVal val="visible"/>
                                      </p:to>
                                    </p:set>
                                    <p:anim calcmode="lin" valueType="num">
                                      <p:cBhvr additive="base">
                                        <p:cTn dur="500"/>
                                        <p:tgtEl>
                                          <p:spTgt spid="66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8">
                                            <p:txEl>
                                              <p:pRg end="5" st="5"/>
                                            </p:txEl>
                                          </p:spTgt>
                                        </p:tgtEl>
                                        <p:attrNameLst>
                                          <p:attrName>style.visibility</p:attrName>
                                        </p:attrNameLst>
                                      </p:cBhvr>
                                      <p:to>
                                        <p:strVal val="visible"/>
                                      </p:to>
                                    </p:set>
                                    <p:anim calcmode="lin" valueType="num">
                                      <p:cBhvr additive="base">
                                        <p:cTn dur="500"/>
                                        <p:tgtEl>
                                          <p:spTgt spid="668">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500"/>
                                        <p:tgtEl>
                                          <p:spTgt spid="688"/>
                                        </p:tgtEl>
                                        <p:attrNameLst>
                                          <p:attrName>ppt_w</p:attrName>
                                        </p:attrNameLst>
                                      </p:cBhvr>
                                      <p:tavLst>
                                        <p:tav fmla="" tm="0">
                                          <p:val>
                                            <p:strVal val="0"/>
                                          </p:val>
                                        </p:tav>
                                        <p:tav fmla="" tm="100000">
                                          <p:val>
                                            <p:strVal val="#ppt_w"/>
                                          </p:val>
                                        </p:tav>
                                      </p:tavLst>
                                    </p:anim>
                                    <p:anim calcmode="lin" valueType="num">
                                      <p:cBhvr additive="base">
                                        <p:cTn dur="500"/>
                                        <p:tgtEl>
                                          <p:spTgt spid="6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71"/>
                                        </p:tgtEl>
                                        <p:attrNameLst>
                                          <p:attrName>style.visibility</p:attrName>
                                        </p:attrNameLst>
                                      </p:cBhvr>
                                      <p:to>
                                        <p:strVal val="visible"/>
                                      </p:to>
                                    </p:set>
                                    <p:anim calcmode="lin" valueType="num">
                                      <p:cBhvr additive="base">
                                        <p:cTn dur="500"/>
                                        <p:tgtEl>
                                          <p:spTgt spid="671"/>
                                        </p:tgtEl>
                                        <p:attrNameLst>
                                          <p:attrName>ppt_w</p:attrName>
                                        </p:attrNameLst>
                                      </p:cBhvr>
                                      <p:tavLst>
                                        <p:tav fmla="" tm="0">
                                          <p:val>
                                            <p:strVal val="0"/>
                                          </p:val>
                                        </p:tav>
                                        <p:tav fmla="" tm="100000">
                                          <p:val>
                                            <p:strVal val="#ppt_w"/>
                                          </p:val>
                                        </p:tav>
                                      </p:tavLst>
                                    </p:anim>
                                    <p:anim calcmode="lin" valueType="num">
                                      <p:cBhvr additive="base">
                                        <p:cTn dur="500"/>
                                        <p:tgtEl>
                                          <p:spTgt spid="6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8"/>
                                        </p:tgtEl>
                                        <p:attrNameLst>
                                          <p:attrName>style.visibility</p:attrName>
                                        </p:attrNameLst>
                                      </p:cBhvr>
                                      <p:to>
                                        <p:strVal val="visible"/>
                                      </p:to>
                                    </p:set>
                                    <p:anim calcmode="lin" valueType="num">
                                      <p:cBhvr additive="base">
                                        <p:cTn dur="500"/>
                                        <p:tgtEl>
                                          <p:spTgt spid="678"/>
                                        </p:tgtEl>
                                        <p:attrNameLst>
                                          <p:attrName>ppt_w</p:attrName>
                                        </p:attrNameLst>
                                      </p:cBhvr>
                                      <p:tavLst>
                                        <p:tav fmla="" tm="0">
                                          <p:val>
                                            <p:strVal val="0"/>
                                          </p:val>
                                        </p:tav>
                                        <p:tav fmla="" tm="100000">
                                          <p:val>
                                            <p:strVal val="#ppt_w"/>
                                          </p:val>
                                        </p:tav>
                                      </p:tavLst>
                                    </p:anim>
                                    <p:anim calcmode="lin" valueType="num">
                                      <p:cBhvr additive="base">
                                        <p:cTn dur="500"/>
                                        <p:tgtEl>
                                          <p:spTgt spid="67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9"/>
                                        </p:tgtEl>
                                        <p:attrNameLst>
                                          <p:attrName>style.visibility</p:attrName>
                                        </p:attrNameLst>
                                      </p:cBhvr>
                                      <p:to>
                                        <p:strVal val="visible"/>
                                      </p:to>
                                    </p:set>
                                    <p:anim calcmode="lin" valueType="num">
                                      <p:cBhvr additive="base">
                                        <p:cTn dur="500"/>
                                        <p:tgtEl>
                                          <p:spTgt spid="679"/>
                                        </p:tgtEl>
                                        <p:attrNameLst>
                                          <p:attrName>ppt_w</p:attrName>
                                        </p:attrNameLst>
                                      </p:cBhvr>
                                      <p:tavLst>
                                        <p:tav fmla="" tm="0">
                                          <p:val>
                                            <p:strVal val="0"/>
                                          </p:val>
                                        </p:tav>
                                        <p:tav fmla="" tm="100000">
                                          <p:val>
                                            <p:strVal val="#ppt_w"/>
                                          </p:val>
                                        </p:tav>
                                      </p:tavLst>
                                    </p:anim>
                                    <p:anim calcmode="lin" valueType="num">
                                      <p:cBhvr additive="base">
                                        <p:cTn dur="500"/>
                                        <p:tgtEl>
                                          <p:spTgt spid="6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2"/>
                                        </p:tgtEl>
                                        <p:attrNameLst>
                                          <p:attrName>style.visibility</p:attrName>
                                        </p:attrNameLst>
                                      </p:cBhvr>
                                      <p:to>
                                        <p:strVal val="visible"/>
                                      </p:to>
                                    </p:set>
                                    <p:anim calcmode="lin" valueType="num">
                                      <p:cBhvr additive="base">
                                        <p:cTn dur="500"/>
                                        <p:tgtEl>
                                          <p:spTgt spid="672"/>
                                        </p:tgtEl>
                                        <p:attrNameLst>
                                          <p:attrName>ppt_w</p:attrName>
                                        </p:attrNameLst>
                                      </p:cBhvr>
                                      <p:tavLst>
                                        <p:tav fmla="" tm="0">
                                          <p:val>
                                            <p:strVal val="0"/>
                                          </p:val>
                                        </p:tav>
                                        <p:tav fmla="" tm="100000">
                                          <p:val>
                                            <p:strVal val="#ppt_w"/>
                                          </p:val>
                                        </p:tav>
                                      </p:tavLst>
                                    </p:anim>
                                    <p:anim calcmode="lin" valueType="num">
                                      <p:cBhvr additive="base">
                                        <p:cTn dur="500"/>
                                        <p:tgtEl>
                                          <p:spTgt spid="6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5"/>
                                        </p:tgtEl>
                                        <p:attrNameLst>
                                          <p:attrName>style.visibility</p:attrName>
                                        </p:attrNameLst>
                                      </p:cBhvr>
                                      <p:to>
                                        <p:strVal val="visible"/>
                                      </p:to>
                                    </p:set>
                                    <p:anim calcmode="lin" valueType="num">
                                      <p:cBhvr additive="base">
                                        <p:cTn dur="500"/>
                                        <p:tgtEl>
                                          <p:spTgt spid="675"/>
                                        </p:tgtEl>
                                        <p:attrNameLst>
                                          <p:attrName>ppt_w</p:attrName>
                                        </p:attrNameLst>
                                      </p:cBhvr>
                                      <p:tavLst>
                                        <p:tav fmla="" tm="0">
                                          <p:val>
                                            <p:strVal val="0"/>
                                          </p:val>
                                        </p:tav>
                                        <p:tav fmla="" tm="100000">
                                          <p:val>
                                            <p:strVal val="#ppt_w"/>
                                          </p:val>
                                        </p:tav>
                                      </p:tavLst>
                                    </p:anim>
                                    <p:anim calcmode="lin" valueType="num">
                                      <p:cBhvr additive="base">
                                        <p:cTn dur="500"/>
                                        <p:tgtEl>
                                          <p:spTgt spid="6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0"/>
                                        </p:tgtEl>
                                        <p:attrNameLst>
                                          <p:attrName>style.visibility</p:attrName>
                                        </p:attrNameLst>
                                      </p:cBhvr>
                                      <p:to>
                                        <p:strVal val="visible"/>
                                      </p:to>
                                    </p:set>
                                    <p:anim calcmode="lin" valueType="num">
                                      <p:cBhvr additive="base">
                                        <p:cTn dur="500"/>
                                        <p:tgtEl>
                                          <p:spTgt spid="680"/>
                                        </p:tgtEl>
                                        <p:attrNameLst>
                                          <p:attrName>ppt_w</p:attrName>
                                        </p:attrNameLst>
                                      </p:cBhvr>
                                      <p:tavLst>
                                        <p:tav fmla="" tm="0">
                                          <p:val>
                                            <p:strVal val="0"/>
                                          </p:val>
                                        </p:tav>
                                        <p:tav fmla="" tm="100000">
                                          <p:val>
                                            <p:strVal val="#ppt_w"/>
                                          </p:val>
                                        </p:tav>
                                      </p:tavLst>
                                    </p:anim>
                                    <p:anim calcmode="lin" valueType="num">
                                      <p:cBhvr additive="base">
                                        <p:cTn dur="500"/>
                                        <p:tgtEl>
                                          <p:spTgt spid="6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1"/>
                                        </p:tgtEl>
                                        <p:attrNameLst>
                                          <p:attrName>style.visibility</p:attrName>
                                        </p:attrNameLst>
                                      </p:cBhvr>
                                      <p:to>
                                        <p:strVal val="visible"/>
                                      </p:to>
                                    </p:set>
                                    <p:anim calcmode="lin" valueType="num">
                                      <p:cBhvr additive="base">
                                        <p:cTn dur="500"/>
                                        <p:tgtEl>
                                          <p:spTgt spid="681"/>
                                        </p:tgtEl>
                                        <p:attrNameLst>
                                          <p:attrName>ppt_w</p:attrName>
                                        </p:attrNameLst>
                                      </p:cBhvr>
                                      <p:tavLst>
                                        <p:tav fmla="" tm="0">
                                          <p:val>
                                            <p:strVal val="0"/>
                                          </p:val>
                                        </p:tav>
                                        <p:tav fmla="" tm="100000">
                                          <p:val>
                                            <p:strVal val="#ppt_w"/>
                                          </p:val>
                                        </p:tav>
                                      </p:tavLst>
                                    </p:anim>
                                    <p:anim calcmode="lin" valueType="num">
                                      <p:cBhvr additive="base">
                                        <p:cTn dur="500"/>
                                        <p:tgtEl>
                                          <p:spTgt spid="6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2"/>
                                        </p:tgtEl>
                                        <p:attrNameLst>
                                          <p:attrName>style.visibility</p:attrName>
                                        </p:attrNameLst>
                                      </p:cBhvr>
                                      <p:to>
                                        <p:strVal val="visible"/>
                                      </p:to>
                                    </p:set>
                                    <p:anim calcmode="lin" valueType="num">
                                      <p:cBhvr additive="base">
                                        <p:cTn dur="500"/>
                                        <p:tgtEl>
                                          <p:spTgt spid="682"/>
                                        </p:tgtEl>
                                        <p:attrNameLst>
                                          <p:attrName>ppt_w</p:attrName>
                                        </p:attrNameLst>
                                      </p:cBhvr>
                                      <p:tavLst>
                                        <p:tav fmla="" tm="0">
                                          <p:val>
                                            <p:strVal val="0"/>
                                          </p:val>
                                        </p:tav>
                                        <p:tav fmla="" tm="100000">
                                          <p:val>
                                            <p:strVal val="#ppt_w"/>
                                          </p:val>
                                        </p:tav>
                                      </p:tavLst>
                                    </p:anim>
                                    <p:anim calcmode="lin" valueType="num">
                                      <p:cBhvr additive="base">
                                        <p:cTn dur="500"/>
                                        <p:tgtEl>
                                          <p:spTgt spid="68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ppt_w</p:attrName>
                                        </p:attrNameLst>
                                      </p:cBhvr>
                                      <p:tavLst>
                                        <p:tav fmla="" tm="0">
                                          <p:val>
                                            <p:strVal val="0"/>
                                          </p:val>
                                        </p:tav>
                                        <p:tav fmla="" tm="100000">
                                          <p:val>
                                            <p:strVal val="#ppt_w"/>
                                          </p:val>
                                        </p:tav>
                                      </p:tavLst>
                                    </p:anim>
                                    <p:anim calcmode="lin" valueType="num">
                                      <p:cBhvr additive="base">
                                        <p:cTn dur="500"/>
                                        <p:tgtEl>
                                          <p:spTgt spid="6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7"/>
                                        </p:tgtEl>
                                        <p:attrNameLst>
                                          <p:attrName>style.visibility</p:attrName>
                                        </p:attrNameLst>
                                      </p:cBhvr>
                                      <p:to>
                                        <p:strVal val="visible"/>
                                      </p:to>
                                    </p:set>
                                    <p:anim calcmode="lin" valueType="num">
                                      <p:cBhvr additive="base">
                                        <p:cTn dur="500"/>
                                        <p:tgtEl>
                                          <p:spTgt spid="687"/>
                                        </p:tgtEl>
                                        <p:attrNameLst>
                                          <p:attrName>ppt_w</p:attrName>
                                        </p:attrNameLst>
                                      </p:cBhvr>
                                      <p:tavLst>
                                        <p:tav fmla="" tm="0">
                                          <p:val>
                                            <p:strVal val="0"/>
                                          </p:val>
                                        </p:tav>
                                        <p:tav fmla="" tm="100000">
                                          <p:val>
                                            <p:strVal val="#ppt_w"/>
                                          </p:val>
                                        </p:tav>
                                      </p:tavLst>
                                    </p:anim>
                                    <p:anim calcmode="lin" valueType="num">
                                      <p:cBhvr additive="base">
                                        <p:cTn dur="500"/>
                                        <p:tgtEl>
                                          <p:spTgt spid="68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5"/>
                                        </p:tgtEl>
                                        <p:attrNameLst>
                                          <p:attrName>style.visibility</p:attrName>
                                        </p:attrNameLst>
                                      </p:cBhvr>
                                      <p:to>
                                        <p:strVal val="visible"/>
                                      </p:to>
                                    </p:set>
                                    <p:anim calcmode="lin" valueType="num">
                                      <p:cBhvr additive="base">
                                        <p:cTn dur="500"/>
                                        <p:tgtEl>
                                          <p:spTgt spid="685"/>
                                        </p:tgtEl>
                                        <p:attrNameLst>
                                          <p:attrName>ppt_w</p:attrName>
                                        </p:attrNameLst>
                                      </p:cBhvr>
                                      <p:tavLst>
                                        <p:tav fmla="" tm="0">
                                          <p:val>
                                            <p:strVal val="0"/>
                                          </p:val>
                                        </p:tav>
                                        <p:tav fmla="" tm="100000">
                                          <p:val>
                                            <p:strVal val="#ppt_w"/>
                                          </p:val>
                                        </p:tav>
                                      </p:tavLst>
                                    </p:anim>
                                    <p:anim calcmode="lin" valueType="num">
                                      <p:cBhvr additive="base">
                                        <p:cTn dur="500"/>
                                        <p:tgtEl>
                                          <p:spTgt spid="68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43"/>
          <p:cNvSpPr/>
          <p:nvPr/>
        </p:nvSpPr>
        <p:spPr>
          <a:xfrm>
            <a:off x="674688" y="1871663"/>
            <a:ext cx="7772400" cy="49863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In reality, orbits are not perfect circles. The shape of an orbit is actually an </a:t>
            </a:r>
            <a:r>
              <a:rPr b="1" lang="en-US" sz="2400">
                <a:solidFill>
                  <a:schemeClr val="dk1"/>
                </a:solidFill>
                <a:latin typeface="Arial"/>
                <a:ea typeface="Arial"/>
                <a:cs typeface="Arial"/>
                <a:sym typeface="Arial"/>
              </a:rPr>
              <a:t>ellipse</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An ellipse is formed when a point (x,y) is traced around two focus points (called “foci”) where the sum of the distances between the point and each focus (d</a:t>
            </a:r>
            <a:r>
              <a:rPr baseline="-25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+d</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remains constant. </a:t>
            </a:r>
            <a:endParaRPr baseline="30000" sz="2400">
              <a:solidFill>
                <a:schemeClr val="dk1"/>
              </a:solidFill>
              <a:latin typeface="Arial"/>
              <a:ea typeface="Arial"/>
              <a:cs typeface="Arial"/>
              <a:sym typeface="Arial"/>
            </a:endParaRPr>
          </a:p>
        </p:txBody>
      </p:sp>
      <p:sp>
        <p:nvSpPr>
          <p:cNvPr id="695" name="Google Shape;695;p43"/>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Kepler’s Laws</a:t>
            </a:r>
            <a:endParaRPr/>
          </a:p>
        </p:txBody>
      </p:sp>
      <p:sp>
        <p:nvSpPr>
          <p:cNvPr id="696" name="Google Shape;696;p43"/>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pic>
        <p:nvPicPr>
          <p:cNvPr descr="Ellipse: Definition, Formulas, Equations and Important Terms" id="697" name="Google Shape;697;p43"/>
          <p:cNvPicPr preferRelativeResize="0"/>
          <p:nvPr/>
        </p:nvPicPr>
        <p:blipFill rotWithShape="1">
          <a:blip r:embed="rId3">
            <a:alphaModFix/>
          </a:blip>
          <a:srcRect b="0" l="0" r="0" t="8637"/>
          <a:stretch/>
        </p:blipFill>
        <p:spPr>
          <a:xfrm>
            <a:off x="1948763" y="2704749"/>
            <a:ext cx="4884069" cy="25154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5">
                                            <p:txEl>
                                              <p:pRg end="0" st="0"/>
                                            </p:txEl>
                                          </p:spTgt>
                                        </p:tgtEl>
                                        <p:attrNameLst>
                                          <p:attrName>style.visibility</p:attrName>
                                        </p:attrNameLst>
                                      </p:cBhvr>
                                      <p:to>
                                        <p:strVal val="visible"/>
                                      </p:to>
                                    </p:set>
                                    <p:anim calcmode="lin" valueType="num">
                                      <p:cBhvr additive="base">
                                        <p:cTn dur="500"/>
                                        <p:tgtEl>
                                          <p:spTgt spid="69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0" st="0"/>
                                            </p:txEl>
                                          </p:spTgt>
                                        </p:tgtEl>
                                        <p:attrNameLst>
                                          <p:attrName>style.visibility</p:attrName>
                                        </p:attrNameLst>
                                      </p:cBhvr>
                                      <p:to>
                                        <p:strVal val="visible"/>
                                      </p:to>
                                    </p:set>
                                    <p:anim calcmode="lin" valueType="num">
                                      <p:cBhvr additive="base">
                                        <p:cTn dur="500"/>
                                        <p:tgtEl>
                                          <p:spTgt spid="69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1" st="1"/>
                                            </p:txEl>
                                          </p:spTgt>
                                        </p:tgtEl>
                                        <p:attrNameLst>
                                          <p:attrName>style.visibility</p:attrName>
                                        </p:attrNameLst>
                                      </p:cBhvr>
                                      <p:to>
                                        <p:strVal val="visible"/>
                                      </p:to>
                                    </p:set>
                                    <p:anim calcmode="lin" valueType="num">
                                      <p:cBhvr additive="base">
                                        <p:cTn dur="500"/>
                                        <p:tgtEl>
                                          <p:spTgt spid="69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2" st="2"/>
                                            </p:txEl>
                                          </p:spTgt>
                                        </p:tgtEl>
                                        <p:attrNameLst>
                                          <p:attrName>style.visibility</p:attrName>
                                        </p:attrNameLst>
                                      </p:cBhvr>
                                      <p:to>
                                        <p:strVal val="visible"/>
                                      </p:to>
                                    </p:set>
                                    <p:anim calcmode="lin" valueType="num">
                                      <p:cBhvr additive="base">
                                        <p:cTn dur="500"/>
                                        <p:tgtEl>
                                          <p:spTgt spid="69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3" st="3"/>
                                            </p:txEl>
                                          </p:spTgt>
                                        </p:tgtEl>
                                        <p:attrNameLst>
                                          <p:attrName>style.visibility</p:attrName>
                                        </p:attrNameLst>
                                      </p:cBhvr>
                                      <p:to>
                                        <p:strVal val="visible"/>
                                      </p:to>
                                    </p:set>
                                    <p:anim calcmode="lin" valueType="num">
                                      <p:cBhvr additive="base">
                                        <p:cTn dur="500"/>
                                        <p:tgtEl>
                                          <p:spTgt spid="69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4" st="4"/>
                                            </p:txEl>
                                          </p:spTgt>
                                        </p:tgtEl>
                                        <p:attrNameLst>
                                          <p:attrName>style.visibility</p:attrName>
                                        </p:attrNameLst>
                                      </p:cBhvr>
                                      <p:to>
                                        <p:strVal val="visible"/>
                                      </p:to>
                                    </p:set>
                                    <p:anim calcmode="lin" valueType="num">
                                      <p:cBhvr additive="base">
                                        <p:cTn dur="500"/>
                                        <p:tgtEl>
                                          <p:spTgt spid="69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5" st="5"/>
                                            </p:txEl>
                                          </p:spTgt>
                                        </p:tgtEl>
                                        <p:attrNameLst>
                                          <p:attrName>style.visibility</p:attrName>
                                        </p:attrNameLst>
                                      </p:cBhvr>
                                      <p:to>
                                        <p:strVal val="visible"/>
                                      </p:to>
                                    </p:set>
                                    <p:anim calcmode="lin" valueType="num">
                                      <p:cBhvr additive="base">
                                        <p:cTn dur="500"/>
                                        <p:tgtEl>
                                          <p:spTgt spid="69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6" st="6"/>
                                            </p:txEl>
                                          </p:spTgt>
                                        </p:tgtEl>
                                        <p:attrNameLst>
                                          <p:attrName>style.visibility</p:attrName>
                                        </p:attrNameLst>
                                      </p:cBhvr>
                                      <p:to>
                                        <p:strVal val="visible"/>
                                      </p:to>
                                    </p:set>
                                    <p:anim calcmode="lin" valueType="num">
                                      <p:cBhvr additive="base">
                                        <p:cTn dur="500"/>
                                        <p:tgtEl>
                                          <p:spTgt spid="69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xEl>
                                              <p:pRg end="7" st="7"/>
                                            </p:txEl>
                                          </p:spTgt>
                                        </p:tgtEl>
                                        <p:attrNameLst>
                                          <p:attrName>style.visibility</p:attrName>
                                        </p:attrNameLst>
                                      </p:cBhvr>
                                      <p:to>
                                        <p:strVal val="visible"/>
                                      </p:to>
                                    </p:set>
                                    <p:anim calcmode="lin" valueType="num">
                                      <p:cBhvr additive="base">
                                        <p:cTn dur="500"/>
                                        <p:tgtEl>
                                          <p:spTgt spid="69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7"/>
                                        </p:tgtEl>
                                        <p:attrNameLst>
                                          <p:attrName>style.visibility</p:attrName>
                                        </p:attrNameLst>
                                      </p:cBhvr>
                                      <p:to>
                                        <p:strVal val="visible"/>
                                      </p:to>
                                    </p:set>
                                    <p:anim calcmode="lin" valueType="num">
                                      <p:cBhvr additive="base">
                                        <p:cTn dur="500"/>
                                        <p:tgtEl>
                                          <p:spTgt spid="69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4"/>
          <p:cNvSpPr/>
          <p:nvPr/>
        </p:nvSpPr>
        <p:spPr>
          <a:xfrm>
            <a:off x="674688" y="1871663"/>
            <a:ext cx="7772400" cy="49863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Johannes Kepler, a German astronomer and mathematician, developed 3 Laws of Planetary Motion that described how planets orbit stars.</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Kepler’s 1</a:t>
            </a:r>
            <a:r>
              <a:rPr b="1" baseline="30000" lang="en-US" sz="2400">
                <a:solidFill>
                  <a:schemeClr val="dk1"/>
                </a:solidFill>
                <a:latin typeface="Arial"/>
                <a:ea typeface="Arial"/>
                <a:cs typeface="Arial"/>
                <a:sym typeface="Arial"/>
              </a:rPr>
              <a:t>st</a:t>
            </a:r>
            <a:r>
              <a:rPr b="1" lang="en-US" sz="2400">
                <a:solidFill>
                  <a:schemeClr val="dk1"/>
                </a:solidFill>
                <a:latin typeface="Arial"/>
                <a:ea typeface="Arial"/>
                <a:cs typeface="Arial"/>
                <a:sym typeface="Arial"/>
              </a:rPr>
              <a:t> Law</a:t>
            </a:r>
            <a:r>
              <a:rPr lang="en-US" sz="2400">
                <a:solidFill>
                  <a:schemeClr val="dk1"/>
                </a:solidFill>
                <a:latin typeface="Arial"/>
                <a:ea typeface="Arial"/>
                <a:cs typeface="Arial"/>
                <a:sym typeface="Arial"/>
              </a:rPr>
              <a:t>: explains that planets are orbiting the sun in a path described as an ellipse, and the sun is located at one focus.</a:t>
            </a:r>
            <a:endParaRPr sz="2400">
              <a:solidFill>
                <a:schemeClr val="dk1"/>
              </a:solidFill>
              <a:latin typeface="Arial"/>
              <a:ea typeface="Arial"/>
              <a:cs typeface="Arial"/>
              <a:sym typeface="Arial"/>
            </a:endParaRPr>
          </a:p>
        </p:txBody>
      </p:sp>
      <p:sp>
        <p:nvSpPr>
          <p:cNvPr id="704" name="Google Shape;704;p44"/>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Kepler’s Laws</a:t>
            </a:r>
            <a:endParaRPr/>
          </a:p>
        </p:txBody>
      </p:sp>
      <p:sp>
        <p:nvSpPr>
          <p:cNvPr id="705" name="Google Shape;705;p44"/>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pic>
        <p:nvPicPr>
          <p:cNvPr descr="http://cdn1.thefamouspeople.com/profiles/images/johannes-kepler-1.jpg" id="706" name="Google Shape;706;p44"/>
          <p:cNvPicPr preferRelativeResize="0"/>
          <p:nvPr/>
        </p:nvPicPr>
        <p:blipFill rotWithShape="1">
          <a:blip r:embed="rId3">
            <a:alphaModFix/>
          </a:blip>
          <a:srcRect b="0" l="0" r="0" t="0"/>
          <a:stretch/>
        </p:blipFill>
        <p:spPr>
          <a:xfrm>
            <a:off x="6832832" y="143559"/>
            <a:ext cx="2142513" cy="1785428"/>
          </a:xfrm>
          <a:prstGeom prst="rect">
            <a:avLst/>
          </a:prstGeom>
          <a:noFill/>
          <a:ln>
            <a:noFill/>
          </a:ln>
          <a:effectLst>
            <a:outerShdw blurRad="292100" rotWithShape="0" algn="tl" dir="2700000" dist="139700">
              <a:srgbClr val="333333">
                <a:alpha val="64705"/>
              </a:srgbClr>
            </a:outerShdw>
          </a:effectLst>
        </p:spPr>
      </p:pic>
      <p:pic>
        <p:nvPicPr>
          <p:cNvPr descr="13.5 Kepler's Laws of Planetary Motion | University Physics Volume 1" id="707" name="Google Shape;707;p44"/>
          <p:cNvPicPr preferRelativeResize="0"/>
          <p:nvPr/>
        </p:nvPicPr>
        <p:blipFill rotWithShape="1">
          <a:blip r:embed="rId4">
            <a:alphaModFix/>
          </a:blip>
          <a:srcRect b="7863" l="0" r="0" t="0"/>
          <a:stretch/>
        </p:blipFill>
        <p:spPr>
          <a:xfrm>
            <a:off x="1326497" y="4213604"/>
            <a:ext cx="6491005" cy="26443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3">
                                            <p:txEl>
                                              <p:pRg end="0" st="0"/>
                                            </p:txEl>
                                          </p:spTgt>
                                        </p:tgtEl>
                                        <p:attrNameLst>
                                          <p:attrName>style.visibility</p:attrName>
                                        </p:attrNameLst>
                                      </p:cBhvr>
                                      <p:to>
                                        <p:strVal val="visible"/>
                                      </p:to>
                                    </p:set>
                                    <p:anim calcmode="lin" valueType="num">
                                      <p:cBhvr additive="base">
                                        <p:cTn dur="500"/>
                                        <p:tgtEl>
                                          <p:spTgt spid="7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3">
                                            <p:txEl>
                                              <p:pRg end="1" st="1"/>
                                            </p:txEl>
                                          </p:spTgt>
                                        </p:tgtEl>
                                        <p:attrNameLst>
                                          <p:attrName>style.visibility</p:attrName>
                                        </p:attrNameLst>
                                      </p:cBhvr>
                                      <p:to>
                                        <p:strVal val="visible"/>
                                      </p:to>
                                    </p:set>
                                    <p:anim calcmode="lin" valueType="num">
                                      <p:cBhvr additive="base">
                                        <p:cTn dur="500"/>
                                        <p:tgtEl>
                                          <p:spTgt spid="703">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706"/>
                                        </p:tgtEl>
                                        <p:attrNameLst>
                                          <p:attrName>style.visibility</p:attrName>
                                        </p:attrNameLst>
                                      </p:cBhvr>
                                      <p:to>
                                        <p:strVal val="visible"/>
                                      </p:to>
                                    </p:set>
                                    <p:anim calcmode="lin" valueType="num">
                                      <p:cBhvr additive="base">
                                        <p:cTn dur="500"/>
                                        <p:tgtEl>
                                          <p:spTgt spid="706"/>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707"/>
                                        </p:tgtEl>
                                        <p:attrNameLst>
                                          <p:attrName>style.visibility</p:attrName>
                                        </p:attrNameLst>
                                      </p:cBhvr>
                                      <p:to>
                                        <p:strVal val="visible"/>
                                      </p:to>
                                    </p:set>
                                    <p:anim calcmode="lin" valueType="num">
                                      <p:cBhvr additive="base">
                                        <p:cTn dur="500"/>
                                        <p:tgtEl>
                                          <p:spTgt spid="7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5"/>
          <p:cNvSpPr/>
          <p:nvPr/>
        </p:nvSpPr>
        <p:spPr>
          <a:xfrm>
            <a:off x="674688" y="1871663"/>
            <a:ext cx="7772400" cy="49863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Kepler’s 2</a:t>
            </a:r>
            <a:r>
              <a:rPr b="1" baseline="30000" lang="en-US" sz="2400">
                <a:solidFill>
                  <a:schemeClr val="dk1"/>
                </a:solidFill>
                <a:latin typeface="Arial"/>
                <a:ea typeface="Arial"/>
                <a:cs typeface="Arial"/>
                <a:sym typeface="Arial"/>
              </a:rPr>
              <a:t>nd</a:t>
            </a:r>
            <a:r>
              <a:rPr b="1" lang="en-US" sz="2400">
                <a:solidFill>
                  <a:schemeClr val="dk1"/>
                </a:solidFill>
                <a:latin typeface="Arial"/>
                <a:ea typeface="Arial"/>
                <a:cs typeface="Arial"/>
                <a:sym typeface="Arial"/>
              </a:rPr>
              <a:t> Law</a:t>
            </a:r>
            <a:r>
              <a:rPr lang="en-US" sz="2400">
                <a:solidFill>
                  <a:schemeClr val="dk1"/>
                </a:solidFill>
                <a:latin typeface="Arial"/>
                <a:ea typeface="Arial"/>
                <a:cs typeface="Arial"/>
                <a:sym typeface="Arial"/>
              </a:rPr>
              <a:t>: describes the speed at which any given planet will move while orbiting the sun. A planet moves </a:t>
            </a:r>
            <a:r>
              <a:rPr i="1" lang="en-US" sz="2400">
                <a:solidFill>
                  <a:schemeClr val="dk1"/>
                </a:solidFill>
                <a:latin typeface="Arial"/>
                <a:ea typeface="Arial"/>
                <a:cs typeface="Arial"/>
                <a:sym typeface="Arial"/>
              </a:rPr>
              <a:t>fastest</a:t>
            </a:r>
            <a:r>
              <a:rPr lang="en-US" sz="2400">
                <a:solidFill>
                  <a:schemeClr val="dk1"/>
                </a:solidFill>
                <a:latin typeface="Arial"/>
                <a:ea typeface="Arial"/>
                <a:cs typeface="Arial"/>
                <a:sym typeface="Arial"/>
              </a:rPr>
              <a:t> when it is </a:t>
            </a:r>
            <a:r>
              <a:rPr i="1" lang="en-US" sz="2400">
                <a:solidFill>
                  <a:schemeClr val="dk1"/>
                </a:solidFill>
                <a:latin typeface="Arial"/>
                <a:ea typeface="Arial"/>
                <a:cs typeface="Arial"/>
                <a:sym typeface="Arial"/>
              </a:rPr>
              <a:t>closest</a:t>
            </a:r>
            <a:r>
              <a:rPr lang="en-US" sz="2400">
                <a:solidFill>
                  <a:schemeClr val="dk1"/>
                </a:solidFill>
                <a:latin typeface="Arial"/>
                <a:ea typeface="Arial"/>
                <a:cs typeface="Arial"/>
                <a:sym typeface="Arial"/>
              </a:rPr>
              <a:t> to the sun and </a:t>
            </a:r>
            <a:r>
              <a:rPr lang="en-US" sz="2400" u="sng">
                <a:solidFill>
                  <a:schemeClr val="dk1"/>
                </a:solidFill>
                <a:latin typeface="Arial"/>
                <a:ea typeface="Arial"/>
                <a:cs typeface="Arial"/>
                <a:sym typeface="Arial"/>
              </a:rPr>
              <a:t>slowest</a:t>
            </a:r>
            <a:r>
              <a:rPr lang="en-US" sz="2400">
                <a:solidFill>
                  <a:schemeClr val="dk1"/>
                </a:solidFill>
                <a:latin typeface="Arial"/>
                <a:ea typeface="Arial"/>
                <a:cs typeface="Arial"/>
                <a:sym typeface="Arial"/>
              </a:rPr>
              <a:t> when it is </a:t>
            </a:r>
            <a:r>
              <a:rPr lang="en-US" sz="2400" u="sng">
                <a:solidFill>
                  <a:schemeClr val="dk1"/>
                </a:solidFill>
                <a:latin typeface="Arial"/>
                <a:ea typeface="Arial"/>
                <a:cs typeface="Arial"/>
                <a:sym typeface="Arial"/>
              </a:rPr>
              <a:t>furthest</a:t>
            </a:r>
            <a:r>
              <a:rPr lang="en-US" sz="2400">
                <a:solidFill>
                  <a:schemeClr val="dk1"/>
                </a:solidFill>
                <a:latin typeface="Arial"/>
                <a:ea typeface="Arial"/>
                <a:cs typeface="Arial"/>
                <a:sym typeface="Arial"/>
              </a:rPr>
              <a:t> from the sun. Yet, if an imaginary line were drawn from the center of the planet to the center of the sun, that line would sweep out the </a:t>
            </a:r>
            <a:r>
              <a:rPr b="1" lang="en-US" sz="2400">
                <a:solidFill>
                  <a:schemeClr val="dk1"/>
                </a:solidFill>
                <a:latin typeface="Arial"/>
                <a:ea typeface="Arial"/>
                <a:cs typeface="Arial"/>
                <a:sym typeface="Arial"/>
              </a:rPr>
              <a:t>same area in equal periods of time</a:t>
            </a:r>
            <a:r>
              <a:rPr lang="en-US" sz="2400">
                <a:solidFill>
                  <a:schemeClr val="dk1"/>
                </a:solidFill>
                <a:latin typeface="Arial"/>
                <a:ea typeface="Arial"/>
                <a:cs typeface="Arial"/>
                <a:sym typeface="Arial"/>
              </a:rPr>
              <a:t>.</a:t>
            </a:r>
            <a:endParaRPr/>
          </a:p>
        </p:txBody>
      </p:sp>
      <p:sp>
        <p:nvSpPr>
          <p:cNvPr id="714" name="Google Shape;714;p45"/>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Kepler’s Laws</a:t>
            </a:r>
            <a:endParaRPr/>
          </a:p>
        </p:txBody>
      </p:sp>
      <p:sp>
        <p:nvSpPr>
          <p:cNvPr id="715" name="Google Shape;715;p45"/>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pic>
        <p:nvPicPr>
          <p:cNvPr descr="http://cdn1.thefamouspeople.com/profiles/images/johannes-kepler-1.jpg" id="716" name="Google Shape;716;p45"/>
          <p:cNvPicPr preferRelativeResize="0"/>
          <p:nvPr/>
        </p:nvPicPr>
        <p:blipFill rotWithShape="1">
          <a:blip r:embed="rId3">
            <a:alphaModFix/>
          </a:blip>
          <a:srcRect b="0" l="0" r="0" t="0"/>
          <a:stretch/>
        </p:blipFill>
        <p:spPr>
          <a:xfrm>
            <a:off x="6832832" y="143559"/>
            <a:ext cx="2142513" cy="1785428"/>
          </a:xfrm>
          <a:prstGeom prst="rect">
            <a:avLst/>
          </a:prstGeom>
          <a:noFill/>
          <a:ln>
            <a:noFill/>
          </a:ln>
          <a:effectLst>
            <a:outerShdw blurRad="292100" rotWithShape="0" algn="tl" dir="2700000" dist="139700">
              <a:srgbClr val="333333">
                <a:alpha val="64705"/>
              </a:srgbClr>
            </a:outerShdw>
          </a:effectLst>
        </p:spPr>
      </p:pic>
      <p:pic>
        <p:nvPicPr>
          <p:cNvPr descr="Kepler's Second Law - Labster" id="717" name="Google Shape;717;p45"/>
          <p:cNvPicPr preferRelativeResize="0"/>
          <p:nvPr/>
        </p:nvPicPr>
        <p:blipFill rotWithShape="1">
          <a:blip r:embed="rId4">
            <a:alphaModFix/>
          </a:blip>
          <a:srcRect b="0" l="0" r="0" t="0"/>
          <a:stretch/>
        </p:blipFill>
        <p:spPr>
          <a:xfrm>
            <a:off x="2307046" y="4487103"/>
            <a:ext cx="4144088" cy="2331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3">
                                            <p:txEl>
                                              <p:pRg end="0" st="0"/>
                                            </p:txEl>
                                          </p:spTgt>
                                        </p:tgtEl>
                                        <p:attrNameLst>
                                          <p:attrName>style.visibility</p:attrName>
                                        </p:attrNameLst>
                                      </p:cBhvr>
                                      <p:to>
                                        <p:strVal val="visible"/>
                                      </p:to>
                                    </p:set>
                                    <p:anim calcmode="lin" valueType="num">
                                      <p:cBhvr additive="base">
                                        <p:cTn dur="500"/>
                                        <p:tgtEl>
                                          <p:spTgt spid="713">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717"/>
                                        </p:tgtEl>
                                        <p:attrNameLst>
                                          <p:attrName>style.visibility</p:attrName>
                                        </p:attrNameLst>
                                      </p:cBhvr>
                                      <p:to>
                                        <p:strVal val="visible"/>
                                      </p:to>
                                    </p:set>
                                    <p:anim calcmode="lin" valueType="num">
                                      <p:cBhvr additive="base">
                                        <p:cTn dur="500"/>
                                        <p:tgtEl>
                                          <p:spTgt spid="7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46"/>
          <p:cNvSpPr/>
          <p:nvPr/>
        </p:nvSpPr>
        <p:spPr>
          <a:xfrm>
            <a:off x="674688" y="1871663"/>
            <a:ext cx="7772400" cy="49863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Derive </a:t>
            </a:r>
            <a:r>
              <a:rPr b="1" lang="en-US" sz="2400">
                <a:solidFill>
                  <a:schemeClr val="dk1"/>
                </a:solidFill>
                <a:latin typeface="Arial"/>
                <a:ea typeface="Arial"/>
                <a:cs typeface="Arial"/>
                <a:sym typeface="Arial"/>
              </a:rPr>
              <a:t>Kepler’s 3</a:t>
            </a:r>
            <a:r>
              <a:rPr b="1" baseline="30000" lang="en-US" sz="2400">
                <a:solidFill>
                  <a:schemeClr val="dk1"/>
                </a:solidFill>
                <a:latin typeface="Arial"/>
                <a:ea typeface="Arial"/>
                <a:cs typeface="Arial"/>
                <a:sym typeface="Arial"/>
              </a:rPr>
              <a:t>rd</a:t>
            </a:r>
            <a:r>
              <a:rPr b="1" lang="en-US" sz="2400">
                <a:solidFill>
                  <a:schemeClr val="dk1"/>
                </a:solidFill>
                <a:latin typeface="Arial"/>
                <a:ea typeface="Arial"/>
                <a:cs typeface="Arial"/>
                <a:sym typeface="Arial"/>
              </a:rPr>
              <a:t> Law</a:t>
            </a:r>
            <a:r>
              <a:rPr lang="en-US" sz="2400">
                <a:solidFill>
                  <a:schemeClr val="dk1"/>
                </a:solidFill>
                <a:latin typeface="Arial"/>
                <a:ea typeface="Arial"/>
                <a:cs typeface="Arial"/>
                <a:sym typeface="Arial"/>
              </a:rPr>
              <a:t>, which states that the period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of an object in a circular orbit about a body of mass </a:t>
            </a:r>
            <a:r>
              <a:rPr i="1" lang="en-US" sz="2400">
                <a:solidFill>
                  <a:schemeClr val="dk1"/>
                </a:solidFill>
                <a:latin typeface="Arial"/>
                <a:ea typeface="Arial"/>
                <a:cs typeface="Arial"/>
                <a:sym typeface="Arial"/>
              </a:rPr>
              <a:t>M</a:t>
            </a:r>
            <a:r>
              <a:rPr lang="en-US" sz="2400">
                <a:solidFill>
                  <a:schemeClr val="dk1"/>
                </a:solidFill>
                <a:latin typeface="Arial"/>
                <a:ea typeface="Arial"/>
                <a:cs typeface="Arial"/>
                <a:sym typeface="Arial"/>
              </a:rPr>
              <a:t> is given by </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∙In circular orbit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ma</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Courier New"/>
                <a:ea typeface="Courier New"/>
                <a:cs typeface="Courier New"/>
                <a:sym typeface="Courier New"/>
              </a:rPr>
              <a:t>∙</a:t>
            </a:r>
            <a:r>
              <a:rPr lang="en-US" sz="2400">
                <a:solidFill>
                  <a:schemeClr val="dk1"/>
                </a:solidFill>
                <a:latin typeface="Arial"/>
                <a:ea typeface="Arial"/>
                <a:cs typeface="Arial"/>
                <a:sym typeface="Arial"/>
              </a:rPr>
              <a:t>From Newton’s law of gravitation </a:t>
            </a:r>
            <a:r>
              <a:rPr i="1" lang="en-US" sz="2400">
                <a:solidFill>
                  <a:schemeClr val="dk1"/>
                </a:solidFill>
                <a:latin typeface="Arial"/>
                <a:ea typeface="Arial"/>
                <a:cs typeface="Arial"/>
                <a:sym typeface="Arial"/>
              </a:rPr>
              <a:t>F</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∙From Topic A.2,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C</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r / 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Then</a:t>
            </a:r>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ma</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          	 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r / 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                 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GMT</a:t>
            </a:r>
            <a:r>
              <a:rPr baseline="30000"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r>
              <a:rPr lang="en-US" sz="2400">
                <a:solidFill>
                  <a:srgbClr val="000000"/>
                </a:solidFill>
                <a:latin typeface="Arial"/>
                <a:ea typeface="Arial"/>
                <a:cs typeface="Arial"/>
                <a:sym typeface="Arial"/>
              </a:rPr>
              <a:t>.</a:t>
            </a:r>
            <a:endParaRPr baseline="30000" sz="2400">
              <a:solidFill>
                <a:schemeClr val="dk1"/>
              </a:solidFill>
              <a:latin typeface="Arial"/>
              <a:ea typeface="Arial"/>
              <a:cs typeface="Arial"/>
              <a:sym typeface="Arial"/>
            </a:endParaRPr>
          </a:p>
        </p:txBody>
      </p:sp>
      <p:sp>
        <p:nvSpPr>
          <p:cNvPr id="724" name="Google Shape;724;p46"/>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Kepler’s Laws</a:t>
            </a:r>
            <a:endParaRPr/>
          </a:p>
        </p:txBody>
      </p:sp>
      <p:sp>
        <p:nvSpPr>
          <p:cNvPr id="725" name="Google Shape;725;p4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cxnSp>
        <p:nvCxnSpPr>
          <p:cNvPr id="726" name="Google Shape;726;p46"/>
          <p:cNvCxnSpPr/>
          <p:nvPr/>
        </p:nvCxnSpPr>
        <p:spPr>
          <a:xfrm flipH="1" rot="10800000">
            <a:off x="2538413" y="4895850"/>
            <a:ext cx="233362" cy="271463"/>
          </a:xfrm>
          <a:prstGeom prst="straightConnector1">
            <a:avLst/>
          </a:prstGeom>
          <a:noFill/>
          <a:ln cap="flat" cmpd="sng" w="19050">
            <a:solidFill>
              <a:srgbClr val="FF0000"/>
            </a:solidFill>
            <a:prstDash val="solid"/>
            <a:round/>
            <a:headEnd len="med" w="med" type="none"/>
            <a:tailEnd len="med" w="med" type="none"/>
          </a:ln>
        </p:spPr>
      </p:cxnSp>
      <p:cxnSp>
        <p:nvCxnSpPr>
          <p:cNvPr id="727" name="Google Shape;727;p46"/>
          <p:cNvCxnSpPr/>
          <p:nvPr/>
        </p:nvCxnSpPr>
        <p:spPr>
          <a:xfrm flipH="1" rot="10800000">
            <a:off x="3938588" y="4881563"/>
            <a:ext cx="225425" cy="276225"/>
          </a:xfrm>
          <a:prstGeom prst="straightConnector1">
            <a:avLst/>
          </a:prstGeom>
          <a:noFill/>
          <a:ln cap="flat" cmpd="sng" w="19050">
            <a:solidFill>
              <a:srgbClr val="FF0000"/>
            </a:solidFill>
            <a:prstDash val="solid"/>
            <a:round/>
            <a:headEnd len="med" w="med" type="none"/>
            <a:tailEnd len="med" w="med" type="none"/>
          </a:ln>
        </p:spPr>
      </p:cxnSp>
      <p:pic>
        <p:nvPicPr>
          <p:cNvPr descr="http://cdn1.thefamouspeople.com/profiles/images/johannes-kepler-1.jpg" id="728" name="Google Shape;728;p46"/>
          <p:cNvPicPr preferRelativeResize="0"/>
          <p:nvPr/>
        </p:nvPicPr>
        <p:blipFill rotWithShape="1">
          <a:blip r:embed="rId3">
            <a:alphaModFix/>
          </a:blip>
          <a:srcRect b="0" l="0" r="0" t="0"/>
          <a:stretch/>
        </p:blipFill>
        <p:spPr>
          <a:xfrm>
            <a:off x="6832832" y="143559"/>
            <a:ext cx="2142513" cy="1785428"/>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0" st="0"/>
                                            </p:txEl>
                                          </p:spTgt>
                                        </p:tgtEl>
                                        <p:attrNameLst>
                                          <p:attrName>style.visibility</p:attrName>
                                        </p:attrNameLst>
                                      </p:cBhvr>
                                      <p:to>
                                        <p:strVal val="visible"/>
                                      </p:to>
                                    </p:set>
                                    <p:anim calcmode="lin" valueType="num">
                                      <p:cBhvr additive="base">
                                        <p:cTn dur="500"/>
                                        <p:tgtEl>
                                          <p:spTgt spid="7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1" st="1"/>
                                            </p:txEl>
                                          </p:spTgt>
                                        </p:tgtEl>
                                        <p:attrNameLst>
                                          <p:attrName>style.visibility</p:attrName>
                                        </p:attrNameLst>
                                      </p:cBhvr>
                                      <p:to>
                                        <p:strVal val="visible"/>
                                      </p:to>
                                    </p:set>
                                    <p:anim calcmode="lin" valueType="num">
                                      <p:cBhvr additive="base">
                                        <p:cTn dur="500"/>
                                        <p:tgtEl>
                                          <p:spTgt spid="72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2" st="2"/>
                                            </p:txEl>
                                          </p:spTgt>
                                        </p:tgtEl>
                                        <p:attrNameLst>
                                          <p:attrName>style.visibility</p:attrName>
                                        </p:attrNameLst>
                                      </p:cBhvr>
                                      <p:to>
                                        <p:strVal val="visible"/>
                                      </p:to>
                                    </p:set>
                                    <p:anim calcmode="lin" valueType="num">
                                      <p:cBhvr additive="base">
                                        <p:cTn dur="500"/>
                                        <p:tgtEl>
                                          <p:spTgt spid="72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3" st="3"/>
                                            </p:txEl>
                                          </p:spTgt>
                                        </p:tgtEl>
                                        <p:attrNameLst>
                                          <p:attrName>style.visibility</p:attrName>
                                        </p:attrNameLst>
                                      </p:cBhvr>
                                      <p:to>
                                        <p:strVal val="visible"/>
                                      </p:to>
                                    </p:set>
                                    <p:anim calcmode="lin" valueType="num">
                                      <p:cBhvr additive="base">
                                        <p:cTn dur="500"/>
                                        <p:tgtEl>
                                          <p:spTgt spid="72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4" st="4"/>
                                            </p:txEl>
                                          </p:spTgt>
                                        </p:tgtEl>
                                        <p:attrNameLst>
                                          <p:attrName>style.visibility</p:attrName>
                                        </p:attrNameLst>
                                      </p:cBhvr>
                                      <p:to>
                                        <p:strVal val="visible"/>
                                      </p:to>
                                    </p:set>
                                    <p:anim calcmode="lin" valueType="num">
                                      <p:cBhvr additive="base">
                                        <p:cTn dur="500"/>
                                        <p:tgtEl>
                                          <p:spTgt spid="72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5" st="5"/>
                                            </p:txEl>
                                          </p:spTgt>
                                        </p:tgtEl>
                                        <p:attrNameLst>
                                          <p:attrName>style.visibility</p:attrName>
                                        </p:attrNameLst>
                                      </p:cBhvr>
                                      <p:to>
                                        <p:strVal val="visible"/>
                                      </p:to>
                                    </p:set>
                                    <p:anim calcmode="lin" valueType="num">
                                      <p:cBhvr additive="base">
                                        <p:cTn dur="500"/>
                                        <p:tgtEl>
                                          <p:spTgt spid="72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6" st="6"/>
                                            </p:txEl>
                                          </p:spTgt>
                                        </p:tgtEl>
                                        <p:attrNameLst>
                                          <p:attrName>style.visibility</p:attrName>
                                        </p:attrNameLst>
                                      </p:cBhvr>
                                      <p:to>
                                        <p:strVal val="visible"/>
                                      </p:to>
                                    </p:set>
                                    <p:anim calcmode="lin" valueType="num">
                                      <p:cBhvr additive="base">
                                        <p:cTn dur="500"/>
                                        <p:tgtEl>
                                          <p:spTgt spid="72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7" st="7"/>
                                            </p:txEl>
                                          </p:spTgt>
                                        </p:tgtEl>
                                        <p:attrNameLst>
                                          <p:attrName>style.visibility</p:attrName>
                                        </p:attrNameLst>
                                      </p:cBhvr>
                                      <p:to>
                                        <p:strVal val="visible"/>
                                      </p:to>
                                    </p:set>
                                    <p:anim calcmode="lin" valueType="num">
                                      <p:cBhvr additive="base">
                                        <p:cTn dur="500"/>
                                        <p:tgtEl>
                                          <p:spTgt spid="72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3">
                                            <p:txEl>
                                              <p:pRg end="8" st="8"/>
                                            </p:txEl>
                                          </p:spTgt>
                                        </p:tgtEl>
                                        <p:attrNameLst>
                                          <p:attrName>style.visibility</p:attrName>
                                        </p:attrNameLst>
                                      </p:cBhvr>
                                      <p:to>
                                        <p:strVal val="visible"/>
                                      </p:to>
                                    </p:set>
                                    <p:anim calcmode="lin" valueType="num">
                                      <p:cBhvr additive="base">
                                        <p:cTn dur="500"/>
                                        <p:tgtEl>
                                          <p:spTgt spid="72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47"/>
          <p:cNvSpPr/>
          <p:nvPr/>
        </p:nvSpPr>
        <p:spPr>
          <a:xfrm>
            <a:off x="674688" y="1871663"/>
            <a:ext cx="7772400" cy="49863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A satellite in geosynchronous                             orbit takes 24 hours to orbit the earth.                                   Thus, it can be above the same point of                                     the earth’s surface at all times, if desired.                            Find the necessary orbital radius, and express it in terms of earth radii. </a:t>
            </a:r>
            <a:r>
              <a:rPr i="1" lang="en-US" sz="2400">
                <a:solidFill>
                  <a:schemeClr val="dk1"/>
                </a:solidFill>
                <a:latin typeface="Arial"/>
                <a:ea typeface="Arial"/>
                <a:cs typeface="Arial"/>
                <a:sym typeface="Arial"/>
              </a:rPr>
              <a:t>R</a:t>
            </a:r>
            <a:r>
              <a:rPr baseline="-25000" lang="en-US" sz="2400">
                <a:solidFill>
                  <a:schemeClr val="dk1"/>
                </a:solidFill>
                <a:latin typeface="Arial"/>
                <a:ea typeface="Arial"/>
                <a:cs typeface="Arial"/>
                <a:sym typeface="Arial"/>
              </a:rPr>
              <a:t>E </a:t>
            </a:r>
            <a:r>
              <a:rPr lang="en-US" sz="2400">
                <a:solidFill>
                  <a:srgbClr val="000000"/>
                </a:solidFill>
                <a:latin typeface="Arial"/>
                <a:ea typeface="Arial"/>
                <a:cs typeface="Arial"/>
                <a:sym typeface="Arial"/>
              </a:rPr>
              <a:t>= </a:t>
            </a:r>
            <a:r>
              <a:rPr lang="en-US" sz="2400">
                <a:solidFill>
                  <a:schemeClr val="dk1"/>
                </a:solidFill>
                <a:latin typeface="Arial"/>
                <a:ea typeface="Arial"/>
                <a:cs typeface="Arial"/>
                <a:sym typeface="Arial"/>
              </a:rPr>
              <a:t>6.37×10</a:t>
            </a:r>
            <a:r>
              <a:rPr baseline="30000" lang="en-US" sz="2400">
                <a:solidFill>
                  <a:schemeClr val="dk1"/>
                </a:solidFill>
                <a:latin typeface="Arial"/>
                <a:ea typeface="Arial"/>
                <a:cs typeface="Arial"/>
                <a:sym typeface="Arial"/>
              </a:rPr>
              <a:t>6</a:t>
            </a:r>
            <a:r>
              <a:rPr lang="en-US" sz="2400">
                <a:solidFill>
                  <a:schemeClr val="dk1"/>
                </a:solidFill>
                <a:latin typeface="Arial"/>
                <a:ea typeface="Arial"/>
                <a:cs typeface="Arial"/>
                <a:sym typeface="Arial"/>
              </a:rPr>
              <a:t> m.</a:t>
            </a:r>
            <a:r>
              <a:rPr lang="en-US" sz="2400">
                <a:solidFill>
                  <a:srgbClr val="000000"/>
                </a:solidFill>
                <a:latin typeface="Arial"/>
                <a:ea typeface="Arial"/>
                <a:cs typeface="Arial"/>
                <a:sym typeface="Arial"/>
              </a:rPr>
              <a:t> </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SOLUTION: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(24 h)(3600 s h</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 86400 s.</a:t>
            </a:r>
            <a:endParaRPr/>
          </a:p>
          <a:p>
            <a:pPr indent="0" lvl="0" marL="0" marR="0" rtl="0" algn="l">
              <a:spcBef>
                <a:spcPts val="480"/>
              </a:spcBef>
              <a:spcAft>
                <a:spcPts val="0"/>
              </a:spcAft>
              <a:buNone/>
            </a:pPr>
            <a:r>
              <a:rPr lang="en-US" sz="2400">
                <a:solidFill>
                  <a:schemeClr val="dk1"/>
                </a:solidFill>
                <a:latin typeface="Arial"/>
                <a:ea typeface="Arial"/>
                <a:cs typeface="Arial"/>
                <a:sym typeface="Arial"/>
              </a:rPr>
              <a:t>∙Then from Kepler’s law </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r>
              <a:rPr lang="en-US" sz="2400">
                <a:solidFill>
                  <a:srgbClr val="000000"/>
                </a:solidFill>
                <a:latin typeface="Arial"/>
                <a:ea typeface="Arial"/>
                <a:cs typeface="Arial"/>
                <a:sym typeface="Arial"/>
              </a:rPr>
              <a:t> we have</a:t>
            </a:r>
            <a:endParaRPr sz="2400">
              <a:solidFill>
                <a:schemeClr val="dk1"/>
              </a:solidFill>
              <a:latin typeface="Arial"/>
              <a:ea typeface="Arial"/>
              <a:cs typeface="Arial"/>
              <a:sym typeface="Arial"/>
            </a:endParaRPr>
          </a:p>
          <a:p>
            <a:pPr indent="0" lvl="0" marL="0" marR="0" rtl="0" algn="l">
              <a:spcBef>
                <a:spcPts val="480"/>
              </a:spcBef>
              <a:spcAft>
                <a:spcPts val="0"/>
              </a:spcAft>
              <a:buNone/>
            </a:pPr>
            <a:r>
              <a:rPr i="1" lang="en-US" sz="2400">
                <a:solidFill>
                  <a:schemeClr val="dk1"/>
                </a:solidFill>
                <a:latin typeface="Arial"/>
                <a:ea typeface="Arial"/>
                <a:cs typeface="Arial"/>
                <a:sym typeface="Arial"/>
              </a:rPr>
              <a:t>	r</a:t>
            </a:r>
            <a:r>
              <a:rPr baseline="30000" lang="en-US" sz="2400">
                <a:solidFill>
                  <a:schemeClr val="dk1"/>
                </a:solidFill>
                <a:latin typeface="Arial"/>
                <a:ea typeface="Arial"/>
                <a:cs typeface="Arial"/>
                <a:sym typeface="Arial"/>
              </a:rPr>
              <a:t> 3</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[ 4π</a:t>
            </a:r>
            <a:r>
              <a:rPr baseline="30000" lang="en-US" sz="2400">
                <a:solidFill>
                  <a:schemeClr val="dk1"/>
                </a:solidFill>
                <a:latin typeface="Arial"/>
                <a:ea typeface="Arial"/>
                <a:cs typeface="Arial"/>
                <a:sym typeface="Arial"/>
              </a:rPr>
              <a:t>2 </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None/>
            </a:pPr>
            <a:r>
              <a:rPr i="1" lang="en-US" sz="2400">
                <a:solidFill>
                  <a:srgbClr val="000000"/>
                </a:solidFill>
                <a:latin typeface="Arial"/>
                <a:ea typeface="Arial"/>
                <a:cs typeface="Arial"/>
                <a:sym typeface="Arial"/>
              </a:rPr>
              <a:t>	r</a:t>
            </a:r>
            <a:r>
              <a:rPr baseline="30000" lang="en-US" sz="2400">
                <a:solidFill>
                  <a:srgbClr val="000000"/>
                </a:solidFill>
                <a:latin typeface="Arial"/>
                <a:ea typeface="Arial"/>
                <a:cs typeface="Arial"/>
                <a:sym typeface="Arial"/>
              </a:rPr>
              <a:t> 3</a:t>
            </a:r>
            <a:r>
              <a:rPr lang="en-US" sz="2400">
                <a:solidFill>
                  <a:srgbClr val="000000"/>
                </a:solidFill>
                <a:latin typeface="Arial"/>
                <a:ea typeface="Arial"/>
                <a:cs typeface="Arial"/>
                <a:sym typeface="Arial"/>
              </a:rPr>
              <a:t> = 86400</a:t>
            </a:r>
            <a:r>
              <a:rPr baseline="30000" lang="en-US" sz="2400">
                <a:solidFill>
                  <a:srgbClr val="000000"/>
                </a:solidFill>
                <a:latin typeface="Arial"/>
                <a:ea typeface="Arial"/>
                <a:cs typeface="Arial"/>
                <a:sym typeface="Arial"/>
              </a:rPr>
              <a:t> 2</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[ 4π</a:t>
            </a:r>
            <a:r>
              <a:rPr baseline="30000" lang="en-US" sz="2400">
                <a:solidFill>
                  <a:srgbClr val="000000"/>
                </a:solidFill>
                <a:latin typeface="Arial"/>
                <a:ea typeface="Arial"/>
                <a:cs typeface="Arial"/>
                <a:sym typeface="Arial"/>
              </a:rPr>
              <a:t>2 </a:t>
            </a:r>
            <a:r>
              <a:rPr i="1"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(6.67×10</a:t>
            </a:r>
            <a:r>
              <a:rPr baseline="30000" lang="en-US" sz="2400">
                <a:solidFill>
                  <a:srgbClr val="000000"/>
                </a:solidFill>
                <a:latin typeface="Arial"/>
                <a:ea typeface="Arial"/>
                <a:cs typeface="Arial"/>
                <a:sym typeface="Arial"/>
              </a:rPr>
              <a:t>-11</a:t>
            </a:r>
            <a:r>
              <a:rPr lang="en-US" sz="2400">
                <a:solidFill>
                  <a:srgbClr val="000000"/>
                </a:solidFill>
                <a:latin typeface="Arial"/>
                <a:ea typeface="Arial"/>
                <a:cs typeface="Arial"/>
                <a:sym typeface="Arial"/>
              </a:rPr>
              <a:t>×</a:t>
            </a:r>
            <a:r>
              <a:rPr lang="en-US" sz="2400">
                <a:solidFill>
                  <a:schemeClr val="dk1"/>
                </a:solidFill>
                <a:latin typeface="Arial"/>
                <a:ea typeface="Arial"/>
                <a:cs typeface="Arial"/>
                <a:sym typeface="Arial"/>
              </a:rPr>
              <a:t>5.98×10</a:t>
            </a:r>
            <a:r>
              <a:rPr baseline="30000" lang="en-US" sz="2400">
                <a:solidFill>
                  <a:schemeClr val="dk1"/>
                </a:solidFill>
                <a:latin typeface="Arial"/>
                <a:ea typeface="Arial"/>
                <a:cs typeface="Arial"/>
                <a:sym typeface="Arial"/>
              </a:rPr>
              <a:t>24</a:t>
            </a:r>
            <a:r>
              <a:rPr lang="en-US" sz="2400">
                <a:solidFill>
                  <a:srgbClr val="000000"/>
                </a:solidFill>
                <a:latin typeface="Arial"/>
                <a:ea typeface="Arial"/>
                <a:cs typeface="Arial"/>
                <a:sym typeface="Arial"/>
              </a:rPr>
              <a:t>) ]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	    </a:t>
            </a:r>
            <a:r>
              <a:rPr baseline="30000"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a:t>
            </a:r>
            <a:r>
              <a:rPr lang="en-US" sz="2400">
                <a:solidFill>
                  <a:schemeClr val="dk1"/>
                </a:solidFill>
                <a:latin typeface="Arial"/>
                <a:ea typeface="Arial"/>
                <a:cs typeface="Arial"/>
                <a:sym typeface="Arial"/>
              </a:rPr>
              <a:t>7.54×10</a:t>
            </a:r>
            <a:r>
              <a:rPr baseline="30000" lang="en-US" sz="2400">
                <a:solidFill>
                  <a:schemeClr val="dk1"/>
                </a:solidFill>
                <a:latin typeface="Arial"/>
                <a:ea typeface="Arial"/>
                <a:cs typeface="Arial"/>
                <a:sym typeface="Arial"/>
              </a:rPr>
              <a:t>22</a:t>
            </a:r>
            <a:endParaRPr/>
          </a:p>
          <a:p>
            <a:pPr indent="0" lvl="0" marL="0" marR="0" rtl="0" algn="l">
              <a:spcBef>
                <a:spcPts val="480"/>
              </a:spcBef>
              <a:spcAft>
                <a:spcPts val="0"/>
              </a:spcAft>
              <a:buNone/>
            </a:pPr>
            <a:r>
              <a:rPr i="1" lang="en-US" sz="2400">
                <a:solidFill>
                  <a:srgbClr val="000000"/>
                </a:solidFill>
                <a:latin typeface="Arial"/>
                <a:ea typeface="Arial"/>
                <a:cs typeface="Arial"/>
                <a:sym typeface="Arial"/>
              </a:rPr>
              <a:t>      r</a:t>
            </a:r>
            <a:r>
              <a:rPr baseline="30000" lang="en-US" sz="2400">
                <a:solidFill>
                  <a:srgbClr val="000000"/>
                </a:solidFill>
                <a:latin typeface="Arial"/>
                <a:ea typeface="Arial"/>
                <a:cs typeface="Arial"/>
                <a:sym typeface="Arial"/>
              </a:rPr>
              <a:t> </a:t>
            </a:r>
            <a:r>
              <a:rPr lang="en-US" sz="2400">
                <a:solidFill>
                  <a:srgbClr val="000000"/>
                </a:solidFill>
                <a:latin typeface="Arial"/>
                <a:ea typeface="Arial"/>
                <a:cs typeface="Arial"/>
                <a:sym typeface="Arial"/>
              </a:rPr>
              <a:t> = (42250474 m)(1 </a:t>
            </a:r>
            <a:r>
              <a:rPr i="1" lang="en-US" sz="2400">
                <a:solidFill>
                  <a:srgbClr val="000000"/>
                </a:solidFill>
                <a:latin typeface="Arial"/>
                <a:ea typeface="Arial"/>
                <a:cs typeface="Arial"/>
                <a:sym typeface="Arial"/>
              </a:rPr>
              <a:t>R</a:t>
            </a:r>
            <a:r>
              <a:rPr baseline="-25000" lang="en-US" sz="2400">
                <a:solidFill>
                  <a:srgbClr val="000000"/>
                </a:solidFill>
                <a:latin typeface="Arial"/>
                <a:ea typeface="Arial"/>
                <a:cs typeface="Arial"/>
                <a:sym typeface="Arial"/>
              </a:rPr>
              <a:t>E</a:t>
            </a:r>
            <a:r>
              <a:rPr lang="en-US" sz="2400">
                <a:solidFill>
                  <a:srgbClr val="000000"/>
                </a:solidFill>
                <a:latin typeface="Arial"/>
                <a:ea typeface="Arial"/>
                <a:cs typeface="Arial"/>
                <a:sym typeface="Arial"/>
              </a:rPr>
              <a:t> </a:t>
            </a:r>
            <a:r>
              <a:rPr i="1" lang="en-US" sz="2400">
                <a:solidFill>
                  <a:schemeClr val="dk1"/>
                </a:solidFill>
                <a:latin typeface="Courier New"/>
                <a:ea typeface="Courier New"/>
                <a:cs typeface="Courier New"/>
                <a:sym typeface="Courier New"/>
              </a:rPr>
              <a:t>/</a:t>
            </a:r>
            <a:r>
              <a:rPr lang="en-US" sz="2400">
                <a:solidFill>
                  <a:srgbClr val="000000"/>
                </a:solidFill>
                <a:latin typeface="Arial"/>
                <a:ea typeface="Arial"/>
                <a:cs typeface="Arial"/>
                <a:sym typeface="Arial"/>
              </a:rPr>
              <a:t> 6.37×10</a:t>
            </a:r>
            <a:r>
              <a:rPr baseline="30000" lang="en-US" sz="2400">
                <a:solidFill>
                  <a:srgbClr val="000000"/>
                </a:solidFill>
                <a:latin typeface="Arial"/>
                <a:ea typeface="Arial"/>
                <a:cs typeface="Arial"/>
                <a:sym typeface="Arial"/>
              </a:rPr>
              <a:t>6</a:t>
            </a:r>
            <a:r>
              <a:rPr lang="en-US" sz="2400">
                <a:solidFill>
                  <a:srgbClr val="000000"/>
                </a:solidFill>
                <a:latin typeface="Arial"/>
                <a:ea typeface="Arial"/>
                <a:cs typeface="Arial"/>
                <a:sym typeface="Arial"/>
              </a:rPr>
              <a:t> m) = 6.63 </a:t>
            </a:r>
            <a:r>
              <a:rPr i="1" lang="en-US" sz="2400">
                <a:solidFill>
                  <a:srgbClr val="000000"/>
                </a:solidFill>
                <a:latin typeface="Arial"/>
                <a:ea typeface="Arial"/>
                <a:cs typeface="Arial"/>
                <a:sym typeface="Arial"/>
              </a:rPr>
              <a:t>R</a:t>
            </a:r>
            <a:r>
              <a:rPr baseline="-25000" lang="en-US" sz="2400">
                <a:solidFill>
                  <a:srgbClr val="000000"/>
                </a:solidFill>
                <a:latin typeface="Arial"/>
                <a:ea typeface="Arial"/>
                <a:cs typeface="Arial"/>
                <a:sym typeface="Arial"/>
              </a:rPr>
              <a:t>E</a:t>
            </a:r>
            <a:r>
              <a:rPr lang="en-US" sz="2400">
                <a:solidFill>
                  <a:srgbClr val="000000"/>
                </a:solidFill>
                <a:latin typeface="Arial"/>
                <a:ea typeface="Arial"/>
                <a:cs typeface="Arial"/>
                <a:sym typeface="Arial"/>
              </a:rPr>
              <a:t>.</a:t>
            </a:r>
            <a:endParaRPr/>
          </a:p>
        </p:txBody>
      </p:sp>
      <p:sp>
        <p:nvSpPr>
          <p:cNvPr id="735" name="Google Shape;735;p47"/>
          <p:cNvSpPr/>
          <p:nvPr/>
        </p:nvSpPr>
        <p:spPr>
          <a:xfrm>
            <a:off x="6400800" y="1899139"/>
            <a:ext cx="2743200" cy="1448972"/>
          </a:xfrm>
          <a:prstGeom prst="rect">
            <a:avLst/>
          </a:prstGeom>
          <a:gradFill>
            <a:gsLst>
              <a:gs pos="0">
                <a:schemeClr val="accent4"/>
              </a:gs>
              <a:gs pos="80000">
                <a:schemeClr val="accent4"/>
              </a:gs>
              <a:gs pos="100000">
                <a:schemeClr val="accent4"/>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sp>
        <p:nvSpPr>
          <p:cNvPr id="736" name="Google Shape;736;p47"/>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orbital period</a:t>
            </a:r>
            <a:endParaRPr/>
          </a:p>
        </p:txBody>
      </p:sp>
      <p:sp>
        <p:nvSpPr>
          <p:cNvPr id="737" name="Google Shape;737;p4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738" name="Google Shape;738;p47"/>
          <p:cNvSpPr/>
          <p:nvPr/>
        </p:nvSpPr>
        <p:spPr>
          <a:xfrm>
            <a:off x="6443663" y="2222500"/>
            <a:ext cx="2671762" cy="731838"/>
          </a:xfrm>
          <a:prstGeom prst="ellipse">
            <a:avLst/>
          </a:prstGeom>
          <a:noFill/>
          <a:ln cap="flat" cmpd="sng" w="9525">
            <a:solidFill>
              <a:srgbClr val="FFFFCC"/>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pic>
        <p:nvPicPr>
          <p:cNvPr descr="http://mail.colonial.net/~hkaiter/aa_newest_images/spineart.gif" id="739" name="Google Shape;739;p47"/>
          <p:cNvPicPr preferRelativeResize="0"/>
          <p:nvPr/>
        </p:nvPicPr>
        <p:blipFill rotWithShape="1">
          <a:blip r:embed="rId3">
            <a:alphaModFix/>
          </a:blip>
          <a:srcRect b="0" l="0" r="0" t="0"/>
          <a:stretch/>
        </p:blipFill>
        <p:spPr>
          <a:xfrm>
            <a:off x="7532688" y="2419350"/>
            <a:ext cx="533400" cy="534988"/>
          </a:xfrm>
          <a:prstGeom prst="rect">
            <a:avLst/>
          </a:prstGeom>
          <a:noFill/>
          <a:ln>
            <a:noFill/>
          </a:ln>
          <a:effectLst>
            <a:outerShdw blurRad="292100" rotWithShape="0" algn="tl" dir="2700000" dist="139700">
              <a:srgbClr val="333333">
                <a:alpha val="64705"/>
              </a:srgbClr>
            </a:outerShdw>
          </a:effectLst>
        </p:spPr>
      </p:pic>
      <p:cxnSp>
        <p:nvCxnSpPr>
          <p:cNvPr id="740" name="Google Shape;740;p47"/>
          <p:cNvCxnSpPr>
            <a:endCxn id="738" idx="6"/>
          </p:cNvCxnSpPr>
          <p:nvPr/>
        </p:nvCxnSpPr>
        <p:spPr>
          <a:xfrm flipH="1" rot="10800000">
            <a:off x="7850325" y="2588419"/>
            <a:ext cx="1265100" cy="84000"/>
          </a:xfrm>
          <a:prstGeom prst="straightConnector1">
            <a:avLst/>
          </a:prstGeom>
          <a:noFill/>
          <a:ln cap="flat" cmpd="sng" w="12700">
            <a:solidFill>
              <a:srgbClr val="FF0000"/>
            </a:solidFill>
            <a:prstDash val="solid"/>
            <a:round/>
            <a:headEnd len="sm" w="sm" type="none"/>
            <a:tailEnd len="med" w="med" type="stealth"/>
          </a:ln>
        </p:spPr>
      </p:cxnSp>
      <p:sp>
        <p:nvSpPr>
          <p:cNvPr id="741" name="Google Shape;741;p47"/>
          <p:cNvSpPr/>
          <p:nvPr/>
        </p:nvSpPr>
        <p:spPr>
          <a:xfrm>
            <a:off x="7723188" y="2827338"/>
            <a:ext cx="141287" cy="187325"/>
          </a:xfrm>
          <a:prstGeom prst="can">
            <a:avLst>
              <a:gd fmla="val 25000" name="adj"/>
            </a:avLst>
          </a:prstGeom>
          <a:gradFill>
            <a:gsLst>
              <a:gs pos="0">
                <a:srgbClr val="6A8284"/>
              </a:gs>
              <a:gs pos="50000">
                <a:srgbClr val="99BDBF"/>
              </a:gs>
              <a:gs pos="100000">
                <a:srgbClr val="B8E2E5"/>
              </a:gs>
            </a:gsLst>
            <a:lin ang="54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0" st="0"/>
                                            </p:txEl>
                                          </p:spTgt>
                                        </p:tgtEl>
                                        <p:attrNameLst>
                                          <p:attrName>style.visibility</p:attrName>
                                        </p:attrNameLst>
                                      </p:cBhvr>
                                      <p:to>
                                        <p:strVal val="visible"/>
                                      </p:to>
                                    </p:set>
                                    <p:anim calcmode="lin" valueType="num">
                                      <p:cBhvr additive="base">
                                        <p:cTn dur="500"/>
                                        <p:tgtEl>
                                          <p:spTgt spid="7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1" st="1"/>
                                            </p:txEl>
                                          </p:spTgt>
                                        </p:tgtEl>
                                        <p:attrNameLst>
                                          <p:attrName>style.visibility</p:attrName>
                                        </p:attrNameLst>
                                      </p:cBhvr>
                                      <p:to>
                                        <p:strVal val="visible"/>
                                      </p:to>
                                    </p:set>
                                    <p:anim calcmode="lin" valueType="num">
                                      <p:cBhvr additive="base">
                                        <p:cTn dur="500"/>
                                        <p:tgtEl>
                                          <p:spTgt spid="7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2" st="2"/>
                                            </p:txEl>
                                          </p:spTgt>
                                        </p:tgtEl>
                                        <p:attrNameLst>
                                          <p:attrName>style.visibility</p:attrName>
                                        </p:attrNameLst>
                                      </p:cBhvr>
                                      <p:to>
                                        <p:strVal val="visible"/>
                                      </p:to>
                                    </p:set>
                                    <p:anim calcmode="lin" valueType="num">
                                      <p:cBhvr additive="base">
                                        <p:cTn dur="500"/>
                                        <p:tgtEl>
                                          <p:spTgt spid="7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3" st="3"/>
                                            </p:txEl>
                                          </p:spTgt>
                                        </p:tgtEl>
                                        <p:attrNameLst>
                                          <p:attrName>style.visibility</p:attrName>
                                        </p:attrNameLst>
                                      </p:cBhvr>
                                      <p:to>
                                        <p:strVal val="visible"/>
                                      </p:to>
                                    </p:set>
                                    <p:anim calcmode="lin" valueType="num">
                                      <p:cBhvr additive="base">
                                        <p:cTn dur="500"/>
                                        <p:tgtEl>
                                          <p:spTgt spid="7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4" st="4"/>
                                            </p:txEl>
                                          </p:spTgt>
                                        </p:tgtEl>
                                        <p:attrNameLst>
                                          <p:attrName>style.visibility</p:attrName>
                                        </p:attrNameLst>
                                      </p:cBhvr>
                                      <p:to>
                                        <p:strVal val="visible"/>
                                      </p:to>
                                    </p:set>
                                    <p:anim calcmode="lin" valueType="num">
                                      <p:cBhvr additive="base">
                                        <p:cTn dur="500"/>
                                        <p:tgtEl>
                                          <p:spTgt spid="73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5" st="5"/>
                                            </p:txEl>
                                          </p:spTgt>
                                        </p:tgtEl>
                                        <p:attrNameLst>
                                          <p:attrName>style.visibility</p:attrName>
                                        </p:attrNameLst>
                                      </p:cBhvr>
                                      <p:to>
                                        <p:strVal val="visible"/>
                                      </p:to>
                                    </p:set>
                                    <p:anim calcmode="lin" valueType="num">
                                      <p:cBhvr additive="base">
                                        <p:cTn dur="500"/>
                                        <p:tgtEl>
                                          <p:spTgt spid="73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4">
                                            <p:txEl>
                                              <p:pRg end="6" st="6"/>
                                            </p:txEl>
                                          </p:spTgt>
                                        </p:tgtEl>
                                        <p:attrNameLst>
                                          <p:attrName>style.visibility</p:attrName>
                                        </p:attrNameLst>
                                      </p:cBhvr>
                                      <p:to>
                                        <p:strVal val="visible"/>
                                      </p:to>
                                    </p:set>
                                    <p:anim calcmode="lin" valueType="num">
                                      <p:cBhvr additive="base">
                                        <p:cTn dur="500"/>
                                        <p:tgtEl>
                                          <p:spTgt spid="734">
                                            <p:txEl>
                                              <p:pRg end="6" st="6"/>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735"/>
                                        </p:tgtEl>
                                        <p:attrNameLst>
                                          <p:attrName>style.visibility</p:attrName>
                                        </p:attrNameLst>
                                      </p:cBhvr>
                                      <p:to>
                                        <p:strVal val="visible"/>
                                      </p:to>
                                    </p:set>
                                    <p:anim calcmode="lin" valueType="num">
                                      <p:cBhvr additive="base">
                                        <p:cTn dur="500"/>
                                        <p:tgtEl>
                                          <p:spTgt spid="735"/>
                                        </p:tgtEl>
                                        <p:attrNameLst>
                                          <p:attrName>ppt_w</p:attrName>
                                        </p:attrNameLst>
                                      </p:cBhvr>
                                      <p:tavLst>
                                        <p:tav fmla="" tm="0">
                                          <p:val>
                                            <p:strVal val="0"/>
                                          </p:val>
                                        </p:tav>
                                        <p:tav fmla="" tm="100000">
                                          <p:val>
                                            <p:strVal val="#ppt_w"/>
                                          </p:val>
                                        </p:tav>
                                      </p:tavLst>
                                    </p:anim>
                                    <p:anim calcmode="lin" valueType="num">
                                      <p:cBhvr additive="base">
                                        <p:cTn dur="500"/>
                                        <p:tgtEl>
                                          <p:spTgt spid="73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2000"/>
                                        <p:tgtEl>
                                          <p:spTgt spid="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20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48"/>
          <p:cNvSpPr/>
          <p:nvPr/>
        </p:nvSpPr>
        <p:spPr>
          <a:xfrm>
            <a:off x="684213" y="4852988"/>
            <a:ext cx="7775575" cy="2005012"/>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Kepler’s third law originally said that the square of the period was proportional to the cube of the radius – and nothing at all about what the constant of proportionality was. Newton’s law of gravitation was needed for that!</a:t>
            </a:r>
            <a:endParaRPr/>
          </a:p>
        </p:txBody>
      </p:sp>
      <p:sp>
        <p:nvSpPr>
          <p:cNvPr id="748" name="Google Shape;748;p48"/>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orbital period</a:t>
            </a:r>
            <a:endParaRPr/>
          </a:p>
        </p:txBody>
      </p:sp>
      <p:sp>
        <p:nvSpPr>
          <p:cNvPr id="749" name="Google Shape;749;p4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750" name="Google Shape;750;p48"/>
          <p:cNvSpPr/>
          <p:nvPr/>
        </p:nvSpPr>
        <p:spPr>
          <a:xfrm>
            <a:off x="685800" y="1858963"/>
            <a:ext cx="7772400" cy="30083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751" name="Google Shape;751;p48"/>
          <p:cNvPicPr preferRelativeResize="0"/>
          <p:nvPr/>
        </p:nvPicPr>
        <p:blipFill rotWithShape="1">
          <a:blip r:embed="rId3">
            <a:alphaModFix/>
          </a:blip>
          <a:srcRect b="0" l="0" r="0" t="0"/>
          <a:stretch/>
        </p:blipFill>
        <p:spPr>
          <a:xfrm>
            <a:off x="679450" y="1914525"/>
            <a:ext cx="7796213" cy="1208088"/>
          </a:xfrm>
          <a:prstGeom prst="rect">
            <a:avLst/>
          </a:prstGeom>
          <a:noFill/>
          <a:ln>
            <a:noFill/>
          </a:ln>
        </p:spPr>
      </p:pic>
      <p:grpSp>
        <p:nvGrpSpPr>
          <p:cNvPr id="752" name="Google Shape;752;p48"/>
          <p:cNvGrpSpPr/>
          <p:nvPr/>
        </p:nvGrpSpPr>
        <p:grpSpPr>
          <a:xfrm>
            <a:off x="828675" y="3101975"/>
            <a:ext cx="7464425" cy="465138"/>
            <a:chOff x="828675" y="3102026"/>
            <a:chExt cx="7464425" cy="464840"/>
          </a:xfrm>
        </p:grpSpPr>
        <p:sp>
          <p:nvSpPr>
            <p:cNvPr id="753" name="Google Shape;753;p48"/>
            <p:cNvSpPr/>
            <p:nvPr/>
          </p:nvSpPr>
          <p:spPr>
            <a:xfrm>
              <a:off x="965200" y="3102026"/>
              <a:ext cx="3175000" cy="32047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endParaRPr/>
            </a:p>
          </p:txBody>
        </p:sp>
        <p:sp>
          <p:nvSpPr>
            <p:cNvPr id="754" name="Google Shape;754;p48"/>
            <p:cNvSpPr txBox="1"/>
            <p:nvPr/>
          </p:nvSpPr>
          <p:spPr>
            <a:xfrm>
              <a:off x="5365750" y="3105201"/>
              <a:ext cx="292735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Kepler’s third law</a:t>
              </a:r>
              <a:endParaRPr/>
            </a:p>
          </p:txBody>
        </p:sp>
        <p:sp>
          <p:nvSpPr>
            <p:cNvPr id="755" name="Google Shape;755;p48"/>
            <p:cNvSpPr/>
            <p:nvPr/>
          </p:nvSpPr>
          <p:spPr>
            <a:xfrm>
              <a:off x="828675" y="3108376"/>
              <a:ext cx="7462838" cy="45075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756" name="Google Shape;756;p48"/>
          <p:cNvSpPr txBox="1"/>
          <p:nvPr/>
        </p:nvSpPr>
        <p:spPr>
          <a:xfrm>
            <a:off x="700088" y="3630613"/>
            <a:ext cx="780097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a:t>
            </a:r>
            <a:r>
              <a:rPr lang="en-US" sz="2400">
                <a:solidFill>
                  <a:schemeClr val="hlink"/>
                </a:solidFill>
                <a:latin typeface="Arial"/>
                <a:ea typeface="Arial"/>
                <a:cs typeface="Arial"/>
                <a:sym typeface="Arial"/>
              </a:rPr>
              <a:t>(4π</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-1 </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a:t>
            </a:r>
            <a:endParaRPr/>
          </a:p>
        </p:txBody>
      </p:sp>
      <p:sp>
        <p:nvSpPr>
          <p:cNvPr id="757" name="Google Shape;757;p48"/>
          <p:cNvSpPr/>
          <p:nvPr/>
        </p:nvSpPr>
        <p:spPr>
          <a:xfrm>
            <a:off x="679450" y="2560638"/>
            <a:ext cx="347663" cy="347662"/>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758" name="Google Shape;758;p48"/>
          <p:cNvSpPr txBox="1"/>
          <p:nvPr/>
        </p:nvSpPr>
        <p:spPr>
          <a:xfrm>
            <a:off x="698500" y="4049713"/>
            <a:ext cx="7800975" cy="831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with 1 </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a:t>
            </a:r>
            <a:r>
              <a:rPr i="1" lang="en-US" sz="2400">
                <a:solidFill>
                  <a:srgbClr val="009999"/>
                </a:solidFill>
                <a:latin typeface="Arial"/>
                <a:ea typeface="Arial"/>
                <a:cs typeface="Arial"/>
                <a:sym typeface="Arial"/>
              </a:rPr>
              <a:t>GM / </a:t>
            </a:r>
            <a:r>
              <a:rPr lang="en-US" sz="2400">
                <a:solidFill>
                  <a:srgbClr val="009999"/>
                </a:solidFill>
                <a:latin typeface="Arial"/>
                <a:ea typeface="Arial"/>
                <a:cs typeface="Arial"/>
                <a:sym typeface="Arial"/>
              </a:rPr>
              <a:t>(4π</a:t>
            </a:r>
            <a:r>
              <a:rPr baseline="30000" lang="en-US" sz="2400">
                <a:solidFill>
                  <a:srgbClr val="009999"/>
                </a:solidFill>
                <a:latin typeface="Arial"/>
                <a:ea typeface="Arial"/>
                <a:cs typeface="Arial"/>
                <a:sym typeface="Arial"/>
              </a:rPr>
              <a:t>2</a:t>
            </a:r>
            <a:r>
              <a:rPr lang="en-US" sz="2400">
                <a:solidFill>
                  <a:srgbClr val="009999"/>
                </a:solidFill>
                <a:latin typeface="Arial"/>
                <a:ea typeface="Arial"/>
                <a:cs typeface="Arial"/>
                <a:sym typeface="Arial"/>
              </a:rPr>
              <a:t>) ] being the constant of proportionality.</a:t>
            </a:r>
            <a:r>
              <a:rPr lang="en-US" sz="2400">
                <a:solidFill>
                  <a:schemeClr val="hlink"/>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1"/>
                                        </p:tgtEl>
                                        <p:attrNameLst>
                                          <p:attrName>style.visibility</p:attrName>
                                        </p:attrNameLst>
                                      </p:cBhvr>
                                      <p:to>
                                        <p:strVal val="visible"/>
                                      </p:to>
                                    </p:set>
                                    <p:anim calcmode="lin" valueType="num">
                                      <p:cBhvr additive="base">
                                        <p:cTn dur="500"/>
                                        <p:tgtEl>
                                          <p:spTgt spid="7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52"/>
                                        </p:tgtEl>
                                        <p:attrNameLst>
                                          <p:attrName>style.visibility</p:attrName>
                                        </p:attrNameLst>
                                      </p:cBhvr>
                                      <p:to>
                                        <p:strVal val="visible"/>
                                      </p:to>
                                    </p:set>
                                    <p:anim calcmode="lin" valueType="num">
                                      <p:cBhvr additive="base">
                                        <p:cTn dur="500"/>
                                        <p:tgtEl>
                                          <p:spTgt spid="752"/>
                                        </p:tgtEl>
                                        <p:attrNameLst>
                                          <p:attrName>ppt_w</p:attrName>
                                        </p:attrNameLst>
                                      </p:cBhvr>
                                      <p:tavLst>
                                        <p:tav fmla="" tm="0">
                                          <p:val>
                                            <p:strVal val="0"/>
                                          </p:val>
                                        </p:tav>
                                        <p:tav fmla="" tm="100000">
                                          <p:val>
                                            <p:strVal val="#ppt_w"/>
                                          </p:val>
                                        </p:tav>
                                      </p:tavLst>
                                    </p:anim>
                                    <p:anim calcmode="lin" valueType="num">
                                      <p:cBhvr additive="base">
                                        <p:cTn dur="500"/>
                                        <p:tgtEl>
                                          <p:spTgt spid="7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56">
                                            <p:txEl>
                                              <p:pRg end="0" st="0"/>
                                            </p:txEl>
                                          </p:spTgt>
                                        </p:tgtEl>
                                        <p:attrNameLst>
                                          <p:attrName>style.visibility</p:attrName>
                                        </p:attrNameLst>
                                      </p:cBhvr>
                                      <p:to>
                                        <p:strVal val="visible"/>
                                      </p:to>
                                    </p:set>
                                    <p:anim calcmode="lin" valueType="num">
                                      <p:cBhvr additive="base">
                                        <p:cTn dur="500"/>
                                        <p:tgtEl>
                                          <p:spTgt spid="75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 calcmode="lin" valueType="num">
                                      <p:cBhvr additive="base">
                                        <p:cTn dur="500"/>
                                        <p:tgtEl>
                                          <p:spTgt spid="75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57"/>
                                        </p:tgtEl>
                                        <p:attrNameLst>
                                          <p:attrName>style.visibility</p:attrName>
                                        </p:attrNameLst>
                                      </p:cBhvr>
                                      <p:to>
                                        <p:strVal val="visible"/>
                                      </p:to>
                                    </p:set>
                                    <p:anim calcmode="lin" valueType="num">
                                      <p:cBhvr additive="base">
                                        <p:cTn dur="500"/>
                                        <p:tgtEl>
                                          <p:spTgt spid="757"/>
                                        </p:tgtEl>
                                        <p:attrNameLst>
                                          <p:attrName>ppt_w</p:attrName>
                                        </p:attrNameLst>
                                      </p:cBhvr>
                                      <p:tavLst>
                                        <p:tav fmla="" tm="0">
                                          <p:val>
                                            <p:strVal val="0"/>
                                          </p:val>
                                        </p:tav>
                                        <p:tav fmla="" tm="100000">
                                          <p:val>
                                            <p:strVal val="#ppt_w"/>
                                          </p:val>
                                        </p:tav>
                                      </p:tavLst>
                                    </p:anim>
                                    <p:anim calcmode="lin" valueType="num">
                                      <p:cBhvr additive="base">
                                        <p:cTn dur="500"/>
                                        <p:tgtEl>
                                          <p:spTgt spid="75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9"/>
          <p:cNvSpPr/>
          <p:nvPr/>
        </p:nvSpPr>
        <p:spPr>
          <a:xfrm>
            <a:off x="685800" y="1401763"/>
            <a:ext cx="7772400" cy="5397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orbital period</a:t>
            </a:r>
            <a:endParaRPr/>
          </a:p>
        </p:txBody>
      </p:sp>
      <p:sp>
        <p:nvSpPr>
          <p:cNvPr id="765" name="Google Shape;765;p49"/>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766" name="Google Shape;766;p49"/>
          <p:cNvSpPr/>
          <p:nvPr/>
        </p:nvSpPr>
        <p:spPr>
          <a:xfrm>
            <a:off x="685800" y="1873250"/>
            <a:ext cx="7772400" cy="49847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767" name="Google Shape;767;p49"/>
          <p:cNvPicPr preferRelativeResize="0"/>
          <p:nvPr/>
        </p:nvPicPr>
        <p:blipFill rotWithShape="1">
          <a:blip r:embed="rId3">
            <a:alphaModFix/>
          </a:blip>
          <a:srcRect b="0" l="0" r="0" t="0"/>
          <a:stretch/>
        </p:blipFill>
        <p:spPr>
          <a:xfrm>
            <a:off x="692150" y="1866900"/>
            <a:ext cx="7729538" cy="1677988"/>
          </a:xfrm>
          <a:prstGeom prst="rect">
            <a:avLst/>
          </a:prstGeom>
          <a:noFill/>
          <a:ln>
            <a:noFill/>
          </a:ln>
        </p:spPr>
      </p:pic>
      <p:sp>
        <p:nvSpPr>
          <p:cNvPr id="768" name="Google Shape;768;p49"/>
          <p:cNvSpPr txBox="1"/>
          <p:nvPr/>
        </p:nvSpPr>
        <p:spPr>
          <a:xfrm>
            <a:off x="782638" y="4251325"/>
            <a:ext cx="65516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Courier New"/>
                <a:ea typeface="Courier New"/>
                <a:cs typeface="Courier New"/>
                <a:sym typeface="Courier New"/>
              </a:rPr>
              <a:t>∙</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[ 4π</a:t>
            </a:r>
            <a:r>
              <a:rPr baseline="30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a:t>
            </a:r>
            <a:endParaRPr/>
          </a:p>
        </p:txBody>
      </p:sp>
      <p:sp>
        <p:nvSpPr>
          <p:cNvPr id="769" name="Google Shape;769;p49"/>
          <p:cNvSpPr txBox="1"/>
          <p:nvPr/>
        </p:nvSpPr>
        <p:spPr>
          <a:xfrm>
            <a:off x="1087438" y="4703763"/>
            <a:ext cx="655161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 </a:t>
            </a:r>
            <a:r>
              <a:rPr lang="en-US" sz="2400">
                <a:solidFill>
                  <a:schemeClr val="hlink"/>
                </a:solidFill>
                <a:latin typeface="Arial"/>
                <a:ea typeface="Arial"/>
                <a:cs typeface="Arial"/>
                <a:sym typeface="Arial"/>
              </a:rPr>
              <a:t>] }</a:t>
            </a:r>
            <a:r>
              <a:rPr baseline="30000" lang="en-US" sz="2400">
                <a:solidFill>
                  <a:schemeClr val="hlink"/>
                </a:solidFill>
                <a:latin typeface="Arial"/>
                <a:ea typeface="Arial"/>
                <a:cs typeface="Arial"/>
                <a:sym typeface="Arial"/>
              </a:rPr>
              <a:t>1/2</a:t>
            </a:r>
            <a:endParaRPr/>
          </a:p>
        </p:txBody>
      </p:sp>
      <p:sp>
        <p:nvSpPr>
          <p:cNvPr id="770" name="Google Shape;770;p49"/>
          <p:cNvSpPr txBox="1"/>
          <p:nvPr/>
        </p:nvSpPr>
        <p:spPr>
          <a:xfrm>
            <a:off x="1092200" y="5191125"/>
            <a:ext cx="65516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a:t>
            </a:r>
            <a:r>
              <a:rPr lang="en-US" sz="2400">
                <a:solidFill>
                  <a:srgbClr val="009999"/>
                </a:solidFill>
                <a:latin typeface="Arial"/>
                <a:ea typeface="Arial"/>
                <a:cs typeface="Arial"/>
                <a:sym typeface="Arial"/>
              </a:rPr>
              <a:t>[ 4π</a:t>
            </a:r>
            <a:r>
              <a:rPr baseline="30000" lang="en-US" sz="2400">
                <a:solidFill>
                  <a:srgbClr val="009999"/>
                </a:solidFill>
                <a:latin typeface="Arial"/>
                <a:ea typeface="Arial"/>
                <a:cs typeface="Arial"/>
                <a:sym typeface="Arial"/>
              </a:rPr>
              <a:t>2</a:t>
            </a:r>
            <a:r>
              <a:rPr i="1" lang="en-US" sz="2400">
                <a:solidFill>
                  <a:srgbClr val="009999"/>
                </a:solidFill>
                <a:latin typeface="Arial"/>
                <a:ea typeface="Arial"/>
                <a:cs typeface="Arial"/>
                <a:sym typeface="Arial"/>
              </a:rPr>
              <a:t>/ </a:t>
            </a:r>
            <a:r>
              <a:rPr lang="en-US" sz="2400">
                <a:solidFill>
                  <a:srgbClr val="009999"/>
                </a:solidFill>
                <a:latin typeface="Arial"/>
                <a:ea typeface="Arial"/>
                <a:cs typeface="Arial"/>
                <a:sym typeface="Arial"/>
              </a:rPr>
              <a:t>(</a:t>
            </a:r>
            <a:r>
              <a:rPr i="1" lang="en-US" sz="2400">
                <a:solidFill>
                  <a:srgbClr val="009999"/>
                </a:solidFill>
                <a:latin typeface="Arial"/>
                <a:ea typeface="Arial"/>
                <a:cs typeface="Arial"/>
                <a:sym typeface="Arial"/>
              </a:rPr>
              <a:t>GM</a:t>
            </a:r>
            <a:r>
              <a:rPr lang="en-US" sz="2400">
                <a:solidFill>
                  <a:srgbClr val="009999"/>
                </a:solidFill>
                <a:latin typeface="Arial"/>
                <a:ea typeface="Arial"/>
                <a:cs typeface="Arial"/>
                <a:sym typeface="Arial"/>
              </a:rPr>
              <a:t>) ] </a:t>
            </a:r>
            <a:r>
              <a:rPr baseline="30000" lang="en-US" sz="2400">
                <a:solidFill>
                  <a:schemeClr val="hlink"/>
                </a:solidFill>
                <a:latin typeface="Arial"/>
                <a:ea typeface="Arial"/>
                <a:cs typeface="Arial"/>
                <a:sym typeface="Arial"/>
              </a:rPr>
              <a:t>1/2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3/2</a:t>
            </a:r>
            <a:endParaRPr/>
          </a:p>
        </p:txBody>
      </p:sp>
      <p:sp>
        <p:nvSpPr>
          <p:cNvPr id="771" name="Google Shape;771;p49"/>
          <p:cNvSpPr txBox="1"/>
          <p:nvPr/>
        </p:nvSpPr>
        <p:spPr>
          <a:xfrm>
            <a:off x="828675" y="5665788"/>
            <a:ext cx="6551613"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∙Thus </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r</a:t>
            </a:r>
            <a:r>
              <a:rPr baseline="30000" lang="en-US" sz="2400">
                <a:solidFill>
                  <a:schemeClr val="hlink"/>
                </a:solidFill>
                <a:latin typeface="Arial"/>
                <a:ea typeface="Arial"/>
                <a:cs typeface="Arial"/>
                <a:sym typeface="Arial"/>
              </a:rPr>
              <a:t> 3/2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772" name="Google Shape;772;p49"/>
          <p:cNvSpPr/>
          <p:nvPr/>
        </p:nvSpPr>
        <p:spPr>
          <a:xfrm>
            <a:off x="3009900" y="3248025"/>
            <a:ext cx="347663" cy="347663"/>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773" name="Google Shape;773;p49"/>
          <p:cNvGrpSpPr/>
          <p:nvPr/>
        </p:nvGrpSpPr>
        <p:grpSpPr>
          <a:xfrm>
            <a:off x="828675" y="3721100"/>
            <a:ext cx="7464425" cy="465138"/>
            <a:chOff x="828675" y="3102026"/>
            <a:chExt cx="7464425" cy="464840"/>
          </a:xfrm>
        </p:grpSpPr>
        <p:sp>
          <p:nvSpPr>
            <p:cNvPr id="774" name="Google Shape;774;p49"/>
            <p:cNvSpPr/>
            <p:nvPr/>
          </p:nvSpPr>
          <p:spPr>
            <a:xfrm>
              <a:off x="965200" y="3102026"/>
              <a:ext cx="3175000" cy="32047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endParaRPr/>
            </a:p>
          </p:txBody>
        </p:sp>
        <p:sp>
          <p:nvSpPr>
            <p:cNvPr id="775" name="Google Shape;775;p49"/>
            <p:cNvSpPr txBox="1"/>
            <p:nvPr/>
          </p:nvSpPr>
          <p:spPr>
            <a:xfrm>
              <a:off x="5365750" y="3105201"/>
              <a:ext cx="292735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Kepler’s third law</a:t>
              </a:r>
              <a:endParaRPr/>
            </a:p>
          </p:txBody>
        </p:sp>
        <p:sp>
          <p:nvSpPr>
            <p:cNvPr id="776" name="Google Shape;776;p49"/>
            <p:cNvSpPr/>
            <p:nvPr/>
          </p:nvSpPr>
          <p:spPr>
            <a:xfrm>
              <a:off x="828675" y="3108376"/>
              <a:ext cx="7462838" cy="45075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7"/>
                                        </p:tgtEl>
                                        <p:attrNameLst>
                                          <p:attrName>style.visibility</p:attrName>
                                        </p:attrNameLst>
                                      </p:cBhvr>
                                      <p:to>
                                        <p:strVal val="visible"/>
                                      </p:to>
                                    </p:set>
                                    <p:anim calcmode="lin" valueType="num">
                                      <p:cBhvr additive="base">
                                        <p:cTn dur="500"/>
                                        <p:tgtEl>
                                          <p:spTgt spid="7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73"/>
                                        </p:tgtEl>
                                        <p:attrNameLst>
                                          <p:attrName>style.visibility</p:attrName>
                                        </p:attrNameLst>
                                      </p:cBhvr>
                                      <p:to>
                                        <p:strVal val="visible"/>
                                      </p:to>
                                    </p:set>
                                    <p:anim calcmode="lin" valueType="num">
                                      <p:cBhvr additive="base">
                                        <p:cTn dur="500"/>
                                        <p:tgtEl>
                                          <p:spTgt spid="773"/>
                                        </p:tgtEl>
                                        <p:attrNameLst>
                                          <p:attrName>ppt_w</p:attrName>
                                        </p:attrNameLst>
                                      </p:cBhvr>
                                      <p:tavLst>
                                        <p:tav fmla="" tm="0">
                                          <p:val>
                                            <p:strVal val="0"/>
                                          </p:val>
                                        </p:tav>
                                        <p:tav fmla="" tm="100000">
                                          <p:val>
                                            <p:strVal val="#ppt_w"/>
                                          </p:val>
                                        </p:tav>
                                      </p:tavLst>
                                    </p:anim>
                                    <p:anim calcmode="lin" valueType="num">
                                      <p:cBhvr additive="base">
                                        <p:cTn dur="500"/>
                                        <p:tgtEl>
                                          <p:spTgt spid="7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8">
                                            <p:txEl>
                                              <p:pRg end="0" st="0"/>
                                            </p:txEl>
                                          </p:spTgt>
                                        </p:tgtEl>
                                        <p:attrNameLst>
                                          <p:attrName>style.visibility</p:attrName>
                                        </p:attrNameLst>
                                      </p:cBhvr>
                                      <p:to>
                                        <p:strVal val="visible"/>
                                      </p:to>
                                    </p:set>
                                    <p:anim calcmode="lin" valueType="num">
                                      <p:cBhvr additive="base">
                                        <p:cTn dur="500"/>
                                        <p:tgtEl>
                                          <p:spTgt spid="76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9">
                                            <p:txEl>
                                              <p:pRg end="0" st="0"/>
                                            </p:txEl>
                                          </p:spTgt>
                                        </p:tgtEl>
                                        <p:attrNameLst>
                                          <p:attrName>style.visibility</p:attrName>
                                        </p:attrNameLst>
                                      </p:cBhvr>
                                      <p:to>
                                        <p:strVal val="visible"/>
                                      </p:to>
                                    </p:set>
                                    <p:anim calcmode="lin" valueType="num">
                                      <p:cBhvr additive="base">
                                        <p:cTn dur="500"/>
                                        <p:tgtEl>
                                          <p:spTgt spid="76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0">
                                            <p:txEl>
                                              <p:pRg end="0" st="0"/>
                                            </p:txEl>
                                          </p:spTgt>
                                        </p:tgtEl>
                                        <p:attrNameLst>
                                          <p:attrName>style.visibility</p:attrName>
                                        </p:attrNameLst>
                                      </p:cBhvr>
                                      <p:to>
                                        <p:strVal val="visible"/>
                                      </p:to>
                                    </p:set>
                                    <p:anim calcmode="lin" valueType="num">
                                      <p:cBhvr additive="base">
                                        <p:cTn dur="500"/>
                                        <p:tgtEl>
                                          <p:spTgt spid="77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1">
                                            <p:txEl>
                                              <p:pRg end="0" st="0"/>
                                            </p:txEl>
                                          </p:spTgt>
                                        </p:tgtEl>
                                        <p:attrNameLst>
                                          <p:attrName>style.visibility</p:attrName>
                                        </p:attrNameLst>
                                      </p:cBhvr>
                                      <p:to>
                                        <p:strVal val="visible"/>
                                      </p:to>
                                    </p:set>
                                    <p:anim calcmode="lin" valueType="num">
                                      <p:cBhvr additive="base">
                                        <p:cTn dur="500"/>
                                        <p:tgtEl>
                                          <p:spTgt spid="77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72"/>
                                        </p:tgtEl>
                                        <p:attrNameLst>
                                          <p:attrName>style.visibility</p:attrName>
                                        </p:attrNameLst>
                                      </p:cBhvr>
                                      <p:to>
                                        <p:strVal val="visible"/>
                                      </p:to>
                                    </p:set>
                                    <p:anim calcmode="lin" valueType="num">
                                      <p:cBhvr additive="base">
                                        <p:cTn dur="500"/>
                                        <p:tgtEl>
                                          <p:spTgt spid="772"/>
                                        </p:tgtEl>
                                        <p:attrNameLst>
                                          <p:attrName>ppt_w</p:attrName>
                                        </p:attrNameLst>
                                      </p:cBhvr>
                                      <p:tavLst>
                                        <p:tav fmla="" tm="0">
                                          <p:val>
                                            <p:strVal val="0"/>
                                          </p:val>
                                        </p:tav>
                                        <p:tav fmla="" tm="100000">
                                          <p:val>
                                            <p:strVal val="#ppt_w"/>
                                          </p:val>
                                        </p:tav>
                                      </p:tavLst>
                                    </p:anim>
                                    <p:anim calcmode="lin" valueType="num">
                                      <p:cBhvr additive="base">
                                        <p:cTn dur="500"/>
                                        <p:tgtEl>
                                          <p:spTgt spid="77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0"/>
          <p:cNvSpPr/>
          <p:nvPr/>
        </p:nvSpPr>
        <p:spPr>
          <a:xfrm>
            <a:off x="685800" y="1401763"/>
            <a:ext cx="7772400" cy="482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orbital period</a:t>
            </a:r>
            <a:endParaRPr/>
          </a:p>
        </p:txBody>
      </p:sp>
      <p:sp>
        <p:nvSpPr>
          <p:cNvPr id="783" name="Google Shape;783;p50"/>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784" name="Google Shape;784;p50"/>
          <p:cNvSpPr/>
          <p:nvPr/>
        </p:nvSpPr>
        <p:spPr>
          <a:xfrm>
            <a:off x="685800" y="1857375"/>
            <a:ext cx="7772400" cy="50006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785" name="Google Shape;785;p50"/>
          <p:cNvPicPr preferRelativeResize="0"/>
          <p:nvPr/>
        </p:nvPicPr>
        <p:blipFill rotWithShape="1">
          <a:blip r:embed="rId3">
            <a:alphaModFix/>
          </a:blip>
          <a:srcRect b="0" l="0" r="0" t="0"/>
          <a:stretch/>
        </p:blipFill>
        <p:spPr>
          <a:xfrm>
            <a:off x="712788" y="1914525"/>
            <a:ext cx="7713662" cy="1822450"/>
          </a:xfrm>
          <a:prstGeom prst="rect">
            <a:avLst/>
          </a:prstGeom>
          <a:noFill/>
          <a:ln>
            <a:noFill/>
          </a:ln>
        </p:spPr>
      </p:pic>
      <p:sp>
        <p:nvSpPr>
          <p:cNvPr id="786" name="Google Shape;786;p50"/>
          <p:cNvSpPr txBox="1"/>
          <p:nvPr/>
        </p:nvSpPr>
        <p:spPr>
          <a:xfrm>
            <a:off x="798513" y="4152900"/>
            <a:ext cx="42656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3</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787" name="Google Shape;787;p50"/>
          <p:cNvSpPr txBox="1"/>
          <p:nvPr/>
        </p:nvSpPr>
        <p:spPr>
          <a:xfrm>
            <a:off x="800100" y="4537075"/>
            <a:ext cx="3913188"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3</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788" name="Google Shape;788;p50"/>
          <p:cNvSpPr txBox="1"/>
          <p:nvPr/>
        </p:nvSpPr>
        <p:spPr>
          <a:xfrm>
            <a:off x="796925" y="4935538"/>
            <a:ext cx="394017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baseline="-25000"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8</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64</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789" name="Google Shape;789;p50"/>
          <p:cNvSpPr txBox="1"/>
          <p:nvPr/>
        </p:nvSpPr>
        <p:spPr>
          <a:xfrm>
            <a:off x="1431925" y="5322888"/>
            <a:ext cx="664368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T</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a:t>
            </a:r>
            <a:r>
              <a:rPr lang="en-US" sz="2400">
                <a:solidFill>
                  <a:srgbClr val="009999"/>
                </a:solidFill>
                <a:latin typeface="Arial"/>
                <a:ea typeface="Arial"/>
                <a:cs typeface="Arial"/>
                <a:sym typeface="Arial"/>
              </a:rPr>
              <a:t>[ 4π</a:t>
            </a:r>
            <a:r>
              <a:rPr baseline="30000" lang="en-US" sz="2400">
                <a:solidFill>
                  <a:srgbClr val="009999"/>
                </a:solidFill>
                <a:latin typeface="Arial"/>
                <a:ea typeface="Arial"/>
                <a:cs typeface="Arial"/>
                <a:sym typeface="Arial"/>
              </a:rPr>
              <a:t>2</a:t>
            </a:r>
            <a:r>
              <a:rPr i="1" lang="en-US" sz="2400">
                <a:solidFill>
                  <a:srgbClr val="009999"/>
                </a:solidFill>
                <a:latin typeface="Arial"/>
                <a:ea typeface="Arial"/>
                <a:cs typeface="Arial"/>
                <a:sym typeface="Arial"/>
              </a:rPr>
              <a:t>/ </a:t>
            </a:r>
            <a:r>
              <a:rPr lang="en-US" sz="2400">
                <a:solidFill>
                  <a:srgbClr val="009999"/>
                </a:solidFill>
                <a:latin typeface="Arial"/>
                <a:ea typeface="Arial"/>
                <a:cs typeface="Arial"/>
                <a:sym typeface="Arial"/>
              </a:rPr>
              <a:t>(</a:t>
            </a:r>
            <a:r>
              <a:rPr i="1" lang="en-US" sz="2400">
                <a:solidFill>
                  <a:srgbClr val="009999"/>
                </a:solidFill>
                <a:latin typeface="Arial"/>
                <a:ea typeface="Arial"/>
                <a:cs typeface="Arial"/>
                <a:sym typeface="Arial"/>
              </a:rPr>
              <a:t>GM</a:t>
            </a:r>
            <a:r>
              <a:rPr lang="en-US" sz="2400">
                <a:solidFill>
                  <a:srgbClr val="009999"/>
                </a:solidFill>
                <a:latin typeface="Arial"/>
                <a:ea typeface="Arial"/>
                <a:cs typeface="Arial"/>
                <a:sym typeface="Arial"/>
              </a:rPr>
              <a:t>)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3</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a:t>
            </a:r>
            <a:r>
              <a:rPr lang="en-US" sz="2400">
                <a:solidFill>
                  <a:srgbClr val="009999"/>
                </a:solidFill>
                <a:latin typeface="Arial"/>
                <a:ea typeface="Arial"/>
                <a:cs typeface="Arial"/>
                <a:sym typeface="Arial"/>
              </a:rPr>
              <a:t>[ 4π</a:t>
            </a:r>
            <a:r>
              <a:rPr baseline="30000" lang="en-US" sz="2400">
                <a:solidFill>
                  <a:srgbClr val="009999"/>
                </a:solidFill>
                <a:latin typeface="Arial"/>
                <a:ea typeface="Arial"/>
                <a:cs typeface="Arial"/>
                <a:sym typeface="Arial"/>
              </a:rPr>
              <a:t>2</a:t>
            </a:r>
            <a:r>
              <a:rPr i="1" lang="en-US" sz="2400">
                <a:solidFill>
                  <a:srgbClr val="009999"/>
                </a:solidFill>
                <a:latin typeface="Arial"/>
                <a:ea typeface="Arial"/>
                <a:cs typeface="Arial"/>
                <a:sym typeface="Arial"/>
              </a:rPr>
              <a:t>/ </a:t>
            </a:r>
            <a:r>
              <a:rPr lang="en-US" sz="2400">
                <a:solidFill>
                  <a:srgbClr val="009999"/>
                </a:solidFill>
                <a:latin typeface="Arial"/>
                <a:ea typeface="Arial"/>
                <a:cs typeface="Arial"/>
                <a:sym typeface="Arial"/>
              </a:rPr>
              <a:t>(</a:t>
            </a:r>
            <a:r>
              <a:rPr i="1" lang="en-US" sz="2400">
                <a:solidFill>
                  <a:srgbClr val="009999"/>
                </a:solidFill>
                <a:latin typeface="Arial"/>
                <a:ea typeface="Arial"/>
                <a:cs typeface="Arial"/>
                <a:sym typeface="Arial"/>
              </a:rPr>
              <a:t>GM</a:t>
            </a:r>
            <a:r>
              <a:rPr lang="en-US" sz="2400">
                <a:solidFill>
                  <a:srgbClr val="009999"/>
                </a:solidFill>
                <a:latin typeface="Arial"/>
                <a:ea typeface="Arial"/>
                <a:cs typeface="Arial"/>
                <a:sym typeface="Arial"/>
              </a:rPr>
              <a:t>)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3</a:t>
            </a:r>
            <a:r>
              <a:rPr lang="en-US" sz="2400">
                <a:solidFill>
                  <a:schemeClr val="hlink"/>
                </a:solidFill>
                <a:latin typeface="Arial"/>
                <a:ea typeface="Arial"/>
                <a:cs typeface="Arial"/>
                <a:sym typeface="Arial"/>
              </a:rPr>
              <a:t> }</a:t>
            </a:r>
            <a:endParaRPr/>
          </a:p>
        </p:txBody>
      </p:sp>
      <p:sp>
        <p:nvSpPr>
          <p:cNvPr id="790" name="Google Shape;790;p50"/>
          <p:cNvSpPr txBox="1"/>
          <p:nvPr/>
        </p:nvSpPr>
        <p:spPr>
          <a:xfrm>
            <a:off x="1039813" y="5699125"/>
            <a:ext cx="397510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64</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X</a:t>
            </a:r>
            <a:r>
              <a:rPr baseline="30000" lang="en-US" sz="2400">
                <a:solidFill>
                  <a:schemeClr val="hlink"/>
                </a:solidFill>
                <a:latin typeface="Arial"/>
                <a:ea typeface="Arial"/>
                <a:cs typeface="Arial"/>
                <a:sym typeface="Arial"/>
              </a:rPr>
              <a:t>3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Y</a:t>
            </a:r>
            <a:r>
              <a:rPr baseline="30000" lang="en-US" sz="2400">
                <a:solidFill>
                  <a:schemeClr val="hlink"/>
                </a:solidFill>
                <a:latin typeface="Arial"/>
                <a:ea typeface="Arial"/>
                <a:cs typeface="Arial"/>
                <a:sym typeface="Arial"/>
              </a:rPr>
              <a:t>3</a:t>
            </a:r>
            <a:endParaRPr sz="2400">
              <a:solidFill>
                <a:schemeClr val="hlink"/>
              </a:solidFill>
              <a:latin typeface="Arial"/>
              <a:ea typeface="Arial"/>
              <a:cs typeface="Arial"/>
              <a:sym typeface="Arial"/>
            </a:endParaRPr>
          </a:p>
        </p:txBody>
      </p:sp>
      <p:cxnSp>
        <p:nvCxnSpPr>
          <p:cNvPr id="791" name="Google Shape;791;p50"/>
          <p:cNvCxnSpPr/>
          <p:nvPr/>
        </p:nvCxnSpPr>
        <p:spPr>
          <a:xfrm flipH="1" rot="10800000">
            <a:off x="2943225" y="5486400"/>
            <a:ext cx="1474788" cy="195263"/>
          </a:xfrm>
          <a:prstGeom prst="straightConnector1">
            <a:avLst/>
          </a:prstGeom>
          <a:noFill/>
          <a:ln cap="flat" cmpd="sng" w="19050">
            <a:solidFill>
              <a:srgbClr val="FF0000"/>
            </a:solidFill>
            <a:prstDash val="solid"/>
            <a:round/>
            <a:headEnd len="med" w="med" type="none"/>
            <a:tailEnd len="med" w="med" type="none"/>
          </a:ln>
        </p:spPr>
      </p:cxnSp>
      <p:cxnSp>
        <p:nvCxnSpPr>
          <p:cNvPr id="792" name="Google Shape;792;p50"/>
          <p:cNvCxnSpPr/>
          <p:nvPr/>
        </p:nvCxnSpPr>
        <p:spPr>
          <a:xfrm flipH="1" rot="10800000">
            <a:off x="5307013" y="5486400"/>
            <a:ext cx="1501775" cy="157163"/>
          </a:xfrm>
          <a:prstGeom prst="straightConnector1">
            <a:avLst/>
          </a:prstGeom>
          <a:noFill/>
          <a:ln cap="flat" cmpd="sng" w="19050">
            <a:solidFill>
              <a:srgbClr val="FF0000"/>
            </a:solidFill>
            <a:prstDash val="solid"/>
            <a:round/>
            <a:headEnd len="med" w="med" type="none"/>
            <a:tailEnd len="med" w="med" type="none"/>
          </a:ln>
        </p:spPr>
      </p:cxnSp>
      <p:cxnSp>
        <p:nvCxnSpPr>
          <p:cNvPr id="793" name="Google Shape;793;p50"/>
          <p:cNvCxnSpPr/>
          <p:nvPr/>
        </p:nvCxnSpPr>
        <p:spPr>
          <a:xfrm flipH="1" rot="10800000">
            <a:off x="1504950" y="5821363"/>
            <a:ext cx="442913" cy="185737"/>
          </a:xfrm>
          <a:prstGeom prst="straightConnector1">
            <a:avLst/>
          </a:prstGeom>
          <a:noFill/>
          <a:ln cap="flat" cmpd="sng" w="19050">
            <a:solidFill>
              <a:srgbClr val="FF0000"/>
            </a:solidFill>
            <a:prstDash val="solid"/>
            <a:round/>
            <a:headEnd len="med" w="med" type="none"/>
            <a:tailEnd len="med" w="med" type="none"/>
          </a:ln>
        </p:spPr>
      </p:cxnSp>
      <p:cxnSp>
        <p:nvCxnSpPr>
          <p:cNvPr id="794" name="Google Shape;794;p50"/>
          <p:cNvCxnSpPr/>
          <p:nvPr/>
        </p:nvCxnSpPr>
        <p:spPr>
          <a:xfrm flipH="1" rot="10800000">
            <a:off x="2070100" y="5795963"/>
            <a:ext cx="433388" cy="211137"/>
          </a:xfrm>
          <a:prstGeom prst="straightConnector1">
            <a:avLst/>
          </a:prstGeom>
          <a:noFill/>
          <a:ln cap="flat" cmpd="sng" w="19050">
            <a:solidFill>
              <a:srgbClr val="FF0000"/>
            </a:solidFill>
            <a:prstDash val="solid"/>
            <a:round/>
            <a:headEnd len="med" w="med" type="none"/>
            <a:tailEnd len="med" w="med" type="none"/>
          </a:ln>
        </p:spPr>
      </p:cxnSp>
      <p:sp>
        <p:nvSpPr>
          <p:cNvPr id="795" name="Google Shape;795;p50"/>
          <p:cNvSpPr txBox="1"/>
          <p:nvPr/>
        </p:nvSpPr>
        <p:spPr>
          <a:xfrm>
            <a:off x="2125663" y="6088063"/>
            <a:ext cx="39751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64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X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3</a:t>
            </a:r>
            <a:endParaRPr/>
          </a:p>
        </p:txBody>
      </p:sp>
      <p:sp>
        <p:nvSpPr>
          <p:cNvPr id="796" name="Google Shape;796;p50"/>
          <p:cNvSpPr txBox="1"/>
          <p:nvPr/>
        </p:nvSpPr>
        <p:spPr>
          <a:xfrm>
            <a:off x="1704975" y="6448425"/>
            <a:ext cx="397510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X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64</a:t>
            </a:r>
            <a:r>
              <a:rPr baseline="30000" lang="en-US" sz="2400">
                <a:solidFill>
                  <a:schemeClr val="hlink"/>
                </a:solidFill>
                <a:latin typeface="Arial"/>
                <a:ea typeface="Arial"/>
                <a:cs typeface="Arial"/>
                <a:sym typeface="Arial"/>
              </a:rPr>
              <a:t>1/3</a:t>
            </a:r>
            <a:r>
              <a:rPr lang="en-US" sz="2400">
                <a:solidFill>
                  <a:schemeClr val="hlink"/>
                </a:solidFill>
                <a:latin typeface="Arial"/>
                <a:ea typeface="Arial"/>
                <a:cs typeface="Arial"/>
                <a:sym typeface="Arial"/>
              </a:rPr>
              <a:t> = 4</a:t>
            </a:r>
            <a:endParaRPr baseline="30000" sz="2400">
              <a:solidFill>
                <a:schemeClr val="hlink"/>
              </a:solidFill>
              <a:latin typeface="Arial"/>
              <a:ea typeface="Arial"/>
              <a:cs typeface="Arial"/>
              <a:sym typeface="Arial"/>
            </a:endParaRPr>
          </a:p>
        </p:txBody>
      </p:sp>
      <p:sp>
        <p:nvSpPr>
          <p:cNvPr id="797" name="Google Shape;797;p50"/>
          <p:cNvSpPr/>
          <p:nvPr/>
        </p:nvSpPr>
        <p:spPr>
          <a:xfrm>
            <a:off x="2786063" y="3365500"/>
            <a:ext cx="346075" cy="3460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798" name="Google Shape;798;p50"/>
          <p:cNvGrpSpPr/>
          <p:nvPr/>
        </p:nvGrpSpPr>
        <p:grpSpPr>
          <a:xfrm>
            <a:off x="828675" y="3748088"/>
            <a:ext cx="7464425" cy="465137"/>
            <a:chOff x="828675" y="3102026"/>
            <a:chExt cx="7464425" cy="464840"/>
          </a:xfrm>
        </p:grpSpPr>
        <p:sp>
          <p:nvSpPr>
            <p:cNvPr id="799" name="Google Shape;799;p50"/>
            <p:cNvSpPr/>
            <p:nvPr/>
          </p:nvSpPr>
          <p:spPr>
            <a:xfrm>
              <a:off x="965200" y="3102026"/>
              <a:ext cx="3175000" cy="32047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 2</a:t>
              </a:r>
              <a:r>
                <a:rPr lang="en-US" sz="2400">
                  <a:solidFill>
                    <a:schemeClr val="dk1"/>
                  </a:solidFill>
                  <a:latin typeface="Arial"/>
                  <a:ea typeface="Arial"/>
                  <a:cs typeface="Arial"/>
                  <a:sym typeface="Arial"/>
                </a:rPr>
                <a:t> = [ 4π</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GM</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r</a:t>
              </a:r>
              <a:r>
                <a:rPr baseline="30000" lang="en-US" sz="2400">
                  <a:solidFill>
                    <a:schemeClr val="dk1"/>
                  </a:solidFill>
                  <a:latin typeface="Arial"/>
                  <a:ea typeface="Arial"/>
                  <a:cs typeface="Arial"/>
                  <a:sym typeface="Arial"/>
                </a:rPr>
                <a:t> 3</a:t>
              </a:r>
              <a:endParaRPr/>
            </a:p>
          </p:txBody>
        </p:sp>
        <p:sp>
          <p:nvSpPr>
            <p:cNvPr id="800" name="Google Shape;800;p50"/>
            <p:cNvSpPr txBox="1"/>
            <p:nvPr/>
          </p:nvSpPr>
          <p:spPr>
            <a:xfrm>
              <a:off x="5365750" y="3105201"/>
              <a:ext cx="2927350" cy="461665"/>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Kepler’s third law</a:t>
              </a:r>
              <a:endParaRPr/>
            </a:p>
          </p:txBody>
        </p:sp>
        <p:sp>
          <p:nvSpPr>
            <p:cNvPr id="801" name="Google Shape;801;p50"/>
            <p:cNvSpPr/>
            <p:nvPr/>
          </p:nvSpPr>
          <p:spPr>
            <a:xfrm>
              <a:off x="828675" y="3108376"/>
              <a:ext cx="7462838" cy="45075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5"/>
                                        </p:tgtEl>
                                        <p:attrNameLst>
                                          <p:attrName>style.visibility</p:attrName>
                                        </p:attrNameLst>
                                      </p:cBhvr>
                                      <p:to>
                                        <p:strVal val="visible"/>
                                      </p:to>
                                    </p:set>
                                    <p:anim calcmode="lin" valueType="num">
                                      <p:cBhvr additive="base">
                                        <p:cTn dur="500"/>
                                        <p:tgtEl>
                                          <p:spTgt spid="7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98"/>
                                        </p:tgtEl>
                                        <p:attrNameLst>
                                          <p:attrName>style.visibility</p:attrName>
                                        </p:attrNameLst>
                                      </p:cBhvr>
                                      <p:to>
                                        <p:strVal val="visible"/>
                                      </p:to>
                                    </p:set>
                                    <p:anim calcmode="lin" valueType="num">
                                      <p:cBhvr additive="base">
                                        <p:cTn dur="500"/>
                                        <p:tgtEl>
                                          <p:spTgt spid="798"/>
                                        </p:tgtEl>
                                        <p:attrNameLst>
                                          <p:attrName>ppt_w</p:attrName>
                                        </p:attrNameLst>
                                      </p:cBhvr>
                                      <p:tavLst>
                                        <p:tav fmla="" tm="0">
                                          <p:val>
                                            <p:strVal val="0"/>
                                          </p:val>
                                        </p:tav>
                                        <p:tav fmla="" tm="100000">
                                          <p:val>
                                            <p:strVal val="#ppt_w"/>
                                          </p:val>
                                        </p:tav>
                                      </p:tavLst>
                                    </p:anim>
                                    <p:anim calcmode="lin" valueType="num">
                                      <p:cBhvr additive="base">
                                        <p:cTn dur="500"/>
                                        <p:tgtEl>
                                          <p:spTgt spid="7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86">
                                            <p:txEl>
                                              <p:pRg end="0" st="0"/>
                                            </p:txEl>
                                          </p:spTgt>
                                        </p:tgtEl>
                                        <p:attrNameLst>
                                          <p:attrName>style.visibility</p:attrName>
                                        </p:attrNameLst>
                                      </p:cBhvr>
                                      <p:to>
                                        <p:strVal val="visible"/>
                                      </p:to>
                                    </p:set>
                                    <p:anim calcmode="lin" valueType="num">
                                      <p:cBhvr additive="base">
                                        <p:cTn dur="500"/>
                                        <p:tgtEl>
                                          <p:spTgt spid="78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87">
                                            <p:txEl>
                                              <p:pRg end="0" st="0"/>
                                            </p:txEl>
                                          </p:spTgt>
                                        </p:tgtEl>
                                        <p:attrNameLst>
                                          <p:attrName>style.visibility</p:attrName>
                                        </p:attrNameLst>
                                      </p:cBhvr>
                                      <p:to>
                                        <p:strVal val="visible"/>
                                      </p:to>
                                    </p:set>
                                    <p:anim calcmode="lin" valueType="num">
                                      <p:cBhvr additive="base">
                                        <p:cTn dur="500"/>
                                        <p:tgtEl>
                                          <p:spTgt spid="78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88">
                                            <p:txEl>
                                              <p:pRg end="0" st="0"/>
                                            </p:txEl>
                                          </p:spTgt>
                                        </p:tgtEl>
                                        <p:attrNameLst>
                                          <p:attrName>style.visibility</p:attrName>
                                        </p:attrNameLst>
                                      </p:cBhvr>
                                      <p:to>
                                        <p:strVal val="visible"/>
                                      </p:to>
                                    </p:set>
                                    <p:anim calcmode="lin" valueType="num">
                                      <p:cBhvr additive="base">
                                        <p:cTn dur="500"/>
                                        <p:tgtEl>
                                          <p:spTgt spid="78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89">
                                            <p:txEl>
                                              <p:pRg end="0" st="0"/>
                                            </p:txEl>
                                          </p:spTgt>
                                        </p:tgtEl>
                                        <p:attrNameLst>
                                          <p:attrName>style.visibility</p:attrName>
                                        </p:attrNameLst>
                                      </p:cBhvr>
                                      <p:to>
                                        <p:strVal val="visible"/>
                                      </p:to>
                                    </p:set>
                                    <p:anim calcmode="lin" valueType="num">
                                      <p:cBhvr additive="base">
                                        <p:cTn dur="500"/>
                                        <p:tgtEl>
                                          <p:spTgt spid="78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90">
                                            <p:txEl>
                                              <p:pRg end="0" st="0"/>
                                            </p:txEl>
                                          </p:spTgt>
                                        </p:tgtEl>
                                        <p:attrNameLst>
                                          <p:attrName>style.visibility</p:attrName>
                                        </p:attrNameLst>
                                      </p:cBhvr>
                                      <p:to>
                                        <p:strVal val="visible"/>
                                      </p:to>
                                    </p:set>
                                    <p:anim calcmode="lin" valueType="num">
                                      <p:cBhvr additive="base">
                                        <p:cTn dur="500"/>
                                        <p:tgtEl>
                                          <p:spTgt spid="79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95">
                                            <p:txEl>
                                              <p:pRg end="0" st="0"/>
                                            </p:txEl>
                                          </p:spTgt>
                                        </p:tgtEl>
                                        <p:attrNameLst>
                                          <p:attrName>style.visibility</p:attrName>
                                        </p:attrNameLst>
                                      </p:cBhvr>
                                      <p:to>
                                        <p:strVal val="visible"/>
                                      </p:to>
                                    </p:set>
                                    <p:anim calcmode="lin" valueType="num">
                                      <p:cBhvr additive="base">
                                        <p:cTn dur="500"/>
                                        <p:tgtEl>
                                          <p:spTgt spid="79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anim calcmode="lin" valueType="num">
                                      <p:cBhvr additive="base">
                                        <p:cTn dur="500"/>
                                        <p:tgtEl>
                                          <p:spTgt spid="79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97"/>
                                        </p:tgtEl>
                                        <p:attrNameLst>
                                          <p:attrName>style.visibility</p:attrName>
                                        </p:attrNameLst>
                                      </p:cBhvr>
                                      <p:to>
                                        <p:strVal val="visible"/>
                                      </p:to>
                                    </p:set>
                                    <p:anim calcmode="lin" valueType="num">
                                      <p:cBhvr additive="base">
                                        <p:cTn dur="500"/>
                                        <p:tgtEl>
                                          <p:spTgt spid="797"/>
                                        </p:tgtEl>
                                        <p:attrNameLst>
                                          <p:attrName>ppt_w</p:attrName>
                                        </p:attrNameLst>
                                      </p:cBhvr>
                                      <p:tavLst>
                                        <p:tav fmla="" tm="0">
                                          <p:val>
                                            <p:strVal val="0"/>
                                          </p:val>
                                        </p:tav>
                                        <p:tav fmla="" tm="100000">
                                          <p:val>
                                            <p:strVal val="#ppt_w"/>
                                          </p:val>
                                        </p:tav>
                                      </p:tavLst>
                                    </p:anim>
                                    <p:anim calcmode="lin" valueType="num">
                                      <p:cBhvr additive="base">
                                        <p:cTn dur="500"/>
                                        <p:tgtEl>
                                          <p:spTgt spid="79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51"/>
          <p:cNvSpPr/>
          <p:nvPr/>
        </p:nvSpPr>
        <p:spPr>
          <a:xfrm>
            <a:off x="685800" y="3395663"/>
            <a:ext cx="7772400" cy="34623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If the elevator is accelerating upward at 2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what will Dobson observe the dropped ball’s                   acceleration to be?</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∙Since the elevator is accelerating upward at 2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to meet the ball which is accelerating downward at 10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Dobson would observe an acceleration of 12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∙If the elevator were accelerating downward at 2, he would observe an acceleration of 8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p:txBody>
      </p:sp>
      <p:sp>
        <p:nvSpPr>
          <p:cNvPr id="808" name="Google Shape;808;p51"/>
          <p:cNvSpPr/>
          <p:nvPr/>
        </p:nvSpPr>
        <p:spPr>
          <a:xfrm>
            <a:off x="685800" y="1401763"/>
            <a:ext cx="7772400" cy="200818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∙Consider Dobson inside an elevator which                             is not moving…</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∙If he drops a ball, it will accelerate downward                          at 10 ms</a:t>
            </a:r>
            <a:r>
              <a:rPr baseline="30000" lang="en-US" sz="2400">
                <a:solidFill>
                  <a:srgbClr val="000000"/>
                </a:solidFill>
                <a:latin typeface="Arial"/>
                <a:ea typeface="Arial"/>
                <a:cs typeface="Arial"/>
                <a:sym typeface="Arial"/>
              </a:rPr>
              <a:t>-2</a:t>
            </a:r>
            <a:r>
              <a:rPr lang="en-US" sz="2400">
                <a:solidFill>
                  <a:srgbClr val="000000"/>
                </a:solidFill>
                <a:latin typeface="Arial"/>
                <a:ea typeface="Arial"/>
                <a:cs typeface="Arial"/>
                <a:sym typeface="Arial"/>
              </a:rPr>
              <a:t> as expected.</a:t>
            </a:r>
            <a:endParaRPr/>
          </a:p>
        </p:txBody>
      </p:sp>
      <p:sp>
        <p:nvSpPr>
          <p:cNvPr id="809" name="Google Shape;809;p51"/>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grpSp>
        <p:nvGrpSpPr>
          <p:cNvPr id="810" name="Google Shape;810;p51"/>
          <p:cNvGrpSpPr/>
          <p:nvPr/>
        </p:nvGrpSpPr>
        <p:grpSpPr>
          <a:xfrm>
            <a:off x="7031038" y="1284288"/>
            <a:ext cx="1957387" cy="2112962"/>
            <a:chOff x="3916" y="1403"/>
            <a:chExt cx="1233" cy="1331"/>
          </a:xfrm>
        </p:grpSpPr>
        <p:sp>
          <p:nvSpPr>
            <p:cNvPr id="811" name="Google Shape;811;p51"/>
            <p:cNvSpPr/>
            <p:nvPr/>
          </p:nvSpPr>
          <p:spPr>
            <a:xfrm>
              <a:off x="3957" y="1403"/>
              <a:ext cx="1190" cy="146"/>
            </a:xfrm>
            <a:prstGeom prst="rect">
              <a:avLst/>
            </a:prstGeom>
            <a:gradFill>
              <a:gsLst>
                <a:gs pos="0">
                  <a:srgbClr val="B3B3B3"/>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Sand" id="812" name="Google Shape;812;p51"/>
            <p:cNvSpPr/>
            <p:nvPr/>
          </p:nvSpPr>
          <p:spPr>
            <a:xfrm>
              <a:off x="3959" y="2588"/>
              <a:ext cx="1190" cy="14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813" name="Google Shape;813;p51"/>
            <p:cNvPicPr preferRelativeResize="0"/>
            <p:nvPr/>
          </p:nvPicPr>
          <p:blipFill rotWithShape="1">
            <a:blip r:embed="rId4">
              <a:alphaModFix/>
            </a:blip>
            <a:srcRect b="0" l="0" r="0" t="0"/>
            <a:stretch/>
          </p:blipFill>
          <p:spPr>
            <a:xfrm>
              <a:off x="3916" y="1751"/>
              <a:ext cx="627" cy="932"/>
            </a:xfrm>
            <a:prstGeom prst="rect">
              <a:avLst/>
            </a:prstGeom>
            <a:noFill/>
            <a:ln>
              <a:noFill/>
            </a:ln>
          </p:spPr>
        </p:pic>
      </p:grpSp>
      <p:sp>
        <p:nvSpPr>
          <p:cNvPr id="814" name="Google Shape;814;p51"/>
          <p:cNvSpPr/>
          <p:nvPr/>
        </p:nvSpPr>
        <p:spPr>
          <a:xfrm>
            <a:off x="7793038" y="2389188"/>
            <a:ext cx="217487" cy="217487"/>
          </a:xfrm>
          <a:prstGeom prst="ellipse">
            <a:avLst/>
          </a:prstGeom>
          <a:gradFill>
            <a:gsLst>
              <a:gs pos="0">
                <a:srgbClr val="FF0000"/>
              </a:gs>
              <a:gs pos="100000">
                <a:srgbClr val="76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8">
                                            <p:txEl>
                                              <p:pRg end="0" st="0"/>
                                            </p:txEl>
                                          </p:spTgt>
                                        </p:tgtEl>
                                        <p:attrNameLst>
                                          <p:attrName>style.visibility</p:attrName>
                                        </p:attrNameLst>
                                      </p:cBhvr>
                                      <p:to>
                                        <p:strVal val="visible"/>
                                      </p:to>
                                    </p:set>
                                    <p:anim calcmode="lin" valueType="num">
                                      <p:cBhvr additive="base">
                                        <p:cTn dur="500"/>
                                        <p:tgtEl>
                                          <p:spTgt spid="8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8">
                                            <p:txEl>
                                              <p:pRg end="1" st="1"/>
                                            </p:txEl>
                                          </p:spTgt>
                                        </p:tgtEl>
                                        <p:attrNameLst>
                                          <p:attrName>style.visibility</p:attrName>
                                        </p:attrNameLst>
                                      </p:cBhvr>
                                      <p:to>
                                        <p:strVal val="visible"/>
                                      </p:to>
                                    </p:set>
                                    <p:anim calcmode="lin" valueType="num">
                                      <p:cBhvr additive="base">
                                        <p:cTn dur="500"/>
                                        <p:tgtEl>
                                          <p:spTgt spid="80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8">
                                            <p:txEl>
                                              <p:pRg end="2" st="2"/>
                                            </p:txEl>
                                          </p:spTgt>
                                        </p:tgtEl>
                                        <p:attrNameLst>
                                          <p:attrName>style.visibility</p:attrName>
                                        </p:attrNameLst>
                                      </p:cBhvr>
                                      <p:to>
                                        <p:strVal val="visible"/>
                                      </p:to>
                                    </p:set>
                                    <p:anim calcmode="lin" valueType="num">
                                      <p:cBhvr additive="base">
                                        <p:cTn dur="500"/>
                                        <p:tgtEl>
                                          <p:spTgt spid="80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1000"/>
                                        <p:tgtEl>
                                          <p:spTgt spid="8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2000"/>
                                        <p:tgtEl>
                                          <p:spTgt spid="8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7">
                                            <p:txEl>
                                              <p:pRg end="0" st="0"/>
                                            </p:txEl>
                                          </p:spTgt>
                                        </p:tgtEl>
                                        <p:attrNameLst>
                                          <p:attrName>style.visibility</p:attrName>
                                        </p:attrNameLst>
                                      </p:cBhvr>
                                      <p:to>
                                        <p:strVal val="visible"/>
                                      </p:to>
                                    </p:set>
                                    <p:anim calcmode="lin" valueType="num">
                                      <p:cBhvr additive="base">
                                        <p:cTn dur="500"/>
                                        <p:tgtEl>
                                          <p:spTgt spid="8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7">
                                            <p:txEl>
                                              <p:pRg end="1" st="1"/>
                                            </p:txEl>
                                          </p:spTgt>
                                        </p:tgtEl>
                                        <p:attrNameLst>
                                          <p:attrName>style.visibility</p:attrName>
                                        </p:attrNameLst>
                                      </p:cBhvr>
                                      <p:to>
                                        <p:strVal val="visible"/>
                                      </p:to>
                                    </p:set>
                                    <p:anim calcmode="lin" valueType="num">
                                      <p:cBhvr additive="base">
                                        <p:cTn dur="500"/>
                                        <p:tgtEl>
                                          <p:spTgt spid="8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7">
                                            <p:txEl>
                                              <p:pRg end="2" st="2"/>
                                            </p:txEl>
                                          </p:spTgt>
                                        </p:tgtEl>
                                        <p:attrNameLst>
                                          <p:attrName>style.visibility</p:attrName>
                                        </p:attrNameLst>
                                      </p:cBhvr>
                                      <p:to>
                                        <p:strVal val="visible"/>
                                      </p:to>
                                    </p:set>
                                    <p:anim calcmode="lin" valueType="num">
                                      <p:cBhvr additive="base">
                                        <p:cTn dur="500"/>
                                        <p:tgtEl>
                                          <p:spTgt spid="8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7">
                                            <p:txEl>
                                              <p:pRg end="3" st="3"/>
                                            </p:txEl>
                                          </p:spTgt>
                                        </p:tgtEl>
                                        <p:attrNameLst>
                                          <p:attrName>style.visibility</p:attrName>
                                        </p:attrNameLst>
                                      </p:cBhvr>
                                      <p:to>
                                        <p:strVal val="visible"/>
                                      </p:to>
                                    </p:set>
                                    <p:anim calcmode="lin" valueType="num">
                                      <p:cBhvr additive="base">
                                        <p:cTn dur="500"/>
                                        <p:tgtEl>
                                          <p:spTgt spid="8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52"/>
          <p:cNvSpPr/>
          <p:nvPr/>
        </p:nvSpPr>
        <p:spPr>
          <a:xfrm>
            <a:off x="685800" y="1871663"/>
            <a:ext cx="7772400" cy="498633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If the elevator were to accelerate downward at 10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what would Dobson                             observe the dropped ball’s acceleration to be?</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∙He would observe the acceleration of the ball                to be zero!</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∙He would think that the ball was “weightless!”</a:t>
            </a:r>
            <a:endParaRPr/>
          </a:p>
        </p:txBody>
      </p:sp>
      <p:sp>
        <p:nvSpPr>
          <p:cNvPr id="821" name="Google Shape;821;p52"/>
          <p:cNvSpPr/>
          <p:nvPr/>
        </p:nvSpPr>
        <p:spPr>
          <a:xfrm>
            <a:off x="660400" y="4868863"/>
            <a:ext cx="7786688" cy="19891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ball is NOT weightless, obviously.  It is merely accelerating at the same rate as Dobson!</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How could you get Dobson to accelerate             downward at 10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b="1" sz="2400">
              <a:solidFill>
                <a:schemeClr val="hlink"/>
              </a:solidFill>
              <a:latin typeface="Arial"/>
              <a:ea typeface="Arial"/>
              <a:cs typeface="Arial"/>
              <a:sym typeface="Arial"/>
            </a:endParaRPr>
          </a:p>
        </p:txBody>
      </p:sp>
      <p:sp>
        <p:nvSpPr>
          <p:cNvPr id="822" name="Google Shape;822;p52"/>
          <p:cNvSpPr/>
          <p:nvPr/>
        </p:nvSpPr>
        <p:spPr>
          <a:xfrm>
            <a:off x="685800" y="1401763"/>
            <a:ext cx="7772400" cy="482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
        <p:nvSpPr>
          <p:cNvPr id="823" name="Google Shape;823;p52"/>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grpSp>
        <p:nvGrpSpPr>
          <p:cNvPr id="824" name="Google Shape;824;p52"/>
          <p:cNvGrpSpPr/>
          <p:nvPr/>
        </p:nvGrpSpPr>
        <p:grpSpPr>
          <a:xfrm>
            <a:off x="7031038" y="1284288"/>
            <a:ext cx="1957387" cy="2112962"/>
            <a:chOff x="3916" y="1403"/>
            <a:chExt cx="1233" cy="1331"/>
          </a:xfrm>
        </p:grpSpPr>
        <p:sp>
          <p:nvSpPr>
            <p:cNvPr id="825" name="Google Shape;825;p52"/>
            <p:cNvSpPr/>
            <p:nvPr/>
          </p:nvSpPr>
          <p:spPr>
            <a:xfrm>
              <a:off x="3957" y="1403"/>
              <a:ext cx="1190" cy="146"/>
            </a:xfrm>
            <a:prstGeom prst="rect">
              <a:avLst/>
            </a:prstGeom>
            <a:gradFill>
              <a:gsLst>
                <a:gs pos="0">
                  <a:srgbClr val="B3B3B3"/>
                </a:gs>
                <a:gs pos="100000">
                  <a:schemeClr val="lt1"/>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Sand" id="826" name="Google Shape;826;p52"/>
            <p:cNvSpPr/>
            <p:nvPr/>
          </p:nvSpPr>
          <p:spPr>
            <a:xfrm>
              <a:off x="3959" y="2588"/>
              <a:ext cx="1190" cy="146"/>
            </a:xfrm>
            <a:prstGeom prst="rect">
              <a:avLst/>
            </a:prstGeom>
            <a:blipFill rotWithShape="1">
              <a:blip r:embed="rId3">
                <a:alphaModFix/>
              </a:blip>
              <a:tile algn="tl" flip="none" tx="0" sx="100000" ty="0" sy="100000"/>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827" name="Google Shape;827;p52"/>
            <p:cNvPicPr preferRelativeResize="0"/>
            <p:nvPr/>
          </p:nvPicPr>
          <p:blipFill rotWithShape="1">
            <a:blip r:embed="rId4">
              <a:alphaModFix/>
            </a:blip>
            <a:srcRect b="0" l="0" r="0" t="0"/>
            <a:stretch/>
          </p:blipFill>
          <p:spPr>
            <a:xfrm>
              <a:off x="3916" y="1751"/>
              <a:ext cx="627" cy="932"/>
            </a:xfrm>
            <a:prstGeom prst="rect">
              <a:avLst/>
            </a:prstGeom>
            <a:noFill/>
            <a:ln>
              <a:noFill/>
            </a:ln>
          </p:spPr>
        </p:pic>
      </p:grpSp>
      <p:sp>
        <p:nvSpPr>
          <p:cNvPr id="828" name="Google Shape;828;p52"/>
          <p:cNvSpPr/>
          <p:nvPr/>
        </p:nvSpPr>
        <p:spPr>
          <a:xfrm>
            <a:off x="7793038" y="2389188"/>
            <a:ext cx="217487" cy="217487"/>
          </a:xfrm>
          <a:prstGeom prst="ellipse">
            <a:avLst/>
          </a:prstGeom>
          <a:gradFill>
            <a:gsLst>
              <a:gs pos="0">
                <a:srgbClr val="FF0000"/>
              </a:gs>
              <a:gs pos="100000">
                <a:srgbClr val="760000"/>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29" name="Google Shape;829;p52"/>
          <p:cNvSpPr txBox="1"/>
          <p:nvPr/>
        </p:nvSpPr>
        <p:spPr>
          <a:xfrm>
            <a:off x="3840163" y="6326188"/>
            <a:ext cx="29972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9999"/>
                </a:solidFill>
                <a:latin typeface="Arial"/>
                <a:ea typeface="Arial"/>
                <a:cs typeface="Arial"/>
                <a:sym typeface="Arial"/>
              </a:rPr>
              <a:t>Cut the cable!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0">
                                            <p:txEl>
                                              <p:pRg end="0" st="0"/>
                                            </p:txEl>
                                          </p:spTgt>
                                        </p:tgtEl>
                                        <p:attrNameLst>
                                          <p:attrName>style.visibility</p:attrName>
                                        </p:attrNameLst>
                                      </p:cBhvr>
                                      <p:to>
                                        <p:strVal val="visible"/>
                                      </p:to>
                                    </p:set>
                                    <p:anim calcmode="lin" valueType="num">
                                      <p:cBhvr additive="base">
                                        <p:cTn dur="500"/>
                                        <p:tgtEl>
                                          <p:spTgt spid="8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0">
                                            <p:txEl>
                                              <p:pRg end="1" st="1"/>
                                            </p:txEl>
                                          </p:spTgt>
                                        </p:tgtEl>
                                        <p:attrNameLst>
                                          <p:attrName>style.visibility</p:attrName>
                                        </p:attrNameLst>
                                      </p:cBhvr>
                                      <p:to>
                                        <p:strVal val="visible"/>
                                      </p:to>
                                    </p:set>
                                    <p:anim calcmode="lin" valueType="num">
                                      <p:cBhvr additive="base">
                                        <p:cTn dur="500"/>
                                        <p:tgtEl>
                                          <p:spTgt spid="8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0">
                                            <p:txEl>
                                              <p:pRg end="2" st="2"/>
                                            </p:txEl>
                                          </p:spTgt>
                                        </p:tgtEl>
                                        <p:attrNameLst>
                                          <p:attrName>style.visibility</p:attrName>
                                        </p:attrNameLst>
                                      </p:cBhvr>
                                      <p:to>
                                        <p:strVal val="visible"/>
                                      </p:to>
                                    </p:set>
                                    <p:anim calcmode="lin" valueType="num">
                                      <p:cBhvr additive="base">
                                        <p:cTn dur="500"/>
                                        <p:tgtEl>
                                          <p:spTgt spid="8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0">
                                            <p:txEl>
                                              <p:pRg end="3" st="3"/>
                                            </p:txEl>
                                          </p:spTgt>
                                        </p:tgtEl>
                                        <p:attrNameLst>
                                          <p:attrName>style.visibility</p:attrName>
                                        </p:attrNameLst>
                                      </p:cBhvr>
                                      <p:to>
                                        <p:strVal val="visible"/>
                                      </p:to>
                                    </p:set>
                                    <p:anim calcmode="lin" valueType="num">
                                      <p:cBhvr additive="base">
                                        <p:cTn dur="500"/>
                                        <p:tgtEl>
                                          <p:spTgt spid="8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29"/>
                                        </p:tgtEl>
                                        <p:attrNameLst>
                                          <p:attrName>style.visibility</p:attrName>
                                        </p:attrNameLst>
                                      </p:cBhvr>
                                      <p:to>
                                        <p:strVal val="visible"/>
                                      </p:to>
                                    </p:set>
                                    <p:anim calcmode="lin" valueType="num">
                                      <p:cBhvr additive="base">
                                        <p:cTn dur="500"/>
                                        <p:tgtEl>
                                          <p:spTgt spid="82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descr="astronauts+floating" id="835" name="Google Shape;835;p53"/>
          <p:cNvPicPr preferRelativeResize="0"/>
          <p:nvPr/>
        </p:nvPicPr>
        <p:blipFill rotWithShape="1">
          <a:blip r:embed="rId3">
            <a:alphaModFix/>
          </a:blip>
          <a:srcRect b="0" l="0" r="0" t="0"/>
          <a:stretch/>
        </p:blipFill>
        <p:spPr>
          <a:xfrm>
            <a:off x="4643438" y="0"/>
            <a:ext cx="4500562" cy="3351213"/>
          </a:xfrm>
          <a:prstGeom prst="rect">
            <a:avLst/>
          </a:prstGeom>
          <a:noFill/>
          <a:ln>
            <a:noFill/>
          </a:ln>
        </p:spPr>
      </p:pic>
      <p:pic>
        <p:nvPicPr>
          <p:cNvPr descr="Zero_gravity_flight_trajectory_C9-565" id="836" name="Google Shape;836;p53"/>
          <p:cNvPicPr preferRelativeResize="0"/>
          <p:nvPr/>
        </p:nvPicPr>
        <p:blipFill rotWithShape="1">
          <a:blip r:embed="rId4">
            <a:alphaModFix/>
          </a:blip>
          <a:srcRect b="0" l="0" r="0" t="0"/>
          <a:stretch/>
        </p:blipFill>
        <p:spPr>
          <a:xfrm>
            <a:off x="0" y="0"/>
            <a:ext cx="4773613" cy="3248025"/>
          </a:xfrm>
          <a:prstGeom prst="rect">
            <a:avLst/>
          </a:prstGeom>
          <a:noFill/>
          <a:ln>
            <a:noFill/>
          </a:ln>
        </p:spPr>
      </p:pic>
      <p:pic>
        <p:nvPicPr>
          <p:cNvPr id="837" name="Google Shape;837;p53"/>
          <p:cNvPicPr preferRelativeResize="0"/>
          <p:nvPr/>
        </p:nvPicPr>
        <p:blipFill rotWithShape="1">
          <a:blip r:embed="rId5">
            <a:alphaModFix/>
          </a:blip>
          <a:srcRect b="0" l="0" r="0" t="0"/>
          <a:stretch/>
        </p:blipFill>
        <p:spPr>
          <a:xfrm>
            <a:off x="0" y="3208338"/>
            <a:ext cx="9144000" cy="3733800"/>
          </a:xfrm>
          <a:prstGeom prst="rect">
            <a:avLst/>
          </a:prstGeom>
          <a:noFill/>
          <a:ln>
            <a:noFill/>
          </a:ln>
        </p:spPr>
      </p:pic>
      <p:sp>
        <p:nvSpPr>
          <p:cNvPr id="838" name="Google Shape;838;p53"/>
          <p:cNvSpPr txBox="1"/>
          <p:nvPr/>
        </p:nvSpPr>
        <p:spPr>
          <a:xfrm>
            <a:off x="3119438" y="6461125"/>
            <a:ext cx="27670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The “Vomit Comet”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2000"/>
                                        <p:tgtEl>
                                          <p:spTgt spid="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38">
                                            <p:txEl>
                                              <p:pRg end="0" st="0"/>
                                            </p:txEl>
                                          </p:spTgt>
                                        </p:tgtEl>
                                        <p:attrNameLst>
                                          <p:attrName>style.visibility</p:attrName>
                                        </p:attrNameLst>
                                      </p:cBhvr>
                                      <p:to>
                                        <p:strVal val="visible"/>
                                      </p:to>
                                    </p:set>
                                    <p:anim calcmode="lin" valueType="num">
                                      <p:cBhvr additive="base">
                                        <p:cTn dur="500"/>
                                        <p:tgtEl>
                                          <p:spTgt spid="83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6"/>
                                        </p:tgtEl>
                                        <p:attrNameLst>
                                          <p:attrName>style.visibility</p:attrName>
                                        </p:attrNameLst>
                                      </p:cBhvr>
                                      <p:to>
                                        <p:strVal val="visible"/>
                                      </p:to>
                                    </p:set>
                                    <p:animEffect filter="fade" transition="in">
                                      <p:cBhvr>
                                        <p:cTn dur="2000"/>
                                        <p:tgtEl>
                                          <p:spTgt spid="8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2000"/>
                                        <p:tgtEl>
                                          <p:spTgt spid="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54"/>
          <p:cNvSpPr/>
          <p:nvPr/>
        </p:nvSpPr>
        <p:spPr>
          <a:xfrm>
            <a:off x="685800" y="1814513"/>
            <a:ext cx="7772400" cy="5043487"/>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We have all seen astronauts experiencing “weightlessness.” Explain why it only appears that they are weightless.</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The astronaut, the spacecraft, </a:t>
            </a:r>
            <a:r>
              <a:rPr i="1" lang="en-US" sz="2400">
                <a:solidFill>
                  <a:schemeClr val="dk1"/>
                </a:solidFill>
                <a:latin typeface="Arial"/>
                <a:ea typeface="Arial"/>
                <a:cs typeface="Arial"/>
                <a:sym typeface="Arial"/>
              </a:rPr>
              <a:t>and</a:t>
            </a:r>
            <a:r>
              <a:rPr lang="en-US" sz="2400">
                <a:solidFill>
                  <a:schemeClr val="dk1"/>
                </a:solidFill>
                <a:latin typeface="Arial"/>
                <a:ea typeface="Arial"/>
                <a:cs typeface="Arial"/>
                <a:sym typeface="Arial"/>
              </a:rPr>
              <a:t> the tomatoes, are all accelerating at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∙They all fall together and appear to be weightless.</a:t>
            </a:r>
            <a:endParaRPr/>
          </a:p>
        </p:txBody>
      </p:sp>
      <p:sp>
        <p:nvSpPr>
          <p:cNvPr id="845" name="Google Shape;845;p54"/>
          <p:cNvSpPr/>
          <p:nvPr/>
        </p:nvSpPr>
        <p:spPr>
          <a:xfrm>
            <a:off x="685800" y="1401763"/>
            <a:ext cx="7772400" cy="4556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
        <p:nvSpPr>
          <p:cNvPr id="846" name="Google Shape;846;p54"/>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pic>
        <p:nvPicPr>
          <p:cNvPr descr="International-Space-Station" id="847" name="Google Shape;847;p54"/>
          <p:cNvPicPr preferRelativeResize="0"/>
          <p:nvPr/>
        </p:nvPicPr>
        <p:blipFill rotWithShape="1">
          <a:blip r:embed="rId3">
            <a:alphaModFix/>
          </a:blip>
          <a:srcRect b="0" l="0" r="0" t="0"/>
          <a:stretch/>
        </p:blipFill>
        <p:spPr>
          <a:xfrm>
            <a:off x="671513" y="4092575"/>
            <a:ext cx="3933825" cy="2624138"/>
          </a:xfrm>
          <a:prstGeom prst="rect">
            <a:avLst/>
          </a:prstGeom>
          <a:noFill/>
          <a:ln>
            <a:noFill/>
          </a:ln>
          <a:effectLst>
            <a:outerShdw blurRad="292100" rotWithShape="0" algn="tl" dir="2700000" dist="139700">
              <a:srgbClr val="333333">
                <a:alpha val="64705"/>
              </a:srgbClr>
            </a:outerShdw>
          </a:effectLst>
        </p:spPr>
      </p:pic>
      <p:sp>
        <p:nvSpPr>
          <p:cNvPr descr="Embedded image permalink" id="848" name="Google Shape;848;p54">
            <a:hlinkClick r:id="rId4"/>
          </p:cNvPr>
          <p:cNvSpPr/>
          <p:nvPr/>
        </p:nvSpPr>
        <p:spPr>
          <a:xfrm>
            <a:off x="804863" y="2473325"/>
            <a:ext cx="4143375" cy="27527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descr="2013-03-13t131616z_1245394693_tm4e93d0oly01_rtrmadp_3_usa" id="849" name="Google Shape;849;p54"/>
          <p:cNvPicPr preferRelativeResize="0"/>
          <p:nvPr/>
        </p:nvPicPr>
        <p:blipFill rotWithShape="1">
          <a:blip r:embed="rId5">
            <a:alphaModFix/>
          </a:blip>
          <a:srcRect b="0" l="8803" r="4150" t="10666"/>
          <a:stretch/>
        </p:blipFill>
        <p:spPr>
          <a:xfrm>
            <a:off x="4598988" y="4094163"/>
            <a:ext cx="3854450" cy="2622550"/>
          </a:xfrm>
          <a:prstGeom prst="rect">
            <a:avLst/>
          </a:prstGeom>
          <a:noFill/>
          <a:ln>
            <a:noFill/>
          </a:ln>
          <a:effectLst>
            <a:outerShdw blurRad="292100" rotWithShape="0" algn="tl" dir="2700000" dist="139700">
              <a:srgbClr val="333333">
                <a:alpha val="64705"/>
              </a:srgbClr>
            </a:outerShdw>
          </a:effectLst>
        </p:spPr>
      </p:pic>
      <p:sp>
        <p:nvSpPr>
          <p:cNvPr id="850" name="Google Shape;850;p54"/>
          <p:cNvSpPr txBox="1"/>
          <p:nvPr/>
        </p:nvSpPr>
        <p:spPr>
          <a:xfrm>
            <a:off x="700088" y="6072188"/>
            <a:ext cx="3192462" cy="8302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International Space Station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4">
                                            <p:txEl>
                                              <p:pRg end="0" st="0"/>
                                            </p:txEl>
                                          </p:spTgt>
                                        </p:tgtEl>
                                        <p:attrNameLst>
                                          <p:attrName>style.visibility</p:attrName>
                                        </p:attrNameLst>
                                      </p:cBhvr>
                                      <p:to>
                                        <p:strVal val="visible"/>
                                      </p:to>
                                    </p:set>
                                    <p:anim calcmode="lin" valueType="num">
                                      <p:cBhvr additive="base">
                                        <p:cTn dur="500"/>
                                        <p:tgtEl>
                                          <p:spTgt spid="8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4">
                                            <p:txEl>
                                              <p:pRg end="1" st="1"/>
                                            </p:txEl>
                                          </p:spTgt>
                                        </p:tgtEl>
                                        <p:attrNameLst>
                                          <p:attrName>style.visibility</p:attrName>
                                        </p:attrNameLst>
                                      </p:cBhvr>
                                      <p:to>
                                        <p:strVal val="visible"/>
                                      </p:to>
                                    </p:set>
                                    <p:anim calcmode="lin" valueType="num">
                                      <p:cBhvr additive="base">
                                        <p:cTn dur="500"/>
                                        <p:tgtEl>
                                          <p:spTgt spid="8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4">
                                            <p:txEl>
                                              <p:pRg end="2" st="2"/>
                                            </p:txEl>
                                          </p:spTgt>
                                        </p:tgtEl>
                                        <p:attrNameLst>
                                          <p:attrName>style.visibility</p:attrName>
                                        </p:attrNameLst>
                                      </p:cBhvr>
                                      <p:to>
                                        <p:strVal val="visible"/>
                                      </p:to>
                                    </p:set>
                                    <p:anim calcmode="lin" valueType="num">
                                      <p:cBhvr additive="base">
                                        <p:cTn dur="500"/>
                                        <p:tgtEl>
                                          <p:spTgt spid="844">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20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50">
                                            <p:txEl>
                                              <p:pRg end="0" st="0"/>
                                            </p:txEl>
                                          </p:spTgt>
                                        </p:tgtEl>
                                        <p:attrNameLst>
                                          <p:attrName>style.visibility</p:attrName>
                                        </p:attrNameLst>
                                      </p:cBhvr>
                                      <p:to>
                                        <p:strVal val="visible"/>
                                      </p:to>
                                    </p:set>
                                    <p:anim calcmode="lin" valueType="num">
                                      <p:cBhvr additive="base">
                                        <p:cTn dur="500"/>
                                        <p:tgtEl>
                                          <p:spTgt spid="85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9"/>
                                        </p:tgtEl>
                                        <p:attrNameLst>
                                          <p:attrName>style.visibility</p:attrName>
                                        </p:attrNameLst>
                                      </p:cBhvr>
                                      <p:to>
                                        <p:strVal val="visible"/>
                                      </p:to>
                                    </p:set>
                                    <p:animEffect filter="fade" transition="in">
                                      <p:cBhvr>
                                        <p:cTn dur="500"/>
                                        <p:tgtEl>
                                          <p:spTgt spid="8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5"/>
          <p:cNvSpPr/>
          <p:nvPr/>
        </p:nvSpPr>
        <p:spPr>
          <a:xfrm>
            <a:off x="3095625" y="3319463"/>
            <a:ext cx="5345113" cy="3538537"/>
          </a:xfrm>
          <a:prstGeom prst="rect">
            <a:avLst/>
          </a:prstGeom>
          <a:solidFill>
            <a:schemeClr val="dk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descr="hubble_telescope_05" id="857" name="Google Shape;857;p55"/>
          <p:cNvPicPr preferRelativeResize="0"/>
          <p:nvPr/>
        </p:nvPicPr>
        <p:blipFill rotWithShape="1">
          <a:blip r:embed="rId3">
            <a:alphaModFix/>
          </a:blip>
          <a:srcRect b="0" l="0" r="0" t="0"/>
          <a:stretch/>
        </p:blipFill>
        <p:spPr>
          <a:xfrm>
            <a:off x="3087688" y="3305175"/>
            <a:ext cx="5349875" cy="3538538"/>
          </a:xfrm>
          <a:prstGeom prst="rect">
            <a:avLst/>
          </a:prstGeom>
          <a:noFill/>
          <a:ln>
            <a:noFill/>
          </a:ln>
        </p:spPr>
      </p:pic>
      <p:sp>
        <p:nvSpPr>
          <p:cNvPr id="858" name="Google Shape;858;p55"/>
          <p:cNvSpPr/>
          <p:nvPr/>
        </p:nvSpPr>
        <p:spPr>
          <a:xfrm>
            <a:off x="0" y="-12700"/>
            <a:ext cx="9180513" cy="6894513"/>
          </a:xfrm>
          <a:custGeom>
            <a:rect b="b" l="l" r="r" t="t"/>
            <a:pathLst>
              <a:path extrusionOk="0" h="4343" w="5783">
                <a:moveTo>
                  <a:pt x="1834" y="4343"/>
                </a:moveTo>
                <a:lnTo>
                  <a:pt x="1834" y="1941"/>
                </a:lnTo>
                <a:lnTo>
                  <a:pt x="5313" y="1941"/>
                </a:lnTo>
                <a:lnTo>
                  <a:pt x="5313" y="4336"/>
                </a:lnTo>
                <a:lnTo>
                  <a:pt x="5783" y="4336"/>
                </a:lnTo>
                <a:lnTo>
                  <a:pt x="5783" y="0"/>
                </a:lnTo>
                <a:lnTo>
                  <a:pt x="0" y="0"/>
                </a:lnTo>
                <a:lnTo>
                  <a:pt x="0" y="4328"/>
                </a:lnTo>
                <a:lnTo>
                  <a:pt x="1834" y="4343"/>
                </a:lnTo>
                <a:close/>
              </a:path>
            </a:pathLst>
          </a:custGeom>
          <a:solidFill>
            <a:schemeClr val="lt1"/>
          </a:soli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59" name="Google Shape;859;p55"/>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descr="Embedded image permalink" id="860" name="Google Shape;860;p55">
            <a:hlinkClick r:id="rId4"/>
          </p:cNvPr>
          <p:cNvSpPr/>
          <p:nvPr/>
        </p:nvSpPr>
        <p:spPr>
          <a:xfrm>
            <a:off x="1824038" y="0"/>
            <a:ext cx="4143375" cy="27527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61" name="Google Shape;861;p55"/>
          <p:cNvSpPr/>
          <p:nvPr/>
        </p:nvSpPr>
        <p:spPr>
          <a:xfrm>
            <a:off x="676275" y="3784600"/>
            <a:ext cx="3009900" cy="307340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∙In deep  space, the </a:t>
            </a:r>
            <a:r>
              <a:rPr i="1" lang="en-US" sz="2400">
                <a:solidFill>
                  <a:srgbClr val="000000"/>
                </a:solidFill>
                <a:latin typeface="Arial"/>
                <a:ea typeface="Arial"/>
                <a:cs typeface="Arial"/>
                <a:sym typeface="Arial"/>
              </a:rPr>
              <a:t>r</a:t>
            </a:r>
            <a:r>
              <a:rPr lang="en-US" sz="2400">
                <a:solidFill>
                  <a:srgbClr val="000000"/>
                </a:solidFill>
                <a:latin typeface="Arial"/>
                <a:ea typeface="Arial"/>
                <a:cs typeface="Arial"/>
                <a:sym typeface="Arial"/>
              </a:rPr>
              <a:t>  in </a:t>
            </a:r>
            <a:r>
              <a:rPr i="1" lang="en-US" sz="2400">
                <a:solidFill>
                  <a:srgbClr val="000000"/>
                </a:solidFill>
                <a:latin typeface="Arial"/>
                <a:ea typeface="Arial"/>
                <a:cs typeface="Arial"/>
                <a:sym typeface="Arial"/>
              </a:rPr>
              <a:t>F</a:t>
            </a:r>
            <a:r>
              <a:rPr lang="en-US" sz="2400">
                <a:solidFill>
                  <a:srgbClr val="000000"/>
                </a:solidFill>
                <a:latin typeface="Arial"/>
                <a:ea typeface="Arial"/>
                <a:cs typeface="Arial"/>
                <a:sym typeface="Arial"/>
              </a:rPr>
              <a:t> = </a:t>
            </a:r>
            <a:r>
              <a:rPr i="1" lang="en-US" sz="2400">
                <a:solidFill>
                  <a:srgbClr val="000000"/>
                </a:solidFill>
                <a:latin typeface="Arial"/>
                <a:ea typeface="Arial"/>
                <a:cs typeface="Arial"/>
                <a:sym typeface="Arial"/>
              </a:rPr>
              <a:t>GMm / r</a:t>
            </a:r>
            <a:r>
              <a:rPr baseline="30000" lang="en-US" sz="2400">
                <a:solidFill>
                  <a:srgbClr val="000000"/>
                </a:solidFill>
                <a:latin typeface="Arial"/>
                <a:ea typeface="Arial"/>
                <a:cs typeface="Arial"/>
                <a:sym typeface="Arial"/>
              </a:rPr>
              <a:t> 2</a:t>
            </a:r>
            <a:r>
              <a:rPr lang="en-US" sz="2400">
                <a:solidFill>
                  <a:srgbClr val="000000"/>
                </a:solidFill>
                <a:latin typeface="Arial"/>
                <a:ea typeface="Arial"/>
                <a:cs typeface="Arial"/>
                <a:sym typeface="Arial"/>
              </a:rPr>
              <a:t>                                         is so large for every </a:t>
            </a:r>
            <a:r>
              <a:rPr i="1" lang="en-US" sz="2400">
                <a:solidFill>
                  <a:srgbClr val="000000"/>
                </a:solidFill>
                <a:latin typeface="Arial"/>
                <a:ea typeface="Arial"/>
                <a:cs typeface="Arial"/>
                <a:sym typeface="Arial"/>
              </a:rPr>
              <a:t>m</a:t>
            </a:r>
            <a:r>
              <a:rPr lang="en-US" sz="2400">
                <a:solidFill>
                  <a:srgbClr val="000000"/>
                </a:solidFill>
                <a:latin typeface="Arial"/>
                <a:ea typeface="Arial"/>
                <a:cs typeface="Arial"/>
                <a:sym typeface="Arial"/>
              </a:rPr>
              <a:t> that </a:t>
            </a:r>
            <a:r>
              <a:rPr i="1" lang="en-US" sz="2400">
                <a:solidFill>
                  <a:srgbClr val="000000"/>
                </a:solidFill>
                <a:latin typeface="Arial"/>
                <a:ea typeface="Arial"/>
                <a:cs typeface="Arial"/>
                <a:sym typeface="Arial"/>
              </a:rPr>
              <a:t>F</a:t>
            </a:r>
            <a:r>
              <a:rPr lang="en-US" sz="2400">
                <a:solidFill>
                  <a:srgbClr val="000000"/>
                </a:solidFill>
                <a:latin typeface="Arial"/>
                <a:ea typeface="Arial"/>
                <a:cs typeface="Arial"/>
                <a:sym typeface="Arial"/>
              </a:rPr>
              <a:t>, the force of                                        gravity, is for all                                           intents and                                        purposes, zero.</a:t>
            </a:r>
            <a:endParaRPr/>
          </a:p>
        </p:txBody>
      </p:sp>
      <p:sp>
        <p:nvSpPr>
          <p:cNvPr id="862" name="Google Shape;862;p55"/>
          <p:cNvSpPr/>
          <p:nvPr/>
        </p:nvSpPr>
        <p:spPr>
          <a:xfrm>
            <a:off x="685800" y="1828800"/>
            <a:ext cx="7772400" cy="205422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000000"/>
                </a:solidFill>
                <a:latin typeface="Arial"/>
                <a:ea typeface="Arial"/>
                <a:cs typeface="Arial"/>
                <a:sym typeface="Arial"/>
              </a:rPr>
              <a:t>PRACTICE: Discuss the concept of weightlessness in </a:t>
            </a:r>
            <a:r>
              <a:rPr b="1" lang="en-US" sz="2400">
                <a:solidFill>
                  <a:srgbClr val="000000"/>
                </a:solidFill>
                <a:latin typeface="Arial"/>
                <a:ea typeface="Arial"/>
                <a:cs typeface="Arial"/>
                <a:sym typeface="Arial"/>
              </a:rPr>
              <a:t>deep space</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SOLUTION:  Only in deep space – which is defined to be far, far away from all masses – will a mass be truly weightless.</a:t>
            </a:r>
            <a:endParaRPr/>
          </a:p>
        </p:txBody>
      </p:sp>
      <p:sp>
        <p:nvSpPr>
          <p:cNvPr id="863" name="Google Shape;863;p55"/>
          <p:cNvSpPr/>
          <p:nvPr/>
        </p:nvSpPr>
        <p:spPr>
          <a:xfrm>
            <a:off x="685800" y="1401763"/>
            <a:ext cx="7772400" cy="4556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2">
                                            <p:txEl>
                                              <p:pRg end="0" st="0"/>
                                            </p:txEl>
                                          </p:spTgt>
                                        </p:tgtEl>
                                        <p:attrNameLst>
                                          <p:attrName>style.visibility</p:attrName>
                                        </p:attrNameLst>
                                      </p:cBhvr>
                                      <p:to>
                                        <p:strVal val="visible"/>
                                      </p:to>
                                    </p:set>
                                    <p:anim calcmode="lin" valueType="num">
                                      <p:cBhvr additive="base">
                                        <p:cTn dur="500"/>
                                        <p:tgtEl>
                                          <p:spTgt spid="8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2">
                                            <p:txEl>
                                              <p:pRg end="1" st="1"/>
                                            </p:txEl>
                                          </p:spTgt>
                                        </p:tgtEl>
                                        <p:attrNameLst>
                                          <p:attrName>style.visibility</p:attrName>
                                        </p:attrNameLst>
                                      </p:cBhvr>
                                      <p:to>
                                        <p:strVal val="visible"/>
                                      </p:to>
                                    </p:set>
                                    <p:anim calcmode="lin" valueType="num">
                                      <p:cBhvr additive="base">
                                        <p:cTn dur="500"/>
                                        <p:tgtEl>
                                          <p:spTgt spid="8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1">
                                            <p:txEl>
                                              <p:pRg end="0" st="0"/>
                                            </p:txEl>
                                          </p:spTgt>
                                        </p:tgtEl>
                                        <p:attrNameLst>
                                          <p:attrName>style.visibility</p:attrName>
                                        </p:attrNameLst>
                                      </p:cBhvr>
                                      <p:to>
                                        <p:strVal val="visible"/>
                                      </p:to>
                                    </p:set>
                                    <p:anim calcmode="lin" valueType="num">
                                      <p:cBhvr additive="base">
                                        <p:cTn dur="500"/>
                                        <p:tgtEl>
                                          <p:spTgt spid="8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0"/>
                                        <p:tgtEl>
                                          <p:spTgt spid="857"/>
                                        </p:tgtEl>
                                      </p:cBhvr>
                                    </p:animEffect>
                                    <p:set>
                                      <p:cBhvr>
                                        <p:cTn dur="1" fill="hold">
                                          <p:stCondLst>
                                            <p:cond delay="5000"/>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6"/>
          <p:cNvSpPr/>
          <p:nvPr/>
        </p:nvSpPr>
        <p:spPr>
          <a:xfrm>
            <a:off x="685800" y="1401763"/>
            <a:ext cx="7772400" cy="4699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
        <p:nvSpPr>
          <p:cNvPr id="870" name="Google Shape;870;p5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871" name="Google Shape;871;p56"/>
          <p:cNvSpPr/>
          <p:nvPr/>
        </p:nvSpPr>
        <p:spPr>
          <a:xfrm>
            <a:off x="685800" y="1858963"/>
            <a:ext cx="7772400" cy="357187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ourier New"/>
                <a:ea typeface="Courier New"/>
                <a:cs typeface="Courier New"/>
                <a:sym typeface="Courier New"/>
              </a:rPr>
              <a:t> </a:t>
            </a:r>
            <a:endParaRPr/>
          </a:p>
        </p:txBody>
      </p:sp>
      <p:pic>
        <p:nvPicPr>
          <p:cNvPr id="872" name="Google Shape;872;p56"/>
          <p:cNvPicPr preferRelativeResize="0"/>
          <p:nvPr/>
        </p:nvPicPr>
        <p:blipFill rotWithShape="1">
          <a:blip r:embed="rId3">
            <a:alphaModFix/>
          </a:blip>
          <a:srcRect b="0" l="0" r="0" t="0"/>
          <a:stretch/>
        </p:blipFill>
        <p:spPr>
          <a:xfrm>
            <a:off x="715963" y="1933575"/>
            <a:ext cx="7759700" cy="1622425"/>
          </a:xfrm>
          <a:prstGeom prst="rect">
            <a:avLst/>
          </a:prstGeom>
          <a:noFill/>
          <a:ln>
            <a:noFill/>
          </a:ln>
        </p:spPr>
      </p:pic>
      <p:sp>
        <p:nvSpPr>
          <p:cNvPr id="873" name="Google Shape;873;p56"/>
          <p:cNvSpPr txBox="1"/>
          <p:nvPr/>
        </p:nvSpPr>
        <p:spPr>
          <a:xfrm>
            <a:off x="700088" y="3630613"/>
            <a:ext cx="780097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∙Since the satellite is in circular orbit </a:t>
            </a:r>
            <a:r>
              <a:rPr i="1" lang="en-US" sz="2400">
                <a:solidFill>
                  <a:schemeClr val="hlink"/>
                </a:solidFill>
                <a:latin typeface="Arial"/>
                <a:ea typeface="Arial"/>
                <a:cs typeface="Arial"/>
                <a:sym typeface="Arial"/>
              </a:rPr>
              <a:t>F</a:t>
            </a:r>
            <a:r>
              <a:rPr baseline="-25000"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 2</a:t>
            </a:r>
            <a:r>
              <a:rPr i="1" lang="en-US" sz="2400">
                <a:solidFill>
                  <a:schemeClr val="hlink"/>
                </a:solidFill>
                <a:latin typeface="Arial"/>
                <a:ea typeface="Arial"/>
                <a:cs typeface="Arial"/>
                <a:sym typeface="Arial"/>
              </a:rPr>
              <a:t>/ r</a:t>
            </a:r>
            <a:r>
              <a:rPr lang="en-US" sz="2400">
                <a:solidFill>
                  <a:schemeClr val="hlink"/>
                </a:solidFill>
                <a:latin typeface="Arial"/>
                <a:ea typeface="Arial"/>
                <a:cs typeface="Arial"/>
                <a:sym typeface="Arial"/>
              </a:rPr>
              <a:t>.</a:t>
            </a:r>
            <a:endParaRPr/>
          </a:p>
        </p:txBody>
      </p:sp>
      <p:sp>
        <p:nvSpPr>
          <p:cNvPr id="874" name="Google Shape;874;p56"/>
          <p:cNvSpPr/>
          <p:nvPr/>
        </p:nvSpPr>
        <p:spPr>
          <a:xfrm>
            <a:off x="2841625" y="2957513"/>
            <a:ext cx="338138" cy="338137"/>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75" name="Google Shape;875;p56"/>
          <p:cNvSpPr txBox="1"/>
          <p:nvPr/>
        </p:nvSpPr>
        <p:spPr>
          <a:xfrm>
            <a:off x="698500" y="4049713"/>
            <a:ext cx="809307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∙Since the satellite’s weight is holding it in orbit, </a:t>
            </a:r>
            <a:r>
              <a:rPr i="1" lang="en-US" sz="2400">
                <a:solidFill>
                  <a:schemeClr val="hlink"/>
                </a:solidFill>
                <a:latin typeface="Arial"/>
                <a:ea typeface="Arial"/>
                <a:cs typeface="Arial"/>
                <a:sym typeface="Arial"/>
              </a:rPr>
              <a:t>F</a:t>
            </a:r>
            <a:r>
              <a:rPr baseline="-25000"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mg</a:t>
            </a:r>
            <a:r>
              <a:rPr lang="en-US" sz="2400">
                <a:solidFill>
                  <a:schemeClr val="hlink"/>
                </a:solidFill>
                <a:latin typeface="Arial"/>
                <a:ea typeface="Arial"/>
                <a:cs typeface="Arial"/>
                <a:sym typeface="Arial"/>
              </a:rPr>
              <a:t>.</a:t>
            </a:r>
            <a:endParaRPr/>
          </a:p>
        </p:txBody>
      </p:sp>
      <p:sp>
        <p:nvSpPr>
          <p:cNvPr id="876" name="Google Shape;876;p56"/>
          <p:cNvSpPr txBox="1"/>
          <p:nvPr/>
        </p:nvSpPr>
        <p:spPr>
          <a:xfrm>
            <a:off x="695325" y="4470400"/>
            <a:ext cx="80946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∙Thus </a:t>
            </a:r>
            <a:r>
              <a:rPr i="1" lang="en-US" sz="2400">
                <a:solidFill>
                  <a:srgbClr val="009999"/>
                </a:solidFill>
                <a:latin typeface="Arial"/>
                <a:ea typeface="Arial"/>
                <a:cs typeface="Arial"/>
                <a:sym typeface="Arial"/>
              </a:rPr>
              <a:t>mv</a:t>
            </a:r>
            <a:r>
              <a:rPr baseline="30000" lang="en-US" sz="2400">
                <a:solidFill>
                  <a:srgbClr val="009999"/>
                </a:solidFill>
                <a:latin typeface="Arial"/>
                <a:ea typeface="Arial"/>
                <a:cs typeface="Arial"/>
                <a:sym typeface="Arial"/>
              </a:rPr>
              <a:t> 2</a:t>
            </a:r>
            <a:r>
              <a:rPr i="1" lang="en-US" sz="2400">
                <a:solidFill>
                  <a:srgbClr val="009999"/>
                </a:solidFill>
                <a:latin typeface="Arial"/>
                <a:ea typeface="Arial"/>
                <a:cs typeface="Arial"/>
                <a:sym typeface="Arial"/>
              </a:rPr>
              <a:t>/ r</a:t>
            </a:r>
            <a:r>
              <a:rPr lang="en-US" sz="2400">
                <a:solidFill>
                  <a:srgbClr val="009999"/>
                </a:solidFill>
                <a:latin typeface="Arial"/>
                <a:ea typeface="Arial"/>
                <a:cs typeface="Arial"/>
                <a:sym typeface="Arial"/>
              </a:rPr>
              <a:t> = </a:t>
            </a:r>
            <a:r>
              <a:rPr i="1" lang="en-US" sz="2400">
                <a:solidFill>
                  <a:srgbClr val="009999"/>
                </a:solidFill>
                <a:latin typeface="Arial"/>
                <a:ea typeface="Arial"/>
                <a:cs typeface="Arial"/>
                <a:sym typeface="Arial"/>
              </a:rPr>
              <a:t>mg</a:t>
            </a:r>
            <a:r>
              <a:rPr lang="en-US" sz="2400">
                <a:solidFill>
                  <a:srgbClr val="009999"/>
                </a:solidFill>
                <a:latin typeface="Arial"/>
                <a:ea typeface="Arial"/>
                <a:cs typeface="Arial"/>
                <a:sym typeface="Arial"/>
              </a:rPr>
              <a:t>. </a:t>
            </a:r>
            <a:r>
              <a:rPr lang="en-US" sz="2400">
                <a:solidFill>
                  <a:schemeClr val="hlink"/>
                </a:solidFill>
                <a:latin typeface="Arial"/>
                <a:ea typeface="Arial"/>
                <a:cs typeface="Arial"/>
                <a:sym typeface="Arial"/>
              </a:rPr>
              <a:t> </a:t>
            </a:r>
            <a:endParaRPr/>
          </a:p>
        </p:txBody>
      </p:sp>
      <p:sp>
        <p:nvSpPr>
          <p:cNvPr id="877" name="Google Shape;877;p56"/>
          <p:cNvSpPr txBox="1"/>
          <p:nvPr/>
        </p:nvSpPr>
        <p:spPr>
          <a:xfrm>
            <a:off x="693738" y="4903788"/>
            <a:ext cx="809466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∙Finally </a:t>
            </a:r>
            <a:r>
              <a:rPr i="1" lang="en-US" sz="2400">
                <a:solidFill>
                  <a:srgbClr val="009999"/>
                </a:solidFill>
                <a:latin typeface="Arial"/>
                <a:ea typeface="Arial"/>
                <a:cs typeface="Arial"/>
                <a:sym typeface="Arial"/>
              </a:rPr>
              <a:t>g</a:t>
            </a:r>
            <a:r>
              <a:rPr lang="en-US" sz="2400">
                <a:solidFill>
                  <a:srgbClr val="009999"/>
                </a:solidFill>
                <a:latin typeface="Arial"/>
                <a:ea typeface="Arial"/>
                <a:cs typeface="Arial"/>
                <a:sym typeface="Arial"/>
              </a:rPr>
              <a:t> = </a:t>
            </a:r>
            <a:r>
              <a:rPr i="1" lang="en-US" sz="2400">
                <a:solidFill>
                  <a:srgbClr val="009999"/>
                </a:solidFill>
                <a:latin typeface="Arial"/>
                <a:ea typeface="Arial"/>
                <a:cs typeface="Arial"/>
                <a:sym typeface="Arial"/>
              </a:rPr>
              <a:t>v</a:t>
            </a:r>
            <a:r>
              <a:rPr baseline="30000" lang="en-US" sz="2400">
                <a:solidFill>
                  <a:srgbClr val="009999"/>
                </a:solidFill>
                <a:latin typeface="Arial"/>
                <a:ea typeface="Arial"/>
                <a:cs typeface="Arial"/>
                <a:sym typeface="Arial"/>
              </a:rPr>
              <a:t> 2</a:t>
            </a:r>
            <a:r>
              <a:rPr i="1" lang="en-US" sz="2400">
                <a:solidFill>
                  <a:srgbClr val="009999"/>
                </a:solidFill>
                <a:latin typeface="Arial"/>
                <a:ea typeface="Arial"/>
                <a:cs typeface="Arial"/>
                <a:sym typeface="Arial"/>
              </a:rPr>
              <a:t>/ r</a:t>
            </a:r>
            <a:r>
              <a:rPr lang="en-US" sz="2400">
                <a:solidFill>
                  <a:srgbClr val="009999"/>
                </a:solidFill>
                <a:latin typeface="Arial"/>
                <a:ea typeface="Arial"/>
                <a:cs typeface="Arial"/>
                <a:sym typeface="Arial"/>
              </a:rPr>
              <a:t>. </a:t>
            </a:r>
            <a:r>
              <a:rPr lang="en-US" sz="2400">
                <a:solidFill>
                  <a:schemeClr val="hlink"/>
                </a:solidFill>
                <a:latin typeface="Arial"/>
                <a:ea typeface="Arial"/>
                <a:cs typeface="Arial"/>
                <a:sym typeface="Arial"/>
              </a:rPr>
              <a:t> </a:t>
            </a:r>
            <a:endParaRPr/>
          </a:p>
        </p:txBody>
      </p:sp>
      <p:cxnSp>
        <p:nvCxnSpPr>
          <p:cNvPr id="878" name="Google Shape;878;p56"/>
          <p:cNvCxnSpPr/>
          <p:nvPr/>
        </p:nvCxnSpPr>
        <p:spPr>
          <a:xfrm flipH="1" rot="10800000">
            <a:off x="1701800" y="4600575"/>
            <a:ext cx="239713" cy="225425"/>
          </a:xfrm>
          <a:prstGeom prst="straightConnector1">
            <a:avLst/>
          </a:prstGeom>
          <a:noFill/>
          <a:ln cap="flat" cmpd="sng" w="19050">
            <a:solidFill>
              <a:srgbClr val="FF0000"/>
            </a:solidFill>
            <a:prstDash val="solid"/>
            <a:round/>
            <a:headEnd len="med" w="med" type="none"/>
            <a:tailEnd len="med" w="med" type="none"/>
          </a:ln>
        </p:spPr>
      </p:cxnSp>
      <p:cxnSp>
        <p:nvCxnSpPr>
          <p:cNvPr id="879" name="Google Shape;879;p56"/>
          <p:cNvCxnSpPr/>
          <p:nvPr/>
        </p:nvCxnSpPr>
        <p:spPr>
          <a:xfrm flipH="1" rot="10800000">
            <a:off x="2871788" y="4600575"/>
            <a:ext cx="236537" cy="211138"/>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2"/>
                                        </p:tgtEl>
                                        <p:attrNameLst>
                                          <p:attrName>style.visibility</p:attrName>
                                        </p:attrNameLst>
                                      </p:cBhvr>
                                      <p:to>
                                        <p:strVal val="visible"/>
                                      </p:to>
                                    </p:set>
                                    <p:anim calcmode="lin" valueType="num">
                                      <p:cBhvr additive="base">
                                        <p:cTn dur="500"/>
                                        <p:tgtEl>
                                          <p:spTgt spid="8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73">
                                            <p:txEl>
                                              <p:pRg end="0" st="0"/>
                                            </p:txEl>
                                          </p:spTgt>
                                        </p:tgtEl>
                                        <p:attrNameLst>
                                          <p:attrName>style.visibility</p:attrName>
                                        </p:attrNameLst>
                                      </p:cBhvr>
                                      <p:to>
                                        <p:strVal val="visible"/>
                                      </p:to>
                                    </p:set>
                                    <p:anim calcmode="lin" valueType="num">
                                      <p:cBhvr additive="base">
                                        <p:cTn dur="500"/>
                                        <p:tgtEl>
                                          <p:spTgt spid="87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75">
                                            <p:txEl>
                                              <p:pRg end="0" st="0"/>
                                            </p:txEl>
                                          </p:spTgt>
                                        </p:tgtEl>
                                        <p:attrNameLst>
                                          <p:attrName>style.visibility</p:attrName>
                                        </p:attrNameLst>
                                      </p:cBhvr>
                                      <p:to>
                                        <p:strVal val="visible"/>
                                      </p:to>
                                    </p:set>
                                    <p:anim calcmode="lin" valueType="num">
                                      <p:cBhvr additive="base">
                                        <p:cTn dur="500"/>
                                        <p:tgtEl>
                                          <p:spTgt spid="87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76">
                                            <p:txEl>
                                              <p:pRg end="0" st="0"/>
                                            </p:txEl>
                                          </p:spTgt>
                                        </p:tgtEl>
                                        <p:attrNameLst>
                                          <p:attrName>style.visibility</p:attrName>
                                        </p:attrNameLst>
                                      </p:cBhvr>
                                      <p:to>
                                        <p:strVal val="visible"/>
                                      </p:to>
                                    </p:set>
                                    <p:anim calcmode="lin" valueType="num">
                                      <p:cBhvr additive="base">
                                        <p:cTn dur="500"/>
                                        <p:tgtEl>
                                          <p:spTgt spid="87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500"/>
                                        <p:tgtEl>
                                          <p:spTgt spid="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500"/>
                                        <p:tgtEl>
                                          <p:spTgt spid="8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77">
                                            <p:txEl>
                                              <p:pRg end="0" st="0"/>
                                            </p:txEl>
                                          </p:spTgt>
                                        </p:tgtEl>
                                        <p:attrNameLst>
                                          <p:attrName>style.visibility</p:attrName>
                                        </p:attrNameLst>
                                      </p:cBhvr>
                                      <p:to>
                                        <p:strVal val="visible"/>
                                      </p:to>
                                    </p:set>
                                    <p:anim calcmode="lin" valueType="num">
                                      <p:cBhvr additive="base">
                                        <p:cTn dur="500"/>
                                        <p:tgtEl>
                                          <p:spTgt spid="87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4"/>
                                        </p:tgtEl>
                                        <p:attrNameLst>
                                          <p:attrName>style.visibility</p:attrName>
                                        </p:attrNameLst>
                                      </p:cBhvr>
                                      <p:to>
                                        <p:strVal val="visible"/>
                                      </p:to>
                                    </p:set>
                                    <p:anim calcmode="lin" valueType="num">
                                      <p:cBhvr additive="base">
                                        <p:cTn dur="500"/>
                                        <p:tgtEl>
                                          <p:spTgt spid="874"/>
                                        </p:tgtEl>
                                        <p:attrNameLst>
                                          <p:attrName>ppt_w</p:attrName>
                                        </p:attrNameLst>
                                      </p:cBhvr>
                                      <p:tavLst>
                                        <p:tav fmla="" tm="0">
                                          <p:val>
                                            <p:strVal val="0"/>
                                          </p:val>
                                        </p:tav>
                                        <p:tav fmla="" tm="100000">
                                          <p:val>
                                            <p:strVal val="#ppt_w"/>
                                          </p:val>
                                        </p:tav>
                                      </p:tavLst>
                                    </p:anim>
                                    <p:anim calcmode="lin" valueType="num">
                                      <p:cBhvr additive="base">
                                        <p:cTn dur="500"/>
                                        <p:tgtEl>
                                          <p:spTgt spid="87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57"/>
          <p:cNvSpPr/>
          <p:nvPr/>
        </p:nvSpPr>
        <p:spPr>
          <a:xfrm>
            <a:off x="685800" y="1401763"/>
            <a:ext cx="7772400" cy="49688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
        <p:nvSpPr>
          <p:cNvPr id="886" name="Google Shape;886;p5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887" name="Google Shape;887;p57"/>
          <p:cNvSpPr/>
          <p:nvPr/>
        </p:nvSpPr>
        <p:spPr>
          <a:xfrm>
            <a:off x="685800" y="1830388"/>
            <a:ext cx="7772400" cy="50276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88" name="Google Shape;888;p57"/>
          <p:cNvSpPr/>
          <p:nvPr/>
        </p:nvSpPr>
        <p:spPr>
          <a:xfrm>
            <a:off x="7740650" y="1327150"/>
            <a:ext cx="215900" cy="21590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889" name="Google Shape;889;p57"/>
          <p:cNvGrpSpPr/>
          <p:nvPr/>
        </p:nvGrpSpPr>
        <p:grpSpPr>
          <a:xfrm>
            <a:off x="6811963" y="1431925"/>
            <a:ext cx="2070100" cy="2070100"/>
            <a:chOff x="4416" y="1749"/>
            <a:chExt cx="1304" cy="1304"/>
          </a:xfrm>
        </p:grpSpPr>
        <p:sp>
          <p:nvSpPr>
            <p:cNvPr id="890" name="Google Shape;890;p57"/>
            <p:cNvSpPr/>
            <p:nvPr/>
          </p:nvSpPr>
          <p:spPr>
            <a:xfrm>
              <a:off x="4638" y="1963"/>
              <a:ext cx="871" cy="871"/>
            </a:xfrm>
            <a:prstGeom prst="ellipse">
              <a:avLst/>
            </a:prstGeom>
            <a:gradFill>
              <a:gsLst>
                <a:gs pos="0">
                  <a:schemeClr val="lt2"/>
                </a:gs>
                <a:gs pos="100000">
                  <a:srgbClr val="5A5A5A"/>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91" name="Google Shape;891;p57"/>
            <p:cNvSpPr/>
            <p:nvPr/>
          </p:nvSpPr>
          <p:spPr>
            <a:xfrm>
              <a:off x="4416" y="1749"/>
              <a:ext cx="1304" cy="1304"/>
            </a:xfrm>
            <a:prstGeom prst="ellipse">
              <a:avLst/>
            </a:prstGeom>
            <a:noFill/>
            <a:ln cap="flat" cmpd="sng" w="190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892" name="Google Shape;892;p57"/>
            <p:cNvCxnSpPr/>
            <p:nvPr/>
          </p:nvCxnSpPr>
          <p:spPr>
            <a:xfrm flipH="1">
              <a:off x="4729" y="2380"/>
              <a:ext cx="341" cy="280"/>
            </a:xfrm>
            <a:prstGeom prst="straightConnector1">
              <a:avLst/>
            </a:prstGeom>
            <a:noFill/>
            <a:ln cap="flat" cmpd="sng" w="28575">
              <a:solidFill>
                <a:schemeClr val="lt1"/>
              </a:solidFill>
              <a:prstDash val="solid"/>
              <a:round/>
              <a:headEnd len="med" w="med" type="triangle"/>
              <a:tailEnd len="med" w="med" type="triangle"/>
            </a:ln>
          </p:spPr>
        </p:cxnSp>
        <p:sp>
          <p:nvSpPr>
            <p:cNvPr id="893" name="Google Shape;893;p57"/>
            <p:cNvSpPr txBox="1"/>
            <p:nvPr/>
          </p:nvSpPr>
          <p:spPr>
            <a:xfrm>
              <a:off x="4739" y="2316"/>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ourier New"/>
                  <a:ea typeface="Courier New"/>
                  <a:cs typeface="Courier New"/>
                  <a:sym typeface="Courier New"/>
                </a:rPr>
                <a:t>R</a:t>
              </a:r>
              <a:endParaRPr/>
            </a:p>
          </p:txBody>
        </p:sp>
        <p:cxnSp>
          <p:nvCxnSpPr>
            <p:cNvPr id="894" name="Google Shape;894;p57"/>
            <p:cNvCxnSpPr/>
            <p:nvPr/>
          </p:nvCxnSpPr>
          <p:spPr>
            <a:xfrm flipH="1" rot="10800000">
              <a:off x="5070" y="2160"/>
              <a:ext cx="599" cy="227"/>
            </a:xfrm>
            <a:prstGeom prst="straightConnector1">
              <a:avLst/>
            </a:prstGeom>
            <a:noFill/>
            <a:ln cap="flat" cmpd="sng" w="28575">
              <a:solidFill>
                <a:srgbClr val="FF0000"/>
              </a:solidFill>
              <a:prstDash val="solid"/>
              <a:round/>
              <a:headEnd len="med" w="med" type="triangle"/>
              <a:tailEnd len="med" w="med" type="triangle"/>
            </a:ln>
          </p:spPr>
        </p:cxnSp>
        <p:sp>
          <p:nvSpPr>
            <p:cNvPr id="895" name="Google Shape;895;p57"/>
            <p:cNvSpPr txBox="1"/>
            <p:nvPr/>
          </p:nvSpPr>
          <p:spPr>
            <a:xfrm>
              <a:off x="5150" y="2080"/>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rgbClr val="FF0000"/>
                  </a:solidFill>
                  <a:latin typeface="Courier New"/>
                  <a:ea typeface="Courier New"/>
                  <a:cs typeface="Courier New"/>
                  <a:sym typeface="Courier New"/>
                </a:rPr>
                <a:t>x</a:t>
              </a:r>
              <a:endParaRPr/>
            </a:p>
          </p:txBody>
        </p:sp>
      </p:grpSp>
      <p:pic>
        <p:nvPicPr>
          <p:cNvPr id="896" name="Google Shape;896;p57"/>
          <p:cNvPicPr preferRelativeResize="0"/>
          <p:nvPr/>
        </p:nvPicPr>
        <p:blipFill rotWithShape="1">
          <a:blip r:embed="rId3">
            <a:alphaModFix/>
          </a:blip>
          <a:srcRect b="0" l="0" r="0" t="0"/>
          <a:stretch/>
        </p:blipFill>
        <p:spPr>
          <a:xfrm>
            <a:off x="682625" y="1830388"/>
            <a:ext cx="6019800" cy="1662112"/>
          </a:xfrm>
          <a:prstGeom prst="rect">
            <a:avLst/>
          </a:prstGeom>
          <a:noFill/>
          <a:ln>
            <a:noFill/>
          </a:ln>
        </p:spPr>
      </p:pic>
      <p:pic>
        <p:nvPicPr>
          <p:cNvPr id="897" name="Google Shape;897;p57"/>
          <p:cNvPicPr preferRelativeResize="0"/>
          <p:nvPr/>
        </p:nvPicPr>
        <p:blipFill rotWithShape="1">
          <a:blip r:embed="rId4">
            <a:alphaModFix/>
          </a:blip>
          <a:srcRect b="0" l="0" r="0" t="0"/>
          <a:stretch/>
        </p:blipFill>
        <p:spPr>
          <a:xfrm>
            <a:off x="704850" y="3678238"/>
            <a:ext cx="7745413" cy="2335212"/>
          </a:xfrm>
          <a:prstGeom prst="rect">
            <a:avLst/>
          </a:prstGeom>
          <a:noFill/>
          <a:ln>
            <a:noFill/>
          </a:ln>
        </p:spPr>
      </p:pic>
      <p:sp>
        <p:nvSpPr>
          <p:cNvPr id="898" name="Google Shape;898;p57"/>
          <p:cNvSpPr txBox="1"/>
          <p:nvPr/>
        </p:nvSpPr>
        <p:spPr>
          <a:xfrm>
            <a:off x="1343025" y="4384675"/>
            <a:ext cx="67659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baseline="30000" i="1" lang="en-US" sz="2400">
                <a:solidFill>
                  <a:schemeClr val="hlink"/>
                </a:solidFill>
                <a:latin typeface="Arial"/>
                <a:ea typeface="Arial"/>
                <a:cs typeface="Arial"/>
                <a:sym typeface="Arial"/>
              </a:rPr>
              <a:t> 2</a:t>
            </a:r>
            <a:endParaRPr sz="2400">
              <a:solidFill>
                <a:schemeClr val="hlink"/>
              </a:solidFill>
              <a:latin typeface="Arial"/>
              <a:ea typeface="Arial"/>
              <a:cs typeface="Arial"/>
              <a:sym typeface="Arial"/>
            </a:endParaRPr>
          </a:p>
        </p:txBody>
      </p:sp>
      <p:sp>
        <p:nvSpPr>
          <p:cNvPr id="899" name="Google Shape;899;p57"/>
          <p:cNvSpPr txBox="1"/>
          <p:nvPr/>
        </p:nvSpPr>
        <p:spPr>
          <a:xfrm>
            <a:off x="1323975" y="4913313"/>
            <a:ext cx="74882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a</a:t>
            </a:r>
            <a:r>
              <a:rPr baseline="-25000" i="1"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baseline="30000" i="1" lang="en-US" sz="2400">
                <a:solidFill>
                  <a:schemeClr val="hlink"/>
                </a:solidFill>
                <a:latin typeface="Arial"/>
                <a:ea typeface="Arial"/>
                <a:cs typeface="Arial"/>
                <a:sym typeface="Arial"/>
              </a:rPr>
              <a:t> 2</a:t>
            </a:r>
            <a:r>
              <a:rPr baseline="30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(since </a:t>
            </a:r>
            <a:r>
              <a:rPr i="1" lang="en-US" sz="2400">
                <a:solidFill>
                  <a:schemeClr val="hlink"/>
                </a:solidFill>
                <a:latin typeface="Arial"/>
                <a:ea typeface="Arial"/>
                <a:cs typeface="Arial"/>
                <a:sym typeface="Arial"/>
              </a:rPr>
              <a:t>a</a:t>
            </a:r>
            <a:r>
              <a:rPr baseline="-25000" i="1"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 </a:t>
            </a:r>
            <a:r>
              <a:rPr lang="en-US" sz="2400">
                <a:solidFill>
                  <a:schemeClr val="hlink"/>
                </a:solidFill>
                <a:latin typeface="Arial"/>
                <a:ea typeface="Arial"/>
                <a:cs typeface="Arial"/>
                <a:sym typeface="Arial"/>
              </a:rPr>
              <a:t>in circular orbits).</a:t>
            </a:r>
            <a:endParaRPr/>
          </a:p>
        </p:txBody>
      </p:sp>
      <p:sp>
        <p:nvSpPr>
          <p:cNvPr id="900" name="Google Shape;900;p57"/>
          <p:cNvSpPr txBox="1"/>
          <p:nvPr/>
        </p:nvSpPr>
        <p:spPr>
          <a:xfrm>
            <a:off x="1335088" y="5454650"/>
            <a:ext cx="748823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 2</a:t>
            </a:r>
            <a:r>
              <a:rPr i="1" lang="en-US" sz="2400">
                <a:solidFill>
                  <a:schemeClr val="hlink"/>
                </a:solidFill>
                <a:latin typeface="Arial"/>
                <a:ea typeface="Arial"/>
                <a:cs typeface="Arial"/>
                <a:sym typeface="Arial"/>
              </a:rPr>
              <a:t>/ x</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baseline="30000" i="1" lang="en-US" sz="2400">
                <a:solidFill>
                  <a:schemeClr val="hlink"/>
                </a:solidFill>
                <a:latin typeface="Arial"/>
                <a:ea typeface="Arial"/>
                <a:cs typeface="Arial"/>
                <a:sym typeface="Arial"/>
              </a:rPr>
              <a:t> 2</a:t>
            </a:r>
            <a:r>
              <a:rPr baseline="30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(since </a:t>
            </a:r>
            <a:r>
              <a:rPr i="1" lang="en-US" sz="2400">
                <a:solidFill>
                  <a:schemeClr val="hlink"/>
                </a:solidFill>
                <a:latin typeface="Arial"/>
                <a:ea typeface="Arial"/>
                <a:cs typeface="Arial"/>
                <a:sym typeface="Arial"/>
              </a:rPr>
              <a:t>r</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and </a:t>
            </a:r>
            <a:r>
              <a:rPr i="1" lang="en-US" sz="2400">
                <a:solidFill>
                  <a:schemeClr val="hlink"/>
                </a:solidFill>
                <a:latin typeface="Arial"/>
                <a:ea typeface="Arial"/>
                <a:cs typeface="Arial"/>
                <a:sym typeface="Arial"/>
              </a:rPr>
              <a:t>a</a:t>
            </a:r>
            <a:r>
              <a:rPr baseline="-25000" i="1"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 2</a:t>
            </a:r>
            <a:r>
              <a:rPr i="1" lang="en-US" sz="2400">
                <a:solidFill>
                  <a:schemeClr val="hlink"/>
                </a:solidFill>
                <a:latin typeface="Arial"/>
                <a:ea typeface="Arial"/>
                <a:cs typeface="Arial"/>
                <a:sym typeface="Arial"/>
              </a:rPr>
              <a:t>/ x)</a:t>
            </a:r>
            <a:r>
              <a:rPr lang="en-US" sz="2400">
                <a:solidFill>
                  <a:schemeClr val="hlink"/>
                </a:solidFill>
                <a:latin typeface="Arial"/>
                <a:ea typeface="Arial"/>
                <a:cs typeface="Arial"/>
                <a:sym typeface="Arial"/>
              </a:rPr>
              <a:t>.</a:t>
            </a:r>
            <a:endParaRPr/>
          </a:p>
        </p:txBody>
      </p:sp>
      <p:sp>
        <p:nvSpPr>
          <p:cNvPr id="901" name="Google Shape;901;p57"/>
          <p:cNvSpPr txBox="1"/>
          <p:nvPr/>
        </p:nvSpPr>
        <p:spPr>
          <a:xfrm>
            <a:off x="1362075" y="6010275"/>
            <a:ext cx="74882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lang="en-US" sz="2400">
                <a:solidFill>
                  <a:schemeClr val="hlink"/>
                </a:solidFill>
                <a:latin typeface="Arial"/>
                <a:ea typeface="Arial"/>
                <a:cs typeface="Arial"/>
                <a:sym typeface="Arial"/>
              </a:rPr>
              <a:t> so that </a:t>
            </a:r>
            <a:r>
              <a:rPr i="1" lang="en-US" sz="2400">
                <a:solidFill>
                  <a:schemeClr val="hlink"/>
                </a:solidFill>
                <a:latin typeface="Arial"/>
                <a:ea typeface="Arial"/>
                <a:cs typeface="Arial"/>
                <a:sym typeface="Arial"/>
              </a:rPr>
              <a:t>v</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lang="en-US" sz="2400">
                <a:solidFill>
                  <a:schemeClr val="hlink"/>
                </a:solidFill>
                <a:latin typeface="Arial"/>
                <a:ea typeface="Arial"/>
                <a:cs typeface="Arial"/>
                <a:sym typeface="Arial"/>
              </a:rPr>
              <a:t>.</a:t>
            </a:r>
            <a:endParaRPr/>
          </a:p>
        </p:txBody>
      </p:sp>
      <p:sp>
        <p:nvSpPr>
          <p:cNvPr id="902" name="Google Shape;902;p57"/>
          <p:cNvSpPr/>
          <p:nvPr/>
        </p:nvSpPr>
        <p:spPr>
          <a:xfrm>
            <a:off x="4660900" y="6054725"/>
            <a:ext cx="1073150" cy="374650"/>
          </a:xfrm>
          <a:custGeom>
            <a:rect b="b" l="l" r="r" t="t"/>
            <a:pathLst>
              <a:path extrusionOk="0" h="10000" w="13314">
                <a:moveTo>
                  <a:pt x="0" y="7371"/>
                </a:moveTo>
                <a:lnTo>
                  <a:pt x="748" y="10000"/>
                </a:lnTo>
                <a:lnTo>
                  <a:pt x="2244" y="0"/>
                </a:lnTo>
                <a:lnTo>
                  <a:pt x="13314" y="0"/>
                </a:lnTo>
              </a:path>
            </a:pathLst>
          </a:custGeom>
          <a:noFill/>
          <a:ln cap="flat" cmpd="sng" w="12700">
            <a:solidFill>
              <a:schemeClr val="hlink"/>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903" name="Google Shape;903;p57"/>
          <p:cNvCxnSpPr/>
          <p:nvPr/>
        </p:nvCxnSpPr>
        <p:spPr>
          <a:xfrm flipH="1" rot="10800000">
            <a:off x="2095500" y="5567363"/>
            <a:ext cx="20638" cy="298450"/>
          </a:xfrm>
          <a:prstGeom prst="straightConnector1">
            <a:avLst/>
          </a:prstGeom>
          <a:noFill/>
          <a:ln cap="flat" cmpd="sng" w="19050">
            <a:solidFill>
              <a:srgbClr val="FF0000"/>
            </a:solidFill>
            <a:prstDash val="solid"/>
            <a:round/>
            <a:headEnd len="med" w="med" type="none"/>
            <a:tailEnd len="med" w="med" type="none"/>
          </a:ln>
        </p:spPr>
      </p:cxnSp>
      <p:cxnSp>
        <p:nvCxnSpPr>
          <p:cNvPr id="904" name="Google Shape;904;p57"/>
          <p:cNvCxnSpPr/>
          <p:nvPr/>
        </p:nvCxnSpPr>
        <p:spPr>
          <a:xfrm rot="10800000">
            <a:off x="3530600" y="5541963"/>
            <a:ext cx="28575" cy="182562"/>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6"/>
                                        </p:tgtEl>
                                        <p:attrNameLst>
                                          <p:attrName>style.visibility</p:attrName>
                                        </p:attrNameLst>
                                      </p:cBhvr>
                                      <p:to>
                                        <p:strVal val="visible"/>
                                      </p:to>
                                    </p:set>
                                    <p:anim calcmode="lin" valueType="num">
                                      <p:cBhvr additive="base">
                                        <p:cTn dur="500"/>
                                        <p:tgtEl>
                                          <p:spTgt spid="896"/>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889"/>
                                        </p:tgtEl>
                                        <p:attrNameLst>
                                          <p:attrName>style.visibility</p:attrName>
                                        </p:attrNameLst>
                                      </p:cBhvr>
                                      <p:to>
                                        <p:strVal val="visible"/>
                                      </p:to>
                                    </p:set>
                                    <p:anim calcmode="lin" valueType="num">
                                      <p:cBhvr additive="base">
                                        <p:cTn dur="500"/>
                                        <p:tgtEl>
                                          <p:spTgt spid="889"/>
                                        </p:tgtEl>
                                        <p:attrNameLst>
                                          <p:attrName>ppt_w</p:attrName>
                                        </p:attrNameLst>
                                      </p:cBhvr>
                                      <p:tavLst>
                                        <p:tav fmla="" tm="0">
                                          <p:val>
                                            <p:strVal val="0"/>
                                          </p:val>
                                        </p:tav>
                                        <p:tav fmla="" tm="100000">
                                          <p:val>
                                            <p:strVal val="#ppt_w"/>
                                          </p:val>
                                        </p:tav>
                                      </p:tavLst>
                                    </p:anim>
                                    <p:anim calcmode="lin" valueType="num">
                                      <p:cBhvr additive="base">
                                        <p:cTn dur="500"/>
                                        <p:tgtEl>
                                          <p:spTgt spid="88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20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7"/>
                                        </p:tgtEl>
                                        <p:attrNameLst>
                                          <p:attrName>style.visibility</p:attrName>
                                        </p:attrNameLst>
                                      </p:cBhvr>
                                      <p:to>
                                        <p:strVal val="visible"/>
                                      </p:to>
                                    </p:set>
                                    <p:anim calcmode="lin" valueType="num">
                                      <p:cBhvr additive="base">
                                        <p:cTn dur="500"/>
                                        <p:tgtEl>
                                          <p:spTgt spid="8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98">
                                            <p:txEl>
                                              <p:pRg end="0" st="0"/>
                                            </p:txEl>
                                          </p:spTgt>
                                        </p:tgtEl>
                                        <p:attrNameLst>
                                          <p:attrName>style.visibility</p:attrName>
                                        </p:attrNameLst>
                                      </p:cBhvr>
                                      <p:to>
                                        <p:strVal val="visible"/>
                                      </p:to>
                                    </p:set>
                                    <p:anim calcmode="lin" valueType="num">
                                      <p:cBhvr additive="base">
                                        <p:cTn dur="500"/>
                                        <p:tgtEl>
                                          <p:spTgt spid="89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99">
                                            <p:txEl>
                                              <p:pRg end="0" st="0"/>
                                            </p:txEl>
                                          </p:spTgt>
                                        </p:tgtEl>
                                        <p:attrNameLst>
                                          <p:attrName>style.visibility</p:attrName>
                                        </p:attrNameLst>
                                      </p:cBhvr>
                                      <p:to>
                                        <p:strVal val="visible"/>
                                      </p:to>
                                    </p:set>
                                    <p:anim calcmode="lin" valueType="num">
                                      <p:cBhvr additive="base">
                                        <p:cTn dur="500"/>
                                        <p:tgtEl>
                                          <p:spTgt spid="89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00">
                                            <p:txEl>
                                              <p:pRg end="0" st="0"/>
                                            </p:txEl>
                                          </p:spTgt>
                                        </p:tgtEl>
                                        <p:attrNameLst>
                                          <p:attrName>style.visibility</p:attrName>
                                        </p:attrNameLst>
                                      </p:cBhvr>
                                      <p:to>
                                        <p:strVal val="visible"/>
                                      </p:to>
                                    </p:set>
                                    <p:anim calcmode="lin" valueType="num">
                                      <p:cBhvr additive="base">
                                        <p:cTn dur="500"/>
                                        <p:tgtEl>
                                          <p:spTgt spid="90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5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01">
                                            <p:txEl>
                                              <p:pRg end="0" st="0"/>
                                            </p:txEl>
                                          </p:spTgt>
                                        </p:tgtEl>
                                        <p:attrNameLst>
                                          <p:attrName>style.visibility</p:attrName>
                                        </p:attrNameLst>
                                      </p:cBhvr>
                                      <p:to>
                                        <p:strVal val="visible"/>
                                      </p:to>
                                    </p:set>
                                    <p:anim calcmode="lin" valueType="num">
                                      <p:cBhvr additive="base">
                                        <p:cTn dur="500"/>
                                        <p:tgtEl>
                                          <p:spTgt spid="901">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902"/>
                                        </p:tgtEl>
                                        <p:attrNameLst>
                                          <p:attrName>style.visibility</p:attrName>
                                        </p:attrNameLst>
                                      </p:cBhvr>
                                      <p:to>
                                        <p:strVal val="visible"/>
                                      </p:to>
                                    </p:set>
                                    <p:anim calcmode="lin" valueType="num">
                                      <p:cBhvr additive="base">
                                        <p:cTn dur="500"/>
                                        <p:tgtEl>
                                          <p:spTgt spid="90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58"/>
          <p:cNvSpPr/>
          <p:nvPr/>
        </p:nvSpPr>
        <p:spPr>
          <a:xfrm>
            <a:off x="685800" y="1401763"/>
            <a:ext cx="7772400" cy="49688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field</a:t>
            </a:r>
            <a:endParaRPr/>
          </a:p>
        </p:txBody>
      </p:sp>
      <p:sp>
        <p:nvSpPr>
          <p:cNvPr id="911" name="Google Shape;911;p5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912" name="Google Shape;912;p58"/>
          <p:cNvSpPr/>
          <p:nvPr/>
        </p:nvSpPr>
        <p:spPr>
          <a:xfrm>
            <a:off x="685800" y="1830388"/>
            <a:ext cx="7772400" cy="50276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913" name="Google Shape;913;p58"/>
          <p:cNvSpPr/>
          <p:nvPr/>
        </p:nvSpPr>
        <p:spPr>
          <a:xfrm>
            <a:off x="7740650" y="1327150"/>
            <a:ext cx="215900" cy="215900"/>
          </a:xfrm>
          <a:prstGeom prst="ellipse">
            <a:avLst/>
          </a:prstGeom>
          <a:gradFill>
            <a:gsLst>
              <a:gs pos="0">
                <a:schemeClr val="accent1"/>
              </a:gs>
              <a:gs pos="100000">
                <a:srgbClr val="839D9F"/>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914" name="Google Shape;914;p58"/>
          <p:cNvGrpSpPr/>
          <p:nvPr/>
        </p:nvGrpSpPr>
        <p:grpSpPr>
          <a:xfrm>
            <a:off x="6811963" y="1431925"/>
            <a:ext cx="2070100" cy="2070100"/>
            <a:chOff x="4416" y="1749"/>
            <a:chExt cx="1304" cy="1304"/>
          </a:xfrm>
        </p:grpSpPr>
        <p:sp>
          <p:nvSpPr>
            <p:cNvPr id="915" name="Google Shape;915;p58"/>
            <p:cNvSpPr/>
            <p:nvPr/>
          </p:nvSpPr>
          <p:spPr>
            <a:xfrm>
              <a:off x="4638" y="1963"/>
              <a:ext cx="871" cy="871"/>
            </a:xfrm>
            <a:prstGeom prst="ellipse">
              <a:avLst/>
            </a:prstGeom>
            <a:gradFill>
              <a:gsLst>
                <a:gs pos="0">
                  <a:schemeClr val="lt2"/>
                </a:gs>
                <a:gs pos="100000">
                  <a:srgbClr val="5A5A5A"/>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916" name="Google Shape;916;p58"/>
            <p:cNvSpPr/>
            <p:nvPr/>
          </p:nvSpPr>
          <p:spPr>
            <a:xfrm>
              <a:off x="4416" y="1749"/>
              <a:ext cx="1304" cy="1304"/>
            </a:xfrm>
            <a:prstGeom prst="ellipse">
              <a:avLst/>
            </a:prstGeom>
            <a:noFill/>
            <a:ln cap="flat" cmpd="sng" w="190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917" name="Google Shape;917;p58"/>
            <p:cNvCxnSpPr/>
            <p:nvPr/>
          </p:nvCxnSpPr>
          <p:spPr>
            <a:xfrm flipH="1">
              <a:off x="4729" y="2380"/>
              <a:ext cx="341" cy="280"/>
            </a:xfrm>
            <a:prstGeom prst="straightConnector1">
              <a:avLst/>
            </a:prstGeom>
            <a:noFill/>
            <a:ln cap="flat" cmpd="sng" w="28575">
              <a:solidFill>
                <a:schemeClr val="lt1"/>
              </a:solidFill>
              <a:prstDash val="solid"/>
              <a:round/>
              <a:headEnd len="med" w="med" type="triangle"/>
              <a:tailEnd len="med" w="med" type="triangle"/>
            </a:ln>
          </p:spPr>
        </p:cxnSp>
        <p:sp>
          <p:nvSpPr>
            <p:cNvPr id="918" name="Google Shape;918;p58"/>
            <p:cNvSpPr txBox="1"/>
            <p:nvPr/>
          </p:nvSpPr>
          <p:spPr>
            <a:xfrm>
              <a:off x="4739" y="2316"/>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ourier New"/>
                  <a:ea typeface="Courier New"/>
                  <a:cs typeface="Courier New"/>
                  <a:sym typeface="Courier New"/>
                </a:rPr>
                <a:t>R</a:t>
              </a:r>
              <a:endParaRPr/>
            </a:p>
          </p:txBody>
        </p:sp>
        <p:cxnSp>
          <p:nvCxnSpPr>
            <p:cNvPr id="919" name="Google Shape;919;p58"/>
            <p:cNvCxnSpPr/>
            <p:nvPr/>
          </p:nvCxnSpPr>
          <p:spPr>
            <a:xfrm flipH="1" rot="10800000">
              <a:off x="5070" y="2160"/>
              <a:ext cx="599" cy="227"/>
            </a:xfrm>
            <a:prstGeom prst="straightConnector1">
              <a:avLst/>
            </a:prstGeom>
            <a:noFill/>
            <a:ln cap="flat" cmpd="sng" w="28575">
              <a:solidFill>
                <a:srgbClr val="FF0000"/>
              </a:solidFill>
              <a:prstDash val="solid"/>
              <a:round/>
              <a:headEnd len="med" w="med" type="triangle"/>
              <a:tailEnd len="med" w="med" type="triangle"/>
            </a:ln>
          </p:spPr>
        </p:cxnSp>
        <p:sp>
          <p:nvSpPr>
            <p:cNvPr id="920" name="Google Shape;920;p58"/>
            <p:cNvSpPr txBox="1"/>
            <p:nvPr/>
          </p:nvSpPr>
          <p:spPr>
            <a:xfrm>
              <a:off x="5150" y="2080"/>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rgbClr val="FF0000"/>
                  </a:solidFill>
                  <a:latin typeface="Courier New"/>
                  <a:ea typeface="Courier New"/>
                  <a:cs typeface="Courier New"/>
                  <a:sym typeface="Courier New"/>
                </a:rPr>
                <a:t>x</a:t>
              </a:r>
              <a:endParaRPr/>
            </a:p>
          </p:txBody>
        </p:sp>
      </p:grpSp>
      <p:pic>
        <p:nvPicPr>
          <p:cNvPr id="921" name="Google Shape;921;p58"/>
          <p:cNvPicPr preferRelativeResize="0"/>
          <p:nvPr/>
        </p:nvPicPr>
        <p:blipFill rotWithShape="1">
          <a:blip r:embed="rId3">
            <a:alphaModFix/>
          </a:blip>
          <a:srcRect b="0" l="0" r="0" t="0"/>
          <a:stretch/>
        </p:blipFill>
        <p:spPr>
          <a:xfrm>
            <a:off x="682625" y="1830388"/>
            <a:ext cx="6019800" cy="1662112"/>
          </a:xfrm>
          <a:prstGeom prst="rect">
            <a:avLst/>
          </a:prstGeom>
          <a:noFill/>
          <a:ln>
            <a:noFill/>
          </a:ln>
        </p:spPr>
      </p:pic>
      <p:pic>
        <p:nvPicPr>
          <p:cNvPr id="922" name="Google Shape;922;p58"/>
          <p:cNvPicPr preferRelativeResize="0"/>
          <p:nvPr/>
        </p:nvPicPr>
        <p:blipFill rotWithShape="1">
          <a:blip r:embed="rId4">
            <a:alphaModFix/>
          </a:blip>
          <a:srcRect b="0" l="0" r="0" t="0"/>
          <a:stretch/>
        </p:blipFill>
        <p:spPr>
          <a:xfrm>
            <a:off x="712788" y="3767138"/>
            <a:ext cx="7735887" cy="2197100"/>
          </a:xfrm>
          <a:prstGeom prst="rect">
            <a:avLst/>
          </a:prstGeom>
          <a:noFill/>
          <a:ln>
            <a:noFill/>
          </a:ln>
        </p:spPr>
      </p:pic>
      <p:sp>
        <p:nvSpPr>
          <p:cNvPr id="923" name="Google Shape;923;p58"/>
          <p:cNvSpPr txBox="1"/>
          <p:nvPr/>
        </p:nvSpPr>
        <p:spPr>
          <a:xfrm>
            <a:off x="1328738" y="4792663"/>
            <a:ext cx="3998912"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∙But </a:t>
            </a:r>
            <a:r>
              <a:rPr i="1" lang="en-US" sz="2400">
                <a:solidFill>
                  <a:schemeClr val="hlink"/>
                </a:solidFill>
                <a:latin typeface="Arial"/>
                <a:ea typeface="Arial"/>
                <a:cs typeface="Arial"/>
                <a:sym typeface="Arial"/>
              </a:rPr>
              <a:t>E</a:t>
            </a:r>
            <a:r>
              <a:rPr baseline="-25000" i="1"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(1/2)</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924" name="Google Shape;924;p58"/>
          <p:cNvSpPr txBox="1"/>
          <p:nvPr/>
        </p:nvSpPr>
        <p:spPr>
          <a:xfrm>
            <a:off x="1333500" y="5322888"/>
            <a:ext cx="75009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∙Thus</a:t>
            </a:r>
            <a:r>
              <a:rPr lang="en-US" sz="2400">
                <a:solidFill>
                  <a:schemeClr val="dk1"/>
                </a:solidFill>
                <a:latin typeface="Arial"/>
                <a:ea typeface="Arial"/>
                <a:cs typeface="Arial"/>
                <a:sym typeface="Arial"/>
              </a:rPr>
              <a:t> </a:t>
            </a:r>
            <a:r>
              <a:rPr i="1" lang="en-US" sz="2400">
                <a:solidFill>
                  <a:schemeClr val="hlink"/>
                </a:solidFill>
                <a:latin typeface="Arial"/>
                <a:ea typeface="Arial"/>
                <a:cs typeface="Arial"/>
                <a:sym typeface="Arial"/>
              </a:rPr>
              <a:t>E</a:t>
            </a:r>
            <a:r>
              <a:rPr baseline="-25000" i="1"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(1/2)</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a:t>
            </a:r>
            <a:r>
              <a:rPr lang="en-US" sz="2400">
                <a:solidFill>
                  <a:schemeClr val="dk1"/>
                </a:solidFill>
                <a:latin typeface="Arial"/>
                <a:ea typeface="Arial"/>
                <a:cs typeface="Arial"/>
                <a:sym typeface="Arial"/>
              </a:rPr>
              <a:t> </a:t>
            </a:r>
            <a:r>
              <a:rPr lang="en-US" sz="2400">
                <a:solidFill>
                  <a:schemeClr val="hlink"/>
                </a:solidFill>
                <a:latin typeface="Arial"/>
                <a:ea typeface="Arial"/>
                <a:cs typeface="Arial"/>
                <a:sym typeface="Arial"/>
              </a:rPr>
              <a:t>(1/2)</a:t>
            </a:r>
            <a:r>
              <a:rPr i="1" lang="en-US" sz="2400">
                <a:solidFill>
                  <a:schemeClr val="hlink"/>
                </a:solidFill>
                <a:latin typeface="Arial"/>
                <a:ea typeface="Arial"/>
                <a:cs typeface="Arial"/>
                <a:sym typeface="Arial"/>
              </a:rPr>
              <a:t>m</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GM / x</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GMm / </a:t>
            </a:r>
            <a:r>
              <a:rPr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a:t>
            </a:r>
            <a:endParaRPr/>
          </a:p>
        </p:txBody>
      </p:sp>
      <p:sp>
        <p:nvSpPr>
          <p:cNvPr id="925" name="Google Shape;925;p58"/>
          <p:cNvSpPr txBox="1"/>
          <p:nvPr/>
        </p:nvSpPr>
        <p:spPr>
          <a:xfrm>
            <a:off x="1341438" y="4332288"/>
            <a:ext cx="469741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∙From (a) </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 / x</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2"/>
                                        </p:tgtEl>
                                        <p:attrNameLst>
                                          <p:attrName>style.visibility</p:attrName>
                                        </p:attrNameLst>
                                      </p:cBhvr>
                                      <p:to>
                                        <p:strVal val="visible"/>
                                      </p:to>
                                    </p:set>
                                    <p:anim calcmode="lin" valueType="num">
                                      <p:cBhvr additive="base">
                                        <p:cTn dur="500"/>
                                        <p:tgtEl>
                                          <p:spTgt spid="9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25">
                                            <p:txEl>
                                              <p:pRg end="0" st="0"/>
                                            </p:txEl>
                                          </p:spTgt>
                                        </p:tgtEl>
                                        <p:attrNameLst>
                                          <p:attrName>style.visibility</p:attrName>
                                        </p:attrNameLst>
                                      </p:cBhvr>
                                      <p:to>
                                        <p:strVal val="visible"/>
                                      </p:to>
                                    </p:set>
                                    <p:anim calcmode="lin" valueType="num">
                                      <p:cBhvr additive="base">
                                        <p:cTn dur="500"/>
                                        <p:tgtEl>
                                          <p:spTgt spid="92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23">
                                            <p:txEl>
                                              <p:pRg end="0" st="0"/>
                                            </p:txEl>
                                          </p:spTgt>
                                        </p:tgtEl>
                                        <p:attrNameLst>
                                          <p:attrName>style.visibility</p:attrName>
                                        </p:attrNameLst>
                                      </p:cBhvr>
                                      <p:to>
                                        <p:strVal val="visible"/>
                                      </p:to>
                                    </p:set>
                                    <p:anim calcmode="lin" valueType="num">
                                      <p:cBhvr additive="base">
                                        <p:cTn dur="500"/>
                                        <p:tgtEl>
                                          <p:spTgt spid="92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24">
                                            <p:txEl>
                                              <p:pRg end="0" st="0"/>
                                            </p:txEl>
                                          </p:spTgt>
                                        </p:tgtEl>
                                        <p:attrNameLst>
                                          <p:attrName>style.visibility</p:attrName>
                                        </p:attrNameLst>
                                      </p:cBhvr>
                                      <p:to>
                                        <p:strVal val="visible"/>
                                      </p:to>
                                    </p:set>
                                    <p:anim calcmode="lin" valueType="num">
                                      <p:cBhvr additive="base">
                                        <p:cTn dur="500"/>
                                        <p:tgtEl>
                                          <p:spTgt spid="92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9"/>
          <p:cNvSpPr/>
          <p:nvPr/>
        </p:nvSpPr>
        <p:spPr>
          <a:xfrm>
            <a:off x="685800" y="1830388"/>
            <a:ext cx="7772400" cy="50276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932" name="Google Shape;932;p59"/>
          <p:cNvSpPr/>
          <p:nvPr/>
        </p:nvSpPr>
        <p:spPr>
          <a:xfrm>
            <a:off x="685800" y="1401763"/>
            <a:ext cx="7772400" cy="441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force</a:t>
            </a:r>
            <a:endParaRPr/>
          </a:p>
        </p:txBody>
      </p:sp>
      <p:sp>
        <p:nvSpPr>
          <p:cNvPr id="933" name="Google Shape;933;p59"/>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pic>
        <p:nvPicPr>
          <p:cNvPr id="934" name="Google Shape;934;p59"/>
          <p:cNvPicPr preferRelativeResize="0"/>
          <p:nvPr/>
        </p:nvPicPr>
        <p:blipFill rotWithShape="1">
          <a:blip r:embed="rId3">
            <a:alphaModFix/>
          </a:blip>
          <a:srcRect b="0" l="0" r="0" t="0"/>
          <a:stretch/>
        </p:blipFill>
        <p:spPr>
          <a:xfrm>
            <a:off x="695325" y="1808163"/>
            <a:ext cx="5981700" cy="1843087"/>
          </a:xfrm>
          <a:prstGeom prst="rect">
            <a:avLst/>
          </a:prstGeom>
          <a:noFill/>
          <a:ln>
            <a:noFill/>
          </a:ln>
        </p:spPr>
      </p:pic>
      <p:grpSp>
        <p:nvGrpSpPr>
          <p:cNvPr id="935" name="Google Shape;935;p59"/>
          <p:cNvGrpSpPr/>
          <p:nvPr/>
        </p:nvGrpSpPr>
        <p:grpSpPr>
          <a:xfrm>
            <a:off x="6832600" y="2422525"/>
            <a:ext cx="2087563" cy="481013"/>
            <a:chOff x="1599" y="2774"/>
            <a:chExt cx="1315" cy="303"/>
          </a:xfrm>
        </p:grpSpPr>
        <p:sp>
          <p:nvSpPr>
            <p:cNvPr id="936" name="Google Shape;936;p59"/>
            <p:cNvSpPr/>
            <p:nvPr/>
          </p:nvSpPr>
          <p:spPr>
            <a:xfrm>
              <a:off x="1599" y="2774"/>
              <a:ext cx="1311" cy="30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37" name="Google Shape;937;p59"/>
            <p:cNvSpPr/>
            <p:nvPr/>
          </p:nvSpPr>
          <p:spPr>
            <a:xfrm>
              <a:off x="2624" y="2813"/>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38" name="Google Shape;938;p59"/>
            <p:cNvSpPr txBox="1"/>
            <p:nvPr/>
          </p:nvSpPr>
          <p:spPr>
            <a:xfrm>
              <a:off x="2604" y="2786"/>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p:txBody>
        </p:sp>
        <p:sp>
          <p:nvSpPr>
            <p:cNvPr id="939" name="Google Shape;939;p59"/>
            <p:cNvSpPr/>
            <p:nvPr/>
          </p:nvSpPr>
          <p:spPr>
            <a:xfrm>
              <a:off x="1875" y="2812"/>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40" name="Google Shape;940;p59"/>
            <p:cNvSpPr txBox="1"/>
            <p:nvPr/>
          </p:nvSpPr>
          <p:spPr>
            <a:xfrm>
              <a:off x="1855" y="2785"/>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p:txBody>
        </p:sp>
      </p:grpSp>
      <p:grpSp>
        <p:nvGrpSpPr>
          <p:cNvPr id="941" name="Google Shape;941;p59"/>
          <p:cNvGrpSpPr/>
          <p:nvPr/>
        </p:nvGrpSpPr>
        <p:grpSpPr>
          <a:xfrm>
            <a:off x="6832600" y="1773238"/>
            <a:ext cx="2081213" cy="1743075"/>
            <a:chOff x="1599" y="2365"/>
            <a:chExt cx="1311" cy="1098"/>
          </a:xfrm>
        </p:grpSpPr>
        <p:cxnSp>
          <p:nvCxnSpPr>
            <p:cNvPr id="942" name="Google Shape;942;p59"/>
            <p:cNvCxnSpPr/>
            <p:nvPr/>
          </p:nvCxnSpPr>
          <p:spPr>
            <a:xfrm>
              <a:off x="2259" y="2365"/>
              <a:ext cx="0" cy="1098"/>
            </a:xfrm>
            <a:prstGeom prst="straightConnector1">
              <a:avLst/>
            </a:prstGeom>
            <a:noFill/>
            <a:ln cap="flat" cmpd="sng" w="9525">
              <a:solidFill>
                <a:schemeClr val="hlink"/>
              </a:solidFill>
              <a:prstDash val="solid"/>
              <a:round/>
              <a:headEnd len="med" w="med" type="none"/>
              <a:tailEnd len="med" w="med" type="none"/>
            </a:ln>
          </p:spPr>
        </p:cxnSp>
        <p:cxnSp>
          <p:nvCxnSpPr>
            <p:cNvPr id="943" name="Google Shape;943;p59"/>
            <p:cNvCxnSpPr/>
            <p:nvPr/>
          </p:nvCxnSpPr>
          <p:spPr>
            <a:xfrm>
              <a:off x="1599" y="2925"/>
              <a:ext cx="1311" cy="0"/>
            </a:xfrm>
            <a:prstGeom prst="straightConnector1">
              <a:avLst/>
            </a:prstGeom>
            <a:noFill/>
            <a:ln cap="flat" cmpd="sng" w="9525">
              <a:solidFill>
                <a:schemeClr val="hlink"/>
              </a:solidFill>
              <a:prstDash val="solid"/>
              <a:round/>
              <a:headEnd len="med" w="med" type="none"/>
              <a:tailEnd len="med" w="med" type="none"/>
            </a:ln>
          </p:spPr>
        </p:cxnSp>
        <p:sp>
          <p:nvSpPr>
            <p:cNvPr id="944" name="Google Shape;944;p59"/>
            <p:cNvSpPr/>
            <p:nvPr/>
          </p:nvSpPr>
          <p:spPr>
            <a:xfrm>
              <a:off x="1992" y="2646"/>
              <a:ext cx="537" cy="537"/>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45" name="Google Shape;945;p59"/>
            <p:cNvSpPr/>
            <p:nvPr/>
          </p:nvSpPr>
          <p:spPr>
            <a:xfrm>
              <a:off x="1771" y="2431"/>
              <a:ext cx="969" cy="969"/>
            </a:xfrm>
            <a:prstGeom prst="ellipse">
              <a:avLst/>
            </a:prstGeom>
            <a:noFill/>
            <a:ln cap="flat" cmpd="sng" w="9525">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46" name="Google Shape;946;p59"/>
            <p:cNvSpPr/>
            <p:nvPr/>
          </p:nvSpPr>
          <p:spPr>
            <a:xfrm>
              <a:off x="2236" y="2895"/>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947" name="Google Shape;947;p59"/>
            <p:cNvCxnSpPr/>
            <p:nvPr/>
          </p:nvCxnSpPr>
          <p:spPr>
            <a:xfrm rot="10800000">
              <a:off x="2123" y="2683"/>
              <a:ext cx="136" cy="235"/>
            </a:xfrm>
            <a:prstGeom prst="straightConnector1">
              <a:avLst/>
            </a:prstGeom>
            <a:noFill/>
            <a:ln cap="flat" cmpd="sng" w="28575">
              <a:solidFill>
                <a:schemeClr val="dk1"/>
              </a:solidFill>
              <a:prstDash val="solid"/>
              <a:round/>
              <a:headEnd len="med" w="med" type="diamond"/>
              <a:tailEnd len="med" w="med" type="diamond"/>
            </a:ln>
          </p:spPr>
        </p:cxnSp>
        <p:cxnSp>
          <p:nvCxnSpPr>
            <p:cNvPr id="948" name="Google Shape;948;p59"/>
            <p:cNvCxnSpPr/>
            <p:nvPr/>
          </p:nvCxnSpPr>
          <p:spPr>
            <a:xfrm flipH="1" rot="10800000">
              <a:off x="2259" y="2683"/>
              <a:ext cx="407" cy="235"/>
            </a:xfrm>
            <a:prstGeom prst="straightConnector1">
              <a:avLst/>
            </a:prstGeom>
            <a:noFill/>
            <a:ln cap="flat" cmpd="sng" w="28575">
              <a:solidFill>
                <a:schemeClr val="dk1"/>
              </a:solidFill>
              <a:prstDash val="solid"/>
              <a:round/>
              <a:headEnd len="med" w="med" type="diamond"/>
              <a:tailEnd len="med" w="med" type="diamond"/>
            </a:ln>
          </p:spPr>
        </p:cxnSp>
        <p:sp>
          <p:nvSpPr>
            <p:cNvPr id="949" name="Google Shape;949;p59"/>
            <p:cNvSpPr txBox="1"/>
            <p:nvPr/>
          </p:nvSpPr>
          <p:spPr>
            <a:xfrm>
              <a:off x="1981" y="2680"/>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1</a:t>
              </a:r>
              <a:endParaRPr i="1" sz="2000">
                <a:solidFill>
                  <a:schemeClr val="dk1"/>
                </a:solidFill>
                <a:latin typeface="Arial"/>
                <a:ea typeface="Arial"/>
                <a:cs typeface="Arial"/>
                <a:sym typeface="Arial"/>
              </a:endParaRPr>
            </a:p>
          </p:txBody>
        </p:sp>
        <p:sp>
          <p:nvSpPr>
            <p:cNvPr id="950" name="Google Shape;950;p59"/>
            <p:cNvSpPr txBox="1"/>
            <p:nvPr/>
          </p:nvSpPr>
          <p:spPr>
            <a:xfrm>
              <a:off x="2383" y="2504"/>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2</a:t>
              </a:r>
              <a:endParaRPr i="1" sz="2000">
                <a:solidFill>
                  <a:schemeClr val="dk1"/>
                </a:solidFill>
                <a:latin typeface="Arial"/>
                <a:ea typeface="Arial"/>
                <a:cs typeface="Arial"/>
                <a:sym typeface="Arial"/>
              </a:endParaRPr>
            </a:p>
          </p:txBody>
        </p:sp>
      </p:grpSp>
      <p:sp>
        <p:nvSpPr>
          <p:cNvPr id="951" name="Google Shape;951;p59"/>
          <p:cNvSpPr txBox="1"/>
          <p:nvPr/>
        </p:nvSpPr>
        <p:spPr>
          <a:xfrm>
            <a:off x="7786688" y="2644775"/>
            <a:ext cx="3556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P</a:t>
            </a:r>
            <a:endParaRPr/>
          </a:p>
        </p:txBody>
      </p:sp>
      <p:pic>
        <p:nvPicPr>
          <p:cNvPr id="952" name="Google Shape;952;p59"/>
          <p:cNvPicPr preferRelativeResize="0"/>
          <p:nvPr/>
        </p:nvPicPr>
        <p:blipFill rotWithShape="1">
          <a:blip r:embed="rId4">
            <a:alphaModFix/>
          </a:blip>
          <a:srcRect b="0" l="0" r="0" t="0"/>
          <a:stretch/>
        </p:blipFill>
        <p:spPr>
          <a:xfrm>
            <a:off x="714375" y="3768725"/>
            <a:ext cx="7673975" cy="1187450"/>
          </a:xfrm>
          <a:prstGeom prst="rect">
            <a:avLst/>
          </a:prstGeom>
          <a:noFill/>
          <a:ln>
            <a:noFill/>
          </a:ln>
        </p:spPr>
      </p:pic>
      <p:sp>
        <p:nvSpPr>
          <p:cNvPr id="953" name="Google Shape;953;p59"/>
          <p:cNvSpPr txBox="1"/>
          <p:nvPr/>
        </p:nvSpPr>
        <p:spPr>
          <a:xfrm>
            <a:off x="1385888" y="4371975"/>
            <a:ext cx="655161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∙It is the gravitational force.</a:t>
            </a:r>
            <a:endParaRPr baseline="30000" sz="2400">
              <a:solidFill>
                <a:schemeClr val="hlink"/>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2">
                                            <p:txEl>
                                              <p:pRg end="0" st="0"/>
                                            </p:txEl>
                                          </p:spTgt>
                                        </p:tgtEl>
                                        <p:attrNameLst>
                                          <p:attrName>style.visibility</p:attrName>
                                        </p:attrNameLst>
                                      </p:cBhvr>
                                      <p:to>
                                        <p:strVal val="visible"/>
                                      </p:to>
                                    </p:set>
                                    <p:anim calcmode="lin" valueType="num">
                                      <p:cBhvr additive="base">
                                        <p:cTn dur="500"/>
                                        <p:tgtEl>
                                          <p:spTgt spid="9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4"/>
                                        </p:tgtEl>
                                        <p:attrNameLst>
                                          <p:attrName>style.visibility</p:attrName>
                                        </p:attrNameLst>
                                      </p:cBhvr>
                                      <p:to>
                                        <p:strVal val="visible"/>
                                      </p:to>
                                    </p:set>
                                    <p:anim calcmode="lin" valueType="num">
                                      <p:cBhvr additive="base">
                                        <p:cTn dur="500"/>
                                        <p:tgtEl>
                                          <p:spTgt spid="93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2000"/>
                                        <p:tgtEl>
                                          <p:spTgt spid="935"/>
                                        </p:tgtEl>
                                      </p:cBhvr>
                                    </p:animEffect>
                                  </p:childTnLst>
                                </p:cTn>
                              </p:par>
                              <p:par>
                                <p:cTn fill="hold" nodeType="with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2000"/>
                                        <p:tgtEl>
                                          <p:spTgt spid="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1822"/>
                                        <p:tgtEl>
                                          <p:spTgt spid="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5000" fill="hold"/>
                                        <p:tgtEl>
                                          <p:spTgt spid="93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2"/>
                                        </p:tgtEl>
                                        <p:attrNameLst>
                                          <p:attrName>style.visibility</p:attrName>
                                        </p:attrNameLst>
                                      </p:cBhvr>
                                      <p:to>
                                        <p:strVal val="visible"/>
                                      </p:to>
                                    </p:set>
                                    <p:anim calcmode="lin" valueType="num">
                                      <p:cBhvr additive="base">
                                        <p:cTn dur="500"/>
                                        <p:tgtEl>
                                          <p:spTgt spid="9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53">
                                            <p:txEl>
                                              <p:pRg end="0" st="0"/>
                                            </p:txEl>
                                          </p:spTgt>
                                        </p:tgtEl>
                                        <p:attrNameLst>
                                          <p:attrName>style.visibility</p:attrName>
                                        </p:attrNameLst>
                                      </p:cBhvr>
                                      <p:to>
                                        <p:strVal val="visible"/>
                                      </p:to>
                                    </p:set>
                                    <p:anim calcmode="lin" valueType="num">
                                      <p:cBhvr additive="base">
                                        <p:cTn dur="500"/>
                                        <p:tgtEl>
                                          <p:spTgt spid="95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0"/>
          <p:cNvSpPr/>
          <p:nvPr/>
        </p:nvSpPr>
        <p:spPr>
          <a:xfrm>
            <a:off x="685800" y="1401763"/>
            <a:ext cx="7772400" cy="441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force</a:t>
            </a:r>
            <a:endParaRPr/>
          </a:p>
        </p:txBody>
      </p:sp>
      <p:sp>
        <p:nvSpPr>
          <p:cNvPr id="960" name="Google Shape;960;p60"/>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961" name="Google Shape;961;p60"/>
          <p:cNvSpPr/>
          <p:nvPr/>
        </p:nvSpPr>
        <p:spPr>
          <a:xfrm>
            <a:off x="685800" y="1830388"/>
            <a:ext cx="7772400" cy="50276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962" name="Google Shape;962;p60"/>
          <p:cNvPicPr preferRelativeResize="0"/>
          <p:nvPr/>
        </p:nvPicPr>
        <p:blipFill rotWithShape="1">
          <a:blip r:embed="rId3">
            <a:alphaModFix/>
          </a:blip>
          <a:srcRect b="0" l="0" r="0" t="0"/>
          <a:stretch/>
        </p:blipFill>
        <p:spPr>
          <a:xfrm>
            <a:off x="695325" y="1808163"/>
            <a:ext cx="5981700" cy="1843087"/>
          </a:xfrm>
          <a:prstGeom prst="rect">
            <a:avLst/>
          </a:prstGeom>
          <a:noFill/>
          <a:ln>
            <a:noFill/>
          </a:ln>
        </p:spPr>
      </p:pic>
      <p:grpSp>
        <p:nvGrpSpPr>
          <p:cNvPr id="963" name="Google Shape;963;p60"/>
          <p:cNvGrpSpPr/>
          <p:nvPr/>
        </p:nvGrpSpPr>
        <p:grpSpPr>
          <a:xfrm>
            <a:off x="6832600" y="2422525"/>
            <a:ext cx="2087563" cy="481013"/>
            <a:chOff x="1599" y="2774"/>
            <a:chExt cx="1315" cy="303"/>
          </a:xfrm>
        </p:grpSpPr>
        <p:sp>
          <p:nvSpPr>
            <p:cNvPr id="964" name="Google Shape;964;p60"/>
            <p:cNvSpPr/>
            <p:nvPr/>
          </p:nvSpPr>
          <p:spPr>
            <a:xfrm>
              <a:off x="1599" y="2774"/>
              <a:ext cx="1311" cy="30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65" name="Google Shape;965;p60"/>
            <p:cNvSpPr/>
            <p:nvPr/>
          </p:nvSpPr>
          <p:spPr>
            <a:xfrm>
              <a:off x="2624" y="2813"/>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66" name="Google Shape;966;p60"/>
            <p:cNvSpPr txBox="1"/>
            <p:nvPr/>
          </p:nvSpPr>
          <p:spPr>
            <a:xfrm>
              <a:off x="2604" y="2786"/>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p:txBody>
        </p:sp>
        <p:sp>
          <p:nvSpPr>
            <p:cNvPr id="967" name="Google Shape;967;p60"/>
            <p:cNvSpPr/>
            <p:nvPr/>
          </p:nvSpPr>
          <p:spPr>
            <a:xfrm>
              <a:off x="1875" y="2812"/>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68" name="Google Shape;968;p60"/>
            <p:cNvSpPr txBox="1"/>
            <p:nvPr/>
          </p:nvSpPr>
          <p:spPr>
            <a:xfrm>
              <a:off x="1855" y="2785"/>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p:txBody>
        </p:sp>
      </p:grpSp>
      <p:grpSp>
        <p:nvGrpSpPr>
          <p:cNvPr id="969" name="Google Shape;969;p60"/>
          <p:cNvGrpSpPr/>
          <p:nvPr/>
        </p:nvGrpSpPr>
        <p:grpSpPr>
          <a:xfrm>
            <a:off x="6832600" y="1773238"/>
            <a:ext cx="2081213" cy="1743075"/>
            <a:chOff x="1599" y="2365"/>
            <a:chExt cx="1311" cy="1098"/>
          </a:xfrm>
        </p:grpSpPr>
        <p:cxnSp>
          <p:nvCxnSpPr>
            <p:cNvPr id="970" name="Google Shape;970;p60"/>
            <p:cNvCxnSpPr/>
            <p:nvPr/>
          </p:nvCxnSpPr>
          <p:spPr>
            <a:xfrm>
              <a:off x="2259" y="2365"/>
              <a:ext cx="0" cy="1098"/>
            </a:xfrm>
            <a:prstGeom prst="straightConnector1">
              <a:avLst/>
            </a:prstGeom>
            <a:noFill/>
            <a:ln cap="flat" cmpd="sng" w="9525">
              <a:solidFill>
                <a:schemeClr val="hlink"/>
              </a:solidFill>
              <a:prstDash val="solid"/>
              <a:round/>
              <a:headEnd len="med" w="med" type="none"/>
              <a:tailEnd len="med" w="med" type="none"/>
            </a:ln>
          </p:spPr>
        </p:cxnSp>
        <p:cxnSp>
          <p:nvCxnSpPr>
            <p:cNvPr id="971" name="Google Shape;971;p60"/>
            <p:cNvCxnSpPr/>
            <p:nvPr/>
          </p:nvCxnSpPr>
          <p:spPr>
            <a:xfrm>
              <a:off x="1599" y="2925"/>
              <a:ext cx="1311" cy="0"/>
            </a:xfrm>
            <a:prstGeom prst="straightConnector1">
              <a:avLst/>
            </a:prstGeom>
            <a:noFill/>
            <a:ln cap="flat" cmpd="sng" w="9525">
              <a:solidFill>
                <a:schemeClr val="hlink"/>
              </a:solidFill>
              <a:prstDash val="solid"/>
              <a:round/>
              <a:headEnd len="med" w="med" type="none"/>
              <a:tailEnd len="med" w="med" type="none"/>
            </a:ln>
          </p:spPr>
        </p:cxnSp>
        <p:sp>
          <p:nvSpPr>
            <p:cNvPr id="972" name="Google Shape;972;p60"/>
            <p:cNvSpPr/>
            <p:nvPr/>
          </p:nvSpPr>
          <p:spPr>
            <a:xfrm>
              <a:off x="1992" y="2646"/>
              <a:ext cx="537" cy="537"/>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73" name="Google Shape;973;p60"/>
            <p:cNvSpPr/>
            <p:nvPr/>
          </p:nvSpPr>
          <p:spPr>
            <a:xfrm>
              <a:off x="1771" y="2431"/>
              <a:ext cx="969" cy="969"/>
            </a:xfrm>
            <a:prstGeom prst="ellipse">
              <a:avLst/>
            </a:prstGeom>
            <a:noFill/>
            <a:ln cap="flat" cmpd="sng" w="9525">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974" name="Google Shape;974;p60"/>
            <p:cNvSpPr/>
            <p:nvPr/>
          </p:nvSpPr>
          <p:spPr>
            <a:xfrm>
              <a:off x="2236" y="2895"/>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975" name="Google Shape;975;p60"/>
            <p:cNvCxnSpPr/>
            <p:nvPr/>
          </p:nvCxnSpPr>
          <p:spPr>
            <a:xfrm rot="10800000">
              <a:off x="2123" y="2683"/>
              <a:ext cx="136" cy="235"/>
            </a:xfrm>
            <a:prstGeom prst="straightConnector1">
              <a:avLst/>
            </a:prstGeom>
            <a:noFill/>
            <a:ln cap="flat" cmpd="sng" w="28575">
              <a:solidFill>
                <a:schemeClr val="dk1"/>
              </a:solidFill>
              <a:prstDash val="solid"/>
              <a:round/>
              <a:headEnd len="med" w="med" type="diamond"/>
              <a:tailEnd len="med" w="med" type="diamond"/>
            </a:ln>
          </p:spPr>
        </p:cxnSp>
        <p:cxnSp>
          <p:nvCxnSpPr>
            <p:cNvPr id="976" name="Google Shape;976;p60"/>
            <p:cNvCxnSpPr/>
            <p:nvPr/>
          </p:nvCxnSpPr>
          <p:spPr>
            <a:xfrm flipH="1" rot="10800000">
              <a:off x="2259" y="2683"/>
              <a:ext cx="407" cy="235"/>
            </a:xfrm>
            <a:prstGeom prst="straightConnector1">
              <a:avLst/>
            </a:prstGeom>
            <a:noFill/>
            <a:ln cap="flat" cmpd="sng" w="28575">
              <a:solidFill>
                <a:schemeClr val="dk1"/>
              </a:solidFill>
              <a:prstDash val="solid"/>
              <a:round/>
              <a:headEnd len="med" w="med" type="diamond"/>
              <a:tailEnd len="med" w="med" type="diamond"/>
            </a:ln>
          </p:spPr>
        </p:cxnSp>
        <p:sp>
          <p:nvSpPr>
            <p:cNvPr id="977" name="Google Shape;977;p60"/>
            <p:cNvSpPr txBox="1"/>
            <p:nvPr/>
          </p:nvSpPr>
          <p:spPr>
            <a:xfrm>
              <a:off x="1981" y="2680"/>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1</a:t>
              </a:r>
              <a:endParaRPr i="1" sz="2000">
                <a:solidFill>
                  <a:schemeClr val="dk1"/>
                </a:solidFill>
                <a:latin typeface="Arial"/>
                <a:ea typeface="Arial"/>
                <a:cs typeface="Arial"/>
                <a:sym typeface="Arial"/>
              </a:endParaRPr>
            </a:p>
          </p:txBody>
        </p:sp>
        <p:sp>
          <p:nvSpPr>
            <p:cNvPr id="978" name="Google Shape;978;p60"/>
            <p:cNvSpPr txBox="1"/>
            <p:nvPr/>
          </p:nvSpPr>
          <p:spPr>
            <a:xfrm>
              <a:off x="2383" y="2504"/>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2</a:t>
              </a:r>
              <a:endParaRPr i="1" sz="2000">
                <a:solidFill>
                  <a:schemeClr val="dk1"/>
                </a:solidFill>
                <a:latin typeface="Arial"/>
                <a:ea typeface="Arial"/>
                <a:cs typeface="Arial"/>
                <a:sym typeface="Arial"/>
              </a:endParaRPr>
            </a:p>
          </p:txBody>
        </p:sp>
      </p:grpSp>
      <p:sp>
        <p:nvSpPr>
          <p:cNvPr id="979" name="Google Shape;979;p60"/>
          <p:cNvSpPr txBox="1"/>
          <p:nvPr/>
        </p:nvSpPr>
        <p:spPr>
          <a:xfrm>
            <a:off x="7786688" y="2644775"/>
            <a:ext cx="3556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P</a:t>
            </a:r>
            <a:endParaRPr/>
          </a:p>
        </p:txBody>
      </p:sp>
      <p:pic>
        <p:nvPicPr>
          <p:cNvPr id="980" name="Google Shape;980;p60"/>
          <p:cNvPicPr preferRelativeResize="0"/>
          <p:nvPr/>
        </p:nvPicPr>
        <p:blipFill rotWithShape="1">
          <a:blip r:embed="rId4">
            <a:alphaModFix/>
          </a:blip>
          <a:srcRect b="0" l="0" r="0" t="0"/>
          <a:stretch/>
        </p:blipFill>
        <p:spPr>
          <a:xfrm>
            <a:off x="669925" y="3629025"/>
            <a:ext cx="7750175" cy="3148013"/>
          </a:xfrm>
          <a:prstGeom prst="rect">
            <a:avLst/>
          </a:prstGeom>
          <a:noFill/>
          <a:ln>
            <a:noFill/>
          </a:ln>
        </p:spPr>
      </p:pic>
      <p:sp>
        <p:nvSpPr>
          <p:cNvPr id="981" name="Google Shape;981;p60"/>
          <p:cNvSpPr txBox="1"/>
          <p:nvPr/>
        </p:nvSpPr>
        <p:spPr>
          <a:xfrm>
            <a:off x="3597275" y="42863"/>
            <a:ext cx="486727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∙Note that </a:t>
            </a:r>
            <a:r>
              <a:rPr i="1" lang="en-US" sz="2400">
                <a:solidFill>
                  <a:srgbClr val="FF0000"/>
                </a:solidFill>
                <a:latin typeface="Arial"/>
                <a:ea typeface="Arial"/>
                <a:cs typeface="Arial"/>
                <a:sym typeface="Arial"/>
              </a:rPr>
              <a:t>F</a:t>
            </a:r>
            <a:r>
              <a:rPr baseline="-25000" lang="en-US" sz="2400">
                <a:solidFill>
                  <a:srgbClr val="FF0000"/>
                </a:solidFill>
                <a:latin typeface="Arial"/>
                <a:ea typeface="Arial"/>
                <a:cs typeface="Arial"/>
                <a:sym typeface="Arial"/>
              </a:rPr>
              <a:t>g</a:t>
            </a:r>
            <a:r>
              <a:rPr lang="en-US" sz="2400">
                <a:solidFill>
                  <a:srgbClr val="FF0000"/>
                </a:solidFill>
                <a:latin typeface="Arial"/>
                <a:ea typeface="Arial"/>
                <a:cs typeface="Arial"/>
                <a:sym typeface="Arial"/>
              </a:rPr>
              <a:t> = </a:t>
            </a:r>
            <a:r>
              <a:rPr i="1" lang="en-US" sz="2400">
                <a:solidFill>
                  <a:srgbClr val="FF0000"/>
                </a:solidFill>
                <a:latin typeface="Arial"/>
                <a:ea typeface="Arial"/>
                <a:cs typeface="Arial"/>
                <a:sym typeface="Arial"/>
              </a:rPr>
              <a:t>GM</a:t>
            </a:r>
            <a:r>
              <a:rPr baseline="-25000" lang="en-US" sz="2400">
                <a:solidFill>
                  <a:srgbClr val="FF0000"/>
                </a:solidFill>
                <a:latin typeface="Arial"/>
                <a:ea typeface="Arial"/>
                <a:cs typeface="Arial"/>
                <a:sym typeface="Arial"/>
              </a:rPr>
              <a:t>1</a:t>
            </a:r>
            <a:r>
              <a:rPr i="1" lang="en-US" sz="2400">
                <a:solidFill>
                  <a:srgbClr val="FF0000"/>
                </a:solidFill>
                <a:latin typeface="Arial"/>
                <a:ea typeface="Arial"/>
                <a:cs typeface="Arial"/>
                <a:sym typeface="Arial"/>
              </a:rPr>
              <a:t>M</a:t>
            </a:r>
            <a:r>
              <a:rPr baseline="-25000" lang="en-US" sz="2400">
                <a:solidFill>
                  <a:srgbClr val="FF0000"/>
                </a:solidFill>
                <a:latin typeface="Arial"/>
                <a:ea typeface="Arial"/>
                <a:cs typeface="Arial"/>
                <a:sym typeface="Arial"/>
              </a:rPr>
              <a:t>2 </a:t>
            </a:r>
            <a:r>
              <a:rPr i="1" lang="en-US" sz="2400">
                <a:solidFill>
                  <a:srgbClr val="FF0000"/>
                </a:solidFill>
                <a:latin typeface="Arial"/>
                <a:ea typeface="Arial"/>
                <a:cs typeface="Arial"/>
                <a:sym typeface="Arial"/>
              </a:rPr>
              <a:t>/ </a:t>
            </a:r>
            <a:r>
              <a:rPr lang="en-US" sz="2400">
                <a:solidFill>
                  <a:srgbClr val="FF0000"/>
                </a:solidFill>
                <a:latin typeface="Arial"/>
                <a:ea typeface="Arial"/>
                <a:cs typeface="Arial"/>
                <a:sym typeface="Arial"/>
              </a:rPr>
              <a:t>(</a:t>
            </a:r>
            <a:r>
              <a:rPr i="1" lang="en-US" sz="2400">
                <a:solidFill>
                  <a:srgbClr val="FF0000"/>
                </a:solidFill>
                <a:latin typeface="Arial"/>
                <a:ea typeface="Arial"/>
                <a:cs typeface="Arial"/>
                <a:sym typeface="Arial"/>
              </a:rPr>
              <a:t>R</a:t>
            </a:r>
            <a:r>
              <a:rPr baseline="-25000" lang="en-US" sz="2400">
                <a:solidFill>
                  <a:srgbClr val="FF0000"/>
                </a:solidFill>
                <a:latin typeface="Arial"/>
                <a:ea typeface="Arial"/>
                <a:cs typeface="Arial"/>
                <a:sym typeface="Arial"/>
              </a:rPr>
              <a:t>1</a:t>
            </a:r>
            <a:r>
              <a:rPr lang="en-US" sz="2400">
                <a:solidFill>
                  <a:srgbClr val="FF0000"/>
                </a:solidFill>
                <a:latin typeface="Arial"/>
                <a:ea typeface="Arial"/>
                <a:cs typeface="Arial"/>
                <a:sym typeface="Arial"/>
              </a:rPr>
              <a:t>+</a:t>
            </a:r>
            <a:r>
              <a:rPr i="1" lang="en-US" sz="2400">
                <a:solidFill>
                  <a:srgbClr val="FF0000"/>
                </a:solidFill>
                <a:latin typeface="Arial"/>
                <a:ea typeface="Arial"/>
                <a:cs typeface="Arial"/>
                <a:sym typeface="Arial"/>
              </a:rPr>
              <a:t>R</a:t>
            </a:r>
            <a:r>
              <a:rPr baseline="-25000" lang="en-US" sz="2400">
                <a:solidFill>
                  <a:srgbClr val="FF0000"/>
                </a:solidFill>
                <a:latin typeface="Arial"/>
                <a:ea typeface="Arial"/>
                <a:cs typeface="Arial"/>
                <a:sym typeface="Arial"/>
              </a:rPr>
              <a:t>2</a:t>
            </a:r>
            <a:r>
              <a:rPr lang="en-US" sz="2400">
                <a:solidFill>
                  <a:srgbClr val="FF0000"/>
                </a:solidFill>
                <a:latin typeface="Arial"/>
                <a:ea typeface="Arial"/>
                <a:cs typeface="Arial"/>
                <a:sym typeface="Arial"/>
              </a:rPr>
              <a:t>)</a:t>
            </a:r>
            <a:r>
              <a:rPr baseline="30000" lang="en-US" sz="2400">
                <a:solidFill>
                  <a:srgbClr val="FF0000"/>
                </a:solidFill>
                <a:latin typeface="Arial"/>
                <a:ea typeface="Arial"/>
                <a:cs typeface="Arial"/>
                <a:sym typeface="Arial"/>
              </a:rPr>
              <a:t> 2</a:t>
            </a:r>
            <a:r>
              <a:rPr lang="en-US" sz="2400">
                <a:solidFill>
                  <a:srgbClr val="FF0000"/>
                </a:solidFill>
                <a:latin typeface="Arial"/>
                <a:ea typeface="Arial"/>
                <a:cs typeface="Arial"/>
                <a:sym typeface="Arial"/>
              </a:rPr>
              <a:t>.</a:t>
            </a:r>
            <a:endParaRPr baseline="30000" sz="2400">
              <a:solidFill>
                <a:srgbClr val="FF0000"/>
              </a:solidFill>
              <a:latin typeface="Arial"/>
              <a:ea typeface="Arial"/>
              <a:cs typeface="Arial"/>
              <a:sym typeface="Arial"/>
            </a:endParaRPr>
          </a:p>
        </p:txBody>
      </p:sp>
      <p:sp>
        <p:nvSpPr>
          <p:cNvPr id="982" name="Google Shape;982;p60"/>
          <p:cNvSpPr txBox="1"/>
          <p:nvPr/>
        </p:nvSpPr>
        <p:spPr>
          <a:xfrm>
            <a:off x="1246188" y="4387850"/>
            <a:ext cx="7629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experiences </a:t>
            </a:r>
            <a:r>
              <a:rPr i="1" lang="en-US" sz="2400">
                <a:solidFill>
                  <a:schemeClr val="hlink"/>
                </a:solidFill>
                <a:latin typeface="Arial"/>
                <a:ea typeface="Arial"/>
                <a:cs typeface="Arial"/>
                <a:sym typeface="Arial"/>
              </a:rPr>
              <a:t>F</a:t>
            </a:r>
            <a:r>
              <a:rPr baseline="-25000"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1</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983" name="Google Shape;983;p60"/>
          <p:cNvSpPr txBox="1"/>
          <p:nvPr/>
        </p:nvSpPr>
        <p:spPr>
          <a:xfrm>
            <a:off x="1231900" y="4743450"/>
            <a:ext cx="7629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∙Since </a:t>
            </a: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 2π</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i="1" lang="en-US" sz="2400">
                <a:solidFill>
                  <a:schemeClr val="hlink"/>
                </a:solidFill>
                <a:latin typeface="Arial"/>
                <a:ea typeface="Arial"/>
                <a:cs typeface="Arial"/>
                <a:sym typeface="Arial"/>
              </a:rPr>
              <a:t>/ T</a:t>
            </a:r>
            <a:r>
              <a:rPr lang="en-US" sz="2400">
                <a:solidFill>
                  <a:schemeClr val="hlink"/>
                </a:solidFill>
                <a:latin typeface="Arial"/>
                <a:ea typeface="Arial"/>
                <a:cs typeface="Arial"/>
                <a:sym typeface="Arial"/>
              </a:rPr>
              <a:t>, then </a:t>
            </a: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1</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a:t>
            </a:r>
            <a:endParaRPr i="1" sz="2400">
              <a:solidFill>
                <a:schemeClr val="hlink"/>
              </a:solidFill>
              <a:latin typeface="Arial"/>
              <a:ea typeface="Arial"/>
              <a:cs typeface="Arial"/>
              <a:sym typeface="Arial"/>
            </a:endParaRPr>
          </a:p>
        </p:txBody>
      </p:sp>
      <p:sp>
        <p:nvSpPr>
          <p:cNvPr id="984" name="Google Shape;984;p60"/>
          <p:cNvSpPr txBox="1"/>
          <p:nvPr/>
        </p:nvSpPr>
        <p:spPr>
          <a:xfrm>
            <a:off x="1239838" y="5127625"/>
            <a:ext cx="76295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∙Thus </a:t>
            </a:r>
            <a:r>
              <a:rPr i="1" lang="en-US" sz="2400">
                <a:solidFill>
                  <a:schemeClr val="hlink"/>
                </a:solidFill>
                <a:latin typeface="Arial"/>
                <a:ea typeface="Arial"/>
                <a:cs typeface="Arial"/>
                <a:sym typeface="Arial"/>
              </a:rPr>
              <a:t>F</a:t>
            </a:r>
            <a:r>
              <a:rPr baseline="-25000" lang="en-US" sz="2400">
                <a:solidFill>
                  <a:schemeClr val="hlink"/>
                </a:solidFill>
                <a:latin typeface="Arial"/>
                <a:ea typeface="Arial"/>
                <a:cs typeface="Arial"/>
                <a:sym typeface="Arial"/>
              </a:rPr>
              <a:t>C</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F</a:t>
            </a:r>
            <a:r>
              <a:rPr baseline="-25000" lang="en-US" sz="2400">
                <a:solidFill>
                  <a:schemeClr val="hlink"/>
                </a:solidFill>
                <a:latin typeface="Arial"/>
                <a:ea typeface="Arial"/>
                <a:cs typeface="Arial"/>
                <a:sym typeface="Arial"/>
              </a:rPr>
              <a:t>G</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1</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a:t>
            </a:r>
            <a:r>
              <a:rPr baseline="-25000" lang="en-US" sz="2400">
                <a:solidFill>
                  <a:schemeClr val="hlink"/>
                </a:solidFill>
                <a:latin typeface="Arial"/>
                <a:ea typeface="Arial"/>
                <a:cs typeface="Arial"/>
                <a:sym typeface="Arial"/>
              </a:rPr>
              <a:t>1</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985" name="Google Shape;985;p60"/>
          <p:cNvSpPr txBox="1"/>
          <p:nvPr/>
        </p:nvSpPr>
        <p:spPr>
          <a:xfrm>
            <a:off x="2311400" y="5486400"/>
            <a:ext cx="60594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a:t>
            </a:r>
            <a:r>
              <a:rPr baseline="-25000" lang="en-US" sz="2400">
                <a:solidFill>
                  <a:schemeClr val="hlink"/>
                </a:solidFill>
                <a:latin typeface="Arial"/>
                <a:ea typeface="Arial"/>
                <a:cs typeface="Arial"/>
                <a:sym typeface="Arial"/>
              </a:rPr>
              <a:t>1</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endParaRPr sz="2400">
              <a:solidFill>
                <a:schemeClr val="hlink"/>
              </a:solidFill>
              <a:latin typeface="Arial"/>
              <a:ea typeface="Arial"/>
              <a:cs typeface="Arial"/>
              <a:sym typeface="Arial"/>
            </a:endParaRPr>
          </a:p>
        </p:txBody>
      </p:sp>
      <p:cxnSp>
        <p:nvCxnSpPr>
          <p:cNvPr id="986" name="Google Shape;986;p60"/>
          <p:cNvCxnSpPr/>
          <p:nvPr/>
        </p:nvCxnSpPr>
        <p:spPr>
          <a:xfrm flipH="1" rot="10800000">
            <a:off x="2476500" y="5613400"/>
            <a:ext cx="255588" cy="236538"/>
          </a:xfrm>
          <a:prstGeom prst="straightConnector1">
            <a:avLst/>
          </a:prstGeom>
          <a:noFill/>
          <a:ln cap="flat" cmpd="sng" w="19050">
            <a:solidFill>
              <a:srgbClr val="FF0000"/>
            </a:solidFill>
            <a:prstDash val="solid"/>
            <a:round/>
            <a:headEnd len="med" w="med" type="none"/>
            <a:tailEnd len="med" w="med" type="none"/>
          </a:ln>
        </p:spPr>
      </p:cxnSp>
      <p:cxnSp>
        <p:nvCxnSpPr>
          <p:cNvPr id="987" name="Google Shape;987;p60"/>
          <p:cNvCxnSpPr/>
          <p:nvPr/>
        </p:nvCxnSpPr>
        <p:spPr>
          <a:xfrm flipH="1" rot="10800000">
            <a:off x="5627688" y="5588000"/>
            <a:ext cx="255587" cy="236538"/>
          </a:xfrm>
          <a:prstGeom prst="straightConnector1">
            <a:avLst/>
          </a:prstGeom>
          <a:noFill/>
          <a:ln cap="flat" cmpd="sng" w="19050">
            <a:solidFill>
              <a:srgbClr val="FF0000"/>
            </a:solidFill>
            <a:prstDash val="solid"/>
            <a:round/>
            <a:headEnd len="med" w="med" type="none"/>
            <a:tailEnd len="med" w="med" type="none"/>
          </a:ln>
        </p:spPr>
      </p:cxnSp>
      <p:cxnSp>
        <p:nvCxnSpPr>
          <p:cNvPr id="988" name="Google Shape;988;p60"/>
          <p:cNvCxnSpPr/>
          <p:nvPr/>
        </p:nvCxnSpPr>
        <p:spPr>
          <a:xfrm flipH="1" rot="10800000">
            <a:off x="4684713" y="5627688"/>
            <a:ext cx="211137" cy="196850"/>
          </a:xfrm>
          <a:prstGeom prst="straightConnector1">
            <a:avLst/>
          </a:prstGeom>
          <a:noFill/>
          <a:ln cap="flat" cmpd="sng" w="19050">
            <a:solidFill>
              <a:srgbClr val="FF0000"/>
            </a:solidFill>
            <a:prstDash val="solid"/>
            <a:round/>
            <a:headEnd len="med" w="med" type="none"/>
            <a:tailEnd len="med" w="med" type="none"/>
          </a:ln>
        </p:spPr>
      </p:cxnSp>
      <p:cxnSp>
        <p:nvCxnSpPr>
          <p:cNvPr id="989" name="Google Shape;989;p60"/>
          <p:cNvCxnSpPr/>
          <p:nvPr/>
        </p:nvCxnSpPr>
        <p:spPr>
          <a:xfrm rot="10800000">
            <a:off x="3652838" y="5607050"/>
            <a:ext cx="106362" cy="92075"/>
          </a:xfrm>
          <a:prstGeom prst="straightConnector1">
            <a:avLst/>
          </a:prstGeom>
          <a:noFill/>
          <a:ln cap="flat" cmpd="sng" w="19050">
            <a:solidFill>
              <a:srgbClr val="FF0000"/>
            </a:solidFill>
            <a:prstDash val="solid"/>
            <a:round/>
            <a:headEnd len="med" w="med" type="none"/>
            <a:tailEnd len="med" w="med" type="none"/>
          </a:ln>
        </p:spPr>
      </p:cxnSp>
      <p:sp>
        <p:nvSpPr>
          <p:cNvPr id="990" name="Google Shape;990;p60"/>
          <p:cNvSpPr txBox="1"/>
          <p:nvPr/>
        </p:nvSpPr>
        <p:spPr>
          <a:xfrm>
            <a:off x="2897188" y="5849938"/>
            <a:ext cx="46577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GM</a:t>
            </a:r>
            <a:r>
              <a:rPr baseline="-25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endParaRPr/>
          </a:p>
        </p:txBody>
      </p:sp>
      <p:sp>
        <p:nvSpPr>
          <p:cNvPr id="991" name="Google Shape;991;p60"/>
          <p:cNvSpPr txBox="1"/>
          <p:nvPr/>
        </p:nvSpPr>
        <p:spPr>
          <a:xfrm>
            <a:off x="1260475" y="6248400"/>
            <a:ext cx="55911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Courier New"/>
                <a:ea typeface="Courier New"/>
                <a:cs typeface="Courier New"/>
                <a:sym typeface="Courier New"/>
              </a:rPr>
              <a:t>∙</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endParaRPr/>
          </a:p>
        </p:txBody>
      </p:sp>
      <p:sp>
        <p:nvSpPr>
          <p:cNvPr id="992" name="Google Shape;992;p60"/>
          <p:cNvSpPr txBox="1"/>
          <p:nvPr/>
        </p:nvSpPr>
        <p:spPr>
          <a:xfrm>
            <a:off x="2065338" y="6070600"/>
            <a:ext cx="958850" cy="830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hlink"/>
                </a:solidFill>
                <a:latin typeface="Arial"/>
                <a:ea typeface="Arial"/>
                <a:cs typeface="Arial"/>
                <a:sym typeface="Arial"/>
              </a:rPr>
              <a:t>4π</a:t>
            </a:r>
            <a:r>
              <a:rPr baseline="30000" lang="en-US" sz="2400" u="sng">
                <a:solidFill>
                  <a:schemeClr val="hlink"/>
                </a:solidFill>
                <a:latin typeface="Arial"/>
                <a:ea typeface="Arial"/>
                <a:cs typeface="Arial"/>
                <a:sym typeface="Arial"/>
              </a:rPr>
              <a:t>2</a:t>
            </a:r>
            <a:endParaRPr sz="2400" u="sng">
              <a:solidFill>
                <a:schemeClr val="hlink"/>
              </a:solidFill>
              <a:latin typeface="Arial"/>
              <a:ea typeface="Arial"/>
              <a:cs typeface="Arial"/>
              <a:sym typeface="Arial"/>
            </a:endParaRPr>
          </a:p>
          <a:p>
            <a:pPr indent="0" lvl="0" marL="0" marR="0" rtl="0" algn="ctr">
              <a:spcBef>
                <a:spcPts val="0"/>
              </a:spcBef>
              <a:spcAft>
                <a:spcPts val="0"/>
              </a:spcAft>
              <a:buNone/>
            </a:pPr>
            <a:r>
              <a:rPr i="1" lang="en-US" sz="2400">
                <a:solidFill>
                  <a:schemeClr val="hlink"/>
                </a:solidFill>
                <a:latin typeface="Arial"/>
                <a:ea typeface="Arial"/>
                <a:cs typeface="Arial"/>
                <a:sym typeface="Arial"/>
              </a:rPr>
              <a:t>GM</a:t>
            </a:r>
            <a:r>
              <a:rPr baseline="-25000" lang="en-US" sz="2400">
                <a:solidFill>
                  <a:schemeClr val="hlink"/>
                </a:solidFill>
                <a:latin typeface="Arial"/>
                <a:ea typeface="Arial"/>
                <a:cs typeface="Arial"/>
                <a:sym typeface="Arial"/>
              </a:rPr>
              <a:t>2</a:t>
            </a:r>
            <a:endParaRPr baseline="30000" sz="2400">
              <a:solidFill>
                <a:schemeClr val="hlink"/>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963"/>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0"/>
                                        </p:tgtEl>
                                        <p:attrNameLst>
                                          <p:attrName>style.visibility</p:attrName>
                                        </p:attrNameLst>
                                      </p:cBhvr>
                                      <p:to>
                                        <p:strVal val="visible"/>
                                      </p:to>
                                    </p:set>
                                    <p:anim calcmode="lin" valueType="num">
                                      <p:cBhvr additive="base">
                                        <p:cTn dur="500"/>
                                        <p:tgtEl>
                                          <p:spTgt spid="98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1">
                                            <p:txEl>
                                              <p:pRg end="0" st="0"/>
                                            </p:txEl>
                                          </p:spTgt>
                                        </p:tgtEl>
                                        <p:attrNameLst>
                                          <p:attrName>style.visibility</p:attrName>
                                        </p:attrNameLst>
                                      </p:cBhvr>
                                      <p:to>
                                        <p:strVal val="visible"/>
                                      </p:to>
                                    </p:set>
                                    <p:anim calcmode="lin" valueType="num">
                                      <p:cBhvr additive="base">
                                        <p:cTn dur="500"/>
                                        <p:tgtEl>
                                          <p:spTgt spid="98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2">
                                            <p:txEl>
                                              <p:pRg end="0" st="0"/>
                                            </p:txEl>
                                          </p:spTgt>
                                        </p:tgtEl>
                                        <p:attrNameLst>
                                          <p:attrName>style.visibility</p:attrName>
                                        </p:attrNameLst>
                                      </p:cBhvr>
                                      <p:to>
                                        <p:strVal val="visible"/>
                                      </p:to>
                                    </p:set>
                                    <p:anim calcmode="lin" valueType="num">
                                      <p:cBhvr additive="base">
                                        <p:cTn dur="500"/>
                                        <p:tgtEl>
                                          <p:spTgt spid="98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3">
                                            <p:txEl>
                                              <p:pRg end="0" st="0"/>
                                            </p:txEl>
                                          </p:spTgt>
                                        </p:tgtEl>
                                        <p:attrNameLst>
                                          <p:attrName>style.visibility</p:attrName>
                                        </p:attrNameLst>
                                      </p:cBhvr>
                                      <p:to>
                                        <p:strVal val="visible"/>
                                      </p:to>
                                    </p:set>
                                    <p:anim calcmode="lin" valueType="num">
                                      <p:cBhvr additive="base">
                                        <p:cTn dur="500"/>
                                        <p:tgtEl>
                                          <p:spTgt spid="98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4">
                                            <p:txEl>
                                              <p:pRg end="0" st="0"/>
                                            </p:txEl>
                                          </p:spTgt>
                                        </p:tgtEl>
                                        <p:attrNameLst>
                                          <p:attrName>style.visibility</p:attrName>
                                        </p:attrNameLst>
                                      </p:cBhvr>
                                      <p:to>
                                        <p:strVal val="visible"/>
                                      </p:to>
                                    </p:set>
                                    <p:anim calcmode="lin" valueType="num">
                                      <p:cBhvr additive="base">
                                        <p:cTn dur="500"/>
                                        <p:tgtEl>
                                          <p:spTgt spid="98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5">
                                            <p:txEl>
                                              <p:pRg end="0" st="0"/>
                                            </p:txEl>
                                          </p:spTgt>
                                        </p:tgtEl>
                                        <p:attrNameLst>
                                          <p:attrName>style.visibility</p:attrName>
                                        </p:attrNameLst>
                                      </p:cBhvr>
                                      <p:to>
                                        <p:strVal val="visible"/>
                                      </p:to>
                                    </p:set>
                                    <p:anim calcmode="lin" valueType="num">
                                      <p:cBhvr additive="base">
                                        <p:cTn dur="500"/>
                                        <p:tgtEl>
                                          <p:spTgt spid="98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7"/>
                                        </p:tgtEl>
                                        <p:attrNameLst>
                                          <p:attrName>style.visibility</p:attrName>
                                        </p:attrNameLst>
                                      </p:cBhvr>
                                      <p:to>
                                        <p:strVal val="visible"/>
                                      </p:to>
                                    </p:set>
                                    <p:animEffect filter="fade" transition="in">
                                      <p:cBhvr>
                                        <p:cTn dur="500"/>
                                        <p:tgtEl>
                                          <p:spTgt spid="9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90">
                                            <p:txEl>
                                              <p:pRg end="0" st="0"/>
                                            </p:txEl>
                                          </p:spTgt>
                                        </p:tgtEl>
                                        <p:attrNameLst>
                                          <p:attrName>style.visibility</p:attrName>
                                        </p:attrNameLst>
                                      </p:cBhvr>
                                      <p:to>
                                        <p:strVal val="visible"/>
                                      </p:to>
                                    </p:set>
                                    <p:anim calcmode="lin" valueType="num">
                                      <p:cBhvr additive="base">
                                        <p:cTn dur="500"/>
                                        <p:tgtEl>
                                          <p:spTgt spid="99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91">
                                            <p:txEl>
                                              <p:pRg end="0" st="0"/>
                                            </p:txEl>
                                          </p:spTgt>
                                        </p:tgtEl>
                                        <p:attrNameLst>
                                          <p:attrName>style.visibility</p:attrName>
                                        </p:attrNameLst>
                                      </p:cBhvr>
                                      <p:to>
                                        <p:strVal val="visible"/>
                                      </p:to>
                                    </p:set>
                                    <p:anim calcmode="lin" valueType="num">
                                      <p:cBhvr additive="base">
                                        <p:cTn dur="500"/>
                                        <p:tgtEl>
                                          <p:spTgt spid="991">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992">
                                            <p:txEl>
                                              <p:pRg end="0" st="0"/>
                                            </p:txEl>
                                          </p:spTgt>
                                        </p:tgtEl>
                                        <p:attrNameLst>
                                          <p:attrName>style.visibility</p:attrName>
                                        </p:attrNameLst>
                                      </p:cBhvr>
                                      <p:to>
                                        <p:strVal val="visible"/>
                                      </p:to>
                                    </p:set>
                                    <p:anim calcmode="lin" valueType="num">
                                      <p:cBhvr additive="base">
                                        <p:cTn dur="500"/>
                                        <p:tgtEl>
                                          <p:spTgt spid="992">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992">
                                            <p:txEl>
                                              <p:pRg end="1" st="1"/>
                                            </p:txEl>
                                          </p:spTgt>
                                        </p:tgtEl>
                                        <p:attrNameLst>
                                          <p:attrName>style.visibility</p:attrName>
                                        </p:attrNameLst>
                                      </p:cBhvr>
                                      <p:to>
                                        <p:strVal val="visible"/>
                                      </p:to>
                                    </p:set>
                                    <p:anim calcmode="lin" valueType="num">
                                      <p:cBhvr additive="base">
                                        <p:cTn dur="500"/>
                                        <p:tgtEl>
                                          <p:spTgt spid="99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61"/>
          <p:cNvSpPr/>
          <p:nvPr/>
        </p:nvSpPr>
        <p:spPr>
          <a:xfrm>
            <a:off x="685800" y="1401763"/>
            <a:ext cx="7772400" cy="441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rgbClr val="333399"/>
                </a:solidFill>
                <a:latin typeface="Arial"/>
                <a:ea typeface="Arial"/>
                <a:cs typeface="Arial"/>
                <a:sym typeface="Arial"/>
              </a:rPr>
              <a:t>Solving problems involving gravitational force</a:t>
            </a:r>
            <a:endParaRPr/>
          </a:p>
        </p:txBody>
      </p:sp>
      <p:sp>
        <p:nvSpPr>
          <p:cNvPr id="999" name="Google Shape;999;p61"/>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D - Fields</a:t>
            </a:r>
            <a:br>
              <a:rPr b="1" lang="en-US" sz="2800"/>
            </a:br>
            <a:r>
              <a:rPr lang="en-US" sz="2800"/>
              <a:t>D.1 Gravitational fields (SL)</a:t>
            </a:r>
            <a:endParaRPr sz="2400">
              <a:solidFill>
                <a:schemeClr val="dk1"/>
              </a:solidFill>
              <a:latin typeface="Courier New"/>
              <a:ea typeface="Courier New"/>
              <a:cs typeface="Courier New"/>
              <a:sym typeface="Courier New"/>
            </a:endParaRPr>
          </a:p>
        </p:txBody>
      </p:sp>
      <p:sp>
        <p:nvSpPr>
          <p:cNvPr id="1000" name="Google Shape;1000;p61"/>
          <p:cNvSpPr/>
          <p:nvPr/>
        </p:nvSpPr>
        <p:spPr>
          <a:xfrm>
            <a:off x="685800" y="1830388"/>
            <a:ext cx="7772400" cy="5027612"/>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1001" name="Google Shape;1001;p61"/>
          <p:cNvPicPr preferRelativeResize="0"/>
          <p:nvPr/>
        </p:nvPicPr>
        <p:blipFill rotWithShape="1">
          <a:blip r:embed="rId3">
            <a:alphaModFix/>
          </a:blip>
          <a:srcRect b="0" l="0" r="0" t="0"/>
          <a:stretch/>
        </p:blipFill>
        <p:spPr>
          <a:xfrm>
            <a:off x="695325" y="1808163"/>
            <a:ext cx="5981700" cy="1843087"/>
          </a:xfrm>
          <a:prstGeom prst="rect">
            <a:avLst/>
          </a:prstGeom>
          <a:noFill/>
          <a:ln>
            <a:noFill/>
          </a:ln>
        </p:spPr>
      </p:pic>
      <p:grpSp>
        <p:nvGrpSpPr>
          <p:cNvPr id="1002" name="Google Shape;1002;p61"/>
          <p:cNvGrpSpPr/>
          <p:nvPr/>
        </p:nvGrpSpPr>
        <p:grpSpPr>
          <a:xfrm>
            <a:off x="6832600" y="2422525"/>
            <a:ext cx="2087563" cy="481013"/>
            <a:chOff x="1599" y="2774"/>
            <a:chExt cx="1315" cy="303"/>
          </a:xfrm>
        </p:grpSpPr>
        <p:sp>
          <p:nvSpPr>
            <p:cNvPr id="1003" name="Google Shape;1003;p61"/>
            <p:cNvSpPr/>
            <p:nvPr/>
          </p:nvSpPr>
          <p:spPr>
            <a:xfrm>
              <a:off x="1599" y="2774"/>
              <a:ext cx="1311" cy="30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04" name="Google Shape;1004;p61"/>
            <p:cNvSpPr/>
            <p:nvPr/>
          </p:nvSpPr>
          <p:spPr>
            <a:xfrm>
              <a:off x="2624" y="2813"/>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05" name="Google Shape;1005;p61"/>
            <p:cNvSpPr txBox="1"/>
            <p:nvPr/>
          </p:nvSpPr>
          <p:spPr>
            <a:xfrm>
              <a:off x="2604" y="2786"/>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2</a:t>
              </a:r>
              <a:endParaRPr sz="2000">
                <a:solidFill>
                  <a:schemeClr val="dk1"/>
                </a:solidFill>
                <a:latin typeface="Arial"/>
                <a:ea typeface="Arial"/>
                <a:cs typeface="Arial"/>
                <a:sym typeface="Arial"/>
              </a:endParaRPr>
            </a:p>
          </p:txBody>
        </p:sp>
        <p:sp>
          <p:nvSpPr>
            <p:cNvPr id="1006" name="Google Shape;1006;p61"/>
            <p:cNvSpPr/>
            <p:nvPr/>
          </p:nvSpPr>
          <p:spPr>
            <a:xfrm>
              <a:off x="1875" y="2812"/>
              <a:ext cx="220" cy="22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07" name="Google Shape;1007;p61"/>
            <p:cNvSpPr txBox="1"/>
            <p:nvPr/>
          </p:nvSpPr>
          <p:spPr>
            <a:xfrm>
              <a:off x="1855" y="2785"/>
              <a:ext cx="310"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a:t>
              </a:r>
              <a:r>
                <a:rPr baseline="-25000" lang="en-US" sz="2000">
                  <a:solidFill>
                    <a:schemeClr val="dk1"/>
                  </a:solidFill>
                  <a:latin typeface="Arial"/>
                  <a:ea typeface="Arial"/>
                  <a:cs typeface="Arial"/>
                  <a:sym typeface="Arial"/>
                </a:rPr>
                <a:t>1</a:t>
              </a:r>
              <a:endParaRPr sz="2000">
                <a:solidFill>
                  <a:schemeClr val="dk1"/>
                </a:solidFill>
                <a:latin typeface="Arial"/>
                <a:ea typeface="Arial"/>
                <a:cs typeface="Arial"/>
                <a:sym typeface="Arial"/>
              </a:endParaRPr>
            </a:p>
          </p:txBody>
        </p:sp>
      </p:grpSp>
      <p:grpSp>
        <p:nvGrpSpPr>
          <p:cNvPr id="1008" name="Google Shape;1008;p61"/>
          <p:cNvGrpSpPr/>
          <p:nvPr/>
        </p:nvGrpSpPr>
        <p:grpSpPr>
          <a:xfrm>
            <a:off x="6832600" y="1773238"/>
            <a:ext cx="2081213" cy="1743075"/>
            <a:chOff x="1599" y="2365"/>
            <a:chExt cx="1311" cy="1098"/>
          </a:xfrm>
        </p:grpSpPr>
        <p:cxnSp>
          <p:nvCxnSpPr>
            <p:cNvPr id="1009" name="Google Shape;1009;p61"/>
            <p:cNvCxnSpPr/>
            <p:nvPr/>
          </p:nvCxnSpPr>
          <p:spPr>
            <a:xfrm>
              <a:off x="2259" y="2365"/>
              <a:ext cx="0" cy="1098"/>
            </a:xfrm>
            <a:prstGeom prst="straightConnector1">
              <a:avLst/>
            </a:prstGeom>
            <a:noFill/>
            <a:ln cap="flat" cmpd="sng" w="9525">
              <a:solidFill>
                <a:schemeClr val="hlink"/>
              </a:solidFill>
              <a:prstDash val="solid"/>
              <a:round/>
              <a:headEnd len="med" w="med" type="none"/>
              <a:tailEnd len="med" w="med" type="none"/>
            </a:ln>
          </p:spPr>
        </p:cxnSp>
        <p:cxnSp>
          <p:nvCxnSpPr>
            <p:cNvPr id="1010" name="Google Shape;1010;p61"/>
            <p:cNvCxnSpPr/>
            <p:nvPr/>
          </p:nvCxnSpPr>
          <p:spPr>
            <a:xfrm>
              <a:off x="1599" y="2925"/>
              <a:ext cx="1311" cy="0"/>
            </a:xfrm>
            <a:prstGeom prst="straightConnector1">
              <a:avLst/>
            </a:prstGeom>
            <a:noFill/>
            <a:ln cap="flat" cmpd="sng" w="9525">
              <a:solidFill>
                <a:schemeClr val="hlink"/>
              </a:solidFill>
              <a:prstDash val="solid"/>
              <a:round/>
              <a:headEnd len="med" w="med" type="none"/>
              <a:tailEnd len="med" w="med" type="none"/>
            </a:ln>
          </p:spPr>
        </p:cxnSp>
        <p:sp>
          <p:nvSpPr>
            <p:cNvPr id="1011" name="Google Shape;1011;p61"/>
            <p:cNvSpPr/>
            <p:nvPr/>
          </p:nvSpPr>
          <p:spPr>
            <a:xfrm>
              <a:off x="1992" y="2646"/>
              <a:ext cx="537" cy="537"/>
            </a:xfrm>
            <a:prstGeom prst="ellipse">
              <a:avLst/>
            </a:prstGeom>
            <a:noFill/>
            <a:ln cap="flat" cmpd="sng" w="9525">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12" name="Google Shape;1012;p61"/>
            <p:cNvSpPr/>
            <p:nvPr/>
          </p:nvSpPr>
          <p:spPr>
            <a:xfrm>
              <a:off x="1771" y="2431"/>
              <a:ext cx="969" cy="969"/>
            </a:xfrm>
            <a:prstGeom prst="ellipse">
              <a:avLst/>
            </a:prstGeom>
            <a:noFill/>
            <a:ln cap="flat" cmpd="sng" w="9525">
              <a:solidFill>
                <a:schemeClr val="dk1"/>
              </a:solidFill>
              <a:prstDash val="lg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13" name="Google Shape;1013;p61"/>
            <p:cNvSpPr/>
            <p:nvPr/>
          </p:nvSpPr>
          <p:spPr>
            <a:xfrm>
              <a:off x="2236" y="2895"/>
              <a:ext cx="56" cy="56"/>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cxnSp>
          <p:nvCxnSpPr>
            <p:cNvPr id="1014" name="Google Shape;1014;p61"/>
            <p:cNvCxnSpPr/>
            <p:nvPr/>
          </p:nvCxnSpPr>
          <p:spPr>
            <a:xfrm rot="10800000">
              <a:off x="2123" y="2683"/>
              <a:ext cx="136" cy="235"/>
            </a:xfrm>
            <a:prstGeom prst="straightConnector1">
              <a:avLst/>
            </a:prstGeom>
            <a:noFill/>
            <a:ln cap="flat" cmpd="sng" w="28575">
              <a:solidFill>
                <a:schemeClr val="dk1"/>
              </a:solidFill>
              <a:prstDash val="solid"/>
              <a:round/>
              <a:headEnd len="med" w="med" type="diamond"/>
              <a:tailEnd len="med" w="med" type="diamond"/>
            </a:ln>
          </p:spPr>
        </p:cxnSp>
        <p:cxnSp>
          <p:nvCxnSpPr>
            <p:cNvPr id="1015" name="Google Shape;1015;p61"/>
            <p:cNvCxnSpPr/>
            <p:nvPr/>
          </p:nvCxnSpPr>
          <p:spPr>
            <a:xfrm flipH="1" rot="10800000">
              <a:off x="2259" y="2683"/>
              <a:ext cx="407" cy="235"/>
            </a:xfrm>
            <a:prstGeom prst="straightConnector1">
              <a:avLst/>
            </a:prstGeom>
            <a:noFill/>
            <a:ln cap="flat" cmpd="sng" w="28575">
              <a:solidFill>
                <a:schemeClr val="dk1"/>
              </a:solidFill>
              <a:prstDash val="solid"/>
              <a:round/>
              <a:headEnd len="med" w="med" type="diamond"/>
              <a:tailEnd len="med" w="med" type="diamond"/>
            </a:ln>
          </p:spPr>
        </p:cxnSp>
        <p:sp>
          <p:nvSpPr>
            <p:cNvPr id="1016" name="Google Shape;1016;p61"/>
            <p:cNvSpPr txBox="1"/>
            <p:nvPr/>
          </p:nvSpPr>
          <p:spPr>
            <a:xfrm>
              <a:off x="1981" y="2680"/>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1</a:t>
              </a:r>
              <a:endParaRPr i="1" sz="2000">
                <a:solidFill>
                  <a:schemeClr val="dk1"/>
                </a:solidFill>
                <a:latin typeface="Arial"/>
                <a:ea typeface="Arial"/>
                <a:cs typeface="Arial"/>
                <a:sym typeface="Arial"/>
              </a:endParaRPr>
            </a:p>
          </p:txBody>
        </p:sp>
        <p:sp>
          <p:nvSpPr>
            <p:cNvPr id="1017" name="Google Shape;1017;p61"/>
            <p:cNvSpPr txBox="1"/>
            <p:nvPr/>
          </p:nvSpPr>
          <p:spPr>
            <a:xfrm>
              <a:off x="2383" y="2504"/>
              <a:ext cx="293"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a:t>
              </a:r>
              <a:r>
                <a:rPr baseline="-25000" lang="en-US" sz="2000">
                  <a:solidFill>
                    <a:schemeClr val="dk1"/>
                  </a:solidFill>
                  <a:latin typeface="Arial"/>
                  <a:ea typeface="Arial"/>
                  <a:cs typeface="Arial"/>
                  <a:sym typeface="Arial"/>
                </a:rPr>
                <a:t>2</a:t>
              </a:r>
              <a:endParaRPr i="1" sz="2000">
                <a:solidFill>
                  <a:schemeClr val="dk1"/>
                </a:solidFill>
                <a:latin typeface="Arial"/>
                <a:ea typeface="Arial"/>
                <a:cs typeface="Arial"/>
                <a:sym typeface="Arial"/>
              </a:endParaRPr>
            </a:p>
          </p:txBody>
        </p:sp>
      </p:grpSp>
      <p:sp>
        <p:nvSpPr>
          <p:cNvPr id="1018" name="Google Shape;1018;p61"/>
          <p:cNvSpPr txBox="1"/>
          <p:nvPr/>
        </p:nvSpPr>
        <p:spPr>
          <a:xfrm>
            <a:off x="7786688" y="2644775"/>
            <a:ext cx="3556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P</a:t>
            </a:r>
            <a:endParaRPr/>
          </a:p>
        </p:txBody>
      </p:sp>
      <p:pic>
        <p:nvPicPr>
          <p:cNvPr id="1019" name="Google Shape;1019;p61"/>
          <p:cNvPicPr preferRelativeResize="0"/>
          <p:nvPr/>
        </p:nvPicPr>
        <p:blipFill rotWithShape="1">
          <a:blip r:embed="rId4">
            <a:alphaModFix/>
          </a:blip>
          <a:srcRect b="0" l="0" r="0" t="0"/>
          <a:stretch/>
        </p:blipFill>
        <p:spPr>
          <a:xfrm>
            <a:off x="698500" y="3629025"/>
            <a:ext cx="7561263" cy="3097213"/>
          </a:xfrm>
          <a:prstGeom prst="rect">
            <a:avLst/>
          </a:prstGeom>
          <a:noFill/>
          <a:ln>
            <a:noFill/>
          </a:ln>
        </p:spPr>
      </p:pic>
      <p:sp>
        <p:nvSpPr>
          <p:cNvPr id="1020" name="Google Shape;1020;p61"/>
          <p:cNvSpPr txBox="1"/>
          <p:nvPr/>
        </p:nvSpPr>
        <p:spPr>
          <a:xfrm>
            <a:off x="1306513" y="4357688"/>
            <a:ext cx="58896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∙From (b) </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(4π</a:t>
            </a:r>
            <a:r>
              <a:rPr baseline="30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 GM</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1021" name="Google Shape;1021;p61"/>
          <p:cNvSpPr txBox="1"/>
          <p:nvPr/>
        </p:nvSpPr>
        <p:spPr>
          <a:xfrm>
            <a:off x="1295400" y="4756150"/>
            <a:ext cx="72151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∙From symmetry </a:t>
            </a:r>
            <a:r>
              <a:rPr i="1" lang="en-US" sz="2400">
                <a:solidFill>
                  <a:schemeClr val="hlink"/>
                </a:solidFill>
                <a:latin typeface="Arial"/>
                <a:ea typeface="Arial"/>
                <a:cs typeface="Arial"/>
                <a:sym typeface="Arial"/>
              </a:rPr>
              <a:t>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GM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a:t>
            </a:r>
            <a:endParaRPr baseline="30000" sz="2400">
              <a:solidFill>
                <a:schemeClr val="hlink"/>
              </a:solidFill>
              <a:latin typeface="Arial"/>
              <a:ea typeface="Arial"/>
              <a:cs typeface="Arial"/>
              <a:sym typeface="Arial"/>
            </a:endParaRPr>
          </a:p>
        </p:txBody>
      </p:sp>
      <p:sp>
        <p:nvSpPr>
          <p:cNvPr id="1022" name="Google Shape;1022;p61"/>
          <p:cNvSpPr txBox="1"/>
          <p:nvPr/>
        </p:nvSpPr>
        <p:spPr>
          <a:xfrm>
            <a:off x="1035050" y="5140325"/>
            <a:ext cx="6954838"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GM</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r>
              <a:rPr lang="en-US" sz="2400">
                <a:solidFill>
                  <a:schemeClr val="hlink"/>
                </a:solidFill>
                <a:latin typeface="Arial"/>
                <a:ea typeface="Arial"/>
                <a:cs typeface="Arial"/>
                <a:sym typeface="Arial"/>
              </a:rPr>
              <a:t> = (4π</a:t>
            </a:r>
            <a:r>
              <a:rPr baseline="30000" lang="en-US" sz="2400">
                <a:solidFill>
                  <a:schemeClr val="hlink"/>
                </a:solidFill>
                <a:latin typeface="Arial"/>
                <a:ea typeface="Arial"/>
                <a:cs typeface="Arial"/>
                <a:sym typeface="Arial"/>
              </a:rPr>
              <a:t>2</a:t>
            </a:r>
            <a:r>
              <a:rPr i="1" lang="en-US" sz="2400">
                <a:solidFill>
                  <a:schemeClr val="hlink"/>
                </a:solidFill>
                <a:latin typeface="Arial"/>
                <a:ea typeface="Arial"/>
                <a:cs typeface="Arial"/>
                <a:sym typeface="Arial"/>
              </a:rPr>
              <a:t>/ GM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baseline="30000" lang="en-US" sz="2400">
                <a:solidFill>
                  <a:schemeClr val="hlink"/>
                </a:solidFill>
                <a:latin typeface="Arial"/>
                <a:ea typeface="Arial"/>
                <a:cs typeface="Arial"/>
                <a:sym typeface="Arial"/>
              </a:rPr>
              <a:t> 2</a:t>
            </a:r>
            <a:endParaRPr sz="2400">
              <a:solidFill>
                <a:schemeClr val="hlink"/>
              </a:solidFill>
              <a:latin typeface="Arial"/>
              <a:ea typeface="Arial"/>
              <a:cs typeface="Arial"/>
              <a:sym typeface="Arial"/>
            </a:endParaRPr>
          </a:p>
        </p:txBody>
      </p:sp>
      <p:cxnSp>
        <p:nvCxnSpPr>
          <p:cNvPr id="1023" name="Google Shape;1023;p61"/>
          <p:cNvCxnSpPr/>
          <p:nvPr/>
        </p:nvCxnSpPr>
        <p:spPr>
          <a:xfrm flipH="1" rot="10800000">
            <a:off x="1266825" y="5275263"/>
            <a:ext cx="449263" cy="206375"/>
          </a:xfrm>
          <a:prstGeom prst="straightConnector1">
            <a:avLst/>
          </a:prstGeom>
          <a:noFill/>
          <a:ln cap="flat" cmpd="sng" w="19050">
            <a:solidFill>
              <a:srgbClr val="FF0000"/>
            </a:solidFill>
            <a:prstDash val="solid"/>
            <a:round/>
            <a:headEnd len="med" w="med" type="none"/>
            <a:tailEnd len="med" w="med" type="none"/>
          </a:ln>
        </p:spPr>
      </p:cxnSp>
      <p:cxnSp>
        <p:nvCxnSpPr>
          <p:cNvPr id="1024" name="Google Shape;1024;p61"/>
          <p:cNvCxnSpPr/>
          <p:nvPr/>
        </p:nvCxnSpPr>
        <p:spPr>
          <a:xfrm flipH="1" rot="10800000">
            <a:off x="4505325" y="5289550"/>
            <a:ext cx="419100" cy="166688"/>
          </a:xfrm>
          <a:prstGeom prst="straightConnector1">
            <a:avLst/>
          </a:prstGeom>
          <a:noFill/>
          <a:ln cap="flat" cmpd="sng" w="19050">
            <a:solidFill>
              <a:srgbClr val="FF0000"/>
            </a:solidFill>
            <a:prstDash val="solid"/>
            <a:round/>
            <a:headEnd len="med" w="med" type="none"/>
            <a:tailEnd len="med" w="med" type="none"/>
          </a:ln>
        </p:spPr>
      </p:cxnSp>
      <p:cxnSp>
        <p:nvCxnSpPr>
          <p:cNvPr id="1025" name="Google Shape;1025;p61"/>
          <p:cNvCxnSpPr/>
          <p:nvPr/>
        </p:nvCxnSpPr>
        <p:spPr>
          <a:xfrm rot="10800000">
            <a:off x="1895475" y="5273675"/>
            <a:ext cx="166688" cy="225425"/>
          </a:xfrm>
          <a:prstGeom prst="straightConnector1">
            <a:avLst/>
          </a:prstGeom>
          <a:noFill/>
          <a:ln cap="flat" cmpd="sng" w="19050">
            <a:solidFill>
              <a:srgbClr val="FF0000"/>
            </a:solidFill>
            <a:prstDash val="solid"/>
            <a:round/>
            <a:headEnd len="med" w="med" type="none"/>
            <a:tailEnd len="med" w="med" type="none"/>
          </a:ln>
        </p:spPr>
      </p:cxnSp>
      <p:cxnSp>
        <p:nvCxnSpPr>
          <p:cNvPr id="1026" name="Google Shape;1026;p61"/>
          <p:cNvCxnSpPr/>
          <p:nvPr/>
        </p:nvCxnSpPr>
        <p:spPr>
          <a:xfrm rot="10800000">
            <a:off x="5202238" y="5246688"/>
            <a:ext cx="166687" cy="225425"/>
          </a:xfrm>
          <a:prstGeom prst="straightConnector1">
            <a:avLst/>
          </a:prstGeom>
          <a:noFill/>
          <a:ln cap="flat" cmpd="sng" w="19050">
            <a:solidFill>
              <a:srgbClr val="FF0000"/>
            </a:solidFill>
            <a:prstDash val="solid"/>
            <a:round/>
            <a:headEnd len="med" w="med" type="none"/>
            <a:tailEnd len="med" w="med" type="none"/>
          </a:ln>
        </p:spPr>
      </p:cxnSp>
      <p:cxnSp>
        <p:nvCxnSpPr>
          <p:cNvPr id="1027" name="Google Shape;1027;p61"/>
          <p:cNvCxnSpPr/>
          <p:nvPr/>
        </p:nvCxnSpPr>
        <p:spPr>
          <a:xfrm flipH="1" rot="10800000">
            <a:off x="2963863" y="5318125"/>
            <a:ext cx="1031875" cy="127000"/>
          </a:xfrm>
          <a:prstGeom prst="straightConnector1">
            <a:avLst/>
          </a:prstGeom>
          <a:noFill/>
          <a:ln cap="flat" cmpd="sng" w="19050">
            <a:solidFill>
              <a:srgbClr val="FF0000"/>
            </a:solidFill>
            <a:prstDash val="solid"/>
            <a:round/>
            <a:headEnd len="med" w="med" type="none"/>
            <a:tailEnd len="med" w="med" type="none"/>
          </a:ln>
        </p:spPr>
      </p:cxnSp>
      <p:cxnSp>
        <p:nvCxnSpPr>
          <p:cNvPr id="1028" name="Google Shape;1028;p61"/>
          <p:cNvCxnSpPr/>
          <p:nvPr/>
        </p:nvCxnSpPr>
        <p:spPr>
          <a:xfrm flipH="1" rot="10800000">
            <a:off x="6327775" y="5303838"/>
            <a:ext cx="1057275" cy="173037"/>
          </a:xfrm>
          <a:prstGeom prst="straightConnector1">
            <a:avLst/>
          </a:prstGeom>
          <a:noFill/>
          <a:ln cap="flat" cmpd="sng" w="19050">
            <a:solidFill>
              <a:srgbClr val="FF0000"/>
            </a:solidFill>
            <a:prstDash val="solid"/>
            <a:round/>
            <a:headEnd len="med" w="med" type="none"/>
            <a:tailEnd len="med" w="med" type="none"/>
          </a:ln>
        </p:spPr>
      </p:cxnSp>
      <p:sp>
        <p:nvSpPr>
          <p:cNvPr id="1029" name="Google Shape;1029;p61"/>
          <p:cNvSpPr txBox="1"/>
          <p:nvPr/>
        </p:nvSpPr>
        <p:spPr>
          <a:xfrm>
            <a:off x="2686050" y="5546725"/>
            <a:ext cx="32464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 </a:t>
            </a:r>
            <a:r>
              <a:rPr i="1" lang="en-US" sz="2400">
                <a:solidFill>
                  <a:schemeClr val="hlink"/>
                </a:solidFill>
                <a:latin typeface="Arial"/>
                <a:ea typeface="Arial"/>
                <a:cs typeface="Arial"/>
                <a:sym typeface="Arial"/>
              </a:rPr>
              <a:t>/ M</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 (1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endParaRPr sz="2400">
              <a:solidFill>
                <a:schemeClr val="hlink"/>
              </a:solidFill>
              <a:latin typeface="Arial"/>
              <a:ea typeface="Arial"/>
              <a:cs typeface="Arial"/>
              <a:sym typeface="Arial"/>
            </a:endParaRPr>
          </a:p>
        </p:txBody>
      </p:sp>
      <p:sp>
        <p:nvSpPr>
          <p:cNvPr id="1030" name="Google Shape;1030;p61"/>
          <p:cNvSpPr txBox="1"/>
          <p:nvPr/>
        </p:nvSpPr>
        <p:spPr>
          <a:xfrm>
            <a:off x="3038475" y="5962650"/>
            <a:ext cx="324643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 </a:t>
            </a:r>
            <a:r>
              <a:rPr i="1"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endParaRPr sz="2400">
              <a:solidFill>
                <a:schemeClr val="hlink"/>
              </a:solidFill>
              <a:latin typeface="Arial"/>
              <a:ea typeface="Arial"/>
              <a:cs typeface="Arial"/>
              <a:sym typeface="Arial"/>
            </a:endParaRPr>
          </a:p>
        </p:txBody>
      </p:sp>
      <p:sp>
        <p:nvSpPr>
          <p:cNvPr id="1031" name="Google Shape;1031;p61"/>
          <p:cNvSpPr txBox="1"/>
          <p:nvPr/>
        </p:nvSpPr>
        <p:spPr>
          <a:xfrm>
            <a:off x="1311275" y="6291263"/>
            <a:ext cx="588962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∙Since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&gt; </a:t>
            </a:r>
            <a:r>
              <a:rPr i="1" lang="en-US" sz="2400">
                <a:solidFill>
                  <a:schemeClr val="hlink"/>
                </a:solidFill>
                <a:latin typeface="Arial"/>
                <a:ea typeface="Arial"/>
                <a:cs typeface="Arial"/>
                <a:sym typeface="Arial"/>
              </a:rPr>
              <a:t>R</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we see that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 &gt; </a:t>
            </a:r>
            <a:r>
              <a:rPr i="1" lang="en-US" sz="2400">
                <a:solidFill>
                  <a:schemeClr val="hlink"/>
                </a:solidFill>
                <a:latin typeface="Arial"/>
                <a:ea typeface="Arial"/>
                <a:cs typeface="Arial"/>
                <a:sym typeface="Arial"/>
              </a:rPr>
              <a:t>M</a:t>
            </a:r>
            <a:r>
              <a:rPr baseline="-25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endParaRPr baseline="-25000" sz="2400">
              <a:solidFill>
                <a:schemeClr val="hlink"/>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1002"/>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9"/>
                                        </p:tgtEl>
                                        <p:attrNameLst>
                                          <p:attrName>style.visibility</p:attrName>
                                        </p:attrNameLst>
                                      </p:cBhvr>
                                      <p:to>
                                        <p:strVal val="visible"/>
                                      </p:to>
                                    </p:set>
                                    <p:anim calcmode="lin" valueType="num">
                                      <p:cBhvr additive="base">
                                        <p:cTn dur="500"/>
                                        <p:tgtEl>
                                          <p:spTgt spid="10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0">
                                            <p:txEl>
                                              <p:pRg end="0" st="0"/>
                                            </p:txEl>
                                          </p:spTgt>
                                        </p:tgtEl>
                                        <p:attrNameLst>
                                          <p:attrName>style.visibility</p:attrName>
                                        </p:attrNameLst>
                                      </p:cBhvr>
                                      <p:to>
                                        <p:strVal val="visible"/>
                                      </p:to>
                                    </p:set>
                                    <p:anim calcmode="lin" valueType="num">
                                      <p:cBhvr additive="base">
                                        <p:cTn dur="500"/>
                                        <p:tgtEl>
                                          <p:spTgt spid="102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1">
                                            <p:txEl>
                                              <p:pRg end="0" st="0"/>
                                            </p:txEl>
                                          </p:spTgt>
                                        </p:tgtEl>
                                        <p:attrNameLst>
                                          <p:attrName>style.visibility</p:attrName>
                                        </p:attrNameLst>
                                      </p:cBhvr>
                                      <p:to>
                                        <p:strVal val="visible"/>
                                      </p:to>
                                    </p:set>
                                    <p:anim calcmode="lin" valueType="num">
                                      <p:cBhvr additive="base">
                                        <p:cTn dur="500"/>
                                        <p:tgtEl>
                                          <p:spTgt spid="102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2">
                                            <p:txEl>
                                              <p:pRg end="0" st="0"/>
                                            </p:txEl>
                                          </p:spTgt>
                                        </p:tgtEl>
                                        <p:attrNameLst>
                                          <p:attrName>style.visibility</p:attrName>
                                        </p:attrNameLst>
                                      </p:cBhvr>
                                      <p:to>
                                        <p:strVal val="visible"/>
                                      </p:to>
                                    </p:set>
                                    <p:anim calcmode="lin" valueType="num">
                                      <p:cBhvr additive="base">
                                        <p:cTn dur="500"/>
                                        <p:tgtEl>
                                          <p:spTgt spid="102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3"/>
                                        </p:tgtEl>
                                        <p:attrNameLst>
                                          <p:attrName>style.visibility</p:attrName>
                                        </p:attrNameLst>
                                      </p:cBhvr>
                                      <p:to>
                                        <p:strVal val="visible"/>
                                      </p:to>
                                    </p:set>
                                    <p:animEffect filter="fade" transition="in">
                                      <p:cBhvr>
                                        <p:cTn dur="500"/>
                                        <p:tgtEl>
                                          <p:spTgt spid="10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4"/>
                                        </p:tgtEl>
                                        <p:attrNameLst>
                                          <p:attrName>style.visibility</p:attrName>
                                        </p:attrNameLst>
                                      </p:cBhvr>
                                      <p:to>
                                        <p:strVal val="visible"/>
                                      </p:to>
                                    </p:set>
                                    <p:animEffect filter="fade" transition="in">
                                      <p:cBhvr>
                                        <p:cTn dur="500"/>
                                        <p:tgtEl>
                                          <p:spTgt spid="10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500"/>
                                        <p:tgtEl>
                                          <p:spTgt spid="10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500"/>
                                        <p:tgtEl>
                                          <p:spTgt spid="10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500"/>
                                        <p:tgtEl>
                                          <p:spTgt spid="10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500"/>
                                        <p:tgtEl>
                                          <p:spTgt spid="10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29">
                                            <p:txEl>
                                              <p:pRg end="0" st="0"/>
                                            </p:txEl>
                                          </p:spTgt>
                                        </p:tgtEl>
                                        <p:attrNameLst>
                                          <p:attrName>style.visibility</p:attrName>
                                        </p:attrNameLst>
                                      </p:cBhvr>
                                      <p:to>
                                        <p:strVal val="visible"/>
                                      </p:to>
                                    </p:set>
                                    <p:anim calcmode="lin" valueType="num">
                                      <p:cBhvr additive="base">
                                        <p:cTn dur="500"/>
                                        <p:tgtEl>
                                          <p:spTgt spid="102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30">
                                            <p:txEl>
                                              <p:pRg end="0" st="0"/>
                                            </p:txEl>
                                          </p:spTgt>
                                        </p:tgtEl>
                                        <p:attrNameLst>
                                          <p:attrName>style.visibility</p:attrName>
                                        </p:attrNameLst>
                                      </p:cBhvr>
                                      <p:to>
                                        <p:strVal val="visible"/>
                                      </p:to>
                                    </p:set>
                                    <p:anim calcmode="lin" valueType="num">
                                      <p:cBhvr additive="base">
                                        <p:cTn dur="500"/>
                                        <p:tgtEl>
                                          <p:spTgt spid="103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31">
                                            <p:txEl>
                                              <p:pRg end="0" st="0"/>
                                            </p:txEl>
                                          </p:spTgt>
                                        </p:tgtEl>
                                        <p:attrNameLst>
                                          <p:attrName>style.visibility</p:attrName>
                                        </p:attrNameLst>
                                      </p:cBhvr>
                                      <p:to>
                                        <p:strVal val="visible"/>
                                      </p:to>
                                    </p:set>
                                    <p:anim calcmode="lin" valueType="num">
                                      <p:cBhvr additive="base">
                                        <p:cTn dur="500"/>
                                        <p:tgtEl>
                                          <p:spTgt spid="10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
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7" name="Google Shape;7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2" name="Google Shape;7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4" name="Google Shape;8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1" name="Google Shape;8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1" name="Google Shape;8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4" name="Google Shape;8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5" name="Google Shape;8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0" name="Google Shape;9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1" name="Google Shape;100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2" name="Google Shape;10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6" name="Google Shape;101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7" name="Google Shape;10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5" name="Google Shape;107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6" name="Google Shape;10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5" name="Google Shape;115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6" name="Google Shape;11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0" name="Google Shape;11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2" name="Google Shape;11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2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3" name="Google Shape;12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4" name="Google Shape;12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7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4" name="Google Shape;12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2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3" name="Google Shape;125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29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0" name="Google Shape;12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3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6" name="Google Shape;12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31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3" name="Google Shape;131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6" name="Google Shape;132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1" name="Google Shape;140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3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7" name="Google Shape;14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2" name="Google Shape;143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3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4" name="Google Shape;14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37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6" name="Google Shape;147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3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3" name="Google Shape;14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39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0" name="Google Shape;15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4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9" name="Google Shape;151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41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1" name="Google Shape;15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3" name="Google Shape;154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4" name="Google Shape;154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8" name="Google Shape;158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9" name="Google Shape;158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0" name="Google Shape;161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1" name="Google Shape;161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5" name="Google Shape;165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6" name="Google Shape;165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5" name="Google Shape;168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6" name="Google Shape;168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8" name="Google Shape;170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9" name="Google Shape;170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2" name="Google Shape;173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3" name="Google Shape;173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7" name="Google Shape;1767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8" name="Google Shape;176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0" name="Google Shape;181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1" name="Google Shape;181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0" name="Google Shape;183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1" name="Google Shape;183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1" name="Google Shape;1851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2" name="Google Shape;185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5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8" name="Google Shape;188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5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7" name="Google Shape;190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5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4" name="Google Shape;192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5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7" name="Google Shape;196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1" name="Google Shape;2001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2" name="Google Shape;200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8" name="Google Shape;2038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9" name="Google Shape;203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4" name="Google Shape;2064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5" name="Google Shape;206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5" name="Google Shape;207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6" name="Google Shape;207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4" name="Google Shape;2084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5" name="Google Shape;208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8" name="Google Shape;2098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9" name="Google Shape;209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8" name="Google Shape;2118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9" name="Google Shape;211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8" name="Google Shape;212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9" name="Google Shape;212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7" name="Google Shape;213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8" name="Google Shape;213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7" name="Google Shape;214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8" name="Google Shape;214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8" name="Google Shape;2158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9" name="Google Shape;215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2" name="Google Shape;218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3" name="Google Shape;218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1" name="Google Shape;2201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2" name="Google Shape;220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3" name="Google Shape;2213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4" name="Google Shape;221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6" name="Google Shape;2226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7" name="Google Shape;222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5" name="Google Shape;2245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6" name="Google Shape;2246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8" name="Google Shape;2258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9" name="Google Shape;225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7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4" name="Google Shape;227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5" name="Google Shape;2295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6" name="Google Shape;229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7" name="Google Shape;2317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8" name="Google Shape;231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2" name="Google Shape;2332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3" name="Google Shape;233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7" name="Google Shape;2357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8" name="Google Shape;235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5" name="Google Shape;2375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6" name="Google Shape;2376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4" name="Google Shape;2394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5" name="Google Shape;2395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7" name="Google Shape;2447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8" name="Google Shape;244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8" name="Google Shape;2498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9" name="Google Shape;249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7" name="Google Shape;2667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8" name="Google Shape;266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6" name="Google Shape;2836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7" name="Google Shape;2837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3" name="Google Shape;2893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4" name="Google Shape;2894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3" name="Google Shape;2943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4" name="Google Shape;294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2" name="Google Shape;304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3" name="Google Shape;3043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1" name="Google Shape;3101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2" name="Google Shape;3102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3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Google Shape;3154;p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5" name="Google Shape;3155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6" name="Google Shape;3156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2" name="Shape 3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Google Shape;3223;p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4" name="Google Shape;3224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5" name="Google Shape;3225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3282;p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3" name="Google Shape;3283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4" name="Google Shape;3284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p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3" name="Google Shape;3293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4" name="Google Shape;3294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p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9" name="Google Shape;3309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0" name="Google Shape;3310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p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5" name="Google Shape;3325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6" name="Google Shape;3326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2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p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4" name="Google Shape;3344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5" name="Google Shape;3345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4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p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6" name="Google Shape;3356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7" name="Google Shape;3357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7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" name="Google Shape;3368;p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9" name="Google Shape;3369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0" name="Google Shape;3370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8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p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0" name="Google Shape;3390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1" name="Google Shape;3391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3" name="Google Shape;3413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4" name="Google Shape;3414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8" name="Google Shape;3428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9" name="Google Shape;3429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p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3" name="Google Shape;3443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4" name="Google Shape;3444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 By Timothy K. Lund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3.jpg"/><Relationship Id="rId5" Type="http://schemas.openxmlformats.org/officeDocument/2006/relationships/hyperlink" Target="about:blank" TargetMode="External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Relationship Id="rId4" Type="http://schemas.openxmlformats.org/officeDocument/2006/relationships/image" Target="../media/image19.jp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2.jpg"/><Relationship Id="rId6" Type="http://schemas.openxmlformats.org/officeDocument/2006/relationships/image" Target="../media/image2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jpg"/><Relationship Id="rId4" Type="http://schemas.openxmlformats.org/officeDocument/2006/relationships/image" Target="../media/image21.jpg"/><Relationship Id="rId5" Type="http://schemas.openxmlformats.org/officeDocument/2006/relationships/image" Target="../media/image41.jpg"/><Relationship Id="rId6" Type="http://schemas.openxmlformats.org/officeDocument/2006/relationships/image" Target="../media/image39.png"/><Relationship Id="rId7" Type="http://schemas.openxmlformats.org/officeDocument/2006/relationships/image" Target="../media/image30.png"/><Relationship Id="rId8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Relationship Id="rId4" Type="http://schemas.openxmlformats.org/officeDocument/2006/relationships/image" Target="../media/image28.jpg"/><Relationship Id="rId5" Type="http://schemas.openxmlformats.org/officeDocument/2006/relationships/image" Target="../media/image31.png"/><Relationship Id="rId6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jpg"/><Relationship Id="rId4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5.png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6.jpg"/><Relationship Id="rId4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Relationship Id="rId4" Type="http://schemas.openxmlformats.org/officeDocument/2006/relationships/image" Target="../media/image49.png"/><Relationship Id="rId5" Type="http://schemas.openxmlformats.org/officeDocument/2006/relationships/image" Target="../media/image46.jpg"/><Relationship Id="rId6" Type="http://schemas.openxmlformats.org/officeDocument/2006/relationships/image" Target="../media/image61.png"/><Relationship Id="rId7" Type="http://schemas.openxmlformats.org/officeDocument/2006/relationships/image" Target="../media/image6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jpg"/><Relationship Id="rId4" Type="http://schemas.openxmlformats.org/officeDocument/2006/relationships/image" Target="../media/image49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71.png"/><Relationship Id="rId8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4.png"/><Relationship Id="rId4" Type="http://schemas.openxmlformats.org/officeDocument/2006/relationships/image" Target="../media/image5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4.png"/><Relationship Id="rId4" Type="http://schemas.openxmlformats.org/officeDocument/2006/relationships/image" Target="../media/image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4.png"/><Relationship Id="rId4" Type="http://schemas.openxmlformats.org/officeDocument/2006/relationships/image" Target="../media/image5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1.png"/><Relationship Id="rId4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1.png"/><Relationship Id="rId4" Type="http://schemas.openxmlformats.org/officeDocument/2006/relationships/image" Target="../media/image5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1.png"/><Relationship Id="rId4" Type="http://schemas.openxmlformats.org/officeDocument/2006/relationships/image" Target="../media/image5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1.png"/><Relationship Id="rId4" Type="http://schemas.openxmlformats.org/officeDocument/2006/relationships/image" Target="../media/image5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jpg"/><Relationship Id="rId4" Type="http://schemas.openxmlformats.org/officeDocument/2006/relationships/image" Target="../media/image49.png"/><Relationship Id="rId11" Type="http://schemas.openxmlformats.org/officeDocument/2006/relationships/image" Target="../media/image73.png"/><Relationship Id="rId10" Type="http://schemas.openxmlformats.org/officeDocument/2006/relationships/image" Target="../media/image71.png"/><Relationship Id="rId12" Type="http://schemas.openxmlformats.org/officeDocument/2006/relationships/image" Target="../media/image77.png"/><Relationship Id="rId9" Type="http://schemas.openxmlformats.org/officeDocument/2006/relationships/image" Target="../media/image72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9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9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3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4.png"/><Relationship Id="rId4" Type="http://schemas.openxmlformats.org/officeDocument/2006/relationships/image" Target="../media/image48.png"/><Relationship Id="rId11" Type="http://schemas.openxmlformats.org/officeDocument/2006/relationships/image" Target="../media/image86.png"/><Relationship Id="rId10" Type="http://schemas.openxmlformats.org/officeDocument/2006/relationships/image" Target="../media/image79.png"/><Relationship Id="rId9" Type="http://schemas.openxmlformats.org/officeDocument/2006/relationships/image" Target="../media/image80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4.png"/><Relationship Id="rId4" Type="http://schemas.openxmlformats.org/officeDocument/2006/relationships/image" Target="../media/image48.png"/><Relationship Id="rId11" Type="http://schemas.openxmlformats.org/officeDocument/2006/relationships/image" Target="../media/image87.png"/><Relationship Id="rId10" Type="http://schemas.openxmlformats.org/officeDocument/2006/relationships/image" Target="../media/image81.png"/><Relationship Id="rId9" Type="http://schemas.openxmlformats.org/officeDocument/2006/relationships/image" Target="../media/image85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jpg"/><Relationship Id="rId4" Type="http://schemas.openxmlformats.org/officeDocument/2006/relationships/image" Target="../media/image49.png"/><Relationship Id="rId11" Type="http://schemas.openxmlformats.org/officeDocument/2006/relationships/image" Target="../media/image73.png"/><Relationship Id="rId10" Type="http://schemas.openxmlformats.org/officeDocument/2006/relationships/image" Target="../media/image71.png"/><Relationship Id="rId12" Type="http://schemas.openxmlformats.org/officeDocument/2006/relationships/image" Target="../media/image77.png"/><Relationship Id="rId9" Type="http://schemas.openxmlformats.org/officeDocument/2006/relationships/image" Target="../media/image9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jpg"/><Relationship Id="rId4" Type="http://schemas.openxmlformats.org/officeDocument/2006/relationships/image" Target="../media/image49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5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6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6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9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8.png"/><Relationship Id="rId4" Type="http://schemas.openxmlformats.org/officeDocument/2006/relationships/image" Target="../media/image28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2.jpg"/><Relationship Id="rId4" Type="http://schemas.openxmlformats.org/officeDocument/2006/relationships/image" Target="../media/image10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2.jpg"/><Relationship Id="rId4" Type="http://schemas.openxmlformats.org/officeDocument/2006/relationships/image" Target="../media/image103.png"/><Relationship Id="rId5" Type="http://schemas.openxmlformats.org/officeDocument/2006/relationships/image" Target="../media/image102.gif"/><Relationship Id="rId6" Type="http://schemas.openxmlformats.org/officeDocument/2006/relationships/image" Target="../media/image107.png"/><Relationship Id="rId7" Type="http://schemas.openxmlformats.org/officeDocument/2006/relationships/image" Target="../media/image10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5.png"/><Relationship Id="rId4" Type="http://schemas.openxmlformats.org/officeDocument/2006/relationships/image" Target="../media/image4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05.png"/><Relationship Id="rId4" Type="http://schemas.openxmlformats.org/officeDocument/2006/relationships/image" Target="../media/image4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05.png"/><Relationship Id="rId4" Type="http://schemas.openxmlformats.org/officeDocument/2006/relationships/image" Target="../media/image4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05.png"/><Relationship Id="rId4" Type="http://schemas.openxmlformats.org/officeDocument/2006/relationships/image" Target="../media/image4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05.png"/><Relationship Id="rId4" Type="http://schemas.openxmlformats.org/officeDocument/2006/relationships/image" Target="../media/image4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5.png"/><Relationship Id="rId4" Type="http://schemas.openxmlformats.org/officeDocument/2006/relationships/image" Target="../media/image4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4.png"/><Relationship Id="rId4" Type="http://schemas.openxmlformats.org/officeDocument/2006/relationships/image" Target="../media/image48.png"/><Relationship Id="rId5" Type="http://schemas.openxmlformats.org/officeDocument/2006/relationships/image" Target="../media/image37.png"/><Relationship Id="rId6" Type="http://schemas.openxmlformats.org/officeDocument/2006/relationships/image" Target="../media/image25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22.png"/><Relationship Id="rId4" Type="http://schemas.openxmlformats.org/officeDocument/2006/relationships/image" Target="../media/image12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4.png"/><Relationship Id="rId4" Type="http://schemas.openxmlformats.org/officeDocument/2006/relationships/image" Target="../media/image11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1.png"/><Relationship Id="rId4" Type="http://schemas.openxmlformats.org/officeDocument/2006/relationships/image" Target="../media/image13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3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3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3.png"/><Relationship Id="rId4" Type="http://schemas.openxmlformats.org/officeDocument/2006/relationships/image" Target="../media/image125.png"/><Relationship Id="rId5" Type="http://schemas.openxmlformats.org/officeDocument/2006/relationships/image" Target="../media/image11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0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84.png"/><Relationship Id="rId7" Type="http://schemas.openxmlformats.org/officeDocument/2006/relationships/image" Target="../media/image3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5" Type="http://schemas.openxmlformats.org/officeDocument/2006/relationships/image" Target="../media/image84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6.jpg"/><Relationship Id="rId4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84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27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15.png"/><Relationship Id="rId4" Type="http://schemas.openxmlformats.org/officeDocument/2006/relationships/image" Target="../media/image114.png"/><Relationship Id="rId5" Type="http://schemas.openxmlformats.org/officeDocument/2006/relationships/image" Target="../media/image118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28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30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30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685800" y="1549400"/>
            <a:ext cx="7772400" cy="231467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Guiding questions</a:t>
            </a:r>
            <a:endParaRPr/>
          </a:p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charged particles flow through materials?</a:t>
            </a:r>
            <a:endParaRPr/>
          </a:p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are the electrical properties of materials quantified?</a:t>
            </a:r>
            <a:endParaRPr/>
          </a:p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consequences of resistance in conductors?</a:t>
            </a:r>
            <a:endParaRPr/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85800" y="1549400"/>
            <a:ext cx="7880906" cy="521378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Understandings: 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Students should understand: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that cells provide a source of emf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chemical cells and solar cells as the energy source in circuits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that circuit diagrams represent the arrangement of components in a circuit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direct current (dc) I as a flow of charge carriers as given by I = Δq/Δt</a:t>
            </a:r>
            <a:endParaRPr b="0" i="0" sz="2400" u="none" cap="none" strike="noStrike">
              <a:solidFill>
                <a:srgbClr val="333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that the electric potential difference V is the work done per unit charge on moving a positive charge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between two points along the path of the current as given by V = W/q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the properties of electrical conductors and insulators in terms of mobility of charge carriers</a:t>
            </a:r>
            <a:endParaRPr/>
          </a:p>
        </p:txBody>
      </p:sp>
      <p:sp>
        <p:nvSpPr>
          <p:cNvPr id="97" name="Google Shape;97;p14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685800" y="1549400"/>
            <a:ext cx="7880906" cy="521378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Understandings: 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Students should understand: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electric resistance and its origin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electrical resistance R as given by R = V/I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resistivity as given by ρ = RA/L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Ohm’s law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the ohmic and non-ohmic behaviour of electrical conductors, including the heating effect of resistors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•electrical power P dissipated by a resistor as given by P = IV = I</a:t>
            </a:r>
            <a:r>
              <a:rPr b="0" baseline="3000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R = V</a:t>
            </a:r>
            <a:r>
              <a:rPr b="0" baseline="3000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/R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the combinations of resistors in series and parallel circuits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that electric cells are characterized by their emf ε and internal resistance r as given by ε = I(R + 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• that resistors can have variable resistance.</a:t>
            </a:r>
            <a:endParaRPr/>
          </a:p>
        </p:txBody>
      </p:sp>
      <p:sp>
        <p:nvSpPr>
          <p:cNvPr id="104" name="Google Shape;104;p1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685800" y="1549400"/>
            <a:ext cx="7772400" cy="459435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booklet reference:</a:t>
            </a:r>
            <a:endParaRPr/>
          </a:p>
          <a:p>
            <a:pPr indent="-625475" lvl="0" marL="625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21" y="2184454"/>
            <a:ext cx="2091413" cy="343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4655" y="2368553"/>
            <a:ext cx="4470134" cy="2836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a simplified atomic model, electrons                           orbit about a central nucleus: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∙As long as the number                                                      of electrons equals the                                                 number of protons, an                                                     atom is neutral.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electron is                                                    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atom,                                               the atom has a net (+)                                                   charge and becomes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 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electron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atom, the atom has a net (-) charge and is called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negative 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6710363" y="1995488"/>
            <a:ext cx="2309812" cy="85566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160838" y="2927350"/>
            <a:ext cx="4860925" cy="24653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189538" y="4211638"/>
            <a:ext cx="201612" cy="201612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rgbClr val="7600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551363" y="5022850"/>
            <a:ext cx="16541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HYDROGEN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7077075" y="5030788"/>
            <a:ext cx="1625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BERYLLIUM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443538" y="4708525"/>
            <a:ext cx="95250" cy="952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7764463" y="4192588"/>
            <a:ext cx="201612" cy="201612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rgbClr val="7600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7912100" y="4143375"/>
            <a:ext cx="201613" cy="201613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934325" y="4027488"/>
            <a:ext cx="201613" cy="201612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rgbClr val="7600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821613" y="3917950"/>
            <a:ext cx="201612" cy="201613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7720013" y="3895725"/>
            <a:ext cx="201612" cy="201613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rgbClr val="7600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7616825" y="3976688"/>
            <a:ext cx="201613" cy="201612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621588" y="4100513"/>
            <a:ext cx="201612" cy="201612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rgbClr val="7600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7767638" y="4051300"/>
            <a:ext cx="201612" cy="201613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06B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120063" y="3797300"/>
            <a:ext cx="96837" cy="9683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7600950" y="3800475"/>
            <a:ext cx="96838" cy="9683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8562975" y="4581525"/>
            <a:ext cx="96838" cy="9683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046913" y="4562475"/>
            <a:ext cx="96837" cy="9683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277100" y="3567113"/>
            <a:ext cx="1141413" cy="1141412"/>
          </a:xfrm>
          <a:prstGeom prst="ellipse">
            <a:avLst/>
          </a:prstGeom>
          <a:solidFill>
            <a:srgbClr val="DDDDDD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873875" y="3173413"/>
            <a:ext cx="1874838" cy="1874837"/>
          </a:xfrm>
          <a:prstGeom prst="ellipse">
            <a:avLst/>
          </a:prstGeom>
          <a:solidFill>
            <a:srgbClr val="DDDDDD">
              <a:alpha val="1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3440907" y="4320381"/>
            <a:ext cx="17922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 E U T R A L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 rot="-5400000">
            <a:off x="5812632" y="4296569"/>
            <a:ext cx="1792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 E U T R A L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899275" y="2967038"/>
            <a:ext cx="1876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POSITIVE ION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751388" y="4010025"/>
            <a:ext cx="88900" cy="889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356100" y="2984500"/>
            <a:ext cx="19907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NEGATIVE ION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711700" y="3711575"/>
            <a:ext cx="1141413" cy="1141413"/>
          </a:xfrm>
          <a:prstGeom prst="ellipse">
            <a:avLst/>
          </a:prstGeom>
          <a:solidFill>
            <a:srgbClr val="DDDDDD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7115175" y="1958975"/>
            <a:ext cx="1530350" cy="396875"/>
            <a:chOff x="3266" y="1446"/>
            <a:chExt cx="964" cy="250"/>
          </a:xfrm>
        </p:grpSpPr>
        <p:sp>
          <p:nvSpPr>
            <p:cNvPr id="147" name="Google Shape;147;p17"/>
            <p:cNvSpPr/>
            <p:nvPr/>
          </p:nvSpPr>
          <p:spPr>
            <a:xfrm>
              <a:off x="3266" y="1518"/>
              <a:ext cx="127" cy="127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3400" y="1446"/>
              <a:ext cx="8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Proton (+)</a:t>
              </a:r>
              <a:endParaRPr/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7116763" y="2206625"/>
            <a:ext cx="1687512" cy="396875"/>
            <a:chOff x="3267" y="1602"/>
            <a:chExt cx="1063" cy="250"/>
          </a:xfrm>
        </p:grpSpPr>
        <p:sp>
          <p:nvSpPr>
            <p:cNvPr id="150" name="Google Shape;150;p17"/>
            <p:cNvSpPr/>
            <p:nvPr/>
          </p:nvSpPr>
          <p:spPr>
            <a:xfrm>
              <a:off x="3267" y="1674"/>
              <a:ext cx="127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006B6B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3406" y="1602"/>
              <a:ext cx="92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Neutron (0)</a:t>
              </a:r>
              <a:endParaRPr/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7202488" y="2500313"/>
            <a:ext cx="1568450" cy="396875"/>
            <a:chOff x="3321" y="1787"/>
            <a:chExt cx="988" cy="250"/>
          </a:xfrm>
        </p:grpSpPr>
        <p:sp>
          <p:nvSpPr>
            <p:cNvPr id="153" name="Google Shape;153;p17"/>
            <p:cNvSpPr/>
            <p:nvPr/>
          </p:nvSpPr>
          <p:spPr>
            <a:xfrm>
              <a:off x="3321" y="1883"/>
              <a:ext cx="60" cy="6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dk1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3403" y="1787"/>
              <a:ext cx="90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Electron (-)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– the elementary charge </a:t>
            </a: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∙Although we like to consider the charge                            of an electron -1 and the charge of a                            proton +1, it turns out the actual charge                              of each is given in terms of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elementary charge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Sir William Crookes used his cathode ray tube                  to demonstrate the electrons were negatively              charged.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Physicists Robert Millikan and Harvey Fletcher performed the famous oil-drop experiment to           determine the actual value of the charge of an          electron in 1909 (see details at the end of D.2)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grpSp>
        <p:nvGrpSpPr>
          <p:cNvPr id="161" name="Google Shape;161;p18"/>
          <p:cNvGrpSpPr/>
          <p:nvPr/>
        </p:nvGrpSpPr>
        <p:grpSpPr>
          <a:xfrm>
            <a:off x="809625" y="3530600"/>
            <a:ext cx="7464425" cy="457200"/>
            <a:chOff x="510" y="2224"/>
            <a:chExt cx="4702" cy="288"/>
          </a:xfrm>
        </p:grpSpPr>
        <p:sp>
          <p:nvSpPr>
            <p:cNvPr id="162" name="Google Shape;162;p18"/>
            <p:cNvSpPr/>
            <p:nvPr/>
          </p:nvSpPr>
          <p:spPr>
            <a:xfrm>
              <a:off x="592" y="2237"/>
              <a:ext cx="2412" cy="2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1.60×10</a:t>
              </a:r>
              <a:r>
                <a:rPr b="0" baseline="30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-19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3089" y="2224"/>
              <a:ext cx="2123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elementary charge</a:t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510" y="2226"/>
              <a:ext cx="4701" cy="2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File:Millikan.jpg" id="165" name="Google Shape;165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5363" y="4152900"/>
            <a:ext cx="1611312" cy="22796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File:Crookes tube-in use-lateral view-standing cross prPNr°11.jpg" id="166" name="Google Shape;166;p18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6200" y="1117600"/>
            <a:ext cx="2538413" cy="19034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simple experiment can demonstrate not only the “creation” of charges, but a simple force rule.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we rub a rubber balloon on a piece of wool, the balloon strips electrons from the wool, and captures them.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the wool becomes (+) and the balloon (-).</a:t>
            </a:r>
            <a:endParaRPr/>
          </a:p>
        </p:txBody>
      </p:sp>
      <p:sp>
        <p:nvSpPr>
          <p:cNvPr id="172" name="Google Shape;172;p1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descr="ANd9GcSwMvNLFJD78HKd0nHg_ZauKVAJra4M_3fNYY9-nmLiHFWQo4XswQ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288" y="4268788"/>
            <a:ext cx="2466975" cy="18478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ANd9GcQ-41jbzHwLqGXWuZHco_MO1Wh5ig8MpkDa5ZcRcLkGlDj8YmiBB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9038" y="4281488"/>
            <a:ext cx="2466975" cy="18478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1475" y="4252646"/>
            <a:ext cx="15525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9513" y="4263759"/>
            <a:ext cx="15430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– the charge law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find that the green and the                                    orange balloons repel each other.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find that the wool samples                                       repel each other.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can thus state that </a:t>
            </a: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like                                     charges repel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grpSp>
        <p:nvGrpSpPr>
          <p:cNvPr id="183" name="Google Shape;183;p20"/>
          <p:cNvGrpSpPr/>
          <p:nvPr/>
        </p:nvGrpSpPr>
        <p:grpSpPr>
          <a:xfrm>
            <a:off x="1665288" y="2262188"/>
            <a:ext cx="2466975" cy="1847850"/>
            <a:chOff x="1049" y="2449"/>
            <a:chExt cx="1554" cy="1164"/>
          </a:xfrm>
        </p:grpSpPr>
        <p:pic>
          <p:nvPicPr>
            <p:cNvPr descr="ANd9GcSwMvNLFJD78HKd0nHg_ZauKVAJra4M_3fNYY9-nmLiHFWQo4XswQ" id="184" name="Google Shape;18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9" y="2449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185" name="Google Shape;185;p20"/>
            <p:cNvGrpSpPr/>
            <p:nvPr/>
          </p:nvGrpSpPr>
          <p:grpSpPr>
            <a:xfrm rot="10800000">
              <a:off x="1220" y="2539"/>
              <a:ext cx="1281" cy="981"/>
              <a:chOff x="1500" y="621"/>
              <a:chExt cx="1281" cy="981"/>
            </a:xfrm>
          </p:grpSpPr>
          <p:grpSp>
            <p:nvGrpSpPr>
              <p:cNvPr id="186" name="Google Shape;186;p20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187" name="Google Shape;18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8" name="Google Shape;18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89" name="Google Shape;189;p20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190" name="Google Shape;190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1" name="Google Shape;191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2" name="Google Shape;192;p20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193" name="Google Shape;193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4" name="Google Shape;194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5" name="Google Shape;195;p20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196" name="Google Shape;196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7" name="Google Shape;197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8" name="Google Shape;198;p20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199" name="Google Shape;199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0" name="Google Shape;200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01" name="Google Shape;201;p20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202" name="Google Shape;202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3" name="Google Shape;203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04" name="Google Shape;204;p20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205" name="Google Shape;20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" name="Google Shape;20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07" name="Google Shape;207;p20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208" name="Google Shape;208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9" name="Google Shape;209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10" name="Google Shape;210;p20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211" name="Google Shape;211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2" name="Google Shape;212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13" name="Google Shape;213;p20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214" name="Google Shape;214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5" name="Google Shape;215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16" name="Google Shape;216;p20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217" name="Google Shape;21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8" name="Google Shape;21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19" name="Google Shape;219;p20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220" name="Google Shape;220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1" name="Google Shape;221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22" name="Google Shape;222;p20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223" name="Google Shape;223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4" name="Google Shape;224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25" name="Google Shape;225;p20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226" name="Google Shape;226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" name="Google Shape;227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28" name="Google Shape;228;p20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229" name="Google Shape;229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0" name="Google Shape;230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231" name="Google Shape;231;p20"/>
          <p:cNvGrpSpPr/>
          <p:nvPr/>
        </p:nvGrpSpPr>
        <p:grpSpPr>
          <a:xfrm>
            <a:off x="4999038" y="2262188"/>
            <a:ext cx="2466975" cy="1847850"/>
            <a:chOff x="3149" y="2457"/>
            <a:chExt cx="1554" cy="1164"/>
          </a:xfrm>
        </p:grpSpPr>
        <p:pic>
          <p:nvPicPr>
            <p:cNvPr descr="ANd9GcQ-41jbzHwLqGXWuZHco_MO1Wh5ig8MpkDa5ZcRcLkGlDj8YmiBBg" id="232" name="Google Shape;23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9" y="2457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233" name="Google Shape;233;p20"/>
            <p:cNvGrpSpPr/>
            <p:nvPr/>
          </p:nvGrpSpPr>
          <p:grpSpPr>
            <a:xfrm>
              <a:off x="3275" y="2579"/>
              <a:ext cx="1281" cy="981"/>
              <a:chOff x="1500" y="621"/>
              <a:chExt cx="1281" cy="981"/>
            </a:xfrm>
          </p:grpSpPr>
          <p:grpSp>
            <p:nvGrpSpPr>
              <p:cNvPr id="234" name="Google Shape;234;p20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235" name="Google Shape;23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" name="Google Shape;23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37" name="Google Shape;237;p20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238" name="Google Shape;238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" name="Google Shape;239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0" name="Google Shape;240;p20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241" name="Google Shape;241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" name="Google Shape;242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3" name="Google Shape;243;p20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244" name="Google Shape;244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5" name="Google Shape;245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6" name="Google Shape;246;p20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247" name="Google Shape;24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" name="Google Shape;24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9" name="Google Shape;249;p20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250" name="Google Shape;250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" name="Google Shape;251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2" name="Google Shape;252;p20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253" name="Google Shape;253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" name="Google Shape;254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5" name="Google Shape;255;p20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256" name="Google Shape;256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" name="Google Shape;257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8" name="Google Shape;258;p20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259" name="Google Shape;259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" name="Google Shape;260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1" name="Google Shape;261;p20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262" name="Google Shape;262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3" name="Google Shape;263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4" name="Google Shape;264;p20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265" name="Google Shape;26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6" name="Google Shape;26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7" name="Google Shape;267;p20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268" name="Google Shape;268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" name="Google Shape;269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70" name="Google Shape;270;p20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271" name="Google Shape;271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2" name="Google Shape;272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73" name="Google Shape;273;p20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274" name="Google Shape;274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5" name="Google Shape;275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76" name="Google Shape;276;p20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277" name="Google Shape;27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8" name="Google Shape;27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279" name="Google Shape;279;p20"/>
          <p:cNvGrpSpPr/>
          <p:nvPr/>
        </p:nvGrpSpPr>
        <p:grpSpPr>
          <a:xfrm>
            <a:off x="1641475" y="2246313"/>
            <a:ext cx="1552575" cy="1905000"/>
            <a:chOff x="1034" y="2439"/>
            <a:chExt cx="978" cy="1200"/>
          </a:xfrm>
        </p:grpSpPr>
        <p:pic>
          <p:nvPicPr>
            <p:cNvPr id="280" name="Google Shape;280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4" y="2439"/>
              <a:ext cx="978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" name="Google Shape;281;p20"/>
            <p:cNvGrpSpPr/>
            <p:nvPr/>
          </p:nvGrpSpPr>
          <p:grpSpPr>
            <a:xfrm>
              <a:off x="1155" y="2602"/>
              <a:ext cx="734" cy="780"/>
              <a:chOff x="2367" y="2617"/>
              <a:chExt cx="734" cy="780"/>
            </a:xfrm>
          </p:grpSpPr>
          <p:cxnSp>
            <p:nvCxnSpPr>
              <p:cNvPr id="282" name="Google Shape;282;p20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20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20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20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20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20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20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20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20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20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20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20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20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20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20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97" name="Google Shape;297;p20"/>
          <p:cNvGrpSpPr/>
          <p:nvPr/>
        </p:nvGrpSpPr>
        <p:grpSpPr>
          <a:xfrm>
            <a:off x="4989513" y="2244725"/>
            <a:ext cx="1543050" cy="1905000"/>
            <a:chOff x="3143" y="2446"/>
            <a:chExt cx="972" cy="1200"/>
          </a:xfrm>
        </p:grpSpPr>
        <p:pic>
          <p:nvPicPr>
            <p:cNvPr id="298" name="Google Shape;298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3" y="2446"/>
              <a:ext cx="972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" name="Google Shape;299;p20"/>
            <p:cNvGrpSpPr/>
            <p:nvPr/>
          </p:nvGrpSpPr>
          <p:grpSpPr>
            <a:xfrm rot="10800000">
              <a:off x="3248" y="2596"/>
              <a:ext cx="734" cy="780"/>
              <a:chOff x="2367" y="2617"/>
              <a:chExt cx="734" cy="780"/>
            </a:xfrm>
          </p:grpSpPr>
          <p:cxnSp>
            <p:nvCxnSpPr>
              <p:cNvPr id="300" name="Google Shape;300;p20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20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20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" name="Google Shape;303;p20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20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" name="Google Shape;305;p20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20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20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" name="Google Shape;308;p20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" name="Google Shape;309;p20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" name="Google Shape;310;p20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" name="Google Shape;311;p20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" name="Google Shape;312;p20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" name="Google Shape;313;p20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" name="Google Shape;314;p20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15" name="Google Shape;315;p20"/>
          <p:cNvGrpSpPr/>
          <p:nvPr/>
        </p:nvGrpSpPr>
        <p:grpSpPr>
          <a:xfrm>
            <a:off x="6334125" y="4279900"/>
            <a:ext cx="804863" cy="987425"/>
            <a:chOff x="1034" y="2439"/>
            <a:chExt cx="978" cy="1200"/>
          </a:xfrm>
        </p:grpSpPr>
        <p:pic>
          <p:nvPicPr>
            <p:cNvPr id="316" name="Google Shape;31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4" y="2439"/>
              <a:ext cx="978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7" name="Google Shape;317;p20"/>
            <p:cNvGrpSpPr/>
            <p:nvPr/>
          </p:nvGrpSpPr>
          <p:grpSpPr>
            <a:xfrm>
              <a:off x="1155" y="2602"/>
              <a:ext cx="734" cy="780"/>
              <a:chOff x="2367" y="2617"/>
              <a:chExt cx="734" cy="780"/>
            </a:xfrm>
          </p:grpSpPr>
          <p:cxnSp>
            <p:nvCxnSpPr>
              <p:cNvPr id="318" name="Google Shape;318;p20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" name="Google Shape;319;p20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20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" name="Google Shape;321;p20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" name="Google Shape;322;p20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" name="Google Shape;323;p20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20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20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20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20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20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20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20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20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20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33" name="Google Shape;333;p20"/>
          <p:cNvGrpSpPr/>
          <p:nvPr/>
        </p:nvGrpSpPr>
        <p:grpSpPr>
          <a:xfrm>
            <a:off x="7594600" y="4281488"/>
            <a:ext cx="800100" cy="987425"/>
            <a:chOff x="3143" y="2446"/>
            <a:chExt cx="972" cy="1200"/>
          </a:xfrm>
        </p:grpSpPr>
        <p:pic>
          <p:nvPicPr>
            <p:cNvPr id="334" name="Google Shape;334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3" y="2446"/>
              <a:ext cx="972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" name="Google Shape;335;p20"/>
            <p:cNvGrpSpPr/>
            <p:nvPr/>
          </p:nvGrpSpPr>
          <p:grpSpPr>
            <a:xfrm rot="10800000">
              <a:off x="3248" y="2596"/>
              <a:ext cx="734" cy="780"/>
              <a:chOff x="2367" y="2617"/>
              <a:chExt cx="734" cy="780"/>
            </a:xfrm>
          </p:grpSpPr>
          <p:cxnSp>
            <p:nvCxnSpPr>
              <p:cNvPr id="336" name="Google Shape;336;p20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" name="Google Shape;337;p20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" name="Google Shape;338;p20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" name="Google Shape;339;p20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" name="Google Shape;340;p20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" name="Google Shape;341;p20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20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20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20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20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20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20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20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20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20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51" name="Google Shape;351;p20"/>
          <p:cNvGrpSpPr/>
          <p:nvPr/>
        </p:nvGrpSpPr>
        <p:grpSpPr>
          <a:xfrm rot="5400000">
            <a:off x="6045994" y="5530056"/>
            <a:ext cx="1409700" cy="1055688"/>
            <a:chOff x="1049" y="2449"/>
            <a:chExt cx="1554" cy="1164"/>
          </a:xfrm>
        </p:grpSpPr>
        <p:pic>
          <p:nvPicPr>
            <p:cNvPr descr="ANd9GcSwMvNLFJD78HKd0nHg_ZauKVAJra4M_3fNYY9-nmLiHFWQo4XswQ" id="352" name="Google Shape;35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9" y="2449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353" name="Google Shape;353;p20"/>
            <p:cNvGrpSpPr/>
            <p:nvPr/>
          </p:nvGrpSpPr>
          <p:grpSpPr>
            <a:xfrm rot="10800000">
              <a:off x="1220" y="2539"/>
              <a:ext cx="1281" cy="981"/>
              <a:chOff x="1500" y="621"/>
              <a:chExt cx="1281" cy="981"/>
            </a:xfrm>
          </p:grpSpPr>
          <p:grpSp>
            <p:nvGrpSpPr>
              <p:cNvPr id="354" name="Google Shape;354;p20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355" name="Google Shape;35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6" name="Google Shape;35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57" name="Google Shape;357;p20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358" name="Google Shape;358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9" name="Google Shape;359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60" name="Google Shape;360;p20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361" name="Google Shape;361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" name="Google Shape;362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63" name="Google Shape;363;p20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364" name="Google Shape;364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5" name="Google Shape;365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66" name="Google Shape;366;p20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367" name="Google Shape;36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8" name="Google Shape;36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69" name="Google Shape;369;p20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370" name="Google Shape;370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1" name="Google Shape;371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2" name="Google Shape;372;p20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373" name="Google Shape;373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4" name="Google Shape;374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5" name="Google Shape;375;p20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376" name="Google Shape;376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7" name="Google Shape;377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8" name="Google Shape;378;p20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379" name="Google Shape;379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0" name="Google Shape;380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81" name="Google Shape;381;p20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382" name="Google Shape;382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3" name="Google Shape;383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84" name="Google Shape;384;p20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385" name="Google Shape;38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" name="Google Shape;38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87" name="Google Shape;387;p20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388" name="Google Shape;388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9" name="Google Shape;389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90" name="Google Shape;390;p20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391" name="Google Shape;391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" name="Google Shape;392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93" name="Google Shape;393;p20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394" name="Google Shape;394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5" name="Google Shape;395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96" name="Google Shape;396;p20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397" name="Google Shape;39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8" name="Google Shape;39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399" name="Google Shape;399;p20"/>
          <p:cNvGrpSpPr/>
          <p:nvPr/>
        </p:nvGrpSpPr>
        <p:grpSpPr>
          <a:xfrm rot="5400000">
            <a:off x="7331869" y="5515769"/>
            <a:ext cx="1409700" cy="1055688"/>
            <a:chOff x="3149" y="2457"/>
            <a:chExt cx="1554" cy="1164"/>
          </a:xfrm>
        </p:grpSpPr>
        <p:pic>
          <p:nvPicPr>
            <p:cNvPr descr="ANd9GcQ-41jbzHwLqGXWuZHco_MO1Wh5ig8MpkDa5ZcRcLkGlDj8YmiBBg" id="400" name="Google Shape;40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9" y="2457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401" name="Google Shape;401;p20"/>
            <p:cNvGrpSpPr/>
            <p:nvPr/>
          </p:nvGrpSpPr>
          <p:grpSpPr>
            <a:xfrm>
              <a:off x="3275" y="2579"/>
              <a:ext cx="1281" cy="981"/>
              <a:chOff x="1500" y="621"/>
              <a:chExt cx="1281" cy="981"/>
            </a:xfrm>
          </p:grpSpPr>
          <p:grpSp>
            <p:nvGrpSpPr>
              <p:cNvPr id="402" name="Google Shape;402;p20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403" name="Google Shape;403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4" name="Google Shape;404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05" name="Google Shape;405;p20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406" name="Google Shape;406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7" name="Google Shape;407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08" name="Google Shape;408;p20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409" name="Google Shape;409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" name="Google Shape;410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11" name="Google Shape;411;p20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412" name="Google Shape;412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" name="Google Shape;413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14" name="Google Shape;414;p20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415" name="Google Shape;41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6" name="Google Shape;41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17" name="Google Shape;417;p20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418" name="Google Shape;418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" name="Google Shape;419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20" name="Google Shape;420;p20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421" name="Google Shape;421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" name="Google Shape;422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23" name="Google Shape;423;p20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424" name="Google Shape;424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5" name="Google Shape;425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26" name="Google Shape;426;p20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427" name="Google Shape;427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" name="Google Shape;428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29" name="Google Shape;429;p20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430" name="Google Shape;430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1" name="Google Shape;431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32" name="Google Shape;432;p20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433" name="Google Shape;433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4" name="Google Shape;434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35" name="Google Shape;435;p20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436" name="Google Shape;436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7" name="Google Shape;437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38" name="Google Shape;438;p20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439" name="Google Shape;439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0" name="Google Shape;440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41" name="Google Shape;441;p20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442" name="Google Shape;442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" name="Google Shape;443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44" name="Google Shape;444;p20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445" name="Google Shape;445;p20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6" name="Google Shape;446;p20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cxnSp>
        <p:nvCxnSpPr>
          <p:cNvPr id="447" name="Google Shape;447;p20"/>
          <p:cNvCxnSpPr/>
          <p:nvPr/>
        </p:nvCxnSpPr>
        <p:spPr>
          <a:xfrm>
            <a:off x="8359775" y="4756150"/>
            <a:ext cx="347663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20"/>
          <p:cNvCxnSpPr/>
          <p:nvPr/>
        </p:nvCxnSpPr>
        <p:spPr>
          <a:xfrm rot="10800000">
            <a:off x="6019800" y="4757738"/>
            <a:ext cx="347663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20"/>
          <p:cNvCxnSpPr/>
          <p:nvPr/>
        </p:nvCxnSpPr>
        <p:spPr>
          <a:xfrm>
            <a:off x="8562975" y="6021388"/>
            <a:ext cx="34766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0"/>
          <p:cNvCxnSpPr/>
          <p:nvPr/>
        </p:nvCxnSpPr>
        <p:spPr>
          <a:xfrm rot="10800000">
            <a:off x="5854700" y="6022975"/>
            <a:ext cx="34766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the charge law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also find that the balloons are                          attracted to the wool samples, any                                 way we combine them.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can thus state that </a:t>
            </a: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unlike                                 charges attract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56" name="Google Shape;456;p2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grpSp>
        <p:nvGrpSpPr>
          <p:cNvPr id="457" name="Google Shape;457;p21"/>
          <p:cNvGrpSpPr/>
          <p:nvPr/>
        </p:nvGrpSpPr>
        <p:grpSpPr>
          <a:xfrm>
            <a:off x="1665288" y="2262188"/>
            <a:ext cx="2466975" cy="1847850"/>
            <a:chOff x="1049" y="2449"/>
            <a:chExt cx="1554" cy="1164"/>
          </a:xfrm>
        </p:grpSpPr>
        <p:pic>
          <p:nvPicPr>
            <p:cNvPr descr="ANd9GcSwMvNLFJD78HKd0nHg_ZauKVAJra4M_3fNYY9-nmLiHFWQo4XswQ" id="458" name="Google Shape;45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9" y="2449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459" name="Google Shape;459;p21"/>
            <p:cNvGrpSpPr/>
            <p:nvPr/>
          </p:nvGrpSpPr>
          <p:grpSpPr>
            <a:xfrm rot="10800000">
              <a:off x="1220" y="2539"/>
              <a:ext cx="1281" cy="981"/>
              <a:chOff x="1500" y="621"/>
              <a:chExt cx="1281" cy="981"/>
            </a:xfrm>
          </p:grpSpPr>
          <p:grpSp>
            <p:nvGrpSpPr>
              <p:cNvPr id="460" name="Google Shape;460;p21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461" name="Google Shape;46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2" name="Google Shape;46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63" name="Google Shape;463;p21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464" name="Google Shape;464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5" name="Google Shape;465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66" name="Google Shape;466;p21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467" name="Google Shape;467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8" name="Google Shape;468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69" name="Google Shape;469;p21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470" name="Google Shape;470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1" name="Google Shape;471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72" name="Google Shape;472;p21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473" name="Google Shape;473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4" name="Google Shape;474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75" name="Google Shape;475;p21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476" name="Google Shape;476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7" name="Google Shape;477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78" name="Google Shape;478;p21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479" name="Google Shape;47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" name="Google Shape;48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81" name="Google Shape;481;p21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482" name="Google Shape;482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3" name="Google Shape;483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84" name="Google Shape;484;p21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485" name="Google Shape;485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6" name="Google Shape;486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87" name="Google Shape;487;p21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488" name="Google Shape;488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9" name="Google Shape;489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90" name="Google Shape;490;p21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491" name="Google Shape;49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2" name="Google Shape;49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93" name="Google Shape;493;p21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494" name="Google Shape;494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5" name="Google Shape;495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96" name="Google Shape;496;p21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497" name="Google Shape;497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8" name="Google Shape;498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99" name="Google Shape;499;p21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500" name="Google Shape;500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1" name="Google Shape;501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02" name="Google Shape;502;p21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503" name="Google Shape;503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4" name="Google Shape;504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505" name="Google Shape;505;p21"/>
          <p:cNvGrpSpPr/>
          <p:nvPr/>
        </p:nvGrpSpPr>
        <p:grpSpPr>
          <a:xfrm>
            <a:off x="4999038" y="2262188"/>
            <a:ext cx="2466975" cy="1847850"/>
            <a:chOff x="3149" y="2457"/>
            <a:chExt cx="1554" cy="1164"/>
          </a:xfrm>
        </p:grpSpPr>
        <p:pic>
          <p:nvPicPr>
            <p:cNvPr descr="ANd9GcQ-41jbzHwLqGXWuZHco_MO1Wh5ig8MpkDa5ZcRcLkGlDj8YmiBBg" id="506" name="Google Shape;5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9" y="2457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507" name="Google Shape;507;p21"/>
            <p:cNvGrpSpPr/>
            <p:nvPr/>
          </p:nvGrpSpPr>
          <p:grpSpPr>
            <a:xfrm>
              <a:off x="3275" y="2579"/>
              <a:ext cx="1281" cy="981"/>
              <a:chOff x="1500" y="621"/>
              <a:chExt cx="1281" cy="981"/>
            </a:xfrm>
          </p:grpSpPr>
          <p:grpSp>
            <p:nvGrpSpPr>
              <p:cNvPr id="508" name="Google Shape;508;p21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509" name="Google Shape;50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0" name="Google Shape;51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11" name="Google Shape;511;p21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512" name="Google Shape;512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3" name="Google Shape;513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14" name="Google Shape;514;p21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515" name="Google Shape;515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" name="Google Shape;516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17" name="Google Shape;517;p21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518" name="Google Shape;518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" name="Google Shape;519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20" name="Google Shape;520;p21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521" name="Google Shape;52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2" name="Google Shape;52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23" name="Google Shape;523;p21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524" name="Google Shape;524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5" name="Google Shape;525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26" name="Google Shape;526;p21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527" name="Google Shape;527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8" name="Google Shape;528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29" name="Google Shape;529;p21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530" name="Google Shape;530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1" name="Google Shape;531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2" name="Google Shape;532;p21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533" name="Google Shape;533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4" name="Google Shape;534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5" name="Google Shape;535;p21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536" name="Google Shape;536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" name="Google Shape;537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8" name="Google Shape;538;p21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539" name="Google Shape;53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" name="Google Shape;54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41" name="Google Shape;541;p21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542" name="Google Shape;542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3" name="Google Shape;543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44" name="Google Shape;544;p21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545" name="Google Shape;545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6" name="Google Shape;546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47" name="Google Shape;547;p21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548" name="Google Shape;548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9" name="Google Shape;549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50" name="Google Shape;550;p21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551" name="Google Shape;55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2" name="Google Shape;55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553" name="Google Shape;553;p21"/>
          <p:cNvGrpSpPr/>
          <p:nvPr/>
        </p:nvGrpSpPr>
        <p:grpSpPr>
          <a:xfrm>
            <a:off x="1641475" y="2246313"/>
            <a:ext cx="1552575" cy="1905000"/>
            <a:chOff x="1034" y="2439"/>
            <a:chExt cx="978" cy="1200"/>
          </a:xfrm>
        </p:grpSpPr>
        <p:pic>
          <p:nvPicPr>
            <p:cNvPr id="554" name="Google Shape;55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4" y="2439"/>
              <a:ext cx="978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5" name="Google Shape;555;p21"/>
            <p:cNvGrpSpPr/>
            <p:nvPr/>
          </p:nvGrpSpPr>
          <p:grpSpPr>
            <a:xfrm>
              <a:off x="1155" y="2602"/>
              <a:ext cx="734" cy="780"/>
              <a:chOff x="2367" y="2617"/>
              <a:chExt cx="734" cy="780"/>
            </a:xfrm>
          </p:grpSpPr>
          <p:cxnSp>
            <p:nvCxnSpPr>
              <p:cNvPr id="556" name="Google Shape;556;p21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21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21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21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21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" name="Google Shape;561;p21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" name="Google Shape;562;p21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" name="Google Shape;563;p21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" name="Google Shape;564;p21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21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21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21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21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21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21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71" name="Google Shape;571;p21"/>
          <p:cNvGrpSpPr/>
          <p:nvPr/>
        </p:nvGrpSpPr>
        <p:grpSpPr>
          <a:xfrm>
            <a:off x="4989513" y="2244725"/>
            <a:ext cx="1543050" cy="1905000"/>
            <a:chOff x="3143" y="2446"/>
            <a:chExt cx="972" cy="1200"/>
          </a:xfrm>
        </p:grpSpPr>
        <p:pic>
          <p:nvPicPr>
            <p:cNvPr id="572" name="Google Shape;57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3" y="2446"/>
              <a:ext cx="972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3" name="Google Shape;573;p21"/>
            <p:cNvGrpSpPr/>
            <p:nvPr/>
          </p:nvGrpSpPr>
          <p:grpSpPr>
            <a:xfrm rot="10800000">
              <a:off x="3248" y="2596"/>
              <a:ext cx="734" cy="780"/>
              <a:chOff x="2367" y="2617"/>
              <a:chExt cx="734" cy="780"/>
            </a:xfrm>
          </p:grpSpPr>
          <p:cxnSp>
            <p:nvCxnSpPr>
              <p:cNvPr id="574" name="Google Shape;574;p21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21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21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21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" name="Google Shape;578;p21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" name="Google Shape;579;p21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" name="Google Shape;580;p21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21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" name="Google Shape;582;p21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" name="Google Shape;583;p21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4" name="Google Shape;584;p21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21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" name="Google Shape;586;p21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" name="Google Shape;587;p21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8" name="Google Shape;588;p21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89" name="Google Shape;589;p21"/>
          <p:cNvGrpSpPr/>
          <p:nvPr/>
        </p:nvGrpSpPr>
        <p:grpSpPr>
          <a:xfrm>
            <a:off x="6030913" y="5702300"/>
            <a:ext cx="804862" cy="987425"/>
            <a:chOff x="1034" y="2439"/>
            <a:chExt cx="978" cy="1200"/>
          </a:xfrm>
        </p:grpSpPr>
        <p:pic>
          <p:nvPicPr>
            <p:cNvPr id="590" name="Google Shape;590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4" y="2439"/>
              <a:ext cx="978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1" name="Google Shape;591;p21"/>
            <p:cNvGrpSpPr/>
            <p:nvPr/>
          </p:nvGrpSpPr>
          <p:grpSpPr>
            <a:xfrm>
              <a:off x="1155" y="2602"/>
              <a:ext cx="734" cy="780"/>
              <a:chOff x="2367" y="2617"/>
              <a:chExt cx="734" cy="780"/>
            </a:xfrm>
          </p:grpSpPr>
          <p:cxnSp>
            <p:nvCxnSpPr>
              <p:cNvPr id="592" name="Google Shape;592;p21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" name="Google Shape;593;p21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" name="Google Shape;594;p21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5" name="Google Shape;595;p21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21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21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21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21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21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21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21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21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21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21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21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07" name="Google Shape;607;p21"/>
          <p:cNvGrpSpPr/>
          <p:nvPr/>
        </p:nvGrpSpPr>
        <p:grpSpPr>
          <a:xfrm>
            <a:off x="7785100" y="4281488"/>
            <a:ext cx="800100" cy="987425"/>
            <a:chOff x="3143" y="2446"/>
            <a:chExt cx="972" cy="1200"/>
          </a:xfrm>
        </p:grpSpPr>
        <p:pic>
          <p:nvPicPr>
            <p:cNvPr id="608" name="Google Shape;608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43" y="2446"/>
              <a:ext cx="972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09" name="Google Shape;609;p21"/>
            <p:cNvGrpSpPr/>
            <p:nvPr/>
          </p:nvGrpSpPr>
          <p:grpSpPr>
            <a:xfrm rot="10800000">
              <a:off x="3248" y="2596"/>
              <a:ext cx="734" cy="780"/>
              <a:chOff x="2367" y="2617"/>
              <a:chExt cx="734" cy="780"/>
            </a:xfrm>
          </p:grpSpPr>
          <p:cxnSp>
            <p:nvCxnSpPr>
              <p:cNvPr id="610" name="Google Shape;610;p21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21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" name="Google Shape;612;p21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" name="Google Shape;613;p21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4" name="Google Shape;614;p21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5" name="Google Shape;615;p21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6" name="Google Shape;616;p21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" name="Google Shape;617;p21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" name="Google Shape;618;p21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21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21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1" name="Google Shape;621;p21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2" name="Google Shape;622;p21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21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" name="Google Shape;624;p21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25" name="Google Shape;625;p21"/>
          <p:cNvGrpSpPr/>
          <p:nvPr/>
        </p:nvGrpSpPr>
        <p:grpSpPr>
          <a:xfrm rot="5400000">
            <a:off x="5753894" y="4363244"/>
            <a:ext cx="1409700" cy="1055688"/>
            <a:chOff x="1049" y="2449"/>
            <a:chExt cx="1554" cy="1164"/>
          </a:xfrm>
        </p:grpSpPr>
        <p:pic>
          <p:nvPicPr>
            <p:cNvPr descr="ANd9GcSwMvNLFJD78HKd0nHg_ZauKVAJra4M_3fNYY9-nmLiHFWQo4XswQ" id="626" name="Google Shape;62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9" y="2449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627" name="Google Shape;627;p21"/>
            <p:cNvGrpSpPr/>
            <p:nvPr/>
          </p:nvGrpSpPr>
          <p:grpSpPr>
            <a:xfrm rot="10800000">
              <a:off x="1220" y="2539"/>
              <a:ext cx="1281" cy="981"/>
              <a:chOff x="1500" y="621"/>
              <a:chExt cx="1281" cy="981"/>
            </a:xfrm>
          </p:grpSpPr>
          <p:grpSp>
            <p:nvGrpSpPr>
              <p:cNvPr id="628" name="Google Shape;628;p21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629" name="Google Shape;62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0" name="Google Shape;63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31" name="Google Shape;631;p21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632" name="Google Shape;632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3" name="Google Shape;633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34" name="Google Shape;634;p21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635" name="Google Shape;635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6" name="Google Shape;636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37" name="Google Shape;637;p21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638" name="Google Shape;638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" name="Google Shape;639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40" name="Google Shape;640;p21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641" name="Google Shape;64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2" name="Google Shape;64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43" name="Google Shape;643;p21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644" name="Google Shape;644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5" name="Google Shape;645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46" name="Google Shape;646;p21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647" name="Google Shape;647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8" name="Google Shape;648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49" name="Google Shape;649;p21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650" name="Google Shape;650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1" name="Google Shape;651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52" name="Google Shape;652;p21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653" name="Google Shape;653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4" name="Google Shape;654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55" name="Google Shape;655;p21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656" name="Google Shape;656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7" name="Google Shape;657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58" name="Google Shape;658;p21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659" name="Google Shape;65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0" name="Google Shape;66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1" name="Google Shape;661;p21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662" name="Google Shape;662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3" name="Google Shape;663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4" name="Google Shape;664;p21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665" name="Google Shape;665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" name="Google Shape;666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7" name="Google Shape;667;p21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668" name="Google Shape;668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9" name="Google Shape;669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0" name="Google Shape;670;p21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671" name="Google Shape;67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2" name="Google Shape;67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673" name="Google Shape;673;p21"/>
          <p:cNvGrpSpPr/>
          <p:nvPr/>
        </p:nvGrpSpPr>
        <p:grpSpPr>
          <a:xfrm rot="5400000">
            <a:off x="7522369" y="5515769"/>
            <a:ext cx="1409700" cy="1055688"/>
            <a:chOff x="3149" y="2457"/>
            <a:chExt cx="1554" cy="1164"/>
          </a:xfrm>
        </p:grpSpPr>
        <p:pic>
          <p:nvPicPr>
            <p:cNvPr descr="ANd9GcQ-41jbzHwLqGXWuZHco_MO1Wh5ig8MpkDa5ZcRcLkGlDj8YmiBBg" id="674" name="Google Shape;67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9" y="2457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675" name="Google Shape;675;p21"/>
            <p:cNvGrpSpPr/>
            <p:nvPr/>
          </p:nvGrpSpPr>
          <p:grpSpPr>
            <a:xfrm>
              <a:off x="3275" y="2579"/>
              <a:ext cx="1281" cy="981"/>
              <a:chOff x="1500" y="621"/>
              <a:chExt cx="1281" cy="981"/>
            </a:xfrm>
          </p:grpSpPr>
          <p:grpSp>
            <p:nvGrpSpPr>
              <p:cNvPr id="676" name="Google Shape;676;p21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677" name="Google Shape;677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8" name="Google Shape;678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79" name="Google Shape;679;p21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680" name="Google Shape;680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1" name="Google Shape;681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82" name="Google Shape;682;p21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683" name="Google Shape;683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4" name="Google Shape;684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85" name="Google Shape;685;p21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686" name="Google Shape;686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7" name="Google Shape;687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88" name="Google Shape;688;p21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689" name="Google Shape;68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" name="Google Shape;69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1" name="Google Shape;691;p21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692" name="Google Shape;692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" name="Google Shape;693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4" name="Google Shape;694;p21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695" name="Google Shape;695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6" name="Google Shape;696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7" name="Google Shape;697;p21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698" name="Google Shape;698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" name="Google Shape;699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0" name="Google Shape;700;p21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701" name="Google Shape;701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2" name="Google Shape;702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3" name="Google Shape;703;p21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704" name="Google Shape;704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5" name="Google Shape;705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6" name="Google Shape;706;p21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707" name="Google Shape;707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8" name="Google Shape;708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09" name="Google Shape;709;p21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710" name="Google Shape;710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1" name="Google Shape;711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2" name="Google Shape;712;p21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713" name="Google Shape;713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4" name="Google Shape;714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5" name="Google Shape;715;p21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716" name="Google Shape;716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" name="Google Shape;717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8" name="Google Shape;718;p21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719" name="Google Shape;719;p21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" name="Google Shape;720;p21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cxnSp>
        <p:nvCxnSpPr>
          <p:cNvPr id="721" name="Google Shape;721;p21"/>
          <p:cNvCxnSpPr/>
          <p:nvPr/>
        </p:nvCxnSpPr>
        <p:spPr>
          <a:xfrm>
            <a:off x="7480300" y="4756150"/>
            <a:ext cx="347663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2" name="Google Shape;722;p21"/>
          <p:cNvCxnSpPr/>
          <p:nvPr/>
        </p:nvCxnSpPr>
        <p:spPr>
          <a:xfrm rot="10800000">
            <a:off x="6799263" y="6180138"/>
            <a:ext cx="347662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3" name="Google Shape;723;p21"/>
          <p:cNvCxnSpPr/>
          <p:nvPr/>
        </p:nvCxnSpPr>
        <p:spPr>
          <a:xfrm>
            <a:off x="7345363" y="6021388"/>
            <a:ext cx="34766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4" name="Google Shape;724;p21"/>
          <p:cNvCxnSpPr/>
          <p:nvPr/>
        </p:nvCxnSpPr>
        <p:spPr>
          <a:xfrm rot="10800000">
            <a:off x="6981825" y="4856163"/>
            <a:ext cx="34766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2"/>
          <p:cNvSpPr/>
          <p:nvPr/>
        </p:nvSpPr>
        <p:spPr>
          <a:xfrm>
            <a:off x="679450" y="3584575"/>
            <a:ext cx="7772400" cy="327342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well to state here that the charge                         law is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represents some sort of behavior involving a physical property called “charge.”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(+) and (-) to represent these properties only because they are convenient and familiar to us.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Topic 7 we will learn of another type of charge called color charge. A 3-color model will be used then.</a:t>
            </a:r>
            <a:endParaRPr/>
          </a:p>
        </p:txBody>
      </p:sp>
      <p:sp>
        <p:nvSpPr>
          <p:cNvPr id="730" name="Google Shape;730;p22"/>
          <p:cNvSpPr/>
          <p:nvPr/>
        </p:nvSpPr>
        <p:spPr>
          <a:xfrm>
            <a:off x="685800" y="1549400"/>
            <a:ext cx="7772400" cy="20351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the charge law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previous slides tell us then that there are two types of charge: positive and negative.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∙And that </a:t>
            </a: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like charges repel and                              unlike charges attract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731" name="Google Shape;731;p2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732" name="Google Shape;732;p22"/>
          <p:cNvSpPr/>
          <p:nvPr/>
        </p:nvSpPr>
        <p:spPr>
          <a:xfrm>
            <a:off x="6407150" y="2449513"/>
            <a:ext cx="1828800" cy="18049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22"/>
          <p:cNvGrpSpPr/>
          <p:nvPr/>
        </p:nvGrpSpPr>
        <p:grpSpPr>
          <a:xfrm>
            <a:off x="6832600" y="3236913"/>
            <a:ext cx="171450" cy="171450"/>
            <a:chOff x="690" y="2749"/>
            <a:chExt cx="108" cy="108"/>
          </a:xfrm>
        </p:grpSpPr>
        <p:sp>
          <p:nvSpPr>
            <p:cNvPr id="734" name="Google Shape;734;p22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5" name="Google Shape;735;p22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6" name="Google Shape;736;p22"/>
          <p:cNvGrpSpPr/>
          <p:nvPr/>
        </p:nvGrpSpPr>
        <p:grpSpPr>
          <a:xfrm>
            <a:off x="7593013" y="2798763"/>
            <a:ext cx="171450" cy="171450"/>
            <a:chOff x="690" y="2749"/>
            <a:chExt cx="108" cy="108"/>
          </a:xfrm>
        </p:grpSpPr>
        <p:sp>
          <p:nvSpPr>
            <p:cNvPr id="737" name="Google Shape;737;p22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8" name="Google Shape;738;p22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9" name="Google Shape;739;p22"/>
          <p:cNvGrpSpPr/>
          <p:nvPr/>
        </p:nvGrpSpPr>
        <p:grpSpPr>
          <a:xfrm>
            <a:off x="6838950" y="2798763"/>
            <a:ext cx="171450" cy="171450"/>
            <a:chOff x="690" y="2749"/>
            <a:chExt cx="108" cy="108"/>
          </a:xfrm>
        </p:grpSpPr>
        <p:sp>
          <p:nvSpPr>
            <p:cNvPr id="740" name="Google Shape;740;p22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1" name="Google Shape;741;p22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2" name="Google Shape;742;p22"/>
          <p:cNvGrpSpPr/>
          <p:nvPr/>
        </p:nvGrpSpPr>
        <p:grpSpPr>
          <a:xfrm>
            <a:off x="7602538" y="3241675"/>
            <a:ext cx="171450" cy="171450"/>
            <a:chOff x="4589" y="702"/>
            <a:chExt cx="108" cy="108"/>
          </a:xfrm>
        </p:grpSpPr>
        <p:sp>
          <p:nvSpPr>
            <p:cNvPr id="743" name="Google Shape;743;p22"/>
            <p:cNvSpPr/>
            <p:nvPr/>
          </p:nvSpPr>
          <p:spPr>
            <a:xfrm>
              <a:off x="4589" y="702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4" name="Google Shape;744;p22"/>
            <p:cNvCxnSpPr/>
            <p:nvPr/>
          </p:nvCxnSpPr>
          <p:spPr>
            <a:xfrm>
              <a:off x="4618" y="753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22"/>
            <p:cNvCxnSpPr/>
            <p:nvPr/>
          </p:nvCxnSpPr>
          <p:spPr>
            <a:xfrm rot="5400000">
              <a:off x="4621" y="75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6" name="Google Shape;746;p22"/>
          <p:cNvGrpSpPr/>
          <p:nvPr/>
        </p:nvGrpSpPr>
        <p:grpSpPr>
          <a:xfrm>
            <a:off x="6850063" y="3665538"/>
            <a:ext cx="171450" cy="171450"/>
            <a:chOff x="4589" y="702"/>
            <a:chExt cx="108" cy="108"/>
          </a:xfrm>
        </p:grpSpPr>
        <p:sp>
          <p:nvSpPr>
            <p:cNvPr id="747" name="Google Shape;747;p22"/>
            <p:cNvSpPr/>
            <p:nvPr/>
          </p:nvSpPr>
          <p:spPr>
            <a:xfrm>
              <a:off x="4589" y="702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" name="Google Shape;748;p22"/>
            <p:cNvCxnSpPr/>
            <p:nvPr/>
          </p:nvCxnSpPr>
          <p:spPr>
            <a:xfrm>
              <a:off x="4618" y="753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22"/>
            <p:cNvCxnSpPr/>
            <p:nvPr/>
          </p:nvCxnSpPr>
          <p:spPr>
            <a:xfrm rot="5400000">
              <a:off x="4621" y="75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50" name="Google Shape;750;p22"/>
          <p:cNvGrpSpPr/>
          <p:nvPr/>
        </p:nvGrpSpPr>
        <p:grpSpPr>
          <a:xfrm>
            <a:off x="7607300" y="3656013"/>
            <a:ext cx="171450" cy="171450"/>
            <a:chOff x="4589" y="702"/>
            <a:chExt cx="108" cy="108"/>
          </a:xfrm>
        </p:grpSpPr>
        <p:sp>
          <p:nvSpPr>
            <p:cNvPr id="751" name="Google Shape;751;p22"/>
            <p:cNvSpPr/>
            <p:nvPr/>
          </p:nvSpPr>
          <p:spPr>
            <a:xfrm>
              <a:off x="4589" y="702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2" name="Google Shape;752;p22"/>
            <p:cNvCxnSpPr/>
            <p:nvPr/>
          </p:nvCxnSpPr>
          <p:spPr>
            <a:xfrm>
              <a:off x="4618" y="753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22"/>
            <p:cNvCxnSpPr/>
            <p:nvPr/>
          </p:nvCxnSpPr>
          <p:spPr>
            <a:xfrm rot="5400000">
              <a:off x="4621" y="75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54" name="Google Shape;754;p22"/>
          <p:cNvCxnSpPr/>
          <p:nvPr/>
        </p:nvCxnSpPr>
        <p:spPr>
          <a:xfrm>
            <a:off x="7766050" y="2873375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5" name="Google Shape;755;p22"/>
          <p:cNvCxnSpPr/>
          <p:nvPr/>
        </p:nvCxnSpPr>
        <p:spPr>
          <a:xfrm rot="10800000">
            <a:off x="6605588" y="287655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6" name="Google Shape;756;p22"/>
          <p:cNvCxnSpPr/>
          <p:nvPr/>
        </p:nvCxnSpPr>
        <p:spPr>
          <a:xfrm>
            <a:off x="7002463" y="333375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22"/>
          <p:cNvCxnSpPr/>
          <p:nvPr/>
        </p:nvCxnSpPr>
        <p:spPr>
          <a:xfrm rot="10800000">
            <a:off x="7362825" y="3325813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22"/>
          <p:cNvCxnSpPr/>
          <p:nvPr/>
        </p:nvCxnSpPr>
        <p:spPr>
          <a:xfrm>
            <a:off x="7781925" y="3732213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22"/>
          <p:cNvCxnSpPr/>
          <p:nvPr/>
        </p:nvCxnSpPr>
        <p:spPr>
          <a:xfrm rot="10800000">
            <a:off x="6621463" y="3748088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3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the conservation of charge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you compare the original                                        balloon-wool sample pairings you                                    will see that for every (-) transferred                                  to the balloon, there is exactly one                                     (+) left behind on the wool.</a:t>
            </a:r>
            <a:endParaRPr/>
          </a:p>
          <a:p>
            <a:pPr indent="0" lvl="0" marL="0" marR="0" rtl="0" algn="l"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∙Careful observation shows us that                                there are 15 (+) charges on the wool,                               and 15 (-) charges on the balloon for                                  a total (or net) charge of ZERO.</a:t>
            </a:r>
            <a:endParaRPr/>
          </a:p>
          <a:p>
            <a:pPr indent="0" lvl="0" marL="0" marR="0" rtl="0" algn="l">
              <a:spcBef>
                <a:spcPts val="288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∙Given that neither the wool nor the                              balloon had any net charge before the                        rubbing process, we see that we have                        created NO NET CHARGE during the rubbing process.</a:t>
            </a:r>
            <a:endParaRPr/>
          </a:p>
        </p:txBody>
      </p:sp>
      <p:sp>
        <p:nvSpPr>
          <p:cNvPr id="765" name="Google Shape;765;p2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grpSp>
        <p:nvGrpSpPr>
          <p:cNvPr id="766" name="Google Shape;766;p23"/>
          <p:cNvGrpSpPr/>
          <p:nvPr/>
        </p:nvGrpSpPr>
        <p:grpSpPr>
          <a:xfrm>
            <a:off x="5775325" y="2022475"/>
            <a:ext cx="2466975" cy="1847850"/>
            <a:chOff x="1049" y="2449"/>
            <a:chExt cx="1554" cy="1164"/>
          </a:xfrm>
        </p:grpSpPr>
        <p:pic>
          <p:nvPicPr>
            <p:cNvPr descr="ANd9GcSwMvNLFJD78HKd0nHg_ZauKVAJra4M_3fNYY9-nmLiHFWQo4XswQ" id="767" name="Google Shape;76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9" y="2449"/>
              <a:ext cx="1554" cy="116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768" name="Google Shape;768;p23"/>
            <p:cNvGrpSpPr/>
            <p:nvPr/>
          </p:nvGrpSpPr>
          <p:grpSpPr>
            <a:xfrm rot="10800000">
              <a:off x="1220" y="2539"/>
              <a:ext cx="1281" cy="981"/>
              <a:chOff x="1500" y="621"/>
              <a:chExt cx="1281" cy="981"/>
            </a:xfrm>
          </p:grpSpPr>
          <p:grpSp>
            <p:nvGrpSpPr>
              <p:cNvPr id="769" name="Google Shape;769;p23"/>
              <p:cNvGrpSpPr/>
              <p:nvPr/>
            </p:nvGrpSpPr>
            <p:grpSpPr>
              <a:xfrm>
                <a:off x="1635" y="621"/>
                <a:ext cx="113" cy="122"/>
                <a:chOff x="4114" y="2932"/>
                <a:chExt cx="113" cy="122"/>
              </a:xfrm>
            </p:grpSpPr>
            <p:cxnSp>
              <p:nvCxnSpPr>
                <p:cNvPr id="770" name="Google Shape;770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1" name="Google Shape;771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2" name="Google Shape;772;p23"/>
              <p:cNvGrpSpPr/>
              <p:nvPr/>
            </p:nvGrpSpPr>
            <p:grpSpPr>
              <a:xfrm>
                <a:off x="1500" y="1038"/>
                <a:ext cx="113" cy="122"/>
                <a:chOff x="4114" y="2932"/>
                <a:chExt cx="113" cy="122"/>
              </a:xfrm>
            </p:grpSpPr>
            <p:cxnSp>
              <p:nvCxnSpPr>
                <p:cNvPr id="773" name="Google Shape;773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4" name="Google Shape;774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5" name="Google Shape;775;p23"/>
              <p:cNvGrpSpPr/>
              <p:nvPr/>
            </p:nvGrpSpPr>
            <p:grpSpPr>
              <a:xfrm>
                <a:off x="1902" y="652"/>
                <a:ext cx="113" cy="122"/>
                <a:chOff x="4114" y="2932"/>
                <a:chExt cx="113" cy="122"/>
              </a:xfrm>
            </p:grpSpPr>
            <p:cxnSp>
              <p:nvCxnSpPr>
                <p:cNvPr id="776" name="Google Shape;776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7" name="Google Shape;777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8" name="Google Shape;778;p23"/>
              <p:cNvGrpSpPr/>
              <p:nvPr/>
            </p:nvGrpSpPr>
            <p:grpSpPr>
              <a:xfrm>
                <a:off x="1674" y="866"/>
                <a:ext cx="113" cy="122"/>
                <a:chOff x="4114" y="2932"/>
                <a:chExt cx="113" cy="122"/>
              </a:xfrm>
            </p:grpSpPr>
            <p:cxnSp>
              <p:nvCxnSpPr>
                <p:cNvPr id="779" name="Google Shape;779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" name="Google Shape;780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1" name="Google Shape;781;p23"/>
              <p:cNvGrpSpPr/>
              <p:nvPr/>
            </p:nvGrpSpPr>
            <p:grpSpPr>
              <a:xfrm>
                <a:off x="2116" y="844"/>
                <a:ext cx="113" cy="122"/>
                <a:chOff x="4114" y="2932"/>
                <a:chExt cx="113" cy="122"/>
              </a:xfrm>
            </p:grpSpPr>
            <p:cxnSp>
              <p:nvCxnSpPr>
                <p:cNvPr id="782" name="Google Shape;782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3" name="Google Shape;783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4" name="Google Shape;784;p23"/>
              <p:cNvGrpSpPr/>
              <p:nvPr/>
            </p:nvGrpSpPr>
            <p:grpSpPr>
              <a:xfrm>
                <a:off x="2003" y="1062"/>
                <a:ext cx="113" cy="122"/>
                <a:chOff x="4114" y="2932"/>
                <a:chExt cx="113" cy="122"/>
              </a:xfrm>
            </p:grpSpPr>
            <p:cxnSp>
              <p:nvCxnSpPr>
                <p:cNvPr id="785" name="Google Shape;785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6" name="Google Shape;786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7" name="Google Shape;787;p23"/>
              <p:cNvGrpSpPr/>
              <p:nvPr/>
            </p:nvGrpSpPr>
            <p:grpSpPr>
              <a:xfrm>
                <a:off x="2504" y="837"/>
                <a:ext cx="113" cy="122"/>
                <a:chOff x="4114" y="2932"/>
                <a:chExt cx="113" cy="122"/>
              </a:xfrm>
            </p:grpSpPr>
            <p:cxnSp>
              <p:nvCxnSpPr>
                <p:cNvPr id="788" name="Google Shape;788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" name="Google Shape;789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" name="Google Shape;790;p23"/>
              <p:cNvGrpSpPr/>
              <p:nvPr/>
            </p:nvGrpSpPr>
            <p:grpSpPr>
              <a:xfrm>
                <a:off x="1572" y="1406"/>
                <a:ext cx="113" cy="122"/>
                <a:chOff x="4114" y="2932"/>
                <a:chExt cx="113" cy="122"/>
              </a:xfrm>
            </p:grpSpPr>
            <p:cxnSp>
              <p:nvCxnSpPr>
                <p:cNvPr id="791" name="Google Shape;791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2" name="Google Shape;792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3" name="Google Shape;793;p23"/>
              <p:cNvGrpSpPr/>
              <p:nvPr/>
            </p:nvGrpSpPr>
            <p:grpSpPr>
              <a:xfrm>
                <a:off x="1787" y="1226"/>
                <a:ext cx="113" cy="122"/>
                <a:chOff x="4114" y="2932"/>
                <a:chExt cx="113" cy="122"/>
              </a:xfrm>
            </p:grpSpPr>
            <p:cxnSp>
              <p:nvCxnSpPr>
                <p:cNvPr id="794" name="Google Shape;794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" name="Google Shape;795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6" name="Google Shape;796;p23"/>
              <p:cNvGrpSpPr/>
              <p:nvPr/>
            </p:nvGrpSpPr>
            <p:grpSpPr>
              <a:xfrm>
                <a:off x="2303" y="644"/>
                <a:ext cx="113" cy="122"/>
                <a:chOff x="4114" y="2932"/>
                <a:chExt cx="113" cy="122"/>
              </a:xfrm>
            </p:grpSpPr>
            <p:cxnSp>
              <p:nvCxnSpPr>
                <p:cNvPr id="797" name="Google Shape;797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" name="Google Shape;798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9" name="Google Shape;799;p23"/>
              <p:cNvGrpSpPr/>
              <p:nvPr/>
            </p:nvGrpSpPr>
            <p:grpSpPr>
              <a:xfrm>
                <a:off x="2668" y="1123"/>
                <a:ext cx="113" cy="122"/>
                <a:chOff x="4114" y="2932"/>
                <a:chExt cx="113" cy="122"/>
              </a:xfrm>
            </p:grpSpPr>
            <p:cxnSp>
              <p:nvCxnSpPr>
                <p:cNvPr id="800" name="Google Shape;800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1" name="Google Shape;801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02" name="Google Shape;802;p23"/>
              <p:cNvGrpSpPr/>
              <p:nvPr/>
            </p:nvGrpSpPr>
            <p:grpSpPr>
              <a:xfrm>
                <a:off x="2048" y="1480"/>
                <a:ext cx="113" cy="122"/>
                <a:chOff x="4114" y="2932"/>
                <a:chExt cx="113" cy="122"/>
              </a:xfrm>
            </p:grpSpPr>
            <p:cxnSp>
              <p:nvCxnSpPr>
                <p:cNvPr id="803" name="Google Shape;803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" name="Google Shape;804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05" name="Google Shape;805;p23"/>
              <p:cNvGrpSpPr/>
              <p:nvPr/>
            </p:nvGrpSpPr>
            <p:grpSpPr>
              <a:xfrm>
                <a:off x="2617" y="1421"/>
                <a:ext cx="113" cy="122"/>
                <a:chOff x="4114" y="2932"/>
                <a:chExt cx="113" cy="122"/>
              </a:xfrm>
            </p:grpSpPr>
            <p:cxnSp>
              <p:nvCxnSpPr>
                <p:cNvPr id="806" name="Google Shape;806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7" name="Google Shape;807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08" name="Google Shape;808;p23"/>
              <p:cNvGrpSpPr/>
              <p:nvPr/>
            </p:nvGrpSpPr>
            <p:grpSpPr>
              <a:xfrm>
                <a:off x="2285" y="1308"/>
                <a:ext cx="113" cy="122"/>
                <a:chOff x="4114" y="2932"/>
                <a:chExt cx="113" cy="122"/>
              </a:xfrm>
            </p:grpSpPr>
            <p:cxnSp>
              <p:nvCxnSpPr>
                <p:cNvPr id="809" name="Google Shape;809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0" name="Google Shape;810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11" name="Google Shape;811;p23"/>
              <p:cNvGrpSpPr/>
              <p:nvPr/>
            </p:nvGrpSpPr>
            <p:grpSpPr>
              <a:xfrm>
                <a:off x="2423" y="1067"/>
                <a:ext cx="113" cy="122"/>
                <a:chOff x="4114" y="2932"/>
                <a:chExt cx="113" cy="122"/>
              </a:xfrm>
            </p:grpSpPr>
            <p:cxnSp>
              <p:nvCxnSpPr>
                <p:cNvPr id="812" name="Google Shape;812;p23"/>
                <p:cNvCxnSpPr/>
                <p:nvPr/>
              </p:nvCxnSpPr>
              <p:spPr>
                <a:xfrm>
                  <a:off x="4114" y="2994"/>
                  <a:ext cx="11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" name="Google Shape;813;p23"/>
                <p:cNvCxnSpPr/>
                <p:nvPr/>
              </p:nvCxnSpPr>
              <p:spPr>
                <a:xfrm>
                  <a:off x="4172" y="2932"/>
                  <a:ext cx="0" cy="12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814" name="Google Shape;814;p23"/>
          <p:cNvGrpSpPr/>
          <p:nvPr/>
        </p:nvGrpSpPr>
        <p:grpSpPr>
          <a:xfrm>
            <a:off x="6316663" y="4087813"/>
            <a:ext cx="1552575" cy="1905000"/>
            <a:chOff x="1034" y="2439"/>
            <a:chExt cx="978" cy="1200"/>
          </a:xfrm>
        </p:grpSpPr>
        <p:pic>
          <p:nvPicPr>
            <p:cNvPr id="815" name="Google Shape;81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" y="2439"/>
              <a:ext cx="978" cy="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6" name="Google Shape;816;p23"/>
            <p:cNvGrpSpPr/>
            <p:nvPr/>
          </p:nvGrpSpPr>
          <p:grpSpPr>
            <a:xfrm>
              <a:off x="1155" y="2602"/>
              <a:ext cx="734" cy="780"/>
              <a:chOff x="2367" y="2617"/>
              <a:chExt cx="734" cy="780"/>
            </a:xfrm>
          </p:grpSpPr>
          <p:cxnSp>
            <p:nvCxnSpPr>
              <p:cNvPr id="817" name="Google Shape;817;p23"/>
              <p:cNvCxnSpPr/>
              <p:nvPr/>
            </p:nvCxnSpPr>
            <p:spPr>
              <a:xfrm>
                <a:off x="2475" y="263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8" name="Google Shape;818;p23"/>
              <p:cNvCxnSpPr/>
              <p:nvPr/>
            </p:nvCxnSpPr>
            <p:spPr>
              <a:xfrm>
                <a:off x="2719" y="255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9" name="Google Shape;819;p23"/>
              <p:cNvCxnSpPr/>
              <p:nvPr/>
            </p:nvCxnSpPr>
            <p:spPr>
              <a:xfrm>
                <a:off x="2887" y="26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23"/>
              <p:cNvCxnSpPr/>
              <p:nvPr/>
            </p:nvCxnSpPr>
            <p:spPr>
              <a:xfrm>
                <a:off x="2684" y="3183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1" name="Google Shape;821;p23"/>
              <p:cNvCxnSpPr/>
              <p:nvPr/>
            </p:nvCxnSpPr>
            <p:spPr>
              <a:xfrm>
                <a:off x="2428" y="285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23"/>
              <p:cNvCxnSpPr/>
              <p:nvPr/>
            </p:nvCxnSpPr>
            <p:spPr>
              <a:xfrm>
                <a:off x="2611" y="273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23"/>
              <p:cNvCxnSpPr/>
              <p:nvPr/>
            </p:nvCxnSpPr>
            <p:spPr>
              <a:xfrm>
                <a:off x="2634" y="297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23"/>
              <p:cNvCxnSpPr/>
              <p:nvPr/>
            </p:nvCxnSpPr>
            <p:spPr>
              <a:xfrm>
                <a:off x="2454" y="3079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23"/>
              <p:cNvCxnSpPr/>
              <p:nvPr/>
            </p:nvCxnSpPr>
            <p:spPr>
              <a:xfrm>
                <a:off x="3009" y="2800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23"/>
              <p:cNvCxnSpPr/>
              <p:nvPr/>
            </p:nvCxnSpPr>
            <p:spPr>
              <a:xfrm>
                <a:off x="2540" y="3294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23"/>
              <p:cNvCxnSpPr/>
              <p:nvPr/>
            </p:nvCxnSpPr>
            <p:spPr>
              <a:xfrm>
                <a:off x="2844" y="3336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23"/>
              <p:cNvCxnSpPr/>
              <p:nvPr/>
            </p:nvCxnSpPr>
            <p:spPr>
              <a:xfrm>
                <a:off x="3040" y="2961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23"/>
              <p:cNvCxnSpPr/>
              <p:nvPr/>
            </p:nvCxnSpPr>
            <p:spPr>
              <a:xfrm>
                <a:off x="2809" y="3047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23"/>
              <p:cNvCxnSpPr/>
              <p:nvPr/>
            </p:nvCxnSpPr>
            <p:spPr>
              <a:xfrm>
                <a:off x="2980" y="3112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23"/>
              <p:cNvCxnSpPr/>
              <p:nvPr/>
            </p:nvCxnSpPr>
            <p:spPr>
              <a:xfrm>
                <a:off x="2799" y="2845"/>
                <a:ext cx="0" cy="12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4"/>
          <p:cNvSpPr/>
          <p:nvPr/>
        </p:nvSpPr>
        <p:spPr>
          <a:xfrm>
            <a:off x="679450" y="5138738"/>
            <a:ext cx="7759700" cy="17192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Conservation of charge is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never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violated, as we will see when we talk of nuclear and particle physics, whereas conservation of mass is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violated.</a:t>
            </a:r>
            <a:endParaRPr/>
          </a:p>
        </p:txBody>
      </p:sp>
      <p:sp>
        <p:nvSpPr>
          <p:cNvPr id="837" name="Google Shape;837;p24"/>
          <p:cNvSpPr/>
          <p:nvPr/>
        </p:nvSpPr>
        <p:spPr>
          <a:xfrm>
            <a:off x="685800" y="1549400"/>
            <a:ext cx="7772400" cy="36226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the conservation of charge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∙This leads us to another conservation law.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law of conservation of charge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states that </a:t>
            </a:r>
            <a:r>
              <a:rPr b="0" i="0" lang="en-US" sz="24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charge can be neither created nor destroyed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∙Obviously charge can be transferred from one object to another.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we can build up a negative charge on a balloon, but only at the expense of leaving behind an equal positive charge on a wool sweater.</a:t>
            </a:r>
            <a:endParaRPr/>
          </a:p>
        </p:txBody>
      </p:sp>
      <p:sp>
        <p:nvSpPr>
          <p:cNvPr id="838" name="Google Shape;838;p2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5"/>
          <p:cNvSpPr/>
          <p:nvPr/>
        </p:nvSpPr>
        <p:spPr>
          <a:xfrm>
            <a:off x="685800" y="1549400"/>
            <a:ext cx="7772400" cy="4222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the conservation of charge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</p:txBody>
      </p:sp>
      <p:sp>
        <p:nvSpPr>
          <p:cNvPr id="844" name="Google Shape;844;p2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845" name="Google Shape;845;p25"/>
          <p:cNvSpPr/>
          <p:nvPr/>
        </p:nvSpPr>
        <p:spPr>
          <a:xfrm>
            <a:off x="687388" y="1968500"/>
            <a:ext cx="7772400" cy="48895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cat’s fur, like your hair,                             acts just like wool when you rub a                               balloon on it. A balloon has picked up                             -150 μC of charge from Albert. The                               resulting opposite charges of balloon                              and Albert cause the balloon to stick. 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many electrons have been transferred?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What is the charge on Albert?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1 e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-1.60×10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-19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 so…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(-150×10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C)(1 e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-1.60×10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-19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C) = 9.4×10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Conservation of charge tells us that           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Albert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+150 μC.</a:t>
            </a:r>
            <a:endParaRPr/>
          </a:p>
        </p:txBody>
      </p:sp>
      <p:pic>
        <p:nvPicPr>
          <p:cNvPr id="846" name="Google Shape;8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00" y="1547813"/>
            <a:ext cx="3016250" cy="27416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847" name="Google Shape;847;p25"/>
          <p:cNvCxnSpPr/>
          <p:nvPr/>
        </p:nvCxnSpPr>
        <p:spPr>
          <a:xfrm flipH="1">
            <a:off x="3276600" y="5667375"/>
            <a:ext cx="107950" cy="24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25"/>
          <p:cNvCxnSpPr/>
          <p:nvPr/>
        </p:nvCxnSpPr>
        <p:spPr>
          <a:xfrm flipH="1">
            <a:off x="6038850" y="5656263"/>
            <a:ext cx="107950" cy="241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6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conductors and nonconductors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∙Materials can be divided into three categories: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Conductors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which easily transport electrons without trying to capture or impede them,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Nonconductors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insulators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which capture or impede electrons, and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Semiconductors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which lie between conductors and insulators.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∙Roughly speaking,                                                    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metals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good                                                   conductors,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nonmetals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are good insulators, and                                              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metalloids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good semiconductors.</a:t>
            </a:r>
            <a:endParaRPr/>
          </a:p>
        </p:txBody>
      </p:sp>
      <p:sp>
        <p:nvSpPr>
          <p:cNvPr id="854" name="Google Shape;854;p2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id="855" name="Google Shape;8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3888" y="4454525"/>
            <a:ext cx="4419600" cy="18954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856" name="Google Shape;856;p26"/>
          <p:cNvSpPr/>
          <p:nvPr/>
        </p:nvSpPr>
        <p:spPr>
          <a:xfrm>
            <a:off x="720725" y="5273675"/>
            <a:ext cx="1046163" cy="330200"/>
          </a:xfrm>
          <a:prstGeom prst="rect">
            <a:avLst/>
          </a:prstGeom>
          <a:solidFill>
            <a:srgbClr val="FF9999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6"/>
          <p:cNvSpPr/>
          <p:nvPr/>
        </p:nvSpPr>
        <p:spPr>
          <a:xfrm>
            <a:off x="2381250" y="5638800"/>
            <a:ext cx="1611313" cy="357188"/>
          </a:xfrm>
          <a:prstGeom prst="rect">
            <a:avLst/>
          </a:prstGeom>
          <a:solidFill>
            <a:schemeClr val="accent2">
              <a:alpha val="3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6"/>
          <p:cNvSpPr/>
          <p:nvPr/>
        </p:nvSpPr>
        <p:spPr>
          <a:xfrm>
            <a:off x="708025" y="6370638"/>
            <a:ext cx="1611313" cy="322262"/>
          </a:xfrm>
          <a:prstGeom prst="rect">
            <a:avLst/>
          </a:prstGeom>
          <a:solidFill>
            <a:srgbClr val="0080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9" name="Google Shape;859;p26"/>
          <p:cNvSpPr/>
          <p:nvPr/>
        </p:nvSpPr>
        <p:spPr>
          <a:xfrm>
            <a:off x="1176338" y="2486025"/>
            <a:ext cx="1774825" cy="354013"/>
          </a:xfrm>
          <a:prstGeom prst="rect">
            <a:avLst/>
          </a:prstGeom>
          <a:solidFill>
            <a:srgbClr val="FF9999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6"/>
          <p:cNvSpPr/>
          <p:nvPr/>
        </p:nvSpPr>
        <p:spPr>
          <a:xfrm>
            <a:off x="1174750" y="3319463"/>
            <a:ext cx="2330450" cy="323850"/>
          </a:xfrm>
          <a:prstGeom prst="rect">
            <a:avLst/>
          </a:prstGeom>
          <a:solidFill>
            <a:schemeClr val="accent2">
              <a:alpha val="3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6"/>
          <p:cNvSpPr/>
          <p:nvPr/>
        </p:nvSpPr>
        <p:spPr>
          <a:xfrm>
            <a:off x="1189038" y="4110038"/>
            <a:ext cx="2449512" cy="322262"/>
          </a:xfrm>
          <a:prstGeom prst="rect">
            <a:avLst/>
          </a:prstGeom>
          <a:solidFill>
            <a:srgbClr val="0080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7"/>
          <p:cNvSpPr/>
          <p:nvPr/>
        </p:nvSpPr>
        <p:spPr>
          <a:xfrm>
            <a:off x="685800" y="1549400"/>
            <a:ext cx="7772400" cy="4508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detection using an electroscope</a:t>
            </a:r>
            <a:endParaRPr/>
          </a:p>
        </p:txBody>
      </p:sp>
      <p:sp>
        <p:nvSpPr>
          <p:cNvPr id="867" name="Google Shape;867;p2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868" name="Google Shape;868;p27"/>
          <p:cNvSpPr/>
          <p:nvPr/>
        </p:nvSpPr>
        <p:spPr>
          <a:xfrm>
            <a:off x="674688" y="1992313"/>
            <a:ext cx="7772400" cy="48656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electroscope is a primitive instrument that can be used to detect electrical charge.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glass Erlenmeyer flask has a rubber stopper with a hole in it. Both the rubber stopper and the glass are insulators.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conductor is passed through a hole.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the outside end of the conductor is a               conducting ball.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∙On the inside end of the conductor are 2                       very thin and flexible gold filaments that hang                      under their own weight. Gold is also a                       conductor.</a:t>
            </a:r>
            <a:endParaRPr/>
          </a:p>
        </p:txBody>
      </p:sp>
      <p:grpSp>
        <p:nvGrpSpPr>
          <p:cNvPr id="869" name="Google Shape;869;p27"/>
          <p:cNvGrpSpPr/>
          <p:nvPr/>
        </p:nvGrpSpPr>
        <p:grpSpPr>
          <a:xfrm>
            <a:off x="7969250" y="4672013"/>
            <a:ext cx="138113" cy="1492250"/>
            <a:chOff x="2864" y="3025"/>
            <a:chExt cx="87" cy="940"/>
          </a:xfrm>
        </p:grpSpPr>
        <p:sp>
          <p:nvSpPr>
            <p:cNvPr id="870" name="Google Shape;870;p27"/>
            <p:cNvSpPr/>
            <p:nvPr/>
          </p:nvSpPr>
          <p:spPr>
            <a:xfrm>
              <a:off x="2888" y="3556"/>
              <a:ext cx="46" cy="409"/>
            </a:xfrm>
            <a:custGeom>
              <a:rect b="b" l="l" r="r" t="t"/>
              <a:pathLst>
                <a:path extrusionOk="0" h="409" w="205">
                  <a:moveTo>
                    <a:pt x="0" y="394"/>
                  </a:moveTo>
                  <a:lnTo>
                    <a:pt x="106" y="0"/>
                  </a:lnTo>
                  <a:lnTo>
                    <a:pt x="205" y="409"/>
                  </a:lnTo>
                </a:path>
              </a:pathLst>
            </a:custGeom>
            <a:noFill/>
            <a:ln cap="flat" cmpd="sng" w="19050">
              <a:solidFill>
                <a:srgbClr val="CC66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2864" y="3025"/>
              <a:ext cx="87" cy="530"/>
            </a:xfrm>
            <a:prstGeom prst="rect">
              <a:avLst/>
            </a:prstGeom>
            <a:gradFill>
              <a:gsLst>
                <a:gs pos="0">
                  <a:srgbClr val="5E2F00"/>
                </a:gs>
                <a:gs pos="50000">
                  <a:srgbClr val="CC6600"/>
                </a:gs>
                <a:gs pos="100000">
                  <a:srgbClr val="5E2F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27"/>
          <p:cNvGrpSpPr/>
          <p:nvPr/>
        </p:nvGrpSpPr>
        <p:grpSpPr>
          <a:xfrm>
            <a:off x="7159625" y="3778250"/>
            <a:ext cx="1790700" cy="2947988"/>
            <a:chOff x="4558" y="2076"/>
            <a:chExt cx="1128" cy="1857"/>
          </a:xfrm>
        </p:grpSpPr>
        <p:pic>
          <p:nvPicPr>
            <p:cNvPr descr="ANd9GcSVdVCjfHklk_qzcE1v84Paz0OjtPC558e-YQLSh0a_ib2nwbhRkhFFh3Xw4Q" id="873" name="Google Shape;87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58" y="2325"/>
              <a:ext cx="1128" cy="1608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874" name="Google Shape;874;p27"/>
            <p:cNvGrpSpPr/>
            <p:nvPr/>
          </p:nvGrpSpPr>
          <p:grpSpPr>
            <a:xfrm>
              <a:off x="4903" y="2076"/>
              <a:ext cx="426" cy="703"/>
              <a:chOff x="3008" y="2035"/>
              <a:chExt cx="426" cy="703"/>
            </a:xfrm>
          </p:grpSpPr>
          <p:grpSp>
            <p:nvGrpSpPr>
              <p:cNvPr id="875" name="Google Shape;875;p27"/>
              <p:cNvGrpSpPr/>
              <p:nvPr/>
            </p:nvGrpSpPr>
            <p:grpSpPr>
              <a:xfrm>
                <a:off x="3008" y="2328"/>
                <a:ext cx="426" cy="410"/>
                <a:chOff x="4092" y="2055"/>
                <a:chExt cx="426" cy="410"/>
              </a:xfrm>
            </p:grpSpPr>
            <p:sp>
              <p:nvSpPr>
                <p:cNvPr id="876" name="Google Shape;876;p27"/>
                <p:cNvSpPr/>
                <p:nvPr/>
              </p:nvSpPr>
              <p:spPr>
                <a:xfrm>
                  <a:off x="4094" y="2383"/>
                  <a:ext cx="424" cy="82"/>
                </a:xfrm>
                <a:prstGeom prst="ellipse">
                  <a:avLst/>
                </a:prstGeom>
                <a:gradFill>
                  <a:gsLst>
                    <a:gs pos="0">
                      <a:srgbClr val="5A5A5A"/>
                    </a:gs>
                    <a:gs pos="50000">
                      <a:schemeClr val="lt2"/>
                    </a:gs>
                    <a:gs pos="100000">
                      <a:srgbClr val="5A5A5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7" name="Google Shape;877;p27"/>
                <p:cNvSpPr/>
                <p:nvPr/>
              </p:nvSpPr>
              <p:spPr>
                <a:xfrm>
                  <a:off x="4092" y="2092"/>
                  <a:ext cx="425" cy="333"/>
                </a:xfrm>
                <a:prstGeom prst="rect">
                  <a:avLst/>
                </a:prstGeom>
                <a:gradFill>
                  <a:gsLst>
                    <a:gs pos="0">
                      <a:srgbClr val="5A5A5A"/>
                    </a:gs>
                    <a:gs pos="50000">
                      <a:schemeClr val="lt2"/>
                    </a:gs>
                    <a:gs pos="100000">
                      <a:srgbClr val="5A5A5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8" name="Google Shape;878;p27"/>
                <p:cNvSpPr/>
                <p:nvPr/>
              </p:nvSpPr>
              <p:spPr>
                <a:xfrm>
                  <a:off x="4093" y="2055"/>
                  <a:ext cx="424" cy="82"/>
                </a:xfrm>
                <a:prstGeom prst="ellipse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rgbClr val="5A5A5A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79" name="Google Shape;879;p27"/>
              <p:cNvGrpSpPr/>
              <p:nvPr/>
            </p:nvGrpSpPr>
            <p:grpSpPr>
              <a:xfrm>
                <a:off x="3182" y="2177"/>
                <a:ext cx="87" cy="200"/>
                <a:chOff x="3304" y="2813"/>
                <a:chExt cx="87" cy="245"/>
              </a:xfrm>
            </p:grpSpPr>
            <p:sp>
              <p:nvSpPr>
                <p:cNvPr id="880" name="Google Shape;880;p27"/>
                <p:cNvSpPr/>
                <p:nvPr/>
              </p:nvSpPr>
              <p:spPr>
                <a:xfrm>
                  <a:off x="3304" y="2813"/>
                  <a:ext cx="87" cy="220"/>
                </a:xfrm>
                <a:prstGeom prst="rect">
                  <a:avLst/>
                </a:prstGeom>
                <a:gradFill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1" name="Google Shape;881;p27"/>
                <p:cNvSpPr/>
                <p:nvPr/>
              </p:nvSpPr>
              <p:spPr>
                <a:xfrm>
                  <a:off x="3304" y="3002"/>
                  <a:ext cx="83" cy="56"/>
                </a:xfrm>
                <a:prstGeom prst="ellipse">
                  <a:avLst/>
                </a:prstGeom>
                <a:gradFill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82" name="Google Shape;882;p27"/>
              <p:cNvSpPr/>
              <p:nvPr/>
            </p:nvSpPr>
            <p:spPr>
              <a:xfrm>
                <a:off x="3099" y="2035"/>
                <a:ext cx="242" cy="242"/>
              </a:xfrm>
              <a:prstGeom prst="ellipse">
                <a:avLst/>
              </a:prstGeom>
              <a:gradFill>
                <a:gsLst>
                  <a:gs pos="0">
                    <a:srgbClr val="CC6600"/>
                  </a:gs>
                  <a:gs pos="100000">
                    <a:srgbClr val="5E2F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8"/>
          <p:cNvSpPr/>
          <p:nvPr/>
        </p:nvSpPr>
        <p:spPr>
          <a:xfrm>
            <a:off x="685800" y="1549400"/>
            <a:ext cx="7772400" cy="4508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detection using an electroscope</a:t>
            </a:r>
            <a:endParaRPr/>
          </a:p>
        </p:txBody>
      </p:sp>
      <p:sp>
        <p:nvSpPr>
          <p:cNvPr id="888" name="Google Shape;888;p2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889" name="Google Shape;889;p28"/>
          <p:cNvSpPr/>
          <p:nvPr/>
        </p:nvSpPr>
        <p:spPr>
          <a:xfrm>
            <a:off x="674688" y="1992313"/>
            <a:ext cx="7772400" cy="48656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electroscope is a primitive instrument that can be used to detect electrical charge.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idea is that you can place a charge on the ball, and the conductors of the scope will allow the charge to spread out, all the way to the gold filaments.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∙When the charge reaches the filaments, since                    each filament has some of the original charge,                          the filaments will repel.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∙When the filaments repel you can tell,                   because they spread out from one another.</a:t>
            </a:r>
            <a:endParaRPr/>
          </a:p>
        </p:txBody>
      </p:sp>
      <p:grpSp>
        <p:nvGrpSpPr>
          <p:cNvPr id="890" name="Google Shape;890;p28"/>
          <p:cNvGrpSpPr/>
          <p:nvPr/>
        </p:nvGrpSpPr>
        <p:grpSpPr>
          <a:xfrm>
            <a:off x="7969250" y="4672013"/>
            <a:ext cx="138113" cy="1492250"/>
            <a:chOff x="2864" y="3025"/>
            <a:chExt cx="87" cy="940"/>
          </a:xfrm>
        </p:grpSpPr>
        <p:sp>
          <p:nvSpPr>
            <p:cNvPr id="891" name="Google Shape;891;p28"/>
            <p:cNvSpPr/>
            <p:nvPr/>
          </p:nvSpPr>
          <p:spPr>
            <a:xfrm>
              <a:off x="2888" y="3556"/>
              <a:ext cx="46" cy="409"/>
            </a:xfrm>
            <a:custGeom>
              <a:rect b="b" l="l" r="r" t="t"/>
              <a:pathLst>
                <a:path extrusionOk="0" h="409" w="205">
                  <a:moveTo>
                    <a:pt x="0" y="394"/>
                  </a:moveTo>
                  <a:lnTo>
                    <a:pt x="106" y="0"/>
                  </a:lnTo>
                  <a:lnTo>
                    <a:pt x="205" y="409"/>
                  </a:lnTo>
                </a:path>
              </a:pathLst>
            </a:custGeom>
            <a:noFill/>
            <a:ln cap="flat" cmpd="sng" w="19050">
              <a:solidFill>
                <a:srgbClr val="CC66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8"/>
            <p:cNvSpPr/>
            <p:nvPr/>
          </p:nvSpPr>
          <p:spPr>
            <a:xfrm>
              <a:off x="2864" y="3025"/>
              <a:ext cx="87" cy="530"/>
            </a:xfrm>
            <a:prstGeom prst="rect">
              <a:avLst/>
            </a:prstGeom>
            <a:gradFill>
              <a:gsLst>
                <a:gs pos="0">
                  <a:srgbClr val="5E2F00"/>
                </a:gs>
                <a:gs pos="50000">
                  <a:srgbClr val="CC6600"/>
                </a:gs>
                <a:gs pos="100000">
                  <a:srgbClr val="5E2F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p28"/>
          <p:cNvGrpSpPr/>
          <p:nvPr/>
        </p:nvGrpSpPr>
        <p:grpSpPr>
          <a:xfrm>
            <a:off x="7159625" y="3778250"/>
            <a:ext cx="1790700" cy="2947988"/>
            <a:chOff x="4558" y="2076"/>
            <a:chExt cx="1128" cy="1857"/>
          </a:xfrm>
        </p:grpSpPr>
        <p:pic>
          <p:nvPicPr>
            <p:cNvPr descr="ANd9GcSVdVCjfHklk_qzcE1v84Paz0OjtPC558e-YQLSh0a_ib2nwbhRkhFFh3Xw4Q" id="894" name="Google Shape;894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58" y="2325"/>
              <a:ext cx="1128" cy="1608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895" name="Google Shape;895;p28"/>
            <p:cNvGrpSpPr/>
            <p:nvPr/>
          </p:nvGrpSpPr>
          <p:grpSpPr>
            <a:xfrm>
              <a:off x="4903" y="2076"/>
              <a:ext cx="426" cy="703"/>
              <a:chOff x="3008" y="2035"/>
              <a:chExt cx="426" cy="703"/>
            </a:xfrm>
          </p:grpSpPr>
          <p:grpSp>
            <p:nvGrpSpPr>
              <p:cNvPr id="896" name="Google Shape;896;p28"/>
              <p:cNvGrpSpPr/>
              <p:nvPr/>
            </p:nvGrpSpPr>
            <p:grpSpPr>
              <a:xfrm>
                <a:off x="3008" y="2328"/>
                <a:ext cx="426" cy="410"/>
                <a:chOff x="4092" y="2055"/>
                <a:chExt cx="426" cy="410"/>
              </a:xfrm>
            </p:grpSpPr>
            <p:sp>
              <p:nvSpPr>
                <p:cNvPr id="897" name="Google Shape;897;p28"/>
                <p:cNvSpPr/>
                <p:nvPr/>
              </p:nvSpPr>
              <p:spPr>
                <a:xfrm>
                  <a:off x="4094" y="2383"/>
                  <a:ext cx="424" cy="82"/>
                </a:xfrm>
                <a:prstGeom prst="ellipse">
                  <a:avLst/>
                </a:prstGeom>
                <a:gradFill>
                  <a:gsLst>
                    <a:gs pos="0">
                      <a:srgbClr val="5A5A5A"/>
                    </a:gs>
                    <a:gs pos="50000">
                      <a:schemeClr val="lt2"/>
                    </a:gs>
                    <a:gs pos="100000">
                      <a:srgbClr val="5A5A5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8" name="Google Shape;898;p28"/>
                <p:cNvSpPr/>
                <p:nvPr/>
              </p:nvSpPr>
              <p:spPr>
                <a:xfrm>
                  <a:off x="4092" y="2092"/>
                  <a:ext cx="425" cy="333"/>
                </a:xfrm>
                <a:prstGeom prst="rect">
                  <a:avLst/>
                </a:prstGeom>
                <a:gradFill>
                  <a:gsLst>
                    <a:gs pos="0">
                      <a:srgbClr val="5A5A5A"/>
                    </a:gs>
                    <a:gs pos="50000">
                      <a:schemeClr val="lt2"/>
                    </a:gs>
                    <a:gs pos="100000">
                      <a:srgbClr val="5A5A5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9" name="Google Shape;899;p28"/>
                <p:cNvSpPr/>
                <p:nvPr/>
              </p:nvSpPr>
              <p:spPr>
                <a:xfrm>
                  <a:off x="4093" y="2055"/>
                  <a:ext cx="424" cy="82"/>
                </a:xfrm>
                <a:prstGeom prst="ellipse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rgbClr val="5A5A5A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00" name="Google Shape;900;p28"/>
              <p:cNvGrpSpPr/>
              <p:nvPr/>
            </p:nvGrpSpPr>
            <p:grpSpPr>
              <a:xfrm>
                <a:off x="3182" y="2177"/>
                <a:ext cx="87" cy="200"/>
                <a:chOff x="3304" y="2813"/>
                <a:chExt cx="87" cy="245"/>
              </a:xfrm>
            </p:grpSpPr>
            <p:sp>
              <p:nvSpPr>
                <p:cNvPr id="901" name="Google Shape;901;p28"/>
                <p:cNvSpPr/>
                <p:nvPr/>
              </p:nvSpPr>
              <p:spPr>
                <a:xfrm>
                  <a:off x="3304" y="2813"/>
                  <a:ext cx="87" cy="220"/>
                </a:xfrm>
                <a:prstGeom prst="rect">
                  <a:avLst/>
                </a:prstGeom>
                <a:gradFill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" name="Google Shape;902;p28"/>
                <p:cNvSpPr/>
                <p:nvPr/>
              </p:nvSpPr>
              <p:spPr>
                <a:xfrm>
                  <a:off x="3304" y="3002"/>
                  <a:ext cx="83" cy="56"/>
                </a:xfrm>
                <a:prstGeom prst="ellipse">
                  <a:avLst/>
                </a:prstGeom>
                <a:gradFill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3" name="Google Shape;903;p28"/>
              <p:cNvSpPr/>
              <p:nvPr/>
            </p:nvSpPr>
            <p:spPr>
              <a:xfrm>
                <a:off x="3099" y="2035"/>
                <a:ext cx="242" cy="242"/>
              </a:xfrm>
              <a:prstGeom prst="ellipse">
                <a:avLst/>
              </a:prstGeom>
              <a:gradFill>
                <a:gsLst>
                  <a:gs pos="0">
                    <a:srgbClr val="CC6600"/>
                  </a:gs>
                  <a:gs pos="100000">
                    <a:srgbClr val="5E2F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9"/>
          <p:cNvSpPr/>
          <p:nvPr/>
        </p:nvSpPr>
        <p:spPr>
          <a:xfrm>
            <a:off x="687388" y="1971675"/>
            <a:ext cx="7772400" cy="48863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Consider the three electroscopes shown.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one has the greatest charge in the filaments?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one has the least?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tell whether the charge is (+) or (-)? Why?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last one has the                                                    most charge, the middle                                                            one the least.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∙You cannot tell the                                                        sign of the charge                                                          since (-)(-) will repel,                                                          but so will (+)(+).</a:t>
            </a:r>
            <a:endParaRPr/>
          </a:p>
        </p:txBody>
      </p:sp>
      <p:sp>
        <p:nvSpPr>
          <p:cNvPr id="909" name="Google Shape;909;p2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grpSp>
        <p:nvGrpSpPr>
          <p:cNvPr id="910" name="Google Shape;910;p29"/>
          <p:cNvGrpSpPr/>
          <p:nvPr/>
        </p:nvGrpSpPr>
        <p:grpSpPr>
          <a:xfrm>
            <a:off x="5572125" y="3727450"/>
            <a:ext cx="1790700" cy="2947988"/>
            <a:chOff x="2266" y="2349"/>
            <a:chExt cx="1128" cy="1857"/>
          </a:xfrm>
        </p:grpSpPr>
        <p:grpSp>
          <p:nvGrpSpPr>
            <p:cNvPr id="911" name="Google Shape;911;p29"/>
            <p:cNvGrpSpPr/>
            <p:nvPr/>
          </p:nvGrpSpPr>
          <p:grpSpPr>
            <a:xfrm>
              <a:off x="2776" y="2920"/>
              <a:ext cx="87" cy="940"/>
              <a:chOff x="2864" y="3025"/>
              <a:chExt cx="87" cy="940"/>
            </a:xfrm>
          </p:grpSpPr>
          <p:sp>
            <p:nvSpPr>
              <p:cNvPr id="912" name="Google Shape;912;p29"/>
              <p:cNvSpPr/>
              <p:nvPr/>
            </p:nvSpPr>
            <p:spPr>
              <a:xfrm>
                <a:off x="2888" y="3556"/>
                <a:ext cx="46" cy="409"/>
              </a:xfrm>
              <a:custGeom>
                <a:rect b="b" l="l" r="r" t="t"/>
                <a:pathLst>
                  <a:path extrusionOk="0" h="409" w="205">
                    <a:moveTo>
                      <a:pt x="0" y="394"/>
                    </a:moveTo>
                    <a:lnTo>
                      <a:pt x="106" y="0"/>
                    </a:lnTo>
                    <a:lnTo>
                      <a:pt x="205" y="409"/>
                    </a:lnTo>
                  </a:path>
                </a:pathLst>
              </a:custGeom>
              <a:noFill/>
              <a:ln cap="flat" cmpd="sng" w="19050">
                <a:solidFill>
                  <a:srgbClr val="CC66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29"/>
              <p:cNvSpPr/>
              <p:nvPr/>
            </p:nvSpPr>
            <p:spPr>
              <a:xfrm>
                <a:off x="2864" y="3025"/>
                <a:ext cx="87" cy="530"/>
              </a:xfrm>
              <a:prstGeom prst="rect">
                <a:avLst/>
              </a:prstGeom>
              <a:gradFill>
                <a:gsLst>
                  <a:gs pos="0">
                    <a:srgbClr val="5E2F00"/>
                  </a:gs>
                  <a:gs pos="50000">
                    <a:srgbClr val="CC6600"/>
                  </a:gs>
                  <a:gs pos="100000">
                    <a:srgbClr val="5E2F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4" name="Google Shape;914;p29"/>
            <p:cNvGrpSpPr/>
            <p:nvPr/>
          </p:nvGrpSpPr>
          <p:grpSpPr>
            <a:xfrm>
              <a:off x="2266" y="2349"/>
              <a:ext cx="1128" cy="1857"/>
              <a:chOff x="4558" y="2076"/>
              <a:chExt cx="1128" cy="1857"/>
            </a:xfrm>
          </p:grpSpPr>
          <p:pic>
            <p:nvPicPr>
              <p:cNvPr descr="ANd9GcSVdVCjfHklk_qzcE1v84Paz0OjtPC558e-YQLSh0a_ib2nwbhRkhFFh3Xw4Q" id="915" name="Google Shape;915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58" y="2325"/>
                <a:ext cx="1128" cy="16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grpSp>
            <p:nvGrpSpPr>
              <p:cNvPr id="916" name="Google Shape;916;p29"/>
              <p:cNvGrpSpPr/>
              <p:nvPr/>
            </p:nvGrpSpPr>
            <p:grpSpPr>
              <a:xfrm>
                <a:off x="4903" y="2076"/>
                <a:ext cx="426" cy="703"/>
                <a:chOff x="3008" y="2035"/>
                <a:chExt cx="426" cy="703"/>
              </a:xfrm>
            </p:grpSpPr>
            <p:grpSp>
              <p:nvGrpSpPr>
                <p:cNvPr id="917" name="Google Shape;917;p29"/>
                <p:cNvGrpSpPr/>
                <p:nvPr/>
              </p:nvGrpSpPr>
              <p:grpSpPr>
                <a:xfrm>
                  <a:off x="3008" y="2328"/>
                  <a:ext cx="426" cy="410"/>
                  <a:chOff x="4092" y="2055"/>
                  <a:chExt cx="426" cy="410"/>
                </a:xfrm>
              </p:grpSpPr>
              <p:sp>
                <p:nvSpPr>
                  <p:cNvPr id="918" name="Google Shape;918;p29"/>
                  <p:cNvSpPr/>
                  <p:nvPr/>
                </p:nvSpPr>
                <p:spPr>
                  <a:xfrm>
                    <a:off x="4094" y="2383"/>
                    <a:ext cx="424" cy="82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9" name="Google Shape;919;p29"/>
                  <p:cNvSpPr/>
                  <p:nvPr/>
                </p:nvSpPr>
                <p:spPr>
                  <a:xfrm>
                    <a:off x="4092" y="2092"/>
                    <a:ext cx="425" cy="333"/>
                  </a:xfrm>
                  <a:prstGeom prst="rect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0" name="Google Shape;920;p29"/>
                  <p:cNvSpPr/>
                  <p:nvPr/>
                </p:nvSpPr>
                <p:spPr>
                  <a:xfrm>
                    <a:off x="4093" y="2055"/>
                    <a:ext cx="424" cy="82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lt2"/>
                      </a:gs>
                      <a:gs pos="100000">
                        <a:srgbClr val="5A5A5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21" name="Google Shape;921;p29"/>
                <p:cNvGrpSpPr/>
                <p:nvPr/>
              </p:nvGrpSpPr>
              <p:grpSpPr>
                <a:xfrm>
                  <a:off x="3182" y="2177"/>
                  <a:ext cx="87" cy="200"/>
                  <a:chOff x="3304" y="2813"/>
                  <a:chExt cx="87" cy="245"/>
                </a:xfrm>
              </p:grpSpPr>
              <p:sp>
                <p:nvSpPr>
                  <p:cNvPr id="922" name="Google Shape;922;p29"/>
                  <p:cNvSpPr/>
                  <p:nvPr/>
                </p:nvSpPr>
                <p:spPr>
                  <a:xfrm>
                    <a:off x="3304" y="2813"/>
                    <a:ext cx="87" cy="220"/>
                  </a:xfrm>
                  <a:prstGeom prst="rect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3" name="Google Shape;923;p29"/>
                  <p:cNvSpPr/>
                  <p:nvPr/>
                </p:nvSpPr>
                <p:spPr>
                  <a:xfrm>
                    <a:off x="3304" y="3002"/>
                    <a:ext cx="83" cy="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4" name="Google Shape;924;p29"/>
                <p:cNvSpPr/>
                <p:nvPr/>
              </p:nvSpPr>
              <p:spPr>
                <a:xfrm>
                  <a:off x="3099" y="2035"/>
                  <a:ext cx="242" cy="242"/>
                </a:xfrm>
                <a:prstGeom prst="ellipse">
                  <a:avLst/>
                </a:prstGeom>
                <a:gradFill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25" name="Google Shape;925;p29"/>
          <p:cNvGrpSpPr/>
          <p:nvPr/>
        </p:nvGrpSpPr>
        <p:grpSpPr>
          <a:xfrm>
            <a:off x="7353300" y="3730625"/>
            <a:ext cx="1790700" cy="2947988"/>
            <a:chOff x="3790" y="2351"/>
            <a:chExt cx="1128" cy="1857"/>
          </a:xfrm>
        </p:grpSpPr>
        <p:grpSp>
          <p:nvGrpSpPr>
            <p:cNvPr id="926" name="Google Shape;926;p29"/>
            <p:cNvGrpSpPr/>
            <p:nvPr/>
          </p:nvGrpSpPr>
          <p:grpSpPr>
            <a:xfrm>
              <a:off x="4109" y="2945"/>
              <a:ext cx="485" cy="917"/>
              <a:chOff x="4268" y="2643"/>
              <a:chExt cx="485" cy="917"/>
            </a:xfrm>
          </p:grpSpPr>
          <p:sp>
            <p:nvSpPr>
              <p:cNvPr id="927" name="Google Shape;927;p29"/>
              <p:cNvSpPr/>
              <p:nvPr/>
            </p:nvSpPr>
            <p:spPr>
              <a:xfrm>
                <a:off x="4477" y="2643"/>
                <a:ext cx="87" cy="530"/>
              </a:xfrm>
              <a:prstGeom prst="rect">
                <a:avLst/>
              </a:prstGeom>
              <a:gradFill>
                <a:gsLst>
                  <a:gs pos="0">
                    <a:srgbClr val="5E2F00"/>
                  </a:gs>
                  <a:gs pos="50000">
                    <a:srgbClr val="CC6600"/>
                  </a:gs>
                  <a:gs pos="100000">
                    <a:srgbClr val="5E2F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29"/>
              <p:cNvSpPr/>
              <p:nvPr/>
            </p:nvSpPr>
            <p:spPr>
              <a:xfrm>
                <a:off x="4268" y="3151"/>
                <a:ext cx="485" cy="409"/>
              </a:xfrm>
              <a:custGeom>
                <a:rect b="b" l="l" r="r" t="t"/>
                <a:pathLst>
                  <a:path extrusionOk="0" h="409" w="205">
                    <a:moveTo>
                      <a:pt x="0" y="394"/>
                    </a:moveTo>
                    <a:lnTo>
                      <a:pt x="106" y="0"/>
                    </a:lnTo>
                    <a:lnTo>
                      <a:pt x="205" y="409"/>
                    </a:lnTo>
                  </a:path>
                </a:pathLst>
              </a:custGeom>
              <a:noFill/>
              <a:ln cap="flat" cmpd="sng" w="19050">
                <a:solidFill>
                  <a:srgbClr val="CC66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9" name="Google Shape;929;p29"/>
            <p:cNvGrpSpPr/>
            <p:nvPr/>
          </p:nvGrpSpPr>
          <p:grpSpPr>
            <a:xfrm>
              <a:off x="3790" y="2351"/>
              <a:ext cx="1128" cy="1857"/>
              <a:chOff x="4558" y="2076"/>
              <a:chExt cx="1128" cy="1857"/>
            </a:xfrm>
          </p:grpSpPr>
          <p:pic>
            <p:nvPicPr>
              <p:cNvPr descr="ANd9GcSVdVCjfHklk_qzcE1v84Paz0OjtPC558e-YQLSh0a_ib2nwbhRkhFFh3Xw4Q" id="930" name="Google Shape;930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58" y="2325"/>
                <a:ext cx="1128" cy="16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grpSp>
            <p:nvGrpSpPr>
              <p:cNvPr id="931" name="Google Shape;931;p29"/>
              <p:cNvGrpSpPr/>
              <p:nvPr/>
            </p:nvGrpSpPr>
            <p:grpSpPr>
              <a:xfrm>
                <a:off x="4903" y="2076"/>
                <a:ext cx="426" cy="703"/>
                <a:chOff x="3008" y="2035"/>
                <a:chExt cx="426" cy="703"/>
              </a:xfrm>
            </p:grpSpPr>
            <p:grpSp>
              <p:nvGrpSpPr>
                <p:cNvPr id="932" name="Google Shape;932;p29"/>
                <p:cNvGrpSpPr/>
                <p:nvPr/>
              </p:nvGrpSpPr>
              <p:grpSpPr>
                <a:xfrm>
                  <a:off x="3008" y="2328"/>
                  <a:ext cx="426" cy="410"/>
                  <a:chOff x="4092" y="2055"/>
                  <a:chExt cx="426" cy="410"/>
                </a:xfrm>
              </p:grpSpPr>
              <p:sp>
                <p:nvSpPr>
                  <p:cNvPr id="933" name="Google Shape;933;p29"/>
                  <p:cNvSpPr/>
                  <p:nvPr/>
                </p:nvSpPr>
                <p:spPr>
                  <a:xfrm>
                    <a:off x="4094" y="2383"/>
                    <a:ext cx="424" cy="82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4" name="Google Shape;934;p29"/>
                  <p:cNvSpPr/>
                  <p:nvPr/>
                </p:nvSpPr>
                <p:spPr>
                  <a:xfrm>
                    <a:off x="4092" y="2092"/>
                    <a:ext cx="425" cy="333"/>
                  </a:xfrm>
                  <a:prstGeom prst="rect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5" name="Google Shape;935;p29"/>
                  <p:cNvSpPr/>
                  <p:nvPr/>
                </p:nvSpPr>
                <p:spPr>
                  <a:xfrm>
                    <a:off x="4093" y="2055"/>
                    <a:ext cx="424" cy="82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lt2"/>
                      </a:gs>
                      <a:gs pos="100000">
                        <a:srgbClr val="5A5A5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36" name="Google Shape;936;p29"/>
                <p:cNvGrpSpPr/>
                <p:nvPr/>
              </p:nvGrpSpPr>
              <p:grpSpPr>
                <a:xfrm>
                  <a:off x="3182" y="2177"/>
                  <a:ext cx="87" cy="200"/>
                  <a:chOff x="3304" y="2813"/>
                  <a:chExt cx="87" cy="245"/>
                </a:xfrm>
              </p:grpSpPr>
              <p:sp>
                <p:nvSpPr>
                  <p:cNvPr id="937" name="Google Shape;937;p29"/>
                  <p:cNvSpPr/>
                  <p:nvPr/>
                </p:nvSpPr>
                <p:spPr>
                  <a:xfrm>
                    <a:off x="3304" y="2813"/>
                    <a:ext cx="87" cy="220"/>
                  </a:xfrm>
                  <a:prstGeom prst="rect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8" name="Google Shape;938;p29"/>
                  <p:cNvSpPr/>
                  <p:nvPr/>
                </p:nvSpPr>
                <p:spPr>
                  <a:xfrm>
                    <a:off x="3304" y="3002"/>
                    <a:ext cx="83" cy="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39" name="Google Shape;939;p29"/>
                <p:cNvSpPr/>
                <p:nvPr/>
              </p:nvSpPr>
              <p:spPr>
                <a:xfrm>
                  <a:off x="3099" y="2035"/>
                  <a:ext cx="242" cy="242"/>
                </a:xfrm>
                <a:prstGeom prst="ellipse">
                  <a:avLst/>
                </a:prstGeom>
                <a:gradFill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40" name="Google Shape;940;p29"/>
          <p:cNvGrpSpPr/>
          <p:nvPr/>
        </p:nvGrpSpPr>
        <p:grpSpPr>
          <a:xfrm>
            <a:off x="3752850" y="3733800"/>
            <a:ext cx="1790700" cy="2947988"/>
            <a:chOff x="783" y="2329"/>
            <a:chExt cx="1128" cy="1857"/>
          </a:xfrm>
        </p:grpSpPr>
        <p:grpSp>
          <p:nvGrpSpPr>
            <p:cNvPr id="941" name="Google Shape;941;p29"/>
            <p:cNvGrpSpPr/>
            <p:nvPr/>
          </p:nvGrpSpPr>
          <p:grpSpPr>
            <a:xfrm>
              <a:off x="1227" y="2916"/>
              <a:ext cx="205" cy="925"/>
              <a:chOff x="2766" y="2440"/>
              <a:chExt cx="205" cy="925"/>
            </a:xfrm>
          </p:grpSpPr>
          <p:sp>
            <p:nvSpPr>
              <p:cNvPr id="942" name="Google Shape;942;p29"/>
              <p:cNvSpPr/>
              <p:nvPr/>
            </p:nvSpPr>
            <p:spPr>
              <a:xfrm>
                <a:off x="2766" y="2956"/>
                <a:ext cx="205" cy="409"/>
              </a:xfrm>
              <a:custGeom>
                <a:rect b="b" l="l" r="r" t="t"/>
                <a:pathLst>
                  <a:path extrusionOk="0" h="409" w="205">
                    <a:moveTo>
                      <a:pt x="0" y="394"/>
                    </a:moveTo>
                    <a:lnTo>
                      <a:pt x="106" y="0"/>
                    </a:lnTo>
                    <a:lnTo>
                      <a:pt x="205" y="409"/>
                    </a:lnTo>
                  </a:path>
                </a:pathLst>
              </a:custGeom>
              <a:noFill/>
              <a:ln cap="flat" cmpd="sng" w="19050">
                <a:solidFill>
                  <a:srgbClr val="CC66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29"/>
              <p:cNvSpPr/>
              <p:nvPr/>
            </p:nvSpPr>
            <p:spPr>
              <a:xfrm>
                <a:off x="2833" y="2440"/>
                <a:ext cx="87" cy="530"/>
              </a:xfrm>
              <a:prstGeom prst="rect">
                <a:avLst/>
              </a:prstGeom>
              <a:gradFill>
                <a:gsLst>
                  <a:gs pos="0">
                    <a:srgbClr val="5E2F00"/>
                  </a:gs>
                  <a:gs pos="50000">
                    <a:srgbClr val="CC6600"/>
                  </a:gs>
                  <a:gs pos="100000">
                    <a:srgbClr val="5E2F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4" name="Google Shape;944;p29"/>
            <p:cNvGrpSpPr/>
            <p:nvPr/>
          </p:nvGrpSpPr>
          <p:grpSpPr>
            <a:xfrm>
              <a:off x="783" y="2329"/>
              <a:ext cx="1128" cy="1857"/>
              <a:chOff x="4558" y="2076"/>
              <a:chExt cx="1128" cy="1857"/>
            </a:xfrm>
          </p:grpSpPr>
          <p:pic>
            <p:nvPicPr>
              <p:cNvPr descr="ANd9GcSVdVCjfHklk_qzcE1v84Paz0OjtPC558e-YQLSh0a_ib2nwbhRkhFFh3Xw4Q" id="945" name="Google Shape;945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58" y="2325"/>
                <a:ext cx="1128" cy="16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grpSp>
            <p:nvGrpSpPr>
              <p:cNvPr id="946" name="Google Shape;946;p29"/>
              <p:cNvGrpSpPr/>
              <p:nvPr/>
            </p:nvGrpSpPr>
            <p:grpSpPr>
              <a:xfrm>
                <a:off x="4903" y="2076"/>
                <a:ext cx="426" cy="703"/>
                <a:chOff x="3008" y="2035"/>
                <a:chExt cx="426" cy="703"/>
              </a:xfrm>
            </p:grpSpPr>
            <p:grpSp>
              <p:nvGrpSpPr>
                <p:cNvPr id="947" name="Google Shape;947;p29"/>
                <p:cNvGrpSpPr/>
                <p:nvPr/>
              </p:nvGrpSpPr>
              <p:grpSpPr>
                <a:xfrm>
                  <a:off x="3008" y="2328"/>
                  <a:ext cx="426" cy="410"/>
                  <a:chOff x="4092" y="2055"/>
                  <a:chExt cx="426" cy="410"/>
                </a:xfrm>
              </p:grpSpPr>
              <p:sp>
                <p:nvSpPr>
                  <p:cNvPr id="948" name="Google Shape;948;p29"/>
                  <p:cNvSpPr/>
                  <p:nvPr/>
                </p:nvSpPr>
                <p:spPr>
                  <a:xfrm>
                    <a:off x="4094" y="2383"/>
                    <a:ext cx="424" cy="82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9" name="Google Shape;949;p29"/>
                  <p:cNvSpPr/>
                  <p:nvPr/>
                </p:nvSpPr>
                <p:spPr>
                  <a:xfrm>
                    <a:off x="4092" y="2092"/>
                    <a:ext cx="425" cy="333"/>
                  </a:xfrm>
                  <a:prstGeom prst="rect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0" name="Google Shape;950;p29"/>
                  <p:cNvSpPr/>
                  <p:nvPr/>
                </p:nvSpPr>
                <p:spPr>
                  <a:xfrm>
                    <a:off x="4093" y="2055"/>
                    <a:ext cx="424" cy="82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lt2"/>
                      </a:gs>
                      <a:gs pos="100000">
                        <a:srgbClr val="5A5A5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51" name="Google Shape;951;p29"/>
                <p:cNvGrpSpPr/>
                <p:nvPr/>
              </p:nvGrpSpPr>
              <p:grpSpPr>
                <a:xfrm>
                  <a:off x="3182" y="2177"/>
                  <a:ext cx="87" cy="200"/>
                  <a:chOff x="3304" y="2813"/>
                  <a:chExt cx="87" cy="245"/>
                </a:xfrm>
              </p:grpSpPr>
              <p:sp>
                <p:nvSpPr>
                  <p:cNvPr id="952" name="Google Shape;952;p29"/>
                  <p:cNvSpPr/>
                  <p:nvPr/>
                </p:nvSpPr>
                <p:spPr>
                  <a:xfrm>
                    <a:off x="3304" y="2813"/>
                    <a:ext cx="87" cy="220"/>
                  </a:xfrm>
                  <a:prstGeom prst="rect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3" name="Google Shape;953;p29"/>
                  <p:cNvSpPr/>
                  <p:nvPr/>
                </p:nvSpPr>
                <p:spPr>
                  <a:xfrm>
                    <a:off x="3304" y="3002"/>
                    <a:ext cx="83" cy="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54" name="Google Shape;954;p29"/>
                <p:cNvSpPr/>
                <p:nvPr/>
              </p:nvSpPr>
              <p:spPr>
                <a:xfrm>
                  <a:off x="3099" y="2035"/>
                  <a:ext cx="242" cy="242"/>
                </a:xfrm>
                <a:prstGeom prst="ellipse">
                  <a:avLst/>
                </a:prstGeom>
                <a:gradFill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55" name="Google Shape;955;p29"/>
          <p:cNvSpPr/>
          <p:nvPr/>
        </p:nvSpPr>
        <p:spPr>
          <a:xfrm>
            <a:off x="7869238" y="5499100"/>
            <a:ext cx="757237" cy="636588"/>
          </a:xfrm>
          <a:custGeom>
            <a:rect b="b" l="l" r="r" t="t"/>
            <a:pathLst>
              <a:path extrusionOk="0" h="401" w="477">
                <a:moveTo>
                  <a:pt x="0" y="401"/>
                </a:moveTo>
                <a:lnTo>
                  <a:pt x="235" y="0"/>
                </a:lnTo>
                <a:lnTo>
                  <a:pt x="477" y="386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9"/>
          <p:cNvSpPr/>
          <p:nvPr/>
        </p:nvSpPr>
        <p:spPr>
          <a:xfrm>
            <a:off x="6413500" y="5489575"/>
            <a:ext cx="96838" cy="612775"/>
          </a:xfrm>
          <a:custGeom>
            <a:rect b="b" l="l" r="r" t="t"/>
            <a:pathLst>
              <a:path extrusionOk="0" h="386" w="61">
                <a:moveTo>
                  <a:pt x="0" y="385"/>
                </a:moveTo>
                <a:lnTo>
                  <a:pt x="30" y="0"/>
                </a:lnTo>
                <a:lnTo>
                  <a:pt x="61" y="386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29"/>
          <p:cNvSpPr/>
          <p:nvPr/>
        </p:nvSpPr>
        <p:spPr>
          <a:xfrm>
            <a:off x="685800" y="1549400"/>
            <a:ext cx="7772400" cy="4508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detection using an electroscope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0"/>
          <p:cNvSpPr/>
          <p:nvPr/>
        </p:nvSpPr>
        <p:spPr>
          <a:xfrm>
            <a:off x="687388" y="1984375"/>
            <a:ext cx="7772400" cy="48736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Explain: A charged wand is brought near an uncharged electroscope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touching it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   While the wand is near, the filaments spread out.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ball and the filaments are conductors                         and they are connected to each other.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wand’s charge repels like charges                         in the ball.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like charges in the ball travel as                              far as they can to the filaments.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filaments now temporarily hold like                       charges and thus they repel each other.</a:t>
            </a:r>
            <a:endParaRPr/>
          </a:p>
        </p:txBody>
      </p:sp>
      <p:sp>
        <p:nvSpPr>
          <p:cNvPr id="963" name="Google Shape;963;p3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grpSp>
        <p:nvGrpSpPr>
          <p:cNvPr id="964" name="Google Shape;964;p30"/>
          <p:cNvGrpSpPr/>
          <p:nvPr/>
        </p:nvGrpSpPr>
        <p:grpSpPr>
          <a:xfrm>
            <a:off x="7027863" y="2520950"/>
            <a:ext cx="1212850" cy="1997075"/>
            <a:chOff x="2266" y="2349"/>
            <a:chExt cx="1128" cy="1857"/>
          </a:xfrm>
        </p:grpSpPr>
        <p:grpSp>
          <p:nvGrpSpPr>
            <p:cNvPr id="965" name="Google Shape;965;p30"/>
            <p:cNvGrpSpPr/>
            <p:nvPr/>
          </p:nvGrpSpPr>
          <p:grpSpPr>
            <a:xfrm>
              <a:off x="2776" y="2920"/>
              <a:ext cx="87" cy="940"/>
              <a:chOff x="2864" y="3025"/>
              <a:chExt cx="87" cy="940"/>
            </a:xfrm>
          </p:grpSpPr>
          <p:sp>
            <p:nvSpPr>
              <p:cNvPr id="966" name="Google Shape;966;p30"/>
              <p:cNvSpPr/>
              <p:nvPr/>
            </p:nvSpPr>
            <p:spPr>
              <a:xfrm>
                <a:off x="2888" y="3556"/>
                <a:ext cx="46" cy="409"/>
              </a:xfrm>
              <a:custGeom>
                <a:rect b="b" l="l" r="r" t="t"/>
                <a:pathLst>
                  <a:path extrusionOk="0" h="409" w="205">
                    <a:moveTo>
                      <a:pt x="0" y="394"/>
                    </a:moveTo>
                    <a:lnTo>
                      <a:pt x="106" y="0"/>
                    </a:lnTo>
                    <a:lnTo>
                      <a:pt x="205" y="409"/>
                    </a:lnTo>
                  </a:path>
                </a:pathLst>
              </a:custGeom>
              <a:noFill/>
              <a:ln cap="flat" cmpd="sng" w="19050">
                <a:solidFill>
                  <a:srgbClr val="CC66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30"/>
              <p:cNvSpPr/>
              <p:nvPr/>
            </p:nvSpPr>
            <p:spPr>
              <a:xfrm>
                <a:off x="2864" y="3025"/>
                <a:ext cx="87" cy="530"/>
              </a:xfrm>
              <a:prstGeom prst="rect">
                <a:avLst/>
              </a:prstGeom>
              <a:gradFill>
                <a:gsLst>
                  <a:gs pos="0">
                    <a:srgbClr val="5E2F00"/>
                  </a:gs>
                  <a:gs pos="50000">
                    <a:srgbClr val="CC6600"/>
                  </a:gs>
                  <a:gs pos="100000">
                    <a:srgbClr val="5E2F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8" name="Google Shape;968;p30"/>
            <p:cNvGrpSpPr/>
            <p:nvPr/>
          </p:nvGrpSpPr>
          <p:grpSpPr>
            <a:xfrm>
              <a:off x="2266" y="2349"/>
              <a:ext cx="1128" cy="1857"/>
              <a:chOff x="4558" y="2076"/>
              <a:chExt cx="1128" cy="1857"/>
            </a:xfrm>
          </p:grpSpPr>
          <p:pic>
            <p:nvPicPr>
              <p:cNvPr descr="ANd9GcSVdVCjfHklk_qzcE1v84Paz0OjtPC558e-YQLSh0a_ib2nwbhRkhFFh3Xw4Q" id="969" name="Google Shape;969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58" y="2325"/>
                <a:ext cx="1128" cy="16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grpSp>
            <p:nvGrpSpPr>
              <p:cNvPr id="970" name="Google Shape;970;p30"/>
              <p:cNvGrpSpPr/>
              <p:nvPr/>
            </p:nvGrpSpPr>
            <p:grpSpPr>
              <a:xfrm>
                <a:off x="4903" y="2076"/>
                <a:ext cx="426" cy="703"/>
                <a:chOff x="3008" y="2035"/>
                <a:chExt cx="426" cy="703"/>
              </a:xfrm>
            </p:grpSpPr>
            <p:grpSp>
              <p:nvGrpSpPr>
                <p:cNvPr id="971" name="Google Shape;971;p30"/>
                <p:cNvGrpSpPr/>
                <p:nvPr/>
              </p:nvGrpSpPr>
              <p:grpSpPr>
                <a:xfrm>
                  <a:off x="3008" y="2326"/>
                  <a:ext cx="426" cy="412"/>
                  <a:chOff x="4092" y="2053"/>
                  <a:chExt cx="426" cy="412"/>
                </a:xfrm>
              </p:grpSpPr>
              <p:sp>
                <p:nvSpPr>
                  <p:cNvPr id="972" name="Google Shape;972;p30"/>
                  <p:cNvSpPr/>
                  <p:nvPr/>
                </p:nvSpPr>
                <p:spPr>
                  <a:xfrm>
                    <a:off x="4094" y="2382"/>
                    <a:ext cx="424" cy="8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3" name="Google Shape;973;p30"/>
                  <p:cNvSpPr/>
                  <p:nvPr/>
                </p:nvSpPr>
                <p:spPr>
                  <a:xfrm>
                    <a:off x="4092" y="2090"/>
                    <a:ext cx="424" cy="335"/>
                  </a:xfrm>
                  <a:prstGeom prst="rect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4" name="Google Shape;974;p30"/>
                  <p:cNvSpPr/>
                  <p:nvPr/>
                </p:nvSpPr>
                <p:spPr>
                  <a:xfrm>
                    <a:off x="4094" y="2053"/>
                    <a:ext cx="422" cy="84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lt2"/>
                      </a:gs>
                      <a:gs pos="100000">
                        <a:srgbClr val="5A5A5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75" name="Google Shape;975;p30"/>
                <p:cNvGrpSpPr/>
                <p:nvPr/>
              </p:nvGrpSpPr>
              <p:grpSpPr>
                <a:xfrm>
                  <a:off x="3182" y="2177"/>
                  <a:ext cx="87" cy="200"/>
                  <a:chOff x="3304" y="2813"/>
                  <a:chExt cx="87" cy="245"/>
                </a:xfrm>
              </p:grpSpPr>
              <p:sp>
                <p:nvSpPr>
                  <p:cNvPr id="976" name="Google Shape;976;p30"/>
                  <p:cNvSpPr/>
                  <p:nvPr/>
                </p:nvSpPr>
                <p:spPr>
                  <a:xfrm>
                    <a:off x="3304" y="2813"/>
                    <a:ext cx="87" cy="220"/>
                  </a:xfrm>
                  <a:prstGeom prst="rect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7" name="Google Shape;977;p30"/>
                  <p:cNvSpPr/>
                  <p:nvPr/>
                </p:nvSpPr>
                <p:spPr>
                  <a:xfrm>
                    <a:off x="3304" y="3002"/>
                    <a:ext cx="83" cy="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78" name="Google Shape;978;p30"/>
                <p:cNvSpPr/>
                <p:nvPr/>
              </p:nvSpPr>
              <p:spPr>
                <a:xfrm>
                  <a:off x="3099" y="2035"/>
                  <a:ext cx="242" cy="242"/>
                </a:xfrm>
                <a:prstGeom prst="ellipse">
                  <a:avLst/>
                </a:prstGeom>
                <a:gradFill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79" name="Google Shape;979;p30"/>
          <p:cNvGrpSpPr/>
          <p:nvPr/>
        </p:nvGrpSpPr>
        <p:grpSpPr>
          <a:xfrm>
            <a:off x="7027863" y="4705350"/>
            <a:ext cx="1212850" cy="1997075"/>
            <a:chOff x="3790" y="2351"/>
            <a:chExt cx="1128" cy="1857"/>
          </a:xfrm>
        </p:grpSpPr>
        <p:grpSp>
          <p:nvGrpSpPr>
            <p:cNvPr id="980" name="Google Shape;980;p30"/>
            <p:cNvGrpSpPr/>
            <p:nvPr/>
          </p:nvGrpSpPr>
          <p:grpSpPr>
            <a:xfrm>
              <a:off x="4109" y="2945"/>
              <a:ext cx="485" cy="917"/>
              <a:chOff x="4268" y="2643"/>
              <a:chExt cx="485" cy="917"/>
            </a:xfrm>
          </p:grpSpPr>
          <p:sp>
            <p:nvSpPr>
              <p:cNvPr id="981" name="Google Shape;981;p30"/>
              <p:cNvSpPr/>
              <p:nvPr/>
            </p:nvSpPr>
            <p:spPr>
              <a:xfrm>
                <a:off x="4477" y="2643"/>
                <a:ext cx="87" cy="530"/>
              </a:xfrm>
              <a:prstGeom prst="rect">
                <a:avLst/>
              </a:prstGeom>
              <a:gradFill>
                <a:gsLst>
                  <a:gs pos="0">
                    <a:srgbClr val="5E2F00"/>
                  </a:gs>
                  <a:gs pos="50000">
                    <a:srgbClr val="CC6600"/>
                  </a:gs>
                  <a:gs pos="100000">
                    <a:srgbClr val="5E2F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30"/>
              <p:cNvSpPr/>
              <p:nvPr/>
            </p:nvSpPr>
            <p:spPr>
              <a:xfrm>
                <a:off x="4268" y="3151"/>
                <a:ext cx="485" cy="409"/>
              </a:xfrm>
              <a:custGeom>
                <a:rect b="b" l="l" r="r" t="t"/>
                <a:pathLst>
                  <a:path extrusionOk="0" h="409" w="205">
                    <a:moveTo>
                      <a:pt x="0" y="394"/>
                    </a:moveTo>
                    <a:lnTo>
                      <a:pt x="106" y="0"/>
                    </a:lnTo>
                    <a:lnTo>
                      <a:pt x="205" y="409"/>
                    </a:lnTo>
                  </a:path>
                </a:pathLst>
              </a:custGeom>
              <a:noFill/>
              <a:ln cap="flat" cmpd="sng" w="19050">
                <a:solidFill>
                  <a:srgbClr val="CC66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3" name="Google Shape;983;p30"/>
            <p:cNvGrpSpPr/>
            <p:nvPr/>
          </p:nvGrpSpPr>
          <p:grpSpPr>
            <a:xfrm>
              <a:off x="3790" y="2351"/>
              <a:ext cx="1128" cy="1857"/>
              <a:chOff x="4558" y="2076"/>
              <a:chExt cx="1128" cy="1857"/>
            </a:xfrm>
          </p:grpSpPr>
          <p:pic>
            <p:nvPicPr>
              <p:cNvPr descr="ANd9GcSVdVCjfHklk_qzcE1v84Paz0OjtPC558e-YQLSh0a_ib2nwbhRkhFFh3Xw4Q" id="984" name="Google Shape;984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58" y="2325"/>
                <a:ext cx="1128" cy="16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grpSp>
            <p:nvGrpSpPr>
              <p:cNvPr id="985" name="Google Shape;985;p30"/>
              <p:cNvGrpSpPr/>
              <p:nvPr/>
            </p:nvGrpSpPr>
            <p:grpSpPr>
              <a:xfrm>
                <a:off x="4903" y="2076"/>
                <a:ext cx="426" cy="703"/>
                <a:chOff x="3008" y="2035"/>
                <a:chExt cx="426" cy="703"/>
              </a:xfrm>
            </p:grpSpPr>
            <p:grpSp>
              <p:nvGrpSpPr>
                <p:cNvPr id="986" name="Google Shape;986;p30"/>
                <p:cNvGrpSpPr/>
                <p:nvPr/>
              </p:nvGrpSpPr>
              <p:grpSpPr>
                <a:xfrm>
                  <a:off x="3008" y="2326"/>
                  <a:ext cx="426" cy="412"/>
                  <a:chOff x="4092" y="2053"/>
                  <a:chExt cx="426" cy="412"/>
                </a:xfrm>
              </p:grpSpPr>
              <p:sp>
                <p:nvSpPr>
                  <p:cNvPr id="987" name="Google Shape;987;p30"/>
                  <p:cNvSpPr/>
                  <p:nvPr/>
                </p:nvSpPr>
                <p:spPr>
                  <a:xfrm>
                    <a:off x="4094" y="2382"/>
                    <a:ext cx="424" cy="8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8" name="Google Shape;988;p30"/>
                  <p:cNvSpPr/>
                  <p:nvPr/>
                </p:nvSpPr>
                <p:spPr>
                  <a:xfrm>
                    <a:off x="4092" y="2090"/>
                    <a:ext cx="424" cy="335"/>
                  </a:xfrm>
                  <a:prstGeom prst="rect">
                    <a:avLst/>
                  </a:prstGeom>
                  <a:gradFill>
                    <a:gsLst>
                      <a:gs pos="0">
                        <a:srgbClr val="5A5A5A"/>
                      </a:gs>
                      <a:gs pos="50000">
                        <a:schemeClr val="lt2"/>
                      </a:gs>
                      <a:gs pos="100000">
                        <a:srgbClr val="5A5A5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9" name="Google Shape;989;p30"/>
                  <p:cNvSpPr/>
                  <p:nvPr/>
                </p:nvSpPr>
                <p:spPr>
                  <a:xfrm>
                    <a:off x="4094" y="2053"/>
                    <a:ext cx="422" cy="84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lt2"/>
                      </a:gs>
                      <a:gs pos="100000">
                        <a:srgbClr val="5A5A5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90" name="Google Shape;990;p30"/>
                <p:cNvGrpSpPr/>
                <p:nvPr/>
              </p:nvGrpSpPr>
              <p:grpSpPr>
                <a:xfrm>
                  <a:off x="3182" y="2177"/>
                  <a:ext cx="87" cy="200"/>
                  <a:chOff x="3304" y="2813"/>
                  <a:chExt cx="87" cy="245"/>
                </a:xfrm>
              </p:grpSpPr>
              <p:sp>
                <p:nvSpPr>
                  <p:cNvPr id="991" name="Google Shape;991;p30"/>
                  <p:cNvSpPr/>
                  <p:nvPr/>
                </p:nvSpPr>
                <p:spPr>
                  <a:xfrm>
                    <a:off x="3304" y="2813"/>
                    <a:ext cx="87" cy="220"/>
                  </a:xfrm>
                  <a:prstGeom prst="rect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2" name="Google Shape;992;p30"/>
                  <p:cNvSpPr/>
                  <p:nvPr/>
                </p:nvSpPr>
                <p:spPr>
                  <a:xfrm>
                    <a:off x="3304" y="3002"/>
                    <a:ext cx="83" cy="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93" name="Google Shape;993;p30"/>
                <p:cNvSpPr/>
                <p:nvPr/>
              </p:nvSpPr>
              <p:spPr>
                <a:xfrm>
                  <a:off x="3099" y="2035"/>
                  <a:ext cx="242" cy="242"/>
                </a:xfrm>
                <a:prstGeom prst="ellipse">
                  <a:avLst/>
                </a:prstGeom>
                <a:gradFill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94" name="Google Shape;994;p30"/>
          <p:cNvSpPr/>
          <p:nvPr/>
        </p:nvSpPr>
        <p:spPr>
          <a:xfrm>
            <a:off x="7958138" y="4703763"/>
            <a:ext cx="1204912" cy="204787"/>
          </a:xfrm>
          <a:prstGeom prst="rect">
            <a:avLst/>
          </a:prstGeom>
          <a:gradFill>
            <a:gsLst>
              <a:gs pos="0">
                <a:srgbClr val="5A5A5A"/>
              </a:gs>
              <a:gs pos="50000">
                <a:schemeClr val="lt2"/>
              </a:gs>
              <a:gs pos="100000">
                <a:srgbClr val="5A5A5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5" name="Google Shape;995;p30"/>
          <p:cNvCxnSpPr/>
          <p:nvPr/>
        </p:nvCxnSpPr>
        <p:spPr>
          <a:xfrm>
            <a:off x="7015163" y="4595813"/>
            <a:ext cx="1274762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6" name="Google Shape;996;p30"/>
          <p:cNvSpPr txBox="1"/>
          <p:nvPr/>
        </p:nvSpPr>
        <p:spPr>
          <a:xfrm rot="-5400000">
            <a:off x="7691438" y="3109913"/>
            <a:ext cx="1793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before and after</a:t>
            </a:r>
            <a:endParaRPr/>
          </a:p>
        </p:txBody>
      </p:sp>
      <p:sp>
        <p:nvSpPr>
          <p:cNvPr id="997" name="Google Shape;997;p30"/>
          <p:cNvSpPr txBox="1"/>
          <p:nvPr/>
        </p:nvSpPr>
        <p:spPr>
          <a:xfrm rot="-5400000">
            <a:off x="7914482" y="5560219"/>
            <a:ext cx="10334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during</a:t>
            </a:r>
            <a:endParaRPr/>
          </a:p>
        </p:txBody>
      </p:sp>
      <p:sp>
        <p:nvSpPr>
          <p:cNvPr id="998" name="Google Shape;998;p30"/>
          <p:cNvSpPr/>
          <p:nvPr/>
        </p:nvSpPr>
        <p:spPr>
          <a:xfrm>
            <a:off x="685800" y="1549400"/>
            <a:ext cx="7772400" cy="4508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Charge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detection using an electroscope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1"/>
          <p:cNvSpPr/>
          <p:nvPr/>
        </p:nvSpPr>
        <p:spPr>
          <a:xfrm>
            <a:off x="687388" y="4389438"/>
            <a:ext cx="7772400" cy="24685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Many houses have 20-amp(ere) service. How many electrons per second is this?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∙20 A is 20 C (per s) so we only need to know how many electrons are in 20 C.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(20 C)(1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1.6×10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-19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C) = 1.3×10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005" name="Google Shape;1005;p31"/>
          <p:cNvSpPr/>
          <p:nvPr/>
        </p:nvSpPr>
        <p:spPr>
          <a:xfrm>
            <a:off x="685800" y="1549400"/>
            <a:ext cx="7772400" cy="28400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Electric current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time rate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which charge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moves past a particular point in a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the formula it should be clear that current is measured in Coulombs per second (C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which is called an Ampere (A)</a:t>
            </a:r>
            <a:endParaRPr/>
          </a:p>
        </p:txBody>
      </p:sp>
      <p:sp>
        <p:nvSpPr>
          <p:cNvPr id="1006" name="Google Shape;1006;p3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07" name="Google Shape;1007;p31"/>
          <p:cNvGrpSpPr/>
          <p:nvPr/>
        </p:nvGrpSpPr>
        <p:grpSpPr>
          <a:xfrm>
            <a:off x="809625" y="2800350"/>
            <a:ext cx="7464425" cy="461963"/>
            <a:chOff x="510" y="2251"/>
            <a:chExt cx="4702" cy="291"/>
          </a:xfrm>
        </p:grpSpPr>
        <p:sp>
          <p:nvSpPr>
            <p:cNvPr id="1008" name="Google Shape;1008;p31"/>
            <p:cNvSpPr/>
            <p:nvPr/>
          </p:nvSpPr>
          <p:spPr>
            <a:xfrm>
              <a:off x="592" y="2264"/>
              <a:ext cx="1757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 /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∆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1"/>
            <p:cNvSpPr txBox="1"/>
            <p:nvPr/>
          </p:nvSpPr>
          <p:spPr>
            <a:xfrm>
              <a:off x="3512" y="2251"/>
              <a:ext cx="1700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electric current</a:t>
              </a: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510" y="2253"/>
              <a:ext cx="4701" cy="2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1671" y="2258"/>
              <a:ext cx="1757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or I</a:t>
              </a:r>
              <a:r>
                <a:rPr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q /</a:t>
              </a:r>
              <a:r>
                <a:rPr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12" name="Google Shape;1012;p31"/>
          <p:cNvCxnSpPr/>
          <p:nvPr/>
        </p:nvCxnSpPr>
        <p:spPr>
          <a:xfrm flipH="1" rot="10800000">
            <a:off x="2166938" y="6538913"/>
            <a:ext cx="311150" cy="2317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31"/>
          <p:cNvCxnSpPr/>
          <p:nvPr/>
        </p:nvCxnSpPr>
        <p:spPr>
          <a:xfrm flipH="1" rot="10800000">
            <a:off x="4706938" y="6569075"/>
            <a:ext cx="211137" cy="20955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/>
          <p:cNvSpPr/>
          <p:nvPr/>
        </p:nvSpPr>
        <p:spPr>
          <a:xfrm>
            <a:off x="685800" y="1549400"/>
            <a:ext cx="7772400" cy="41989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Electric current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 current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time rate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which charge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moves past a particular point in a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simple model may help clarify current flow.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∙Think of conductors as “pipes” that hold electrons.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chemical cell pushes an electron out of the (-) side. This electron in turn pushes the next, and so on, because like charges repel.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∙This “electromotive force” is transfered simultaneously to every charge in the circuit.</a:t>
            </a:r>
            <a:endParaRPr/>
          </a:p>
        </p:txBody>
      </p:sp>
      <p:sp>
        <p:nvSpPr>
          <p:cNvPr id="1020" name="Google Shape;1020;p3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21" name="Google Shape;1021;p32"/>
          <p:cNvGrpSpPr/>
          <p:nvPr/>
        </p:nvGrpSpPr>
        <p:grpSpPr>
          <a:xfrm>
            <a:off x="-7639050" y="5765800"/>
            <a:ext cx="16970375" cy="1081088"/>
            <a:chOff x="-5025" y="3499"/>
            <a:chExt cx="10690" cy="681"/>
          </a:xfrm>
        </p:grpSpPr>
        <p:grpSp>
          <p:nvGrpSpPr>
            <p:cNvPr id="1022" name="Google Shape;1022;p32"/>
            <p:cNvGrpSpPr/>
            <p:nvPr/>
          </p:nvGrpSpPr>
          <p:grpSpPr>
            <a:xfrm>
              <a:off x="323" y="3499"/>
              <a:ext cx="5342" cy="676"/>
              <a:chOff x="323" y="3499"/>
              <a:chExt cx="5342" cy="676"/>
            </a:xfrm>
          </p:grpSpPr>
          <p:grpSp>
            <p:nvGrpSpPr>
              <p:cNvPr id="1023" name="Google Shape;1023;p32"/>
              <p:cNvGrpSpPr/>
              <p:nvPr/>
            </p:nvGrpSpPr>
            <p:grpSpPr>
              <a:xfrm>
                <a:off x="323" y="3499"/>
                <a:ext cx="666" cy="666"/>
                <a:chOff x="323" y="3499"/>
                <a:chExt cx="666" cy="666"/>
              </a:xfrm>
            </p:grpSpPr>
            <p:sp>
              <p:nvSpPr>
                <p:cNvPr id="1024" name="Google Shape;1024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25" name="Google Shape;1025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26" name="Google Shape;1026;p32"/>
              <p:cNvGrpSpPr/>
              <p:nvPr/>
            </p:nvGrpSpPr>
            <p:grpSpPr>
              <a:xfrm>
                <a:off x="988" y="3504"/>
                <a:ext cx="666" cy="666"/>
                <a:chOff x="323" y="3499"/>
                <a:chExt cx="666" cy="666"/>
              </a:xfrm>
            </p:grpSpPr>
            <p:sp>
              <p:nvSpPr>
                <p:cNvPr id="1027" name="Google Shape;1027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28" name="Google Shape;1028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29" name="Google Shape;1029;p32"/>
              <p:cNvGrpSpPr/>
              <p:nvPr/>
            </p:nvGrpSpPr>
            <p:grpSpPr>
              <a:xfrm>
                <a:off x="1660" y="3509"/>
                <a:ext cx="666" cy="666"/>
                <a:chOff x="323" y="3499"/>
                <a:chExt cx="666" cy="666"/>
              </a:xfrm>
            </p:grpSpPr>
            <p:sp>
              <p:nvSpPr>
                <p:cNvPr id="1030" name="Google Shape;1030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31" name="Google Shape;1031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32" name="Google Shape;1032;p32"/>
              <p:cNvGrpSpPr/>
              <p:nvPr/>
            </p:nvGrpSpPr>
            <p:grpSpPr>
              <a:xfrm>
                <a:off x="2325" y="3507"/>
                <a:ext cx="666" cy="666"/>
                <a:chOff x="323" y="3499"/>
                <a:chExt cx="666" cy="666"/>
              </a:xfrm>
            </p:grpSpPr>
            <p:sp>
              <p:nvSpPr>
                <p:cNvPr id="1033" name="Google Shape;1033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34" name="Google Shape;1034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35" name="Google Shape;1035;p32"/>
              <p:cNvGrpSpPr/>
              <p:nvPr/>
            </p:nvGrpSpPr>
            <p:grpSpPr>
              <a:xfrm>
                <a:off x="2990" y="3505"/>
                <a:ext cx="666" cy="666"/>
                <a:chOff x="323" y="3499"/>
                <a:chExt cx="666" cy="666"/>
              </a:xfrm>
            </p:grpSpPr>
            <p:sp>
              <p:nvSpPr>
                <p:cNvPr id="1036" name="Google Shape;1036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37" name="Google Shape;1037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38" name="Google Shape;1038;p32"/>
              <p:cNvGrpSpPr/>
              <p:nvPr/>
            </p:nvGrpSpPr>
            <p:grpSpPr>
              <a:xfrm>
                <a:off x="3662" y="3503"/>
                <a:ext cx="666" cy="666"/>
                <a:chOff x="323" y="3499"/>
                <a:chExt cx="666" cy="666"/>
              </a:xfrm>
            </p:grpSpPr>
            <p:sp>
              <p:nvSpPr>
                <p:cNvPr id="1039" name="Google Shape;1039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40" name="Google Shape;1040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41" name="Google Shape;1041;p32"/>
              <p:cNvGrpSpPr/>
              <p:nvPr/>
            </p:nvGrpSpPr>
            <p:grpSpPr>
              <a:xfrm>
                <a:off x="4334" y="3501"/>
                <a:ext cx="666" cy="666"/>
                <a:chOff x="323" y="3499"/>
                <a:chExt cx="666" cy="666"/>
              </a:xfrm>
            </p:grpSpPr>
            <p:sp>
              <p:nvSpPr>
                <p:cNvPr id="1042" name="Google Shape;1042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43" name="Google Shape;1043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44" name="Google Shape;1044;p32"/>
              <p:cNvGrpSpPr/>
              <p:nvPr/>
            </p:nvGrpSpPr>
            <p:grpSpPr>
              <a:xfrm>
                <a:off x="4999" y="3499"/>
                <a:ext cx="666" cy="666"/>
                <a:chOff x="323" y="3499"/>
                <a:chExt cx="666" cy="666"/>
              </a:xfrm>
            </p:grpSpPr>
            <p:sp>
              <p:nvSpPr>
                <p:cNvPr id="1045" name="Google Shape;1045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46" name="Google Shape;1046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047" name="Google Shape;1047;p32"/>
            <p:cNvGrpSpPr/>
            <p:nvPr/>
          </p:nvGrpSpPr>
          <p:grpSpPr>
            <a:xfrm>
              <a:off x="-5025" y="3504"/>
              <a:ext cx="5342" cy="676"/>
              <a:chOff x="323" y="3499"/>
              <a:chExt cx="5342" cy="676"/>
            </a:xfrm>
          </p:grpSpPr>
          <p:grpSp>
            <p:nvGrpSpPr>
              <p:cNvPr id="1048" name="Google Shape;1048;p32"/>
              <p:cNvGrpSpPr/>
              <p:nvPr/>
            </p:nvGrpSpPr>
            <p:grpSpPr>
              <a:xfrm>
                <a:off x="323" y="3499"/>
                <a:ext cx="666" cy="666"/>
                <a:chOff x="323" y="3499"/>
                <a:chExt cx="666" cy="666"/>
              </a:xfrm>
            </p:grpSpPr>
            <p:sp>
              <p:nvSpPr>
                <p:cNvPr id="1049" name="Google Shape;1049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50" name="Google Shape;1050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51" name="Google Shape;1051;p32"/>
              <p:cNvGrpSpPr/>
              <p:nvPr/>
            </p:nvGrpSpPr>
            <p:grpSpPr>
              <a:xfrm>
                <a:off x="988" y="3504"/>
                <a:ext cx="666" cy="666"/>
                <a:chOff x="323" y="3499"/>
                <a:chExt cx="666" cy="666"/>
              </a:xfrm>
            </p:grpSpPr>
            <p:sp>
              <p:nvSpPr>
                <p:cNvPr id="1052" name="Google Shape;1052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53" name="Google Shape;1053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54" name="Google Shape;1054;p32"/>
              <p:cNvGrpSpPr/>
              <p:nvPr/>
            </p:nvGrpSpPr>
            <p:grpSpPr>
              <a:xfrm>
                <a:off x="1660" y="3509"/>
                <a:ext cx="666" cy="666"/>
                <a:chOff x="323" y="3499"/>
                <a:chExt cx="666" cy="666"/>
              </a:xfrm>
            </p:grpSpPr>
            <p:sp>
              <p:nvSpPr>
                <p:cNvPr id="1055" name="Google Shape;1055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56" name="Google Shape;1056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57" name="Google Shape;1057;p32"/>
              <p:cNvGrpSpPr/>
              <p:nvPr/>
            </p:nvGrpSpPr>
            <p:grpSpPr>
              <a:xfrm>
                <a:off x="2325" y="3507"/>
                <a:ext cx="666" cy="666"/>
                <a:chOff x="323" y="3499"/>
                <a:chExt cx="666" cy="666"/>
              </a:xfrm>
            </p:grpSpPr>
            <p:sp>
              <p:nvSpPr>
                <p:cNvPr id="1058" name="Google Shape;1058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59" name="Google Shape;1059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60" name="Google Shape;1060;p32"/>
              <p:cNvGrpSpPr/>
              <p:nvPr/>
            </p:nvGrpSpPr>
            <p:grpSpPr>
              <a:xfrm>
                <a:off x="2990" y="3505"/>
                <a:ext cx="666" cy="666"/>
                <a:chOff x="323" y="3499"/>
                <a:chExt cx="666" cy="666"/>
              </a:xfrm>
            </p:grpSpPr>
            <p:sp>
              <p:nvSpPr>
                <p:cNvPr id="1061" name="Google Shape;1061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62" name="Google Shape;1062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63" name="Google Shape;1063;p32"/>
              <p:cNvGrpSpPr/>
              <p:nvPr/>
            </p:nvGrpSpPr>
            <p:grpSpPr>
              <a:xfrm>
                <a:off x="3662" y="3503"/>
                <a:ext cx="666" cy="666"/>
                <a:chOff x="323" y="3499"/>
                <a:chExt cx="666" cy="666"/>
              </a:xfrm>
            </p:grpSpPr>
            <p:sp>
              <p:nvSpPr>
                <p:cNvPr id="1064" name="Google Shape;1064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65" name="Google Shape;1065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66" name="Google Shape;1066;p32"/>
              <p:cNvGrpSpPr/>
              <p:nvPr/>
            </p:nvGrpSpPr>
            <p:grpSpPr>
              <a:xfrm>
                <a:off x="4334" y="3501"/>
                <a:ext cx="666" cy="666"/>
                <a:chOff x="323" y="3499"/>
                <a:chExt cx="666" cy="666"/>
              </a:xfrm>
            </p:grpSpPr>
            <p:sp>
              <p:nvSpPr>
                <p:cNvPr id="1067" name="Google Shape;1067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68" name="Google Shape;1068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69" name="Google Shape;1069;p32"/>
              <p:cNvGrpSpPr/>
              <p:nvPr/>
            </p:nvGrpSpPr>
            <p:grpSpPr>
              <a:xfrm>
                <a:off x="4999" y="3499"/>
                <a:ext cx="666" cy="666"/>
                <a:chOff x="323" y="3499"/>
                <a:chExt cx="666" cy="666"/>
              </a:xfrm>
            </p:grpSpPr>
            <p:sp>
              <p:nvSpPr>
                <p:cNvPr id="1070" name="Google Shape;1070;p32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71" name="Google Shape;1071;p32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072" name="Google Shape;1072;p32"/>
          <p:cNvSpPr/>
          <p:nvPr/>
        </p:nvSpPr>
        <p:spPr>
          <a:xfrm>
            <a:off x="0" y="5753100"/>
            <a:ext cx="9161463" cy="1104900"/>
          </a:xfrm>
          <a:prstGeom prst="rect">
            <a:avLst/>
          </a:prstGeom>
          <a:gradFill>
            <a:gsLst>
              <a:gs pos="0">
                <a:srgbClr val="839D9F"/>
              </a:gs>
              <a:gs pos="50000">
                <a:srgbClr val="BBE0E3">
                  <a:alpha val="31764"/>
                </a:srgbClr>
              </a:gs>
              <a:gs pos="100000">
                <a:srgbClr val="839D9F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3"/>
          <p:cNvSpPr/>
          <p:nvPr/>
        </p:nvSpPr>
        <p:spPr>
          <a:xfrm>
            <a:off x="684213" y="2830513"/>
            <a:ext cx="7772400" cy="40274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Suppose each (-) represents an electron. Find the current in electrons per second and then convert it to amperes.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 Choose a reference and start a timer.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rate is about 7 electrons each 12 s or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7/12 = 0.58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(0.58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)(1.6×10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-19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C/1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9.3×10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A.</a:t>
            </a:r>
            <a:endParaRPr/>
          </a:p>
        </p:txBody>
      </p:sp>
      <p:sp>
        <p:nvSpPr>
          <p:cNvPr id="1079" name="Google Shape;1079;p33"/>
          <p:cNvSpPr/>
          <p:nvPr/>
        </p:nvSpPr>
        <p:spPr>
          <a:xfrm>
            <a:off x="685800" y="1549400"/>
            <a:ext cx="7772400" cy="13144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Electric current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 current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time rate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which charge 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moves past a particular point in a circuit.</a:t>
            </a:r>
            <a:endParaRPr/>
          </a:p>
        </p:txBody>
      </p:sp>
      <p:sp>
        <p:nvSpPr>
          <p:cNvPr id="1080" name="Google Shape;1080;p3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81" name="Google Shape;1081;p33"/>
          <p:cNvGrpSpPr/>
          <p:nvPr/>
        </p:nvGrpSpPr>
        <p:grpSpPr>
          <a:xfrm>
            <a:off x="-7639050" y="5765800"/>
            <a:ext cx="16970375" cy="1081088"/>
            <a:chOff x="-5025" y="3499"/>
            <a:chExt cx="10690" cy="681"/>
          </a:xfrm>
        </p:grpSpPr>
        <p:grpSp>
          <p:nvGrpSpPr>
            <p:cNvPr id="1082" name="Google Shape;1082;p33"/>
            <p:cNvGrpSpPr/>
            <p:nvPr/>
          </p:nvGrpSpPr>
          <p:grpSpPr>
            <a:xfrm>
              <a:off x="323" y="3499"/>
              <a:ext cx="5342" cy="676"/>
              <a:chOff x="323" y="3499"/>
              <a:chExt cx="5342" cy="676"/>
            </a:xfrm>
          </p:grpSpPr>
          <p:grpSp>
            <p:nvGrpSpPr>
              <p:cNvPr id="1083" name="Google Shape;1083;p33"/>
              <p:cNvGrpSpPr/>
              <p:nvPr/>
            </p:nvGrpSpPr>
            <p:grpSpPr>
              <a:xfrm>
                <a:off x="323" y="3499"/>
                <a:ext cx="666" cy="666"/>
                <a:chOff x="323" y="3499"/>
                <a:chExt cx="666" cy="666"/>
              </a:xfrm>
            </p:grpSpPr>
            <p:sp>
              <p:nvSpPr>
                <p:cNvPr id="1084" name="Google Shape;1084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85" name="Google Shape;1085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86" name="Google Shape;1086;p33"/>
              <p:cNvGrpSpPr/>
              <p:nvPr/>
            </p:nvGrpSpPr>
            <p:grpSpPr>
              <a:xfrm>
                <a:off x="988" y="3504"/>
                <a:ext cx="666" cy="666"/>
                <a:chOff x="323" y="3499"/>
                <a:chExt cx="666" cy="666"/>
              </a:xfrm>
            </p:grpSpPr>
            <p:sp>
              <p:nvSpPr>
                <p:cNvPr id="1087" name="Google Shape;1087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88" name="Google Shape;1088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89" name="Google Shape;1089;p33"/>
              <p:cNvGrpSpPr/>
              <p:nvPr/>
            </p:nvGrpSpPr>
            <p:grpSpPr>
              <a:xfrm>
                <a:off x="1660" y="3509"/>
                <a:ext cx="666" cy="666"/>
                <a:chOff x="323" y="3499"/>
                <a:chExt cx="666" cy="666"/>
              </a:xfrm>
            </p:grpSpPr>
            <p:sp>
              <p:nvSpPr>
                <p:cNvPr id="1090" name="Google Shape;1090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1" name="Google Shape;1091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92" name="Google Shape;1092;p33"/>
              <p:cNvGrpSpPr/>
              <p:nvPr/>
            </p:nvGrpSpPr>
            <p:grpSpPr>
              <a:xfrm>
                <a:off x="2325" y="3507"/>
                <a:ext cx="666" cy="666"/>
                <a:chOff x="323" y="3499"/>
                <a:chExt cx="666" cy="666"/>
              </a:xfrm>
            </p:grpSpPr>
            <p:sp>
              <p:nvSpPr>
                <p:cNvPr id="1093" name="Google Shape;1093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4" name="Google Shape;1094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95" name="Google Shape;1095;p33"/>
              <p:cNvGrpSpPr/>
              <p:nvPr/>
            </p:nvGrpSpPr>
            <p:grpSpPr>
              <a:xfrm>
                <a:off x="2990" y="3505"/>
                <a:ext cx="666" cy="666"/>
                <a:chOff x="323" y="3499"/>
                <a:chExt cx="666" cy="666"/>
              </a:xfrm>
            </p:grpSpPr>
            <p:sp>
              <p:nvSpPr>
                <p:cNvPr id="1096" name="Google Shape;1096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7" name="Google Shape;1097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98" name="Google Shape;1098;p33"/>
              <p:cNvGrpSpPr/>
              <p:nvPr/>
            </p:nvGrpSpPr>
            <p:grpSpPr>
              <a:xfrm>
                <a:off x="3662" y="3503"/>
                <a:ext cx="666" cy="666"/>
                <a:chOff x="323" y="3499"/>
                <a:chExt cx="666" cy="666"/>
              </a:xfrm>
            </p:grpSpPr>
            <p:sp>
              <p:nvSpPr>
                <p:cNvPr id="1099" name="Google Shape;1099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00" name="Google Shape;1100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01" name="Google Shape;1101;p33"/>
              <p:cNvGrpSpPr/>
              <p:nvPr/>
            </p:nvGrpSpPr>
            <p:grpSpPr>
              <a:xfrm>
                <a:off x="4334" y="3501"/>
                <a:ext cx="666" cy="666"/>
                <a:chOff x="323" y="3499"/>
                <a:chExt cx="666" cy="666"/>
              </a:xfrm>
            </p:grpSpPr>
            <p:sp>
              <p:nvSpPr>
                <p:cNvPr id="1102" name="Google Shape;1102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03" name="Google Shape;1103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04" name="Google Shape;1104;p33"/>
              <p:cNvGrpSpPr/>
              <p:nvPr/>
            </p:nvGrpSpPr>
            <p:grpSpPr>
              <a:xfrm>
                <a:off x="4999" y="3499"/>
                <a:ext cx="666" cy="666"/>
                <a:chOff x="323" y="3499"/>
                <a:chExt cx="666" cy="666"/>
              </a:xfrm>
            </p:grpSpPr>
            <p:sp>
              <p:nvSpPr>
                <p:cNvPr id="1105" name="Google Shape;1105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06" name="Google Shape;1106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107" name="Google Shape;1107;p33"/>
            <p:cNvGrpSpPr/>
            <p:nvPr/>
          </p:nvGrpSpPr>
          <p:grpSpPr>
            <a:xfrm>
              <a:off x="-5025" y="3504"/>
              <a:ext cx="5342" cy="676"/>
              <a:chOff x="323" y="3499"/>
              <a:chExt cx="5342" cy="676"/>
            </a:xfrm>
          </p:grpSpPr>
          <p:grpSp>
            <p:nvGrpSpPr>
              <p:cNvPr id="1108" name="Google Shape;1108;p33"/>
              <p:cNvGrpSpPr/>
              <p:nvPr/>
            </p:nvGrpSpPr>
            <p:grpSpPr>
              <a:xfrm>
                <a:off x="323" y="3499"/>
                <a:ext cx="666" cy="666"/>
                <a:chOff x="323" y="3499"/>
                <a:chExt cx="666" cy="666"/>
              </a:xfrm>
            </p:grpSpPr>
            <p:sp>
              <p:nvSpPr>
                <p:cNvPr id="1109" name="Google Shape;1109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0" name="Google Shape;1110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11" name="Google Shape;1111;p33"/>
              <p:cNvGrpSpPr/>
              <p:nvPr/>
            </p:nvGrpSpPr>
            <p:grpSpPr>
              <a:xfrm>
                <a:off x="988" y="3504"/>
                <a:ext cx="666" cy="666"/>
                <a:chOff x="323" y="3499"/>
                <a:chExt cx="666" cy="666"/>
              </a:xfrm>
            </p:grpSpPr>
            <p:sp>
              <p:nvSpPr>
                <p:cNvPr id="1112" name="Google Shape;1112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3" name="Google Shape;1113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14" name="Google Shape;1114;p33"/>
              <p:cNvGrpSpPr/>
              <p:nvPr/>
            </p:nvGrpSpPr>
            <p:grpSpPr>
              <a:xfrm>
                <a:off x="1660" y="3509"/>
                <a:ext cx="666" cy="666"/>
                <a:chOff x="323" y="3499"/>
                <a:chExt cx="666" cy="666"/>
              </a:xfrm>
            </p:grpSpPr>
            <p:sp>
              <p:nvSpPr>
                <p:cNvPr id="1115" name="Google Shape;1115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6" name="Google Shape;1116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17" name="Google Shape;1117;p33"/>
              <p:cNvGrpSpPr/>
              <p:nvPr/>
            </p:nvGrpSpPr>
            <p:grpSpPr>
              <a:xfrm>
                <a:off x="2325" y="3507"/>
                <a:ext cx="666" cy="666"/>
                <a:chOff x="323" y="3499"/>
                <a:chExt cx="666" cy="666"/>
              </a:xfrm>
            </p:grpSpPr>
            <p:sp>
              <p:nvSpPr>
                <p:cNvPr id="1118" name="Google Shape;1118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9" name="Google Shape;1119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20" name="Google Shape;1120;p33"/>
              <p:cNvGrpSpPr/>
              <p:nvPr/>
            </p:nvGrpSpPr>
            <p:grpSpPr>
              <a:xfrm>
                <a:off x="2990" y="3505"/>
                <a:ext cx="666" cy="666"/>
                <a:chOff x="323" y="3499"/>
                <a:chExt cx="666" cy="666"/>
              </a:xfrm>
            </p:grpSpPr>
            <p:sp>
              <p:nvSpPr>
                <p:cNvPr id="1121" name="Google Shape;1121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22" name="Google Shape;1122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23" name="Google Shape;1123;p33"/>
              <p:cNvGrpSpPr/>
              <p:nvPr/>
            </p:nvGrpSpPr>
            <p:grpSpPr>
              <a:xfrm>
                <a:off x="3662" y="3503"/>
                <a:ext cx="666" cy="666"/>
                <a:chOff x="323" y="3499"/>
                <a:chExt cx="666" cy="666"/>
              </a:xfrm>
            </p:grpSpPr>
            <p:sp>
              <p:nvSpPr>
                <p:cNvPr id="1124" name="Google Shape;1124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25" name="Google Shape;1125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26" name="Google Shape;1126;p33"/>
              <p:cNvGrpSpPr/>
              <p:nvPr/>
            </p:nvGrpSpPr>
            <p:grpSpPr>
              <a:xfrm>
                <a:off x="4334" y="3501"/>
                <a:ext cx="666" cy="666"/>
                <a:chOff x="323" y="3499"/>
                <a:chExt cx="666" cy="666"/>
              </a:xfrm>
            </p:grpSpPr>
            <p:sp>
              <p:nvSpPr>
                <p:cNvPr id="1127" name="Google Shape;1127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28" name="Google Shape;1128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29" name="Google Shape;1129;p33"/>
              <p:cNvGrpSpPr/>
              <p:nvPr/>
            </p:nvGrpSpPr>
            <p:grpSpPr>
              <a:xfrm>
                <a:off x="4999" y="3499"/>
                <a:ext cx="666" cy="666"/>
                <a:chOff x="323" y="3499"/>
                <a:chExt cx="666" cy="666"/>
              </a:xfrm>
            </p:grpSpPr>
            <p:sp>
              <p:nvSpPr>
                <p:cNvPr id="1130" name="Google Shape;1130;p33"/>
                <p:cNvSpPr/>
                <p:nvPr/>
              </p:nvSpPr>
              <p:spPr>
                <a:xfrm>
                  <a:off x="323" y="3499"/>
                  <a:ext cx="666" cy="666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rgbClr val="839D9F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1" name="Google Shape;1131;p33"/>
                <p:cNvCxnSpPr/>
                <p:nvPr/>
              </p:nvCxnSpPr>
              <p:spPr>
                <a:xfrm>
                  <a:off x="506" y="3842"/>
                  <a:ext cx="30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132" name="Google Shape;1132;p33"/>
          <p:cNvSpPr/>
          <p:nvPr/>
        </p:nvSpPr>
        <p:spPr>
          <a:xfrm>
            <a:off x="0" y="5753100"/>
            <a:ext cx="9161463" cy="1104900"/>
          </a:xfrm>
          <a:prstGeom prst="rect">
            <a:avLst/>
          </a:prstGeom>
          <a:gradFill>
            <a:gsLst>
              <a:gs pos="0">
                <a:srgbClr val="839D9F"/>
              </a:gs>
              <a:gs pos="50000">
                <a:srgbClr val="BBE0E3">
                  <a:alpha val="31764"/>
                </a:srgbClr>
              </a:gs>
              <a:gs pos="100000">
                <a:srgbClr val="839D9F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3" name="Google Shape;1133;p33"/>
          <p:cNvGrpSpPr/>
          <p:nvPr/>
        </p:nvGrpSpPr>
        <p:grpSpPr>
          <a:xfrm>
            <a:off x="7640638" y="3819525"/>
            <a:ext cx="1503362" cy="1503363"/>
            <a:chOff x="4100" y="2501"/>
            <a:chExt cx="947" cy="947"/>
          </a:xfrm>
        </p:grpSpPr>
        <p:sp>
          <p:nvSpPr>
            <p:cNvPr id="1134" name="Google Shape;1134;p33"/>
            <p:cNvSpPr/>
            <p:nvPr/>
          </p:nvSpPr>
          <p:spPr>
            <a:xfrm>
              <a:off x="4100" y="2501"/>
              <a:ext cx="947" cy="947"/>
            </a:xfrm>
            <a:prstGeom prst="ellipse">
              <a:avLst/>
            </a:prstGeom>
            <a:solidFill>
              <a:schemeClr val="lt1"/>
            </a:solidFill>
            <a:ln cap="flat" cmpd="thickThin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5" name="Google Shape;1135;p33"/>
            <p:cNvCxnSpPr/>
            <p:nvPr/>
          </p:nvCxnSpPr>
          <p:spPr>
            <a:xfrm>
              <a:off x="4578" y="2523"/>
              <a:ext cx="0" cy="9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33"/>
            <p:cNvCxnSpPr/>
            <p:nvPr/>
          </p:nvCxnSpPr>
          <p:spPr>
            <a:xfrm>
              <a:off x="4122" y="2979"/>
              <a:ext cx="90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33"/>
            <p:cNvCxnSpPr/>
            <p:nvPr/>
          </p:nvCxnSpPr>
          <p:spPr>
            <a:xfrm flipH="1" rot="10800000">
              <a:off x="4351" y="2588"/>
              <a:ext cx="453" cy="7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33"/>
            <p:cNvCxnSpPr/>
            <p:nvPr/>
          </p:nvCxnSpPr>
          <p:spPr>
            <a:xfrm flipH="1" rot="10800000">
              <a:off x="4174" y="2756"/>
              <a:ext cx="789" cy="4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33"/>
            <p:cNvCxnSpPr/>
            <p:nvPr/>
          </p:nvCxnSpPr>
          <p:spPr>
            <a:xfrm rot="10800000">
              <a:off x="4346" y="2575"/>
              <a:ext cx="453" cy="7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33"/>
            <p:cNvCxnSpPr/>
            <p:nvPr/>
          </p:nvCxnSpPr>
          <p:spPr>
            <a:xfrm rot="10800000">
              <a:off x="4169" y="2743"/>
              <a:ext cx="789" cy="4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1" name="Google Shape;1141;p33"/>
            <p:cNvSpPr/>
            <p:nvPr/>
          </p:nvSpPr>
          <p:spPr>
            <a:xfrm>
              <a:off x="4203" y="2593"/>
              <a:ext cx="750" cy="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33"/>
            <p:cNvSpPr txBox="1"/>
            <p:nvPr/>
          </p:nvSpPr>
          <p:spPr>
            <a:xfrm>
              <a:off x="4436" y="2528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143" name="Google Shape;1143;p33"/>
            <p:cNvSpPr txBox="1"/>
            <p:nvPr/>
          </p:nvSpPr>
          <p:spPr>
            <a:xfrm>
              <a:off x="4798" y="2863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144" name="Google Shape;1144;p33"/>
            <p:cNvSpPr txBox="1"/>
            <p:nvPr/>
          </p:nvSpPr>
          <p:spPr>
            <a:xfrm>
              <a:off x="4470" y="3167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145" name="Google Shape;1145;p33"/>
            <p:cNvSpPr txBox="1"/>
            <p:nvPr/>
          </p:nvSpPr>
          <p:spPr>
            <a:xfrm>
              <a:off x="4154" y="2859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8351838" y="3914775"/>
            <a:ext cx="96837" cy="1311275"/>
            <a:chOff x="4532" y="2501"/>
            <a:chExt cx="61" cy="826"/>
          </a:xfrm>
        </p:grpSpPr>
        <p:cxnSp>
          <p:nvCxnSpPr>
            <p:cNvPr id="1147" name="Google Shape;1147;p33"/>
            <p:cNvCxnSpPr/>
            <p:nvPr/>
          </p:nvCxnSpPr>
          <p:spPr>
            <a:xfrm>
              <a:off x="4563" y="2501"/>
              <a:ext cx="0" cy="417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" name="Google Shape;1148;p33"/>
            <p:cNvSpPr/>
            <p:nvPr/>
          </p:nvSpPr>
          <p:spPr>
            <a:xfrm>
              <a:off x="4540" y="2918"/>
              <a:ext cx="48" cy="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4532" y="2887"/>
              <a:ext cx="61" cy="61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50" name="Google Shape;1150;p33"/>
          <p:cNvCxnSpPr/>
          <p:nvPr/>
        </p:nvCxnSpPr>
        <p:spPr>
          <a:xfrm>
            <a:off x="8267700" y="5630863"/>
            <a:ext cx="0" cy="12271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33"/>
          <p:cNvCxnSpPr/>
          <p:nvPr/>
        </p:nvCxnSpPr>
        <p:spPr>
          <a:xfrm flipH="1" rot="10800000">
            <a:off x="2095500" y="5400675"/>
            <a:ext cx="215900" cy="1555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33"/>
          <p:cNvCxnSpPr/>
          <p:nvPr/>
        </p:nvCxnSpPr>
        <p:spPr>
          <a:xfrm flipH="1" rot="10800000">
            <a:off x="4786313" y="5380038"/>
            <a:ext cx="215900" cy="1555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4"/>
          <p:cNvSpPr/>
          <p:nvPr/>
        </p:nvSpPr>
        <p:spPr>
          <a:xfrm>
            <a:off x="684213" y="1919288"/>
            <a:ext cx="7772400" cy="49387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Explain why when a wire is cut current stops everywhere and does not “leak” into the air.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∙Freeing an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conductor takes a lot of energy.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∙This is why you don’t get electrocuted by                                 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jumping off of nearby conductors like                               outlets (unless the voltage is very high).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∙This is also why when you cut the wire                                         e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not leak out into the surrounding                             environment.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∙Finally, if the chain is broken the push                                        stops, so the current stops everywhere.</a:t>
            </a:r>
            <a:endParaRPr/>
          </a:p>
        </p:txBody>
      </p:sp>
      <p:sp>
        <p:nvSpPr>
          <p:cNvPr id="1159" name="Google Shape;1159;p34"/>
          <p:cNvSpPr/>
          <p:nvPr/>
        </p:nvSpPr>
        <p:spPr>
          <a:xfrm>
            <a:off x="685800" y="1549400"/>
            <a:ext cx="7772400" cy="400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Electric current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1" name="Google Shape;1161;p34"/>
          <p:cNvSpPr/>
          <p:nvPr/>
        </p:nvSpPr>
        <p:spPr>
          <a:xfrm>
            <a:off x="3830638" y="2368550"/>
            <a:ext cx="2052637" cy="411163"/>
          </a:xfrm>
          <a:prstGeom prst="rect">
            <a:avLst/>
          </a:prstGeom>
          <a:solidFill>
            <a:srgbClr val="FF9900">
              <a:alpha val="2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4"/>
          <p:cNvSpPr/>
          <p:nvPr/>
        </p:nvSpPr>
        <p:spPr>
          <a:xfrm>
            <a:off x="914400" y="3213100"/>
            <a:ext cx="6996113" cy="412750"/>
          </a:xfrm>
          <a:prstGeom prst="rect">
            <a:avLst/>
          </a:prstGeom>
          <a:solidFill>
            <a:srgbClr val="FF9900">
              <a:alpha val="2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4"/>
          <p:cNvSpPr/>
          <p:nvPr/>
        </p:nvSpPr>
        <p:spPr>
          <a:xfrm>
            <a:off x="6565900" y="1973263"/>
            <a:ext cx="1082675" cy="412750"/>
          </a:xfrm>
          <a:prstGeom prst="rect">
            <a:avLst/>
          </a:prstGeom>
          <a:solidFill>
            <a:srgbClr val="D60093">
              <a:alpha val="2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4"/>
          <p:cNvSpPr/>
          <p:nvPr/>
        </p:nvSpPr>
        <p:spPr>
          <a:xfrm>
            <a:off x="2560638" y="6334125"/>
            <a:ext cx="3460750" cy="411163"/>
          </a:xfrm>
          <a:prstGeom prst="rect">
            <a:avLst/>
          </a:prstGeom>
          <a:solidFill>
            <a:srgbClr val="D60093">
              <a:alpha val="2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4"/>
          <p:cNvSpPr/>
          <p:nvPr/>
        </p:nvSpPr>
        <p:spPr>
          <a:xfrm>
            <a:off x="741363" y="2365375"/>
            <a:ext cx="2486025" cy="411163"/>
          </a:xfrm>
          <a:prstGeom prst="rect">
            <a:avLst/>
          </a:prstGeom>
          <a:solidFill>
            <a:srgbClr val="D60093">
              <a:alpha val="2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6" name="Google Shape;116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4638" y="0"/>
            <a:ext cx="2501900" cy="2039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6075" y="3749675"/>
            <a:ext cx="2152650" cy="29860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5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difference (voltage) – explored further in D.2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∙Because electric charges experience the electric force, when one charge is moved in the vicinity of another, work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done (recall that work is a force times a displacement).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define the                                                        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difference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any point                                                         	  A and B as the                                                             amount of work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done                                                          per unit charge in moving a point charge from A to B.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∙Note that the units of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JC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are volts V.</a:t>
            </a:r>
            <a:endParaRPr/>
          </a:p>
        </p:txBody>
      </p:sp>
      <p:sp>
        <p:nvSpPr>
          <p:cNvPr id="1173" name="Google Shape;1173;p3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/>
          </a:p>
        </p:txBody>
      </p:sp>
      <p:sp>
        <p:nvSpPr>
          <p:cNvPr id="1174" name="Google Shape;1174;p35"/>
          <p:cNvSpPr/>
          <p:nvPr/>
        </p:nvSpPr>
        <p:spPr>
          <a:xfrm>
            <a:off x="3808413" y="3481388"/>
            <a:ext cx="1760537" cy="1760537"/>
          </a:xfrm>
          <a:prstGeom prst="ellipse">
            <a:avLst/>
          </a:prstGeom>
          <a:gradFill>
            <a:gsLst>
              <a:gs pos="0">
                <a:srgbClr val="FF9999"/>
              </a:gs>
              <a:gs pos="100000">
                <a:srgbClr val="76474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5"/>
          <p:cNvSpPr txBox="1"/>
          <p:nvPr/>
        </p:nvSpPr>
        <p:spPr>
          <a:xfrm>
            <a:off x="4467225" y="3803650"/>
            <a:ext cx="4206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1176" name="Google Shape;1176;p35"/>
          <p:cNvCxnSpPr/>
          <p:nvPr/>
        </p:nvCxnSpPr>
        <p:spPr>
          <a:xfrm>
            <a:off x="4683125" y="4349750"/>
            <a:ext cx="4354513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grpSp>
        <p:nvGrpSpPr>
          <p:cNvPr id="1177" name="Google Shape;1177;p35"/>
          <p:cNvGrpSpPr/>
          <p:nvPr/>
        </p:nvGrpSpPr>
        <p:grpSpPr>
          <a:xfrm>
            <a:off x="4524375" y="4203700"/>
            <a:ext cx="347663" cy="333375"/>
            <a:chOff x="1344" y="2331"/>
            <a:chExt cx="219" cy="210"/>
          </a:xfrm>
        </p:grpSpPr>
        <p:cxnSp>
          <p:nvCxnSpPr>
            <p:cNvPr id="1178" name="Google Shape;1178;p35"/>
            <p:cNvCxnSpPr/>
            <p:nvPr/>
          </p:nvCxnSpPr>
          <p:spPr>
            <a:xfrm>
              <a:off x="1344" y="2423"/>
              <a:ext cx="21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35"/>
            <p:cNvCxnSpPr/>
            <p:nvPr/>
          </p:nvCxnSpPr>
          <p:spPr>
            <a:xfrm>
              <a:off x="1445" y="2331"/>
              <a:ext cx="0" cy="21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0" name="Google Shape;1180;p35"/>
          <p:cNvGrpSpPr/>
          <p:nvPr/>
        </p:nvGrpSpPr>
        <p:grpSpPr>
          <a:xfrm>
            <a:off x="6251575" y="3849688"/>
            <a:ext cx="446088" cy="569912"/>
            <a:chOff x="3862" y="2842"/>
            <a:chExt cx="281" cy="359"/>
          </a:xfrm>
        </p:grpSpPr>
        <p:sp>
          <p:nvSpPr>
            <p:cNvPr id="1181" name="Google Shape;1181;p35"/>
            <p:cNvSpPr txBox="1"/>
            <p:nvPr/>
          </p:nvSpPr>
          <p:spPr>
            <a:xfrm>
              <a:off x="3920" y="284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/>
            </a:p>
          </p:txBody>
        </p:sp>
        <p:sp>
          <p:nvSpPr>
            <p:cNvPr id="1182" name="Google Shape;1182;p35"/>
            <p:cNvSpPr/>
            <p:nvPr/>
          </p:nvSpPr>
          <p:spPr>
            <a:xfrm>
              <a:off x="3862" y="3106"/>
              <a:ext cx="95" cy="95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839D9F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3" name="Google Shape;1183;p35"/>
          <p:cNvSpPr txBox="1"/>
          <p:nvPr/>
        </p:nvSpPr>
        <p:spPr>
          <a:xfrm>
            <a:off x="6124575" y="4414838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184" name="Google Shape;1184;p35"/>
          <p:cNvSpPr txBox="1"/>
          <p:nvPr/>
        </p:nvSpPr>
        <p:spPr>
          <a:xfrm>
            <a:off x="8169275" y="440372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grpSp>
        <p:nvGrpSpPr>
          <p:cNvPr id="1185" name="Google Shape;1185;p35"/>
          <p:cNvGrpSpPr/>
          <p:nvPr/>
        </p:nvGrpSpPr>
        <p:grpSpPr>
          <a:xfrm>
            <a:off x="809625" y="5727700"/>
            <a:ext cx="7464425" cy="457200"/>
            <a:chOff x="510" y="2266"/>
            <a:chExt cx="4702" cy="288"/>
          </a:xfrm>
        </p:grpSpPr>
        <p:sp>
          <p:nvSpPr>
            <p:cNvPr id="1186" name="Google Shape;1186;p35"/>
            <p:cNvSpPr/>
            <p:nvPr/>
          </p:nvSpPr>
          <p:spPr>
            <a:xfrm>
              <a:off x="592" y="2279"/>
              <a:ext cx="1795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–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W /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5"/>
            <p:cNvSpPr txBox="1"/>
            <p:nvPr/>
          </p:nvSpPr>
          <p:spPr>
            <a:xfrm>
              <a:off x="2951" y="2266"/>
              <a:ext cx="2261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potential difference</a:t>
              </a:r>
              <a:endParaRPr/>
            </a:p>
          </p:txBody>
        </p:sp>
        <p:sp>
          <p:nvSpPr>
            <p:cNvPr id="1188" name="Google Shape;1188;p35"/>
            <p:cNvSpPr/>
            <p:nvPr/>
          </p:nvSpPr>
          <p:spPr>
            <a:xfrm>
              <a:off x="510" y="2268"/>
              <a:ext cx="4701" cy="28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6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	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you have ever looked inside an                          electronic device you have no doubt                              seen what a resistor looks like.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resistor’s working part is usually                                made of carbon, which is a                                semiconductor.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less carbon                                                             there is, the harder it is for                                                                current to flow through the resistor.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∙As the animation shows, carbon is                           spiraled away to cut down the                                       cross-sectional area, thereby increasing the resistance to whatever value is desired.	</a:t>
            </a:r>
            <a:endParaRPr/>
          </a:p>
        </p:txBody>
      </p:sp>
      <p:sp>
        <p:nvSpPr>
          <p:cNvPr id="1195" name="Google Shape;1195;p3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resistor" id="1196" name="Google Shape;11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3900" y="1243013"/>
            <a:ext cx="2005013" cy="2005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resistor" id="1197" name="Google Shape;119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900" y="1544638"/>
            <a:ext cx="1614488" cy="16144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res4" id="1198" name="Google Shape;119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2838" y="3152775"/>
            <a:ext cx="5848350" cy="26670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199" name="Google Shape;1199;p36"/>
          <p:cNvSpPr/>
          <p:nvPr/>
        </p:nvSpPr>
        <p:spPr>
          <a:xfrm>
            <a:off x="5486400" y="4257675"/>
            <a:ext cx="2716213" cy="630238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∙Some very precise resistors are                                   made of wire and are called                                            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wire-wound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resistors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∙And some resistors can be made to vary their resistance by tapping them at various places. These are called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resistors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potentiometers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Thermistors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temperature-                        dependent resistors, changing                                           their resistance in response                                              to their temperature.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Light-dependent resistors (LDRs)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change their resistance in                                        response to light intensity.</a:t>
            </a:r>
            <a:endParaRPr/>
          </a:p>
        </p:txBody>
      </p:sp>
      <p:sp>
        <p:nvSpPr>
          <p:cNvPr id="1206" name="Google Shape;1206;p37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07" name="Google Shape;12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651562">
            <a:off x="5559425" y="1203325"/>
            <a:ext cx="2933700" cy="30670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208" name="Google Shape;120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652133">
            <a:off x="7119938" y="1241425"/>
            <a:ext cx="1352550" cy="14287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ntcx" id="1209" name="Google Shape;120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882379">
            <a:off x="5532438" y="3284538"/>
            <a:ext cx="3333750" cy="2505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Light Dependent Resistors (LDR)" id="1210" name="Google Shape;121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7075" y="4597400"/>
            <a:ext cx="3184525" cy="25479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8"/>
          <p:cNvSpPr/>
          <p:nvPr/>
        </p:nvSpPr>
        <p:spPr>
          <a:xfrm>
            <a:off x="4514850" y="4954588"/>
            <a:ext cx="3921125" cy="190341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reading of 0.L on an ohmeter means “overload”. The resistance is too high to record with the meter.</a:t>
            </a:r>
            <a:endParaRPr/>
          </a:p>
        </p:txBody>
      </p:sp>
      <p:sp>
        <p:nvSpPr>
          <p:cNvPr id="1217" name="Google Shape;1217;p38"/>
          <p:cNvSpPr/>
          <p:nvPr/>
        </p:nvSpPr>
        <p:spPr>
          <a:xfrm>
            <a:off x="685800" y="1549400"/>
            <a:ext cx="7772400" cy="17303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∙Electrical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measure of how hard it is for current to flow through a material. Resistance is measured in ohms (Ω) using an ohm-meter.</a:t>
            </a:r>
            <a:endParaRPr/>
          </a:p>
        </p:txBody>
      </p:sp>
      <p:sp>
        <p:nvSpPr>
          <p:cNvPr id="1218" name="Google Shape;1218;p38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resistor" id="1219" name="Google Shape;12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1400" y="3325813"/>
            <a:ext cx="1073150" cy="10731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220" name="Google Shape;1220;p38"/>
          <p:cNvSpPr/>
          <p:nvPr/>
        </p:nvSpPr>
        <p:spPr>
          <a:xfrm>
            <a:off x="2236788" y="3970338"/>
            <a:ext cx="2447925" cy="2649537"/>
          </a:xfrm>
          <a:custGeom>
            <a:rect b="b" l="l" r="r" t="t"/>
            <a:pathLst>
              <a:path extrusionOk="0" h="1669" w="1542">
                <a:moveTo>
                  <a:pt x="11" y="1387"/>
                </a:moveTo>
                <a:cubicBezTo>
                  <a:pt x="5" y="1435"/>
                  <a:pt x="0" y="1483"/>
                  <a:pt x="11" y="1523"/>
                </a:cubicBezTo>
                <a:cubicBezTo>
                  <a:pt x="22" y="1563"/>
                  <a:pt x="25" y="1613"/>
                  <a:pt x="79" y="1630"/>
                </a:cubicBezTo>
                <a:cubicBezTo>
                  <a:pt x="133" y="1647"/>
                  <a:pt x="241" y="1669"/>
                  <a:pt x="337" y="1622"/>
                </a:cubicBezTo>
                <a:cubicBezTo>
                  <a:pt x="433" y="1575"/>
                  <a:pt x="579" y="1493"/>
                  <a:pt x="655" y="1349"/>
                </a:cubicBezTo>
                <a:cubicBezTo>
                  <a:pt x="731" y="1205"/>
                  <a:pt x="760" y="916"/>
                  <a:pt x="792" y="758"/>
                </a:cubicBezTo>
                <a:cubicBezTo>
                  <a:pt x="824" y="600"/>
                  <a:pt x="807" y="502"/>
                  <a:pt x="845" y="402"/>
                </a:cubicBezTo>
                <a:cubicBezTo>
                  <a:pt x="883" y="302"/>
                  <a:pt x="949" y="207"/>
                  <a:pt x="1019" y="159"/>
                </a:cubicBezTo>
                <a:cubicBezTo>
                  <a:pt x="1089" y="111"/>
                  <a:pt x="1175" y="140"/>
                  <a:pt x="1262" y="114"/>
                </a:cubicBezTo>
                <a:cubicBezTo>
                  <a:pt x="1349" y="88"/>
                  <a:pt x="1445" y="44"/>
                  <a:pt x="1542" y="0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1" name="Google Shape;122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775" y="3179763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222" name="Google Shape;1222;p38"/>
          <p:cNvSpPr txBox="1"/>
          <p:nvPr/>
        </p:nvSpPr>
        <p:spPr>
          <a:xfrm>
            <a:off x="1103313" y="3403600"/>
            <a:ext cx="1624012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330.4</a:t>
            </a:r>
            <a:endParaRPr/>
          </a:p>
        </p:txBody>
      </p:sp>
      <p:pic>
        <p:nvPicPr>
          <p:cNvPr id="1223" name="Google Shape;122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762780">
            <a:off x="1395413" y="4514850"/>
            <a:ext cx="661988" cy="6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38"/>
          <p:cNvSpPr txBox="1"/>
          <p:nvPr/>
        </p:nvSpPr>
        <p:spPr>
          <a:xfrm>
            <a:off x="1103313" y="3397250"/>
            <a:ext cx="1443037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  0.L</a:t>
            </a:r>
            <a:endParaRPr/>
          </a:p>
        </p:txBody>
      </p:sp>
      <p:pic>
        <p:nvPicPr>
          <p:cNvPr id="1225" name="Google Shape;122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593036">
            <a:off x="4913312" y="2711451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1226" name="Google Shape;1226;p38"/>
          <p:cNvGrpSpPr/>
          <p:nvPr/>
        </p:nvGrpSpPr>
        <p:grpSpPr>
          <a:xfrm>
            <a:off x="1976438" y="4138329"/>
            <a:ext cx="5280013" cy="2635534"/>
            <a:chOff x="2053" y="2607"/>
            <a:chExt cx="3326" cy="1660"/>
          </a:xfrm>
        </p:grpSpPr>
        <p:sp>
          <p:nvSpPr>
            <p:cNvPr id="1227" name="Google Shape;1227;p38"/>
            <p:cNvSpPr/>
            <p:nvPr/>
          </p:nvSpPr>
          <p:spPr>
            <a:xfrm>
              <a:off x="2053" y="3092"/>
              <a:ext cx="2131" cy="1175"/>
            </a:xfrm>
            <a:custGeom>
              <a:rect b="b" l="l" r="r" t="t"/>
              <a:pathLst>
                <a:path extrusionOk="0" h="1175" w="2131">
                  <a:moveTo>
                    <a:pt x="8" y="849"/>
                  </a:moveTo>
                  <a:cubicBezTo>
                    <a:pt x="4" y="884"/>
                    <a:pt x="0" y="920"/>
                    <a:pt x="8" y="955"/>
                  </a:cubicBezTo>
                  <a:cubicBezTo>
                    <a:pt x="16" y="990"/>
                    <a:pt x="25" y="1029"/>
                    <a:pt x="54" y="1061"/>
                  </a:cubicBezTo>
                  <a:cubicBezTo>
                    <a:pt x="83" y="1093"/>
                    <a:pt x="116" y="1131"/>
                    <a:pt x="183" y="1145"/>
                  </a:cubicBezTo>
                  <a:cubicBezTo>
                    <a:pt x="250" y="1159"/>
                    <a:pt x="333" y="1175"/>
                    <a:pt x="456" y="1145"/>
                  </a:cubicBezTo>
                  <a:cubicBezTo>
                    <a:pt x="579" y="1115"/>
                    <a:pt x="784" y="1045"/>
                    <a:pt x="918" y="963"/>
                  </a:cubicBezTo>
                  <a:cubicBezTo>
                    <a:pt x="1052" y="881"/>
                    <a:pt x="1182" y="763"/>
                    <a:pt x="1259" y="652"/>
                  </a:cubicBezTo>
                  <a:cubicBezTo>
                    <a:pt x="1336" y="541"/>
                    <a:pt x="1319" y="383"/>
                    <a:pt x="1380" y="296"/>
                  </a:cubicBezTo>
                  <a:cubicBezTo>
                    <a:pt x="1441" y="209"/>
                    <a:pt x="1528" y="166"/>
                    <a:pt x="1623" y="129"/>
                  </a:cubicBezTo>
                  <a:cubicBezTo>
                    <a:pt x="1718" y="92"/>
                    <a:pt x="1864" y="98"/>
                    <a:pt x="1949" y="76"/>
                  </a:cubicBezTo>
                  <a:cubicBezTo>
                    <a:pt x="2034" y="54"/>
                    <a:pt x="2082" y="27"/>
                    <a:pt x="2131" y="0"/>
                  </a:cubicBezTo>
                </a:path>
              </a:pathLst>
            </a:cu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8" name="Google Shape;1228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-6497220">
              <a:off x="4584" y="2244"/>
              <a:ext cx="223" cy="1366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</p:grpSp>
      <p:sp>
        <p:nvSpPr>
          <p:cNvPr id="1229" name="Google Shape;1229;p38"/>
          <p:cNvSpPr txBox="1"/>
          <p:nvPr/>
        </p:nvSpPr>
        <p:spPr>
          <a:xfrm>
            <a:off x="1112838" y="3397250"/>
            <a:ext cx="1443037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  0.0</a:t>
            </a:r>
            <a:endParaRPr/>
          </a:p>
        </p:txBody>
      </p:sp>
      <p:sp>
        <p:nvSpPr>
          <p:cNvPr id="1230" name="Google Shape;1230;p38"/>
          <p:cNvSpPr txBox="1"/>
          <p:nvPr/>
        </p:nvSpPr>
        <p:spPr>
          <a:xfrm>
            <a:off x="7154863" y="3268663"/>
            <a:ext cx="1989137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resistor has a resistance of 330.4 Ω.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39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different types of resistors have different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schematic symbols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37" name="Google Shape;1237;p39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8" name="Google Shape;1238;p39"/>
          <p:cNvSpPr txBox="1"/>
          <p:nvPr/>
        </p:nvSpPr>
        <p:spPr>
          <a:xfrm>
            <a:off x="2760663" y="2813050"/>
            <a:ext cx="3265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fixed-value resistor</a:t>
            </a:r>
            <a:endParaRPr/>
          </a:p>
        </p:txBody>
      </p:sp>
      <p:sp>
        <p:nvSpPr>
          <p:cNvPr id="1239" name="Google Shape;1239;p39"/>
          <p:cNvSpPr txBox="1"/>
          <p:nvPr/>
        </p:nvSpPr>
        <p:spPr>
          <a:xfrm>
            <a:off x="2816225" y="4638675"/>
            <a:ext cx="26400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variable resistor</a:t>
            </a:r>
            <a:endParaRPr/>
          </a:p>
        </p:txBody>
      </p:sp>
      <p:sp>
        <p:nvSpPr>
          <p:cNvPr id="1240" name="Google Shape;1240;p39"/>
          <p:cNvSpPr txBox="1"/>
          <p:nvPr/>
        </p:nvSpPr>
        <p:spPr>
          <a:xfrm>
            <a:off x="5710238" y="3509963"/>
            <a:ext cx="2220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potentiometer</a:t>
            </a:r>
            <a:endParaRPr/>
          </a:p>
        </p:txBody>
      </p:sp>
      <p:pic>
        <p:nvPicPr>
          <p:cNvPr descr="Preset Potentiometers" id="1241" name="Google Shape;1241;p39"/>
          <p:cNvPicPr preferRelativeResize="0"/>
          <p:nvPr/>
        </p:nvPicPr>
        <p:blipFill rotWithShape="1">
          <a:blip r:embed="rId3">
            <a:alphaModFix/>
          </a:blip>
          <a:srcRect b="9164" l="0" r="644" t="6848"/>
          <a:stretch/>
        </p:blipFill>
        <p:spPr>
          <a:xfrm>
            <a:off x="1468438" y="5278438"/>
            <a:ext cx="1958975" cy="13239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resistor" id="1242" name="Google Shape;124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572835">
            <a:off x="1511300" y="3038475"/>
            <a:ext cx="1530350" cy="15303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10 Turn Lin Potentiometer" id="1243" name="Google Shape;1243;p39"/>
          <p:cNvPicPr preferRelativeResize="0"/>
          <p:nvPr/>
        </p:nvPicPr>
        <p:blipFill rotWithShape="1">
          <a:blip r:embed="rId5">
            <a:alphaModFix/>
          </a:blip>
          <a:srcRect b="23375" l="0" r="-417" t="26208"/>
          <a:stretch/>
        </p:blipFill>
        <p:spPr>
          <a:xfrm>
            <a:off x="5613400" y="4213225"/>
            <a:ext cx="2424113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244" name="Google Shape;1244;p39"/>
          <p:cNvSpPr txBox="1"/>
          <p:nvPr/>
        </p:nvSpPr>
        <p:spPr>
          <a:xfrm>
            <a:off x="2747963" y="3146425"/>
            <a:ext cx="1871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leads</a:t>
            </a:r>
            <a:endParaRPr/>
          </a:p>
        </p:txBody>
      </p:sp>
      <p:sp>
        <p:nvSpPr>
          <p:cNvPr id="1245" name="Google Shape;1245;p39"/>
          <p:cNvSpPr txBox="1"/>
          <p:nvPr/>
        </p:nvSpPr>
        <p:spPr>
          <a:xfrm>
            <a:off x="2813050" y="4959350"/>
            <a:ext cx="18716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leads</a:t>
            </a:r>
            <a:endParaRPr/>
          </a:p>
        </p:txBody>
      </p:sp>
      <p:sp>
        <p:nvSpPr>
          <p:cNvPr id="1246" name="Google Shape;1246;p39"/>
          <p:cNvSpPr txBox="1"/>
          <p:nvPr/>
        </p:nvSpPr>
        <p:spPr>
          <a:xfrm>
            <a:off x="5702300" y="3830638"/>
            <a:ext cx="18716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 leads</a:t>
            </a:r>
            <a:endParaRPr/>
          </a:p>
        </p:txBody>
      </p:sp>
      <p:pic>
        <p:nvPicPr>
          <p:cNvPr id="1247" name="Google Shape;124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55713" y="4433888"/>
            <a:ext cx="1524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0950" y="2908300"/>
            <a:ext cx="15049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3125" y="2946400"/>
            <a:ext cx="144780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40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different types of resistors have different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schematic symbols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56" name="Google Shape;1256;p40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7" name="Google Shape;1257;p40"/>
          <p:cNvSpPr txBox="1"/>
          <p:nvPr/>
        </p:nvSpPr>
        <p:spPr>
          <a:xfrm>
            <a:off x="945018" y="2908300"/>
            <a:ext cx="1895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thermister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0"/>
          <p:cNvSpPr txBox="1"/>
          <p:nvPr/>
        </p:nvSpPr>
        <p:spPr>
          <a:xfrm>
            <a:off x="4206875" y="2724150"/>
            <a:ext cx="263525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light-dependent resistor (LDR)</a:t>
            </a:r>
            <a:endParaRPr/>
          </a:p>
        </p:txBody>
      </p:sp>
      <p:sp>
        <p:nvSpPr>
          <p:cNvPr id="1259" name="Google Shape;1259;p40"/>
          <p:cNvSpPr txBox="1"/>
          <p:nvPr/>
        </p:nvSpPr>
        <p:spPr>
          <a:xfrm>
            <a:off x="1341438" y="3214688"/>
            <a:ext cx="1871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leads</a:t>
            </a:r>
            <a:endParaRPr/>
          </a:p>
        </p:txBody>
      </p:sp>
      <p:sp>
        <p:nvSpPr>
          <p:cNvPr id="1260" name="Google Shape;1260;p40"/>
          <p:cNvSpPr txBox="1"/>
          <p:nvPr/>
        </p:nvSpPr>
        <p:spPr>
          <a:xfrm>
            <a:off x="4946650" y="3403600"/>
            <a:ext cx="18716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leads</a:t>
            </a:r>
            <a:endParaRPr/>
          </a:p>
        </p:txBody>
      </p:sp>
      <p:sp>
        <p:nvSpPr>
          <p:cNvPr id="1261" name="Google Shape;1261;p40"/>
          <p:cNvSpPr txBox="1"/>
          <p:nvPr/>
        </p:nvSpPr>
        <p:spPr>
          <a:xfrm>
            <a:off x="1014413" y="4765675"/>
            <a:ext cx="39909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As temperature increases resistance decreases</a:t>
            </a:r>
            <a:endParaRPr i="1" sz="2400">
              <a:solidFill>
                <a:srgbClr val="5F5F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tcx" id="1262" name="Google Shape;12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882379">
            <a:off x="1211263" y="2689225"/>
            <a:ext cx="3333750" cy="2505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Light Dependent Resistors (LDR)" id="1263" name="Google Shape;1263;p40"/>
          <p:cNvPicPr preferRelativeResize="0"/>
          <p:nvPr/>
        </p:nvPicPr>
        <p:blipFill rotWithShape="1">
          <a:blip r:embed="rId4">
            <a:alphaModFix/>
          </a:blip>
          <a:srcRect b="16573" l="0" r="0" t="16512"/>
          <a:stretch/>
        </p:blipFill>
        <p:spPr>
          <a:xfrm>
            <a:off x="5262563" y="3878263"/>
            <a:ext cx="3184525" cy="17049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264" name="Google Shape;1264;p40"/>
          <p:cNvSpPr txBox="1"/>
          <p:nvPr/>
        </p:nvSpPr>
        <p:spPr>
          <a:xfrm>
            <a:off x="4468813" y="5667375"/>
            <a:ext cx="38750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As brightness increases resistance decreases</a:t>
            </a:r>
            <a:endParaRPr i="1" sz="2400">
              <a:solidFill>
                <a:srgbClr val="5F5F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5" name="Google Shape;126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4813" y="2895600"/>
            <a:ext cx="14287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0850" y="2654300"/>
            <a:ext cx="14859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41"/>
          <p:cNvSpPr/>
          <p:nvPr/>
        </p:nvSpPr>
        <p:spPr>
          <a:xfrm>
            <a:off x="687388" y="4406900"/>
            <a:ext cx="7772400" cy="24511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fixed resistor has a current of 18.2 mA                         when it has a 6.0 V potential difference                        across it. What is its resistance?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6.0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18.2×10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330 Ω. </a:t>
            </a:r>
            <a:endParaRPr/>
          </a:p>
        </p:txBody>
      </p:sp>
      <p:sp>
        <p:nvSpPr>
          <p:cNvPr id="1273" name="Google Shape;1273;p41"/>
          <p:cNvSpPr/>
          <p:nvPr/>
        </p:nvSpPr>
        <p:spPr>
          <a:xfrm>
            <a:off x="685800" y="1549400"/>
            <a:ext cx="7772400" cy="28606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 material is the ratio of the potential difference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the material to the current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flowing through the material.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units from the formula are (V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which are called ohms (Ω).</a:t>
            </a:r>
            <a:endParaRPr/>
          </a:p>
        </p:txBody>
      </p:sp>
      <p:sp>
        <p:nvSpPr>
          <p:cNvPr id="1274" name="Google Shape;1274;p41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275" name="Google Shape;1275;p41"/>
          <p:cNvGrpSpPr/>
          <p:nvPr/>
        </p:nvGrpSpPr>
        <p:grpSpPr>
          <a:xfrm>
            <a:off x="809625" y="3167063"/>
            <a:ext cx="7464425" cy="468312"/>
            <a:chOff x="510" y="1995"/>
            <a:chExt cx="4702" cy="295"/>
          </a:xfrm>
        </p:grpSpPr>
        <p:sp>
          <p:nvSpPr>
            <p:cNvPr id="1276" name="Google Shape;1276;p41"/>
            <p:cNvSpPr/>
            <p:nvPr/>
          </p:nvSpPr>
          <p:spPr>
            <a:xfrm>
              <a:off x="592" y="2008"/>
              <a:ext cx="1757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/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1"/>
            <p:cNvSpPr txBox="1"/>
            <p:nvPr/>
          </p:nvSpPr>
          <p:spPr>
            <a:xfrm>
              <a:off x="3512" y="1995"/>
              <a:ext cx="1700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electric resistance</a:t>
              </a:r>
              <a:endParaRPr/>
            </a:p>
          </p:txBody>
        </p:sp>
        <p:sp>
          <p:nvSpPr>
            <p:cNvPr id="1278" name="Google Shape;1278;p41"/>
            <p:cNvSpPr/>
            <p:nvPr/>
          </p:nvSpPr>
          <p:spPr>
            <a:xfrm>
              <a:off x="510" y="1997"/>
              <a:ext cx="4701" cy="29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resistor" id="1279" name="Google Shape;127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7274746">
            <a:off x="6565106" y="5258594"/>
            <a:ext cx="2155825" cy="20907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280" name="Google Shape;1280;p41"/>
          <p:cNvSpPr txBox="1"/>
          <p:nvPr/>
        </p:nvSpPr>
        <p:spPr>
          <a:xfrm>
            <a:off x="6756400" y="4833938"/>
            <a:ext cx="173355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Brown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  <a:endParaRPr/>
          </a:p>
        </p:txBody>
      </p:sp>
      <p:sp>
        <p:nvSpPr>
          <p:cNvPr id="1281" name="Google Shape;1281;p41"/>
          <p:cNvSpPr txBox="1"/>
          <p:nvPr/>
        </p:nvSpPr>
        <p:spPr>
          <a:xfrm>
            <a:off x="2484438" y="6018213"/>
            <a:ext cx="513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Last color is </a:t>
            </a:r>
            <a:r>
              <a:rPr b="1" lang="en-US" sz="2400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number of zeros</a:t>
            </a:r>
            <a:r>
              <a:rPr lang="en-US" sz="2400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2" name="Google Shape;128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0625" y="150813"/>
            <a:ext cx="1298575" cy="197326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2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∙To understand electrical resistance, consider two identical milk shakes.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the first experiment                                                      the straws have the                                                               same diameter, but                                                      different lengths.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the second                                                       experiment the                                                              straws have the                                                             same length, but                                                            different diameters.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∙Note that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∝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/ 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	</a:t>
            </a:r>
            <a:endParaRPr/>
          </a:p>
        </p:txBody>
      </p:sp>
      <p:sp>
        <p:nvSpPr>
          <p:cNvPr id="1289" name="Google Shape;1289;p42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0" name="Google Shape;1290;p42"/>
          <p:cNvSpPr/>
          <p:nvPr/>
        </p:nvSpPr>
        <p:spPr>
          <a:xfrm>
            <a:off x="5427663" y="4735513"/>
            <a:ext cx="161925" cy="2079625"/>
          </a:xfrm>
          <a:prstGeom prst="rect">
            <a:avLst/>
          </a:prstGeom>
          <a:solidFill>
            <a:srgbClr val="FFCCCC">
              <a:alpha val="6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2"/>
          <p:cNvSpPr/>
          <p:nvPr/>
        </p:nvSpPr>
        <p:spPr>
          <a:xfrm>
            <a:off x="3997325" y="2657475"/>
            <a:ext cx="161925" cy="4157663"/>
          </a:xfrm>
          <a:prstGeom prst="rect">
            <a:avLst/>
          </a:prstGeom>
          <a:solidFill>
            <a:srgbClr val="FFCCCC">
              <a:alpha val="6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2"/>
          <p:cNvSpPr/>
          <p:nvPr/>
        </p:nvSpPr>
        <p:spPr>
          <a:xfrm>
            <a:off x="3529013" y="4738688"/>
            <a:ext cx="1189037" cy="2106612"/>
          </a:xfrm>
          <a:custGeom>
            <a:rect b="b" l="l" r="r" t="t"/>
            <a:pathLst>
              <a:path extrusionOk="0" h="1872" w="1344">
                <a:moveTo>
                  <a:pt x="0" y="0"/>
                </a:moveTo>
                <a:lnTo>
                  <a:pt x="144" y="1872"/>
                </a:lnTo>
                <a:lnTo>
                  <a:pt x="1200" y="1872"/>
                </a:lnTo>
                <a:lnTo>
                  <a:pt x="1344" y="0"/>
                </a:lnTo>
              </a:path>
            </a:pathLst>
          </a:custGeom>
          <a:gradFill>
            <a:gsLst>
              <a:gs pos="0">
                <a:srgbClr val="765E5E"/>
              </a:gs>
              <a:gs pos="50000">
                <a:srgbClr val="FFCCCC"/>
              </a:gs>
              <a:gs pos="100000">
                <a:srgbClr val="765E5E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2"/>
          <p:cNvSpPr/>
          <p:nvPr/>
        </p:nvSpPr>
        <p:spPr>
          <a:xfrm>
            <a:off x="3992563" y="2657475"/>
            <a:ext cx="161925" cy="4157663"/>
          </a:xfrm>
          <a:prstGeom prst="rect">
            <a:avLst/>
          </a:prstGeom>
          <a:gradFill>
            <a:gsLst>
              <a:gs pos="0">
                <a:srgbClr val="839D9F"/>
              </a:gs>
              <a:gs pos="50000">
                <a:srgbClr val="BBE0E3">
                  <a:alpha val="37647"/>
                </a:srgbClr>
              </a:gs>
              <a:gs pos="100000">
                <a:srgbClr val="839D9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2"/>
          <p:cNvSpPr/>
          <p:nvPr/>
        </p:nvSpPr>
        <p:spPr>
          <a:xfrm>
            <a:off x="4933950" y="4738688"/>
            <a:ext cx="1189038" cy="2106612"/>
          </a:xfrm>
          <a:custGeom>
            <a:rect b="b" l="l" r="r" t="t"/>
            <a:pathLst>
              <a:path extrusionOk="0" h="1872" w="1344">
                <a:moveTo>
                  <a:pt x="0" y="0"/>
                </a:moveTo>
                <a:lnTo>
                  <a:pt x="144" y="1872"/>
                </a:lnTo>
                <a:lnTo>
                  <a:pt x="1200" y="1872"/>
                </a:lnTo>
                <a:lnTo>
                  <a:pt x="1344" y="0"/>
                </a:lnTo>
              </a:path>
            </a:pathLst>
          </a:custGeom>
          <a:gradFill>
            <a:gsLst>
              <a:gs pos="0">
                <a:srgbClr val="765E5E"/>
              </a:gs>
              <a:gs pos="50000">
                <a:srgbClr val="FFCCCC"/>
              </a:gs>
              <a:gs pos="100000">
                <a:srgbClr val="765E5E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5" name="Google Shape;1295;p42"/>
          <p:cNvCxnSpPr/>
          <p:nvPr/>
        </p:nvCxnSpPr>
        <p:spPr>
          <a:xfrm>
            <a:off x="6311900" y="4741863"/>
            <a:ext cx="1588" cy="2103437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96" name="Google Shape;1296;p42"/>
          <p:cNvSpPr/>
          <p:nvPr/>
        </p:nvSpPr>
        <p:spPr>
          <a:xfrm>
            <a:off x="6478588" y="4738688"/>
            <a:ext cx="1189037" cy="2106612"/>
          </a:xfrm>
          <a:custGeom>
            <a:rect b="b" l="l" r="r" t="t"/>
            <a:pathLst>
              <a:path extrusionOk="0" h="1872" w="1344">
                <a:moveTo>
                  <a:pt x="0" y="0"/>
                </a:moveTo>
                <a:lnTo>
                  <a:pt x="144" y="1872"/>
                </a:lnTo>
                <a:lnTo>
                  <a:pt x="1200" y="1872"/>
                </a:lnTo>
                <a:lnTo>
                  <a:pt x="1344" y="0"/>
                </a:lnTo>
              </a:path>
            </a:pathLst>
          </a:custGeom>
          <a:gradFill>
            <a:gsLst>
              <a:gs pos="0">
                <a:srgbClr val="765E5E"/>
              </a:gs>
              <a:gs pos="50000">
                <a:srgbClr val="FFCCCC"/>
              </a:gs>
              <a:gs pos="100000">
                <a:srgbClr val="765E5E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2"/>
          <p:cNvSpPr/>
          <p:nvPr/>
        </p:nvSpPr>
        <p:spPr>
          <a:xfrm>
            <a:off x="7926388" y="4738688"/>
            <a:ext cx="1189037" cy="2106612"/>
          </a:xfrm>
          <a:custGeom>
            <a:rect b="b" l="l" r="r" t="t"/>
            <a:pathLst>
              <a:path extrusionOk="0" h="1872" w="1344">
                <a:moveTo>
                  <a:pt x="0" y="0"/>
                </a:moveTo>
                <a:lnTo>
                  <a:pt x="144" y="1872"/>
                </a:lnTo>
                <a:lnTo>
                  <a:pt x="1200" y="1872"/>
                </a:lnTo>
                <a:lnTo>
                  <a:pt x="1344" y="0"/>
                </a:lnTo>
              </a:path>
            </a:pathLst>
          </a:custGeom>
          <a:gradFill>
            <a:gsLst>
              <a:gs pos="0">
                <a:srgbClr val="765E5E"/>
              </a:gs>
              <a:gs pos="50000">
                <a:srgbClr val="FFCCCC"/>
              </a:gs>
              <a:gs pos="100000">
                <a:srgbClr val="765E5E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2"/>
          <p:cNvSpPr/>
          <p:nvPr/>
        </p:nvSpPr>
        <p:spPr>
          <a:xfrm>
            <a:off x="5445125" y="4735513"/>
            <a:ext cx="161925" cy="2079625"/>
          </a:xfrm>
          <a:prstGeom prst="rect">
            <a:avLst/>
          </a:prstGeom>
          <a:gradFill>
            <a:gsLst>
              <a:gs pos="0">
                <a:srgbClr val="839D9F"/>
              </a:gs>
              <a:gs pos="50000">
                <a:srgbClr val="BBE0E3">
                  <a:alpha val="37647"/>
                </a:srgbClr>
              </a:gs>
              <a:gs pos="100000">
                <a:srgbClr val="839D9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2"/>
          <p:cNvSpPr/>
          <p:nvPr/>
        </p:nvSpPr>
        <p:spPr>
          <a:xfrm>
            <a:off x="3522663" y="4738688"/>
            <a:ext cx="1201737" cy="2109787"/>
          </a:xfrm>
          <a:custGeom>
            <a:rect b="b" l="l" r="r" t="t"/>
            <a:pathLst>
              <a:path extrusionOk="0" h="1875" w="1068">
                <a:moveTo>
                  <a:pt x="0" y="0"/>
                </a:moveTo>
                <a:lnTo>
                  <a:pt x="119" y="1875"/>
                </a:lnTo>
                <a:lnTo>
                  <a:pt x="948" y="1875"/>
                </a:lnTo>
                <a:lnTo>
                  <a:pt x="1068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2"/>
          <p:cNvSpPr/>
          <p:nvPr/>
        </p:nvSpPr>
        <p:spPr>
          <a:xfrm>
            <a:off x="4924425" y="4735513"/>
            <a:ext cx="1201738" cy="2109787"/>
          </a:xfrm>
          <a:custGeom>
            <a:rect b="b" l="l" r="r" t="t"/>
            <a:pathLst>
              <a:path extrusionOk="0" h="1875" w="1068">
                <a:moveTo>
                  <a:pt x="0" y="0"/>
                </a:moveTo>
                <a:lnTo>
                  <a:pt x="119" y="1875"/>
                </a:lnTo>
                <a:lnTo>
                  <a:pt x="948" y="1875"/>
                </a:lnTo>
                <a:lnTo>
                  <a:pt x="1068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42"/>
          <p:cNvSpPr/>
          <p:nvPr/>
        </p:nvSpPr>
        <p:spPr>
          <a:xfrm>
            <a:off x="6488113" y="4732338"/>
            <a:ext cx="1201737" cy="2109787"/>
          </a:xfrm>
          <a:custGeom>
            <a:rect b="b" l="l" r="r" t="t"/>
            <a:pathLst>
              <a:path extrusionOk="0" h="1875" w="1068">
                <a:moveTo>
                  <a:pt x="0" y="0"/>
                </a:moveTo>
                <a:lnTo>
                  <a:pt x="119" y="1875"/>
                </a:lnTo>
                <a:lnTo>
                  <a:pt x="948" y="1875"/>
                </a:lnTo>
                <a:lnTo>
                  <a:pt x="1068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2"/>
          <p:cNvSpPr/>
          <p:nvPr/>
        </p:nvSpPr>
        <p:spPr>
          <a:xfrm>
            <a:off x="7908925" y="4729163"/>
            <a:ext cx="1201738" cy="2109787"/>
          </a:xfrm>
          <a:custGeom>
            <a:rect b="b" l="l" r="r" t="t"/>
            <a:pathLst>
              <a:path extrusionOk="0" h="1875" w="1068">
                <a:moveTo>
                  <a:pt x="0" y="0"/>
                </a:moveTo>
                <a:lnTo>
                  <a:pt x="119" y="1875"/>
                </a:lnTo>
                <a:lnTo>
                  <a:pt x="948" y="1875"/>
                </a:lnTo>
                <a:lnTo>
                  <a:pt x="1068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42"/>
          <p:cNvSpPr/>
          <p:nvPr/>
        </p:nvSpPr>
        <p:spPr>
          <a:xfrm>
            <a:off x="4311650" y="4976813"/>
            <a:ext cx="1046163" cy="3952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∝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42"/>
          <p:cNvSpPr/>
          <p:nvPr/>
        </p:nvSpPr>
        <p:spPr>
          <a:xfrm>
            <a:off x="7083425" y="4983163"/>
            <a:ext cx="1458913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∝ 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42"/>
          <p:cNvSpPr txBox="1"/>
          <p:nvPr/>
        </p:nvSpPr>
        <p:spPr>
          <a:xfrm>
            <a:off x="4162425" y="2778125"/>
            <a:ext cx="29464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Resistance is a measure of how hard it is to pass something through a material.</a:t>
            </a:r>
            <a:endParaRPr/>
          </a:p>
        </p:txBody>
      </p:sp>
      <p:sp>
        <p:nvSpPr>
          <p:cNvPr id="1306" name="Google Shape;1306;p42"/>
          <p:cNvSpPr/>
          <p:nvPr/>
        </p:nvSpPr>
        <p:spPr>
          <a:xfrm>
            <a:off x="6992938" y="2646363"/>
            <a:ext cx="161925" cy="4157662"/>
          </a:xfrm>
          <a:prstGeom prst="rect">
            <a:avLst/>
          </a:prstGeom>
          <a:solidFill>
            <a:srgbClr val="FFCCCC">
              <a:alpha val="6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2"/>
          <p:cNvSpPr/>
          <p:nvPr/>
        </p:nvSpPr>
        <p:spPr>
          <a:xfrm>
            <a:off x="7010400" y="2646363"/>
            <a:ext cx="161925" cy="4157662"/>
          </a:xfrm>
          <a:prstGeom prst="rect">
            <a:avLst/>
          </a:prstGeom>
          <a:gradFill>
            <a:gsLst>
              <a:gs pos="0">
                <a:srgbClr val="839D9F"/>
              </a:gs>
              <a:gs pos="50000">
                <a:srgbClr val="BBE0E3">
                  <a:alpha val="37647"/>
                </a:srgbClr>
              </a:gs>
              <a:gs pos="100000">
                <a:srgbClr val="839D9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2"/>
          <p:cNvSpPr/>
          <p:nvPr/>
        </p:nvSpPr>
        <p:spPr>
          <a:xfrm>
            <a:off x="8448675" y="2636838"/>
            <a:ext cx="90488" cy="4157662"/>
          </a:xfrm>
          <a:prstGeom prst="rect">
            <a:avLst/>
          </a:prstGeom>
          <a:solidFill>
            <a:srgbClr val="FFCCCC">
              <a:alpha val="6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2"/>
          <p:cNvSpPr/>
          <p:nvPr/>
        </p:nvSpPr>
        <p:spPr>
          <a:xfrm>
            <a:off x="8455025" y="2636838"/>
            <a:ext cx="90488" cy="4157662"/>
          </a:xfrm>
          <a:prstGeom prst="rect">
            <a:avLst/>
          </a:prstGeom>
          <a:gradFill>
            <a:gsLst>
              <a:gs pos="0">
                <a:srgbClr val="839D9F"/>
              </a:gs>
              <a:gs pos="50000">
                <a:srgbClr val="BBE0E3">
                  <a:alpha val="37647"/>
                </a:srgbClr>
              </a:gs>
              <a:gs pos="100000">
                <a:srgbClr val="839D9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43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∙Of course conductors and resistors are not hollow like straws. And instead of milk shake                               current we have electrical current.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∙Even through solids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∝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/ 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∙But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also depends on the material                          through which the electricity is flowing.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∙For example the exact same size of                          copper will have much less resistance                           than the carbon.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∙With the proportionality constant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ρ we have equality: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43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317" name="Google Shape;1317;p43"/>
          <p:cNvGrpSpPr/>
          <p:nvPr/>
        </p:nvGrpSpPr>
        <p:grpSpPr>
          <a:xfrm>
            <a:off x="809625" y="6049963"/>
            <a:ext cx="7464425" cy="457200"/>
            <a:chOff x="510" y="3811"/>
            <a:chExt cx="4702" cy="288"/>
          </a:xfrm>
        </p:grpSpPr>
        <p:sp>
          <p:nvSpPr>
            <p:cNvPr id="1318" name="Google Shape;1318;p43"/>
            <p:cNvSpPr/>
            <p:nvPr/>
          </p:nvSpPr>
          <p:spPr>
            <a:xfrm>
              <a:off x="592" y="3824"/>
              <a:ext cx="2589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ρ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 /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or  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ρ =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RA / L </a:t>
              </a:r>
              <a:endParaRPr i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43"/>
            <p:cNvSpPr txBox="1"/>
            <p:nvPr/>
          </p:nvSpPr>
          <p:spPr>
            <a:xfrm>
              <a:off x="3237" y="3811"/>
              <a:ext cx="1975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resistance equation</a:t>
              </a:r>
              <a:endParaRPr/>
            </a:p>
          </p:txBody>
        </p:sp>
        <p:sp>
          <p:nvSpPr>
            <p:cNvPr id="1320" name="Google Shape;1320;p43"/>
            <p:cNvSpPr/>
            <p:nvPr/>
          </p:nvSpPr>
          <p:spPr>
            <a:xfrm>
              <a:off x="510" y="3813"/>
              <a:ext cx="4701" cy="28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1" name="Google Shape;13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569" y="2640689"/>
            <a:ext cx="2771775" cy="12573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322" name="Google Shape;132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095" y="4000042"/>
            <a:ext cx="2752725" cy="12382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4"/>
          <p:cNvSpPr/>
          <p:nvPr/>
        </p:nvSpPr>
        <p:spPr>
          <a:xfrm>
            <a:off x="685800" y="1549400"/>
            <a:ext cx="7772400" cy="12509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Greek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ρ is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resistivity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particular material the resistor is made from. It is measured in Ωm.</a:t>
            </a:r>
            <a:endParaRPr/>
          </a:p>
        </p:txBody>
      </p:sp>
      <p:sp>
        <p:nvSpPr>
          <p:cNvPr id="1329" name="Google Shape;1329;p44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0" name="Google Shape;1330;p44"/>
          <p:cNvSpPr txBox="1"/>
          <p:nvPr/>
        </p:nvSpPr>
        <p:spPr>
          <a:xfrm>
            <a:off x="796925" y="2954338"/>
            <a:ext cx="7550150" cy="376237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Resistivities and Temperature Coefficients for Various Materials at 20°C</a:t>
            </a:r>
            <a:endParaRPr/>
          </a:p>
        </p:txBody>
      </p:sp>
      <p:sp>
        <p:nvSpPr>
          <p:cNvPr id="1331" name="Google Shape;1331;p44"/>
          <p:cNvSpPr txBox="1"/>
          <p:nvPr/>
        </p:nvSpPr>
        <p:spPr>
          <a:xfrm>
            <a:off x="2311400" y="3321050"/>
            <a:ext cx="1130300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ρ (Ω⋅m)</a:t>
            </a:r>
            <a:endParaRPr/>
          </a:p>
        </p:txBody>
      </p:sp>
      <p:sp>
        <p:nvSpPr>
          <p:cNvPr id="1332" name="Google Shape;1332;p44"/>
          <p:cNvSpPr txBox="1"/>
          <p:nvPr/>
        </p:nvSpPr>
        <p:spPr>
          <a:xfrm>
            <a:off x="3441700" y="3321050"/>
            <a:ext cx="1130300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(C° 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333" name="Google Shape;1333;p44"/>
          <p:cNvSpPr txBox="1"/>
          <p:nvPr/>
        </p:nvSpPr>
        <p:spPr>
          <a:xfrm>
            <a:off x="2311400" y="3635375"/>
            <a:ext cx="1130300" cy="3143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4"/>
          <p:cNvSpPr txBox="1"/>
          <p:nvPr/>
        </p:nvSpPr>
        <p:spPr>
          <a:xfrm>
            <a:off x="3441700" y="3635375"/>
            <a:ext cx="1130300" cy="3143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4"/>
          <p:cNvSpPr txBox="1"/>
          <p:nvPr/>
        </p:nvSpPr>
        <p:spPr>
          <a:xfrm>
            <a:off x="796925" y="3321050"/>
            <a:ext cx="1514475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  <a:endParaRPr/>
          </a:p>
        </p:txBody>
      </p:sp>
      <p:sp>
        <p:nvSpPr>
          <p:cNvPr id="1336" name="Google Shape;1336;p44"/>
          <p:cNvSpPr txBox="1"/>
          <p:nvPr/>
        </p:nvSpPr>
        <p:spPr>
          <a:xfrm>
            <a:off x="6086475" y="3321050"/>
            <a:ext cx="1130300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ρ (Ω⋅m)</a:t>
            </a:r>
            <a:endParaRPr/>
          </a:p>
        </p:txBody>
      </p:sp>
      <p:sp>
        <p:nvSpPr>
          <p:cNvPr id="1337" name="Google Shape;1337;p44"/>
          <p:cNvSpPr txBox="1"/>
          <p:nvPr/>
        </p:nvSpPr>
        <p:spPr>
          <a:xfrm>
            <a:off x="7216775" y="3321050"/>
            <a:ext cx="1130300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(C° 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338" name="Google Shape;1338;p44"/>
          <p:cNvSpPr txBox="1"/>
          <p:nvPr/>
        </p:nvSpPr>
        <p:spPr>
          <a:xfrm>
            <a:off x="4572000" y="3321050"/>
            <a:ext cx="1514475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  <a:endParaRPr/>
          </a:p>
        </p:txBody>
      </p:sp>
      <p:sp>
        <p:nvSpPr>
          <p:cNvPr id="1339" name="Google Shape;1339;p44"/>
          <p:cNvSpPr txBox="1"/>
          <p:nvPr/>
        </p:nvSpPr>
        <p:spPr>
          <a:xfrm>
            <a:off x="796925" y="3635375"/>
            <a:ext cx="1514475" cy="3143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Conductors</a:t>
            </a:r>
            <a:endParaRPr/>
          </a:p>
        </p:txBody>
      </p:sp>
      <p:sp>
        <p:nvSpPr>
          <p:cNvPr id="1340" name="Google Shape;1340;p44"/>
          <p:cNvSpPr txBox="1"/>
          <p:nvPr/>
        </p:nvSpPr>
        <p:spPr>
          <a:xfrm>
            <a:off x="4572000" y="3635375"/>
            <a:ext cx="1514475" cy="314325"/>
          </a:xfrm>
          <a:prstGeom prst="rect">
            <a:avLst/>
          </a:prstGeom>
          <a:solidFill>
            <a:srgbClr val="FFFF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Semiconductors</a:t>
            </a:r>
            <a:endParaRPr/>
          </a:p>
        </p:txBody>
      </p:sp>
      <p:sp>
        <p:nvSpPr>
          <p:cNvPr id="1341" name="Google Shape;1341;p44"/>
          <p:cNvSpPr txBox="1"/>
          <p:nvPr/>
        </p:nvSpPr>
        <p:spPr>
          <a:xfrm>
            <a:off x="6086475" y="3635375"/>
            <a:ext cx="1130300" cy="314325"/>
          </a:xfrm>
          <a:prstGeom prst="rect">
            <a:avLst/>
          </a:prstGeom>
          <a:solidFill>
            <a:srgbClr val="FFFF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4"/>
          <p:cNvSpPr txBox="1"/>
          <p:nvPr/>
        </p:nvSpPr>
        <p:spPr>
          <a:xfrm>
            <a:off x="7216775" y="3635375"/>
            <a:ext cx="1130300" cy="314325"/>
          </a:xfrm>
          <a:prstGeom prst="rect">
            <a:avLst/>
          </a:prstGeom>
          <a:solidFill>
            <a:srgbClr val="FFFF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44"/>
          <p:cNvSpPr txBox="1"/>
          <p:nvPr/>
        </p:nvSpPr>
        <p:spPr>
          <a:xfrm>
            <a:off x="2311400" y="39497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2.82×10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4"/>
          <p:cNvSpPr txBox="1"/>
          <p:nvPr/>
        </p:nvSpPr>
        <p:spPr>
          <a:xfrm>
            <a:off x="3441700" y="39497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4.29×10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44"/>
          <p:cNvSpPr txBox="1"/>
          <p:nvPr/>
        </p:nvSpPr>
        <p:spPr>
          <a:xfrm>
            <a:off x="796925" y="394970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Aluminum</a:t>
            </a:r>
            <a:endParaRPr/>
          </a:p>
        </p:txBody>
      </p:sp>
      <p:sp>
        <p:nvSpPr>
          <p:cNvPr id="1346" name="Google Shape;1346;p44"/>
          <p:cNvSpPr txBox="1"/>
          <p:nvPr/>
        </p:nvSpPr>
        <p:spPr>
          <a:xfrm>
            <a:off x="4572000" y="394970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Carbon</a:t>
            </a:r>
            <a:endParaRPr/>
          </a:p>
        </p:txBody>
      </p:sp>
      <p:sp>
        <p:nvSpPr>
          <p:cNvPr id="1347" name="Google Shape;1347;p44"/>
          <p:cNvSpPr txBox="1"/>
          <p:nvPr/>
        </p:nvSpPr>
        <p:spPr>
          <a:xfrm>
            <a:off x="6086475" y="39497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3600×10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4"/>
          <p:cNvSpPr txBox="1"/>
          <p:nvPr/>
        </p:nvSpPr>
        <p:spPr>
          <a:xfrm>
            <a:off x="7216775" y="39497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-5.0×10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4"/>
          <p:cNvSpPr txBox="1"/>
          <p:nvPr/>
        </p:nvSpPr>
        <p:spPr>
          <a:xfrm>
            <a:off x="2311400" y="42640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1.70×10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4"/>
          <p:cNvSpPr txBox="1"/>
          <p:nvPr/>
        </p:nvSpPr>
        <p:spPr>
          <a:xfrm>
            <a:off x="3441700" y="42640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6.80×10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4"/>
          <p:cNvSpPr txBox="1"/>
          <p:nvPr/>
        </p:nvSpPr>
        <p:spPr>
          <a:xfrm>
            <a:off x="796925" y="426402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Copper</a:t>
            </a:r>
            <a:endParaRPr/>
          </a:p>
        </p:txBody>
      </p:sp>
      <p:sp>
        <p:nvSpPr>
          <p:cNvPr id="1352" name="Google Shape;1352;p44"/>
          <p:cNvSpPr txBox="1"/>
          <p:nvPr/>
        </p:nvSpPr>
        <p:spPr>
          <a:xfrm>
            <a:off x="4572000" y="426402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Germanium</a:t>
            </a:r>
            <a:endParaRPr/>
          </a:p>
        </p:txBody>
      </p:sp>
      <p:sp>
        <p:nvSpPr>
          <p:cNvPr id="1353" name="Google Shape;1353;p44"/>
          <p:cNvSpPr txBox="1"/>
          <p:nvPr/>
        </p:nvSpPr>
        <p:spPr>
          <a:xfrm>
            <a:off x="6086475" y="42640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4.6×10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44"/>
          <p:cNvSpPr txBox="1"/>
          <p:nvPr/>
        </p:nvSpPr>
        <p:spPr>
          <a:xfrm>
            <a:off x="7216775" y="42640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-5.0×10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4"/>
          <p:cNvSpPr txBox="1"/>
          <p:nvPr/>
        </p:nvSpPr>
        <p:spPr>
          <a:xfrm>
            <a:off x="2311400" y="45783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44"/>
          <p:cNvSpPr txBox="1"/>
          <p:nvPr/>
        </p:nvSpPr>
        <p:spPr>
          <a:xfrm>
            <a:off x="3441700" y="45783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6.51×10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4"/>
          <p:cNvSpPr txBox="1"/>
          <p:nvPr/>
        </p:nvSpPr>
        <p:spPr>
          <a:xfrm>
            <a:off x="796925" y="457835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Iron</a:t>
            </a:r>
            <a:endParaRPr/>
          </a:p>
        </p:txBody>
      </p:sp>
      <p:sp>
        <p:nvSpPr>
          <p:cNvPr id="1358" name="Google Shape;1358;p44"/>
          <p:cNvSpPr txBox="1"/>
          <p:nvPr/>
        </p:nvSpPr>
        <p:spPr>
          <a:xfrm>
            <a:off x="4572000" y="457835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Silicon</a:t>
            </a:r>
            <a:endParaRPr/>
          </a:p>
        </p:txBody>
      </p:sp>
      <p:sp>
        <p:nvSpPr>
          <p:cNvPr id="1359" name="Google Shape;1359;p44"/>
          <p:cNvSpPr txBox="1"/>
          <p:nvPr/>
        </p:nvSpPr>
        <p:spPr>
          <a:xfrm>
            <a:off x="6086475" y="45783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2.5×10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44"/>
          <p:cNvSpPr txBox="1"/>
          <p:nvPr/>
        </p:nvSpPr>
        <p:spPr>
          <a:xfrm>
            <a:off x="7216775" y="45783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-7.0×10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4"/>
          <p:cNvSpPr txBox="1"/>
          <p:nvPr/>
        </p:nvSpPr>
        <p:spPr>
          <a:xfrm>
            <a:off x="2311400" y="48926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98.4×10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4"/>
          <p:cNvSpPr txBox="1"/>
          <p:nvPr/>
        </p:nvSpPr>
        <p:spPr>
          <a:xfrm>
            <a:off x="3441700" y="48926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0.89×10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44"/>
          <p:cNvSpPr txBox="1"/>
          <p:nvPr/>
        </p:nvSpPr>
        <p:spPr>
          <a:xfrm>
            <a:off x="796925" y="489267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Mercury</a:t>
            </a:r>
            <a:endParaRPr/>
          </a:p>
        </p:txBody>
      </p:sp>
      <p:sp>
        <p:nvSpPr>
          <p:cNvPr id="1364" name="Google Shape;1364;p44"/>
          <p:cNvSpPr txBox="1"/>
          <p:nvPr/>
        </p:nvSpPr>
        <p:spPr>
          <a:xfrm>
            <a:off x="4572000" y="489267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44"/>
          <p:cNvSpPr txBox="1"/>
          <p:nvPr/>
        </p:nvSpPr>
        <p:spPr>
          <a:xfrm>
            <a:off x="6086475" y="48926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44"/>
          <p:cNvSpPr txBox="1"/>
          <p:nvPr/>
        </p:nvSpPr>
        <p:spPr>
          <a:xfrm>
            <a:off x="7216775" y="48926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44"/>
          <p:cNvSpPr txBox="1"/>
          <p:nvPr/>
        </p:nvSpPr>
        <p:spPr>
          <a:xfrm>
            <a:off x="2311400" y="52070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44"/>
          <p:cNvSpPr txBox="1"/>
          <p:nvPr/>
        </p:nvSpPr>
        <p:spPr>
          <a:xfrm>
            <a:off x="3441700" y="52070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0.40×10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44"/>
          <p:cNvSpPr txBox="1"/>
          <p:nvPr/>
        </p:nvSpPr>
        <p:spPr>
          <a:xfrm>
            <a:off x="796925" y="520700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Nichrome</a:t>
            </a:r>
            <a:endParaRPr/>
          </a:p>
        </p:txBody>
      </p:sp>
      <p:sp>
        <p:nvSpPr>
          <p:cNvPr id="1370" name="Google Shape;1370;p44"/>
          <p:cNvSpPr txBox="1"/>
          <p:nvPr/>
        </p:nvSpPr>
        <p:spPr>
          <a:xfrm>
            <a:off x="4572000" y="5207000"/>
            <a:ext cx="1514475" cy="31432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Nonconductors</a:t>
            </a:r>
            <a:endParaRPr/>
          </a:p>
        </p:txBody>
      </p:sp>
      <p:sp>
        <p:nvSpPr>
          <p:cNvPr id="1371" name="Google Shape;1371;p44"/>
          <p:cNvSpPr txBox="1"/>
          <p:nvPr/>
        </p:nvSpPr>
        <p:spPr>
          <a:xfrm>
            <a:off x="6086475" y="5207000"/>
            <a:ext cx="1130300" cy="31432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44"/>
          <p:cNvSpPr txBox="1"/>
          <p:nvPr/>
        </p:nvSpPr>
        <p:spPr>
          <a:xfrm>
            <a:off x="7216775" y="5207000"/>
            <a:ext cx="1130300" cy="31432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44"/>
          <p:cNvSpPr txBox="1"/>
          <p:nvPr/>
        </p:nvSpPr>
        <p:spPr>
          <a:xfrm>
            <a:off x="2311400" y="55213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7.8×10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4"/>
          <p:cNvSpPr txBox="1"/>
          <p:nvPr/>
        </p:nvSpPr>
        <p:spPr>
          <a:xfrm>
            <a:off x="3441700" y="55213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4"/>
          <p:cNvSpPr txBox="1"/>
          <p:nvPr/>
        </p:nvSpPr>
        <p:spPr>
          <a:xfrm>
            <a:off x="796925" y="552132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Nickel</a:t>
            </a:r>
            <a:endParaRPr/>
          </a:p>
        </p:txBody>
      </p:sp>
      <p:sp>
        <p:nvSpPr>
          <p:cNvPr id="1376" name="Google Shape;1376;p44"/>
          <p:cNvSpPr txBox="1"/>
          <p:nvPr/>
        </p:nvSpPr>
        <p:spPr>
          <a:xfrm>
            <a:off x="4572000" y="552132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Glass</a:t>
            </a:r>
            <a:endParaRPr/>
          </a:p>
        </p:txBody>
      </p:sp>
      <p:sp>
        <p:nvSpPr>
          <p:cNvPr id="1377" name="Google Shape;1377;p44"/>
          <p:cNvSpPr txBox="1"/>
          <p:nvPr/>
        </p:nvSpPr>
        <p:spPr>
          <a:xfrm>
            <a:off x="6086475" y="55213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44"/>
          <p:cNvSpPr txBox="1"/>
          <p:nvPr/>
        </p:nvSpPr>
        <p:spPr>
          <a:xfrm>
            <a:off x="7216775" y="552132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44"/>
          <p:cNvSpPr txBox="1"/>
          <p:nvPr/>
        </p:nvSpPr>
        <p:spPr>
          <a:xfrm>
            <a:off x="2311400" y="58356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4"/>
          <p:cNvSpPr txBox="1"/>
          <p:nvPr/>
        </p:nvSpPr>
        <p:spPr>
          <a:xfrm>
            <a:off x="3441700" y="58356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3.93×10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4"/>
          <p:cNvSpPr txBox="1"/>
          <p:nvPr/>
        </p:nvSpPr>
        <p:spPr>
          <a:xfrm>
            <a:off x="796925" y="583565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Platinum</a:t>
            </a:r>
            <a:endParaRPr/>
          </a:p>
        </p:txBody>
      </p:sp>
      <p:sp>
        <p:nvSpPr>
          <p:cNvPr id="1382" name="Google Shape;1382;p44"/>
          <p:cNvSpPr txBox="1"/>
          <p:nvPr/>
        </p:nvSpPr>
        <p:spPr>
          <a:xfrm>
            <a:off x="4572000" y="583565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Rubber</a:t>
            </a:r>
            <a:endParaRPr/>
          </a:p>
        </p:txBody>
      </p:sp>
      <p:sp>
        <p:nvSpPr>
          <p:cNvPr id="1383" name="Google Shape;1383;p44"/>
          <p:cNvSpPr txBox="1"/>
          <p:nvPr/>
        </p:nvSpPr>
        <p:spPr>
          <a:xfrm>
            <a:off x="6086475" y="58356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4"/>
          <p:cNvSpPr txBox="1"/>
          <p:nvPr/>
        </p:nvSpPr>
        <p:spPr>
          <a:xfrm>
            <a:off x="7216775" y="583565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4"/>
          <p:cNvSpPr txBox="1"/>
          <p:nvPr/>
        </p:nvSpPr>
        <p:spPr>
          <a:xfrm>
            <a:off x="2311400" y="61499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1.59×10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44"/>
          <p:cNvSpPr txBox="1"/>
          <p:nvPr/>
        </p:nvSpPr>
        <p:spPr>
          <a:xfrm>
            <a:off x="3441700" y="61499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6.1×10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4"/>
          <p:cNvSpPr txBox="1"/>
          <p:nvPr/>
        </p:nvSpPr>
        <p:spPr>
          <a:xfrm>
            <a:off x="796925" y="614997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endParaRPr/>
          </a:p>
        </p:txBody>
      </p:sp>
      <p:sp>
        <p:nvSpPr>
          <p:cNvPr id="1388" name="Google Shape;1388;p44"/>
          <p:cNvSpPr txBox="1"/>
          <p:nvPr/>
        </p:nvSpPr>
        <p:spPr>
          <a:xfrm>
            <a:off x="4572000" y="6149975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Wood</a:t>
            </a:r>
            <a:endParaRPr/>
          </a:p>
        </p:txBody>
      </p:sp>
      <p:sp>
        <p:nvSpPr>
          <p:cNvPr id="1389" name="Google Shape;1389;p44"/>
          <p:cNvSpPr txBox="1"/>
          <p:nvPr/>
        </p:nvSpPr>
        <p:spPr>
          <a:xfrm>
            <a:off x="6086475" y="61499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4"/>
          <p:cNvSpPr txBox="1"/>
          <p:nvPr/>
        </p:nvSpPr>
        <p:spPr>
          <a:xfrm>
            <a:off x="7216775" y="6149975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44"/>
          <p:cNvSpPr txBox="1"/>
          <p:nvPr/>
        </p:nvSpPr>
        <p:spPr>
          <a:xfrm>
            <a:off x="2311400" y="64643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5.6×10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4"/>
          <p:cNvSpPr txBox="1"/>
          <p:nvPr/>
        </p:nvSpPr>
        <p:spPr>
          <a:xfrm>
            <a:off x="3441700" y="64643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4.5×10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44"/>
          <p:cNvSpPr txBox="1"/>
          <p:nvPr/>
        </p:nvSpPr>
        <p:spPr>
          <a:xfrm>
            <a:off x="796925" y="646430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Tungsten</a:t>
            </a:r>
            <a:endParaRPr/>
          </a:p>
        </p:txBody>
      </p:sp>
      <p:sp>
        <p:nvSpPr>
          <p:cNvPr id="1394" name="Google Shape;1394;p44"/>
          <p:cNvSpPr txBox="1"/>
          <p:nvPr/>
        </p:nvSpPr>
        <p:spPr>
          <a:xfrm>
            <a:off x="4572000" y="6464300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4"/>
          <p:cNvSpPr txBox="1"/>
          <p:nvPr/>
        </p:nvSpPr>
        <p:spPr>
          <a:xfrm>
            <a:off x="6086475" y="64643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4"/>
          <p:cNvSpPr txBox="1"/>
          <p:nvPr/>
        </p:nvSpPr>
        <p:spPr>
          <a:xfrm>
            <a:off x="7216775" y="6464300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7" name="Google Shape;1397;p44"/>
          <p:cNvCxnSpPr/>
          <p:nvPr/>
        </p:nvCxnSpPr>
        <p:spPr>
          <a:xfrm>
            <a:off x="4572000" y="3321050"/>
            <a:ext cx="0" cy="34575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3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45"/>
          <p:cNvSpPr/>
          <p:nvPr/>
        </p:nvSpPr>
        <p:spPr>
          <a:xfrm>
            <a:off x="687388" y="2760663"/>
            <a:ext cx="7772400" cy="40973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What is the resistance                                    of a 0.00200 meter long carbon                                      core resistor having a core                                        diameter of 0.000100 m?  Assume                                    the temperature is 20 °C.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= 0.0001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= 0.00005 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π(0.00005)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7.854×10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-9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the table ρ = 3600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ρ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	= (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3600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)(0.002)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7.854×10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-9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9.17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45"/>
          <p:cNvSpPr/>
          <p:nvPr/>
        </p:nvSpPr>
        <p:spPr>
          <a:xfrm>
            <a:off x="685800" y="1549400"/>
            <a:ext cx="7772400" cy="12334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Resistance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∙Note that resistance depends on temperature. The IBO does not require us to explore this facet of resistivity.</a:t>
            </a:r>
            <a:endParaRPr/>
          </a:p>
        </p:txBody>
      </p:sp>
      <p:sp>
        <p:nvSpPr>
          <p:cNvPr id="1405" name="Google Shape;1405;p4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06" name="Google Shape;1406;p45"/>
          <p:cNvCxnSpPr/>
          <p:nvPr/>
        </p:nvCxnSpPr>
        <p:spPr>
          <a:xfrm>
            <a:off x="6170613" y="4349750"/>
            <a:ext cx="0" cy="522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45"/>
          <p:cNvCxnSpPr/>
          <p:nvPr/>
        </p:nvCxnSpPr>
        <p:spPr>
          <a:xfrm>
            <a:off x="8631238" y="4975225"/>
            <a:ext cx="0" cy="5857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08" name="Google Shape;1408;p45"/>
          <p:cNvCxnSpPr/>
          <p:nvPr/>
        </p:nvCxnSpPr>
        <p:spPr>
          <a:xfrm>
            <a:off x="6178550" y="4787900"/>
            <a:ext cx="2441575" cy="649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09" name="Google Shape;1409;p45"/>
          <p:cNvSpPr txBox="1"/>
          <p:nvPr/>
        </p:nvSpPr>
        <p:spPr>
          <a:xfrm>
            <a:off x="7135813" y="4832350"/>
            <a:ext cx="466725" cy="7016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1410" name="Google Shape;1410;p45"/>
          <p:cNvSpPr/>
          <p:nvPr/>
        </p:nvSpPr>
        <p:spPr>
          <a:xfrm>
            <a:off x="4029075" y="3225800"/>
            <a:ext cx="1011238" cy="280988"/>
          </a:xfrm>
          <a:prstGeom prst="rect">
            <a:avLst/>
          </a:prstGeom>
          <a:solidFill>
            <a:srgbClr val="FF9933">
              <a:alpha val="474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5"/>
          <p:cNvSpPr/>
          <p:nvPr/>
        </p:nvSpPr>
        <p:spPr>
          <a:xfrm>
            <a:off x="2928938" y="5586413"/>
            <a:ext cx="2551112" cy="366712"/>
          </a:xfrm>
          <a:prstGeom prst="rect">
            <a:avLst/>
          </a:prstGeom>
          <a:solidFill>
            <a:srgbClr val="FF9933">
              <a:alpha val="474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2" name="Google Shape;141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7388" y="3030538"/>
            <a:ext cx="3305175" cy="19812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413" name="Google Shape;1413;p45"/>
          <p:cNvSpPr txBox="1"/>
          <p:nvPr/>
        </p:nvSpPr>
        <p:spPr>
          <a:xfrm>
            <a:off x="8358188" y="3994150"/>
            <a:ext cx="5222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6"/>
          <p:cNvSpPr/>
          <p:nvPr/>
        </p:nvSpPr>
        <p:spPr>
          <a:xfrm>
            <a:off x="682625" y="6048375"/>
            <a:ext cx="7778750" cy="80962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Ohm’s law applies to components with constant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20" name="Google Shape;1420;p46"/>
          <p:cNvSpPr/>
          <p:nvPr/>
        </p:nvSpPr>
        <p:spPr>
          <a:xfrm>
            <a:off x="685800" y="1549400"/>
            <a:ext cx="7772400" cy="4546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Ohm’s law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German Ohm studied resistance of                 materials in the 1800s and in 1826 stated: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Provided the temperature is kept                              constant, the resistance of very many                       materials is constant over a wide range of                   applied potential differences, and                              therefore the potential difference is                        proportional to the current.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formula form Ohm’s law looks like this:</a:t>
            </a:r>
            <a:endParaRPr/>
          </a:p>
        </p:txBody>
      </p:sp>
      <p:sp>
        <p:nvSpPr>
          <p:cNvPr id="1421" name="Google Shape;1421;p4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22" name="Google Shape;1422;p46"/>
          <p:cNvGrpSpPr/>
          <p:nvPr/>
        </p:nvGrpSpPr>
        <p:grpSpPr>
          <a:xfrm>
            <a:off x="809625" y="5519738"/>
            <a:ext cx="7464425" cy="457200"/>
            <a:chOff x="510" y="3432"/>
            <a:chExt cx="4702" cy="288"/>
          </a:xfrm>
        </p:grpSpPr>
        <p:sp>
          <p:nvSpPr>
            <p:cNvPr id="1423" name="Google Shape;1423;p46"/>
            <p:cNvSpPr/>
            <p:nvPr/>
          </p:nvSpPr>
          <p:spPr>
            <a:xfrm>
              <a:off x="592" y="3445"/>
              <a:ext cx="734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∝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46"/>
            <p:cNvSpPr txBox="1"/>
            <p:nvPr/>
          </p:nvSpPr>
          <p:spPr>
            <a:xfrm>
              <a:off x="4009" y="3432"/>
              <a:ext cx="1203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Ohm’s law</a:t>
              </a:r>
              <a:endParaRPr/>
            </a:p>
          </p:txBody>
        </p:sp>
        <p:sp>
          <p:nvSpPr>
            <p:cNvPr id="1425" name="Google Shape;1425;p46"/>
            <p:cNvSpPr/>
            <p:nvPr/>
          </p:nvSpPr>
          <p:spPr>
            <a:xfrm>
              <a:off x="510" y="3434"/>
              <a:ext cx="4701" cy="28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46"/>
            <p:cNvSpPr/>
            <p:nvPr/>
          </p:nvSpPr>
          <p:spPr>
            <a:xfrm>
              <a:off x="1245" y="3454"/>
              <a:ext cx="1663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 V / I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CONST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46"/>
            <p:cNvSpPr/>
            <p:nvPr/>
          </p:nvSpPr>
          <p:spPr>
            <a:xfrm>
              <a:off x="2899" y="3448"/>
              <a:ext cx="1023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 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r>
                <a:rPr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i="1" lang="en-US" sz="2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IR</a:t>
              </a:r>
              <a:endParaRPr i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eorg-Simon-Ohm" id="1428" name="Google Shape;14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6688" y="1550988"/>
            <a:ext cx="2352675" cy="360203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7"/>
          <p:cNvSpPr/>
          <p:nvPr/>
        </p:nvSpPr>
        <p:spPr>
          <a:xfrm>
            <a:off x="684213" y="3198813"/>
            <a:ext cx="7772400" cy="36591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Label appropriate V-I graphs with the following labels: ohmic, non-ohmic,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increasing,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decreasing,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∙First label the resistance                                       dependence.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/ 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just the slope of the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vs.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graph.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∙Ohm’s law states the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constant. Thus only one graph is ohmic.</a:t>
            </a:r>
            <a:endParaRPr/>
          </a:p>
        </p:txBody>
      </p:sp>
      <p:sp>
        <p:nvSpPr>
          <p:cNvPr id="1435" name="Google Shape;1435;p47"/>
          <p:cNvSpPr/>
          <p:nvPr/>
        </p:nvSpPr>
        <p:spPr>
          <a:xfrm>
            <a:off x="685800" y="1549400"/>
            <a:ext cx="7772400" cy="16430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Ohm’s law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ohmic and non-ohmic behavior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material is considered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ohmic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it behaves according to Ohm’s law. In other words the resistance stays constant as the voltage changes.</a:t>
            </a:r>
            <a:endParaRPr/>
          </a:p>
        </p:txBody>
      </p:sp>
      <p:sp>
        <p:nvSpPr>
          <p:cNvPr id="1436" name="Google Shape;1436;p47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37" name="Google Shape;1437;p47"/>
          <p:cNvGrpSpPr/>
          <p:nvPr/>
        </p:nvGrpSpPr>
        <p:grpSpPr>
          <a:xfrm>
            <a:off x="4103688" y="4024313"/>
            <a:ext cx="1666875" cy="1722437"/>
            <a:chOff x="586" y="2815"/>
            <a:chExt cx="1050" cy="1085"/>
          </a:xfrm>
        </p:grpSpPr>
        <p:cxnSp>
          <p:nvCxnSpPr>
            <p:cNvPr id="1438" name="Google Shape;1438;p47"/>
            <p:cNvCxnSpPr/>
            <p:nvPr/>
          </p:nvCxnSpPr>
          <p:spPr>
            <a:xfrm rot="10800000">
              <a:off x="834" y="2865"/>
              <a:ext cx="0" cy="7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9" name="Google Shape;1439;p47"/>
            <p:cNvSpPr txBox="1"/>
            <p:nvPr/>
          </p:nvSpPr>
          <p:spPr>
            <a:xfrm>
              <a:off x="586" y="2815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1440" name="Google Shape;1440;p47"/>
            <p:cNvCxnSpPr/>
            <p:nvPr/>
          </p:nvCxnSpPr>
          <p:spPr>
            <a:xfrm>
              <a:off x="834" y="3647"/>
              <a:ext cx="80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1" name="Google Shape;1441;p47"/>
            <p:cNvSpPr txBox="1"/>
            <p:nvPr/>
          </p:nvSpPr>
          <p:spPr>
            <a:xfrm>
              <a:off x="1399" y="3612"/>
              <a:ext cx="16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</p:grpSp>
      <p:grpSp>
        <p:nvGrpSpPr>
          <p:cNvPr id="1442" name="Google Shape;1442;p47"/>
          <p:cNvGrpSpPr/>
          <p:nvPr/>
        </p:nvGrpSpPr>
        <p:grpSpPr>
          <a:xfrm>
            <a:off x="7253288" y="4025900"/>
            <a:ext cx="1666875" cy="1722438"/>
            <a:chOff x="586" y="2815"/>
            <a:chExt cx="1050" cy="1085"/>
          </a:xfrm>
        </p:grpSpPr>
        <p:cxnSp>
          <p:nvCxnSpPr>
            <p:cNvPr id="1443" name="Google Shape;1443;p47"/>
            <p:cNvCxnSpPr/>
            <p:nvPr/>
          </p:nvCxnSpPr>
          <p:spPr>
            <a:xfrm rot="10800000">
              <a:off x="834" y="2865"/>
              <a:ext cx="0" cy="7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4" name="Google Shape;1444;p47"/>
            <p:cNvSpPr txBox="1"/>
            <p:nvPr/>
          </p:nvSpPr>
          <p:spPr>
            <a:xfrm>
              <a:off x="586" y="2815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1445" name="Google Shape;1445;p47"/>
            <p:cNvCxnSpPr/>
            <p:nvPr/>
          </p:nvCxnSpPr>
          <p:spPr>
            <a:xfrm>
              <a:off x="834" y="3647"/>
              <a:ext cx="80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6" name="Google Shape;1446;p47"/>
            <p:cNvSpPr txBox="1"/>
            <p:nvPr/>
          </p:nvSpPr>
          <p:spPr>
            <a:xfrm>
              <a:off x="1399" y="3612"/>
              <a:ext cx="16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</p:grpSp>
      <p:grpSp>
        <p:nvGrpSpPr>
          <p:cNvPr id="1447" name="Google Shape;1447;p47"/>
          <p:cNvGrpSpPr/>
          <p:nvPr/>
        </p:nvGrpSpPr>
        <p:grpSpPr>
          <a:xfrm>
            <a:off x="5710238" y="4025900"/>
            <a:ext cx="1666875" cy="1722438"/>
            <a:chOff x="586" y="2815"/>
            <a:chExt cx="1050" cy="1085"/>
          </a:xfrm>
        </p:grpSpPr>
        <p:cxnSp>
          <p:nvCxnSpPr>
            <p:cNvPr id="1448" name="Google Shape;1448;p47"/>
            <p:cNvCxnSpPr/>
            <p:nvPr/>
          </p:nvCxnSpPr>
          <p:spPr>
            <a:xfrm rot="10800000">
              <a:off x="834" y="2865"/>
              <a:ext cx="0" cy="77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9" name="Google Shape;1449;p47"/>
            <p:cNvSpPr txBox="1"/>
            <p:nvPr/>
          </p:nvSpPr>
          <p:spPr>
            <a:xfrm>
              <a:off x="586" y="2815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cxnSp>
          <p:nvCxnSpPr>
            <p:cNvPr id="1450" name="Google Shape;1450;p47"/>
            <p:cNvCxnSpPr/>
            <p:nvPr/>
          </p:nvCxnSpPr>
          <p:spPr>
            <a:xfrm>
              <a:off x="834" y="3647"/>
              <a:ext cx="80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51" name="Google Shape;1451;p47"/>
            <p:cNvSpPr txBox="1"/>
            <p:nvPr/>
          </p:nvSpPr>
          <p:spPr>
            <a:xfrm>
              <a:off x="1399" y="3612"/>
              <a:ext cx="16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</p:grpSp>
      <p:sp>
        <p:nvSpPr>
          <p:cNvPr id="1452" name="Google Shape;1452;p47"/>
          <p:cNvSpPr/>
          <p:nvPr/>
        </p:nvSpPr>
        <p:spPr>
          <a:xfrm>
            <a:off x="4508500" y="4246563"/>
            <a:ext cx="1192213" cy="1095375"/>
          </a:xfrm>
          <a:custGeom>
            <a:rect b="b" l="l" r="r" t="t"/>
            <a:pathLst>
              <a:path extrusionOk="0" h="690" w="751">
                <a:moveTo>
                  <a:pt x="0" y="690"/>
                </a:moveTo>
                <a:cubicBezTo>
                  <a:pt x="120" y="661"/>
                  <a:pt x="240" y="632"/>
                  <a:pt x="341" y="576"/>
                </a:cubicBezTo>
                <a:cubicBezTo>
                  <a:pt x="442" y="520"/>
                  <a:pt x="539" y="452"/>
                  <a:pt x="607" y="356"/>
                </a:cubicBezTo>
                <a:cubicBezTo>
                  <a:pt x="675" y="260"/>
                  <a:pt x="713" y="130"/>
                  <a:pt x="751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3" name="Google Shape;1453;p47"/>
          <p:cNvCxnSpPr/>
          <p:nvPr/>
        </p:nvCxnSpPr>
        <p:spPr>
          <a:xfrm flipH="1" rot="10800000">
            <a:off x="6099175" y="4222750"/>
            <a:ext cx="1106488" cy="1106488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4" name="Google Shape;1454;p47"/>
          <p:cNvSpPr/>
          <p:nvPr/>
        </p:nvSpPr>
        <p:spPr>
          <a:xfrm>
            <a:off x="7643813" y="4162425"/>
            <a:ext cx="1143000" cy="1166813"/>
          </a:xfrm>
          <a:custGeom>
            <a:rect b="b" l="l" r="r" t="t"/>
            <a:pathLst>
              <a:path extrusionOk="0" h="735" w="720">
                <a:moveTo>
                  <a:pt x="0" y="735"/>
                </a:moveTo>
                <a:cubicBezTo>
                  <a:pt x="37" y="655"/>
                  <a:pt x="75" y="576"/>
                  <a:pt x="144" y="485"/>
                </a:cubicBezTo>
                <a:cubicBezTo>
                  <a:pt x="213" y="394"/>
                  <a:pt x="321" y="270"/>
                  <a:pt x="417" y="189"/>
                </a:cubicBezTo>
                <a:cubicBezTo>
                  <a:pt x="513" y="108"/>
                  <a:pt x="616" y="54"/>
                  <a:pt x="72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7"/>
          <p:cNvSpPr txBox="1"/>
          <p:nvPr/>
        </p:nvSpPr>
        <p:spPr>
          <a:xfrm>
            <a:off x="5348288" y="4808538"/>
            <a:ext cx="5889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7"/>
          <p:cNvSpPr txBox="1"/>
          <p:nvPr/>
        </p:nvSpPr>
        <p:spPr>
          <a:xfrm>
            <a:off x="6170613" y="4184650"/>
            <a:ext cx="7096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⎯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7"/>
          <p:cNvSpPr txBox="1"/>
          <p:nvPr/>
        </p:nvSpPr>
        <p:spPr>
          <a:xfrm>
            <a:off x="7807325" y="4173538"/>
            <a:ext cx="5889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7"/>
          <p:cNvSpPr txBox="1"/>
          <p:nvPr/>
        </p:nvSpPr>
        <p:spPr>
          <a:xfrm>
            <a:off x="6316663" y="4943475"/>
            <a:ext cx="9985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ohmic</a:t>
            </a:r>
            <a:endParaRPr/>
          </a:p>
        </p:txBody>
      </p:sp>
      <p:sp>
        <p:nvSpPr>
          <p:cNvPr id="1459" name="Google Shape;1459;p47"/>
          <p:cNvSpPr txBox="1"/>
          <p:nvPr/>
        </p:nvSpPr>
        <p:spPr>
          <a:xfrm>
            <a:off x="4497388" y="4164013"/>
            <a:ext cx="12541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non-ohmic</a:t>
            </a:r>
            <a:endParaRPr/>
          </a:p>
        </p:txBody>
      </p:sp>
      <p:sp>
        <p:nvSpPr>
          <p:cNvPr id="1460" name="Google Shape;1460;p47"/>
          <p:cNvSpPr txBox="1"/>
          <p:nvPr/>
        </p:nvSpPr>
        <p:spPr>
          <a:xfrm>
            <a:off x="7677150" y="4552950"/>
            <a:ext cx="12541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non-ohmic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48"/>
          <p:cNvSpPr/>
          <p:nvPr/>
        </p:nvSpPr>
        <p:spPr>
          <a:xfrm>
            <a:off x="684213" y="1962150"/>
            <a:ext cx="7772400" cy="48958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graph shows                                            the applied voltage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                                            resulting current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through a                                         tungsten filament lamp.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0.5 mA and                                             1.5 mA. Is this filament ohmic                                             or non-ohmic?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0.5 mA: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0.08 V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0.08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160 Ω.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1.5 mA: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0.6 V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0.6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400 Ω.</a:t>
            </a:r>
            <a:endParaRPr/>
          </a:p>
        </p:txBody>
      </p:sp>
      <p:sp>
        <p:nvSpPr>
          <p:cNvPr id="1467" name="Google Shape;1467;p48"/>
          <p:cNvSpPr/>
          <p:nvPr/>
        </p:nvSpPr>
        <p:spPr>
          <a:xfrm>
            <a:off x="685800" y="1549400"/>
            <a:ext cx="7772400" cy="4206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Ohm’s law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ohmic and non-ohmic behavior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</p:txBody>
      </p:sp>
      <p:sp>
        <p:nvSpPr>
          <p:cNvPr id="1468" name="Google Shape;1468;p48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69" name="Google Shape;146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2525" y="2122488"/>
            <a:ext cx="3995738" cy="3021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470" name="Google Shape;1470;p48"/>
          <p:cNvSpPr/>
          <p:nvPr/>
        </p:nvSpPr>
        <p:spPr>
          <a:xfrm>
            <a:off x="5464175" y="4522788"/>
            <a:ext cx="831850" cy="250825"/>
          </a:xfrm>
          <a:custGeom>
            <a:rect b="b" l="l" r="r" t="t"/>
            <a:pathLst>
              <a:path extrusionOk="0" h="158" w="570">
                <a:moveTo>
                  <a:pt x="0" y="0"/>
                </a:moveTo>
                <a:lnTo>
                  <a:pt x="570" y="0"/>
                </a:lnTo>
                <a:lnTo>
                  <a:pt x="570" y="158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8"/>
          <p:cNvSpPr/>
          <p:nvPr/>
        </p:nvSpPr>
        <p:spPr>
          <a:xfrm>
            <a:off x="5475288" y="3459163"/>
            <a:ext cx="2457450" cy="1292225"/>
          </a:xfrm>
          <a:custGeom>
            <a:rect b="b" l="l" r="r" t="t"/>
            <a:pathLst>
              <a:path extrusionOk="0" h="876" w="1669">
                <a:moveTo>
                  <a:pt x="0" y="0"/>
                </a:moveTo>
                <a:lnTo>
                  <a:pt x="1669" y="0"/>
                </a:lnTo>
                <a:lnTo>
                  <a:pt x="1669" y="87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8"/>
          <p:cNvSpPr txBox="1"/>
          <p:nvPr/>
        </p:nvSpPr>
        <p:spPr>
          <a:xfrm>
            <a:off x="6445250" y="5305425"/>
            <a:ext cx="2103438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Since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R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not constant the filament is non-ohmic. 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49"/>
          <p:cNvSpPr/>
          <p:nvPr/>
        </p:nvSpPr>
        <p:spPr>
          <a:xfrm>
            <a:off x="684213" y="1962150"/>
            <a:ext cx="7772400" cy="48958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graph shows                                            the applied voltage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                                            resulting current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through a                                         tungsten filament lamp.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why a lamp filament                                                 might be non-ohmic.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temperature coefficient                                             for tungsten is positive, typical for conductors.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∙Therefore, the hotter the filament the higher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∙But the more current, the hotter a lamp filament burns.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∙Thus, the bigger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bigger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49"/>
          <p:cNvSpPr/>
          <p:nvPr/>
        </p:nvSpPr>
        <p:spPr>
          <a:xfrm>
            <a:off x="685800" y="1549400"/>
            <a:ext cx="7772400" cy="4206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Ohm’s law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ohmic and non-ohmic behavior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</p:txBody>
      </p:sp>
      <p:sp>
        <p:nvSpPr>
          <p:cNvPr id="1480" name="Google Shape;1480;p49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81" name="Google Shape;14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2525" y="2122488"/>
            <a:ext cx="3995738" cy="3021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482" name="Google Shape;1482;p49"/>
          <p:cNvSpPr/>
          <p:nvPr/>
        </p:nvSpPr>
        <p:spPr>
          <a:xfrm>
            <a:off x="5464175" y="4522788"/>
            <a:ext cx="831850" cy="250825"/>
          </a:xfrm>
          <a:custGeom>
            <a:rect b="b" l="l" r="r" t="t"/>
            <a:pathLst>
              <a:path extrusionOk="0" h="158" w="570">
                <a:moveTo>
                  <a:pt x="0" y="0"/>
                </a:moveTo>
                <a:lnTo>
                  <a:pt x="570" y="0"/>
                </a:lnTo>
                <a:lnTo>
                  <a:pt x="570" y="158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49"/>
          <p:cNvSpPr/>
          <p:nvPr/>
        </p:nvSpPr>
        <p:spPr>
          <a:xfrm>
            <a:off x="5475288" y="3459163"/>
            <a:ext cx="2457450" cy="1292225"/>
          </a:xfrm>
          <a:custGeom>
            <a:rect b="b" l="l" r="r" t="t"/>
            <a:pathLst>
              <a:path extrusionOk="0" h="876" w="1669">
                <a:moveTo>
                  <a:pt x="0" y="0"/>
                </a:moveTo>
                <a:lnTo>
                  <a:pt x="1669" y="0"/>
                </a:lnTo>
                <a:lnTo>
                  <a:pt x="1669" y="87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49"/>
          <p:cNvSpPr txBox="1"/>
          <p:nvPr/>
        </p:nvSpPr>
        <p:spPr>
          <a:xfrm>
            <a:off x="6578600" y="2319564"/>
            <a:ext cx="1130300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ρ (Ω⋅m)</a:t>
            </a:r>
            <a:endParaRPr/>
          </a:p>
        </p:txBody>
      </p:sp>
      <p:sp>
        <p:nvSpPr>
          <p:cNvPr id="1485" name="Google Shape;1485;p49"/>
          <p:cNvSpPr txBox="1"/>
          <p:nvPr/>
        </p:nvSpPr>
        <p:spPr>
          <a:xfrm>
            <a:off x="7708900" y="2319564"/>
            <a:ext cx="1130300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 (C° 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486" name="Google Shape;1486;p49"/>
          <p:cNvSpPr txBox="1"/>
          <p:nvPr/>
        </p:nvSpPr>
        <p:spPr>
          <a:xfrm>
            <a:off x="5064125" y="2319564"/>
            <a:ext cx="1514475" cy="314325"/>
          </a:xfrm>
          <a:prstGeom prst="rect">
            <a:avLst/>
          </a:prstGeom>
          <a:solidFill>
            <a:srgbClr val="FFCC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  <a:endParaRPr/>
          </a:p>
        </p:txBody>
      </p:sp>
      <p:sp>
        <p:nvSpPr>
          <p:cNvPr id="1487" name="Google Shape;1487;p49"/>
          <p:cNvSpPr txBox="1"/>
          <p:nvPr/>
        </p:nvSpPr>
        <p:spPr>
          <a:xfrm>
            <a:off x="6578600" y="2632528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5.6×10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9"/>
          <p:cNvSpPr txBox="1"/>
          <p:nvPr/>
        </p:nvSpPr>
        <p:spPr>
          <a:xfrm>
            <a:off x="7708900" y="2632528"/>
            <a:ext cx="1130300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4.5×10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49"/>
          <p:cNvSpPr txBox="1"/>
          <p:nvPr/>
        </p:nvSpPr>
        <p:spPr>
          <a:xfrm>
            <a:off x="5064125" y="2632528"/>
            <a:ext cx="1514475" cy="314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Tungsten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4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50"/>
          <p:cNvSpPr/>
          <p:nvPr/>
        </p:nvSpPr>
        <p:spPr>
          <a:xfrm>
            <a:off x="684213" y="1933575"/>
            <a:ext cx="7772400" cy="49244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characteristic                                       is shown for a non-ohmic compo-                                    nent. Sketch in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character-                                   istic for a 40 Ω ohmic component                                       in the range of 0.0 V  to 6.0 V.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∙”Ohmic” means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                                  constant (and the graph is linear).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×40 or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40.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40 = 0.0.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40 = 0.15 A.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∙But 0.15 A = 150 mA.</a:t>
            </a:r>
            <a:endParaRPr/>
          </a:p>
        </p:txBody>
      </p:sp>
      <p:sp>
        <p:nvSpPr>
          <p:cNvPr id="1496" name="Google Shape;1496;p50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7" name="Google Shape;1497;p50"/>
          <p:cNvSpPr/>
          <p:nvPr/>
        </p:nvSpPr>
        <p:spPr>
          <a:xfrm>
            <a:off x="2662238" y="4719638"/>
            <a:ext cx="2454275" cy="354012"/>
          </a:xfrm>
          <a:prstGeom prst="rect">
            <a:avLst/>
          </a:prstGeom>
          <a:solidFill>
            <a:srgbClr val="FF9933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50"/>
          <p:cNvSpPr/>
          <p:nvPr/>
        </p:nvSpPr>
        <p:spPr>
          <a:xfrm>
            <a:off x="685800" y="1549400"/>
            <a:ext cx="7772400" cy="4206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Ohm’s law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ohmic and non-ohmic behavior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endParaRPr/>
          </a:p>
        </p:txBody>
      </p:sp>
      <p:pic>
        <p:nvPicPr>
          <p:cNvPr id="1499" name="Google Shape;149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7050" y="1916113"/>
            <a:ext cx="3462338" cy="48926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1500" name="Google Shape;1500;p50"/>
          <p:cNvCxnSpPr/>
          <p:nvPr/>
        </p:nvCxnSpPr>
        <p:spPr>
          <a:xfrm flipH="1" rot="10800000">
            <a:off x="5905500" y="1992313"/>
            <a:ext cx="2249488" cy="446405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1" name="Google Shape;1501;p50"/>
          <p:cNvGrpSpPr/>
          <p:nvPr/>
        </p:nvGrpSpPr>
        <p:grpSpPr>
          <a:xfrm>
            <a:off x="5830888" y="6383338"/>
            <a:ext cx="147637" cy="155575"/>
            <a:chOff x="4441" y="235"/>
            <a:chExt cx="159" cy="167"/>
          </a:xfrm>
        </p:grpSpPr>
        <p:cxnSp>
          <p:nvCxnSpPr>
            <p:cNvPr id="1502" name="Google Shape;1502;p50"/>
            <p:cNvCxnSpPr/>
            <p:nvPr/>
          </p:nvCxnSpPr>
          <p:spPr>
            <a:xfrm>
              <a:off x="4441" y="235"/>
              <a:ext cx="159" cy="159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3" name="Google Shape;1503;p50"/>
            <p:cNvCxnSpPr/>
            <p:nvPr/>
          </p:nvCxnSpPr>
          <p:spPr>
            <a:xfrm flipH="1">
              <a:off x="4441" y="243"/>
              <a:ext cx="159" cy="159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4" name="Google Shape;1504;p50"/>
          <p:cNvGrpSpPr/>
          <p:nvPr/>
        </p:nvGrpSpPr>
        <p:grpSpPr>
          <a:xfrm>
            <a:off x="8070850" y="1920875"/>
            <a:ext cx="147638" cy="155575"/>
            <a:chOff x="4441" y="235"/>
            <a:chExt cx="159" cy="167"/>
          </a:xfrm>
        </p:grpSpPr>
        <p:cxnSp>
          <p:nvCxnSpPr>
            <p:cNvPr id="1505" name="Google Shape;1505;p50"/>
            <p:cNvCxnSpPr/>
            <p:nvPr/>
          </p:nvCxnSpPr>
          <p:spPr>
            <a:xfrm>
              <a:off x="4441" y="235"/>
              <a:ext cx="159" cy="159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6" name="Google Shape;1506;p50"/>
            <p:cNvCxnSpPr/>
            <p:nvPr/>
          </p:nvCxnSpPr>
          <p:spPr>
            <a:xfrm flipH="1">
              <a:off x="4441" y="243"/>
              <a:ext cx="159" cy="159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51"/>
          <p:cNvSpPr/>
          <p:nvPr/>
        </p:nvSpPr>
        <p:spPr>
          <a:xfrm>
            <a:off x="682625" y="5341938"/>
            <a:ext cx="7778750" cy="15160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power represents the energy per unit time delivered to, or consumed by, an electrical component having a current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 potential difference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13" name="Google Shape;1513;p51"/>
          <p:cNvSpPr/>
          <p:nvPr/>
        </p:nvSpPr>
        <p:spPr>
          <a:xfrm>
            <a:off x="685800" y="1549400"/>
            <a:ext cx="7772400" cy="38496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Power dissipation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∙Recall that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rate at which work is being done. 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Topic 5.1 we learned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/ 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 / 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/ 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51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15" name="Google Shape;151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175" y="3240088"/>
            <a:ext cx="3921125" cy="25685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52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Power dissipation</a:t>
            </a:r>
            <a:endParaRPr i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2" name="Google Shape;1522;p52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3" name="Google Shape;1523;p52"/>
          <p:cNvSpPr/>
          <p:nvPr/>
        </p:nvSpPr>
        <p:spPr>
          <a:xfrm>
            <a:off x="687388" y="1973263"/>
            <a:ext cx="7772400" cy="4292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Use the definition of resistance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together with the one we just derived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to derive the following two formulas: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I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get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( IR )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I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get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4" name="Google Shape;1524;p52"/>
          <p:cNvGrpSpPr/>
          <p:nvPr/>
        </p:nvGrpSpPr>
        <p:grpSpPr>
          <a:xfrm>
            <a:off x="809625" y="6338888"/>
            <a:ext cx="7464425" cy="461962"/>
            <a:chOff x="510" y="3947"/>
            <a:chExt cx="4702" cy="291"/>
          </a:xfrm>
        </p:grpSpPr>
        <p:sp>
          <p:nvSpPr>
            <p:cNvPr id="1525" name="Google Shape;1525;p52"/>
            <p:cNvSpPr/>
            <p:nvPr/>
          </p:nvSpPr>
          <p:spPr>
            <a:xfrm>
              <a:off x="592" y="3960"/>
              <a:ext cx="2712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R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52"/>
            <p:cNvSpPr txBox="1"/>
            <p:nvPr/>
          </p:nvSpPr>
          <p:spPr>
            <a:xfrm>
              <a:off x="3304" y="3947"/>
              <a:ext cx="1908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electrical power</a:t>
              </a:r>
              <a:endParaRPr/>
            </a:p>
          </p:txBody>
        </p:sp>
        <p:sp>
          <p:nvSpPr>
            <p:cNvPr id="1527" name="Google Shape;1527;p52"/>
            <p:cNvSpPr/>
            <p:nvPr/>
          </p:nvSpPr>
          <p:spPr>
            <a:xfrm>
              <a:off x="510" y="3949"/>
              <a:ext cx="4701" cy="28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53"/>
          <p:cNvSpPr/>
          <p:nvPr/>
        </p:nvSpPr>
        <p:spPr>
          <a:xfrm>
            <a:off x="687388" y="1973263"/>
            <a:ext cx="7772400" cy="46593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graph shows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characteristics of a tungsten                                                   filament lamp.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its power consumption                                                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0.5 mA and 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 mA?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0.5 mA,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0.08 V.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(0.5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)(0.08) = 4.0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1.5 mA,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0.6 V.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(1.5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)(0.6) = 9.0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×10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53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Power dissipation</a:t>
            </a:r>
            <a:endParaRPr i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5" name="Google Shape;1535;p53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36" name="Google Shape;153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188" y="1839913"/>
            <a:ext cx="3995737" cy="3021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537" name="Google Shape;1537;p53"/>
          <p:cNvSpPr/>
          <p:nvPr/>
        </p:nvSpPr>
        <p:spPr>
          <a:xfrm>
            <a:off x="5557838" y="4237038"/>
            <a:ext cx="831850" cy="250825"/>
          </a:xfrm>
          <a:custGeom>
            <a:rect b="b" l="l" r="r" t="t"/>
            <a:pathLst>
              <a:path extrusionOk="0" h="158" w="570">
                <a:moveTo>
                  <a:pt x="0" y="0"/>
                </a:moveTo>
                <a:lnTo>
                  <a:pt x="570" y="0"/>
                </a:lnTo>
                <a:lnTo>
                  <a:pt x="570" y="158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53"/>
          <p:cNvSpPr/>
          <p:nvPr/>
        </p:nvSpPr>
        <p:spPr>
          <a:xfrm>
            <a:off x="5568950" y="3173413"/>
            <a:ext cx="2457450" cy="1292225"/>
          </a:xfrm>
          <a:custGeom>
            <a:rect b="b" l="l" r="r" t="t"/>
            <a:pathLst>
              <a:path extrusionOk="0" h="876" w="1669">
                <a:moveTo>
                  <a:pt x="0" y="0"/>
                </a:moveTo>
                <a:lnTo>
                  <a:pt x="1669" y="0"/>
                </a:lnTo>
                <a:lnTo>
                  <a:pt x="1669" y="87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0px-Gluehlampe_01_KMJ" id="1539" name="Google Shape;153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2163" y="152400"/>
            <a:ext cx="1196975" cy="19891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540" name="Google Shape;1540;p53"/>
          <p:cNvSpPr/>
          <p:nvPr/>
        </p:nvSpPr>
        <p:spPr>
          <a:xfrm>
            <a:off x="7173913" y="201613"/>
            <a:ext cx="1108075" cy="1203325"/>
          </a:xfrm>
          <a:prstGeom prst="ellipse">
            <a:avLst/>
          </a:prstGeom>
          <a:solidFill>
            <a:srgbClr val="FFFF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54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Electric circuits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∙An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 circuit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set of </a:t>
            </a: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conductors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wires) and </a:t>
            </a: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resistors, lights, etc.) connected to an electrical </a:t>
            </a: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voltage source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a cell or a battery) in such a way that current can flow in complete loops.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∙Here are two circuits consisting of cells, resistors, and wires.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∙Note current flowing from (+) to (-) in each circuit.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5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548" name="Google Shape;1548;p54"/>
          <p:cNvGrpSpPr/>
          <p:nvPr/>
        </p:nvGrpSpPr>
        <p:grpSpPr>
          <a:xfrm>
            <a:off x="4649731" y="5094336"/>
            <a:ext cx="3693503" cy="1754491"/>
            <a:chOff x="2929" y="1600"/>
            <a:chExt cx="2327" cy="1105"/>
          </a:xfrm>
        </p:grpSpPr>
        <p:pic>
          <p:nvPicPr>
            <p:cNvPr descr="resistor" id="1549" name="Google Shape;1549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2627666">
              <a:off x="3067" y="1842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1550" name="Google Shape;1550;p54"/>
            <p:cNvGrpSpPr/>
            <p:nvPr/>
          </p:nvGrpSpPr>
          <p:grpSpPr>
            <a:xfrm>
              <a:off x="3298" y="1600"/>
              <a:ext cx="1958" cy="1105"/>
              <a:chOff x="3298" y="1600"/>
              <a:chExt cx="1958" cy="1105"/>
            </a:xfrm>
          </p:grpSpPr>
          <p:sp>
            <p:nvSpPr>
              <p:cNvPr id="1551" name="Google Shape;1551;p54"/>
              <p:cNvSpPr/>
              <p:nvPr/>
            </p:nvSpPr>
            <p:spPr>
              <a:xfrm>
                <a:off x="3389" y="2610"/>
                <a:ext cx="1387" cy="35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battery" id="1552" name="Google Shape;155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1253433">
                <a:off x="4421" y="1694"/>
                <a:ext cx="695" cy="91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pic>
            <p:nvPicPr>
              <p:cNvPr descr="resistor" id="1553" name="Google Shape;1553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2627666">
                <a:off x="3793" y="1840"/>
                <a:ext cx="667" cy="66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pic>
            <p:nvPicPr>
              <p:cNvPr descr="resistor" id="1554" name="Google Shape;1554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2627666">
                <a:off x="3436" y="1843"/>
                <a:ext cx="667" cy="66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sp>
            <p:nvSpPr>
              <p:cNvPr id="1555" name="Google Shape;1555;p54"/>
              <p:cNvSpPr/>
              <p:nvPr/>
            </p:nvSpPr>
            <p:spPr>
              <a:xfrm>
                <a:off x="3372" y="1692"/>
                <a:ext cx="1387" cy="35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54"/>
              <p:cNvSpPr/>
              <p:nvPr/>
            </p:nvSpPr>
            <p:spPr>
              <a:xfrm rot="-2307224">
                <a:off x="3316" y="1663"/>
                <a:ext cx="163" cy="112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54"/>
              <p:cNvSpPr/>
              <p:nvPr/>
            </p:nvSpPr>
            <p:spPr>
              <a:xfrm rot="3330927">
                <a:off x="3341" y="2553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54"/>
              <p:cNvSpPr/>
              <p:nvPr/>
            </p:nvSpPr>
            <p:spPr>
              <a:xfrm rot="3330927">
                <a:off x="3706" y="2562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54"/>
              <p:cNvSpPr/>
              <p:nvPr/>
            </p:nvSpPr>
            <p:spPr>
              <a:xfrm rot="3330927">
                <a:off x="4056" y="2556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54"/>
              <p:cNvSpPr/>
              <p:nvPr/>
            </p:nvSpPr>
            <p:spPr>
              <a:xfrm rot="3330927">
                <a:off x="3701" y="1655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54"/>
              <p:cNvSpPr/>
              <p:nvPr/>
            </p:nvSpPr>
            <p:spPr>
              <a:xfrm rot="3330927">
                <a:off x="4058" y="1656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2" name="Google Shape;1562;p54"/>
          <p:cNvGrpSpPr/>
          <p:nvPr/>
        </p:nvGrpSpPr>
        <p:grpSpPr>
          <a:xfrm>
            <a:off x="226956" y="4230558"/>
            <a:ext cx="4276116" cy="2955389"/>
            <a:chOff x="143" y="1230"/>
            <a:chExt cx="2694" cy="1862"/>
          </a:xfrm>
        </p:grpSpPr>
        <p:pic>
          <p:nvPicPr>
            <p:cNvPr descr="resistor" id="1563" name="Google Shape;1563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54076">
              <a:off x="720" y="1376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1564" name="Google Shape;1564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8172334">
              <a:off x="281" y="1824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565" name="Google Shape;1565;p54"/>
            <p:cNvSpPr/>
            <p:nvPr/>
          </p:nvSpPr>
          <p:spPr>
            <a:xfrm>
              <a:off x="597" y="2593"/>
              <a:ext cx="629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54"/>
            <p:cNvSpPr/>
            <p:nvPr/>
          </p:nvSpPr>
          <p:spPr>
            <a:xfrm rot="-2307224">
              <a:off x="558" y="1670"/>
              <a:ext cx="163" cy="112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54"/>
            <p:cNvSpPr/>
            <p:nvPr/>
          </p:nvSpPr>
          <p:spPr>
            <a:xfrm rot="3330927">
              <a:off x="559" y="2536"/>
              <a:ext cx="129" cy="115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1568" name="Google Shape;1568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6653433">
              <a:off x="1276" y="2149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569" name="Google Shape;1569;p54"/>
            <p:cNvSpPr/>
            <p:nvPr/>
          </p:nvSpPr>
          <p:spPr>
            <a:xfrm>
              <a:off x="2031" y="2587"/>
              <a:ext cx="326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1570" name="Google Shape;1570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253433">
              <a:off x="2002" y="1686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1571" name="Google Shape;1571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54076">
              <a:off x="1560" y="1368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572" name="Google Shape;1572;p54"/>
            <p:cNvSpPr/>
            <p:nvPr/>
          </p:nvSpPr>
          <p:spPr>
            <a:xfrm>
              <a:off x="1400" y="1657"/>
              <a:ext cx="150" cy="99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3" name="Google Shape;1573;p54"/>
          <p:cNvSpPr txBox="1"/>
          <p:nvPr/>
        </p:nvSpPr>
        <p:spPr>
          <a:xfrm rot="-5400000">
            <a:off x="-530225" y="5440363"/>
            <a:ext cx="18303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solder joints</a:t>
            </a:r>
            <a:endParaRPr/>
          </a:p>
        </p:txBody>
      </p:sp>
      <p:cxnSp>
        <p:nvCxnSpPr>
          <p:cNvPr id="1574" name="Google Shape;1574;p54"/>
          <p:cNvCxnSpPr/>
          <p:nvPr/>
        </p:nvCxnSpPr>
        <p:spPr>
          <a:xfrm flipH="1">
            <a:off x="638175" y="5006975"/>
            <a:ext cx="349250" cy="10160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54"/>
          <p:cNvCxnSpPr/>
          <p:nvPr/>
        </p:nvCxnSpPr>
        <p:spPr>
          <a:xfrm>
            <a:off x="609600" y="6197600"/>
            <a:ext cx="377825" cy="217488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6" name="Google Shape;1576;p54"/>
          <p:cNvSpPr/>
          <p:nvPr/>
        </p:nvSpPr>
        <p:spPr>
          <a:xfrm rot="5400000">
            <a:off x="1995488" y="4244975"/>
            <a:ext cx="450850" cy="2206625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4"/>
          <p:cNvSpPr/>
          <p:nvPr/>
        </p:nvSpPr>
        <p:spPr>
          <a:xfrm rot="-5400000">
            <a:off x="2061369" y="4833144"/>
            <a:ext cx="449263" cy="2206625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54"/>
          <p:cNvSpPr/>
          <p:nvPr/>
        </p:nvSpPr>
        <p:spPr>
          <a:xfrm rot="5400000">
            <a:off x="6831806" y="5010945"/>
            <a:ext cx="377825" cy="950912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54"/>
          <p:cNvSpPr/>
          <p:nvPr/>
        </p:nvSpPr>
        <p:spPr>
          <a:xfrm rot="-5400000">
            <a:off x="6883400" y="5983288"/>
            <a:ext cx="319088" cy="893762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54"/>
          <p:cNvSpPr/>
          <p:nvPr/>
        </p:nvSpPr>
        <p:spPr>
          <a:xfrm rot="5400000">
            <a:off x="6564312" y="4538663"/>
            <a:ext cx="485775" cy="177165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0D0EF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54"/>
          <p:cNvSpPr/>
          <p:nvPr/>
        </p:nvSpPr>
        <p:spPr>
          <a:xfrm rot="-5400000">
            <a:off x="6643688" y="5605462"/>
            <a:ext cx="420688" cy="1763713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0D0EF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54"/>
          <p:cNvSpPr/>
          <p:nvPr/>
        </p:nvSpPr>
        <p:spPr>
          <a:xfrm rot="5400000">
            <a:off x="6335713" y="4100513"/>
            <a:ext cx="552450" cy="25400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9FFCC"/>
          </a:solidFill>
          <a:ln cap="flat" cmpd="sng" w="25400">
            <a:solidFill>
              <a:srgbClr val="00C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54"/>
          <p:cNvSpPr/>
          <p:nvPr/>
        </p:nvSpPr>
        <p:spPr>
          <a:xfrm rot="-5400000">
            <a:off x="6448426" y="5302250"/>
            <a:ext cx="449262" cy="2560637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9FFCC"/>
          </a:solidFill>
          <a:ln cap="flat" cmpd="sng" w="25400">
            <a:solidFill>
              <a:srgbClr val="00C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54"/>
          <p:cNvSpPr txBox="1"/>
          <p:nvPr/>
        </p:nvSpPr>
        <p:spPr>
          <a:xfrm>
            <a:off x="1408113" y="5233988"/>
            <a:ext cx="17129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single-loop circuit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54"/>
          <p:cNvSpPr txBox="1"/>
          <p:nvPr/>
        </p:nvSpPr>
        <p:spPr>
          <a:xfrm>
            <a:off x="4941888" y="4630738"/>
            <a:ext cx="32591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triple-loop circuit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55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complete circuit will always                                            contain a cell or a battery.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schematic diagram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 cell is this: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just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group                                                       of cells connected in series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each cell is 1.5 V, then the battery above is 3(1.5) = 4.5 V. What is the voltage of your calculator battery?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fixed-value resistor looks like this: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schematic of a fixed-value                                       resistor looks like this: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5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3" name="Google Shape;1593;p55"/>
          <p:cNvSpPr txBox="1"/>
          <p:nvPr/>
        </p:nvSpPr>
        <p:spPr>
          <a:xfrm>
            <a:off x="6634163" y="1957388"/>
            <a:ext cx="1958975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is really a cell…</a:t>
            </a:r>
            <a:endParaRPr/>
          </a:p>
        </p:txBody>
      </p:sp>
      <p:sp>
        <p:nvSpPr>
          <p:cNvPr id="1594" name="Google Shape;1594;p55"/>
          <p:cNvSpPr txBox="1"/>
          <p:nvPr/>
        </p:nvSpPr>
        <p:spPr>
          <a:xfrm>
            <a:off x="4818063" y="3244850"/>
            <a:ext cx="171291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a battery…</a:t>
            </a:r>
            <a:endParaRPr/>
          </a:p>
        </p:txBody>
      </p:sp>
      <p:sp>
        <p:nvSpPr>
          <p:cNvPr id="1595" name="Google Shape;1595;p55"/>
          <p:cNvSpPr txBox="1"/>
          <p:nvPr/>
        </p:nvSpPr>
        <p:spPr>
          <a:xfrm>
            <a:off x="7419975" y="5743575"/>
            <a:ext cx="1724025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is a resistor…</a:t>
            </a:r>
            <a:endParaRPr/>
          </a:p>
        </p:txBody>
      </p:sp>
      <p:pic>
        <p:nvPicPr>
          <p:cNvPr id="1596" name="Google Shape;159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6225" y="2713038"/>
            <a:ext cx="10287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ttery" id="1597" name="Google Shape;15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165058">
            <a:off x="5338762" y="1695451"/>
            <a:ext cx="1103313" cy="14462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resistor" id="1598" name="Google Shape;159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782793">
            <a:off x="6022976" y="5370512"/>
            <a:ext cx="1058862" cy="10588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599" name="Google Shape;15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4563" y="3359150"/>
            <a:ext cx="10287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813" y="3351213"/>
            <a:ext cx="10287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5188" y="3359150"/>
            <a:ext cx="10287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ttery" id="1602" name="Google Shape;160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165058">
            <a:off x="3479801" y="2957512"/>
            <a:ext cx="1103312" cy="14462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battery" id="1603" name="Google Shape;160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165058">
            <a:off x="2268538" y="2951163"/>
            <a:ext cx="1103312" cy="14462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battery" id="1604" name="Google Shape;160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165058">
            <a:off x="1057276" y="2957512"/>
            <a:ext cx="1103312" cy="14462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605" name="Google Shape;1605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2663" y="4203700"/>
            <a:ext cx="10096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45175" y="6234113"/>
            <a:ext cx="1238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55"/>
          <p:cNvSpPr txBox="1"/>
          <p:nvPr/>
        </p:nvSpPr>
        <p:spPr>
          <a:xfrm>
            <a:off x="5943600" y="4094163"/>
            <a:ext cx="24892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the same battery…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56"/>
          <p:cNvSpPr/>
          <p:nvPr/>
        </p:nvSpPr>
        <p:spPr>
          <a:xfrm>
            <a:off x="674688" y="2003425"/>
            <a:ext cx="7772400" cy="48545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Draw schematic diagrams of each of the following circuits: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</p:txBody>
      </p:sp>
      <p:sp>
        <p:nvSpPr>
          <p:cNvPr id="1614" name="Google Shape;1614;p56"/>
          <p:cNvSpPr/>
          <p:nvPr/>
        </p:nvSpPr>
        <p:spPr>
          <a:xfrm>
            <a:off x="685800" y="1549400"/>
            <a:ext cx="7772400" cy="4540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Drawing and interpreting circuit diagrams 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sp>
        <p:nvSpPr>
          <p:cNvPr id="1615" name="Google Shape;1615;p5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616" name="Google Shape;1616;p56"/>
          <p:cNvGrpSpPr/>
          <p:nvPr/>
        </p:nvGrpSpPr>
        <p:grpSpPr>
          <a:xfrm>
            <a:off x="4387793" y="2757536"/>
            <a:ext cx="3693504" cy="1754491"/>
            <a:chOff x="2929" y="1600"/>
            <a:chExt cx="2327" cy="1105"/>
          </a:xfrm>
        </p:grpSpPr>
        <p:pic>
          <p:nvPicPr>
            <p:cNvPr descr="resistor" id="1617" name="Google Shape;1617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2627666">
              <a:off x="3067" y="1842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grpSp>
          <p:nvGrpSpPr>
            <p:cNvPr id="1618" name="Google Shape;1618;p56"/>
            <p:cNvGrpSpPr/>
            <p:nvPr/>
          </p:nvGrpSpPr>
          <p:grpSpPr>
            <a:xfrm>
              <a:off x="3298" y="1600"/>
              <a:ext cx="1958" cy="1105"/>
              <a:chOff x="3298" y="1600"/>
              <a:chExt cx="1958" cy="1105"/>
            </a:xfrm>
          </p:grpSpPr>
          <p:sp>
            <p:nvSpPr>
              <p:cNvPr id="1619" name="Google Shape;1619;p56"/>
              <p:cNvSpPr/>
              <p:nvPr/>
            </p:nvSpPr>
            <p:spPr>
              <a:xfrm>
                <a:off x="3389" y="2610"/>
                <a:ext cx="1387" cy="35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battery" id="1620" name="Google Shape;1620;p5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1253433">
                <a:off x="4421" y="1694"/>
                <a:ext cx="695" cy="91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pic>
            <p:nvPicPr>
              <p:cNvPr descr="resistor" id="1621" name="Google Shape;1621;p5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2627666">
                <a:off x="3793" y="1840"/>
                <a:ext cx="667" cy="66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pic>
            <p:nvPicPr>
              <p:cNvPr descr="resistor" id="1622" name="Google Shape;1622;p5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2627666">
                <a:off x="3436" y="1843"/>
                <a:ext cx="667" cy="66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92100" rotWithShape="0" algn="tl" dir="2700000" dist="139700">
                  <a:srgbClr val="333333">
                    <a:alpha val="64705"/>
                  </a:srgbClr>
                </a:outerShdw>
              </a:effectLst>
            </p:spPr>
          </p:pic>
          <p:sp>
            <p:nvSpPr>
              <p:cNvPr id="1623" name="Google Shape;1623;p56"/>
              <p:cNvSpPr/>
              <p:nvPr/>
            </p:nvSpPr>
            <p:spPr>
              <a:xfrm>
                <a:off x="3372" y="1692"/>
                <a:ext cx="1387" cy="35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56"/>
              <p:cNvSpPr/>
              <p:nvPr/>
            </p:nvSpPr>
            <p:spPr>
              <a:xfrm rot="-2307224">
                <a:off x="3316" y="1663"/>
                <a:ext cx="163" cy="112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56"/>
              <p:cNvSpPr/>
              <p:nvPr/>
            </p:nvSpPr>
            <p:spPr>
              <a:xfrm rot="3330927">
                <a:off x="3341" y="2553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56"/>
              <p:cNvSpPr/>
              <p:nvPr/>
            </p:nvSpPr>
            <p:spPr>
              <a:xfrm rot="3330927">
                <a:off x="3706" y="2562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56"/>
              <p:cNvSpPr/>
              <p:nvPr/>
            </p:nvSpPr>
            <p:spPr>
              <a:xfrm rot="3330927">
                <a:off x="4056" y="2556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56"/>
              <p:cNvSpPr/>
              <p:nvPr/>
            </p:nvSpPr>
            <p:spPr>
              <a:xfrm rot="3330927">
                <a:off x="3701" y="1655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56"/>
              <p:cNvSpPr/>
              <p:nvPr/>
            </p:nvSpPr>
            <p:spPr>
              <a:xfrm rot="3330927">
                <a:off x="4058" y="1656"/>
                <a:ext cx="129" cy="115"/>
              </a:xfrm>
              <a:prstGeom prst="ellipse">
                <a:avLst/>
              </a:prstGeom>
              <a:gradFill>
                <a:gsLst>
                  <a:gs pos="0">
                    <a:srgbClr val="EAEAEA"/>
                  </a:gs>
                  <a:gs pos="100000">
                    <a:srgbClr val="6C6C6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30" name="Google Shape;1630;p56"/>
          <p:cNvGrpSpPr/>
          <p:nvPr/>
        </p:nvGrpSpPr>
        <p:grpSpPr>
          <a:xfrm>
            <a:off x="430156" y="2169983"/>
            <a:ext cx="4276116" cy="2955389"/>
            <a:chOff x="143" y="1230"/>
            <a:chExt cx="2694" cy="1862"/>
          </a:xfrm>
        </p:grpSpPr>
        <p:pic>
          <p:nvPicPr>
            <p:cNvPr descr="resistor" id="1631" name="Google Shape;1631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54076">
              <a:off x="720" y="1376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1632" name="Google Shape;1632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8172334">
              <a:off x="281" y="1824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633" name="Google Shape;1633;p56"/>
            <p:cNvSpPr/>
            <p:nvPr/>
          </p:nvSpPr>
          <p:spPr>
            <a:xfrm>
              <a:off x="597" y="2593"/>
              <a:ext cx="629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56"/>
            <p:cNvSpPr/>
            <p:nvPr/>
          </p:nvSpPr>
          <p:spPr>
            <a:xfrm rot="-2307224">
              <a:off x="558" y="1670"/>
              <a:ext cx="163" cy="112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56"/>
            <p:cNvSpPr/>
            <p:nvPr/>
          </p:nvSpPr>
          <p:spPr>
            <a:xfrm rot="3330927">
              <a:off x="559" y="2536"/>
              <a:ext cx="129" cy="115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1636" name="Google Shape;1636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6653433">
              <a:off x="1276" y="2149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637" name="Google Shape;1637;p56"/>
            <p:cNvSpPr/>
            <p:nvPr/>
          </p:nvSpPr>
          <p:spPr>
            <a:xfrm>
              <a:off x="2031" y="2587"/>
              <a:ext cx="326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1638" name="Google Shape;163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253433">
              <a:off x="2002" y="1686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1639" name="Google Shape;1639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54076">
              <a:off x="1560" y="1368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640" name="Google Shape;1640;p56"/>
            <p:cNvSpPr/>
            <p:nvPr/>
          </p:nvSpPr>
          <p:spPr>
            <a:xfrm>
              <a:off x="1400" y="1657"/>
              <a:ext cx="150" cy="99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41" name="Google Shape;1641;p56"/>
          <p:cNvCxnSpPr/>
          <p:nvPr/>
        </p:nvCxnSpPr>
        <p:spPr>
          <a:xfrm>
            <a:off x="1458913" y="6521450"/>
            <a:ext cx="246538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2" name="Google Shape;1642;p56"/>
          <p:cNvCxnSpPr/>
          <p:nvPr/>
        </p:nvCxnSpPr>
        <p:spPr>
          <a:xfrm>
            <a:off x="5030788" y="5299075"/>
            <a:ext cx="246538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3" name="Google Shape;1643;p56"/>
          <p:cNvSpPr/>
          <p:nvPr/>
        </p:nvSpPr>
        <p:spPr>
          <a:xfrm>
            <a:off x="5053013" y="6281738"/>
            <a:ext cx="2443162" cy="252412"/>
          </a:xfrm>
          <a:custGeom>
            <a:rect b="b" l="l" r="r" t="t"/>
            <a:pathLst>
              <a:path extrusionOk="0" h="159" w="1554">
                <a:moveTo>
                  <a:pt x="0" y="159"/>
                </a:moveTo>
                <a:lnTo>
                  <a:pt x="1554" y="159"/>
                </a:lnTo>
                <a:lnTo>
                  <a:pt x="1554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4" name="Google Shape;164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9500" y="5675313"/>
            <a:ext cx="62865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4550" y="5294313"/>
            <a:ext cx="6191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2388" y="529907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4838" y="530542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43475" y="530542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6838" y="5272088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2088" y="51593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87638" y="5167313"/>
            <a:ext cx="1238250" cy="23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2" name="Google Shape;1652;p56"/>
          <p:cNvCxnSpPr/>
          <p:nvPr/>
        </p:nvCxnSpPr>
        <p:spPr>
          <a:xfrm rot="5400000">
            <a:off x="3731418" y="5469732"/>
            <a:ext cx="373063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57"/>
          <p:cNvSpPr/>
          <p:nvPr/>
        </p:nvSpPr>
        <p:spPr>
          <a:xfrm>
            <a:off x="685800" y="1549400"/>
            <a:ext cx="7772400" cy="53022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series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∙Resistors can be                                                          connected to one another                                                in series, which means                                                           one after the other.	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∙Note that there is only one current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that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the same for all series components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∙Conservation of energy tells us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aseline="-2500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	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from Ohm’s law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	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	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factoring out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	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where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cxnSp>
        <p:nvCxnSpPr>
          <p:cNvPr id="1659" name="Google Shape;1659;p57"/>
          <p:cNvCxnSpPr/>
          <p:nvPr/>
        </p:nvCxnSpPr>
        <p:spPr>
          <a:xfrm rot="10800000">
            <a:off x="4584700" y="3144838"/>
            <a:ext cx="182562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57"/>
          <p:cNvCxnSpPr/>
          <p:nvPr/>
        </p:nvCxnSpPr>
        <p:spPr>
          <a:xfrm rot="-5400000">
            <a:off x="4256882" y="2813844"/>
            <a:ext cx="68421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57"/>
          <p:cNvCxnSpPr/>
          <p:nvPr/>
        </p:nvCxnSpPr>
        <p:spPr>
          <a:xfrm>
            <a:off x="4583113" y="2481263"/>
            <a:ext cx="373062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57"/>
          <p:cNvCxnSpPr/>
          <p:nvPr/>
        </p:nvCxnSpPr>
        <p:spPr>
          <a:xfrm rot="-5400000">
            <a:off x="7979569" y="2807494"/>
            <a:ext cx="69691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57"/>
          <p:cNvCxnSpPr/>
          <p:nvPr/>
        </p:nvCxnSpPr>
        <p:spPr>
          <a:xfrm rot="10800000">
            <a:off x="6530975" y="3143250"/>
            <a:ext cx="1804988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4" name="Google Shape;1664;p57"/>
          <p:cNvSpPr txBox="1"/>
          <p:nvPr/>
        </p:nvSpPr>
        <p:spPr>
          <a:xfrm>
            <a:off x="5048250" y="1934710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57"/>
          <p:cNvSpPr txBox="1"/>
          <p:nvPr/>
        </p:nvSpPr>
        <p:spPr>
          <a:xfrm>
            <a:off x="6276975" y="1923597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57"/>
          <p:cNvSpPr txBox="1"/>
          <p:nvPr/>
        </p:nvSpPr>
        <p:spPr>
          <a:xfrm>
            <a:off x="7481888" y="1928586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57"/>
          <p:cNvSpPr/>
          <p:nvPr/>
        </p:nvSpPr>
        <p:spPr>
          <a:xfrm>
            <a:off x="4619625" y="2481263"/>
            <a:ext cx="1352550" cy="658812"/>
          </a:xfrm>
          <a:custGeom>
            <a:rect b="b" l="l" r="r" t="t"/>
            <a:pathLst>
              <a:path extrusionOk="0" h="605" w="852">
                <a:moveTo>
                  <a:pt x="852" y="605"/>
                </a:moveTo>
                <a:lnTo>
                  <a:pt x="0" y="605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57"/>
          <p:cNvSpPr/>
          <p:nvPr/>
        </p:nvSpPr>
        <p:spPr>
          <a:xfrm>
            <a:off x="6997700" y="2481263"/>
            <a:ext cx="1343025" cy="655637"/>
          </a:xfrm>
          <a:custGeom>
            <a:rect b="b" l="l" r="r" t="t"/>
            <a:pathLst>
              <a:path extrusionOk="0" h="605" w="864">
                <a:moveTo>
                  <a:pt x="0" y="605"/>
                </a:moveTo>
                <a:lnTo>
                  <a:pt x="864" y="605"/>
                </a:lnTo>
                <a:lnTo>
                  <a:pt x="864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9" name="Google Shape;1669;p57"/>
          <p:cNvGrpSpPr/>
          <p:nvPr/>
        </p:nvGrpSpPr>
        <p:grpSpPr>
          <a:xfrm>
            <a:off x="852488" y="6215063"/>
            <a:ext cx="7464425" cy="461962"/>
            <a:chOff x="510" y="3915"/>
            <a:chExt cx="4702" cy="291"/>
          </a:xfrm>
        </p:grpSpPr>
        <p:sp>
          <p:nvSpPr>
            <p:cNvPr id="1670" name="Google Shape;1670;p57"/>
            <p:cNvSpPr/>
            <p:nvPr/>
          </p:nvSpPr>
          <p:spPr>
            <a:xfrm>
              <a:off x="592" y="3928"/>
              <a:ext cx="1691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+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+ …</a:t>
              </a:r>
              <a:endParaRPr baseline="-2500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57"/>
            <p:cNvSpPr txBox="1"/>
            <p:nvPr/>
          </p:nvSpPr>
          <p:spPr>
            <a:xfrm>
              <a:off x="2368" y="3915"/>
              <a:ext cx="2844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equivalent resistance in series</a:t>
              </a:r>
              <a:endParaRPr/>
            </a:p>
          </p:txBody>
        </p:sp>
        <p:sp>
          <p:nvSpPr>
            <p:cNvPr id="1672" name="Google Shape;1672;p57"/>
            <p:cNvSpPr/>
            <p:nvPr/>
          </p:nvSpPr>
          <p:spPr>
            <a:xfrm>
              <a:off x="510" y="3917"/>
              <a:ext cx="4701" cy="28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3" name="Google Shape;1673;p57"/>
          <p:cNvSpPr txBox="1"/>
          <p:nvPr/>
        </p:nvSpPr>
        <p:spPr>
          <a:xfrm>
            <a:off x="6608763" y="3128963"/>
            <a:ext cx="3190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1674" name="Google Shape;1674;p57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5" name="Google Shape;167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825" y="235902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3653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975" y="235902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3763" y="2814638"/>
            <a:ext cx="1028700" cy="619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9" name="Google Shape;1679;p57"/>
          <p:cNvCxnSpPr/>
          <p:nvPr/>
        </p:nvCxnSpPr>
        <p:spPr>
          <a:xfrm flipH="1" rot="-5400000">
            <a:off x="5094514" y="4528456"/>
            <a:ext cx="319314" cy="14514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0" name="Google Shape;1680;p57"/>
          <p:cNvCxnSpPr/>
          <p:nvPr/>
        </p:nvCxnSpPr>
        <p:spPr>
          <a:xfrm flipH="1" rot="-5400000">
            <a:off x="5740400" y="4506685"/>
            <a:ext cx="319314" cy="14514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1" name="Google Shape;1681;p57"/>
          <p:cNvCxnSpPr/>
          <p:nvPr/>
        </p:nvCxnSpPr>
        <p:spPr>
          <a:xfrm flipH="1" rot="-5400000">
            <a:off x="6567715" y="4506686"/>
            <a:ext cx="319314" cy="14514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2" name="Google Shape;1682;p57"/>
          <p:cNvCxnSpPr/>
          <p:nvPr/>
        </p:nvCxnSpPr>
        <p:spPr>
          <a:xfrm flipH="1" rot="-5400000">
            <a:off x="7366000" y="4521200"/>
            <a:ext cx="319314" cy="14514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58"/>
          <p:cNvSpPr/>
          <p:nvPr/>
        </p:nvSpPr>
        <p:spPr>
          <a:xfrm>
            <a:off x="674688" y="1989138"/>
            <a:ext cx="7772400" cy="486886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resistors                                                  of 330 Ω each are                                                         connected to a 6.0 V                                                               battery in series as shown.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What is the circuit’s equivalent resistance?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What is the current in the circuit?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In series,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330 + 330 + 330 = 990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Since the voltage on the entire circuit is 6.0 V, and since the total resistance is 990 Ω, from Ohm’s law we have 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990 =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0.0061 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58"/>
          <p:cNvSpPr/>
          <p:nvPr/>
        </p:nvSpPr>
        <p:spPr>
          <a:xfrm>
            <a:off x="685800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series</a:t>
            </a:r>
            <a:endParaRPr/>
          </a:p>
        </p:txBody>
      </p:sp>
      <p:sp>
        <p:nvSpPr>
          <p:cNvPr id="1690" name="Google Shape;1690;p58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1" name="Google Shape;1691;p58"/>
          <p:cNvCxnSpPr/>
          <p:nvPr/>
        </p:nvCxnSpPr>
        <p:spPr>
          <a:xfrm rot="10800000">
            <a:off x="4584700" y="3144838"/>
            <a:ext cx="182562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2" name="Google Shape;1692;p58"/>
          <p:cNvCxnSpPr/>
          <p:nvPr/>
        </p:nvCxnSpPr>
        <p:spPr>
          <a:xfrm rot="-5400000">
            <a:off x="4256882" y="2813844"/>
            <a:ext cx="68421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58"/>
          <p:cNvCxnSpPr/>
          <p:nvPr/>
        </p:nvCxnSpPr>
        <p:spPr>
          <a:xfrm>
            <a:off x="4583113" y="2481263"/>
            <a:ext cx="373062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58"/>
          <p:cNvCxnSpPr/>
          <p:nvPr/>
        </p:nvCxnSpPr>
        <p:spPr>
          <a:xfrm rot="-5400000">
            <a:off x="7979569" y="2807494"/>
            <a:ext cx="69691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58"/>
          <p:cNvCxnSpPr/>
          <p:nvPr/>
        </p:nvCxnSpPr>
        <p:spPr>
          <a:xfrm rot="10800000">
            <a:off x="6530975" y="3143250"/>
            <a:ext cx="1804988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6" name="Google Shape;1696;p58"/>
          <p:cNvSpPr txBox="1"/>
          <p:nvPr/>
        </p:nvSpPr>
        <p:spPr>
          <a:xfrm>
            <a:off x="5048250" y="1949224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58"/>
          <p:cNvSpPr txBox="1"/>
          <p:nvPr/>
        </p:nvSpPr>
        <p:spPr>
          <a:xfrm>
            <a:off x="6276975" y="1938111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58"/>
          <p:cNvSpPr txBox="1"/>
          <p:nvPr/>
        </p:nvSpPr>
        <p:spPr>
          <a:xfrm>
            <a:off x="7481888" y="1943100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58"/>
          <p:cNvSpPr/>
          <p:nvPr/>
        </p:nvSpPr>
        <p:spPr>
          <a:xfrm>
            <a:off x="4619625" y="2481263"/>
            <a:ext cx="1352550" cy="658812"/>
          </a:xfrm>
          <a:custGeom>
            <a:rect b="b" l="l" r="r" t="t"/>
            <a:pathLst>
              <a:path extrusionOk="0" h="605" w="852">
                <a:moveTo>
                  <a:pt x="852" y="605"/>
                </a:moveTo>
                <a:lnTo>
                  <a:pt x="0" y="605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58"/>
          <p:cNvSpPr/>
          <p:nvPr/>
        </p:nvSpPr>
        <p:spPr>
          <a:xfrm>
            <a:off x="6997700" y="2481263"/>
            <a:ext cx="1343025" cy="655637"/>
          </a:xfrm>
          <a:custGeom>
            <a:rect b="b" l="l" r="r" t="t"/>
            <a:pathLst>
              <a:path extrusionOk="0" h="605" w="864">
                <a:moveTo>
                  <a:pt x="0" y="605"/>
                </a:moveTo>
                <a:lnTo>
                  <a:pt x="864" y="605"/>
                </a:lnTo>
                <a:lnTo>
                  <a:pt x="864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58"/>
          <p:cNvSpPr txBox="1"/>
          <p:nvPr/>
        </p:nvSpPr>
        <p:spPr>
          <a:xfrm>
            <a:off x="6608763" y="3128963"/>
            <a:ext cx="3190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pic>
        <p:nvPicPr>
          <p:cNvPr id="1702" name="Google Shape;170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825" y="235902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3653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975" y="235902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5" name="Google Shape;170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3763" y="2814638"/>
            <a:ext cx="102870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59"/>
          <p:cNvSpPr/>
          <p:nvPr/>
        </p:nvSpPr>
        <p:spPr>
          <a:xfrm>
            <a:off x="682625" y="5951538"/>
            <a:ext cx="7764463" cy="9064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series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are different if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are different.</a:t>
            </a:r>
            <a:endParaRPr/>
          </a:p>
        </p:txBody>
      </p:sp>
      <p:sp>
        <p:nvSpPr>
          <p:cNvPr id="1712" name="Google Shape;1712;p59"/>
          <p:cNvSpPr/>
          <p:nvPr/>
        </p:nvSpPr>
        <p:spPr>
          <a:xfrm>
            <a:off x="674688" y="1989138"/>
            <a:ext cx="7772400" cy="400526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resistors                                                  of 330 Ω each are                                                         connected to a 6.0 V                                                               battery in series as shown.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(c) What is the voltage on each resistor?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The current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just found is the same everywhere. Thus each resistor has a current of 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0.0061 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Ohm’s law, each resistor has a voltage given by                                       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0.0061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)(330) = 2.0 V.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13" name="Google Shape;1713;p59"/>
          <p:cNvSpPr/>
          <p:nvPr/>
        </p:nvSpPr>
        <p:spPr>
          <a:xfrm>
            <a:off x="685800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series</a:t>
            </a:r>
            <a:endParaRPr/>
          </a:p>
        </p:txBody>
      </p:sp>
      <p:sp>
        <p:nvSpPr>
          <p:cNvPr id="1714" name="Google Shape;1714;p59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5" name="Google Shape;1715;p59"/>
          <p:cNvCxnSpPr/>
          <p:nvPr/>
        </p:nvCxnSpPr>
        <p:spPr>
          <a:xfrm rot="10800000">
            <a:off x="4584700" y="3144838"/>
            <a:ext cx="182562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59"/>
          <p:cNvCxnSpPr/>
          <p:nvPr/>
        </p:nvCxnSpPr>
        <p:spPr>
          <a:xfrm rot="-5400000">
            <a:off x="4256882" y="2813844"/>
            <a:ext cx="68421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7" name="Google Shape;1717;p59"/>
          <p:cNvCxnSpPr/>
          <p:nvPr/>
        </p:nvCxnSpPr>
        <p:spPr>
          <a:xfrm>
            <a:off x="4583113" y="2481263"/>
            <a:ext cx="373062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8" name="Google Shape;1718;p59"/>
          <p:cNvCxnSpPr/>
          <p:nvPr/>
        </p:nvCxnSpPr>
        <p:spPr>
          <a:xfrm rot="-5400000">
            <a:off x="7979569" y="2807494"/>
            <a:ext cx="69691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59"/>
          <p:cNvCxnSpPr/>
          <p:nvPr/>
        </p:nvCxnSpPr>
        <p:spPr>
          <a:xfrm rot="10800000">
            <a:off x="6530975" y="3143250"/>
            <a:ext cx="1804988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0" name="Google Shape;1720;p59"/>
          <p:cNvSpPr txBox="1"/>
          <p:nvPr/>
        </p:nvSpPr>
        <p:spPr>
          <a:xfrm>
            <a:off x="5048250" y="1949224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59"/>
          <p:cNvSpPr txBox="1"/>
          <p:nvPr/>
        </p:nvSpPr>
        <p:spPr>
          <a:xfrm>
            <a:off x="6276975" y="1938111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59"/>
          <p:cNvSpPr txBox="1"/>
          <p:nvPr/>
        </p:nvSpPr>
        <p:spPr>
          <a:xfrm>
            <a:off x="7481888" y="1943100"/>
            <a:ext cx="5207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59"/>
          <p:cNvSpPr/>
          <p:nvPr/>
        </p:nvSpPr>
        <p:spPr>
          <a:xfrm>
            <a:off x="4619625" y="2481263"/>
            <a:ext cx="1352550" cy="658812"/>
          </a:xfrm>
          <a:custGeom>
            <a:rect b="b" l="l" r="r" t="t"/>
            <a:pathLst>
              <a:path extrusionOk="0" h="605" w="852">
                <a:moveTo>
                  <a:pt x="852" y="605"/>
                </a:moveTo>
                <a:lnTo>
                  <a:pt x="0" y="605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59"/>
          <p:cNvSpPr/>
          <p:nvPr/>
        </p:nvSpPr>
        <p:spPr>
          <a:xfrm>
            <a:off x="6997700" y="2481263"/>
            <a:ext cx="1343025" cy="655637"/>
          </a:xfrm>
          <a:custGeom>
            <a:rect b="b" l="l" r="r" t="t"/>
            <a:pathLst>
              <a:path extrusionOk="0" h="605" w="864">
                <a:moveTo>
                  <a:pt x="0" y="605"/>
                </a:moveTo>
                <a:lnTo>
                  <a:pt x="864" y="605"/>
                </a:lnTo>
                <a:lnTo>
                  <a:pt x="864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59"/>
          <p:cNvSpPr txBox="1"/>
          <p:nvPr/>
        </p:nvSpPr>
        <p:spPr>
          <a:xfrm>
            <a:off x="6608763" y="3128963"/>
            <a:ext cx="3190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pic>
        <p:nvPicPr>
          <p:cNvPr id="1726" name="Google Shape;17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825" y="235902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3653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975" y="235902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3763" y="2814638"/>
            <a:ext cx="102870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60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parallel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∙Resistors can also be in parallel.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this circuit each resistor is                                          connected directly to the cell.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each resistor has the same                                    voltage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 is the same for all parallel components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can then write 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≡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∙But there are three currents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aseline="-2500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the total current </a:t>
            </a:r>
            <a:r>
              <a:rPr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passes through the cell we see that </a:t>
            </a:r>
            <a:r>
              <a:rPr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equivalent or total resistance of the three resistors, then </a:t>
            </a:r>
            <a:r>
              <a:rPr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becomes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ε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Ohm’s law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 / R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60"/>
          <p:cNvSpPr/>
          <p:nvPr/>
        </p:nvSpPr>
        <p:spPr>
          <a:xfrm>
            <a:off x="5707063" y="2011363"/>
            <a:ext cx="2660650" cy="228600"/>
          </a:xfrm>
          <a:prstGeom prst="rect">
            <a:avLst/>
          </a:prstGeom>
          <a:solidFill>
            <a:srgbClr val="FFFF99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60"/>
          <p:cNvSpPr/>
          <p:nvPr/>
        </p:nvSpPr>
        <p:spPr>
          <a:xfrm>
            <a:off x="5826125" y="2132013"/>
            <a:ext cx="2432050" cy="53975"/>
          </a:xfrm>
          <a:custGeom>
            <a:rect b="b" l="l" r="r" t="t"/>
            <a:pathLst>
              <a:path extrusionOk="0" h="34" w="1544">
                <a:moveTo>
                  <a:pt x="0" y="0"/>
                </a:moveTo>
                <a:lnTo>
                  <a:pt x="1544" y="0"/>
                </a:lnTo>
                <a:lnTo>
                  <a:pt x="1544" y="34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60"/>
          <p:cNvSpPr/>
          <p:nvPr/>
        </p:nvSpPr>
        <p:spPr>
          <a:xfrm>
            <a:off x="5711825" y="3267075"/>
            <a:ext cx="2660650" cy="228600"/>
          </a:xfrm>
          <a:prstGeom prst="rect">
            <a:avLst/>
          </a:prstGeom>
          <a:solidFill>
            <a:srgbClr val="FFFF99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60"/>
          <p:cNvSpPr/>
          <p:nvPr/>
        </p:nvSpPr>
        <p:spPr>
          <a:xfrm>
            <a:off x="5811838" y="3201988"/>
            <a:ext cx="2441575" cy="173037"/>
          </a:xfrm>
          <a:custGeom>
            <a:rect b="b" l="l" r="r" t="t"/>
            <a:pathLst>
              <a:path extrusionOk="0" h="109" w="1538">
                <a:moveTo>
                  <a:pt x="0" y="109"/>
                </a:moveTo>
                <a:lnTo>
                  <a:pt x="1538" y="109"/>
                </a:lnTo>
                <a:lnTo>
                  <a:pt x="1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0" name="Google Shape;174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925" y="214947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013" y="2203450"/>
            <a:ext cx="6191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35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3" name="Google Shape;174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6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5" name="Google Shape;1745;p60"/>
          <p:cNvSpPr txBox="1"/>
          <p:nvPr/>
        </p:nvSpPr>
        <p:spPr>
          <a:xfrm>
            <a:off x="5843814" y="25400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60"/>
          <p:cNvSpPr txBox="1"/>
          <p:nvPr/>
        </p:nvSpPr>
        <p:spPr>
          <a:xfrm>
            <a:off x="6656388" y="2538413"/>
            <a:ext cx="5222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60"/>
          <p:cNvSpPr txBox="1"/>
          <p:nvPr/>
        </p:nvSpPr>
        <p:spPr>
          <a:xfrm>
            <a:off x="7423150" y="2538413"/>
            <a:ext cx="5222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60"/>
          <p:cNvSpPr txBox="1"/>
          <p:nvPr/>
        </p:nvSpPr>
        <p:spPr>
          <a:xfrm>
            <a:off x="8528050" y="2497138"/>
            <a:ext cx="3190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cxnSp>
        <p:nvCxnSpPr>
          <p:cNvPr id="1749" name="Google Shape;1749;p60"/>
          <p:cNvCxnSpPr/>
          <p:nvPr/>
        </p:nvCxnSpPr>
        <p:spPr>
          <a:xfrm rot="10800000">
            <a:off x="5818188" y="2078038"/>
            <a:ext cx="249078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60"/>
          <p:cNvCxnSpPr/>
          <p:nvPr/>
        </p:nvCxnSpPr>
        <p:spPr>
          <a:xfrm rot="10800000">
            <a:off x="6583363" y="2116138"/>
            <a:ext cx="1660525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60"/>
          <p:cNvCxnSpPr/>
          <p:nvPr/>
        </p:nvCxnSpPr>
        <p:spPr>
          <a:xfrm rot="10800000">
            <a:off x="7381875" y="2165350"/>
            <a:ext cx="827088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60"/>
          <p:cNvCxnSpPr/>
          <p:nvPr/>
        </p:nvCxnSpPr>
        <p:spPr>
          <a:xfrm rot="-5400000">
            <a:off x="8027194" y="2353469"/>
            <a:ext cx="547688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60"/>
          <p:cNvCxnSpPr/>
          <p:nvPr/>
        </p:nvCxnSpPr>
        <p:spPr>
          <a:xfrm rot="-5400000">
            <a:off x="8002588" y="2366963"/>
            <a:ext cx="520700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60"/>
          <p:cNvCxnSpPr/>
          <p:nvPr/>
        </p:nvCxnSpPr>
        <p:spPr>
          <a:xfrm rot="-5400000">
            <a:off x="7975600" y="2389188"/>
            <a:ext cx="4730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5" name="Google Shape;1755;p60"/>
          <p:cNvCxnSpPr/>
          <p:nvPr/>
        </p:nvCxnSpPr>
        <p:spPr>
          <a:xfrm>
            <a:off x="5811838" y="3422650"/>
            <a:ext cx="2514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6" name="Google Shape;1756;p60"/>
          <p:cNvCxnSpPr/>
          <p:nvPr/>
        </p:nvCxnSpPr>
        <p:spPr>
          <a:xfrm>
            <a:off x="6578600" y="3386138"/>
            <a:ext cx="1709738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7" name="Google Shape;1757;p60"/>
          <p:cNvCxnSpPr/>
          <p:nvPr/>
        </p:nvCxnSpPr>
        <p:spPr>
          <a:xfrm>
            <a:off x="7370763" y="3333750"/>
            <a:ext cx="868362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60"/>
          <p:cNvCxnSpPr/>
          <p:nvPr/>
        </p:nvCxnSpPr>
        <p:spPr>
          <a:xfrm rot="-5400000">
            <a:off x="7981156" y="3075782"/>
            <a:ext cx="65563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60"/>
          <p:cNvCxnSpPr/>
          <p:nvPr/>
        </p:nvCxnSpPr>
        <p:spPr>
          <a:xfrm rot="-5400000">
            <a:off x="7948612" y="3065463"/>
            <a:ext cx="619125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60"/>
          <p:cNvCxnSpPr/>
          <p:nvPr/>
        </p:nvCxnSpPr>
        <p:spPr>
          <a:xfrm rot="-5400000">
            <a:off x="7916863" y="3052763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1" name="Google Shape;1761;p60"/>
          <p:cNvSpPr/>
          <p:nvPr/>
        </p:nvSpPr>
        <p:spPr>
          <a:xfrm rot="-5400000">
            <a:off x="7951788" y="2573338"/>
            <a:ext cx="603250" cy="266700"/>
          </a:xfrm>
          <a:prstGeom prst="chevron">
            <a:avLst>
              <a:gd fmla="val 56548" name="adj"/>
            </a:avLst>
          </a:prstGeom>
          <a:noFill/>
          <a:ln cap="flat" cmpd="sng" w="38100">
            <a:solidFill>
              <a:srgbClr val="D600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2" name="Google Shape;1762;p60"/>
          <p:cNvCxnSpPr/>
          <p:nvPr/>
        </p:nvCxnSpPr>
        <p:spPr>
          <a:xfrm rot="-5400000">
            <a:off x="5165725" y="2751138"/>
            <a:ext cx="13271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60"/>
          <p:cNvCxnSpPr/>
          <p:nvPr/>
        </p:nvCxnSpPr>
        <p:spPr>
          <a:xfrm rot="-5400000">
            <a:off x="5968206" y="2745582"/>
            <a:ext cx="1262063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60"/>
          <p:cNvCxnSpPr/>
          <p:nvPr/>
        </p:nvCxnSpPr>
        <p:spPr>
          <a:xfrm rot="-5400000">
            <a:off x="6787357" y="2750344"/>
            <a:ext cx="1198562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61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parallel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∙Resistors can also be in parallel.	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this circuit each resistor is                                          connected directly to the cell.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each resistor has the same                                    voltage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 is the same for all parallel components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≡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ε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get      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aseline="-2500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the equivalent resistance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given by</a:t>
            </a:r>
            <a:endParaRPr/>
          </a:p>
        </p:txBody>
      </p:sp>
      <p:sp>
        <p:nvSpPr>
          <p:cNvPr id="1771" name="Google Shape;1771;p61"/>
          <p:cNvSpPr/>
          <p:nvPr/>
        </p:nvSpPr>
        <p:spPr>
          <a:xfrm>
            <a:off x="5707063" y="2011363"/>
            <a:ext cx="2660650" cy="228600"/>
          </a:xfrm>
          <a:prstGeom prst="rect">
            <a:avLst/>
          </a:prstGeom>
          <a:solidFill>
            <a:srgbClr val="FFFF99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61"/>
          <p:cNvSpPr/>
          <p:nvPr/>
        </p:nvSpPr>
        <p:spPr>
          <a:xfrm>
            <a:off x="5826125" y="2132013"/>
            <a:ext cx="2432050" cy="53975"/>
          </a:xfrm>
          <a:custGeom>
            <a:rect b="b" l="l" r="r" t="t"/>
            <a:pathLst>
              <a:path extrusionOk="0" h="34" w="1544">
                <a:moveTo>
                  <a:pt x="0" y="0"/>
                </a:moveTo>
                <a:lnTo>
                  <a:pt x="1544" y="0"/>
                </a:lnTo>
                <a:lnTo>
                  <a:pt x="1544" y="34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61"/>
          <p:cNvSpPr/>
          <p:nvPr/>
        </p:nvSpPr>
        <p:spPr>
          <a:xfrm>
            <a:off x="5711825" y="3267075"/>
            <a:ext cx="2660650" cy="228600"/>
          </a:xfrm>
          <a:prstGeom prst="rect">
            <a:avLst/>
          </a:prstGeom>
          <a:solidFill>
            <a:srgbClr val="FFFF99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61"/>
          <p:cNvSpPr/>
          <p:nvPr/>
        </p:nvSpPr>
        <p:spPr>
          <a:xfrm>
            <a:off x="5811838" y="3201988"/>
            <a:ext cx="2441575" cy="173037"/>
          </a:xfrm>
          <a:custGeom>
            <a:rect b="b" l="l" r="r" t="t"/>
            <a:pathLst>
              <a:path extrusionOk="0" h="109" w="1538">
                <a:moveTo>
                  <a:pt x="0" y="109"/>
                </a:moveTo>
                <a:lnTo>
                  <a:pt x="1538" y="109"/>
                </a:lnTo>
                <a:lnTo>
                  <a:pt x="1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5" name="Google Shape;177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925" y="214947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013" y="2203450"/>
            <a:ext cx="6191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35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6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0" name="Google Shape;1780;p61"/>
          <p:cNvSpPr txBox="1"/>
          <p:nvPr/>
        </p:nvSpPr>
        <p:spPr>
          <a:xfrm>
            <a:off x="5843814" y="25400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61"/>
          <p:cNvSpPr txBox="1"/>
          <p:nvPr/>
        </p:nvSpPr>
        <p:spPr>
          <a:xfrm>
            <a:off x="6656388" y="2538413"/>
            <a:ext cx="5222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61"/>
          <p:cNvSpPr txBox="1"/>
          <p:nvPr/>
        </p:nvSpPr>
        <p:spPr>
          <a:xfrm>
            <a:off x="7423150" y="2538413"/>
            <a:ext cx="5222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61"/>
          <p:cNvSpPr txBox="1"/>
          <p:nvPr/>
        </p:nvSpPr>
        <p:spPr>
          <a:xfrm>
            <a:off x="8528050" y="2497138"/>
            <a:ext cx="3190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cxnSp>
        <p:nvCxnSpPr>
          <p:cNvPr id="1784" name="Google Shape;1784;p61"/>
          <p:cNvCxnSpPr/>
          <p:nvPr/>
        </p:nvCxnSpPr>
        <p:spPr>
          <a:xfrm rot="10800000">
            <a:off x="5818188" y="2078038"/>
            <a:ext cx="249078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61"/>
          <p:cNvCxnSpPr/>
          <p:nvPr/>
        </p:nvCxnSpPr>
        <p:spPr>
          <a:xfrm rot="10800000">
            <a:off x="6583363" y="2116138"/>
            <a:ext cx="1660525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61"/>
          <p:cNvCxnSpPr/>
          <p:nvPr/>
        </p:nvCxnSpPr>
        <p:spPr>
          <a:xfrm rot="10800000">
            <a:off x="7381875" y="2165350"/>
            <a:ext cx="827088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61"/>
          <p:cNvCxnSpPr/>
          <p:nvPr/>
        </p:nvCxnSpPr>
        <p:spPr>
          <a:xfrm rot="-5400000">
            <a:off x="8027194" y="2353469"/>
            <a:ext cx="547688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8" name="Google Shape;1788;p61"/>
          <p:cNvCxnSpPr/>
          <p:nvPr/>
        </p:nvCxnSpPr>
        <p:spPr>
          <a:xfrm rot="-5400000">
            <a:off x="8002588" y="2366963"/>
            <a:ext cx="520700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9" name="Google Shape;1789;p61"/>
          <p:cNvCxnSpPr/>
          <p:nvPr/>
        </p:nvCxnSpPr>
        <p:spPr>
          <a:xfrm rot="-5400000">
            <a:off x="7975600" y="2389188"/>
            <a:ext cx="4730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0" name="Google Shape;1790;p61"/>
          <p:cNvCxnSpPr/>
          <p:nvPr/>
        </p:nvCxnSpPr>
        <p:spPr>
          <a:xfrm>
            <a:off x="5811838" y="3422650"/>
            <a:ext cx="2514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61"/>
          <p:cNvCxnSpPr/>
          <p:nvPr/>
        </p:nvCxnSpPr>
        <p:spPr>
          <a:xfrm>
            <a:off x="6578600" y="3386138"/>
            <a:ext cx="1709738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61"/>
          <p:cNvCxnSpPr/>
          <p:nvPr/>
        </p:nvCxnSpPr>
        <p:spPr>
          <a:xfrm>
            <a:off x="7370763" y="3333750"/>
            <a:ext cx="868362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61"/>
          <p:cNvCxnSpPr/>
          <p:nvPr/>
        </p:nvCxnSpPr>
        <p:spPr>
          <a:xfrm rot="-5400000">
            <a:off x="7981156" y="3075782"/>
            <a:ext cx="65563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61"/>
          <p:cNvCxnSpPr/>
          <p:nvPr/>
        </p:nvCxnSpPr>
        <p:spPr>
          <a:xfrm rot="-5400000">
            <a:off x="7948612" y="3065463"/>
            <a:ext cx="619125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61"/>
          <p:cNvCxnSpPr/>
          <p:nvPr/>
        </p:nvCxnSpPr>
        <p:spPr>
          <a:xfrm rot="-5400000">
            <a:off x="7916863" y="3052763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6" name="Google Shape;1796;p61"/>
          <p:cNvSpPr/>
          <p:nvPr/>
        </p:nvSpPr>
        <p:spPr>
          <a:xfrm rot="-5400000">
            <a:off x="7951788" y="2573338"/>
            <a:ext cx="603250" cy="266700"/>
          </a:xfrm>
          <a:prstGeom prst="chevron">
            <a:avLst>
              <a:gd fmla="val 56548" name="adj"/>
            </a:avLst>
          </a:prstGeom>
          <a:noFill/>
          <a:ln cap="flat" cmpd="sng" w="38100">
            <a:solidFill>
              <a:srgbClr val="D600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7" name="Google Shape;1797;p61"/>
          <p:cNvCxnSpPr/>
          <p:nvPr/>
        </p:nvCxnSpPr>
        <p:spPr>
          <a:xfrm rot="-5400000">
            <a:off x="5165725" y="2751138"/>
            <a:ext cx="13271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61"/>
          <p:cNvCxnSpPr/>
          <p:nvPr/>
        </p:nvCxnSpPr>
        <p:spPr>
          <a:xfrm rot="-5400000">
            <a:off x="5968206" y="2745582"/>
            <a:ext cx="1262063" cy="0"/>
          </a:xfrm>
          <a:prstGeom prst="straightConnector1">
            <a:avLst/>
          </a:prstGeom>
          <a:noFill/>
          <a:ln cap="flat" cmpd="sng" w="38100">
            <a:solidFill>
              <a:srgbClr val="FF993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61"/>
          <p:cNvCxnSpPr/>
          <p:nvPr/>
        </p:nvCxnSpPr>
        <p:spPr>
          <a:xfrm rot="-5400000">
            <a:off x="6787357" y="2750344"/>
            <a:ext cx="1198562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0" name="Google Shape;1800;p61"/>
          <p:cNvCxnSpPr/>
          <p:nvPr/>
        </p:nvCxnSpPr>
        <p:spPr>
          <a:xfrm>
            <a:off x="2325914" y="4895850"/>
            <a:ext cx="144463" cy="28892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61"/>
          <p:cNvCxnSpPr/>
          <p:nvPr/>
        </p:nvCxnSpPr>
        <p:spPr>
          <a:xfrm>
            <a:off x="3359603" y="4892449"/>
            <a:ext cx="144463" cy="28892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2" name="Google Shape;1802;p61"/>
          <p:cNvCxnSpPr/>
          <p:nvPr/>
        </p:nvCxnSpPr>
        <p:spPr>
          <a:xfrm>
            <a:off x="4486502" y="4893810"/>
            <a:ext cx="144462" cy="28892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3" name="Google Shape;1803;p61"/>
          <p:cNvCxnSpPr/>
          <p:nvPr/>
        </p:nvCxnSpPr>
        <p:spPr>
          <a:xfrm>
            <a:off x="5636078" y="4885646"/>
            <a:ext cx="144463" cy="28892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4" name="Google Shape;1804;p61"/>
          <p:cNvGrpSpPr/>
          <p:nvPr/>
        </p:nvGrpSpPr>
        <p:grpSpPr>
          <a:xfrm>
            <a:off x="824139" y="5805488"/>
            <a:ext cx="7464425" cy="830262"/>
            <a:chOff x="510" y="3741"/>
            <a:chExt cx="4702" cy="523"/>
          </a:xfrm>
        </p:grpSpPr>
        <p:sp>
          <p:nvSpPr>
            <p:cNvPr id="1805" name="Google Shape;1805;p61"/>
            <p:cNvSpPr/>
            <p:nvPr/>
          </p:nvSpPr>
          <p:spPr>
            <a:xfrm>
              <a:off x="565" y="3806"/>
              <a:ext cx="2616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 R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1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 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+ 1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+ …</a:t>
              </a:r>
              <a:endParaRPr baseline="-2500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1"/>
            <p:cNvSpPr txBox="1"/>
            <p:nvPr/>
          </p:nvSpPr>
          <p:spPr>
            <a:xfrm>
              <a:off x="2971" y="3741"/>
              <a:ext cx="2241" cy="52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equivalent resistance in parallel</a:t>
              </a:r>
              <a:endParaRPr/>
            </a:p>
          </p:txBody>
        </p:sp>
        <p:sp>
          <p:nvSpPr>
            <p:cNvPr id="1807" name="Google Shape;1807;p61"/>
            <p:cNvSpPr/>
            <p:nvPr/>
          </p:nvSpPr>
          <p:spPr>
            <a:xfrm>
              <a:off x="510" y="3743"/>
              <a:ext cx="4701" cy="51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62"/>
          <p:cNvSpPr/>
          <p:nvPr/>
        </p:nvSpPr>
        <p:spPr>
          <a:xfrm>
            <a:off x="674688" y="1973263"/>
            <a:ext cx="7772400" cy="48847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resistors  of                                               330 Ω each are connected to a                                                6.0 V cell in parallel as shown.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What is the circuit’s resistance?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What is the voltage on each resistor?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In parallel, 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330 + 1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330 + 1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330 = 0.00909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0.00909 = 110 Ω.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The voltage on each resistor is 6.0 V, since the resistors are in parallel. (Each resistor is clearly directly connected to the battery).</a:t>
            </a:r>
            <a:endParaRPr/>
          </a:p>
        </p:txBody>
      </p:sp>
      <p:sp>
        <p:nvSpPr>
          <p:cNvPr id="1814" name="Google Shape;1814;p62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parallel</a:t>
            </a:r>
            <a:endParaRPr/>
          </a:p>
        </p:txBody>
      </p:sp>
      <p:sp>
        <p:nvSpPr>
          <p:cNvPr id="1815" name="Google Shape;1815;p6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6" name="Google Shape;1816;p62"/>
          <p:cNvSpPr/>
          <p:nvPr/>
        </p:nvSpPr>
        <p:spPr>
          <a:xfrm>
            <a:off x="5721350" y="2063750"/>
            <a:ext cx="2660650" cy="301625"/>
          </a:xfrm>
          <a:prstGeom prst="rect">
            <a:avLst/>
          </a:prstGeom>
          <a:solidFill>
            <a:srgbClr val="FFCC66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62"/>
          <p:cNvSpPr/>
          <p:nvPr/>
        </p:nvSpPr>
        <p:spPr>
          <a:xfrm>
            <a:off x="5711825" y="3201988"/>
            <a:ext cx="2660650" cy="301625"/>
          </a:xfrm>
          <a:prstGeom prst="rect">
            <a:avLst/>
          </a:prstGeom>
          <a:solidFill>
            <a:srgbClr val="FFCC66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62"/>
          <p:cNvSpPr/>
          <p:nvPr/>
        </p:nvSpPr>
        <p:spPr>
          <a:xfrm>
            <a:off x="5826125" y="2132013"/>
            <a:ext cx="2432050" cy="53975"/>
          </a:xfrm>
          <a:custGeom>
            <a:rect b="b" l="l" r="r" t="t"/>
            <a:pathLst>
              <a:path extrusionOk="0" h="34" w="1544">
                <a:moveTo>
                  <a:pt x="0" y="0"/>
                </a:moveTo>
                <a:lnTo>
                  <a:pt x="1544" y="0"/>
                </a:lnTo>
                <a:lnTo>
                  <a:pt x="1544" y="34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62"/>
          <p:cNvSpPr/>
          <p:nvPr/>
        </p:nvSpPr>
        <p:spPr>
          <a:xfrm>
            <a:off x="5811838" y="3201988"/>
            <a:ext cx="2441575" cy="173037"/>
          </a:xfrm>
          <a:custGeom>
            <a:rect b="b" l="l" r="r" t="t"/>
            <a:pathLst>
              <a:path extrusionOk="0" h="109" w="1538">
                <a:moveTo>
                  <a:pt x="0" y="109"/>
                </a:moveTo>
                <a:lnTo>
                  <a:pt x="1538" y="109"/>
                </a:lnTo>
                <a:lnTo>
                  <a:pt x="1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0" name="Google Shape;18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925" y="214947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013" y="2203450"/>
            <a:ext cx="6191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35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62"/>
          <p:cNvSpPr txBox="1"/>
          <p:nvPr/>
        </p:nvSpPr>
        <p:spPr>
          <a:xfrm>
            <a:off x="5829300" y="25400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62"/>
          <p:cNvSpPr txBox="1"/>
          <p:nvPr/>
        </p:nvSpPr>
        <p:spPr>
          <a:xfrm>
            <a:off x="6656388" y="2538413"/>
            <a:ext cx="5222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62"/>
          <p:cNvSpPr txBox="1"/>
          <p:nvPr/>
        </p:nvSpPr>
        <p:spPr>
          <a:xfrm>
            <a:off x="7423150" y="2538413"/>
            <a:ext cx="5222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62"/>
          <p:cNvSpPr txBox="1"/>
          <p:nvPr/>
        </p:nvSpPr>
        <p:spPr>
          <a:xfrm>
            <a:off x="8528050" y="2497138"/>
            <a:ext cx="3190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63"/>
          <p:cNvSpPr/>
          <p:nvPr/>
        </p:nvSpPr>
        <p:spPr>
          <a:xfrm>
            <a:off x="696913" y="5994400"/>
            <a:ext cx="7750175" cy="8636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parallel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are different if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are different.</a:t>
            </a:r>
            <a:endParaRPr/>
          </a:p>
        </p:txBody>
      </p:sp>
      <p:sp>
        <p:nvSpPr>
          <p:cNvPr id="1834" name="Google Shape;1834;p63"/>
          <p:cNvSpPr/>
          <p:nvPr/>
        </p:nvSpPr>
        <p:spPr>
          <a:xfrm>
            <a:off x="674688" y="1973263"/>
            <a:ext cx="7772400" cy="40497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resistors  of                                               330 Ω each are connected to a                                                6.0 V cell in parallel as shown.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What is the current in each                                         resistor?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Using Ohm’s law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	I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330 = 0.018 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	I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330 = 0.018 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	I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330 = 0.018 A.</a:t>
            </a:r>
            <a:endParaRPr/>
          </a:p>
        </p:txBody>
      </p:sp>
      <p:sp>
        <p:nvSpPr>
          <p:cNvPr id="1835" name="Google Shape;1835;p63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Investigating combinations of resistors in parallel</a:t>
            </a:r>
            <a:endParaRPr/>
          </a:p>
        </p:txBody>
      </p:sp>
      <p:sp>
        <p:nvSpPr>
          <p:cNvPr id="1836" name="Google Shape;1836;p6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7" name="Google Shape;1837;p63"/>
          <p:cNvSpPr/>
          <p:nvPr/>
        </p:nvSpPr>
        <p:spPr>
          <a:xfrm>
            <a:off x="5721350" y="2063750"/>
            <a:ext cx="2660650" cy="301625"/>
          </a:xfrm>
          <a:prstGeom prst="rect">
            <a:avLst/>
          </a:prstGeom>
          <a:solidFill>
            <a:srgbClr val="FFCC66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63"/>
          <p:cNvSpPr/>
          <p:nvPr/>
        </p:nvSpPr>
        <p:spPr>
          <a:xfrm>
            <a:off x="5711825" y="3201988"/>
            <a:ext cx="2660650" cy="301625"/>
          </a:xfrm>
          <a:prstGeom prst="rect">
            <a:avLst/>
          </a:prstGeom>
          <a:solidFill>
            <a:srgbClr val="FFCC66">
              <a:alpha val="5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63"/>
          <p:cNvSpPr/>
          <p:nvPr/>
        </p:nvSpPr>
        <p:spPr>
          <a:xfrm>
            <a:off x="5826125" y="2132013"/>
            <a:ext cx="2432050" cy="53975"/>
          </a:xfrm>
          <a:custGeom>
            <a:rect b="b" l="l" r="r" t="t"/>
            <a:pathLst>
              <a:path extrusionOk="0" h="34" w="1544">
                <a:moveTo>
                  <a:pt x="0" y="0"/>
                </a:moveTo>
                <a:lnTo>
                  <a:pt x="1544" y="0"/>
                </a:lnTo>
                <a:lnTo>
                  <a:pt x="1544" y="34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63"/>
          <p:cNvSpPr/>
          <p:nvPr/>
        </p:nvSpPr>
        <p:spPr>
          <a:xfrm>
            <a:off x="5811838" y="3201988"/>
            <a:ext cx="2441575" cy="173037"/>
          </a:xfrm>
          <a:custGeom>
            <a:rect b="b" l="l" r="r" t="t"/>
            <a:pathLst>
              <a:path extrusionOk="0" h="109" w="1538">
                <a:moveTo>
                  <a:pt x="0" y="109"/>
                </a:moveTo>
                <a:lnTo>
                  <a:pt x="1538" y="109"/>
                </a:lnTo>
                <a:lnTo>
                  <a:pt x="1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1" name="Google Shape;184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925" y="214947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013" y="2203450"/>
            <a:ext cx="6191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35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141538"/>
            <a:ext cx="2381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63"/>
          <p:cNvSpPr txBox="1"/>
          <p:nvPr/>
        </p:nvSpPr>
        <p:spPr>
          <a:xfrm>
            <a:off x="5829300" y="25400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63"/>
          <p:cNvSpPr txBox="1"/>
          <p:nvPr/>
        </p:nvSpPr>
        <p:spPr>
          <a:xfrm>
            <a:off x="6656388" y="2538413"/>
            <a:ext cx="5222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63"/>
          <p:cNvSpPr txBox="1"/>
          <p:nvPr/>
        </p:nvSpPr>
        <p:spPr>
          <a:xfrm>
            <a:off x="7423150" y="2538413"/>
            <a:ext cx="5222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63"/>
          <p:cNvSpPr txBox="1"/>
          <p:nvPr/>
        </p:nvSpPr>
        <p:spPr>
          <a:xfrm>
            <a:off x="8528050" y="2497138"/>
            <a:ext cx="3190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64"/>
          <p:cNvSpPr/>
          <p:nvPr/>
        </p:nvSpPr>
        <p:spPr>
          <a:xfrm>
            <a:off x="669925" y="5330825"/>
            <a:ext cx="4367213" cy="153828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sure to position the voltmeter across the desired resistor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55" name="Google Shape;1855;p64"/>
          <p:cNvSpPr/>
          <p:nvPr/>
        </p:nvSpPr>
        <p:spPr>
          <a:xfrm>
            <a:off x="674688" y="2003425"/>
            <a:ext cx="7772400" cy="33528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Draw a schematic diagram                        for this circuit: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6" name="Google Shape;1856;p64"/>
          <p:cNvSpPr/>
          <p:nvPr/>
        </p:nvSpPr>
        <p:spPr>
          <a:xfrm>
            <a:off x="671513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voltmeters are connected in parallel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6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58" name="Google Shape;1858;p64"/>
          <p:cNvGrpSpPr/>
          <p:nvPr/>
        </p:nvGrpSpPr>
        <p:grpSpPr>
          <a:xfrm rot="5400000">
            <a:off x="3531303" y="2619282"/>
            <a:ext cx="4276116" cy="2955389"/>
            <a:chOff x="143" y="1238"/>
            <a:chExt cx="2694" cy="1862"/>
          </a:xfrm>
        </p:grpSpPr>
        <p:pic>
          <p:nvPicPr>
            <p:cNvPr descr="resistor" id="1859" name="Google Shape;1859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54076">
              <a:off x="720" y="1384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1860" name="Google Shape;1860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8172334">
              <a:off x="281" y="1832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861" name="Google Shape;1861;p64"/>
            <p:cNvSpPr/>
            <p:nvPr/>
          </p:nvSpPr>
          <p:spPr>
            <a:xfrm>
              <a:off x="597" y="2604"/>
              <a:ext cx="629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64"/>
            <p:cNvSpPr/>
            <p:nvPr/>
          </p:nvSpPr>
          <p:spPr>
            <a:xfrm rot="-2307224">
              <a:off x="558" y="1670"/>
              <a:ext cx="163" cy="112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64"/>
            <p:cNvSpPr/>
            <p:nvPr/>
          </p:nvSpPr>
          <p:spPr>
            <a:xfrm rot="3330927">
              <a:off x="559" y="2536"/>
              <a:ext cx="129" cy="115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1864" name="Google Shape;1864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6653433">
              <a:off x="1276" y="2157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865" name="Google Shape;1865;p64"/>
            <p:cNvSpPr/>
            <p:nvPr/>
          </p:nvSpPr>
          <p:spPr>
            <a:xfrm>
              <a:off x="2031" y="2598"/>
              <a:ext cx="326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1866" name="Google Shape;1866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253433">
              <a:off x="2002" y="1694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1867" name="Google Shape;1867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54076">
              <a:off x="1560" y="1376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868" name="Google Shape;1868;p64"/>
            <p:cNvSpPr/>
            <p:nvPr/>
          </p:nvSpPr>
          <p:spPr>
            <a:xfrm>
              <a:off x="1400" y="1657"/>
              <a:ext cx="150" cy="99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9" name="Google Shape;1869;p64"/>
          <p:cNvGrpSpPr/>
          <p:nvPr/>
        </p:nvGrpSpPr>
        <p:grpSpPr>
          <a:xfrm>
            <a:off x="5393329" y="3952004"/>
            <a:ext cx="3418884" cy="2780584"/>
            <a:chOff x="3397" y="2489"/>
            <a:chExt cx="2154" cy="1752"/>
          </a:xfrm>
        </p:grpSpPr>
        <p:sp>
          <p:nvSpPr>
            <p:cNvPr id="1870" name="Google Shape;1870;p64"/>
            <p:cNvSpPr/>
            <p:nvPr/>
          </p:nvSpPr>
          <p:spPr>
            <a:xfrm>
              <a:off x="3421" y="3115"/>
              <a:ext cx="2130" cy="1126"/>
            </a:xfrm>
            <a:custGeom>
              <a:rect b="b" l="l" r="r" t="t"/>
              <a:pathLst>
                <a:path extrusionOk="0" h="1126" w="2130">
                  <a:moveTo>
                    <a:pt x="96" y="621"/>
                  </a:moveTo>
                  <a:cubicBezTo>
                    <a:pt x="62" y="674"/>
                    <a:pt x="29" y="728"/>
                    <a:pt x="20" y="781"/>
                  </a:cubicBezTo>
                  <a:cubicBezTo>
                    <a:pt x="11" y="834"/>
                    <a:pt x="0" y="897"/>
                    <a:pt x="43" y="940"/>
                  </a:cubicBezTo>
                  <a:cubicBezTo>
                    <a:pt x="86" y="983"/>
                    <a:pt x="98" y="1015"/>
                    <a:pt x="278" y="1038"/>
                  </a:cubicBezTo>
                  <a:cubicBezTo>
                    <a:pt x="458" y="1061"/>
                    <a:pt x="839" y="1077"/>
                    <a:pt x="1126" y="1076"/>
                  </a:cubicBezTo>
                  <a:cubicBezTo>
                    <a:pt x="1413" y="1075"/>
                    <a:pt x="1866" y="1126"/>
                    <a:pt x="1998" y="1031"/>
                  </a:cubicBezTo>
                  <a:cubicBezTo>
                    <a:pt x="2130" y="936"/>
                    <a:pt x="1925" y="637"/>
                    <a:pt x="1915" y="508"/>
                  </a:cubicBezTo>
                  <a:cubicBezTo>
                    <a:pt x="1905" y="379"/>
                    <a:pt x="1933" y="343"/>
                    <a:pt x="1937" y="258"/>
                  </a:cubicBezTo>
                  <a:cubicBezTo>
                    <a:pt x="1941" y="173"/>
                    <a:pt x="1939" y="86"/>
                    <a:pt x="1937" y="0"/>
                  </a:cubicBezTo>
                </a:path>
              </a:pathLst>
            </a:custGeom>
            <a:noFill/>
            <a:ln cap="flat" cmpd="sng" w="762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1" name="Google Shape;1871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9344186">
              <a:off x="3669" y="2473"/>
              <a:ext cx="214" cy="1368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</p:grpSp>
      <p:grpSp>
        <p:nvGrpSpPr>
          <p:cNvPr id="1872" name="Google Shape;1872;p64"/>
          <p:cNvGrpSpPr/>
          <p:nvPr/>
        </p:nvGrpSpPr>
        <p:grpSpPr>
          <a:xfrm>
            <a:off x="5021263" y="2667872"/>
            <a:ext cx="3440112" cy="4177428"/>
            <a:chOff x="3163" y="1681"/>
            <a:chExt cx="2167" cy="2631"/>
          </a:xfrm>
        </p:grpSpPr>
        <p:sp>
          <p:nvSpPr>
            <p:cNvPr id="1873" name="Google Shape;1873;p64"/>
            <p:cNvSpPr/>
            <p:nvPr/>
          </p:nvSpPr>
          <p:spPr>
            <a:xfrm>
              <a:off x="3163" y="2903"/>
              <a:ext cx="2167" cy="1409"/>
            </a:xfrm>
            <a:custGeom>
              <a:rect b="b" l="l" r="r" t="t"/>
              <a:pathLst>
                <a:path extrusionOk="0" h="1409" w="2167">
                  <a:moveTo>
                    <a:pt x="384" y="0"/>
                  </a:moveTo>
                  <a:cubicBezTo>
                    <a:pt x="360" y="54"/>
                    <a:pt x="337" y="109"/>
                    <a:pt x="308" y="166"/>
                  </a:cubicBezTo>
                  <a:cubicBezTo>
                    <a:pt x="279" y="223"/>
                    <a:pt x="253" y="241"/>
                    <a:pt x="210" y="341"/>
                  </a:cubicBezTo>
                  <a:cubicBezTo>
                    <a:pt x="167" y="441"/>
                    <a:pt x="75" y="639"/>
                    <a:pt x="50" y="765"/>
                  </a:cubicBezTo>
                  <a:cubicBezTo>
                    <a:pt x="25" y="891"/>
                    <a:pt x="0" y="1006"/>
                    <a:pt x="58" y="1099"/>
                  </a:cubicBezTo>
                  <a:cubicBezTo>
                    <a:pt x="116" y="1192"/>
                    <a:pt x="175" y="1277"/>
                    <a:pt x="399" y="1326"/>
                  </a:cubicBezTo>
                  <a:cubicBezTo>
                    <a:pt x="623" y="1375"/>
                    <a:pt x="1123" y="1409"/>
                    <a:pt x="1400" y="1394"/>
                  </a:cubicBezTo>
                  <a:cubicBezTo>
                    <a:pt x="1677" y="1379"/>
                    <a:pt x="1951" y="1335"/>
                    <a:pt x="2059" y="1235"/>
                  </a:cubicBezTo>
                  <a:cubicBezTo>
                    <a:pt x="2167" y="1135"/>
                    <a:pt x="2055" y="921"/>
                    <a:pt x="2051" y="796"/>
                  </a:cubicBezTo>
                  <a:cubicBezTo>
                    <a:pt x="2047" y="671"/>
                    <a:pt x="2037" y="572"/>
                    <a:pt x="2036" y="485"/>
                  </a:cubicBezTo>
                  <a:cubicBezTo>
                    <a:pt x="2035" y="398"/>
                    <a:pt x="2039" y="335"/>
                    <a:pt x="2044" y="273"/>
                  </a:cubicBezTo>
                </a:path>
              </a:pathLst>
            </a:cu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4" name="Google Shape;1874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9536525">
              <a:off x="3649" y="1675"/>
              <a:ext cx="223" cy="1366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</p:grpSp>
      <p:grpSp>
        <p:nvGrpSpPr>
          <p:cNvPr id="1875" name="Google Shape;1875;p64"/>
          <p:cNvGrpSpPr/>
          <p:nvPr/>
        </p:nvGrpSpPr>
        <p:grpSpPr>
          <a:xfrm>
            <a:off x="7004050" y="2092325"/>
            <a:ext cx="1966913" cy="3213100"/>
            <a:chOff x="2206" y="1932"/>
            <a:chExt cx="1239" cy="2024"/>
          </a:xfrm>
        </p:grpSpPr>
        <p:pic>
          <p:nvPicPr>
            <p:cNvPr id="1876" name="Google Shape;1876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06" y="1932"/>
              <a:ext cx="1239" cy="202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id="1877" name="Google Shape;1877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-1182849">
              <a:off x="2611" y="2773"/>
              <a:ext cx="417" cy="40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878" name="Google Shape;1878;p64"/>
            <p:cNvSpPr txBox="1"/>
            <p:nvPr/>
          </p:nvSpPr>
          <p:spPr>
            <a:xfrm>
              <a:off x="2400" y="2065"/>
              <a:ext cx="909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4D4D4D"/>
                  </a:solidFill>
                  <a:latin typeface="Arial"/>
                  <a:ea typeface="Arial"/>
                  <a:cs typeface="Arial"/>
                  <a:sym typeface="Arial"/>
                </a:rPr>
                <a:t>1.06</a:t>
              </a:r>
              <a:endParaRPr/>
            </a:p>
          </p:txBody>
        </p:sp>
      </p:grpSp>
      <p:pic>
        <p:nvPicPr>
          <p:cNvPr id="1879" name="Google Shape;1879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93863" y="3252788"/>
            <a:ext cx="12573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0" name="Google Shape;1880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74800" y="4294188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77988" y="4178300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17825" y="4184650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17938" y="4302125"/>
            <a:ext cx="64770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Google Shape;1884;p64"/>
          <p:cNvSpPr/>
          <p:nvPr/>
        </p:nvSpPr>
        <p:spPr>
          <a:xfrm>
            <a:off x="1684338" y="5094288"/>
            <a:ext cx="2466975" cy="420687"/>
          </a:xfrm>
          <a:custGeom>
            <a:rect b="b" l="l" r="r" t="t"/>
            <a:pathLst>
              <a:path extrusionOk="0" h="420914" w="2467429">
                <a:moveTo>
                  <a:pt x="0" y="420914"/>
                </a:moveTo>
                <a:lnTo>
                  <a:pt x="2467429" y="420914"/>
                </a:lnTo>
                <a:lnTo>
                  <a:pt x="2467429" y="0"/>
                </a:lnTo>
              </a:path>
            </a:pathLst>
          </a:cu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65"/>
          <p:cNvSpPr/>
          <p:nvPr/>
        </p:nvSpPr>
        <p:spPr>
          <a:xfrm>
            <a:off x="674688" y="1971675"/>
            <a:ext cx="7772400" cy="48863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battery’s voltage is measured                                      as shown.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What is the uncertainty in                                             it’s measurement?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∙For digital devices always use                                              the place value of the least                               significant digit as your raw uncertainty.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∙For this voltmeter the voltage is measured                       to the tenths place so we give the raw                   uncertainty a value of 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±0.1 V.</a:t>
            </a:r>
            <a:endParaRPr/>
          </a:p>
        </p:txBody>
      </p:sp>
      <p:sp>
        <p:nvSpPr>
          <p:cNvPr id="1891" name="Google Shape;1891;p65"/>
          <p:cNvSpPr/>
          <p:nvPr/>
        </p:nvSpPr>
        <p:spPr>
          <a:xfrm>
            <a:off x="671513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voltmeters are connected in parallel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6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3" name="Google Shape;1893;p65"/>
          <p:cNvSpPr/>
          <p:nvPr/>
        </p:nvSpPr>
        <p:spPr>
          <a:xfrm>
            <a:off x="6600825" y="508000"/>
            <a:ext cx="1700213" cy="5411788"/>
          </a:xfrm>
          <a:custGeom>
            <a:rect b="b" l="l" r="r" t="t"/>
            <a:pathLst>
              <a:path extrusionOk="0" h="3409" w="1071">
                <a:moveTo>
                  <a:pt x="10" y="2924"/>
                </a:moveTo>
                <a:cubicBezTo>
                  <a:pt x="10" y="2976"/>
                  <a:pt x="10" y="3018"/>
                  <a:pt x="10" y="3068"/>
                </a:cubicBezTo>
                <a:cubicBezTo>
                  <a:pt x="10" y="3118"/>
                  <a:pt x="0" y="3179"/>
                  <a:pt x="10" y="3227"/>
                </a:cubicBezTo>
                <a:cubicBezTo>
                  <a:pt x="20" y="3275"/>
                  <a:pt x="32" y="3409"/>
                  <a:pt x="71" y="3356"/>
                </a:cubicBezTo>
                <a:cubicBezTo>
                  <a:pt x="110" y="3303"/>
                  <a:pt x="139" y="3397"/>
                  <a:pt x="245" y="2909"/>
                </a:cubicBezTo>
                <a:cubicBezTo>
                  <a:pt x="351" y="2421"/>
                  <a:pt x="598" y="860"/>
                  <a:pt x="708" y="430"/>
                </a:cubicBezTo>
                <a:cubicBezTo>
                  <a:pt x="818" y="0"/>
                  <a:pt x="863" y="286"/>
                  <a:pt x="905" y="332"/>
                </a:cubicBezTo>
                <a:cubicBezTo>
                  <a:pt x="947" y="378"/>
                  <a:pt x="942" y="610"/>
                  <a:pt x="958" y="703"/>
                </a:cubicBezTo>
                <a:cubicBezTo>
                  <a:pt x="974" y="796"/>
                  <a:pt x="984" y="824"/>
                  <a:pt x="1003" y="893"/>
                </a:cubicBezTo>
                <a:cubicBezTo>
                  <a:pt x="1022" y="962"/>
                  <a:pt x="1046" y="1041"/>
                  <a:pt x="1071" y="1120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65"/>
          <p:cNvSpPr/>
          <p:nvPr/>
        </p:nvSpPr>
        <p:spPr>
          <a:xfrm>
            <a:off x="6818313" y="15875"/>
            <a:ext cx="1949450" cy="6397625"/>
          </a:xfrm>
          <a:custGeom>
            <a:rect b="b" l="l" r="r" t="t"/>
            <a:pathLst>
              <a:path extrusionOk="0" h="4030" w="1228">
                <a:moveTo>
                  <a:pt x="25" y="3166"/>
                </a:moveTo>
                <a:cubicBezTo>
                  <a:pt x="25" y="3226"/>
                  <a:pt x="25" y="3286"/>
                  <a:pt x="25" y="3340"/>
                </a:cubicBezTo>
                <a:cubicBezTo>
                  <a:pt x="25" y="3394"/>
                  <a:pt x="24" y="3432"/>
                  <a:pt x="25" y="3491"/>
                </a:cubicBezTo>
                <a:cubicBezTo>
                  <a:pt x="26" y="3550"/>
                  <a:pt x="0" y="3615"/>
                  <a:pt x="33" y="3696"/>
                </a:cubicBezTo>
                <a:cubicBezTo>
                  <a:pt x="66" y="3777"/>
                  <a:pt x="139" y="4030"/>
                  <a:pt x="222" y="3977"/>
                </a:cubicBezTo>
                <a:cubicBezTo>
                  <a:pt x="305" y="3924"/>
                  <a:pt x="375" y="3934"/>
                  <a:pt x="533" y="3378"/>
                </a:cubicBezTo>
                <a:cubicBezTo>
                  <a:pt x="691" y="2822"/>
                  <a:pt x="1110" y="1203"/>
                  <a:pt x="1169" y="642"/>
                </a:cubicBezTo>
                <a:cubicBezTo>
                  <a:pt x="1228" y="81"/>
                  <a:pt x="1014" y="26"/>
                  <a:pt x="889" y="13"/>
                </a:cubicBezTo>
                <a:cubicBezTo>
                  <a:pt x="764" y="0"/>
                  <a:pt x="493" y="387"/>
                  <a:pt x="419" y="566"/>
                </a:cubicBezTo>
                <a:cubicBezTo>
                  <a:pt x="345" y="745"/>
                  <a:pt x="422" y="945"/>
                  <a:pt x="442" y="1089"/>
                </a:cubicBezTo>
                <a:cubicBezTo>
                  <a:pt x="462" y="1233"/>
                  <a:pt x="520" y="1359"/>
                  <a:pt x="540" y="1430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4086" id="1895" name="Google Shape;18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0763" y="3852863"/>
            <a:ext cx="1982787" cy="26431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896" name="Google Shape;189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719435">
            <a:off x="7700963" y="2060575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897" name="Google Shape;1897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739608">
            <a:off x="8320088" y="2032000"/>
            <a:ext cx="354012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898" name="Google Shape;1898;p65"/>
          <p:cNvSpPr txBox="1"/>
          <p:nvPr/>
        </p:nvSpPr>
        <p:spPr>
          <a:xfrm rot="-3872808">
            <a:off x="6321425" y="5937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tenths place</a:t>
            </a:r>
            <a:endParaRPr/>
          </a:p>
        </p:txBody>
      </p:sp>
      <p:pic>
        <p:nvPicPr>
          <p:cNvPr id="1899" name="Google Shape;189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5113" y="1976438"/>
            <a:ext cx="1966912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00" name="Google Shape;1900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8400">
            <a:off x="5988050" y="3311525"/>
            <a:ext cx="661988" cy="63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65"/>
          <p:cNvSpPr txBox="1"/>
          <p:nvPr/>
        </p:nvSpPr>
        <p:spPr>
          <a:xfrm>
            <a:off x="5653088" y="2187575"/>
            <a:ext cx="14430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09.4</a:t>
            </a:r>
            <a:endParaRPr/>
          </a:p>
        </p:txBody>
      </p:sp>
      <p:sp>
        <p:nvSpPr>
          <p:cNvPr id="1902" name="Google Shape;1902;p65"/>
          <p:cNvSpPr txBox="1"/>
          <p:nvPr/>
        </p:nvSpPr>
        <p:spPr>
          <a:xfrm>
            <a:off x="5665788" y="2187575"/>
            <a:ext cx="14430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00.0</a:t>
            </a:r>
            <a:endParaRPr/>
          </a:p>
        </p:txBody>
      </p:sp>
      <p:sp>
        <p:nvSpPr>
          <p:cNvPr id="1903" name="Google Shape;1903;p65"/>
          <p:cNvSpPr/>
          <p:nvPr/>
        </p:nvSpPr>
        <p:spPr>
          <a:xfrm>
            <a:off x="6373360" y="2262188"/>
            <a:ext cx="258762" cy="444500"/>
          </a:xfrm>
          <a:prstGeom prst="rect">
            <a:avLst/>
          </a:prstGeom>
          <a:solidFill>
            <a:srgbClr val="FF0000">
              <a:alpha val="3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9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66"/>
          <p:cNvSpPr/>
          <p:nvPr/>
        </p:nvSpPr>
        <p:spPr>
          <a:xfrm>
            <a:off x="682625" y="5630863"/>
            <a:ext cx="7753350" cy="12271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using a voltmeter the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lead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                     placed at the point of highest potential. </a:t>
            </a:r>
            <a:endParaRPr/>
          </a:p>
        </p:txBody>
      </p:sp>
      <p:sp>
        <p:nvSpPr>
          <p:cNvPr id="1910" name="Google Shape;1910;p66"/>
          <p:cNvSpPr/>
          <p:nvPr/>
        </p:nvSpPr>
        <p:spPr>
          <a:xfrm>
            <a:off x="674688" y="1974850"/>
            <a:ext cx="7772400" cy="36861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battery’s voltage is measured                                      as shown.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What is the fractional error in                                      this measurement?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 Fractional error is                                         just 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For this particular                              measurement we then have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9.4 = 0.011 (or 1.1%).</a:t>
            </a:r>
            <a:endParaRPr/>
          </a:p>
        </p:txBody>
      </p:sp>
      <p:sp>
        <p:nvSpPr>
          <p:cNvPr id="1911" name="Google Shape;1911;p66"/>
          <p:cNvSpPr/>
          <p:nvPr/>
        </p:nvSpPr>
        <p:spPr>
          <a:xfrm>
            <a:off x="671513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voltmeters are connected in parallel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6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3" name="Google Shape;1913;p66"/>
          <p:cNvSpPr/>
          <p:nvPr/>
        </p:nvSpPr>
        <p:spPr>
          <a:xfrm>
            <a:off x="6600825" y="508000"/>
            <a:ext cx="1700213" cy="5411788"/>
          </a:xfrm>
          <a:custGeom>
            <a:rect b="b" l="l" r="r" t="t"/>
            <a:pathLst>
              <a:path extrusionOk="0" h="3409" w="1071">
                <a:moveTo>
                  <a:pt x="10" y="2924"/>
                </a:moveTo>
                <a:cubicBezTo>
                  <a:pt x="10" y="2976"/>
                  <a:pt x="10" y="3018"/>
                  <a:pt x="10" y="3068"/>
                </a:cubicBezTo>
                <a:cubicBezTo>
                  <a:pt x="10" y="3118"/>
                  <a:pt x="0" y="3179"/>
                  <a:pt x="10" y="3227"/>
                </a:cubicBezTo>
                <a:cubicBezTo>
                  <a:pt x="20" y="3275"/>
                  <a:pt x="32" y="3409"/>
                  <a:pt x="71" y="3356"/>
                </a:cubicBezTo>
                <a:cubicBezTo>
                  <a:pt x="110" y="3303"/>
                  <a:pt x="139" y="3397"/>
                  <a:pt x="245" y="2909"/>
                </a:cubicBezTo>
                <a:cubicBezTo>
                  <a:pt x="351" y="2421"/>
                  <a:pt x="598" y="860"/>
                  <a:pt x="708" y="430"/>
                </a:cubicBezTo>
                <a:cubicBezTo>
                  <a:pt x="818" y="0"/>
                  <a:pt x="863" y="286"/>
                  <a:pt x="905" y="332"/>
                </a:cubicBezTo>
                <a:cubicBezTo>
                  <a:pt x="947" y="378"/>
                  <a:pt x="942" y="610"/>
                  <a:pt x="958" y="703"/>
                </a:cubicBezTo>
                <a:cubicBezTo>
                  <a:pt x="974" y="796"/>
                  <a:pt x="984" y="824"/>
                  <a:pt x="1003" y="893"/>
                </a:cubicBezTo>
                <a:cubicBezTo>
                  <a:pt x="1022" y="962"/>
                  <a:pt x="1046" y="1041"/>
                  <a:pt x="1071" y="1120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66"/>
          <p:cNvSpPr/>
          <p:nvPr/>
        </p:nvSpPr>
        <p:spPr>
          <a:xfrm>
            <a:off x="6811963" y="15875"/>
            <a:ext cx="1968500" cy="6148388"/>
          </a:xfrm>
          <a:custGeom>
            <a:rect b="b" l="l" r="r" t="t"/>
            <a:pathLst>
              <a:path extrusionOk="0" h="3873" w="1240">
                <a:moveTo>
                  <a:pt x="29" y="3166"/>
                </a:moveTo>
                <a:cubicBezTo>
                  <a:pt x="29" y="3226"/>
                  <a:pt x="29" y="3286"/>
                  <a:pt x="29" y="3340"/>
                </a:cubicBezTo>
                <a:cubicBezTo>
                  <a:pt x="29" y="3394"/>
                  <a:pt x="28" y="3432"/>
                  <a:pt x="29" y="3491"/>
                </a:cubicBezTo>
                <a:cubicBezTo>
                  <a:pt x="30" y="3550"/>
                  <a:pt x="0" y="3643"/>
                  <a:pt x="37" y="3696"/>
                </a:cubicBezTo>
                <a:cubicBezTo>
                  <a:pt x="74" y="3749"/>
                  <a:pt x="173" y="3873"/>
                  <a:pt x="249" y="3810"/>
                </a:cubicBezTo>
                <a:cubicBezTo>
                  <a:pt x="325" y="3747"/>
                  <a:pt x="337" y="3845"/>
                  <a:pt x="491" y="3317"/>
                </a:cubicBezTo>
                <a:cubicBezTo>
                  <a:pt x="645" y="2789"/>
                  <a:pt x="1106" y="1193"/>
                  <a:pt x="1173" y="642"/>
                </a:cubicBezTo>
                <a:cubicBezTo>
                  <a:pt x="1240" y="91"/>
                  <a:pt x="1018" y="26"/>
                  <a:pt x="893" y="13"/>
                </a:cubicBezTo>
                <a:cubicBezTo>
                  <a:pt x="768" y="0"/>
                  <a:pt x="497" y="387"/>
                  <a:pt x="423" y="566"/>
                </a:cubicBezTo>
                <a:cubicBezTo>
                  <a:pt x="349" y="745"/>
                  <a:pt x="426" y="945"/>
                  <a:pt x="446" y="1089"/>
                </a:cubicBezTo>
                <a:cubicBezTo>
                  <a:pt x="466" y="1233"/>
                  <a:pt x="524" y="1359"/>
                  <a:pt x="544" y="1430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4086" id="1915" name="Google Shape;191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0763" y="3852863"/>
            <a:ext cx="1982787" cy="26431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16" name="Google Shape;191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719435">
            <a:off x="7700963" y="2060575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17" name="Google Shape;1917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739608">
            <a:off x="8320088" y="2032000"/>
            <a:ext cx="354012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18" name="Google Shape;1918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3525" y="1976438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19" name="Google Shape;1919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1182849">
            <a:off x="5986463" y="3311525"/>
            <a:ext cx="661987" cy="63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66"/>
          <p:cNvSpPr txBox="1"/>
          <p:nvPr/>
        </p:nvSpPr>
        <p:spPr>
          <a:xfrm>
            <a:off x="5665788" y="2187575"/>
            <a:ext cx="14430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09.4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6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voltmeters are connected in parallel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∙Consider the simple circuit of battery, lamp, and wire.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∙To measure the                                                        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voltage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                                                              circuit we merely                                                         connect the                                                                voltmeter while                                                                  the circuit is                                                                          in operation.</a:t>
            </a:r>
            <a:endParaRPr/>
          </a:p>
        </p:txBody>
      </p:sp>
      <p:sp>
        <p:nvSpPr>
          <p:cNvPr id="1927" name="Google Shape;1927;p67"/>
          <p:cNvSpPr/>
          <p:nvPr/>
        </p:nvSpPr>
        <p:spPr>
          <a:xfrm>
            <a:off x="4508500" y="5907088"/>
            <a:ext cx="2217738" cy="814387"/>
          </a:xfrm>
          <a:custGeom>
            <a:rect b="b" l="l" r="r" t="t"/>
            <a:pathLst>
              <a:path extrusionOk="0" h="513" w="1397">
                <a:moveTo>
                  <a:pt x="17" y="0"/>
                </a:moveTo>
                <a:cubicBezTo>
                  <a:pt x="12" y="59"/>
                  <a:pt x="7" y="119"/>
                  <a:pt x="17" y="190"/>
                </a:cubicBezTo>
                <a:cubicBezTo>
                  <a:pt x="27" y="261"/>
                  <a:pt x="0" y="372"/>
                  <a:pt x="78" y="425"/>
                </a:cubicBezTo>
                <a:cubicBezTo>
                  <a:pt x="156" y="478"/>
                  <a:pt x="324" y="503"/>
                  <a:pt x="487" y="508"/>
                </a:cubicBezTo>
                <a:cubicBezTo>
                  <a:pt x="650" y="513"/>
                  <a:pt x="904" y="486"/>
                  <a:pt x="1056" y="455"/>
                </a:cubicBezTo>
                <a:cubicBezTo>
                  <a:pt x="1208" y="424"/>
                  <a:pt x="1302" y="371"/>
                  <a:pt x="1397" y="319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67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9" name="Google Shape;1929;p67"/>
          <p:cNvSpPr/>
          <p:nvPr/>
        </p:nvSpPr>
        <p:spPr>
          <a:xfrm>
            <a:off x="6267450" y="5422900"/>
            <a:ext cx="2654300" cy="952500"/>
          </a:xfrm>
          <a:custGeom>
            <a:rect b="b" l="l" r="r" t="t"/>
            <a:pathLst>
              <a:path extrusionOk="0" h="600" w="1672">
                <a:moveTo>
                  <a:pt x="0" y="0"/>
                </a:moveTo>
                <a:cubicBezTo>
                  <a:pt x="0" y="41"/>
                  <a:pt x="0" y="83"/>
                  <a:pt x="23" y="137"/>
                </a:cubicBezTo>
                <a:cubicBezTo>
                  <a:pt x="46" y="191"/>
                  <a:pt x="71" y="262"/>
                  <a:pt x="137" y="326"/>
                </a:cubicBezTo>
                <a:cubicBezTo>
                  <a:pt x="203" y="390"/>
                  <a:pt x="270" y="478"/>
                  <a:pt x="417" y="523"/>
                </a:cubicBezTo>
                <a:cubicBezTo>
                  <a:pt x="564" y="568"/>
                  <a:pt x="824" y="600"/>
                  <a:pt x="1016" y="599"/>
                </a:cubicBezTo>
                <a:cubicBezTo>
                  <a:pt x="1208" y="598"/>
                  <a:pt x="1466" y="568"/>
                  <a:pt x="1569" y="516"/>
                </a:cubicBezTo>
                <a:cubicBezTo>
                  <a:pt x="1672" y="464"/>
                  <a:pt x="1646" y="364"/>
                  <a:pt x="1637" y="288"/>
                </a:cubicBezTo>
                <a:cubicBezTo>
                  <a:pt x="1628" y="212"/>
                  <a:pt x="1572" y="136"/>
                  <a:pt x="1516" y="61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ttery" id="1930" name="Google Shape;193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1088" y="3594100"/>
            <a:ext cx="1624012" cy="21320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200px-Gluehlampe_01_KMJ" id="1931" name="Google Shape;193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8013" y="3476625"/>
            <a:ext cx="1198562" cy="19891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32" name="Google Shape;1932;p67"/>
          <p:cNvSpPr/>
          <p:nvPr/>
        </p:nvSpPr>
        <p:spPr>
          <a:xfrm>
            <a:off x="5753100" y="3497263"/>
            <a:ext cx="1108075" cy="1203325"/>
          </a:xfrm>
          <a:prstGeom prst="ellipse">
            <a:avLst/>
          </a:prstGeom>
          <a:solidFill>
            <a:srgbClr val="FFFF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67"/>
          <p:cNvSpPr/>
          <p:nvPr/>
        </p:nvSpPr>
        <p:spPr>
          <a:xfrm>
            <a:off x="6303963" y="3270250"/>
            <a:ext cx="1600200" cy="2001838"/>
          </a:xfrm>
          <a:custGeom>
            <a:rect b="b" l="l" r="r" t="t"/>
            <a:pathLst>
              <a:path extrusionOk="0" h="1261" w="1008">
                <a:moveTo>
                  <a:pt x="0" y="1205"/>
                </a:moveTo>
                <a:cubicBezTo>
                  <a:pt x="83" y="1233"/>
                  <a:pt x="167" y="1261"/>
                  <a:pt x="258" y="1212"/>
                </a:cubicBezTo>
                <a:cubicBezTo>
                  <a:pt x="349" y="1163"/>
                  <a:pt x="491" y="1089"/>
                  <a:pt x="546" y="909"/>
                </a:cubicBezTo>
                <a:cubicBezTo>
                  <a:pt x="601" y="729"/>
                  <a:pt x="535" y="258"/>
                  <a:pt x="591" y="129"/>
                </a:cubicBezTo>
                <a:cubicBezTo>
                  <a:pt x="647" y="0"/>
                  <a:pt x="810" y="108"/>
                  <a:pt x="879" y="136"/>
                </a:cubicBezTo>
                <a:cubicBezTo>
                  <a:pt x="948" y="164"/>
                  <a:pt x="978" y="229"/>
                  <a:pt x="1008" y="295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4" name="Google Shape;1934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6694482">
            <a:off x="7382670" y="4987131"/>
            <a:ext cx="354012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35" name="Google Shape;1935;p67"/>
          <p:cNvSpPr/>
          <p:nvPr/>
        </p:nvSpPr>
        <p:spPr>
          <a:xfrm>
            <a:off x="4735513" y="3206750"/>
            <a:ext cx="1304925" cy="3443288"/>
          </a:xfrm>
          <a:custGeom>
            <a:rect b="b" l="l" r="r" t="t"/>
            <a:pathLst>
              <a:path extrusionOk="0" h="2169" w="822">
                <a:moveTo>
                  <a:pt x="33" y="1739"/>
                </a:moveTo>
                <a:cubicBezTo>
                  <a:pt x="30" y="1800"/>
                  <a:pt x="27" y="1861"/>
                  <a:pt x="33" y="1913"/>
                </a:cubicBezTo>
                <a:cubicBezTo>
                  <a:pt x="39" y="1965"/>
                  <a:pt x="0" y="2025"/>
                  <a:pt x="71" y="2050"/>
                </a:cubicBezTo>
                <a:cubicBezTo>
                  <a:pt x="142" y="2075"/>
                  <a:pt x="368" y="2169"/>
                  <a:pt x="458" y="2065"/>
                </a:cubicBezTo>
                <a:cubicBezTo>
                  <a:pt x="548" y="1961"/>
                  <a:pt x="611" y="1663"/>
                  <a:pt x="609" y="1428"/>
                </a:cubicBezTo>
                <a:cubicBezTo>
                  <a:pt x="607" y="1193"/>
                  <a:pt x="483" y="871"/>
                  <a:pt x="443" y="655"/>
                </a:cubicBezTo>
                <a:cubicBezTo>
                  <a:pt x="403" y="439"/>
                  <a:pt x="367" y="238"/>
                  <a:pt x="367" y="132"/>
                </a:cubicBezTo>
                <a:cubicBezTo>
                  <a:pt x="367" y="26"/>
                  <a:pt x="408" y="38"/>
                  <a:pt x="443" y="19"/>
                </a:cubicBezTo>
                <a:cubicBezTo>
                  <a:pt x="478" y="0"/>
                  <a:pt x="541" y="8"/>
                  <a:pt x="579" y="19"/>
                </a:cubicBezTo>
                <a:cubicBezTo>
                  <a:pt x="617" y="30"/>
                  <a:pt x="630" y="73"/>
                  <a:pt x="670" y="87"/>
                </a:cubicBezTo>
                <a:cubicBezTo>
                  <a:pt x="710" y="101"/>
                  <a:pt x="766" y="101"/>
                  <a:pt x="822" y="102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6" name="Google Shape;1936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3425" y="2978150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37" name="Google Shape;1937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8400">
            <a:off x="3916363" y="4313238"/>
            <a:ext cx="661987" cy="6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8" name="Google Shape;1938;p67"/>
          <p:cNvSpPr txBox="1"/>
          <p:nvPr/>
        </p:nvSpPr>
        <p:spPr>
          <a:xfrm>
            <a:off x="3581400" y="3189288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01.6</a:t>
            </a:r>
            <a:endParaRPr/>
          </a:p>
        </p:txBody>
      </p:sp>
      <p:sp>
        <p:nvSpPr>
          <p:cNvPr id="1939" name="Google Shape;1939;p67"/>
          <p:cNvSpPr txBox="1"/>
          <p:nvPr/>
        </p:nvSpPr>
        <p:spPr>
          <a:xfrm>
            <a:off x="3594100" y="3190875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00.0</a:t>
            </a:r>
            <a:endParaRPr/>
          </a:p>
        </p:txBody>
      </p:sp>
      <p:pic>
        <p:nvPicPr>
          <p:cNvPr id="1940" name="Google Shape;1940;p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4709722">
            <a:off x="6713537" y="2465388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41" name="Google Shape;1941;p67"/>
          <p:cNvSpPr txBox="1"/>
          <p:nvPr/>
        </p:nvSpPr>
        <p:spPr>
          <a:xfrm>
            <a:off x="1576388" y="6427788"/>
            <a:ext cx="6429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endParaRPr/>
          </a:p>
        </p:txBody>
      </p:sp>
      <p:sp>
        <p:nvSpPr>
          <p:cNvPr id="1942" name="Google Shape;1942;p67"/>
          <p:cNvSpPr txBox="1"/>
          <p:nvPr/>
        </p:nvSpPr>
        <p:spPr>
          <a:xfrm>
            <a:off x="696913" y="6429375"/>
            <a:ext cx="846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lamp</a:t>
            </a:r>
            <a:endParaRPr/>
          </a:p>
        </p:txBody>
      </p:sp>
      <p:sp>
        <p:nvSpPr>
          <p:cNvPr id="1943" name="Google Shape;1943;p67"/>
          <p:cNvSpPr txBox="1"/>
          <p:nvPr/>
        </p:nvSpPr>
        <p:spPr>
          <a:xfrm>
            <a:off x="2792413" y="6156325"/>
            <a:ext cx="1438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voltmeter</a:t>
            </a:r>
            <a:endParaRPr/>
          </a:p>
        </p:txBody>
      </p:sp>
      <p:sp>
        <p:nvSpPr>
          <p:cNvPr id="1944" name="Google Shape;1944;p67"/>
          <p:cNvSpPr txBox="1"/>
          <p:nvPr/>
        </p:nvSpPr>
        <p:spPr>
          <a:xfrm>
            <a:off x="2786063" y="6461125"/>
            <a:ext cx="14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parallel</a:t>
            </a:r>
            <a:endParaRPr/>
          </a:p>
        </p:txBody>
      </p:sp>
      <p:grpSp>
        <p:nvGrpSpPr>
          <p:cNvPr id="1945" name="Google Shape;1945;p67"/>
          <p:cNvGrpSpPr/>
          <p:nvPr/>
        </p:nvGrpSpPr>
        <p:grpSpPr>
          <a:xfrm>
            <a:off x="1909763" y="5695950"/>
            <a:ext cx="171450" cy="171450"/>
            <a:chOff x="1761" y="2415"/>
            <a:chExt cx="108" cy="108"/>
          </a:xfrm>
        </p:grpSpPr>
        <p:sp>
          <p:nvSpPr>
            <p:cNvPr id="1946" name="Google Shape;1946;p67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7" name="Google Shape;1947;p67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8" name="Google Shape;1948;p67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49" name="Google Shape;1949;p67"/>
          <p:cNvGrpSpPr/>
          <p:nvPr/>
        </p:nvGrpSpPr>
        <p:grpSpPr>
          <a:xfrm>
            <a:off x="1912938" y="5710238"/>
            <a:ext cx="171450" cy="171450"/>
            <a:chOff x="1761" y="2415"/>
            <a:chExt cx="108" cy="108"/>
          </a:xfrm>
        </p:grpSpPr>
        <p:sp>
          <p:nvSpPr>
            <p:cNvPr id="1950" name="Google Shape;1950;p67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1" name="Google Shape;1951;p67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2" name="Google Shape;1952;p67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953" name="Google Shape;1953;p6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70050" y="5368925"/>
            <a:ext cx="6381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6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4075" y="5368925"/>
            <a:ext cx="1162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6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76438" y="5326063"/>
            <a:ext cx="1038225" cy="1228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6" name="Google Shape;1956;p67"/>
          <p:cNvGrpSpPr/>
          <p:nvPr/>
        </p:nvGrpSpPr>
        <p:grpSpPr>
          <a:xfrm>
            <a:off x="7793718" y="3591445"/>
            <a:ext cx="171450" cy="171450"/>
            <a:chOff x="1761" y="2415"/>
            <a:chExt cx="108" cy="108"/>
          </a:xfrm>
        </p:grpSpPr>
        <p:sp>
          <p:nvSpPr>
            <p:cNvPr id="1957" name="Google Shape;1957;p67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8" name="Google Shape;1958;p67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9" name="Google Shape;1959;p67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0" name="Google Shape;1960;p67"/>
          <p:cNvGrpSpPr/>
          <p:nvPr/>
        </p:nvGrpSpPr>
        <p:grpSpPr>
          <a:xfrm>
            <a:off x="7692118" y="3663989"/>
            <a:ext cx="171450" cy="171450"/>
            <a:chOff x="1761" y="2415"/>
            <a:chExt cx="108" cy="108"/>
          </a:xfrm>
        </p:grpSpPr>
        <p:sp>
          <p:nvSpPr>
            <p:cNvPr id="1961" name="Google Shape;1961;p67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2" name="Google Shape;1962;p67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3" name="Google Shape;1963;p67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9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6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ammeters are connected in series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∙To measure 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circuit we must break the circuit and insert the ammeter so that it intercepts all of the electrons                                                                  that normally                                                                    travel through                                                                     the circuit.                                    </a:t>
            </a:r>
            <a:endParaRPr/>
          </a:p>
        </p:txBody>
      </p:sp>
      <p:sp>
        <p:nvSpPr>
          <p:cNvPr id="1970" name="Google Shape;1970;p68"/>
          <p:cNvSpPr/>
          <p:nvPr/>
        </p:nvSpPr>
        <p:spPr>
          <a:xfrm>
            <a:off x="4508500" y="5907088"/>
            <a:ext cx="4502150" cy="809625"/>
          </a:xfrm>
          <a:custGeom>
            <a:rect b="b" l="l" r="r" t="t"/>
            <a:pathLst>
              <a:path extrusionOk="0" h="510" w="2836">
                <a:moveTo>
                  <a:pt x="17" y="0"/>
                </a:moveTo>
                <a:cubicBezTo>
                  <a:pt x="12" y="59"/>
                  <a:pt x="7" y="119"/>
                  <a:pt x="17" y="190"/>
                </a:cubicBezTo>
                <a:cubicBezTo>
                  <a:pt x="27" y="261"/>
                  <a:pt x="0" y="372"/>
                  <a:pt x="78" y="425"/>
                </a:cubicBezTo>
                <a:cubicBezTo>
                  <a:pt x="156" y="478"/>
                  <a:pt x="78" y="506"/>
                  <a:pt x="487" y="508"/>
                </a:cubicBezTo>
                <a:cubicBezTo>
                  <a:pt x="896" y="510"/>
                  <a:pt x="2230" y="495"/>
                  <a:pt x="2533" y="440"/>
                </a:cubicBezTo>
                <a:cubicBezTo>
                  <a:pt x="2836" y="385"/>
                  <a:pt x="2353" y="230"/>
                  <a:pt x="2306" y="175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68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2" name="Google Shape;1972;p68"/>
          <p:cNvSpPr/>
          <p:nvPr/>
        </p:nvSpPr>
        <p:spPr>
          <a:xfrm>
            <a:off x="6267450" y="5422900"/>
            <a:ext cx="2654300" cy="952500"/>
          </a:xfrm>
          <a:custGeom>
            <a:rect b="b" l="l" r="r" t="t"/>
            <a:pathLst>
              <a:path extrusionOk="0" h="600" w="1672">
                <a:moveTo>
                  <a:pt x="0" y="0"/>
                </a:moveTo>
                <a:cubicBezTo>
                  <a:pt x="0" y="41"/>
                  <a:pt x="0" y="83"/>
                  <a:pt x="23" y="137"/>
                </a:cubicBezTo>
                <a:cubicBezTo>
                  <a:pt x="46" y="191"/>
                  <a:pt x="71" y="262"/>
                  <a:pt x="137" y="326"/>
                </a:cubicBezTo>
                <a:cubicBezTo>
                  <a:pt x="203" y="390"/>
                  <a:pt x="270" y="478"/>
                  <a:pt x="417" y="523"/>
                </a:cubicBezTo>
                <a:cubicBezTo>
                  <a:pt x="564" y="568"/>
                  <a:pt x="824" y="600"/>
                  <a:pt x="1016" y="599"/>
                </a:cubicBezTo>
                <a:cubicBezTo>
                  <a:pt x="1208" y="598"/>
                  <a:pt x="1466" y="568"/>
                  <a:pt x="1569" y="516"/>
                </a:cubicBezTo>
                <a:cubicBezTo>
                  <a:pt x="1672" y="464"/>
                  <a:pt x="1646" y="364"/>
                  <a:pt x="1637" y="288"/>
                </a:cubicBezTo>
                <a:cubicBezTo>
                  <a:pt x="1628" y="212"/>
                  <a:pt x="1572" y="136"/>
                  <a:pt x="1516" y="61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ttery" id="1973" name="Google Shape;197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1088" y="3594100"/>
            <a:ext cx="1624012" cy="21320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200px-Gluehlampe_01_KMJ" id="1974" name="Google Shape;197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8013" y="3476625"/>
            <a:ext cx="1198562" cy="19891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75" name="Google Shape;1975;p68"/>
          <p:cNvSpPr/>
          <p:nvPr/>
        </p:nvSpPr>
        <p:spPr>
          <a:xfrm>
            <a:off x="5753100" y="3497263"/>
            <a:ext cx="1108075" cy="1203325"/>
          </a:xfrm>
          <a:prstGeom prst="ellipse">
            <a:avLst/>
          </a:prstGeom>
          <a:solidFill>
            <a:srgbClr val="FFFF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68"/>
          <p:cNvSpPr/>
          <p:nvPr/>
        </p:nvSpPr>
        <p:spPr>
          <a:xfrm>
            <a:off x="6303963" y="3270250"/>
            <a:ext cx="1600200" cy="2001838"/>
          </a:xfrm>
          <a:custGeom>
            <a:rect b="b" l="l" r="r" t="t"/>
            <a:pathLst>
              <a:path extrusionOk="0" h="1261" w="1008">
                <a:moveTo>
                  <a:pt x="0" y="1205"/>
                </a:moveTo>
                <a:cubicBezTo>
                  <a:pt x="83" y="1233"/>
                  <a:pt x="167" y="1261"/>
                  <a:pt x="258" y="1212"/>
                </a:cubicBezTo>
                <a:cubicBezTo>
                  <a:pt x="349" y="1163"/>
                  <a:pt x="491" y="1089"/>
                  <a:pt x="546" y="909"/>
                </a:cubicBezTo>
                <a:cubicBezTo>
                  <a:pt x="601" y="729"/>
                  <a:pt x="535" y="258"/>
                  <a:pt x="591" y="129"/>
                </a:cubicBezTo>
                <a:cubicBezTo>
                  <a:pt x="647" y="0"/>
                  <a:pt x="810" y="108"/>
                  <a:pt x="879" y="136"/>
                </a:cubicBezTo>
                <a:cubicBezTo>
                  <a:pt x="948" y="164"/>
                  <a:pt x="978" y="229"/>
                  <a:pt x="1008" y="295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7" name="Google Shape;1977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7135858">
            <a:off x="7179469" y="4683919"/>
            <a:ext cx="354013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78" name="Google Shape;1978;p68"/>
          <p:cNvSpPr/>
          <p:nvPr/>
        </p:nvSpPr>
        <p:spPr>
          <a:xfrm>
            <a:off x="4735513" y="3206750"/>
            <a:ext cx="1304925" cy="3443288"/>
          </a:xfrm>
          <a:custGeom>
            <a:rect b="b" l="l" r="r" t="t"/>
            <a:pathLst>
              <a:path extrusionOk="0" h="2169" w="822">
                <a:moveTo>
                  <a:pt x="33" y="1739"/>
                </a:moveTo>
                <a:cubicBezTo>
                  <a:pt x="30" y="1800"/>
                  <a:pt x="27" y="1861"/>
                  <a:pt x="33" y="1913"/>
                </a:cubicBezTo>
                <a:cubicBezTo>
                  <a:pt x="39" y="1965"/>
                  <a:pt x="0" y="2025"/>
                  <a:pt x="71" y="2050"/>
                </a:cubicBezTo>
                <a:cubicBezTo>
                  <a:pt x="142" y="2075"/>
                  <a:pt x="368" y="2169"/>
                  <a:pt x="458" y="2065"/>
                </a:cubicBezTo>
                <a:cubicBezTo>
                  <a:pt x="548" y="1961"/>
                  <a:pt x="611" y="1663"/>
                  <a:pt x="609" y="1428"/>
                </a:cubicBezTo>
                <a:cubicBezTo>
                  <a:pt x="607" y="1193"/>
                  <a:pt x="483" y="871"/>
                  <a:pt x="443" y="655"/>
                </a:cubicBezTo>
                <a:cubicBezTo>
                  <a:pt x="403" y="439"/>
                  <a:pt x="367" y="238"/>
                  <a:pt x="367" y="132"/>
                </a:cubicBezTo>
                <a:cubicBezTo>
                  <a:pt x="367" y="26"/>
                  <a:pt x="408" y="38"/>
                  <a:pt x="443" y="19"/>
                </a:cubicBezTo>
                <a:cubicBezTo>
                  <a:pt x="478" y="0"/>
                  <a:pt x="541" y="8"/>
                  <a:pt x="579" y="19"/>
                </a:cubicBezTo>
                <a:cubicBezTo>
                  <a:pt x="617" y="30"/>
                  <a:pt x="630" y="73"/>
                  <a:pt x="670" y="87"/>
                </a:cubicBezTo>
                <a:cubicBezTo>
                  <a:pt x="710" y="101"/>
                  <a:pt x="766" y="101"/>
                  <a:pt x="822" y="102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9" name="Google Shape;1979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3425" y="2978150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980" name="Google Shape;1980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8400">
            <a:off x="3916363" y="4313238"/>
            <a:ext cx="661987" cy="6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68"/>
          <p:cNvSpPr txBox="1"/>
          <p:nvPr/>
        </p:nvSpPr>
        <p:spPr>
          <a:xfrm>
            <a:off x="3581400" y="3189288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00.2</a:t>
            </a:r>
            <a:endParaRPr/>
          </a:p>
        </p:txBody>
      </p:sp>
      <p:sp>
        <p:nvSpPr>
          <p:cNvPr id="1982" name="Google Shape;1982;p68"/>
          <p:cNvSpPr txBox="1"/>
          <p:nvPr/>
        </p:nvSpPr>
        <p:spPr>
          <a:xfrm>
            <a:off x="3581400" y="3192463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00.0</a:t>
            </a:r>
            <a:endParaRPr/>
          </a:p>
        </p:txBody>
      </p:sp>
      <p:pic>
        <p:nvPicPr>
          <p:cNvPr id="1983" name="Google Shape;1983;p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4709722">
            <a:off x="6713537" y="2465388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84" name="Google Shape;1984;p68"/>
          <p:cNvSpPr txBox="1"/>
          <p:nvPr/>
        </p:nvSpPr>
        <p:spPr>
          <a:xfrm>
            <a:off x="1830388" y="6435725"/>
            <a:ext cx="6429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endParaRPr/>
          </a:p>
        </p:txBody>
      </p:sp>
      <p:sp>
        <p:nvSpPr>
          <p:cNvPr id="1985" name="Google Shape;1985;p68"/>
          <p:cNvSpPr txBox="1"/>
          <p:nvPr/>
        </p:nvSpPr>
        <p:spPr>
          <a:xfrm>
            <a:off x="696913" y="6429375"/>
            <a:ext cx="846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lamp</a:t>
            </a:r>
            <a:endParaRPr/>
          </a:p>
        </p:txBody>
      </p:sp>
      <p:sp>
        <p:nvSpPr>
          <p:cNvPr id="1986" name="Google Shape;1986;p68"/>
          <p:cNvSpPr txBox="1"/>
          <p:nvPr/>
        </p:nvSpPr>
        <p:spPr>
          <a:xfrm>
            <a:off x="1074738" y="4354513"/>
            <a:ext cx="1387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ammeter</a:t>
            </a:r>
            <a:endParaRPr/>
          </a:p>
        </p:txBody>
      </p:sp>
      <p:sp>
        <p:nvSpPr>
          <p:cNvPr id="1987" name="Google Shape;1987;p68"/>
          <p:cNvSpPr txBox="1"/>
          <p:nvPr/>
        </p:nvSpPr>
        <p:spPr>
          <a:xfrm>
            <a:off x="1068388" y="4659313"/>
            <a:ext cx="132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series</a:t>
            </a:r>
            <a:endParaRPr/>
          </a:p>
        </p:txBody>
      </p:sp>
      <p:grpSp>
        <p:nvGrpSpPr>
          <p:cNvPr id="1988" name="Google Shape;1988;p68"/>
          <p:cNvGrpSpPr/>
          <p:nvPr/>
        </p:nvGrpSpPr>
        <p:grpSpPr>
          <a:xfrm>
            <a:off x="2162175" y="5695950"/>
            <a:ext cx="171450" cy="171450"/>
            <a:chOff x="1761" y="2415"/>
            <a:chExt cx="108" cy="108"/>
          </a:xfrm>
        </p:grpSpPr>
        <p:sp>
          <p:nvSpPr>
            <p:cNvPr id="1989" name="Google Shape;1989;p68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90" name="Google Shape;1990;p68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1" name="Google Shape;1991;p68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992" name="Google Shape;1992;p6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4900" y="5065713"/>
            <a:ext cx="11525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3" name="Google Shape;1993;p6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63738" y="5348288"/>
            <a:ext cx="60007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4" name="Google Shape;1994;p6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8675" y="5373688"/>
            <a:ext cx="1447800" cy="1104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5" name="Google Shape;1995;p68"/>
          <p:cNvGrpSpPr/>
          <p:nvPr/>
        </p:nvGrpSpPr>
        <p:grpSpPr>
          <a:xfrm>
            <a:off x="7757432" y="3671239"/>
            <a:ext cx="171450" cy="171450"/>
            <a:chOff x="1761" y="2415"/>
            <a:chExt cx="108" cy="108"/>
          </a:xfrm>
        </p:grpSpPr>
        <p:sp>
          <p:nvSpPr>
            <p:cNvPr id="1996" name="Google Shape;1996;p68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97" name="Google Shape;1997;p68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8" name="Google Shape;1998;p68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9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69"/>
          <p:cNvSpPr/>
          <p:nvPr/>
        </p:nvSpPr>
        <p:spPr>
          <a:xfrm>
            <a:off x="669925" y="5268913"/>
            <a:ext cx="4337050" cy="16002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sure to position the ammeter between the desired resistors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series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05" name="Google Shape;2005;p69"/>
          <p:cNvSpPr/>
          <p:nvPr/>
        </p:nvSpPr>
        <p:spPr>
          <a:xfrm>
            <a:off x="674688" y="2003425"/>
            <a:ext cx="7772400" cy="329406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Draw a schematic diagram                                 for this circuit: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6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07" name="Google Shape;2007;p69"/>
          <p:cNvGrpSpPr/>
          <p:nvPr/>
        </p:nvGrpSpPr>
        <p:grpSpPr>
          <a:xfrm>
            <a:off x="4202779" y="1878648"/>
            <a:ext cx="3057557" cy="4356386"/>
            <a:chOff x="2647" y="1183"/>
            <a:chExt cx="1926" cy="2744"/>
          </a:xfrm>
        </p:grpSpPr>
        <p:pic>
          <p:nvPicPr>
            <p:cNvPr descr="resistor" id="2008" name="Google Shape;2008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3392637">
              <a:off x="3241" y="1312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2009" name="Google Shape;2009;p69"/>
            <p:cNvSpPr/>
            <p:nvPr/>
          </p:nvSpPr>
          <p:spPr>
            <a:xfrm rot="5400000">
              <a:off x="2814" y="1985"/>
              <a:ext cx="629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69"/>
            <p:cNvSpPr/>
            <p:nvPr/>
          </p:nvSpPr>
          <p:spPr>
            <a:xfrm rot="8730927">
              <a:off x="3081" y="1657"/>
              <a:ext cx="129" cy="115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2011" name="Google Shape;2011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9546567">
              <a:off x="2787" y="2259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2012" name="Google Shape;2012;p69"/>
            <p:cNvSpPr/>
            <p:nvPr/>
          </p:nvSpPr>
          <p:spPr>
            <a:xfrm rot="5400000">
              <a:off x="2961" y="3278"/>
              <a:ext cx="326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2013" name="Google Shape;2013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6653433">
              <a:off x="3250" y="2985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2014" name="Google Shape;201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3130930">
              <a:off x="3772" y="1819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2015" name="Google Shape;2015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645924">
              <a:off x="3704" y="2651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2016" name="Google Shape;2016;p69"/>
            <p:cNvSpPr/>
            <p:nvPr/>
          </p:nvSpPr>
          <p:spPr>
            <a:xfrm rot="5400000">
              <a:off x="3958" y="2516"/>
              <a:ext cx="150" cy="99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7" name="Google Shape;2017;p69"/>
          <p:cNvGrpSpPr/>
          <p:nvPr/>
        </p:nvGrpSpPr>
        <p:grpSpPr>
          <a:xfrm>
            <a:off x="5456238" y="2783604"/>
            <a:ext cx="3355975" cy="3948984"/>
            <a:chOff x="3437" y="1753"/>
            <a:chExt cx="2114" cy="2488"/>
          </a:xfrm>
        </p:grpSpPr>
        <p:sp>
          <p:nvSpPr>
            <p:cNvPr id="2018" name="Google Shape;2018;p69"/>
            <p:cNvSpPr/>
            <p:nvPr/>
          </p:nvSpPr>
          <p:spPr>
            <a:xfrm>
              <a:off x="3437" y="2925"/>
              <a:ext cx="2114" cy="1316"/>
            </a:xfrm>
            <a:custGeom>
              <a:rect b="b" l="l" r="r" t="t"/>
              <a:pathLst>
                <a:path extrusionOk="0" h="1316" w="2114">
                  <a:moveTo>
                    <a:pt x="193" y="0"/>
                  </a:moveTo>
                  <a:cubicBezTo>
                    <a:pt x="164" y="76"/>
                    <a:pt x="38" y="288"/>
                    <a:pt x="19" y="455"/>
                  </a:cubicBezTo>
                  <a:cubicBezTo>
                    <a:pt x="0" y="622"/>
                    <a:pt x="12" y="871"/>
                    <a:pt x="80" y="1001"/>
                  </a:cubicBezTo>
                  <a:cubicBezTo>
                    <a:pt x="148" y="1131"/>
                    <a:pt x="256" y="1192"/>
                    <a:pt x="428" y="1236"/>
                  </a:cubicBezTo>
                  <a:cubicBezTo>
                    <a:pt x="600" y="1280"/>
                    <a:pt x="851" y="1269"/>
                    <a:pt x="1110" y="1266"/>
                  </a:cubicBezTo>
                  <a:cubicBezTo>
                    <a:pt x="1369" y="1263"/>
                    <a:pt x="1850" y="1316"/>
                    <a:pt x="1982" y="1221"/>
                  </a:cubicBezTo>
                  <a:cubicBezTo>
                    <a:pt x="2114" y="1126"/>
                    <a:pt x="1909" y="827"/>
                    <a:pt x="1899" y="698"/>
                  </a:cubicBezTo>
                  <a:cubicBezTo>
                    <a:pt x="1889" y="569"/>
                    <a:pt x="1917" y="533"/>
                    <a:pt x="1921" y="448"/>
                  </a:cubicBezTo>
                  <a:cubicBezTo>
                    <a:pt x="1925" y="363"/>
                    <a:pt x="1923" y="276"/>
                    <a:pt x="1921" y="190"/>
                  </a:cubicBezTo>
                </a:path>
              </a:pathLst>
            </a:custGeom>
            <a:noFill/>
            <a:ln cap="flat" cmpd="sng" w="762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9" name="Google Shape;2019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9344186">
              <a:off x="3760" y="1737"/>
              <a:ext cx="214" cy="1368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</p:grpSp>
      <p:grpSp>
        <p:nvGrpSpPr>
          <p:cNvPr id="2020" name="Google Shape;2020;p69"/>
          <p:cNvGrpSpPr/>
          <p:nvPr/>
        </p:nvGrpSpPr>
        <p:grpSpPr>
          <a:xfrm>
            <a:off x="5021263" y="2419659"/>
            <a:ext cx="3440112" cy="4425641"/>
            <a:chOff x="3163" y="1524"/>
            <a:chExt cx="2167" cy="2788"/>
          </a:xfrm>
        </p:grpSpPr>
        <p:sp>
          <p:nvSpPr>
            <p:cNvPr id="2021" name="Google Shape;2021;p69"/>
            <p:cNvSpPr/>
            <p:nvPr/>
          </p:nvSpPr>
          <p:spPr>
            <a:xfrm>
              <a:off x="3163" y="2744"/>
              <a:ext cx="2167" cy="1568"/>
            </a:xfrm>
            <a:custGeom>
              <a:rect b="b" l="l" r="r" t="t"/>
              <a:pathLst>
                <a:path extrusionOk="0" h="1568" w="2167">
                  <a:moveTo>
                    <a:pt x="392" y="0"/>
                  </a:moveTo>
                  <a:cubicBezTo>
                    <a:pt x="379" y="54"/>
                    <a:pt x="338" y="242"/>
                    <a:pt x="308" y="325"/>
                  </a:cubicBezTo>
                  <a:cubicBezTo>
                    <a:pt x="278" y="408"/>
                    <a:pt x="253" y="400"/>
                    <a:pt x="210" y="500"/>
                  </a:cubicBezTo>
                  <a:cubicBezTo>
                    <a:pt x="167" y="600"/>
                    <a:pt x="75" y="798"/>
                    <a:pt x="50" y="924"/>
                  </a:cubicBezTo>
                  <a:cubicBezTo>
                    <a:pt x="25" y="1050"/>
                    <a:pt x="0" y="1165"/>
                    <a:pt x="58" y="1258"/>
                  </a:cubicBezTo>
                  <a:cubicBezTo>
                    <a:pt x="116" y="1351"/>
                    <a:pt x="175" y="1436"/>
                    <a:pt x="399" y="1485"/>
                  </a:cubicBezTo>
                  <a:cubicBezTo>
                    <a:pt x="623" y="1534"/>
                    <a:pt x="1123" y="1568"/>
                    <a:pt x="1400" y="1553"/>
                  </a:cubicBezTo>
                  <a:cubicBezTo>
                    <a:pt x="1677" y="1538"/>
                    <a:pt x="1951" y="1494"/>
                    <a:pt x="2059" y="1394"/>
                  </a:cubicBezTo>
                  <a:cubicBezTo>
                    <a:pt x="2167" y="1294"/>
                    <a:pt x="2055" y="1080"/>
                    <a:pt x="2051" y="955"/>
                  </a:cubicBezTo>
                  <a:cubicBezTo>
                    <a:pt x="2047" y="830"/>
                    <a:pt x="2037" y="731"/>
                    <a:pt x="2036" y="644"/>
                  </a:cubicBezTo>
                  <a:cubicBezTo>
                    <a:pt x="2035" y="557"/>
                    <a:pt x="2039" y="494"/>
                    <a:pt x="2044" y="432"/>
                  </a:cubicBezTo>
                </a:path>
              </a:pathLst>
            </a:cu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2" name="Google Shape;2022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10153997">
              <a:off x="3551" y="1533"/>
              <a:ext cx="223" cy="1366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</p:grpSp>
      <p:grpSp>
        <p:nvGrpSpPr>
          <p:cNvPr id="2023" name="Google Shape;2023;p69"/>
          <p:cNvGrpSpPr/>
          <p:nvPr/>
        </p:nvGrpSpPr>
        <p:grpSpPr>
          <a:xfrm>
            <a:off x="7004050" y="2092325"/>
            <a:ext cx="1966913" cy="3213100"/>
            <a:chOff x="4412" y="1318"/>
            <a:chExt cx="1239" cy="2024"/>
          </a:xfrm>
        </p:grpSpPr>
        <p:pic>
          <p:nvPicPr>
            <p:cNvPr id="2024" name="Google Shape;2024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12" y="1318"/>
              <a:ext cx="1239" cy="202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id="2025" name="Google Shape;2025;p6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9703000">
              <a:off x="4817" y="2159"/>
              <a:ext cx="417" cy="40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2026" name="Google Shape;2026;p69"/>
            <p:cNvSpPr txBox="1"/>
            <p:nvPr/>
          </p:nvSpPr>
          <p:spPr>
            <a:xfrm>
              <a:off x="4606" y="1451"/>
              <a:ext cx="909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4D4D4D"/>
                  </a:solidFill>
                  <a:latin typeface="Arial"/>
                  <a:ea typeface="Arial"/>
                  <a:cs typeface="Arial"/>
                  <a:sym typeface="Arial"/>
                </a:rPr>
                <a:t>.003</a:t>
              </a:r>
              <a:endParaRPr/>
            </a:p>
          </p:txBody>
        </p:sp>
      </p:grpSp>
      <p:pic>
        <p:nvPicPr>
          <p:cNvPr id="2027" name="Google Shape;2027;p6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663" y="3405188"/>
            <a:ext cx="7048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8" name="Google Shape;2028;p6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88" y="3714750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6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77988" y="3597275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6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17825" y="3605213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1" name="Google Shape;2031;p6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17938" y="3722688"/>
            <a:ext cx="64770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69"/>
          <p:cNvSpPr/>
          <p:nvPr/>
        </p:nvSpPr>
        <p:spPr>
          <a:xfrm>
            <a:off x="1001713" y="4513263"/>
            <a:ext cx="3149600" cy="422275"/>
          </a:xfrm>
          <a:custGeom>
            <a:rect b="b" l="l" r="r" t="t"/>
            <a:pathLst>
              <a:path extrusionOk="0" h="420914" w="2467429">
                <a:moveTo>
                  <a:pt x="0" y="420914"/>
                </a:moveTo>
                <a:lnTo>
                  <a:pt x="2467429" y="420914"/>
                </a:lnTo>
                <a:lnTo>
                  <a:pt x="2467429" y="0"/>
                </a:lnTo>
              </a:path>
            </a:pathLst>
          </a:cu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69"/>
          <p:cNvSpPr/>
          <p:nvPr/>
        </p:nvSpPr>
        <p:spPr>
          <a:xfrm>
            <a:off x="671513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ammeters are connected in series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69"/>
          <p:cNvSpPr txBox="1"/>
          <p:nvPr/>
        </p:nvSpPr>
        <p:spPr>
          <a:xfrm>
            <a:off x="7024688" y="304800"/>
            <a:ext cx="211931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the circuit must be temporarily broken to insert the ammeter</a:t>
            </a:r>
            <a:endParaRPr/>
          </a:p>
        </p:txBody>
      </p:sp>
      <p:sp>
        <p:nvSpPr>
          <p:cNvPr id="2035" name="Google Shape;2035;p69"/>
          <p:cNvSpPr/>
          <p:nvPr/>
        </p:nvSpPr>
        <p:spPr>
          <a:xfrm>
            <a:off x="6561138" y="1566863"/>
            <a:ext cx="1552575" cy="885825"/>
          </a:xfrm>
          <a:custGeom>
            <a:rect b="b" l="l" r="r" t="t"/>
            <a:pathLst>
              <a:path extrusionOk="0" h="885371" w="1553029">
                <a:moveTo>
                  <a:pt x="1553029" y="0"/>
                </a:moveTo>
                <a:cubicBezTo>
                  <a:pt x="1532466" y="152400"/>
                  <a:pt x="1511904" y="304800"/>
                  <a:pt x="1436914" y="377371"/>
                </a:cubicBezTo>
                <a:cubicBezTo>
                  <a:pt x="1361923" y="449942"/>
                  <a:pt x="1274838" y="420914"/>
                  <a:pt x="1103086" y="435428"/>
                </a:cubicBezTo>
                <a:cubicBezTo>
                  <a:pt x="931334" y="449942"/>
                  <a:pt x="573314" y="430590"/>
                  <a:pt x="406400" y="464457"/>
                </a:cubicBezTo>
                <a:cubicBezTo>
                  <a:pt x="239486" y="498324"/>
                  <a:pt x="169333" y="568476"/>
                  <a:pt x="101600" y="638628"/>
                </a:cubicBezTo>
                <a:cubicBezTo>
                  <a:pt x="33867" y="708780"/>
                  <a:pt x="16933" y="797075"/>
                  <a:pt x="0" y="88537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70"/>
          <p:cNvSpPr/>
          <p:nvPr/>
        </p:nvSpPr>
        <p:spPr>
          <a:xfrm>
            <a:off x="669925" y="5268913"/>
            <a:ext cx="7764463" cy="16002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circuit is a combination series-parallel. In a later slide you will learn how to find the equivalent resistance of the combo circuit.</a:t>
            </a:r>
            <a:endParaRPr/>
          </a:p>
        </p:txBody>
      </p:sp>
      <p:sp>
        <p:nvSpPr>
          <p:cNvPr id="2042" name="Google Shape;2042;p70"/>
          <p:cNvSpPr/>
          <p:nvPr/>
        </p:nvSpPr>
        <p:spPr>
          <a:xfrm>
            <a:off x="674688" y="2017713"/>
            <a:ext cx="7772400" cy="32797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Draw a schematic diagram for this circuit: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7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44" name="Google Shape;2044;p70"/>
          <p:cNvGrpSpPr/>
          <p:nvPr/>
        </p:nvGrpSpPr>
        <p:grpSpPr>
          <a:xfrm>
            <a:off x="4214683" y="2419344"/>
            <a:ext cx="3950751" cy="2335504"/>
            <a:chOff x="3036" y="1327"/>
            <a:chExt cx="2489" cy="1471"/>
          </a:xfrm>
        </p:grpSpPr>
        <p:sp>
          <p:nvSpPr>
            <p:cNvPr id="2045" name="Google Shape;2045;p70"/>
            <p:cNvSpPr/>
            <p:nvPr/>
          </p:nvSpPr>
          <p:spPr>
            <a:xfrm rot="10800000">
              <a:off x="3487" y="2683"/>
              <a:ext cx="1615" cy="34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70"/>
            <p:cNvSpPr/>
            <p:nvPr/>
          </p:nvSpPr>
          <p:spPr>
            <a:xfrm rot="-10566795">
              <a:off x="3488" y="1773"/>
              <a:ext cx="629" cy="35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sistor" id="2047" name="Google Shape;2047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617390">
              <a:off x="3779" y="1910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2048" name="Google Shape;2048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645924">
              <a:off x="3174" y="1915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2049" name="Google Shape;2049;p70"/>
            <p:cNvSpPr/>
            <p:nvPr/>
          </p:nvSpPr>
          <p:spPr>
            <a:xfrm rot="3175244">
              <a:off x="3434" y="2659"/>
              <a:ext cx="150" cy="99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70"/>
            <p:cNvSpPr/>
            <p:nvPr/>
          </p:nvSpPr>
          <p:spPr>
            <a:xfrm rot="8730927">
              <a:off x="3431" y="1726"/>
              <a:ext cx="129" cy="115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70"/>
            <p:cNvSpPr/>
            <p:nvPr/>
          </p:nvSpPr>
          <p:spPr>
            <a:xfrm rot="8730927">
              <a:off x="4048" y="2646"/>
              <a:ext cx="120" cy="107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ttery" id="2052" name="Google Shape;2052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253434">
              <a:off x="4690" y="1774"/>
              <a:ext cx="695" cy="91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pic>
          <p:nvPicPr>
            <p:cNvPr descr="resistor" id="2053" name="Google Shape;2053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2782793">
              <a:off x="4253" y="1465"/>
              <a:ext cx="667" cy="667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2054" name="Google Shape;2054;p70"/>
            <p:cNvSpPr/>
            <p:nvPr/>
          </p:nvSpPr>
          <p:spPr>
            <a:xfrm rot="8730927">
              <a:off x="4043" y="1740"/>
              <a:ext cx="129" cy="115"/>
            </a:xfrm>
            <a:prstGeom prst="ellipse">
              <a:avLst/>
            </a:prstGeom>
            <a:gradFill>
              <a:gsLst>
                <a:gs pos="0">
                  <a:srgbClr val="EAEAEA"/>
                </a:gs>
                <a:gs pos="100000">
                  <a:srgbClr val="6C6C6C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5" name="Google Shape;2055;p70"/>
          <p:cNvSpPr/>
          <p:nvPr/>
        </p:nvSpPr>
        <p:spPr>
          <a:xfrm>
            <a:off x="671513" y="1549400"/>
            <a:ext cx="7772400" cy="468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 diagrams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6" name="Google Shape;2056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7488" y="3294063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Google Shape;2057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2850" y="3286125"/>
            <a:ext cx="238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8" name="Google Shape;2058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8738" y="3184525"/>
            <a:ext cx="1238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70"/>
          <p:cNvSpPr/>
          <p:nvPr/>
        </p:nvSpPr>
        <p:spPr>
          <a:xfrm>
            <a:off x="1611313" y="4092575"/>
            <a:ext cx="2220912" cy="420688"/>
          </a:xfrm>
          <a:custGeom>
            <a:rect b="b" l="l" r="r" t="t"/>
            <a:pathLst>
              <a:path extrusionOk="0" h="420914" w="2467429">
                <a:moveTo>
                  <a:pt x="0" y="420914"/>
                </a:moveTo>
                <a:lnTo>
                  <a:pt x="2467429" y="420914"/>
                </a:lnTo>
                <a:lnTo>
                  <a:pt x="2467429" y="0"/>
                </a:lnTo>
              </a:path>
            </a:pathLst>
          </a:cu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0" name="Google Shape;2060;p70"/>
          <p:cNvCxnSpPr/>
          <p:nvPr/>
        </p:nvCxnSpPr>
        <p:spPr>
          <a:xfrm flipH="1">
            <a:off x="1606550" y="3286125"/>
            <a:ext cx="995363" cy="7938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61" name="Google Shape;2061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46475" y="3278188"/>
            <a:ext cx="619125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71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Ideal voltmeters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- ∞ Ω resistance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Voltmeters are connected in parallel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voltmeter reads the voltage                                               of only the component it is in                                             parallel with.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represents the                                       amount of current the battery needs to supply to the voltmeter in order to make it register.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amount of current the battery supplies to the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circuit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order to NOT ALTER the original properties of the circuit,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ideal voltmeters have extremely high resistance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(∞ Ω)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minimize the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068" name="Google Shape;206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8663" y="1546225"/>
            <a:ext cx="28956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7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0" name="Google Shape;2070;p71"/>
          <p:cNvSpPr/>
          <p:nvPr/>
        </p:nvSpPr>
        <p:spPr>
          <a:xfrm>
            <a:off x="5921376" y="2583542"/>
            <a:ext cx="2453368" cy="1189719"/>
          </a:xfrm>
          <a:custGeom>
            <a:rect b="b" l="l" r="r" t="t"/>
            <a:pathLst>
              <a:path extrusionOk="0" h="10000" w="10000">
                <a:moveTo>
                  <a:pt x="9727" y="2054"/>
                </a:moveTo>
                <a:cubicBezTo>
                  <a:pt x="9739" y="2020"/>
                  <a:pt x="9809" y="1986"/>
                  <a:pt x="9821" y="1952"/>
                </a:cubicBezTo>
                <a:cubicBezTo>
                  <a:pt x="9809" y="773"/>
                  <a:pt x="9857" y="1179"/>
                  <a:pt x="9845" y="0"/>
                </a:cubicBezTo>
                <a:lnTo>
                  <a:pt x="0" y="0"/>
                </a:lnTo>
                <a:lnTo>
                  <a:pt x="0" y="10000"/>
                </a:lnTo>
                <a:lnTo>
                  <a:pt x="10000" y="10000"/>
                </a:lnTo>
                <a:lnTo>
                  <a:pt x="10000" y="5003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71"/>
          <p:cNvSpPr/>
          <p:nvPr/>
        </p:nvSpPr>
        <p:spPr>
          <a:xfrm>
            <a:off x="5872163" y="1857375"/>
            <a:ext cx="2546350" cy="1970088"/>
          </a:xfrm>
          <a:custGeom>
            <a:rect b="b" l="l" r="r" t="t"/>
            <a:pathLst>
              <a:path extrusionOk="0" h="10000" w="10000">
                <a:moveTo>
                  <a:pt x="9845" y="5006"/>
                </a:moveTo>
                <a:cubicBezTo>
                  <a:pt x="9864" y="4484"/>
                  <a:pt x="9883" y="3961"/>
                  <a:pt x="9902" y="3439"/>
                </a:cubicBezTo>
                <a:lnTo>
                  <a:pt x="4902" y="3439"/>
                </a:lnTo>
                <a:lnTo>
                  <a:pt x="4902" y="0"/>
                </a:lnTo>
                <a:lnTo>
                  <a:pt x="641" y="0"/>
                </a:lnTo>
                <a:lnTo>
                  <a:pt x="641" y="3439"/>
                </a:lnTo>
                <a:lnTo>
                  <a:pt x="0" y="3439"/>
                </a:lnTo>
                <a:lnTo>
                  <a:pt x="0" y="10000"/>
                </a:lnTo>
                <a:lnTo>
                  <a:pt x="10000" y="10000"/>
                </a:lnTo>
                <a:lnTo>
                  <a:pt x="10000" y="6526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71"/>
          <p:cNvSpPr/>
          <p:nvPr/>
        </p:nvSpPr>
        <p:spPr>
          <a:xfrm>
            <a:off x="5994400" y="1509486"/>
            <a:ext cx="1143000" cy="1254352"/>
          </a:xfrm>
          <a:prstGeom prst="rect">
            <a:avLst/>
          </a:prstGeom>
          <a:solidFill>
            <a:srgbClr val="FFCC66">
              <a:alpha val="3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72"/>
          <p:cNvSpPr/>
          <p:nvPr/>
        </p:nvSpPr>
        <p:spPr>
          <a:xfrm>
            <a:off x="685800" y="1549400"/>
            <a:ext cx="7772400" cy="32686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Ideal ammeters 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- 0 Ω resistance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Ammeters are connected                                                          in series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ammeter is supposed                                                 to read the current of the original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 order to NOT ALTER the original properties of the circuit,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ideal ammeters have extremely low resistance  (0 Ω)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minimize the effect on the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079" name="Google Shape;207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0646" y="1539653"/>
            <a:ext cx="3590925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7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1" name="Google Shape;2081;p72"/>
          <p:cNvSpPr/>
          <p:nvPr/>
        </p:nvSpPr>
        <p:spPr>
          <a:xfrm>
            <a:off x="5297484" y="1826990"/>
            <a:ext cx="3186112" cy="1238250"/>
          </a:xfrm>
          <a:custGeom>
            <a:rect b="b" l="l" r="r" t="t"/>
            <a:pathLst>
              <a:path extrusionOk="0" h="10000" w="10046">
                <a:moveTo>
                  <a:pt x="10046" y="2066"/>
                </a:moveTo>
                <a:cubicBezTo>
                  <a:pt x="10031" y="1377"/>
                  <a:pt x="10015" y="689"/>
                  <a:pt x="10000" y="0"/>
                </a:cubicBezTo>
                <a:lnTo>
                  <a:pt x="0" y="0"/>
                </a:lnTo>
                <a:lnTo>
                  <a:pt x="0" y="10000"/>
                </a:lnTo>
                <a:lnTo>
                  <a:pt x="10000" y="10000"/>
                </a:lnTo>
                <a:lnTo>
                  <a:pt x="10000" y="483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73"/>
          <p:cNvSpPr/>
          <p:nvPr/>
        </p:nvSpPr>
        <p:spPr>
          <a:xfrm>
            <a:off x="685800" y="1549400"/>
            <a:ext cx="7772400" cy="5294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∙Consider a battery of ε = 6 V.                                         Suppose we have a light bulb                                              that can only use three volts.                                                 How do we obtain 3 V from a                                                     6 V battery?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divider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circuit                                            made of two (or more) series resistors that allows us to tap off any voltage we want that is less than the battery voltage.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voltage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emf of the battery.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voltage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voltage drop across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the resistors are in series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088" name="Google Shape;208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1613" y="1751013"/>
            <a:ext cx="27908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7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0" name="Google Shape;2090;p73"/>
          <p:cNvSpPr txBox="1"/>
          <p:nvPr/>
        </p:nvSpPr>
        <p:spPr>
          <a:xfrm>
            <a:off x="7572375" y="1728788"/>
            <a:ext cx="16065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potential divider</a:t>
            </a:r>
            <a:endParaRPr/>
          </a:p>
        </p:txBody>
      </p:sp>
      <p:sp>
        <p:nvSpPr>
          <p:cNvPr id="2091" name="Google Shape;2091;p73"/>
          <p:cNvSpPr txBox="1"/>
          <p:nvPr/>
        </p:nvSpPr>
        <p:spPr>
          <a:xfrm>
            <a:off x="6807200" y="21590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73"/>
          <p:cNvSpPr txBox="1"/>
          <p:nvPr/>
        </p:nvSpPr>
        <p:spPr>
          <a:xfrm>
            <a:off x="6823075" y="33274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73"/>
          <p:cNvSpPr/>
          <p:nvPr/>
        </p:nvSpPr>
        <p:spPr>
          <a:xfrm>
            <a:off x="5581650" y="1785938"/>
            <a:ext cx="1817688" cy="2305050"/>
          </a:xfrm>
          <a:custGeom>
            <a:rect b="b" l="l" r="r" t="t"/>
            <a:pathLst>
              <a:path extrusionOk="0" h="10000" w="10007">
                <a:moveTo>
                  <a:pt x="7" y="3862"/>
                </a:moveTo>
                <a:cubicBezTo>
                  <a:pt x="-20" y="2533"/>
                  <a:pt x="34" y="1329"/>
                  <a:pt x="7" y="0"/>
                </a:cubicBezTo>
                <a:lnTo>
                  <a:pt x="10007" y="0"/>
                </a:lnTo>
                <a:lnTo>
                  <a:pt x="10007" y="10000"/>
                </a:lnTo>
                <a:lnTo>
                  <a:pt x="77" y="10000"/>
                </a:lnTo>
                <a:lnTo>
                  <a:pt x="77" y="569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4" name="Google Shape;209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1950" y="2989263"/>
            <a:ext cx="10477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5" name="Google Shape;2095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138" y="1754188"/>
            <a:ext cx="6000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74"/>
          <p:cNvSpPr/>
          <p:nvPr/>
        </p:nvSpPr>
        <p:spPr>
          <a:xfrm>
            <a:off x="685800" y="1549400"/>
            <a:ext cx="7772400" cy="52943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∙Consider a battery of ε = 6 V.                                         Suppose we have a light bulb                                              that can only use three volts.                                                 How do we obtain 3 V from a                                                     6 V battery?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Ohm’s law the current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of the divider is given by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aseline="-2500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∙But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</a:t>
            </a:r>
            <a:endParaRPr baseline="-2500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	  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			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pic>
        <p:nvPicPr>
          <p:cNvPr id="2102" name="Google Shape;210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1613" y="1751013"/>
            <a:ext cx="27908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7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4" name="Google Shape;2104;p74"/>
          <p:cNvSpPr txBox="1"/>
          <p:nvPr/>
        </p:nvSpPr>
        <p:spPr>
          <a:xfrm>
            <a:off x="7572375" y="1728788"/>
            <a:ext cx="16065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potential divider</a:t>
            </a:r>
            <a:endParaRPr/>
          </a:p>
        </p:txBody>
      </p:sp>
      <p:sp>
        <p:nvSpPr>
          <p:cNvPr id="2105" name="Google Shape;2105;p74"/>
          <p:cNvSpPr txBox="1"/>
          <p:nvPr/>
        </p:nvSpPr>
        <p:spPr>
          <a:xfrm>
            <a:off x="6807200" y="21590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74"/>
          <p:cNvSpPr txBox="1"/>
          <p:nvPr/>
        </p:nvSpPr>
        <p:spPr>
          <a:xfrm>
            <a:off x="6823075" y="3327400"/>
            <a:ext cx="5222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74"/>
          <p:cNvSpPr/>
          <p:nvPr/>
        </p:nvSpPr>
        <p:spPr>
          <a:xfrm>
            <a:off x="5581650" y="1785938"/>
            <a:ext cx="1817688" cy="2305050"/>
          </a:xfrm>
          <a:custGeom>
            <a:rect b="b" l="l" r="r" t="t"/>
            <a:pathLst>
              <a:path extrusionOk="0" h="10000" w="10007">
                <a:moveTo>
                  <a:pt x="7" y="3862"/>
                </a:moveTo>
                <a:cubicBezTo>
                  <a:pt x="-20" y="2533"/>
                  <a:pt x="34" y="1329"/>
                  <a:pt x="7" y="0"/>
                </a:cubicBezTo>
                <a:lnTo>
                  <a:pt x="10007" y="0"/>
                </a:lnTo>
                <a:lnTo>
                  <a:pt x="10007" y="10000"/>
                </a:lnTo>
                <a:lnTo>
                  <a:pt x="77" y="10000"/>
                </a:lnTo>
                <a:lnTo>
                  <a:pt x="77" y="569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8" name="Google Shape;210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1950" y="2989263"/>
            <a:ext cx="10477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9" name="Google Shape;2109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138" y="1754188"/>
            <a:ext cx="600075" cy="236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0" name="Google Shape;2110;p74"/>
          <p:cNvGrpSpPr/>
          <p:nvPr/>
        </p:nvGrpSpPr>
        <p:grpSpPr>
          <a:xfrm>
            <a:off x="809625" y="6067425"/>
            <a:ext cx="7464425" cy="463550"/>
            <a:chOff x="510" y="3987"/>
            <a:chExt cx="4702" cy="292"/>
          </a:xfrm>
        </p:grpSpPr>
        <p:sp>
          <p:nvSpPr>
            <p:cNvPr id="2111" name="Google Shape;2111;p74"/>
            <p:cNvSpPr/>
            <p:nvPr/>
          </p:nvSpPr>
          <p:spPr>
            <a:xfrm>
              <a:off x="592" y="4000"/>
              <a:ext cx="2389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+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 ]</a:t>
              </a:r>
              <a:endParaRPr/>
            </a:p>
          </p:txBody>
        </p:sp>
        <p:sp>
          <p:nvSpPr>
            <p:cNvPr id="2112" name="Google Shape;2112;p74"/>
            <p:cNvSpPr txBox="1"/>
            <p:nvPr/>
          </p:nvSpPr>
          <p:spPr>
            <a:xfrm>
              <a:off x="3741" y="3987"/>
              <a:ext cx="1471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potential divider</a:t>
              </a:r>
              <a:endParaRPr/>
            </a:p>
          </p:txBody>
        </p:sp>
        <p:sp>
          <p:nvSpPr>
            <p:cNvPr id="2113" name="Google Shape;2113;p74"/>
            <p:cNvSpPr/>
            <p:nvPr/>
          </p:nvSpPr>
          <p:spPr>
            <a:xfrm>
              <a:off x="510" y="3989"/>
              <a:ext cx="4701" cy="2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4" name="Google Shape;2114;p74"/>
          <p:cNvSpPr/>
          <p:nvPr/>
        </p:nvSpPr>
        <p:spPr>
          <a:xfrm>
            <a:off x="3708400" y="5194300"/>
            <a:ext cx="204788" cy="288925"/>
          </a:xfrm>
          <a:prstGeom prst="rect">
            <a:avLst/>
          </a:prstGeom>
          <a:solidFill>
            <a:srgbClr val="FFCC66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74"/>
          <p:cNvSpPr/>
          <p:nvPr/>
        </p:nvSpPr>
        <p:spPr>
          <a:xfrm>
            <a:off x="5732463" y="4295775"/>
            <a:ext cx="1844675" cy="464911"/>
          </a:xfrm>
          <a:prstGeom prst="rect">
            <a:avLst/>
          </a:prstGeom>
          <a:solidFill>
            <a:srgbClr val="FFCC66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75"/>
          <p:cNvSpPr/>
          <p:nvPr/>
        </p:nvSpPr>
        <p:spPr>
          <a:xfrm>
            <a:off x="688975" y="5715000"/>
            <a:ext cx="7764463" cy="1154113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bigger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in comparison to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closer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in proportion to the total voltage.</a:t>
            </a:r>
            <a:endParaRPr/>
          </a:p>
        </p:txBody>
      </p:sp>
      <p:sp>
        <p:nvSpPr>
          <p:cNvPr id="2122" name="Google Shape;2122;p75"/>
          <p:cNvSpPr/>
          <p:nvPr/>
        </p:nvSpPr>
        <p:spPr>
          <a:xfrm>
            <a:off x="684213" y="1973263"/>
            <a:ext cx="7772400" cy="37512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output voltage if the                                            battery has an emf of 9.0 V,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is a 2200 Ω resistor,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                                              330 Ω resistor.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∙Use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9 [ 330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(2200 + 330) ]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9 [ 330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2530 ] = 1.2 V.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75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sp>
        <p:nvSpPr>
          <p:cNvPr id="2124" name="Google Shape;2124;p7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25" name="Google Shape;212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8438" y="1760538"/>
            <a:ext cx="375285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76"/>
          <p:cNvSpPr/>
          <p:nvPr/>
        </p:nvSpPr>
        <p:spPr>
          <a:xfrm>
            <a:off x="688975" y="1971675"/>
            <a:ext cx="7772400" cy="48863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value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 battery                                          has an emf of 9.0 V,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                                                   2200 Ω resistor, and we want an                                        output voltage of 6 V.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∙Use the formula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]. Thus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   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	= 9 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(2200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	6(2200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	= 9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13200 + 6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= 9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13200 	= 3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= 4400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endParaRPr/>
          </a:p>
        </p:txBody>
      </p:sp>
      <p:sp>
        <p:nvSpPr>
          <p:cNvPr id="2132" name="Google Shape;2132;p7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3" name="Google Shape;2133;p76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134" name="Google Shape;213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8438" y="1760538"/>
            <a:ext cx="375285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77"/>
          <p:cNvSpPr/>
          <p:nvPr/>
        </p:nvSpPr>
        <p:spPr>
          <a:xfrm>
            <a:off x="684213" y="1958975"/>
            <a:ext cx="7772400" cy="48990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light-dependent                                          resistor (LDR) has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25 Ω in                                             bright light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22000 Ω in low                                      light. An electronic switch will turn                                              on a light when its p.d. is above 7.0 V.                                           What should the value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]. Thus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	       7 	= 9 [ 22000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+ 22000) ]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7(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+ 22000) 	= 9(22000)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7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+ 154000 	= 198000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	   7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= 44000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	     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= 6300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     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6286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141" name="Google Shape;2141;p7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2" name="Google Shape;2142;p77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143" name="Google Shape;214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7713" y="1720850"/>
            <a:ext cx="32670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ght Dependent Resistors (LDR)" id="2144" name="Google Shape;2144;p77"/>
          <p:cNvPicPr preferRelativeResize="0"/>
          <p:nvPr/>
        </p:nvPicPr>
        <p:blipFill rotWithShape="1">
          <a:blip r:embed="rId4">
            <a:alphaModFix/>
          </a:blip>
          <a:srcRect b="16573" l="0" r="0" t="16512"/>
          <a:stretch/>
        </p:blipFill>
        <p:spPr>
          <a:xfrm rot="1291857">
            <a:off x="5948363" y="4763"/>
            <a:ext cx="3184525" cy="17049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78"/>
          <p:cNvSpPr/>
          <p:nvPr/>
        </p:nvSpPr>
        <p:spPr>
          <a:xfrm>
            <a:off x="684213" y="1958975"/>
            <a:ext cx="7772400" cy="491331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thermistor has a                                          resistance of 250 Ω when it is in                                             the heat of a fire and a resistance                                    of 65000 Ω when at room                                            temperature. An electronic switch                                               will turn on a sprinkler system when                                         its p.d. is above 7.0 V.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Should the thermistor be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∙Because we want a high voltage at a high temperature, and because the thermistor’s resistance decreases with temperature, it should be placed at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position.</a:t>
            </a:r>
            <a:endParaRPr/>
          </a:p>
        </p:txBody>
      </p:sp>
      <p:sp>
        <p:nvSpPr>
          <p:cNvPr id="2151" name="Google Shape;2151;p7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2" name="Google Shape;2152;p78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descr="ntcx" id="2153" name="Google Shape;2153;p78"/>
          <p:cNvPicPr preferRelativeResize="0"/>
          <p:nvPr/>
        </p:nvPicPr>
        <p:blipFill rotWithShape="1">
          <a:blip r:embed="rId3">
            <a:alphaModFix/>
          </a:blip>
          <a:srcRect b="44676" l="0" r="48714" t="0"/>
          <a:stretch/>
        </p:blipFill>
        <p:spPr>
          <a:xfrm>
            <a:off x="6675438" y="0"/>
            <a:ext cx="2479675" cy="20097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154" name="Google Shape;215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9600" y="1731963"/>
            <a:ext cx="3267075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5" name="Google Shape;2155;p78"/>
          <p:cNvSpPr/>
          <p:nvPr/>
        </p:nvSpPr>
        <p:spPr>
          <a:xfrm>
            <a:off x="7070725" y="1987550"/>
            <a:ext cx="363538" cy="741363"/>
          </a:xfrm>
          <a:custGeom>
            <a:rect b="b" l="l" r="r" t="t"/>
            <a:pathLst>
              <a:path extrusionOk="0" h="740228" w="362858">
                <a:moveTo>
                  <a:pt x="362858" y="740228"/>
                </a:moveTo>
                <a:lnTo>
                  <a:pt x="0" y="116114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79"/>
          <p:cNvSpPr/>
          <p:nvPr/>
        </p:nvSpPr>
        <p:spPr>
          <a:xfrm>
            <a:off x="684213" y="1958975"/>
            <a:ext cx="7772400" cy="491331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thermistor has a                                          resistance of 250 Ω when it is in                                             the heat of a fire and a resistance                                    of 65000 Ω when at room                                            temperature. An electronic switch                                               will turn on a sprinkler system                                           when its p.d. is above 7.0 V.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What should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In fire the thermistor is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250 Ω.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	     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	= 9 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(250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7(250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	= 9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1750 + 7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= 9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→	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880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Ω  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875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162" name="Google Shape;2162;p7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63" name="Google Shape;2163;p79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descr="ntcx" id="2164" name="Google Shape;2164;p79"/>
          <p:cNvPicPr preferRelativeResize="0"/>
          <p:nvPr/>
        </p:nvPicPr>
        <p:blipFill rotWithShape="1">
          <a:blip r:embed="rId3">
            <a:alphaModFix/>
          </a:blip>
          <a:srcRect b="44676" l="0" r="48714" t="0"/>
          <a:stretch/>
        </p:blipFill>
        <p:spPr>
          <a:xfrm>
            <a:off x="6675438" y="0"/>
            <a:ext cx="2479675" cy="20097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165" name="Google Shape;2165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9600" y="1731963"/>
            <a:ext cx="32670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M900236357[1]" id="2166" name="Google Shape;2166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370097">
            <a:off x="6788150" y="2460625"/>
            <a:ext cx="341313" cy="8556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7" name="Google Shape;2167;p79"/>
          <p:cNvGrpSpPr/>
          <p:nvPr/>
        </p:nvGrpSpPr>
        <p:grpSpPr>
          <a:xfrm>
            <a:off x="5367449" y="3050075"/>
            <a:ext cx="1512594" cy="1799746"/>
            <a:chOff x="3189" y="2067"/>
            <a:chExt cx="953" cy="1134"/>
          </a:xfrm>
        </p:grpSpPr>
        <p:sp>
          <p:nvSpPr>
            <p:cNvPr id="2168" name="Google Shape;2168;p79"/>
            <p:cNvSpPr/>
            <p:nvPr/>
          </p:nvSpPr>
          <p:spPr>
            <a:xfrm rot="-3078482">
              <a:off x="3912" y="2081"/>
              <a:ext cx="159" cy="258"/>
            </a:xfrm>
            <a:prstGeom prst="rect">
              <a:avLst/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9"/>
            <p:cNvSpPr/>
            <p:nvPr/>
          </p:nvSpPr>
          <p:spPr>
            <a:xfrm rot="-3169219">
              <a:off x="3145" y="2493"/>
              <a:ext cx="1000" cy="38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0" name="Google Shape;2170;p79"/>
          <p:cNvSpPr/>
          <p:nvPr/>
        </p:nvSpPr>
        <p:spPr>
          <a:xfrm>
            <a:off x="7070725" y="1987550"/>
            <a:ext cx="363538" cy="741363"/>
          </a:xfrm>
          <a:custGeom>
            <a:rect b="b" l="l" r="r" t="t"/>
            <a:pathLst>
              <a:path extrusionOk="0" h="740228" w="362858">
                <a:moveTo>
                  <a:pt x="362858" y="740228"/>
                </a:moveTo>
                <a:lnTo>
                  <a:pt x="0" y="116114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79"/>
          <p:cNvSpPr/>
          <p:nvPr/>
        </p:nvSpPr>
        <p:spPr>
          <a:xfrm>
            <a:off x="7161213" y="1968500"/>
            <a:ext cx="168275" cy="849313"/>
          </a:xfrm>
          <a:prstGeom prst="rect">
            <a:avLst/>
          </a:prstGeom>
          <a:solidFill>
            <a:srgbClr val="FF0000">
              <a:alpha val="4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2" name="Google Shape;2172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3763" y="1820863"/>
            <a:ext cx="11715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9388" y="2901950"/>
            <a:ext cx="1323975" cy="186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4" name="Google Shape;2174;p79"/>
          <p:cNvGrpSpPr/>
          <p:nvPr/>
        </p:nvGrpSpPr>
        <p:grpSpPr>
          <a:xfrm rot="-2422380">
            <a:off x="8540750" y="4256088"/>
            <a:ext cx="88900" cy="457200"/>
            <a:chOff x="3395" y="144"/>
            <a:chExt cx="56" cy="288"/>
          </a:xfrm>
        </p:grpSpPr>
        <p:sp>
          <p:nvSpPr>
            <p:cNvPr id="2175" name="Google Shape;2175;p79"/>
            <p:cNvSpPr/>
            <p:nvPr/>
          </p:nvSpPr>
          <p:spPr>
            <a:xfrm>
              <a:off x="3395" y="144"/>
              <a:ext cx="5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6" name="Google Shape;2176;p79"/>
            <p:cNvCxnSpPr/>
            <p:nvPr/>
          </p:nvCxnSpPr>
          <p:spPr>
            <a:xfrm rot="10800000">
              <a:off x="3418" y="144"/>
              <a:ext cx="0" cy="174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77" name="Google Shape;2177;p79"/>
          <p:cNvGrpSpPr/>
          <p:nvPr/>
        </p:nvGrpSpPr>
        <p:grpSpPr>
          <a:xfrm rot="2579047">
            <a:off x="8056563" y="2116138"/>
            <a:ext cx="88900" cy="457200"/>
            <a:chOff x="3395" y="144"/>
            <a:chExt cx="56" cy="288"/>
          </a:xfrm>
        </p:grpSpPr>
        <p:sp>
          <p:nvSpPr>
            <p:cNvPr id="2178" name="Google Shape;2178;p79"/>
            <p:cNvSpPr/>
            <p:nvPr/>
          </p:nvSpPr>
          <p:spPr>
            <a:xfrm>
              <a:off x="3395" y="144"/>
              <a:ext cx="5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9" name="Google Shape;2179;p79"/>
            <p:cNvCxnSpPr/>
            <p:nvPr/>
          </p:nvCxnSpPr>
          <p:spPr>
            <a:xfrm rot="10800000">
              <a:off x="3418" y="144"/>
              <a:ext cx="0" cy="174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40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2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2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80"/>
          <p:cNvSpPr/>
          <p:nvPr/>
        </p:nvSpPr>
        <p:spPr>
          <a:xfrm>
            <a:off x="684213" y="1930400"/>
            <a:ext cx="7772400" cy="4927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filament lamp is rated                                  at “4.0 V, 0.80 W” on its package.                                         The potentiometer has a resistance                                   from X to Z of 24 Ω and has linear                                    variation.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Sketch the variation of the p.d.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the current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typical filament lamp. Is it ohmic?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Since the temperature increases with              the current, so does the resistance.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∙But 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see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                    which is the slope.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the slope should increase with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186" name="Google Shape;2186;p8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187" name="Google Shape;2187;p80"/>
          <p:cNvGrpSpPr/>
          <p:nvPr/>
        </p:nvGrpSpPr>
        <p:grpSpPr>
          <a:xfrm>
            <a:off x="6334125" y="5091113"/>
            <a:ext cx="2346325" cy="1851025"/>
            <a:chOff x="4153" y="3206"/>
            <a:chExt cx="1478" cy="1166"/>
          </a:xfrm>
        </p:grpSpPr>
        <p:sp>
          <p:nvSpPr>
            <p:cNvPr id="2188" name="Google Shape;2188;p80"/>
            <p:cNvSpPr/>
            <p:nvPr/>
          </p:nvSpPr>
          <p:spPr>
            <a:xfrm>
              <a:off x="4403" y="3244"/>
              <a:ext cx="1228" cy="871"/>
            </a:xfrm>
            <a:custGeom>
              <a:rect b="b" l="l" r="r" t="t"/>
              <a:pathLst>
                <a:path extrusionOk="0" h="871" w="1228">
                  <a:moveTo>
                    <a:pt x="0" y="0"/>
                  </a:moveTo>
                  <a:lnTo>
                    <a:pt x="0" y="871"/>
                  </a:lnTo>
                  <a:lnTo>
                    <a:pt x="1228" y="87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80"/>
            <p:cNvSpPr txBox="1"/>
            <p:nvPr/>
          </p:nvSpPr>
          <p:spPr>
            <a:xfrm>
              <a:off x="4153" y="3206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</p:txBody>
        </p:sp>
        <p:sp>
          <p:nvSpPr>
            <p:cNvPr id="2190" name="Google Shape;2190;p80"/>
            <p:cNvSpPr txBox="1"/>
            <p:nvPr/>
          </p:nvSpPr>
          <p:spPr>
            <a:xfrm>
              <a:off x="5389" y="4081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</p:grpSp>
      <p:sp>
        <p:nvSpPr>
          <p:cNvPr id="2191" name="Google Shape;2191;p80"/>
          <p:cNvSpPr/>
          <p:nvPr/>
        </p:nvSpPr>
        <p:spPr>
          <a:xfrm>
            <a:off x="1196296" y="3860800"/>
            <a:ext cx="6641418" cy="397329"/>
          </a:xfrm>
          <a:prstGeom prst="rect">
            <a:avLst/>
          </a:prstGeom>
          <a:solidFill>
            <a:srgbClr val="FFCC66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80"/>
          <p:cNvSpPr/>
          <p:nvPr/>
        </p:nvSpPr>
        <p:spPr>
          <a:xfrm>
            <a:off x="6719888" y="5835650"/>
            <a:ext cx="1925637" cy="696913"/>
          </a:xfrm>
          <a:custGeom>
            <a:rect b="b" l="l" r="r" t="t"/>
            <a:pathLst>
              <a:path extrusionOk="0" h="439" w="1213">
                <a:moveTo>
                  <a:pt x="0" y="439"/>
                </a:moveTo>
                <a:cubicBezTo>
                  <a:pt x="160" y="425"/>
                  <a:pt x="321" y="412"/>
                  <a:pt x="478" y="378"/>
                </a:cubicBezTo>
                <a:cubicBezTo>
                  <a:pt x="635" y="344"/>
                  <a:pt x="818" y="297"/>
                  <a:pt x="940" y="234"/>
                </a:cubicBezTo>
                <a:cubicBezTo>
                  <a:pt x="1062" y="171"/>
                  <a:pt x="1137" y="85"/>
                  <a:pt x="1213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80"/>
          <p:cNvSpPr txBox="1"/>
          <p:nvPr/>
        </p:nvSpPr>
        <p:spPr>
          <a:xfrm>
            <a:off x="5634038" y="4213225"/>
            <a:ext cx="293211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ohmic means linear</a:t>
            </a:r>
            <a:endParaRPr/>
          </a:p>
        </p:txBody>
      </p:sp>
      <p:sp>
        <p:nvSpPr>
          <p:cNvPr id="2194" name="Google Shape;2194;p80"/>
          <p:cNvSpPr txBox="1"/>
          <p:nvPr/>
        </p:nvSpPr>
        <p:spPr>
          <a:xfrm>
            <a:off x="6905625" y="5470525"/>
            <a:ext cx="16240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non-ohmic</a:t>
            </a:r>
            <a:endParaRPr/>
          </a:p>
        </p:txBody>
      </p:sp>
      <p:sp>
        <p:nvSpPr>
          <p:cNvPr id="2195" name="Google Shape;2195;p80"/>
          <p:cNvSpPr/>
          <p:nvPr/>
        </p:nvSpPr>
        <p:spPr>
          <a:xfrm>
            <a:off x="4449763" y="4283075"/>
            <a:ext cx="950912" cy="347663"/>
          </a:xfrm>
          <a:prstGeom prst="rect">
            <a:avLst/>
          </a:prstGeom>
          <a:solidFill>
            <a:schemeClr val="hlink">
              <a:alpha val="3176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80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197" name="Google Shape;219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1331913"/>
            <a:ext cx="33147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 Turn Lin Potentiometer" id="2198" name="Google Shape;2198;p80"/>
          <p:cNvPicPr preferRelativeResize="0"/>
          <p:nvPr/>
        </p:nvPicPr>
        <p:blipFill rotWithShape="1">
          <a:blip r:embed="rId4">
            <a:alphaModFix/>
          </a:blip>
          <a:srcRect b="23375" l="0" r="-417" t="26208"/>
          <a:stretch/>
        </p:blipFill>
        <p:spPr>
          <a:xfrm rot="1670248">
            <a:off x="6850063" y="188913"/>
            <a:ext cx="2424112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81"/>
          <p:cNvSpPr/>
          <p:nvPr/>
        </p:nvSpPr>
        <p:spPr>
          <a:xfrm>
            <a:off x="684213" y="1930400"/>
            <a:ext cx="7772400" cy="4927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filament lamp is rated                                  at “4.0 V, 0.80 W” on its package.                                         The potentiometer has a resistance                                   from X to Z of 24 Ω and has linear                                    variation.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The potentiometer is adjusted so that the meter shows 4.0 V. Will it’s contact be above Y, below Y, or exactly on Y?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The circuit is acting like a potential divider with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being the resistance between X and Y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being the resistance between Y and Z.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we need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 V, and since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7 V, the contact must be adjusted above the Y.</a:t>
            </a:r>
            <a:endParaRPr/>
          </a:p>
        </p:txBody>
      </p:sp>
      <p:sp>
        <p:nvSpPr>
          <p:cNvPr id="2205" name="Google Shape;2205;p8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6" name="Google Shape;2206;p81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207" name="Google Shape;220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1331913"/>
            <a:ext cx="33147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 Turn Lin Potentiometer" id="2208" name="Google Shape;2208;p81"/>
          <p:cNvPicPr preferRelativeResize="0"/>
          <p:nvPr/>
        </p:nvPicPr>
        <p:blipFill rotWithShape="1">
          <a:blip r:embed="rId4">
            <a:alphaModFix/>
          </a:blip>
          <a:srcRect b="23375" l="0" r="-417" t="26208"/>
          <a:stretch/>
        </p:blipFill>
        <p:spPr>
          <a:xfrm rot="1670248">
            <a:off x="6850063" y="188913"/>
            <a:ext cx="2424112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09" name="Google Shape;2209;p81"/>
          <p:cNvSpPr txBox="1"/>
          <p:nvPr/>
        </p:nvSpPr>
        <p:spPr>
          <a:xfrm>
            <a:off x="7027863" y="1597025"/>
            <a:ext cx="52228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81"/>
          <p:cNvSpPr txBox="1"/>
          <p:nvPr/>
        </p:nvSpPr>
        <p:spPr>
          <a:xfrm>
            <a:off x="7048727" y="2047875"/>
            <a:ext cx="5222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82"/>
          <p:cNvSpPr/>
          <p:nvPr/>
        </p:nvSpPr>
        <p:spPr>
          <a:xfrm>
            <a:off x="684213" y="1930400"/>
            <a:ext cx="7772400" cy="4927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filament lamp is rated                                  at “4.0 V, 0.80 W” on its package.                                         The potentiometer has a resistance                                   from X to Z of 24 Ω and has linear                                    variation.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The potentiometer is adjusted so that the meter shows 4.0 V. What are the current and the resistance of the lamp at this instant?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0.80 W and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4.0 V.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get 0.8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(4) so that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0.20 A.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get 4 = 0.2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20. Ω.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∙You could also use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this last one.</a:t>
            </a:r>
            <a:endParaRPr/>
          </a:p>
        </p:txBody>
      </p:sp>
      <p:sp>
        <p:nvSpPr>
          <p:cNvPr id="2217" name="Google Shape;2217;p8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8" name="Google Shape;2218;p82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219" name="Google Shape;221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1331913"/>
            <a:ext cx="33147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0" name="Google Shape;2220;p82"/>
          <p:cNvSpPr/>
          <p:nvPr/>
        </p:nvSpPr>
        <p:spPr>
          <a:xfrm>
            <a:off x="1093788" y="2351088"/>
            <a:ext cx="2070100" cy="347662"/>
          </a:xfrm>
          <a:prstGeom prst="rect">
            <a:avLst/>
          </a:prstGeom>
          <a:solidFill>
            <a:srgbClr val="FFCC66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 Turn Lin Potentiometer" id="2221" name="Google Shape;2221;p82"/>
          <p:cNvPicPr preferRelativeResize="0"/>
          <p:nvPr/>
        </p:nvPicPr>
        <p:blipFill rotWithShape="1">
          <a:blip r:embed="rId4">
            <a:alphaModFix/>
          </a:blip>
          <a:srcRect b="23375" l="0" r="-417" t="26208"/>
          <a:stretch/>
        </p:blipFill>
        <p:spPr>
          <a:xfrm rot="1670248">
            <a:off x="6850063" y="188913"/>
            <a:ext cx="2424112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22" name="Google Shape;2222;p82"/>
          <p:cNvSpPr txBox="1"/>
          <p:nvPr/>
        </p:nvSpPr>
        <p:spPr>
          <a:xfrm>
            <a:off x="7027863" y="1597025"/>
            <a:ext cx="52228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82"/>
          <p:cNvSpPr txBox="1"/>
          <p:nvPr/>
        </p:nvSpPr>
        <p:spPr>
          <a:xfrm>
            <a:off x="7048727" y="2047875"/>
            <a:ext cx="5222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83"/>
          <p:cNvSpPr/>
          <p:nvPr/>
        </p:nvSpPr>
        <p:spPr>
          <a:xfrm>
            <a:off x="684213" y="1930400"/>
            <a:ext cx="7772400" cy="4927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filament lamp is rated                                  at “4.0 V, 0.80 W” on its package.                                         The potentiometer has a resistance                                   from X to Z of 24 Ω and has linear                                    variation.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The potentiometer is adjusted so that the meter shows 4.0 V.  What is the resistance of the Y-Z portion of the potentiometer?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Let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X to Y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Y to Z resistance.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24 so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24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 we get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= 7 [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(24 –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]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8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1" name="Google Shape;2231;p83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232" name="Google Shape;223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1331913"/>
            <a:ext cx="33147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3" name="Google Shape;2233;p83"/>
          <p:cNvSpPr/>
          <p:nvPr/>
        </p:nvSpPr>
        <p:spPr>
          <a:xfrm>
            <a:off x="1436688" y="3076575"/>
            <a:ext cx="1944687" cy="377825"/>
          </a:xfrm>
          <a:prstGeom prst="rect">
            <a:avLst/>
          </a:prstGeom>
          <a:solidFill>
            <a:srgbClr val="FFCC66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4" name="Google Shape;2234;p83"/>
          <p:cNvCxnSpPr/>
          <p:nvPr/>
        </p:nvCxnSpPr>
        <p:spPr>
          <a:xfrm flipH="1">
            <a:off x="4205288" y="6396038"/>
            <a:ext cx="265112" cy="27781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10 Turn Lin Potentiometer" id="2235" name="Google Shape;2235;p83"/>
          <p:cNvPicPr preferRelativeResize="0"/>
          <p:nvPr/>
        </p:nvPicPr>
        <p:blipFill rotWithShape="1">
          <a:blip r:embed="rId4">
            <a:alphaModFix/>
          </a:blip>
          <a:srcRect b="23375" l="0" r="-417" t="26208"/>
          <a:stretch/>
        </p:blipFill>
        <p:spPr>
          <a:xfrm rot="1670248">
            <a:off x="6850063" y="188913"/>
            <a:ext cx="2424112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36" name="Google Shape;2236;p83"/>
          <p:cNvSpPr txBox="1"/>
          <p:nvPr/>
        </p:nvSpPr>
        <p:spPr>
          <a:xfrm>
            <a:off x="7027863" y="1597025"/>
            <a:ext cx="52228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83"/>
          <p:cNvSpPr txBox="1"/>
          <p:nvPr/>
        </p:nvSpPr>
        <p:spPr>
          <a:xfrm>
            <a:off x="7048727" y="2047875"/>
            <a:ext cx="5222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8" name="Google Shape;2238;p83"/>
          <p:cNvSpPr/>
          <p:nvPr/>
        </p:nvSpPr>
        <p:spPr>
          <a:xfrm>
            <a:off x="5109029" y="5478690"/>
            <a:ext cx="1175657" cy="377825"/>
          </a:xfrm>
          <a:prstGeom prst="rect">
            <a:avLst/>
          </a:prstGeom>
          <a:solidFill>
            <a:srgbClr val="00B0F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9" name="Google Shape;2239;p83"/>
          <p:cNvSpPr/>
          <p:nvPr/>
        </p:nvSpPr>
        <p:spPr>
          <a:xfrm>
            <a:off x="2786516" y="6371317"/>
            <a:ext cx="1045256" cy="377825"/>
          </a:xfrm>
          <a:prstGeom prst="rect">
            <a:avLst/>
          </a:prstGeom>
          <a:solidFill>
            <a:srgbClr val="00B0F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0" name="Google Shape;2240;p83"/>
          <p:cNvCxnSpPr/>
          <p:nvPr/>
        </p:nvCxnSpPr>
        <p:spPr>
          <a:xfrm flipH="1">
            <a:off x="3503613" y="6405563"/>
            <a:ext cx="265112" cy="27781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1" name="Google Shape;2241;p83"/>
          <p:cNvSpPr/>
          <p:nvPr/>
        </p:nvSpPr>
        <p:spPr>
          <a:xfrm>
            <a:off x="1603603" y="5493204"/>
            <a:ext cx="1836284" cy="377825"/>
          </a:xfrm>
          <a:prstGeom prst="rect">
            <a:avLst/>
          </a:prstGeom>
          <a:solidFill>
            <a:srgbClr val="FFCC66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83"/>
          <p:cNvSpPr txBox="1"/>
          <p:nvPr/>
        </p:nvSpPr>
        <p:spPr>
          <a:xfrm>
            <a:off x="4876799" y="6323765"/>
            <a:ext cx="34253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14 Ω  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13.71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84"/>
          <p:cNvSpPr/>
          <p:nvPr/>
        </p:nvSpPr>
        <p:spPr>
          <a:xfrm>
            <a:off x="684213" y="1930400"/>
            <a:ext cx="7772400" cy="4927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filament lamp is rated                                  at “4.0 V, 0.80 W” on its package.                                         The potentiometer has a resistance                                   from X to Z of 24 Ω and has linear                                    variation.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(e) The potentiometer is adjusted so that the meter shows 4.0 V. What is the current in the Y-Z                   portion of the potentiometer?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4.0 V because it is in parallel with the lamp.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I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	 		= 4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13.71 = 0.29 A</a:t>
            </a:r>
            <a:endParaRPr/>
          </a:p>
        </p:txBody>
      </p:sp>
      <p:sp>
        <p:nvSpPr>
          <p:cNvPr id="2249" name="Google Shape;2249;p8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0" name="Google Shape;2250;p84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251" name="Google Shape;225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1331913"/>
            <a:ext cx="33147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84"/>
          <p:cNvSpPr txBox="1"/>
          <p:nvPr/>
        </p:nvSpPr>
        <p:spPr>
          <a:xfrm>
            <a:off x="7027863" y="1597025"/>
            <a:ext cx="52228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84"/>
          <p:cNvSpPr txBox="1"/>
          <p:nvPr/>
        </p:nvSpPr>
        <p:spPr>
          <a:xfrm>
            <a:off x="7048727" y="2047875"/>
            <a:ext cx="5222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84"/>
          <p:cNvSpPr/>
          <p:nvPr/>
        </p:nvSpPr>
        <p:spPr>
          <a:xfrm>
            <a:off x="1674813" y="4238625"/>
            <a:ext cx="763587" cy="341313"/>
          </a:xfrm>
          <a:prstGeom prst="rect">
            <a:avLst/>
          </a:prstGeom>
          <a:solidFill>
            <a:srgbClr val="FFCC66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 Turn Lin Potentiometer" id="2255" name="Google Shape;2255;p84"/>
          <p:cNvPicPr preferRelativeResize="0"/>
          <p:nvPr/>
        </p:nvPicPr>
        <p:blipFill rotWithShape="1">
          <a:blip r:embed="rId4">
            <a:alphaModFix/>
          </a:blip>
          <a:srcRect b="23375" l="0" r="-417" t="26208"/>
          <a:stretch/>
        </p:blipFill>
        <p:spPr>
          <a:xfrm rot="1670248">
            <a:off x="6850063" y="188913"/>
            <a:ext cx="2424112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85"/>
          <p:cNvSpPr/>
          <p:nvPr/>
        </p:nvSpPr>
        <p:spPr>
          <a:xfrm>
            <a:off x="684213" y="1930400"/>
            <a:ext cx="7772400" cy="4927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filament lamp is rated                                  at “4.0 V, 0.80 W” on its package.                                         The potentiometer has a resistance                                   from X to Z of 24 Ω and has linear                                    variation.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(f) The potentiometer is adjusted so that the meter shows 4.0 V. What is the current in the ammeter?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The battery supplies two currents.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current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0.29 A because it is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just calculated in (e).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 current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0.20 A found in (c).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ammeter has both so </a:t>
            </a:r>
            <a:r>
              <a:rPr i="1"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0.29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0.20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D60093"/>
                </a:solidFill>
                <a:latin typeface="Arial"/>
                <a:ea typeface="Arial"/>
                <a:cs typeface="Arial"/>
                <a:sym typeface="Arial"/>
              </a:rPr>
              <a:t>0.49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A.</a:t>
            </a:r>
            <a:endParaRPr/>
          </a:p>
        </p:txBody>
      </p:sp>
      <p:sp>
        <p:nvSpPr>
          <p:cNvPr id="2262" name="Google Shape;2262;p8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63" name="Google Shape;2263;p85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Potential divider circuits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pic>
        <p:nvPicPr>
          <p:cNvPr id="2264" name="Google Shape;226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963" y="1331913"/>
            <a:ext cx="33147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85"/>
          <p:cNvSpPr txBox="1"/>
          <p:nvPr/>
        </p:nvSpPr>
        <p:spPr>
          <a:xfrm>
            <a:off x="7027863" y="1597025"/>
            <a:ext cx="52228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85"/>
          <p:cNvSpPr txBox="1"/>
          <p:nvPr/>
        </p:nvSpPr>
        <p:spPr>
          <a:xfrm>
            <a:off x="7048727" y="2047875"/>
            <a:ext cx="5222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85"/>
          <p:cNvSpPr/>
          <p:nvPr/>
        </p:nvSpPr>
        <p:spPr>
          <a:xfrm>
            <a:off x="5821363" y="1387475"/>
            <a:ext cx="1143000" cy="2238375"/>
          </a:xfrm>
          <a:custGeom>
            <a:rect b="b" l="l" r="r" t="t"/>
            <a:pathLst>
              <a:path extrusionOk="0" h="1410" w="720">
                <a:moveTo>
                  <a:pt x="0" y="599"/>
                </a:moveTo>
                <a:lnTo>
                  <a:pt x="0" y="1"/>
                </a:lnTo>
                <a:lnTo>
                  <a:pt x="713" y="0"/>
                </a:lnTo>
                <a:lnTo>
                  <a:pt x="720" y="1410"/>
                </a:lnTo>
                <a:lnTo>
                  <a:pt x="15" y="1410"/>
                </a:lnTo>
                <a:lnTo>
                  <a:pt x="15" y="827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85"/>
          <p:cNvSpPr/>
          <p:nvPr/>
        </p:nvSpPr>
        <p:spPr>
          <a:xfrm>
            <a:off x="5772150" y="1339850"/>
            <a:ext cx="2033588" cy="2333625"/>
          </a:xfrm>
          <a:custGeom>
            <a:rect b="b" l="l" r="r" t="t"/>
            <a:pathLst>
              <a:path extrusionOk="0" h="1470" w="1281">
                <a:moveTo>
                  <a:pt x="0" y="629"/>
                </a:moveTo>
                <a:lnTo>
                  <a:pt x="0" y="0"/>
                </a:lnTo>
                <a:lnTo>
                  <a:pt x="773" y="0"/>
                </a:lnTo>
                <a:lnTo>
                  <a:pt x="773" y="447"/>
                </a:lnTo>
                <a:lnTo>
                  <a:pt x="1281" y="447"/>
                </a:lnTo>
                <a:lnTo>
                  <a:pt x="1281" y="1470"/>
                </a:lnTo>
                <a:lnTo>
                  <a:pt x="16" y="1470"/>
                </a:lnTo>
                <a:lnTo>
                  <a:pt x="16" y="849"/>
                </a:lnTo>
              </a:path>
            </a:pathLst>
          </a:custGeom>
          <a:noFill/>
          <a:ln cap="flat" cmpd="sng" w="5715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85"/>
          <p:cNvSpPr/>
          <p:nvPr/>
        </p:nvSpPr>
        <p:spPr>
          <a:xfrm flipH="1">
            <a:off x="5911850" y="3468688"/>
            <a:ext cx="914400" cy="336550"/>
          </a:xfrm>
          <a:prstGeom prst="chevron">
            <a:avLst>
              <a:gd fmla="val 67925" name="adj"/>
            </a:avLst>
          </a:prstGeom>
          <a:noFill/>
          <a:ln cap="flat" cmpd="sng" w="38100">
            <a:solidFill>
              <a:srgbClr val="D600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 Turn Lin Potentiometer" id="2270" name="Google Shape;2270;p85"/>
          <p:cNvPicPr preferRelativeResize="0"/>
          <p:nvPr/>
        </p:nvPicPr>
        <p:blipFill rotWithShape="1">
          <a:blip r:embed="rId4">
            <a:alphaModFix/>
          </a:blip>
          <a:srcRect b="23375" l="0" r="-417" t="26208"/>
          <a:stretch/>
        </p:blipFill>
        <p:spPr>
          <a:xfrm rot="1670248">
            <a:off x="6850063" y="188913"/>
            <a:ext cx="2424112" cy="15208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8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7" name="Google Shape;2277;p86"/>
          <p:cNvSpPr/>
          <p:nvPr/>
        </p:nvSpPr>
        <p:spPr>
          <a:xfrm>
            <a:off x="687388" y="1946275"/>
            <a:ext cx="7772400" cy="49117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battery is connected to a 25-W lamp as shown.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lamp’s                                            resistance?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connect                                                          a voltmeter to the                                                             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know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25 W.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know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1.4 V.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get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1.4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= 0.078 Ω.</a:t>
            </a:r>
            <a:endParaRPr/>
          </a:p>
        </p:txBody>
      </p:sp>
      <p:sp>
        <p:nvSpPr>
          <p:cNvPr id="2278" name="Google Shape;2278;p86"/>
          <p:cNvSpPr/>
          <p:nvPr/>
        </p:nvSpPr>
        <p:spPr>
          <a:xfrm>
            <a:off x="4951413" y="5664200"/>
            <a:ext cx="2041525" cy="817563"/>
          </a:xfrm>
          <a:custGeom>
            <a:rect b="b" l="l" r="r" t="t"/>
            <a:pathLst>
              <a:path extrusionOk="0" h="515" w="1286">
                <a:moveTo>
                  <a:pt x="26" y="0"/>
                </a:moveTo>
                <a:cubicBezTo>
                  <a:pt x="21" y="59"/>
                  <a:pt x="0" y="122"/>
                  <a:pt x="26" y="190"/>
                </a:cubicBezTo>
                <a:cubicBezTo>
                  <a:pt x="52" y="258"/>
                  <a:pt x="114" y="357"/>
                  <a:pt x="185" y="410"/>
                </a:cubicBezTo>
                <a:cubicBezTo>
                  <a:pt x="256" y="463"/>
                  <a:pt x="323" y="501"/>
                  <a:pt x="455" y="508"/>
                </a:cubicBezTo>
                <a:cubicBezTo>
                  <a:pt x="587" y="515"/>
                  <a:pt x="836" y="486"/>
                  <a:pt x="975" y="455"/>
                </a:cubicBezTo>
                <a:cubicBezTo>
                  <a:pt x="1113" y="424"/>
                  <a:pt x="1199" y="371"/>
                  <a:pt x="1286" y="319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86"/>
          <p:cNvSpPr/>
          <p:nvPr/>
        </p:nvSpPr>
        <p:spPr>
          <a:xfrm>
            <a:off x="6534150" y="5180013"/>
            <a:ext cx="2654300" cy="952500"/>
          </a:xfrm>
          <a:custGeom>
            <a:rect b="b" l="l" r="r" t="t"/>
            <a:pathLst>
              <a:path extrusionOk="0" h="600" w="1672">
                <a:moveTo>
                  <a:pt x="0" y="0"/>
                </a:moveTo>
                <a:cubicBezTo>
                  <a:pt x="0" y="41"/>
                  <a:pt x="0" y="83"/>
                  <a:pt x="23" y="137"/>
                </a:cubicBezTo>
                <a:cubicBezTo>
                  <a:pt x="46" y="191"/>
                  <a:pt x="71" y="262"/>
                  <a:pt x="137" y="326"/>
                </a:cubicBezTo>
                <a:cubicBezTo>
                  <a:pt x="203" y="390"/>
                  <a:pt x="270" y="478"/>
                  <a:pt x="417" y="523"/>
                </a:cubicBezTo>
                <a:cubicBezTo>
                  <a:pt x="564" y="568"/>
                  <a:pt x="824" y="600"/>
                  <a:pt x="1016" y="599"/>
                </a:cubicBezTo>
                <a:cubicBezTo>
                  <a:pt x="1208" y="598"/>
                  <a:pt x="1466" y="568"/>
                  <a:pt x="1569" y="516"/>
                </a:cubicBezTo>
                <a:cubicBezTo>
                  <a:pt x="1672" y="464"/>
                  <a:pt x="1646" y="364"/>
                  <a:pt x="1637" y="288"/>
                </a:cubicBezTo>
                <a:cubicBezTo>
                  <a:pt x="1628" y="212"/>
                  <a:pt x="1572" y="136"/>
                  <a:pt x="1516" y="61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ttery" id="2280" name="Google Shape;2280;p86"/>
          <p:cNvPicPr preferRelativeResize="0"/>
          <p:nvPr/>
        </p:nvPicPr>
        <p:blipFill rotWithShape="1">
          <a:blip r:embed="rId3">
            <a:alphaModFix/>
          </a:blip>
          <a:srcRect b="0" l="0" r="10948" t="0"/>
          <a:stretch/>
        </p:blipFill>
        <p:spPr>
          <a:xfrm>
            <a:off x="7697788" y="3351213"/>
            <a:ext cx="1446212" cy="2132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200px-Gluehlampe_01_KMJ" id="2281" name="Google Shape;2281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4713" y="3233738"/>
            <a:ext cx="1198562" cy="198913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82" name="Google Shape;2282;p86"/>
          <p:cNvSpPr/>
          <p:nvPr/>
        </p:nvSpPr>
        <p:spPr>
          <a:xfrm>
            <a:off x="6019800" y="3254375"/>
            <a:ext cx="1108075" cy="1203325"/>
          </a:xfrm>
          <a:prstGeom prst="ellipse">
            <a:avLst/>
          </a:prstGeom>
          <a:solidFill>
            <a:srgbClr val="FFFF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86"/>
          <p:cNvSpPr/>
          <p:nvPr/>
        </p:nvSpPr>
        <p:spPr>
          <a:xfrm>
            <a:off x="6570663" y="3027363"/>
            <a:ext cx="1600200" cy="2001837"/>
          </a:xfrm>
          <a:custGeom>
            <a:rect b="b" l="l" r="r" t="t"/>
            <a:pathLst>
              <a:path extrusionOk="0" h="1261" w="1008">
                <a:moveTo>
                  <a:pt x="0" y="1205"/>
                </a:moveTo>
                <a:cubicBezTo>
                  <a:pt x="83" y="1233"/>
                  <a:pt x="167" y="1261"/>
                  <a:pt x="258" y="1212"/>
                </a:cubicBezTo>
                <a:cubicBezTo>
                  <a:pt x="349" y="1163"/>
                  <a:pt x="491" y="1089"/>
                  <a:pt x="546" y="909"/>
                </a:cubicBezTo>
                <a:cubicBezTo>
                  <a:pt x="601" y="729"/>
                  <a:pt x="535" y="258"/>
                  <a:pt x="591" y="129"/>
                </a:cubicBezTo>
                <a:cubicBezTo>
                  <a:pt x="647" y="0"/>
                  <a:pt x="810" y="108"/>
                  <a:pt x="879" y="136"/>
                </a:cubicBezTo>
                <a:cubicBezTo>
                  <a:pt x="948" y="164"/>
                  <a:pt x="978" y="229"/>
                  <a:pt x="1008" y="295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4" name="Google Shape;2284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6694482">
            <a:off x="7649369" y="4744244"/>
            <a:ext cx="354013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85" name="Google Shape;2285;p86"/>
          <p:cNvSpPr/>
          <p:nvPr/>
        </p:nvSpPr>
        <p:spPr>
          <a:xfrm>
            <a:off x="5181600" y="2963863"/>
            <a:ext cx="1125538" cy="3443287"/>
          </a:xfrm>
          <a:custGeom>
            <a:rect b="b" l="l" r="r" t="t"/>
            <a:pathLst>
              <a:path extrusionOk="0" h="2169" w="822">
                <a:moveTo>
                  <a:pt x="33" y="1739"/>
                </a:moveTo>
                <a:cubicBezTo>
                  <a:pt x="30" y="1800"/>
                  <a:pt x="27" y="1861"/>
                  <a:pt x="33" y="1913"/>
                </a:cubicBezTo>
                <a:cubicBezTo>
                  <a:pt x="39" y="1965"/>
                  <a:pt x="0" y="2025"/>
                  <a:pt x="71" y="2050"/>
                </a:cubicBezTo>
                <a:cubicBezTo>
                  <a:pt x="142" y="2075"/>
                  <a:pt x="368" y="2169"/>
                  <a:pt x="458" y="2065"/>
                </a:cubicBezTo>
                <a:cubicBezTo>
                  <a:pt x="548" y="1961"/>
                  <a:pt x="611" y="1663"/>
                  <a:pt x="609" y="1428"/>
                </a:cubicBezTo>
                <a:cubicBezTo>
                  <a:pt x="607" y="1193"/>
                  <a:pt x="483" y="871"/>
                  <a:pt x="443" y="655"/>
                </a:cubicBezTo>
                <a:cubicBezTo>
                  <a:pt x="403" y="439"/>
                  <a:pt x="367" y="238"/>
                  <a:pt x="367" y="132"/>
                </a:cubicBezTo>
                <a:cubicBezTo>
                  <a:pt x="367" y="26"/>
                  <a:pt x="408" y="38"/>
                  <a:pt x="443" y="19"/>
                </a:cubicBezTo>
                <a:cubicBezTo>
                  <a:pt x="478" y="0"/>
                  <a:pt x="541" y="8"/>
                  <a:pt x="579" y="19"/>
                </a:cubicBezTo>
                <a:cubicBezTo>
                  <a:pt x="617" y="30"/>
                  <a:pt x="630" y="73"/>
                  <a:pt x="670" y="87"/>
                </a:cubicBezTo>
                <a:cubicBezTo>
                  <a:pt x="710" y="101"/>
                  <a:pt x="766" y="101"/>
                  <a:pt x="822" y="102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6" name="Google Shape;2286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5225" y="2684463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287" name="Google Shape;2287;p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8400">
            <a:off x="4348163" y="4019550"/>
            <a:ext cx="661988" cy="6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86"/>
          <p:cNvSpPr txBox="1"/>
          <p:nvPr/>
        </p:nvSpPr>
        <p:spPr>
          <a:xfrm>
            <a:off x="4013200" y="2895600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01.4</a:t>
            </a:r>
            <a:endParaRPr/>
          </a:p>
        </p:txBody>
      </p:sp>
      <p:sp>
        <p:nvSpPr>
          <p:cNvPr id="2289" name="Google Shape;2289;p86"/>
          <p:cNvSpPr txBox="1"/>
          <p:nvPr/>
        </p:nvSpPr>
        <p:spPr>
          <a:xfrm>
            <a:off x="4025900" y="2900363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00.0</a:t>
            </a:r>
            <a:endParaRPr/>
          </a:p>
        </p:txBody>
      </p:sp>
      <p:pic>
        <p:nvPicPr>
          <p:cNvPr id="2290" name="Google Shape;2290;p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4709722">
            <a:off x="6980237" y="2222501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91" name="Google Shape;2291;p86"/>
          <p:cNvSpPr/>
          <p:nvPr/>
        </p:nvSpPr>
        <p:spPr>
          <a:xfrm>
            <a:off x="6112557" y="1980747"/>
            <a:ext cx="773112" cy="369888"/>
          </a:xfrm>
          <a:prstGeom prst="rect">
            <a:avLst/>
          </a:prstGeom>
          <a:solidFill>
            <a:srgbClr val="FF9933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86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circuits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87"/>
          <p:cNvSpPr/>
          <p:nvPr/>
        </p:nvSpPr>
        <p:spPr>
          <a:xfrm>
            <a:off x="684213" y="1944688"/>
            <a:ext cx="7772400" cy="49133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Which circuit shows the correct setup to find the V-I characteristics of a filament lamp?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voltmeter must                                                                  be in parallel with the                                                             lamp.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∙It IS, in ALL cases.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ammeter must                                                              be in series with the                                                             lamp and must read                                                                 only the lamp’s current.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correct response is B.</a:t>
            </a:r>
            <a:endParaRPr/>
          </a:p>
        </p:txBody>
      </p:sp>
      <p:sp>
        <p:nvSpPr>
          <p:cNvPr id="2299" name="Google Shape;2299;p8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00" name="Google Shape;230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4900" y="2809875"/>
            <a:ext cx="5538788" cy="3354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87"/>
          <p:cNvSpPr/>
          <p:nvPr/>
        </p:nvSpPr>
        <p:spPr>
          <a:xfrm>
            <a:off x="4029075" y="3043238"/>
            <a:ext cx="1624013" cy="1395412"/>
          </a:xfrm>
          <a:custGeom>
            <a:rect b="b" l="l" r="r" t="t"/>
            <a:pathLst>
              <a:path extrusionOk="0" h="864" w="1023">
                <a:moveTo>
                  <a:pt x="0" y="106"/>
                </a:moveTo>
                <a:lnTo>
                  <a:pt x="0" y="0"/>
                </a:lnTo>
                <a:lnTo>
                  <a:pt x="523" y="0"/>
                </a:lnTo>
                <a:lnTo>
                  <a:pt x="523" y="485"/>
                </a:lnTo>
                <a:lnTo>
                  <a:pt x="1023" y="485"/>
                </a:lnTo>
                <a:lnTo>
                  <a:pt x="1023" y="864"/>
                </a:lnTo>
                <a:lnTo>
                  <a:pt x="8" y="864"/>
                </a:lnTo>
                <a:lnTo>
                  <a:pt x="8" y="257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87"/>
          <p:cNvSpPr/>
          <p:nvPr/>
        </p:nvSpPr>
        <p:spPr>
          <a:xfrm>
            <a:off x="4054475" y="3079750"/>
            <a:ext cx="757238" cy="1311275"/>
          </a:xfrm>
          <a:custGeom>
            <a:rect b="b" l="l" r="r" t="t"/>
            <a:pathLst>
              <a:path extrusionOk="0" h="826" w="477">
                <a:moveTo>
                  <a:pt x="0" y="91"/>
                </a:moveTo>
                <a:lnTo>
                  <a:pt x="0" y="0"/>
                </a:lnTo>
                <a:lnTo>
                  <a:pt x="477" y="0"/>
                </a:lnTo>
                <a:lnTo>
                  <a:pt x="477" y="826"/>
                </a:lnTo>
                <a:lnTo>
                  <a:pt x="15" y="826"/>
                </a:lnTo>
                <a:lnTo>
                  <a:pt x="15" y="250"/>
                </a:lnTo>
              </a:path>
            </a:pathLst>
          </a:custGeom>
          <a:noFill/>
          <a:ln cap="flat" cmpd="sng" w="5715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87"/>
          <p:cNvSpPr/>
          <p:nvPr/>
        </p:nvSpPr>
        <p:spPr>
          <a:xfrm>
            <a:off x="6870700" y="3044825"/>
            <a:ext cx="1624013" cy="1395413"/>
          </a:xfrm>
          <a:custGeom>
            <a:rect b="b" l="l" r="r" t="t"/>
            <a:pathLst>
              <a:path extrusionOk="0" h="864" w="1023">
                <a:moveTo>
                  <a:pt x="0" y="106"/>
                </a:moveTo>
                <a:lnTo>
                  <a:pt x="0" y="0"/>
                </a:lnTo>
                <a:lnTo>
                  <a:pt x="523" y="0"/>
                </a:lnTo>
                <a:lnTo>
                  <a:pt x="523" y="485"/>
                </a:lnTo>
                <a:lnTo>
                  <a:pt x="1023" y="485"/>
                </a:lnTo>
                <a:lnTo>
                  <a:pt x="1023" y="864"/>
                </a:lnTo>
                <a:lnTo>
                  <a:pt x="8" y="864"/>
                </a:lnTo>
                <a:lnTo>
                  <a:pt x="8" y="257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87"/>
          <p:cNvSpPr/>
          <p:nvPr/>
        </p:nvSpPr>
        <p:spPr>
          <a:xfrm>
            <a:off x="6896100" y="3081338"/>
            <a:ext cx="757238" cy="1311275"/>
          </a:xfrm>
          <a:custGeom>
            <a:rect b="b" l="l" r="r" t="t"/>
            <a:pathLst>
              <a:path extrusionOk="0" h="826" w="477">
                <a:moveTo>
                  <a:pt x="0" y="91"/>
                </a:moveTo>
                <a:lnTo>
                  <a:pt x="0" y="0"/>
                </a:lnTo>
                <a:lnTo>
                  <a:pt x="477" y="0"/>
                </a:lnTo>
                <a:lnTo>
                  <a:pt x="477" y="826"/>
                </a:lnTo>
                <a:lnTo>
                  <a:pt x="15" y="826"/>
                </a:lnTo>
                <a:lnTo>
                  <a:pt x="15" y="250"/>
                </a:lnTo>
              </a:path>
            </a:pathLst>
          </a:custGeom>
          <a:noFill/>
          <a:ln cap="flat" cmpd="sng" w="5715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87"/>
          <p:cNvSpPr/>
          <p:nvPr/>
        </p:nvSpPr>
        <p:spPr>
          <a:xfrm>
            <a:off x="4070350" y="4754563"/>
            <a:ext cx="1624013" cy="1395412"/>
          </a:xfrm>
          <a:custGeom>
            <a:rect b="b" l="l" r="r" t="t"/>
            <a:pathLst>
              <a:path extrusionOk="0" h="864" w="1023">
                <a:moveTo>
                  <a:pt x="0" y="106"/>
                </a:moveTo>
                <a:lnTo>
                  <a:pt x="0" y="0"/>
                </a:lnTo>
                <a:lnTo>
                  <a:pt x="523" y="0"/>
                </a:lnTo>
                <a:lnTo>
                  <a:pt x="523" y="485"/>
                </a:lnTo>
                <a:lnTo>
                  <a:pt x="1023" y="485"/>
                </a:lnTo>
                <a:lnTo>
                  <a:pt x="1023" y="864"/>
                </a:lnTo>
                <a:lnTo>
                  <a:pt x="8" y="864"/>
                </a:lnTo>
                <a:lnTo>
                  <a:pt x="8" y="257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87"/>
          <p:cNvSpPr/>
          <p:nvPr/>
        </p:nvSpPr>
        <p:spPr>
          <a:xfrm>
            <a:off x="4095750" y="4791075"/>
            <a:ext cx="757238" cy="1311275"/>
          </a:xfrm>
          <a:custGeom>
            <a:rect b="b" l="l" r="r" t="t"/>
            <a:pathLst>
              <a:path extrusionOk="0" h="826" w="477">
                <a:moveTo>
                  <a:pt x="0" y="91"/>
                </a:moveTo>
                <a:lnTo>
                  <a:pt x="0" y="0"/>
                </a:lnTo>
                <a:lnTo>
                  <a:pt x="477" y="0"/>
                </a:lnTo>
                <a:lnTo>
                  <a:pt x="477" y="826"/>
                </a:lnTo>
                <a:lnTo>
                  <a:pt x="15" y="826"/>
                </a:lnTo>
                <a:lnTo>
                  <a:pt x="15" y="250"/>
                </a:lnTo>
              </a:path>
            </a:pathLst>
          </a:custGeom>
          <a:noFill/>
          <a:ln cap="flat" cmpd="sng" w="5715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87"/>
          <p:cNvSpPr/>
          <p:nvPr/>
        </p:nvSpPr>
        <p:spPr>
          <a:xfrm>
            <a:off x="6875463" y="4756150"/>
            <a:ext cx="2124075" cy="1395413"/>
          </a:xfrm>
          <a:custGeom>
            <a:rect b="b" l="l" r="r" t="t"/>
            <a:pathLst>
              <a:path extrusionOk="0" h="879" w="1338">
                <a:moveTo>
                  <a:pt x="0" y="108"/>
                </a:moveTo>
                <a:lnTo>
                  <a:pt x="0" y="0"/>
                </a:lnTo>
                <a:lnTo>
                  <a:pt x="523" y="0"/>
                </a:lnTo>
                <a:lnTo>
                  <a:pt x="523" y="493"/>
                </a:lnTo>
                <a:lnTo>
                  <a:pt x="1338" y="490"/>
                </a:lnTo>
                <a:lnTo>
                  <a:pt x="1338" y="877"/>
                </a:lnTo>
                <a:lnTo>
                  <a:pt x="8" y="879"/>
                </a:lnTo>
                <a:lnTo>
                  <a:pt x="8" y="261"/>
                </a:lnTo>
              </a:path>
            </a:pathLst>
          </a:custGeom>
          <a:noFill/>
          <a:ln cap="flat" cmpd="sng" w="57150">
            <a:solidFill>
              <a:srgbClr val="D60093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87"/>
          <p:cNvSpPr/>
          <p:nvPr/>
        </p:nvSpPr>
        <p:spPr>
          <a:xfrm>
            <a:off x="6900863" y="4792663"/>
            <a:ext cx="757237" cy="1311275"/>
          </a:xfrm>
          <a:custGeom>
            <a:rect b="b" l="l" r="r" t="t"/>
            <a:pathLst>
              <a:path extrusionOk="0" h="826" w="477">
                <a:moveTo>
                  <a:pt x="0" y="91"/>
                </a:moveTo>
                <a:lnTo>
                  <a:pt x="0" y="0"/>
                </a:lnTo>
                <a:lnTo>
                  <a:pt x="477" y="0"/>
                </a:lnTo>
                <a:lnTo>
                  <a:pt x="477" y="826"/>
                </a:lnTo>
                <a:lnTo>
                  <a:pt x="15" y="826"/>
                </a:lnTo>
                <a:lnTo>
                  <a:pt x="15" y="250"/>
                </a:lnTo>
              </a:path>
            </a:pathLst>
          </a:custGeom>
          <a:noFill/>
          <a:ln cap="flat" cmpd="sng" w="5715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87"/>
          <p:cNvSpPr txBox="1"/>
          <p:nvPr/>
        </p:nvSpPr>
        <p:spPr>
          <a:xfrm>
            <a:off x="4972050" y="2924175"/>
            <a:ext cx="1322388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two currents</a:t>
            </a:r>
            <a:endParaRPr/>
          </a:p>
        </p:txBody>
      </p:sp>
      <p:sp>
        <p:nvSpPr>
          <p:cNvPr id="2310" name="Google Shape;2310;p87"/>
          <p:cNvSpPr txBox="1"/>
          <p:nvPr/>
        </p:nvSpPr>
        <p:spPr>
          <a:xfrm>
            <a:off x="4949825" y="4675188"/>
            <a:ext cx="1322388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no currents</a:t>
            </a:r>
            <a:endParaRPr/>
          </a:p>
        </p:txBody>
      </p:sp>
      <p:sp>
        <p:nvSpPr>
          <p:cNvPr id="2311" name="Google Shape;2311;p87"/>
          <p:cNvSpPr txBox="1"/>
          <p:nvPr/>
        </p:nvSpPr>
        <p:spPr>
          <a:xfrm>
            <a:off x="7827963" y="4645025"/>
            <a:ext cx="1322387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short circuit!</a:t>
            </a:r>
            <a:endParaRPr/>
          </a:p>
        </p:txBody>
      </p:sp>
      <p:sp>
        <p:nvSpPr>
          <p:cNvPr id="2312" name="Google Shape;2312;p87"/>
          <p:cNvSpPr txBox="1"/>
          <p:nvPr/>
        </p:nvSpPr>
        <p:spPr>
          <a:xfrm>
            <a:off x="7781925" y="2906713"/>
            <a:ext cx="1322388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lamp current</a:t>
            </a:r>
            <a:endParaRPr/>
          </a:p>
        </p:txBody>
      </p:sp>
      <p:sp>
        <p:nvSpPr>
          <p:cNvPr id="2313" name="Google Shape;2313;p87"/>
          <p:cNvSpPr/>
          <p:nvPr/>
        </p:nvSpPr>
        <p:spPr>
          <a:xfrm>
            <a:off x="6410325" y="2767013"/>
            <a:ext cx="239713" cy="23971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87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circuits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88"/>
          <p:cNvSpPr/>
          <p:nvPr/>
        </p:nvSpPr>
        <p:spPr>
          <a:xfrm>
            <a:off x="684213" y="1958975"/>
            <a:ext cx="7772400" cy="48990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non-ideal voltmeter is                                 used to measure the p.d. of the                                               20 kΩ resistor as shown. What will                                          its reading be?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There are two currents in the circuit because the voltmeter does not have a high enough resistance to prevent the green one from flowing.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20 kΩ resistor is in parallel with the 20 kΩ so that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20000 + 1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20000 = 2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20000.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20000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= 10 kΩ.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∙But then we have two 10 kΩ resistors in series and each takes half the battery voltage, or 3 V.</a:t>
            </a:r>
            <a:endParaRPr/>
          </a:p>
        </p:txBody>
      </p:sp>
      <p:sp>
        <p:nvSpPr>
          <p:cNvPr id="2321" name="Google Shape;2321;p8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322" name="Google Shape;2322;p88"/>
          <p:cNvGrpSpPr/>
          <p:nvPr/>
        </p:nvGrpSpPr>
        <p:grpSpPr>
          <a:xfrm>
            <a:off x="6040438" y="0"/>
            <a:ext cx="2840037" cy="1504950"/>
            <a:chOff x="3717" y="0"/>
            <a:chExt cx="1789" cy="948"/>
          </a:xfrm>
        </p:grpSpPr>
        <p:pic>
          <p:nvPicPr>
            <p:cNvPr id="2323" name="Google Shape;2323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17" y="0"/>
              <a:ext cx="1789" cy="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4" name="Google Shape;2324;p88"/>
            <p:cNvSpPr txBox="1"/>
            <p:nvPr/>
          </p:nvSpPr>
          <p:spPr>
            <a:xfrm>
              <a:off x="3860" y="345"/>
              <a:ext cx="149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equivalent ckt</a:t>
              </a:r>
              <a:endParaRPr/>
            </a:p>
          </p:txBody>
        </p:sp>
      </p:grpSp>
      <p:sp>
        <p:nvSpPr>
          <p:cNvPr id="2325" name="Google Shape;2325;p88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circuits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6" name="Google Shape;2326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1700" y="1455738"/>
            <a:ext cx="3101975" cy="25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88"/>
          <p:cNvSpPr/>
          <p:nvPr/>
        </p:nvSpPr>
        <p:spPr>
          <a:xfrm>
            <a:off x="6048375" y="1919288"/>
            <a:ext cx="2887663" cy="973137"/>
          </a:xfrm>
          <a:custGeom>
            <a:rect b="b" l="l" r="r" t="t"/>
            <a:pathLst>
              <a:path extrusionOk="0" h="613" w="1819">
                <a:moveTo>
                  <a:pt x="970" y="0"/>
                </a:moveTo>
                <a:lnTo>
                  <a:pt x="1819" y="0"/>
                </a:lnTo>
                <a:lnTo>
                  <a:pt x="1819" y="613"/>
                </a:lnTo>
                <a:lnTo>
                  <a:pt x="0" y="613"/>
                </a:lnTo>
                <a:lnTo>
                  <a:pt x="0" y="0"/>
                </a:lnTo>
                <a:lnTo>
                  <a:pt x="773" y="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88"/>
          <p:cNvSpPr/>
          <p:nvPr/>
        </p:nvSpPr>
        <p:spPr>
          <a:xfrm>
            <a:off x="6000750" y="1858963"/>
            <a:ext cx="2982913" cy="1719262"/>
          </a:xfrm>
          <a:custGeom>
            <a:rect b="b" l="l" r="r" t="t"/>
            <a:pathLst>
              <a:path extrusionOk="0" h="1083" w="1879">
                <a:moveTo>
                  <a:pt x="1000" y="0"/>
                </a:moveTo>
                <a:lnTo>
                  <a:pt x="1879" y="0"/>
                </a:lnTo>
                <a:lnTo>
                  <a:pt x="1879" y="1083"/>
                </a:lnTo>
                <a:lnTo>
                  <a:pt x="1137" y="1083"/>
                </a:lnTo>
                <a:lnTo>
                  <a:pt x="1137" y="689"/>
                </a:lnTo>
                <a:lnTo>
                  <a:pt x="0" y="689"/>
                </a:lnTo>
                <a:lnTo>
                  <a:pt x="0" y="0"/>
                </a:lnTo>
                <a:lnTo>
                  <a:pt x="811" y="0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88"/>
          <p:cNvSpPr/>
          <p:nvPr/>
        </p:nvSpPr>
        <p:spPr>
          <a:xfrm>
            <a:off x="7759700" y="2541588"/>
            <a:ext cx="1143000" cy="1443037"/>
          </a:xfrm>
          <a:prstGeom prst="rect">
            <a:avLst/>
          </a:prstGeom>
          <a:solidFill>
            <a:srgbClr val="FF9900">
              <a:alpha val="3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89"/>
          <p:cNvSpPr/>
          <p:nvPr/>
        </p:nvSpPr>
        <p:spPr>
          <a:xfrm>
            <a:off x="684213" y="1989138"/>
            <a:ext cx="7772400" cy="4868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All three circuits use the same resistors and the same cells.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one of the following                                        shows the correct ranking                                                             for the currents passing                                                            through the cells?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The bigger the                                 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smaller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36" name="Google Shape;2336;p8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37" name="Google Shape;2337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888" y="2601913"/>
            <a:ext cx="6486525" cy="202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4225" y="4751388"/>
            <a:ext cx="4419600" cy="20081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339" name="Google Shape;2339;p89"/>
          <p:cNvSpPr txBox="1"/>
          <p:nvPr/>
        </p:nvSpPr>
        <p:spPr>
          <a:xfrm>
            <a:off x="4614863" y="3441700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0" name="Google Shape;2340;p89"/>
          <p:cNvSpPr txBox="1"/>
          <p:nvPr/>
        </p:nvSpPr>
        <p:spPr>
          <a:xfrm>
            <a:off x="2187575" y="3467100"/>
            <a:ext cx="8350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89"/>
          <p:cNvSpPr txBox="1"/>
          <p:nvPr/>
        </p:nvSpPr>
        <p:spPr>
          <a:xfrm>
            <a:off x="6494463" y="3498850"/>
            <a:ext cx="4064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89"/>
          <p:cNvSpPr txBox="1"/>
          <p:nvPr/>
        </p:nvSpPr>
        <p:spPr>
          <a:xfrm>
            <a:off x="7146925" y="3708400"/>
            <a:ext cx="8350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r>
              <a:rPr i="1" lang="en-U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89"/>
          <p:cNvSpPr txBox="1"/>
          <p:nvPr/>
        </p:nvSpPr>
        <p:spPr>
          <a:xfrm>
            <a:off x="6796088" y="3263900"/>
            <a:ext cx="8350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89"/>
          <p:cNvSpPr txBox="1"/>
          <p:nvPr/>
        </p:nvSpPr>
        <p:spPr>
          <a:xfrm>
            <a:off x="1995488" y="3997325"/>
            <a:ext cx="117951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endParaRPr/>
          </a:p>
        </p:txBody>
      </p:sp>
      <p:sp>
        <p:nvSpPr>
          <p:cNvPr id="2345" name="Google Shape;2345;p89"/>
          <p:cNvSpPr txBox="1"/>
          <p:nvPr/>
        </p:nvSpPr>
        <p:spPr>
          <a:xfrm>
            <a:off x="4367213" y="3995738"/>
            <a:ext cx="10064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/>
          </a:p>
        </p:txBody>
      </p:sp>
      <p:sp>
        <p:nvSpPr>
          <p:cNvPr id="2346" name="Google Shape;2346;p89"/>
          <p:cNvSpPr txBox="1"/>
          <p:nvPr/>
        </p:nvSpPr>
        <p:spPr>
          <a:xfrm>
            <a:off x="6073775" y="3983038"/>
            <a:ext cx="110966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combo</a:t>
            </a:r>
            <a:endParaRPr/>
          </a:p>
        </p:txBody>
      </p:sp>
      <p:sp>
        <p:nvSpPr>
          <p:cNvPr id="2347" name="Google Shape;2347;p89"/>
          <p:cNvSpPr txBox="1"/>
          <p:nvPr/>
        </p:nvSpPr>
        <p:spPr>
          <a:xfrm>
            <a:off x="1833563" y="2976563"/>
            <a:ext cx="13985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Highest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89"/>
          <p:cNvSpPr txBox="1"/>
          <p:nvPr/>
        </p:nvSpPr>
        <p:spPr>
          <a:xfrm>
            <a:off x="4225925" y="2990850"/>
            <a:ext cx="13303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Lowest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89"/>
          <p:cNvSpPr txBox="1"/>
          <p:nvPr/>
        </p:nvSpPr>
        <p:spPr>
          <a:xfrm>
            <a:off x="6543675" y="2981325"/>
            <a:ext cx="12636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Middle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89"/>
          <p:cNvSpPr/>
          <p:nvPr/>
        </p:nvSpPr>
        <p:spPr>
          <a:xfrm>
            <a:off x="5070475" y="5911850"/>
            <a:ext cx="1647825" cy="808038"/>
          </a:xfrm>
          <a:prstGeom prst="rect">
            <a:avLst/>
          </a:prstGeom>
          <a:solidFill>
            <a:srgbClr val="FFFF00">
              <a:alpha val="3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89"/>
          <p:cNvSpPr/>
          <p:nvPr/>
        </p:nvSpPr>
        <p:spPr>
          <a:xfrm>
            <a:off x="7302500" y="5924550"/>
            <a:ext cx="1647825" cy="398463"/>
          </a:xfrm>
          <a:prstGeom prst="rect">
            <a:avLst/>
          </a:prstGeom>
          <a:solidFill>
            <a:srgbClr val="FFFF00">
              <a:alpha val="3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89"/>
          <p:cNvSpPr/>
          <p:nvPr/>
        </p:nvSpPr>
        <p:spPr>
          <a:xfrm>
            <a:off x="6726238" y="5937250"/>
            <a:ext cx="588962" cy="398463"/>
          </a:xfrm>
          <a:prstGeom prst="rect">
            <a:avLst/>
          </a:prstGeom>
          <a:solidFill>
            <a:srgbClr val="FFFF00">
              <a:alpha val="3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89"/>
          <p:cNvSpPr/>
          <p:nvPr/>
        </p:nvSpPr>
        <p:spPr>
          <a:xfrm>
            <a:off x="4566558" y="5964238"/>
            <a:ext cx="288925" cy="28892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89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circuits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90"/>
          <p:cNvSpPr/>
          <p:nvPr/>
        </p:nvSpPr>
        <p:spPr>
          <a:xfrm>
            <a:off x="684213" y="1989138"/>
            <a:ext cx="7772400" cy="4868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The voltmeter has                                                infinite resistance.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readings on the                                         voltmeter when the switch is                                                open and closed?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∙With the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open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                                                               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not part of the                                                                         circuit.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split the battery emf.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∙With the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closed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                                                                      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in parallel and are (1/2)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361" name="Google Shape;2361;p9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62" name="Google Shape;236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3313" y="4464050"/>
            <a:ext cx="4156075" cy="20542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363" name="Google Shape;2363;p90"/>
          <p:cNvSpPr/>
          <p:nvPr/>
        </p:nvSpPr>
        <p:spPr>
          <a:xfrm>
            <a:off x="5389563" y="5657850"/>
            <a:ext cx="1841500" cy="854075"/>
          </a:xfrm>
          <a:prstGeom prst="rect">
            <a:avLst/>
          </a:prstGeom>
          <a:solidFill>
            <a:schemeClr val="accent1">
              <a:alpha val="3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90"/>
          <p:cNvSpPr/>
          <p:nvPr/>
        </p:nvSpPr>
        <p:spPr>
          <a:xfrm>
            <a:off x="7226300" y="4805363"/>
            <a:ext cx="1841500" cy="433387"/>
          </a:xfrm>
          <a:prstGeom prst="rect">
            <a:avLst/>
          </a:prstGeom>
          <a:solidFill>
            <a:schemeClr val="accent1">
              <a:alpha val="3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90"/>
          <p:cNvSpPr/>
          <p:nvPr/>
        </p:nvSpPr>
        <p:spPr>
          <a:xfrm>
            <a:off x="7226300" y="5661025"/>
            <a:ext cx="1841500" cy="433388"/>
          </a:xfrm>
          <a:prstGeom prst="rect">
            <a:avLst/>
          </a:prstGeom>
          <a:solidFill>
            <a:schemeClr val="accent1">
              <a:alpha val="3450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90"/>
          <p:cNvSpPr/>
          <p:nvPr/>
        </p:nvSpPr>
        <p:spPr>
          <a:xfrm>
            <a:off x="4884738" y="5718175"/>
            <a:ext cx="288925" cy="28892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90"/>
          <p:cNvSpPr/>
          <p:nvPr/>
        </p:nvSpPr>
        <p:spPr>
          <a:xfrm>
            <a:off x="685800" y="1549400"/>
            <a:ext cx="7772400" cy="4397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circuits</a:t>
            </a:r>
            <a:endParaRPr i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8" name="Google Shape;2368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4613" y="1724025"/>
            <a:ext cx="391477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90"/>
          <p:cNvSpPr/>
          <p:nvPr/>
        </p:nvSpPr>
        <p:spPr>
          <a:xfrm>
            <a:off x="5832475" y="2535238"/>
            <a:ext cx="757238" cy="179387"/>
          </a:xfrm>
          <a:prstGeom prst="rect">
            <a:avLst/>
          </a:prstGeom>
          <a:solidFill>
            <a:srgbClr val="FF00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90"/>
          <p:cNvSpPr/>
          <p:nvPr/>
        </p:nvSpPr>
        <p:spPr>
          <a:xfrm>
            <a:off x="7686675" y="2536825"/>
            <a:ext cx="757238" cy="179388"/>
          </a:xfrm>
          <a:prstGeom prst="rect">
            <a:avLst/>
          </a:prstGeom>
          <a:solidFill>
            <a:srgbClr val="FFCC66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90"/>
          <p:cNvSpPr/>
          <p:nvPr/>
        </p:nvSpPr>
        <p:spPr>
          <a:xfrm>
            <a:off x="5822950" y="4210050"/>
            <a:ext cx="757238" cy="179388"/>
          </a:xfrm>
          <a:prstGeom prst="rect">
            <a:avLst/>
          </a:prstGeom>
          <a:solidFill>
            <a:srgbClr val="0080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90"/>
          <p:cNvSpPr txBox="1"/>
          <p:nvPr/>
        </p:nvSpPr>
        <p:spPr>
          <a:xfrm>
            <a:off x="6954838" y="1946275"/>
            <a:ext cx="3063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91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∙To make a chemical cell, or a battery, you can begin with a container of weak acid, and two electrodes made of different metals.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∙Different metals dissolve in acids at different rates.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∙When a metal dissolves, it enters                                           the acid as a positive ion, leaving                                         behind an electron.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call the weak acid the                                          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call the least                               negative metal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                                              terminal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We call the most negative                                     metal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negative terminal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79" name="Google Shape;2379;p91"/>
          <p:cNvSpPr/>
          <p:nvPr/>
        </p:nvSpPr>
        <p:spPr>
          <a:xfrm>
            <a:off x="6459311" y="4041998"/>
            <a:ext cx="261938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91"/>
          <p:cNvSpPr/>
          <p:nvPr/>
        </p:nvSpPr>
        <p:spPr>
          <a:xfrm>
            <a:off x="7734074" y="4043585"/>
            <a:ext cx="261937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91"/>
          <p:cNvSpPr/>
          <p:nvPr/>
        </p:nvSpPr>
        <p:spPr>
          <a:xfrm>
            <a:off x="5789386" y="4170585"/>
            <a:ext cx="2895600" cy="2687415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91"/>
          <p:cNvSpPr txBox="1"/>
          <p:nvPr/>
        </p:nvSpPr>
        <p:spPr>
          <a:xfrm>
            <a:off x="6852785" y="4876795"/>
            <a:ext cx="8833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 Acid</a:t>
            </a:r>
            <a:endParaRPr/>
          </a:p>
        </p:txBody>
      </p:sp>
      <p:sp>
        <p:nvSpPr>
          <p:cNvPr id="2383" name="Google Shape;2383;p91"/>
          <p:cNvSpPr txBox="1"/>
          <p:nvPr/>
        </p:nvSpPr>
        <p:spPr>
          <a:xfrm>
            <a:off x="6441849" y="4218210"/>
            <a:ext cx="280987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384" name="Google Shape;2384;p91"/>
          <p:cNvSpPr txBox="1"/>
          <p:nvPr/>
        </p:nvSpPr>
        <p:spPr>
          <a:xfrm>
            <a:off x="7695974" y="4200748"/>
            <a:ext cx="280987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385" name="Google Shape;2385;p91"/>
          <p:cNvSpPr txBox="1"/>
          <p:nvPr/>
        </p:nvSpPr>
        <p:spPr>
          <a:xfrm>
            <a:off x="7978549" y="4205510"/>
            <a:ext cx="280987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386" name="Google Shape;2386;p91"/>
          <p:cNvSpPr txBox="1"/>
          <p:nvPr/>
        </p:nvSpPr>
        <p:spPr>
          <a:xfrm>
            <a:off x="6724424" y="4222973"/>
            <a:ext cx="280987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387" name="Google Shape;2387;p91"/>
          <p:cNvSpPr txBox="1"/>
          <p:nvPr/>
        </p:nvSpPr>
        <p:spPr>
          <a:xfrm>
            <a:off x="6683149" y="6428237"/>
            <a:ext cx="1250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388" name="Google Shape;2388;p91"/>
          <p:cNvSpPr txBox="1"/>
          <p:nvPr/>
        </p:nvSpPr>
        <p:spPr>
          <a:xfrm>
            <a:off x="5936565" y="3794348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389" name="Google Shape;2389;p91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  <p:sp>
        <p:nvSpPr>
          <p:cNvPr id="2390" name="Google Shape;2390;p91"/>
          <p:cNvSpPr txBox="1"/>
          <p:nvPr/>
        </p:nvSpPr>
        <p:spPr>
          <a:xfrm rot="-5400000">
            <a:off x="7890216" y="5329577"/>
            <a:ext cx="1949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sp>
        <p:nvSpPr>
          <p:cNvPr id="2391" name="Google Shape;2391;p91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92"/>
          <p:cNvSpPr/>
          <p:nvPr/>
        </p:nvSpPr>
        <p:spPr>
          <a:xfrm>
            <a:off x="682625" y="4717144"/>
            <a:ext cx="5070475" cy="1640114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do the electrons run from (-) to (+) in the external circuit instead of the reverse?</a:t>
            </a:r>
            <a:endParaRPr/>
          </a:p>
        </p:txBody>
      </p:sp>
      <p:sp>
        <p:nvSpPr>
          <p:cNvPr id="2398" name="Google Shape;2398;p92"/>
          <p:cNvSpPr/>
          <p:nvPr/>
        </p:nvSpPr>
        <p:spPr>
          <a:xfrm>
            <a:off x="685800" y="1549400"/>
            <a:ext cx="7772400" cy="316774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∙Think of a chemical cell as a device                                   that converts chemical energy into                                  electrical energy.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we connect conductors and a                                 light bulb to the (+) and the (-)                                      terminals, we see that electrons                                           begin to flow in an electric current.</a:t>
            </a:r>
            <a:endParaRPr/>
          </a:p>
        </p:txBody>
      </p:sp>
      <p:sp>
        <p:nvSpPr>
          <p:cNvPr id="2399" name="Google Shape;2399;p92"/>
          <p:cNvSpPr/>
          <p:nvPr/>
        </p:nvSpPr>
        <p:spPr>
          <a:xfrm>
            <a:off x="6402388" y="22796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92"/>
          <p:cNvSpPr/>
          <p:nvPr/>
        </p:nvSpPr>
        <p:spPr>
          <a:xfrm>
            <a:off x="6388100" y="22653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92"/>
          <p:cNvSpPr/>
          <p:nvPr/>
        </p:nvSpPr>
        <p:spPr>
          <a:xfrm>
            <a:off x="6402388" y="22780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92"/>
          <p:cNvSpPr/>
          <p:nvPr/>
        </p:nvSpPr>
        <p:spPr>
          <a:xfrm>
            <a:off x="6399213" y="22447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3" name="Google Shape;2403;p92"/>
          <p:cNvGrpSpPr/>
          <p:nvPr/>
        </p:nvGrpSpPr>
        <p:grpSpPr>
          <a:xfrm>
            <a:off x="7618413" y="2663825"/>
            <a:ext cx="1143000" cy="165100"/>
            <a:chOff x="2068" y="3283"/>
            <a:chExt cx="720" cy="104"/>
          </a:xfrm>
        </p:grpSpPr>
        <p:sp>
          <p:nvSpPr>
            <p:cNvPr id="2404" name="Google Shape;2404;p92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92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6" name="Google Shape;2406;p92"/>
          <p:cNvGrpSpPr/>
          <p:nvPr/>
        </p:nvGrpSpPr>
        <p:grpSpPr>
          <a:xfrm rot="-2562564">
            <a:off x="7478713" y="2322513"/>
            <a:ext cx="1143000" cy="165100"/>
            <a:chOff x="2068" y="3283"/>
            <a:chExt cx="720" cy="104"/>
          </a:xfrm>
        </p:grpSpPr>
        <p:sp>
          <p:nvSpPr>
            <p:cNvPr id="2407" name="Google Shape;2407;p92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92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9" name="Google Shape;2409;p92"/>
          <p:cNvSpPr/>
          <p:nvPr/>
        </p:nvSpPr>
        <p:spPr>
          <a:xfrm>
            <a:off x="6115050" y="18700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92"/>
          <p:cNvSpPr/>
          <p:nvPr/>
        </p:nvSpPr>
        <p:spPr>
          <a:xfrm>
            <a:off x="6453188" y="40433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92"/>
          <p:cNvSpPr/>
          <p:nvPr/>
        </p:nvSpPr>
        <p:spPr>
          <a:xfrm>
            <a:off x="7727950" y="40449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92"/>
          <p:cNvSpPr/>
          <p:nvPr/>
        </p:nvSpPr>
        <p:spPr>
          <a:xfrm>
            <a:off x="5783263" y="41719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92"/>
          <p:cNvSpPr txBox="1"/>
          <p:nvPr/>
        </p:nvSpPr>
        <p:spPr>
          <a:xfrm>
            <a:off x="6435725" y="42195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414" name="Google Shape;2414;p92"/>
          <p:cNvSpPr txBox="1"/>
          <p:nvPr/>
        </p:nvSpPr>
        <p:spPr>
          <a:xfrm>
            <a:off x="7689850" y="42021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415" name="Google Shape;2415;p92"/>
          <p:cNvSpPr txBox="1"/>
          <p:nvPr/>
        </p:nvSpPr>
        <p:spPr>
          <a:xfrm>
            <a:off x="7972425" y="42068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416" name="Google Shape;2416;p92"/>
          <p:cNvSpPr txBox="1"/>
          <p:nvPr/>
        </p:nvSpPr>
        <p:spPr>
          <a:xfrm>
            <a:off x="6718300" y="42243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417" name="Google Shape;2417;p92"/>
          <p:cNvSpPr txBox="1"/>
          <p:nvPr/>
        </p:nvSpPr>
        <p:spPr>
          <a:xfrm>
            <a:off x="6689725" y="64325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418" name="Google Shape;2418;p92"/>
          <p:cNvSpPr txBox="1"/>
          <p:nvPr/>
        </p:nvSpPr>
        <p:spPr>
          <a:xfrm rot="-5400000">
            <a:off x="7889082" y="53379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419" name="Google Shape;2419;p92"/>
          <p:cNvGrpSpPr/>
          <p:nvPr/>
        </p:nvGrpSpPr>
        <p:grpSpPr>
          <a:xfrm>
            <a:off x="5995988" y="2743200"/>
            <a:ext cx="1103312" cy="366713"/>
            <a:chOff x="1166" y="2930"/>
            <a:chExt cx="695" cy="231"/>
          </a:xfrm>
        </p:grpSpPr>
        <p:grpSp>
          <p:nvGrpSpPr>
            <p:cNvPr id="2420" name="Google Shape;2420;p92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421" name="Google Shape;2421;p92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p92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3" name="Google Shape;2423;p92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92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92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426" name="Google Shape;2426;p92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427" name="Google Shape;2427;p92"/>
          <p:cNvGrpSpPr/>
          <p:nvPr/>
        </p:nvGrpSpPr>
        <p:grpSpPr>
          <a:xfrm>
            <a:off x="7354888" y="2676525"/>
            <a:ext cx="1312862" cy="419100"/>
            <a:chOff x="1902" y="3291"/>
            <a:chExt cx="827" cy="264"/>
          </a:xfrm>
        </p:grpSpPr>
        <p:sp>
          <p:nvSpPr>
            <p:cNvPr id="2428" name="Google Shape;2428;p92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92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92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92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92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92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92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5" name="Google Shape;2435;p92"/>
          <p:cNvSpPr/>
          <p:nvPr/>
        </p:nvSpPr>
        <p:spPr>
          <a:xfrm>
            <a:off x="5743575" y="28019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92"/>
          <p:cNvSpPr/>
          <p:nvPr/>
        </p:nvSpPr>
        <p:spPr>
          <a:xfrm>
            <a:off x="6915150" y="27924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92"/>
          <p:cNvSpPr/>
          <p:nvPr/>
        </p:nvSpPr>
        <p:spPr>
          <a:xfrm>
            <a:off x="7847013" y="27844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92"/>
          <p:cNvSpPr/>
          <p:nvPr/>
        </p:nvSpPr>
        <p:spPr>
          <a:xfrm>
            <a:off x="6110288" y="186531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9" name="Google Shape;2439;p92"/>
          <p:cNvGrpSpPr/>
          <p:nvPr/>
        </p:nvGrpSpPr>
        <p:grpSpPr>
          <a:xfrm>
            <a:off x="7769225" y="4210050"/>
            <a:ext cx="171450" cy="171450"/>
            <a:chOff x="690" y="2749"/>
            <a:chExt cx="108" cy="108"/>
          </a:xfrm>
        </p:grpSpPr>
        <p:sp>
          <p:nvSpPr>
            <p:cNvPr id="2440" name="Google Shape;2440;p92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1" name="Google Shape;2441;p92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42" name="Google Shape;2442;p9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2443" name="Google Shape;2443;p92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444" name="Google Shape;2444;p92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93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primary and secondary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∙Each time an electron leaves the (-),                                  the acid creates another electron.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time an electron enters the                                       (+), the acid neutralizes an electron.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∙This process is maintained until                                          one of the metals or the electrolyte                                               is completely used up.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cell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can’t be recharged.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secondary cell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                                             recharged by applying an external                        voltage, reversing the chemical                                          reaction.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93"/>
          <p:cNvSpPr/>
          <p:nvPr/>
        </p:nvSpPr>
        <p:spPr>
          <a:xfrm>
            <a:off x="6402388" y="22796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93"/>
          <p:cNvSpPr/>
          <p:nvPr/>
        </p:nvSpPr>
        <p:spPr>
          <a:xfrm>
            <a:off x="6388100" y="22653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93"/>
          <p:cNvSpPr/>
          <p:nvPr/>
        </p:nvSpPr>
        <p:spPr>
          <a:xfrm>
            <a:off x="6402388" y="22780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93"/>
          <p:cNvSpPr/>
          <p:nvPr/>
        </p:nvSpPr>
        <p:spPr>
          <a:xfrm>
            <a:off x="6399213" y="22447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5" name="Google Shape;2455;p93"/>
          <p:cNvGrpSpPr/>
          <p:nvPr/>
        </p:nvGrpSpPr>
        <p:grpSpPr>
          <a:xfrm>
            <a:off x="7618413" y="2663825"/>
            <a:ext cx="1143000" cy="165100"/>
            <a:chOff x="2068" y="3283"/>
            <a:chExt cx="720" cy="104"/>
          </a:xfrm>
        </p:grpSpPr>
        <p:sp>
          <p:nvSpPr>
            <p:cNvPr id="2456" name="Google Shape;2456;p93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93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8" name="Google Shape;2458;p93"/>
          <p:cNvSpPr/>
          <p:nvPr/>
        </p:nvSpPr>
        <p:spPr>
          <a:xfrm>
            <a:off x="6115050" y="18700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93"/>
          <p:cNvSpPr/>
          <p:nvPr/>
        </p:nvSpPr>
        <p:spPr>
          <a:xfrm>
            <a:off x="6453188" y="40433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93"/>
          <p:cNvSpPr/>
          <p:nvPr/>
        </p:nvSpPr>
        <p:spPr>
          <a:xfrm>
            <a:off x="7727950" y="40449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93"/>
          <p:cNvSpPr/>
          <p:nvPr/>
        </p:nvSpPr>
        <p:spPr>
          <a:xfrm>
            <a:off x="5783263" y="41719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93"/>
          <p:cNvSpPr txBox="1"/>
          <p:nvPr/>
        </p:nvSpPr>
        <p:spPr>
          <a:xfrm>
            <a:off x="6435725" y="42195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463" name="Google Shape;2463;p93"/>
          <p:cNvSpPr txBox="1"/>
          <p:nvPr/>
        </p:nvSpPr>
        <p:spPr>
          <a:xfrm>
            <a:off x="7689850" y="42021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464" name="Google Shape;2464;p93"/>
          <p:cNvSpPr txBox="1"/>
          <p:nvPr/>
        </p:nvSpPr>
        <p:spPr>
          <a:xfrm>
            <a:off x="7972425" y="42068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465" name="Google Shape;2465;p93"/>
          <p:cNvSpPr txBox="1"/>
          <p:nvPr/>
        </p:nvSpPr>
        <p:spPr>
          <a:xfrm>
            <a:off x="6718300" y="42243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466" name="Google Shape;2466;p93"/>
          <p:cNvSpPr txBox="1"/>
          <p:nvPr/>
        </p:nvSpPr>
        <p:spPr>
          <a:xfrm>
            <a:off x="6689725" y="64325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467" name="Google Shape;2467;p93"/>
          <p:cNvSpPr txBox="1"/>
          <p:nvPr/>
        </p:nvSpPr>
        <p:spPr>
          <a:xfrm rot="-5400000">
            <a:off x="7889082" y="53379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468" name="Google Shape;2468;p93"/>
          <p:cNvGrpSpPr/>
          <p:nvPr/>
        </p:nvGrpSpPr>
        <p:grpSpPr>
          <a:xfrm>
            <a:off x="5995988" y="2743200"/>
            <a:ext cx="1103312" cy="366713"/>
            <a:chOff x="1166" y="2930"/>
            <a:chExt cx="695" cy="231"/>
          </a:xfrm>
        </p:grpSpPr>
        <p:grpSp>
          <p:nvGrpSpPr>
            <p:cNvPr id="2469" name="Google Shape;2469;p93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470" name="Google Shape;2470;p93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p93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72" name="Google Shape;2472;p93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93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93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475" name="Google Shape;2475;p93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476" name="Google Shape;2476;p93"/>
          <p:cNvGrpSpPr/>
          <p:nvPr/>
        </p:nvGrpSpPr>
        <p:grpSpPr>
          <a:xfrm>
            <a:off x="7354888" y="2676525"/>
            <a:ext cx="1312862" cy="419100"/>
            <a:chOff x="1902" y="3291"/>
            <a:chExt cx="827" cy="264"/>
          </a:xfrm>
        </p:grpSpPr>
        <p:sp>
          <p:nvSpPr>
            <p:cNvPr id="2477" name="Google Shape;2477;p93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93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93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93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93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93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93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4" name="Google Shape;2484;p93"/>
          <p:cNvSpPr/>
          <p:nvPr/>
        </p:nvSpPr>
        <p:spPr>
          <a:xfrm>
            <a:off x="5743575" y="28019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93"/>
          <p:cNvSpPr/>
          <p:nvPr/>
        </p:nvSpPr>
        <p:spPr>
          <a:xfrm>
            <a:off x="6915150" y="27924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93"/>
          <p:cNvSpPr/>
          <p:nvPr/>
        </p:nvSpPr>
        <p:spPr>
          <a:xfrm>
            <a:off x="7847013" y="27844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93"/>
          <p:cNvSpPr/>
          <p:nvPr/>
        </p:nvSpPr>
        <p:spPr>
          <a:xfrm>
            <a:off x="6110288" y="186531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8" name="Google Shape;2488;p93"/>
          <p:cNvGrpSpPr/>
          <p:nvPr/>
        </p:nvGrpSpPr>
        <p:grpSpPr>
          <a:xfrm>
            <a:off x="7769225" y="4210050"/>
            <a:ext cx="171450" cy="171450"/>
            <a:chOff x="690" y="2749"/>
            <a:chExt cx="108" cy="108"/>
          </a:xfrm>
        </p:grpSpPr>
        <p:sp>
          <p:nvSpPr>
            <p:cNvPr id="2489" name="Google Shape;2489;p93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0" name="Google Shape;2490;p93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1" name="Google Shape;2491;p9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2492" name="Google Shape;2492;p93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493" name="Google Shape;2493;p93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  <p:pic>
        <p:nvPicPr>
          <p:cNvPr id="2494" name="Google Shape;249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278344">
            <a:off x="7789342" y="115501"/>
            <a:ext cx="101917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2873" y="801915"/>
            <a:ext cx="2209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94"/>
          <p:cNvSpPr/>
          <p:nvPr/>
        </p:nvSpPr>
        <p:spPr>
          <a:xfrm>
            <a:off x="685800" y="1973942"/>
            <a:ext cx="7772400" cy="488405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current isn’t really just                                    one electron moving through a circuit.                                    It is in reality more like a chain of                                           them, each one shoving the next                                             through the circuit.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Recalling the                                        charge law “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like charges repel,                                               and unlike charges attract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,” explain                                          why the current flows from (-) to (+)                                    in terms of the force of repulsion.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∙Consider electrons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∙Both electrons feel a repulsive                                              force at their respective electrodes.</a:t>
            </a:r>
            <a:endParaRPr/>
          </a:p>
        </p:txBody>
      </p:sp>
      <p:sp>
        <p:nvSpPr>
          <p:cNvPr id="2502" name="Google Shape;2502;p94"/>
          <p:cNvSpPr/>
          <p:nvPr/>
        </p:nvSpPr>
        <p:spPr>
          <a:xfrm>
            <a:off x="685800" y="1549399"/>
            <a:ext cx="7772400" cy="43905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2503" name="Google Shape;2503;p94"/>
          <p:cNvSpPr/>
          <p:nvPr/>
        </p:nvSpPr>
        <p:spPr>
          <a:xfrm>
            <a:off x="6402388" y="22796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94"/>
          <p:cNvSpPr/>
          <p:nvPr/>
        </p:nvSpPr>
        <p:spPr>
          <a:xfrm>
            <a:off x="6388100" y="22653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94"/>
          <p:cNvSpPr/>
          <p:nvPr/>
        </p:nvSpPr>
        <p:spPr>
          <a:xfrm>
            <a:off x="6402388" y="22780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6" name="Google Shape;2506;p94"/>
          <p:cNvSpPr/>
          <p:nvPr/>
        </p:nvSpPr>
        <p:spPr>
          <a:xfrm>
            <a:off x="6399213" y="22447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7" name="Google Shape;2507;p94"/>
          <p:cNvGrpSpPr/>
          <p:nvPr/>
        </p:nvGrpSpPr>
        <p:grpSpPr>
          <a:xfrm>
            <a:off x="7618413" y="2663825"/>
            <a:ext cx="1143000" cy="165100"/>
            <a:chOff x="2068" y="3283"/>
            <a:chExt cx="720" cy="104"/>
          </a:xfrm>
        </p:grpSpPr>
        <p:sp>
          <p:nvSpPr>
            <p:cNvPr id="2508" name="Google Shape;2508;p94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94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0" name="Google Shape;2510;p94"/>
          <p:cNvSpPr/>
          <p:nvPr/>
        </p:nvSpPr>
        <p:spPr>
          <a:xfrm>
            <a:off x="6115050" y="18700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94"/>
          <p:cNvSpPr/>
          <p:nvPr/>
        </p:nvSpPr>
        <p:spPr>
          <a:xfrm>
            <a:off x="6453188" y="40433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2" name="Google Shape;2512;p94"/>
          <p:cNvSpPr/>
          <p:nvPr/>
        </p:nvSpPr>
        <p:spPr>
          <a:xfrm>
            <a:off x="7727950" y="40449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3" name="Google Shape;2513;p94"/>
          <p:cNvSpPr/>
          <p:nvPr/>
        </p:nvSpPr>
        <p:spPr>
          <a:xfrm>
            <a:off x="5783263" y="41719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4" name="Google Shape;2514;p94"/>
          <p:cNvSpPr txBox="1"/>
          <p:nvPr/>
        </p:nvSpPr>
        <p:spPr>
          <a:xfrm>
            <a:off x="6435725" y="42195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515" name="Google Shape;2515;p94"/>
          <p:cNvSpPr txBox="1"/>
          <p:nvPr/>
        </p:nvSpPr>
        <p:spPr>
          <a:xfrm>
            <a:off x="7689850" y="42021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516" name="Google Shape;2516;p94"/>
          <p:cNvSpPr txBox="1"/>
          <p:nvPr/>
        </p:nvSpPr>
        <p:spPr>
          <a:xfrm>
            <a:off x="7972425" y="42068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517" name="Google Shape;2517;p94"/>
          <p:cNvSpPr txBox="1"/>
          <p:nvPr/>
        </p:nvSpPr>
        <p:spPr>
          <a:xfrm>
            <a:off x="6718300" y="42243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518" name="Google Shape;2518;p94"/>
          <p:cNvSpPr txBox="1"/>
          <p:nvPr/>
        </p:nvSpPr>
        <p:spPr>
          <a:xfrm>
            <a:off x="6689725" y="64325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519" name="Google Shape;2519;p94"/>
          <p:cNvSpPr txBox="1"/>
          <p:nvPr/>
        </p:nvSpPr>
        <p:spPr>
          <a:xfrm rot="-5400000">
            <a:off x="7889082" y="53379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520" name="Google Shape;2520;p94"/>
          <p:cNvGrpSpPr/>
          <p:nvPr/>
        </p:nvGrpSpPr>
        <p:grpSpPr>
          <a:xfrm>
            <a:off x="5995988" y="2743200"/>
            <a:ext cx="1103312" cy="366713"/>
            <a:chOff x="1166" y="2930"/>
            <a:chExt cx="695" cy="231"/>
          </a:xfrm>
        </p:grpSpPr>
        <p:grpSp>
          <p:nvGrpSpPr>
            <p:cNvPr id="2521" name="Google Shape;2521;p94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522" name="Google Shape;2522;p94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94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24" name="Google Shape;2524;p94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94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94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527" name="Google Shape;2527;p94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528" name="Google Shape;2528;p94"/>
          <p:cNvGrpSpPr/>
          <p:nvPr/>
        </p:nvGrpSpPr>
        <p:grpSpPr>
          <a:xfrm>
            <a:off x="7354888" y="2676525"/>
            <a:ext cx="1312862" cy="419100"/>
            <a:chOff x="1902" y="3291"/>
            <a:chExt cx="827" cy="264"/>
          </a:xfrm>
        </p:grpSpPr>
        <p:sp>
          <p:nvSpPr>
            <p:cNvPr id="2529" name="Google Shape;2529;p94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94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94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94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94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94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94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6" name="Google Shape;2536;p94"/>
          <p:cNvSpPr/>
          <p:nvPr/>
        </p:nvSpPr>
        <p:spPr>
          <a:xfrm>
            <a:off x="5743575" y="28019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94"/>
          <p:cNvSpPr/>
          <p:nvPr/>
        </p:nvSpPr>
        <p:spPr>
          <a:xfrm>
            <a:off x="6915150" y="27924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8" name="Google Shape;2538;p94"/>
          <p:cNvSpPr/>
          <p:nvPr/>
        </p:nvSpPr>
        <p:spPr>
          <a:xfrm>
            <a:off x="7847013" y="27844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9" name="Google Shape;2539;p94"/>
          <p:cNvSpPr/>
          <p:nvPr/>
        </p:nvSpPr>
        <p:spPr>
          <a:xfrm>
            <a:off x="6110288" y="186531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0" name="Google Shape;2540;p94"/>
          <p:cNvGrpSpPr/>
          <p:nvPr/>
        </p:nvGrpSpPr>
        <p:grpSpPr>
          <a:xfrm>
            <a:off x="7769225" y="3863975"/>
            <a:ext cx="171450" cy="171450"/>
            <a:chOff x="690" y="2749"/>
            <a:chExt cx="108" cy="108"/>
          </a:xfrm>
        </p:grpSpPr>
        <p:sp>
          <p:nvSpPr>
            <p:cNvPr id="2541" name="Google Shape;2541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2" name="Google Shape;2542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43" name="Google Shape;2543;p94"/>
          <p:cNvGrpSpPr/>
          <p:nvPr/>
        </p:nvGrpSpPr>
        <p:grpSpPr>
          <a:xfrm>
            <a:off x="6484938" y="3865563"/>
            <a:ext cx="171450" cy="171450"/>
            <a:chOff x="690" y="2749"/>
            <a:chExt cx="108" cy="108"/>
          </a:xfrm>
        </p:grpSpPr>
        <p:sp>
          <p:nvSpPr>
            <p:cNvPr id="2544" name="Google Shape;2544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5" name="Google Shape;2545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46" name="Google Shape;2546;p94"/>
          <p:cNvSpPr txBox="1"/>
          <p:nvPr/>
        </p:nvSpPr>
        <p:spPr>
          <a:xfrm>
            <a:off x="7391855" y="373833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547" name="Google Shape;2547;p94"/>
          <p:cNvSpPr txBox="1"/>
          <p:nvPr/>
        </p:nvSpPr>
        <p:spPr>
          <a:xfrm>
            <a:off x="6639152" y="3733574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grpSp>
        <p:nvGrpSpPr>
          <p:cNvPr id="2548" name="Google Shape;2548;p94"/>
          <p:cNvGrpSpPr/>
          <p:nvPr/>
        </p:nvGrpSpPr>
        <p:grpSpPr>
          <a:xfrm>
            <a:off x="8772525" y="3046413"/>
            <a:ext cx="171450" cy="171450"/>
            <a:chOff x="690" y="2749"/>
            <a:chExt cx="108" cy="108"/>
          </a:xfrm>
        </p:grpSpPr>
        <p:sp>
          <p:nvSpPr>
            <p:cNvPr id="2549" name="Google Shape;2549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0" name="Google Shape;2550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51" name="Google Shape;2551;p94"/>
          <p:cNvGrpSpPr/>
          <p:nvPr/>
        </p:nvGrpSpPr>
        <p:grpSpPr>
          <a:xfrm>
            <a:off x="8775700" y="3265488"/>
            <a:ext cx="171450" cy="171450"/>
            <a:chOff x="690" y="2749"/>
            <a:chExt cx="108" cy="108"/>
          </a:xfrm>
        </p:grpSpPr>
        <p:sp>
          <p:nvSpPr>
            <p:cNvPr id="2552" name="Google Shape;2552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3" name="Google Shape;2553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54" name="Google Shape;2554;p94"/>
          <p:cNvGrpSpPr/>
          <p:nvPr/>
        </p:nvGrpSpPr>
        <p:grpSpPr>
          <a:xfrm>
            <a:off x="8643938" y="3400425"/>
            <a:ext cx="171450" cy="171450"/>
            <a:chOff x="690" y="2749"/>
            <a:chExt cx="108" cy="108"/>
          </a:xfrm>
        </p:grpSpPr>
        <p:sp>
          <p:nvSpPr>
            <p:cNvPr id="2555" name="Google Shape;2555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6" name="Google Shape;2556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57" name="Google Shape;2557;p94"/>
          <p:cNvGrpSpPr/>
          <p:nvPr/>
        </p:nvGrpSpPr>
        <p:grpSpPr>
          <a:xfrm>
            <a:off x="8407400" y="3402013"/>
            <a:ext cx="171450" cy="171450"/>
            <a:chOff x="690" y="2749"/>
            <a:chExt cx="108" cy="108"/>
          </a:xfrm>
        </p:grpSpPr>
        <p:sp>
          <p:nvSpPr>
            <p:cNvPr id="2558" name="Google Shape;2558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59" name="Google Shape;2559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60" name="Google Shape;2560;p94"/>
          <p:cNvGrpSpPr/>
          <p:nvPr/>
        </p:nvGrpSpPr>
        <p:grpSpPr>
          <a:xfrm>
            <a:off x="8154988" y="3405188"/>
            <a:ext cx="171450" cy="171450"/>
            <a:chOff x="690" y="2749"/>
            <a:chExt cx="108" cy="108"/>
          </a:xfrm>
        </p:grpSpPr>
        <p:sp>
          <p:nvSpPr>
            <p:cNvPr id="2561" name="Google Shape;2561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62" name="Google Shape;2562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63" name="Google Shape;2563;p94"/>
          <p:cNvGrpSpPr/>
          <p:nvPr/>
        </p:nvGrpSpPr>
        <p:grpSpPr>
          <a:xfrm>
            <a:off x="7893050" y="3406775"/>
            <a:ext cx="171450" cy="171450"/>
            <a:chOff x="690" y="2749"/>
            <a:chExt cx="108" cy="108"/>
          </a:xfrm>
        </p:grpSpPr>
        <p:sp>
          <p:nvSpPr>
            <p:cNvPr id="2564" name="Google Shape;2564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65" name="Google Shape;2565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66" name="Google Shape;2566;p94"/>
          <p:cNvGrpSpPr/>
          <p:nvPr/>
        </p:nvGrpSpPr>
        <p:grpSpPr>
          <a:xfrm>
            <a:off x="7773988" y="3600450"/>
            <a:ext cx="171450" cy="171450"/>
            <a:chOff x="690" y="2749"/>
            <a:chExt cx="108" cy="108"/>
          </a:xfrm>
        </p:grpSpPr>
        <p:sp>
          <p:nvSpPr>
            <p:cNvPr id="2567" name="Google Shape;2567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68" name="Google Shape;2568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69" name="Google Shape;2569;p94"/>
          <p:cNvGrpSpPr/>
          <p:nvPr/>
        </p:nvGrpSpPr>
        <p:grpSpPr>
          <a:xfrm>
            <a:off x="6350000" y="3419475"/>
            <a:ext cx="171450" cy="171450"/>
            <a:chOff x="690" y="2749"/>
            <a:chExt cx="108" cy="108"/>
          </a:xfrm>
        </p:grpSpPr>
        <p:sp>
          <p:nvSpPr>
            <p:cNvPr id="2570" name="Google Shape;2570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1" name="Google Shape;2571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72" name="Google Shape;2572;p94"/>
          <p:cNvGrpSpPr/>
          <p:nvPr/>
        </p:nvGrpSpPr>
        <p:grpSpPr>
          <a:xfrm>
            <a:off x="6480175" y="3613150"/>
            <a:ext cx="171450" cy="171450"/>
            <a:chOff x="690" y="2749"/>
            <a:chExt cx="108" cy="108"/>
          </a:xfrm>
        </p:grpSpPr>
        <p:sp>
          <p:nvSpPr>
            <p:cNvPr id="2573" name="Google Shape;2573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4" name="Google Shape;2574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75" name="Google Shape;2575;p94"/>
          <p:cNvGrpSpPr/>
          <p:nvPr/>
        </p:nvGrpSpPr>
        <p:grpSpPr>
          <a:xfrm>
            <a:off x="6099175" y="3416300"/>
            <a:ext cx="171450" cy="171450"/>
            <a:chOff x="690" y="2749"/>
            <a:chExt cx="108" cy="108"/>
          </a:xfrm>
        </p:grpSpPr>
        <p:sp>
          <p:nvSpPr>
            <p:cNvPr id="2576" name="Google Shape;2576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7" name="Google Shape;2577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78" name="Google Shape;2578;p94"/>
          <p:cNvGrpSpPr/>
          <p:nvPr/>
        </p:nvGrpSpPr>
        <p:grpSpPr>
          <a:xfrm>
            <a:off x="5846763" y="3419475"/>
            <a:ext cx="171450" cy="171450"/>
            <a:chOff x="690" y="2749"/>
            <a:chExt cx="108" cy="108"/>
          </a:xfrm>
        </p:grpSpPr>
        <p:sp>
          <p:nvSpPr>
            <p:cNvPr id="2579" name="Google Shape;2579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0" name="Google Shape;2580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81" name="Google Shape;2581;p94"/>
          <p:cNvGrpSpPr/>
          <p:nvPr/>
        </p:nvGrpSpPr>
        <p:grpSpPr>
          <a:xfrm>
            <a:off x="5645150" y="3300413"/>
            <a:ext cx="171450" cy="171450"/>
            <a:chOff x="690" y="2749"/>
            <a:chExt cx="108" cy="108"/>
          </a:xfrm>
        </p:grpSpPr>
        <p:sp>
          <p:nvSpPr>
            <p:cNvPr id="2582" name="Google Shape;2582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3" name="Google Shape;2583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84" name="Google Shape;2584;p94"/>
          <p:cNvGrpSpPr/>
          <p:nvPr/>
        </p:nvGrpSpPr>
        <p:grpSpPr>
          <a:xfrm>
            <a:off x="8778875" y="2835275"/>
            <a:ext cx="171450" cy="171450"/>
            <a:chOff x="690" y="2749"/>
            <a:chExt cx="108" cy="108"/>
          </a:xfrm>
        </p:grpSpPr>
        <p:sp>
          <p:nvSpPr>
            <p:cNvPr id="2585" name="Google Shape;2585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6" name="Google Shape;2586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87" name="Google Shape;2587;p94"/>
          <p:cNvGrpSpPr/>
          <p:nvPr/>
        </p:nvGrpSpPr>
        <p:grpSpPr>
          <a:xfrm>
            <a:off x="8597900" y="2740025"/>
            <a:ext cx="171450" cy="171450"/>
            <a:chOff x="690" y="2749"/>
            <a:chExt cx="108" cy="108"/>
          </a:xfrm>
        </p:grpSpPr>
        <p:sp>
          <p:nvSpPr>
            <p:cNvPr id="2588" name="Google Shape;2588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9" name="Google Shape;2589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90" name="Google Shape;2590;p94"/>
          <p:cNvGrpSpPr/>
          <p:nvPr/>
        </p:nvGrpSpPr>
        <p:grpSpPr>
          <a:xfrm>
            <a:off x="8493125" y="2909888"/>
            <a:ext cx="171450" cy="171450"/>
            <a:chOff x="690" y="2749"/>
            <a:chExt cx="108" cy="108"/>
          </a:xfrm>
        </p:grpSpPr>
        <p:sp>
          <p:nvSpPr>
            <p:cNvPr id="2591" name="Google Shape;2591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2" name="Google Shape;2592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93" name="Google Shape;2593;p94"/>
          <p:cNvGrpSpPr/>
          <p:nvPr/>
        </p:nvGrpSpPr>
        <p:grpSpPr>
          <a:xfrm>
            <a:off x="8266113" y="2913063"/>
            <a:ext cx="171450" cy="171450"/>
            <a:chOff x="690" y="2749"/>
            <a:chExt cx="108" cy="108"/>
          </a:xfrm>
        </p:grpSpPr>
        <p:sp>
          <p:nvSpPr>
            <p:cNvPr id="2594" name="Google Shape;2594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5" name="Google Shape;2595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96" name="Google Shape;2596;p94"/>
          <p:cNvGrpSpPr/>
          <p:nvPr/>
        </p:nvGrpSpPr>
        <p:grpSpPr>
          <a:xfrm>
            <a:off x="8255000" y="2665413"/>
            <a:ext cx="171450" cy="171450"/>
            <a:chOff x="690" y="2749"/>
            <a:chExt cx="108" cy="108"/>
          </a:xfrm>
        </p:grpSpPr>
        <p:sp>
          <p:nvSpPr>
            <p:cNvPr id="2597" name="Google Shape;2597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8" name="Google Shape;2598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99" name="Google Shape;2599;p94"/>
          <p:cNvGrpSpPr/>
          <p:nvPr/>
        </p:nvGrpSpPr>
        <p:grpSpPr>
          <a:xfrm>
            <a:off x="8037513" y="2668588"/>
            <a:ext cx="171450" cy="171450"/>
            <a:chOff x="690" y="2749"/>
            <a:chExt cx="108" cy="108"/>
          </a:xfrm>
        </p:grpSpPr>
        <p:sp>
          <p:nvSpPr>
            <p:cNvPr id="2600" name="Google Shape;2600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1" name="Google Shape;2601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02" name="Google Shape;2602;p94"/>
          <p:cNvGrpSpPr/>
          <p:nvPr/>
        </p:nvGrpSpPr>
        <p:grpSpPr>
          <a:xfrm>
            <a:off x="7820025" y="2670175"/>
            <a:ext cx="171450" cy="171450"/>
            <a:chOff x="690" y="2749"/>
            <a:chExt cx="108" cy="108"/>
          </a:xfrm>
        </p:grpSpPr>
        <p:sp>
          <p:nvSpPr>
            <p:cNvPr id="2603" name="Google Shape;2603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4" name="Google Shape;2604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05" name="Google Shape;2605;p94"/>
          <p:cNvGrpSpPr/>
          <p:nvPr/>
        </p:nvGrpSpPr>
        <p:grpSpPr>
          <a:xfrm>
            <a:off x="7605713" y="2673350"/>
            <a:ext cx="171450" cy="171450"/>
            <a:chOff x="690" y="2749"/>
            <a:chExt cx="108" cy="108"/>
          </a:xfrm>
        </p:grpSpPr>
        <p:sp>
          <p:nvSpPr>
            <p:cNvPr id="2606" name="Google Shape;2606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7" name="Google Shape;2607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08" name="Google Shape;2608;p94"/>
          <p:cNvGrpSpPr/>
          <p:nvPr/>
        </p:nvGrpSpPr>
        <p:grpSpPr>
          <a:xfrm>
            <a:off x="7597775" y="2911475"/>
            <a:ext cx="171450" cy="171450"/>
            <a:chOff x="690" y="2749"/>
            <a:chExt cx="108" cy="108"/>
          </a:xfrm>
        </p:grpSpPr>
        <p:sp>
          <p:nvSpPr>
            <p:cNvPr id="2609" name="Google Shape;2609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0" name="Google Shape;2610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11" name="Google Shape;2611;p94"/>
          <p:cNvGrpSpPr/>
          <p:nvPr/>
        </p:nvGrpSpPr>
        <p:grpSpPr>
          <a:xfrm>
            <a:off x="7388225" y="2914650"/>
            <a:ext cx="171450" cy="171450"/>
            <a:chOff x="690" y="2749"/>
            <a:chExt cx="108" cy="108"/>
          </a:xfrm>
        </p:grpSpPr>
        <p:sp>
          <p:nvSpPr>
            <p:cNvPr id="2612" name="Google Shape;2612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3" name="Google Shape;2613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14" name="Google Shape;2614;p94"/>
          <p:cNvGrpSpPr/>
          <p:nvPr/>
        </p:nvGrpSpPr>
        <p:grpSpPr>
          <a:xfrm>
            <a:off x="7342188" y="2695575"/>
            <a:ext cx="171450" cy="171450"/>
            <a:chOff x="690" y="2749"/>
            <a:chExt cx="108" cy="108"/>
          </a:xfrm>
        </p:grpSpPr>
        <p:sp>
          <p:nvSpPr>
            <p:cNvPr id="2615" name="Google Shape;2615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6" name="Google Shape;2616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17" name="Google Shape;2617;p94"/>
          <p:cNvGrpSpPr/>
          <p:nvPr/>
        </p:nvGrpSpPr>
        <p:grpSpPr>
          <a:xfrm>
            <a:off x="7124700" y="2697163"/>
            <a:ext cx="171450" cy="171450"/>
            <a:chOff x="690" y="2749"/>
            <a:chExt cx="108" cy="108"/>
          </a:xfrm>
        </p:grpSpPr>
        <p:sp>
          <p:nvSpPr>
            <p:cNvPr id="2618" name="Google Shape;2618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9" name="Google Shape;2619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20" name="Google Shape;2620;p94"/>
          <p:cNvGrpSpPr/>
          <p:nvPr/>
        </p:nvGrpSpPr>
        <p:grpSpPr>
          <a:xfrm>
            <a:off x="6910388" y="2700338"/>
            <a:ext cx="171450" cy="171450"/>
            <a:chOff x="690" y="2749"/>
            <a:chExt cx="108" cy="108"/>
          </a:xfrm>
        </p:grpSpPr>
        <p:sp>
          <p:nvSpPr>
            <p:cNvPr id="2621" name="Google Shape;2621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2" name="Google Shape;2622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23" name="Google Shape;2623;p94"/>
          <p:cNvGrpSpPr/>
          <p:nvPr/>
        </p:nvGrpSpPr>
        <p:grpSpPr>
          <a:xfrm>
            <a:off x="6838950" y="2909888"/>
            <a:ext cx="171450" cy="171450"/>
            <a:chOff x="690" y="2749"/>
            <a:chExt cx="108" cy="108"/>
          </a:xfrm>
        </p:grpSpPr>
        <p:sp>
          <p:nvSpPr>
            <p:cNvPr id="2624" name="Google Shape;2624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5" name="Google Shape;2625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26" name="Google Shape;2626;p94"/>
          <p:cNvGrpSpPr/>
          <p:nvPr/>
        </p:nvGrpSpPr>
        <p:grpSpPr>
          <a:xfrm>
            <a:off x="6611938" y="2903538"/>
            <a:ext cx="171450" cy="171450"/>
            <a:chOff x="690" y="2749"/>
            <a:chExt cx="108" cy="108"/>
          </a:xfrm>
        </p:grpSpPr>
        <p:sp>
          <p:nvSpPr>
            <p:cNvPr id="2627" name="Google Shape;2627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8" name="Google Shape;2628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29" name="Google Shape;2629;p94"/>
          <p:cNvGrpSpPr/>
          <p:nvPr/>
        </p:nvGrpSpPr>
        <p:grpSpPr>
          <a:xfrm>
            <a:off x="6577013" y="2470150"/>
            <a:ext cx="171450" cy="171450"/>
            <a:chOff x="690" y="2749"/>
            <a:chExt cx="108" cy="108"/>
          </a:xfrm>
        </p:grpSpPr>
        <p:sp>
          <p:nvSpPr>
            <p:cNvPr id="2630" name="Google Shape;2630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1" name="Google Shape;2631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32" name="Google Shape;2632;p94"/>
          <p:cNvGrpSpPr/>
          <p:nvPr/>
        </p:nvGrpSpPr>
        <p:grpSpPr>
          <a:xfrm>
            <a:off x="6580188" y="2689225"/>
            <a:ext cx="171450" cy="171450"/>
            <a:chOff x="690" y="2749"/>
            <a:chExt cx="108" cy="108"/>
          </a:xfrm>
        </p:grpSpPr>
        <p:sp>
          <p:nvSpPr>
            <p:cNvPr id="2633" name="Google Shape;2633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4" name="Google Shape;2634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35" name="Google Shape;2635;p94"/>
          <p:cNvGrpSpPr/>
          <p:nvPr/>
        </p:nvGrpSpPr>
        <p:grpSpPr>
          <a:xfrm>
            <a:off x="6483350" y="2295525"/>
            <a:ext cx="171450" cy="171450"/>
            <a:chOff x="690" y="2749"/>
            <a:chExt cx="108" cy="108"/>
          </a:xfrm>
        </p:grpSpPr>
        <p:sp>
          <p:nvSpPr>
            <p:cNvPr id="2636" name="Google Shape;2636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7" name="Google Shape;2637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38" name="Google Shape;2638;p94"/>
          <p:cNvGrpSpPr/>
          <p:nvPr/>
        </p:nvGrpSpPr>
        <p:grpSpPr>
          <a:xfrm>
            <a:off x="6316663" y="2903538"/>
            <a:ext cx="171450" cy="171450"/>
            <a:chOff x="690" y="2749"/>
            <a:chExt cx="108" cy="108"/>
          </a:xfrm>
        </p:grpSpPr>
        <p:sp>
          <p:nvSpPr>
            <p:cNvPr id="2639" name="Google Shape;2639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40" name="Google Shape;2640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41" name="Google Shape;2641;p94"/>
          <p:cNvGrpSpPr/>
          <p:nvPr/>
        </p:nvGrpSpPr>
        <p:grpSpPr>
          <a:xfrm>
            <a:off x="6338888" y="2470150"/>
            <a:ext cx="171450" cy="171450"/>
            <a:chOff x="690" y="2749"/>
            <a:chExt cx="108" cy="108"/>
          </a:xfrm>
        </p:grpSpPr>
        <p:sp>
          <p:nvSpPr>
            <p:cNvPr id="2642" name="Google Shape;2642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43" name="Google Shape;2643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44" name="Google Shape;2644;p94"/>
          <p:cNvGrpSpPr/>
          <p:nvPr/>
        </p:nvGrpSpPr>
        <p:grpSpPr>
          <a:xfrm>
            <a:off x="6342063" y="2689225"/>
            <a:ext cx="171450" cy="171450"/>
            <a:chOff x="690" y="2749"/>
            <a:chExt cx="108" cy="108"/>
          </a:xfrm>
        </p:grpSpPr>
        <p:sp>
          <p:nvSpPr>
            <p:cNvPr id="2645" name="Google Shape;2645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46" name="Google Shape;2646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47" name="Google Shape;2647;p94"/>
          <p:cNvGrpSpPr/>
          <p:nvPr/>
        </p:nvGrpSpPr>
        <p:grpSpPr>
          <a:xfrm>
            <a:off x="6089650" y="2905125"/>
            <a:ext cx="171450" cy="171450"/>
            <a:chOff x="690" y="2749"/>
            <a:chExt cx="108" cy="108"/>
          </a:xfrm>
        </p:grpSpPr>
        <p:sp>
          <p:nvSpPr>
            <p:cNvPr id="2648" name="Google Shape;2648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49" name="Google Shape;2649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50" name="Google Shape;2650;p94"/>
          <p:cNvGrpSpPr/>
          <p:nvPr/>
        </p:nvGrpSpPr>
        <p:grpSpPr>
          <a:xfrm>
            <a:off x="6062663" y="2695575"/>
            <a:ext cx="171450" cy="171450"/>
            <a:chOff x="690" y="2749"/>
            <a:chExt cx="108" cy="108"/>
          </a:xfrm>
        </p:grpSpPr>
        <p:sp>
          <p:nvSpPr>
            <p:cNvPr id="2651" name="Google Shape;2651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2" name="Google Shape;2652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53" name="Google Shape;2653;p94"/>
          <p:cNvGrpSpPr/>
          <p:nvPr/>
        </p:nvGrpSpPr>
        <p:grpSpPr>
          <a:xfrm>
            <a:off x="5845175" y="2697163"/>
            <a:ext cx="171450" cy="171450"/>
            <a:chOff x="690" y="2749"/>
            <a:chExt cx="108" cy="108"/>
          </a:xfrm>
        </p:grpSpPr>
        <p:sp>
          <p:nvSpPr>
            <p:cNvPr id="2654" name="Google Shape;2654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5" name="Google Shape;2655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56" name="Google Shape;2656;p94"/>
          <p:cNvGrpSpPr/>
          <p:nvPr/>
        </p:nvGrpSpPr>
        <p:grpSpPr>
          <a:xfrm>
            <a:off x="5659438" y="2809875"/>
            <a:ext cx="171450" cy="171450"/>
            <a:chOff x="690" y="2749"/>
            <a:chExt cx="108" cy="108"/>
          </a:xfrm>
        </p:grpSpPr>
        <p:sp>
          <p:nvSpPr>
            <p:cNvPr id="2657" name="Google Shape;2657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8" name="Google Shape;2658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59" name="Google Shape;2659;p94"/>
          <p:cNvGrpSpPr/>
          <p:nvPr/>
        </p:nvGrpSpPr>
        <p:grpSpPr>
          <a:xfrm>
            <a:off x="5640388" y="3065463"/>
            <a:ext cx="171450" cy="171450"/>
            <a:chOff x="690" y="2749"/>
            <a:chExt cx="108" cy="108"/>
          </a:xfrm>
        </p:grpSpPr>
        <p:sp>
          <p:nvSpPr>
            <p:cNvPr id="2660" name="Google Shape;2660;p94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1" name="Google Shape;2661;p94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62" name="Google Shape;2662;p94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94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664" name="Google Shape;2664;p94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95"/>
          <p:cNvSpPr/>
          <p:nvPr/>
        </p:nvSpPr>
        <p:spPr>
          <a:xfrm>
            <a:off x="685800" y="1973942"/>
            <a:ext cx="7772400" cy="488405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current isn’t really just                                    one electron moving through a circuit.                                    It is in reality more like a chain of                                           them, each one shoving the next                                             through the circuit.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Recalling the                                        charge law “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like charges repel,                                               and unlike charges attract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,” explain                                          why the current flows from (-) to (+)                                    in terms of the force of repulsion.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∙But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’s is bigger than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’s because                                      there are more negatives repelling                                          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Thus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wins.</a:t>
            </a:r>
            <a:endParaRPr/>
          </a:p>
        </p:txBody>
      </p:sp>
      <p:sp>
        <p:nvSpPr>
          <p:cNvPr id="2671" name="Google Shape;2671;p95"/>
          <p:cNvSpPr/>
          <p:nvPr/>
        </p:nvSpPr>
        <p:spPr>
          <a:xfrm>
            <a:off x="685800" y="1549399"/>
            <a:ext cx="7772400" cy="43905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2672" name="Google Shape;2672;p95"/>
          <p:cNvSpPr/>
          <p:nvPr/>
        </p:nvSpPr>
        <p:spPr>
          <a:xfrm>
            <a:off x="6402388" y="22796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3" name="Google Shape;2673;p95"/>
          <p:cNvSpPr/>
          <p:nvPr/>
        </p:nvSpPr>
        <p:spPr>
          <a:xfrm>
            <a:off x="6388100" y="22653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95"/>
          <p:cNvSpPr/>
          <p:nvPr/>
        </p:nvSpPr>
        <p:spPr>
          <a:xfrm>
            <a:off x="6402388" y="22780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95"/>
          <p:cNvSpPr/>
          <p:nvPr/>
        </p:nvSpPr>
        <p:spPr>
          <a:xfrm>
            <a:off x="6399213" y="22447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6" name="Google Shape;2676;p95"/>
          <p:cNvGrpSpPr/>
          <p:nvPr/>
        </p:nvGrpSpPr>
        <p:grpSpPr>
          <a:xfrm>
            <a:off x="7618413" y="2663825"/>
            <a:ext cx="1143000" cy="165100"/>
            <a:chOff x="2068" y="3283"/>
            <a:chExt cx="720" cy="104"/>
          </a:xfrm>
        </p:grpSpPr>
        <p:sp>
          <p:nvSpPr>
            <p:cNvPr id="2677" name="Google Shape;2677;p95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95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9" name="Google Shape;2679;p95"/>
          <p:cNvSpPr/>
          <p:nvPr/>
        </p:nvSpPr>
        <p:spPr>
          <a:xfrm>
            <a:off x="6115050" y="18700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95"/>
          <p:cNvSpPr/>
          <p:nvPr/>
        </p:nvSpPr>
        <p:spPr>
          <a:xfrm>
            <a:off x="6453188" y="40433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95"/>
          <p:cNvSpPr/>
          <p:nvPr/>
        </p:nvSpPr>
        <p:spPr>
          <a:xfrm>
            <a:off x="7727950" y="40449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95"/>
          <p:cNvSpPr/>
          <p:nvPr/>
        </p:nvSpPr>
        <p:spPr>
          <a:xfrm>
            <a:off x="5783263" y="41719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95"/>
          <p:cNvSpPr txBox="1"/>
          <p:nvPr/>
        </p:nvSpPr>
        <p:spPr>
          <a:xfrm>
            <a:off x="6435725" y="42195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684" name="Google Shape;2684;p95"/>
          <p:cNvSpPr txBox="1"/>
          <p:nvPr/>
        </p:nvSpPr>
        <p:spPr>
          <a:xfrm>
            <a:off x="7689850" y="42021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685" name="Google Shape;2685;p95"/>
          <p:cNvSpPr txBox="1"/>
          <p:nvPr/>
        </p:nvSpPr>
        <p:spPr>
          <a:xfrm>
            <a:off x="7972425" y="42068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686" name="Google Shape;2686;p95"/>
          <p:cNvSpPr txBox="1"/>
          <p:nvPr/>
        </p:nvSpPr>
        <p:spPr>
          <a:xfrm>
            <a:off x="6718300" y="42243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687" name="Google Shape;2687;p95"/>
          <p:cNvSpPr txBox="1"/>
          <p:nvPr/>
        </p:nvSpPr>
        <p:spPr>
          <a:xfrm>
            <a:off x="6689725" y="64325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688" name="Google Shape;2688;p95"/>
          <p:cNvSpPr txBox="1"/>
          <p:nvPr/>
        </p:nvSpPr>
        <p:spPr>
          <a:xfrm rot="-5400000">
            <a:off x="7889082" y="53379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689" name="Google Shape;2689;p95"/>
          <p:cNvGrpSpPr/>
          <p:nvPr/>
        </p:nvGrpSpPr>
        <p:grpSpPr>
          <a:xfrm>
            <a:off x="5995988" y="2743200"/>
            <a:ext cx="1103312" cy="366713"/>
            <a:chOff x="1166" y="2930"/>
            <a:chExt cx="695" cy="231"/>
          </a:xfrm>
        </p:grpSpPr>
        <p:grpSp>
          <p:nvGrpSpPr>
            <p:cNvPr id="2690" name="Google Shape;2690;p95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691" name="Google Shape;2691;p95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p95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3" name="Google Shape;2693;p95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95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95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696" name="Google Shape;2696;p95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697" name="Google Shape;2697;p95"/>
          <p:cNvGrpSpPr/>
          <p:nvPr/>
        </p:nvGrpSpPr>
        <p:grpSpPr>
          <a:xfrm>
            <a:off x="7354888" y="2676525"/>
            <a:ext cx="1312862" cy="419100"/>
            <a:chOff x="1902" y="3291"/>
            <a:chExt cx="827" cy="264"/>
          </a:xfrm>
        </p:grpSpPr>
        <p:sp>
          <p:nvSpPr>
            <p:cNvPr id="2698" name="Google Shape;2698;p95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95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95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95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95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95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95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5" name="Google Shape;2705;p95"/>
          <p:cNvSpPr/>
          <p:nvPr/>
        </p:nvSpPr>
        <p:spPr>
          <a:xfrm>
            <a:off x="5743575" y="28019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95"/>
          <p:cNvSpPr/>
          <p:nvPr/>
        </p:nvSpPr>
        <p:spPr>
          <a:xfrm>
            <a:off x="6915150" y="27924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7" name="Google Shape;2707;p95"/>
          <p:cNvSpPr/>
          <p:nvPr/>
        </p:nvSpPr>
        <p:spPr>
          <a:xfrm>
            <a:off x="7847013" y="27844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95"/>
          <p:cNvSpPr/>
          <p:nvPr/>
        </p:nvSpPr>
        <p:spPr>
          <a:xfrm>
            <a:off x="6110288" y="186531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9" name="Google Shape;2709;p95"/>
          <p:cNvGrpSpPr/>
          <p:nvPr/>
        </p:nvGrpSpPr>
        <p:grpSpPr>
          <a:xfrm>
            <a:off x="7769225" y="3863975"/>
            <a:ext cx="171450" cy="171450"/>
            <a:chOff x="690" y="2749"/>
            <a:chExt cx="108" cy="108"/>
          </a:xfrm>
        </p:grpSpPr>
        <p:sp>
          <p:nvSpPr>
            <p:cNvPr id="2710" name="Google Shape;2710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1" name="Google Shape;2711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12" name="Google Shape;2712;p95"/>
          <p:cNvGrpSpPr/>
          <p:nvPr/>
        </p:nvGrpSpPr>
        <p:grpSpPr>
          <a:xfrm>
            <a:off x="6484938" y="3865563"/>
            <a:ext cx="171450" cy="171450"/>
            <a:chOff x="690" y="2749"/>
            <a:chExt cx="108" cy="108"/>
          </a:xfrm>
        </p:grpSpPr>
        <p:sp>
          <p:nvSpPr>
            <p:cNvPr id="2713" name="Google Shape;2713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4" name="Google Shape;2714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15" name="Google Shape;2715;p95"/>
          <p:cNvSpPr txBox="1"/>
          <p:nvPr/>
        </p:nvSpPr>
        <p:spPr>
          <a:xfrm>
            <a:off x="7391855" y="373833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716" name="Google Shape;2716;p95"/>
          <p:cNvSpPr txBox="1"/>
          <p:nvPr/>
        </p:nvSpPr>
        <p:spPr>
          <a:xfrm>
            <a:off x="6639152" y="3733574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grpSp>
        <p:nvGrpSpPr>
          <p:cNvPr id="2717" name="Google Shape;2717;p95"/>
          <p:cNvGrpSpPr/>
          <p:nvPr/>
        </p:nvGrpSpPr>
        <p:grpSpPr>
          <a:xfrm>
            <a:off x="8772525" y="3046413"/>
            <a:ext cx="171450" cy="171450"/>
            <a:chOff x="690" y="2749"/>
            <a:chExt cx="108" cy="108"/>
          </a:xfrm>
        </p:grpSpPr>
        <p:sp>
          <p:nvSpPr>
            <p:cNvPr id="2718" name="Google Shape;2718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9" name="Google Shape;2719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20" name="Google Shape;2720;p95"/>
          <p:cNvGrpSpPr/>
          <p:nvPr/>
        </p:nvGrpSpPr>
        <p:grpSpPr>
          <a:xfrm>
            <a:off x="8775700" y="3265488"/>
            <a:ext cx="171450" cy="171450"/>
            <a:chOff x="690" y="2749"/>
            <a:chExt cx="108" cy="108"/>
          </a:xfrm>
        </p:grpSpPr>
        <p:sp>
          <p:nvSpPr>
            <p:cNvPr id="2721" name="Google Shape;2721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2" name="Google Shape;2722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23" name="Google Shape;2723;p95"/>
          <p:cNvGrpSpPr/>
          <p:nvPr/>
        </p:nvGrpSpPr>
        <p:grpSpPr>
          <a:xfrm>
            <a:off x="8643938" y="3400425"/>
            <a:ext cx="171450" cy="171450"/>
            <a:chOff x="690" y="2749"/>
            <a:chExt cx="108" cy="108"/>
          </a:xfrm>
        </p:grpSpPr>
        <p:sp>
          <p:nvSpPr>
            <p:cNvPr id="2724" name="Google Shape;2724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5" name="Google Shape;2725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26" name="Google Shape;2726;p95"/>
          <p:cNvGrpSpPr/>
          <p:nvPr/>
        </p:nvGrpSpPr>
        <p:grpSpPr>
          <a:xfrm>
            <a:off x="8407400" y="3402013"/>
            <a:ext cx="171450" cy="171450"/>
            <a:chOff x="690" y="2749"/>
            <a:chExt cx="108" cy="108"/>
          </a:xfrm>
        </p:grpSpPr>
        <p:sp>
          <p:nvSpPr>
            <p:cNvPr id="2727" name="Google Shape;2727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8" name="Google Shape;2728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29" name="Google Shape;2729;p95"/>
          <p:cNvGrpSpPr/>
          <p:nvPr/>
        </p:nvGrpSpPr>
        <p:grpSpPr>
          <a:xfrm>
            <a:off x="8154988" y="3405188"/>
            <a:ext cx="171450" cy="171450"/>
            <a:chOff x="690" y="2749"/>
            <a:chExt cx="108" cy="108"/>
          </a:xfrm>
        </p:grpSpPr>
        <p:sp>
          <p:nvSpPr>
            <p:cNvPr id="2730" name="Google Shape;2730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1" name="Google Shape;2731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32" name="Google Shape;2732;p95"/>
          <p:cNvGrpSpPr/>
          <p:nvPr/>
        </p:nvGrpSpPr>
        <p:grpSpPr>
          <a:xfrm>
            <a:off x="7893050" y="3406775"/>
            <a:ext cx="171450" cy="171450"/>
            <a:chOff x="690" y="2749"/>
            <a:chExt cx="108" cy="108"/>
          </a:xfrm>
        </p:grpSpPr>
        <p:sp>
          <p:nvSpPr>
            <p:cNvPr id="2733" name="Google Shape;2733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4" name="Google Shape;2734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35" name="Google Shape;2735;p95"/>
          <p:cNvGrpSpPr/>
          <p:nvPr/>
        </p:nvGrpSpPr>
        <p:grpSpPr>
          <a:xfrm>
            <a:off x="7773988" y="3600450"/>
            <a:ext cx="171450" cy="171450"/>
            <a:chOff x="690" y="2749"/>
            <a:chExt cx="108" cy="108"/>
          </a:xfrm>
        </p:grpSpPr>
        <p:sp>
          <p:nvSpPr>
            <p:cNvPr id="2736" name="Google Shape;2736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7" name="Google Shape;2737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38" name="Google Shape;2738;p95"/>
          <p:cNvGrpSpPr/>
          <p:nvPr/>
        </p:nvGrpSpPr>
        <p:grpSpPr>
          <a:xfrm>
            <a:off x="6350000" y="3419475"/>
            <a:ext cx="171450" cy="171450"/>
            <a:chOff x="690" y="2749"/>
            <a:chExt cx="108" cy="108"/>
          </a:xfrm>
        </p:grpSpPr>
        <p:sp>
          <p:nvSpPr>
            <p:cNvPr id="2739" name="Google Shape;2739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0" name="Google Shape;2740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41" name="Google Shape;2741;p95"/>
          <p:cNvGrpSpPr/>
          <p:nvPr/>
        </p:nvGrpSpPr>
        <p:grpSpPr>
          <a:xfrm>
            <a:off x="6480175" y="3613150"/>
            <a:ext cx="171450" cy="171450"/>
            <a:chOff x="690" y="2749"/>
            <a:chExt cx="108" cy="108"/>
          </a:xfrm>
        </p:grpSpPr>
        <p:sp>
          <p:nvSpPr>
            <p:cNvPr id="2742" name="Google Shape;2742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3" name="Google Shape;2743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44" name="Google Shape;2744;p95"/>
          <p:cNvGrpSpPr/>
          <p:nvPr/>
        </p:nvGrpSpPr>
        <p:grpSpPr>
          <a:xfrm>
            <a:off x="6099175" y="3416300"/>
            <a:ext cx="171450" cy="171450"/>
            <a:chOff x="690" y="2749"/>
            <a:chExt cx="108" cy="108"/>
          </a:xfrm>
        </p:grpSpPr>
        <p:sp>
          <p:nvSpPr>
            <p:cNvPr id="2745" name="Google Shape;2745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6" name="Google Shape;2746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47" name="Google Shape;2747;p95"/>
          <p:cNvGrpSpPr/>
          <p:nvPr/>
        </p:nvGrpSpPr>
        <p:grpSpPr>
          <a:xfrm>
            <a:off x="5846763" y="3419475"/>
            <a:ext cx="171450" cy="171450"/>
            <a:chOff x="690" y="2749"/>
            <a:chExt cx="108" cy="108"/>
          </a:xfrm>
        </p:grpSpPr>
        <p:sp>
          <p:nvSpPr>
            <p:cNvPr id="2748" name="Google Shape;2748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9" name="Google Shape;2749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50" name="Google Shape;2750;p95"/>
          <p:cNvGrpSpPr/>
          <p:nvPr/>
        </p:nvGrpSpPr>
        <p:grpSpPr>
          <a:xfrm>
            <a:off x="5645150" y="3300413"/>
            <a:ext cx="171450" cy="171450"/>
            <a:chOff x="690" y="2749"/>
            <a:chExt cx="108" cy="108"/>
          </a:xfrm>
        </p:grpSpPr>
        <p:sp>
          <p:nvSpPr>
            <p:cNvPr id="2751" name="Google Shape;2751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52" name="Google Shape;2752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53" name="Google Shape;2753;p95"/>
          <p:cNvGrpSpPr/>
          <p:nvPr/>
        </p:nvGrpSpPr>
        <p:grpSpPr>
          <a:xfrm>
            <a:off x="8778875" y="2835275"/>
            <a:ext cx="171450" cy="171450"/>
            <a:chOff x="690" y="2749"/>
            <a:chExt cx="108" cy="108"/>
          </a:xfrm>
        </p:grpSpPr>
        <p:sp>
          <p:nvSpPr>
            <p:cNvPr id="2754" name="Google Shape;2754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55" name="Google Shape;2755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56" name="Google Shape;2756;p95"/>
          <p:cNvGrpSpPr/>
          <p:nvPr/>
        </p:nvGrpSpPr>
        <p:grpSpPr>
          <a:xfrm>
            <a:off x="8597900" y="2740025"/>
            <a:ext cx="171450" cy="171450"/>
            <a:chOff x="690" y="2749"/>
            <a:chExt cx="108" cy="108"/>
          </a:xfrm>
        </p:grpSpPr>
        <p:sp>
          <p:nvSpPr>
            <p:cNvPr id="2757" name="Google Shape;2757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58" name="Google Shape;2758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59" name="Google Shape;2759;p95"/>
          <p:cNvGrpSpPr/>
          <p:nvPr/>
        </p:nvGrpSpPr>
        <p:grpSpPr>
          <a:xfrm>
            <a:off x="8493125" y="2909888"/>
            <a:ext cx="171450" cy="171450"/>
            <a:chOff x="690" y="2749"/>
            <a:chExt cx="108" cy="108"/>
          </a:xfrm>
        </p:grpSpPr>
        <p:sp>
          <p:nvSpPr>
            <p:cNvPr id="2760" name="Google Shape;2760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61" name="Google Shape;2761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62" name="Google Shape;2762;p95"/>
          <p:cNvGrpSpPr/>
          <p:nvPr/>
        </p:nvGrpSpPr>
        <p:grpSpPr>
          <a:xfrm>
            <a:off x="8266113" y="2913063"/>
            <a:ext cx="171450" cy="171450"/>
            <a:chOff x="690" y="2749"/>
            <a:chExt cx="108" cy="108"/>
          </a:xfrm>
        </p:grpSpPr>
        <p:sp>
          <p:nvSpPr>
            <p:cNvPr id="2763" name="Google Shape;2763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64" name="Google Shape;2764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65" name="Google Shape;2765;p95"/>
          <p:cNvGrpSpPr/>
          <p:nvPr/>
        </p:nvGrpSpPr>
        <p:grpSpPr>
          <a:xfrm>
            <a:off x="8255000" y="2665413"/>
            <a:ext cx="171450" cy="171450"/>
            <a:chOff x="690" y="2749"/>
            <a:chExt cx="108" cy="108"/>
          </a:xfrm>
        </p:grpSpPr>
        <p:sp>
          <p:nvSpPr>
            <p:cNvPr id="2766" name="Google Shape;2766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67" name="Google Shape;2767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68" name="Google Shape;2768;p95"/>
          <p:cNvGrpSpPr/>
          <p:nvPr/>
        </p:nvGrpSpPr>
        <p:grpSpPr>
          <a:xfrm>
            <a:off x="8037513" y="2668588"/>
            <a:ext cx="171450" cy="171450"/>
            <a:chOff x="690" y="2749"/>
            <a:chExt cx="108" cy="108"/>
          </a:xfrm>
        </p:grpSpPr>
        <p:sp>
          <p:nvSpPr>
            <p:cNvPr id="2769" name="Google Shape;2769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0" name="Google Shape;2770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1" name="Google Shape;2771;p95"/>
          <p:cNvGrpSpPr/>
          <p:nvPr/>
        </p:nvGrpSpPr>
        <p:grpSpPr>
          <a:xfrm>
            <a:off x="7820025" y="2670175"/>
            <a:ext cx="171450" cy="171450"/>
            <a:chOff x="690" y="2749"/>
            <a:chExt cx="108" cy="108"/>
          </a:xfrm>
        </p:grpSpPr>
        <p:sp>
          <p:nvSpPr>
            <p:cNvPr id="2772" name="Google Shape;2772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3" name="Google Shape;2773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4" name="Google Shape;2774;p95"/>
          <p:cNvGrpSpPr/>
          <p:nvPr/>
        </p:nvGrpSpPr>
        <p:grpSpPr>
          <a:xfrm>
            <a:off x="7605713" y="2673350"/>
            <a:ext cx="171450" cy="171450"/>
            <a:chOff x="690" y="2749"/>
            <a:chExt cx="108" cy="108"/>
          </a:xfrm>
        </p:grpSpPr>
        <p:sp>
          <p:nvSpPr>
            <p:cNvPr id="2775" name="Google Shape;2775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6" name="Google Shape;2776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7" name="Google Shape;2777;p95"/>
          <p:cNvGrpSpPr/>
          <p:nvPr/>
        </p:nvGrpSpPr>
        <p:grpSpPr>
          <a:xfrm>
            <a:off x="7597775" y="2911475"/>
            <a:ext cx="171450" cy="171450"/>
            <a:chOff x="690" y="2749"/>
            <a:chExt cx="108" cy="108"/>
          </a:xfrm>
        </p:grpSpPr>
        <p:sp>
          <p:nvSpPr>
            <p:cNvPr id="2778" name="Google Shape;2778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9" name="Google Shape;2779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80" name="Google Shape;2780;p95"/>
          <p:cNvGrpSpPr/>
          <p:nvPr/>
        </p:nvGrpSpPr>
        <p:grpSpPr>
          <a:xfrm>
            <a:off x="7388225" y="2914650"/>
            <a:ext cx="171450" cy="171450"/>
            <a:chOff x="690" y="2749"/>
            <a:chExt cx="108" cy="108"/>
          </a:xfrm>
        </p:grpSpPr>
        <p:sp>
          <p:nvSpPr>
            <p:cNvPr id="2781" name="Google Shape;2781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82" name="Google Shape;2782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83" name="Google Shape;2783;p95"/>
          <p:cNvGrpSpPr/>
          <p:nvPr/>
        </p:nvGrpSpPr>
        <p:grpSpPr>
          <a:xfrm>
            <a:off x="7342188" y="2695575"/>
            <a:ext cx="171450" cy="171450"/>
            <a:chOff x="690" y="2749"/>
            <a:chExt cx="108" cy="108"/>
          </a:xfrm>
        </p:grpSpPr>
        <p:sp>
          <p:nvSpPr>
            <p:cNvPr id="2784" name="Google Shape;2784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85" name="Google Shape;2785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86" name="Google Shape;2786;p95"/>
          <p:cNvGrpSpPr/>
          <p:nvPr/>
        </p:nvGrpSpPr>
        <p:grpSpPr>
          <a:xfrm>
            <a:off x="7124700" y="2697163"/>
            <a:ext cx="171450" cy="171450"/>
            <a:chOff x="690" y="2749"/>
            <a:chExt cx="108" cy="108"/>
          </a:xfrm>
        </p:grpSpPr>
        <p:sp>
          <p:nvSpPr>
            <p:cNvPr id="2787" name="Google Shape;2787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88" name="Google Shape;2788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89" name="Google Shape;2789;p95"/>
          <p:cNvGrpSpPr/>
          <p:nvPr/>
        </p:nvGrpSpPr>
        <p:grpSpPr>
          <a:xfrm>
            <a:off x="6910388" y="2700338"/>
            <a:ext cx="171450" cy="171450"/>
            <a:chOff x="690" y="2749"/>
            <a:chExt cx="108" cy="108"/>
          </a:xfrm>
        </p:grpSpPr>
        <p:sp>
          <p:nvSpPr>
            <p:cNvPr id="2790" name="Google Shape;2790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1" name="Google Shape;2791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92" name="Google Shape;2792;p95"/>
          <p:cNvGrpSpPr/>
          <p:nvPr/>
        </p:nvGrpSpPr>
        <p:grpSpPr>
          <a:xfrm>
            <a:off x="6838950" y="2909888"/>
            <a:ext cx="171450" cy="171450"/>
            <a:chOff x="690" y="2749"/>
            <a:chExt cx="108" cy="108"/>
          </a:xfrm>
        </p:grpSpPr>
        <p:sp>
          <p:nvSpPr>
            <p:cNvPr id="2793" name="Google Shape;2793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4" name="Google Shape;2794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95" name="Google Shape;2795;p95"/>
          <p:cNvGrpSpPr/>
          <p:nvPr/>
        </p:nvGrpSpPr>
        <p:grpSpPr>
          <a:xfrm>
            <a:off x="6611938" y="2903538"/>
            <a:ext cx="171450" cy="171450"/>
            <a:chOff x="690" y="2749"/>
            <a:chExt cx="108" cy="108"/>
          </a:xfrm>
        </p:grpSpPr>
        <p:sp>
          <p:nvSpPr>
            <p:cNvPr id="2796" name="Google Shape;2796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7" name="Google Shape;2797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98" name="Google Shape;2798;p95"/>
          <p:cNvGrpSpPr/>
          <p:nvPr/>
        </p:nvGrpSpPr>
        <p:grpSpPr>
          <a:xfrm>
            <a:off x="6577013" y="2470150"/>
            <a:ext cx="171450" cy="171450"/>
            <a:chOff x="690" y="2749"/>
            <a:chExt cx="108" cy="108"/>
          </a:xfrm>
        </p:grpSpPr>
        <p:sp>
          <p:nvSpPr>
            <p:cNvPr id="2799" name="Google Shape;2799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0" name="Google Shape;2800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01" name="Google Shape;2801;p95"/>
          <p:cNvGrpSpPr/>
          <p:nvPr/>
        </p:nvGrpSpPr>
        <p:grpSpPr>
          <a:xfrm>
            <a:off x="6580188" y="2689225"/>
            <a:ext cx="171450" cy="171450"/>
            <a:chOff x="690" y="2749"/>
            <a:chExt cx="108" cy="108"/>
          </a:xfrm>
        </p:grpSpPr>
        <p:sp>
          <p:nvSpPr>
            <p:cNvPr id="2802" name="Google Shape;2802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3" name="Google Shape;2803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04" name="Google Shape;2804;p95"/>
          <p:cNvGrpSpPr/>
          <p:nvPr/>
        </p:nvGrpSpPr>
        <p:grpSpPr>
          <a:xfrm>
            <a:off x="6483350" y="2295525"/>
            <a:ext cx="171450" cy="171450"/>
            <a:chOff x="690" y="2749"/>
            <a:chExt cx="108" cy="108"/>
          </a:xfrm>
        </p:grpSpPr>
        <p:sp>
          <p:nvSpPr>
            <p:cNvPr id="2805" name="Google Shape;2805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6" name="Google Shape;2806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07" name="Google Shape;2807;p95"/>
          <p:cNvGrpSpPr/>
          <p:nvPr/>
        </p:nvGrpSpPr>
        <p:grpSpPr>
          <a:xfrm>
            <a:off x="6316663" y="2903538"/>
            <a:ext cx="171450" cy="171450"/>
            <a:chOff x="690" y="2749"/>
            <a:chExt cx="108" cy="108"/>
          </a:xfrm>
        </p:grpSpPr>
        <p:sp>
          <p:nvSpPr>
            <p:cNvPr id="2808" name="Google Shape;2808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9" name="Google Shape;2809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0" name="Google Shape;2810;p95"/>
          <p:cNvGrpSpPr/>
          <p:nvPr/>
        </p:nvGrpSpPr>
        <p:grpSpPr>
          <a:xfrm>
            <a:off x="6338888" y="2470150"/>
            <a:ext cx="171450" cy="171450"/>
            <a:chOff x="690" y="2749"/>
            <a:chExt cx="108" cy="108"/>
          </a:xfrm>
        </p:grpSpPr>
        <p:sp>
          <p:nvSpPr>
            <p:cNvPr id="2811" name="Google Shape;2811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2" name="Google Shape;2812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3" name="Google Shape;2813;p95"/>
          <p:cNvGrpSpPr/>
          <p:nvPr/>
        </p:nvGrpSpPr>
        <p:grpSpPr>
          <a:xfrm>
            <a:off x="6342063" y="2689225"/>
            <a:ext cx="171450" cy="171450"/>
            <a:chOff x="690" y="2749"/>
            <a:chExt cx="108" cy="108"/>
          </a:xfrm>
        </p:grpSpPr>
        <p:sp>
          <p:nvSpPr>
            <p:cNvPr id="2814" name="Google Shape;2814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5" name="Google Shape;2815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6" name="Google Shape;2816;p95"/>
          <p:cNvGrpSpPr/>
          <p:nvPr/>
        </p:nvGrpSpPr>
        <p:grpSpPr>
          <a:xfrm>
            <a:off x="6089650" y="2905125"/>
            <a:ext cx="171450" cy="171450"/>
            <a:chOff x="690" y="2749"/>
            <a:chExt cx="108" cy="108"/>
          </a:xfrm>
        </p:grpSpPr>
        <p:sp>
          <p:nvSpPr>
            <p:cNvPr id="2817" name="Google Shape;2817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8" name="Google Shape;2818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9" name="Google Shape;2819;p95"/>
          <p:cNvGrpSpPr/>
          <p:nvPr/>
        </p:nvGrpSpPr>
        <p:grpSpPr>
          <a:xfrm>
            <a:off x="6062663" y="2695575"/>
            <a:ext cx="171450" cy="171450"/>
            <a:chOff x="690" y="2749"/>
            <a:chExt cx="108" cy="108"/>
          </a:xfrm>
        </p:grpSpPr>
        <p:sp>
          <p:nvSpPr>
            <p:cNvPr id="2820" name="Google Shape;2820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1" name="Google Shape;2821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22" name="Google Shape;2822;p95"/>
          <p:cNvGrpSpPr/>
          <p:nvPr/>
        </p:nvGrpSpPr>
        <p:grpSpPr>
          <a:xfrm>
            <a:off x="5845175" y="2697163"/>
            <a:ext cx="171450" cy="171450"/>
            <a:chOff x="690" y="2749"/>
            <a:chExt cx="108" cy="108"/>
          </a:xfrm>
        </p:grpSpPr>
        <p:sp>
          <p:nvSpPr>
            <p:cNvPr id="2823" name="Google Shape;2823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4" name="Google Shape;2824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25" name="Google Shape;2825;p95"/>
          <p:cNvGrpSpPr/>
          <p:nvPr/>
        </p:nvGrpSpPr>
        <p:grpSpPr>
          <a:xfrm>
            <a:off x="5659438" y="2809875"/>
            <a:ext cx="171450" cy="171450"/>
            <a:chOff x="690" y="2749"/>
            <a:chExt cx="108" cy="108"/>
          </a:xfrm>
        </p:grpSpPr>
        <p:sp>
          <p:nvSpPr>
            <p:cNvPr id="2826" name="Google Shape;2826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7" name="Google Shape;2827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28" name="Google Shape;2828;p95"/>
          <p:cNvGrpSpPr/>
          <p:nvPr/>
        </p:nvGrpSpPr>
        <p:grpSpPr>
          <a:xfrm>
            <a:off x="5640388" y="3065463"/>
            <a:ext cx="171450" cy="171450"/>
            <a:chOff x="690" y="2749"/>
            <a:chExt cx="108" cy="108"/>
          </a:xfrm>
        </p:grpSpPr>
        <p:sp>
          <p:nvSpPr>
            <p:cNvPr id="2829" name="Google Shape;2829;p95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0" name="Google Shape;2830;p95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31" name="Google Shape;2831;p95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p95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833" name="Google Shape;2833;p95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p96"/>
          <p:cNvSpPr/>
          <p:nvPr/>
        </p:nvSpPr>
        <p:spPr>
          <a:xfrm>
            <a:off x="685800" y="1988456"/>
            <a:ext cx="7772400" cy="486954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Consider electrons                                             at points A and B. Which one has                                        more potential  energy?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electron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already                                           traveled through the circuit and is                                    returning to the cell so it can do no                                        more work on the bulb.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electron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still has the full                                         circuit to travel and can thus still do                                         work on the bulb.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the electron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more                                     potential energy.</a:t>
            </a:r>
            <a:endParaRPr/>
          </a:p>
        </p:txBody>
      </p:sp>
      <p:sp>
        <p:nvSpPr>
          <p:cNvPr id="2840" name="Google Shape;2840;p96"/>
          <p:cNvSpPr/>
          <p:nvPr/>
        </p:nvSpPr>
        <p:spPr>
          <a:xfrm>
            <a:off x="685800" y="1549399"/>
            <a:ext cx="7772400" cy="45357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electric potential energy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2841" name="Google Shape;2841;p96"/>
          <p:cNvSpPr/>
          <p:nvPr/>
        </p:nvSpPr>
        <p:spPr>
          <a:xfrm>
            <a:off x="6402388" y="22796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96"/>
          <p:cNvSpPr/>
          <p:nvPr/>
        </p:nvSpPr>
        <p:spPr>
          <a:xfrm>
            <a:off x="6388100" y="22653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96"/>
          <p:cNvSpPr/>
          <p:nvPr/>
        </p:nvSpPr>
        <p:spPr>
          <a:xfrm>
            <a:off x="6402388" y="22780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96"/>
          <p:cNvSpPr/>
          <p:nvPr/>
        </p:nvSpPr>
        <p:spPr>
          <a:xfrm>
            <a:off x="6399213" y="22447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5" name="Google Shape;2845;p96"/>
          <p:cNvGrpSpPr/>
          <p:nvPr/>
        </p:nvGrpSpPr>
        <p:grpSpPr>
          <a:xfrm>
            <a:off x="7618413" y="2663825"/>
            <a:ext cx="1143000" cy="165100"/>
            <a:chOff x="2068" y="3283"/>
            <a:chExt cx="720" cy="104"/>
          </a:xfrm>
        </p:grpSpPr>
        <p:sp>
          <p:nvSpPr>
            <p:cNvPr id="2846" name="Google Shape;2846;p96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96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8" name="Google Shape;2848;p96"/>
          <p:cNvSpPr/>
          <p:nvPr/>
        </p:nvSpPr>
        <p:spPr>
          <a:xfrm>
            <a:off x="6115050" y="18700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p96"/>
          <p:cNvSpPr/>
          <p:nvPr/>
        </p:nvSpPr>
        <p:spPr>
          <a:xfrm>
            <a:off x="6453188" y="40433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96"/>
          <p:cNvSpPr/>
          <p:nvPr/>
        </p:nvSpPr>
        <p:spPr>
          <a:xfrm>
            <a:off x="7727950" y="40449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p96"/>
          <p:cNvSpPr/>
          <p:nvPr/>
        </p:nvSpPr>
        <p:spPr>
          <a:xfrm>
            <a:off x="5783263" y="41719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96"/>
          <p:cNvSpPr txBox="1"/>
          <p:nvPr/>
        </p:nvSpPr>
        <p:spPr>
          <a:xfrm>
            <a:off x="6435725" y="42195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853" name="Google Shape;2853;p96"/>
          <p:cNvSpPr txBox="1"/>
          <p:nvPr/>
        </p:nvSpPr>
        <p:spPr>
          <a:xfrm>
            <a:off x="7689850" y="42021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854" name="Google Shape;2854;p96"/>
          <p:cNvSpPr txBox="1"/>
          <p:nvPr/>
        </p:nvSpPr>
        <p:spPr>
          <a:xfrm>
            <a:off x="7972425" y="42068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55" name="Google Shape;2855;p96"/>
          <p:cNvSpPr txBox="1"/>
          <p:nvPr/>
        </p:nvSpPr>
        <p:spPr>
          <a:xfrm>
            <a:off x="6718300" y="42243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56" name="Google Shape;2856;p96"/>
          <p:cNvSpPr txBox="1"/>
          <p:nvPr/>
        </p:nvSpPr>
        <p:spPr>
          <a:xfrm>
            <a:off x="6689725" y="64325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857" name="Google Shape;2857;p96"/>
          <p:cNvSpPr txBox="1"/>
          <p:nvPr/>
        </p:nvSpPr>
        <p:spPr>
          <a:xfrm rot="-5400000">
            <a:off x="7889082" y="53379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858" name="Google Shape;2858;p96"/>
          <p:cNvGrpSpPr/>
          <p:nvPr/>
        </p:nvGrpSpPr>
        <p:grpSpPr>
          <a:xfrm>
            <a:off x="5995988" y="2743200"/>
            <a:ext cx="1103312" cy="366713"/>
            <a:chOff x="1166" y="2930"/>
            <a:chExt cx="695" cy="231"/>
          </a:xfrm>
        </p:grpSpPr>
        <p:grpSp>
          <p:nvGrpSpPr>
            <p:cNvPr id="2859" name="Google Shape;2859;p96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860" name="Google Shape;2860;p96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1" name="Google Shape;2861;p96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2" name="Google Shape;2862;p96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96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96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865" name="Google Shape;2865;p96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866" name="Google Shape;2866;p96"/>
          <p:cNvGrpSpPr/>
          <p:nvPr/>
        </p:nvGrpSpPr>
        <p:grpSpPr>
          <a:xfrm>
            <a:off x="7354888" y="2676525"/>
            <a:ext cx="1312862" cy="419100"/>
            <a:chOff x="1902" y="3291"/>
            <a:chExt cx="827" cy="264"/>
          </a:xfrm>
        </p:grpSpPr>
        <p:sp>
          <p:nvSpPr>
            <p:cNvPr id="2867" name="Google Shape;2867;p96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96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96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96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96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96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96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4" name="Google Shape;2874;p96"/>
          <p:cNvSpPr/>
          <p:nvPr/>
        </p:nvSpPr>
        <p:spPr>
          <a:xfrm>
            <a:off x="5743575" y="28019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96"/>
          <p:cNvSpPr/>
          <p:nvPr/>
        </p:nvSpPr>
        <p:spPr>
          <a:xfrm>
            <a:off x="6915150" y="27924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96"/>
          <p:cNvSpPr/>
          <p:nvPr/>
        </p:nvSpPr>
        <p:spPr>
          <a:xfrm>
            <a:off x="7847013" y="27844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96"/>
          <p:cNvSpPr/>
          <p:nvPr/>
        </p:nvSpPr>
        <p:spPr>
          <a:xfrm>
            <a:off x="6111875" y="1865313"/>
            <a:ext cx="887413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8" name="Google Shape;2878;p96"/>
          <p:cNvGrpSpPr/>
          <p:nvPr/>
        </p:nvGrpSpPr>
        <p:grpSpPr>
          <a:xfrm>
            <a:off x="7391427" y="3738563"/>
            <a:ext cx="536577" cy="396875"/>
            <a:chOff x="4656" y="2355"/>
            <a:chExt cx="338" cy="250"/>
          </a:xfrm>
        </p:grpSpPr>
        <p:grpSp>
          <p:nvGrpSpPr>
            <p:cNvPr id="2879" name="Google Shape;2879;p96"/>
            <p:cNvGrpSpPr/>
            <p:nvPr/>
          </p:nvGrpSpPr>
          <p:grpSpPr>
            <a:xfrm>
              <a:off x="4886" y="2442"/>
              <a:ext cx="108" cy="108"/>
              <a:chOff x="690" y="2749"/>
              <a:chExt cx="108" cy="108"/>
            </a:xfrm>
          </p:grpSpPr>
          <p:sp>
            <p:nvSpPr>
              <p:cNvPr id="2880" name="Google Shape;2880;p96"/>
              <p:cNvSpPr/>
              <p:nvPr/>
            </p:nvSpPr>
            <p:spPr>
              <a:xfrm>
                <a:off x="690" y="2749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81" name="Google Shape;2881;p96"/>
              <p:cNvCxnSpPr/>
              <p:nvPr/>
            </p:nvCxnSpPr>
            <p:spPr>
              <a:xfrm>
                <a:off x="719" y="2800"/>
                <a:ext cx="5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882" name="Google Shape;2882;p96"/>
            <p:cNvSpPr txBox="1"/>
            <p:nvPr/>
          </p:nvSpPr>
          <p:spPr>
            <a:xfrm>
              <a:off x="4656" y="2355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883" name="Google Shape;2883;p96"/>
          <p:cNvGrpSpPr/>
          <p:nvPr/>
        </p:nvGrpSpPr>
        <p:grpSpPr>
          <a:xfrm>
            <a:off x="6496057" y="3733801"/>
            <a:ext cx="479426" cy="396875"/>
            <a:chOff x="4092" y="2352"/>
            <a:chExt cx="302" cy="250"/>
          </a:xfrm>
        </p:grpSpPr>
        <p:sp>
          <p:nvSpPr>
            <p:cNvPr id="2884" name="Google Shape;2884;p96"/>
            <p:cNvSpPr txBox="1"/>
            <p:nvPr/>
          </p:nvSpPr>
          <p:spPr>
            <a:xfrm>
              <a:off x="4182" y="2352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grpSp>
          <p:nvGrpSpPr>
            <p:cNvPr id="2885" name="Google Shape;2885;p96"/>
            <p:cNvGrpSpPr/>
            <p:nvPr/>
          </p:nvGrpSpPr>
          <p:grpSpPr>
            <a:xfrm>
              <a:off x="4092" y="2435"/>
              <a:ext cx="108" cy="108"/>
              <a:chOff x="690" y="2749"/>
              <a:chExt cx="108" cy="108"/>
            </a:xfrm>
          </p:grpSpPr>
          <p:sp>
            <p:nvSpPr>
              <p:cNvPr id="2886" name="Google Shape;2886;p96"/>
              <p:cNvSpPr/>
              <p:nvPr/>
            </p:nvSpPr>
            <p:spPr>
              <a:xfrm>
                <a:off x="690" y="2749"/>
                <a:ext cx="108" cy="108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87" name="Google Shape;2887;p96"/>
              <p:cNvCxnSpPr/>
              <p:nvPr/>
            </p:nvCxnSpPr>
            <p:spPr>
              <a:xfrm>
                <a:off x="719" y="2800"/>
                <a:ext cx="5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888" name="Google Shape;2888;p9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2889" name="Google Shape;2889;p96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890" name="Google Shape;2890;p96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9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conventional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∙Back in the days of Ben Franklin                                  scientists understood  that there                                        were two types of electricity:                                                positive and negative.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they didn’t know was which                                         one was actually free to travel                                            through a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influential Ben Franklin                                            guessed wrongly that it was the                                       positive charge.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∙Thus, his vision of our chemical cell                                           looked like the one on the </a:t>
            </a: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slide.</a:t>
            </a:r>
            <a:endParaRPr/>
          </a:p>
        </p:txBody>
      </p:sp>
      <p:sp>
        <p:nvSpPr>
          <p:cNvPr id="2897" name="Google Shape;2897;p97"/>
          <p:cNvSpPr/>
          <p:nvPr/>
        </p:nvSpPr>
        <p:spPr>
          <a:xfrm>
            <a:off x="6402388" y="22796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97"/>
          <p:cNvSpPr/>
          <p:nvPr/>
        </p:nvSpPr>
        <p:spPr>
          <a:xfrm>
            <a:off x="6388100" y="22653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97"/>
          <p:cNvSpPr/>
          <p:nvPr/>
        </p:nvSpPr>
        <p:spPr>
          <a:xfrm>
            <a:off x="6402388" y="22780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97"/>
          <p:cNvSpPr/>
          <p:nvPr/>
        </p:nvSpPr>
        <p:spPr>
          <a:xfrm>
            <a:off x="6399213" y="22447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1" name="Google Shape;2901;p97"/>
          <p:cNvGrpSpPr/>
          <p:nvPr/>
        </p:nvGrpSpPr>
        <p:grpSpPr>
          <a:xfrm>
            <a:off x="7618413" y="2663825"/>
            <a:ext cx="1143000" cy="165100"/>
            <a:chOff x="2068" y="3283"/>
            <a:chExt cx="720" cy="104"/>
          </a:xfrm>
        </p:grpSpPr>
        <p:sp>
          <p:nvSpPr>
            <p:cNvPr id="2902" name="Google Shape;2902;p97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97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4" name="Google Shape;2904;p97"/>
          <p:cNvSpPr/>
          <p:nvPr/>
        </p:nvSpPr>
        <p:spPr>
          <a:xfrm>
            <a:off x="6115050" y="18700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97"/>
          <p:cNvSpPr/>
          <p:nvPr/>
        </p:nvSpPr>
        <p:spPr>
          <a:xfrm>
            <a:off x="6453188" y="40433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97"/>
          <p:cNvSpPr/>
          <p:nvPr/>
        </p:nvSpPr>
        <p:spPr>
          <a:xfrm>
            <a:off x="7727950" y="40449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97"/>
          <p:cNvSpPr/>
          <p:nvPr/>
        </p:nvSpPr>
        <p:spPr>
          <a:xfrm>
            <a:off x="5783263" y="41719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97"/>
          <p:cNvSpPr txBox="1"/>
          <p:nvPr/>
        </p:nvSpPr>
        <p:spPr>
          <a:xfrm>
            <a:off x="6435725" y="42195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909" name="Google Shape;2909;p97"/>
          <p:cNvSpPr txBox="1"/>
          <p:nvPr/>
        </p:nvSpPr>
        <p:spPr>
          <a:xfrm>
            <a:off x="7689850" y="42021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910" name="Google Shape;2910;p97"/>
          <p:cNvSpPr txBox="1"/>
          <p:nvPr/>
        </p:nvSpPr>
        <p:spPr>
          <a:xfrm>
            <a:off x="7972425" y="42068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11" name="Google Shape;2911;p97"/>
          <p:cNvSpPr txBox="1"/>
          <p:nvPr/>
        </p:nvSpPr>
        <p:spPr>
          <a:xfrm>
            <a:off x="6718300" y="42243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12" name="Google Shape;2912;p97"/>
          <p:cNvSpPr txBox="1"/>
          <p:nvPr/>
        </p:nvSpPr>
        <p:spPr>
          <a:xfrm>
            <a:off x="6689725" y="64325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913" name="Google Shape;2913;p97"/>
          <p:cNvSpPr txBox="1"/>
          <p:nvPr/>
        </p:nvSpPr>
        <p:spPr>
          <a:xfrm rot="-5400000">
            <a:off x="7889082" y="53379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914" name="Google Shape;2914;p97"/>
          <p:cNvGrpSpPr/>
          <p:nvPr/>
        </p:nvGrpSpPr>
        <p:grpSpPr>
          <a:xfrm>
            <a:off x="5995988" y="2743200"/>
            <a:ext cx="1103312" cy="366713"/>
            <a:chOff x="1166" y="2930"/>
            <a:chExt cx="695" cy="231"/>
          </a:xfrm>
        </p:grpSpPr>
        <p:grpSp>
          <p:nvGrpSpPr>
            <p:cNvPr id="2915" name="Google Shape;2915;p97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916" name="Google Shape;2916;p97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7" name="Google Shape;2917;p97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8" name="Google Shape;2918;p97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97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97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921" name="Google Shape;2921;p97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922" name="Google Shape;2922;p97"/>
          <p:cNvGrpSpPr/>
          <p:nvPr/>
        </p:nvGrpSpPr>
        <p:grpSpPr>
          <a:xfrm>
            <a:off x="7354888" y="2676525"/>
            <a:ext cx="1312862" cy="419100"/>
            <a:chOff x="1902" y="3291"/>
            <a:chExt cx="827" cy="264"/>
          </a:xfrm>
        </p:grpSpPr>
        <p:sp>
          <p:nvSpPr>
            <p:cNvPr id="2923" name="Google Shape;2923;p97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97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97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97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97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97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97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0" name="Google Shape;2930;p97"/>
          <p:cNvSpPr/>
          <p:nvPr/>
        </p:nvSpPr>
        <p:spPr>
          <a:xfrm>
            <a:off x="5743575" y="28019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97"/>
          <p:cNvSpPr/>
          <p:nvPr/>
        </p:nvSpPr>
        <p:spPr>
          <a:xfrm>
            <a:off x="6915150" y="27924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97"/>
          <p:cNvSpPr/>
          <p:nvPr/>
        </p:nvSpPr>
        <p:spPr>
          <a:xfrm>
            <a:off x="7847013" y="27844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97"/>
          <p:cNvSpPr/>
          <p:nvPr/>
        </p:nvSpPr>
        <p:spPr>
          <a:xfrm>
            <a:off x="6110288" y="186531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4" name="Google Shape;2934;p97"/>
          <p:cNvGrpSpPr/>
          <p:nvPr/>
        </p:nvGrpSpPr>
        <p:grpSpPr>
          <a:xfrm>
            <a:off x="7769225" y="4210050"/>
            <a:ext cx="171450" cy="171450"/>
            <a:chOff x="690" y="2749"/>
            <a:chExt cx="108" cy="108"/>
          </a:xfrm>
        </p:grpSpPr>
        <p:sp>
          <p:nvSpPr>
            <p:cNvPr id="2935" name="Google Shape;2935;p97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36" name="Google Shape;2936;p97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franklin" id="2937" name="Google Shape;2937;p97"/>
          <p:cNvPicPr preferRelativeResize="0"/>
          <p:nvPr/>
        </p:nvPicPr>
        <p:blipFill rotWithShape="1">
          <a:blip r:embed="rId3">
            <a:alphaModFix/>
          </a:blip>
          <a:srcRect b="0" l="0" r="14931" t="0"/>
          <a:stretch/>
        </p:blipFill>
        <p:spPr>
          <a:xfrm>
            <a:off x="6991350" y="72574"/>
            <a:ext cx="1930346" cy="18904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938" name="Google Shape;2938;p9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2939" name="Google Shape;2939;p97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2940" name="Google Shape;2940;p97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9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conventional current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2947" name="Google Shape;2947;p98"/>
          <p:cNvSpPr/>
          <p:nvPr/>
        </p:nvSpPr>
        <p:spPr>
          <a:xfrm>
            <a:off x="3338059" y="4211638"/>
            <a:ext cx="2525712" cy="26463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 charge flow is called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conventional current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is still used in circuit analysis.</a:t>
            </a:r>
            <a:endParaRPr/>
          </a:p>
        </p:txBody>
      </p:sp>
      <p:sp>
        <p:nvSpPr>
          <p:cNvPr id="2948" name="Google Shape;2948;p98"/>
          <p:cNvSpPr/>
          <p:nvPr/>
        </p:nvSpPr>
        <p:spPr>
          <a:xfrm>
            <a:off x="6402388" y="230505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9" name="Google Shape;2949;p98"/>
          <p:cNvSpPr/>
          <p:nvPr/>
        </p:nvSpPr>
        <p:spPr>
          <a:xfrm>
            <a:off x="6388100" y="22907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98"/>
          <p:cNvSpPr/>
          <p:nvPr/>
        </p:nvSpPr>
        <p:spPr>
          <a:xfrm>
            <a:off x="6402388" y="230346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98"/>
          <p:cNvSpPr/>
          <p:nvPr/>
        </p:nvSpPr>
        <p:spPr>
          <a:xfrm>
            <a:off x="6399213" y="227012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2" name="Google Shape;2952;p98"/>
          <p:cNvGrpSpPr/>
          <p:nvPr/>
        </p:nvGrpSpPr>
        <p:grpSpPr>
          <a:xfrm>
            <a:off x="7618413" y="2689225"/>
            <a:ext cx="1143000" cy="165100"/>
            <a:chOff x="2068" y="3283"/>
            <a:chExt cx="720" cy="104"/>
          </a:xfrm>
        </p:grpSpPr>
        <p:sp>
          <p:nvSpPr>
            <p:cNvPr id="2953" name="Google Shape;2953;p98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98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5" name="Google Shape;2955;p98"/>
          <p:cNvSpPr/>
          <p:nvPr/>
        </p:nvSpPr>
        <p:spPr>
          <a:xfrm>
            <a:off x="6115050" y="189547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p98"/>
          <p:cNvSpPr/>
          <p:nvPr/>
        </p:nvSpPr>
        <p:spPr>
          <a:xfrm>
            <a:off x="6453188" y="406876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98"/>
          <p:cNvSpPr/>
          <p:nvPr/>
        </p:nvSpPr>
        <p:spPr>
          <a:xfrm>
            <a:off x="7727950" y="407035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98"/>
          <p:cNvSpPr/>
          <p:nvPr/>
        </p:nvSpPr>
        <p:spPr>
          <a:xfrm>
            <a:off x="5783263" y="419735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p98"/>
          <p:cNvSpPr txBox="1"/>
          <p:nvPr/>
        </p:nvSpPr>
        <p:spPr>
          <a:xfrm>
            <a:off x="6435725" y="4244975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960" name="Google Shape;2960;p98"/>
          <p:cNvSpPr txBox="1"/>
          <p:nvPr/>
        </p:nvSpPr>
        <p:spPr>
          <a:xfrm>
            <a:off x="7689850" y="422751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961" name="Google Shape;2961;p98"/>
          <p:cNvSpPr txBox="1"/>
          <p:nvPr/>
        </p:nvSpPr>
        <p:spPr>
          <a:xfrm>
            <a:off x="7972425" y="4232275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62" name="Google Shape;2962;p98"/>
          <p:cNvSpPr txBox="1"/>
          <p:nvPr/>
        </p:nvSpPr>
        <p:spPr>
          <a:xfrm>
            <a:off x="6718300" y="424973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63" name="Google Shape;2963;p98"/>
          <p:cNvSpPr txBox="1"/>
          <p:nvPr/>
        </p:nvSpPr>
        <p:spPr>
          <a:xfrm>
            <a:off x="6689725" y="645795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2964" name="Google Shape;2964;p98"/>
          <p:cNvSpPr txBox="1"/>
          <p:nvPr/>
        </p:nvSpPr>
        <p:spPr>
          <a:xfrm rot="-5400000">
            <a:off x="7889082" y="5363368"/>
            <a:ext cx="194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chemical cell</a:t>
            </a:r>
            <a:endParaRPr/>
          </a:p>
        </p:txBody>
      </p:sp>
      <p:grpSp>
        <p:nvGrpSpPr>
          <p:cNvPr id="2965" name="Google Shape;2965;p98"/>
          <p:cNvGrpSpPr/>
          <p:nvPr/>
        </p:nvGrpSpPr>
        <p:grpSpPr>
          <a:xfrm>
            <a:off x="5995988" y="2768600"/>
            <a:ext cx="1103312" cy="366713"/>
            <a:chOff x="1166" y="2930"/>
            <a:chExt cx="695" cy="231"/>
          </a:xfrm>
        </p:grpSpPr>
        <p:grpSp>
          <p:nvGrpSpPr>
            <p:cNvPr id="2966" name="Google Shape;2966;p98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2967" name="Google Shape;2967;p98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8" name="Google Shape;2968;p98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9" name="Google Shape;2969;p98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98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98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972" name="Google Shape;2972;p98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2973" name="Google Shape;2973;p98"/>
          <p:cNvGrpSpPr/>
          <p:nvPr/>
        </p:nvGrpSpPr>
        <p:grpSpPr>
          <a:xfrm>
            <a:off x="7354888" y="2701925"/>
            <a:ext cx="1312862" cy="419100"/>
            <a:chOff x="1902" y="3291"/>
            <a:chExt cx="827" cy="264"/>
          </a:xfrm>
        </p:grpSpPr>
        <p:sp>
          <p:nvSpPr>
            <p:cNvPr id="2974" name="Google Shape;2974;p98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98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98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98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98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98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98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1" name="Google Shape;2981;p98"/>
          <p:cNvSpPr/>
          <p:nvPr/>
        </p:nvSpPr>
        <p:spPr>
          <a:xfrm>
            <a:off x="5743575" y="282733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98"/>
          <p:cNvSpPr/>
          <p:nvPr/>
        </p:nvSpPr>
        <p:spPr>
          <a:xfrm>
            <a:off x="6915150" y="281781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98"/>
          <p:cNvSpPr/>
          <p:nvPr/>
        </p:nvSpPr>
        <p:spPr>
          <a:xfrm>
            <a:off x="7847013" y="280987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98"/>
          <p:cNvSpPr/>
          <p:nvPr/>
        </p:nvSpPr>
        <p:spPr>
          <a:xfrm>
            <a:off x="6110288" y="189071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5" name="Google Shape;2985;p98"/>
          <p:cNvGrpSpPr/>
          <p:nvPr/>
        </p:nvGrpSpPr>
        <p:grpSpPr>
          <a:xfrm>
            <a:off x="7769225" y="4235450"/>
            <a:ext cx="171450" cy="171450"/>
            <a:chOff x="690" y="2749"/>
            <a:chExt cx="108" cy="108"/>
          </a:xfrm>
        </p:grpSpPr>
        <p:sp>
          <p:nvSpPr>
            <p:cNvPr id="2986" name="Google Shape;2986;p98"/>
            <p:cNvSpPr/>
            <p:nvPr/>
          </p:nvSpPr>
          <p:spPr>
            <a:xfrm>
              <a:off x="690" y="2749"/>
              <a:ext cx="108" cy="108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87" name="Google Shape;2987;p98"/>
            <p:cNvCxnSpPr/>
            <p:nvPr/>
          </p:nvCxnSpPr>
          <p:spPr>
            <a:xfrm>
              <a:off x="719" y="2800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88" name="Google Shape;2988;p98"/>
          <p:cNvSpPr/>
          <p:nvPr/>
        </p:nvSpPr>
        <p:spPr>
          <a:xfrm>
            <a:off x="1050925" y="228600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p98"/>
          <p:cNvSpPr/>
          <p:nvPr/>
        </p:nvSpPr>
        <p:spPr>
          <a:xfrm>
            <a:off x="1036638" y="227171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98"/>
          <p:cNvSpPr/>
          <p:nvPr/>
        </p:nvSpPr>
        <p:spPr>
          <a:xfrm>
            <a:off x="1050925" y="228441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p98"/>
          <p:cNvSpPr/>
          <p:nvPr/>
        </p:nvSpPr>
        <p:spPr>
          <a:xfrm>
            <a:off x="1047750" y="225107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2" name="Google Shape;2992;p98"/>
          <p:cNvGrpSpPr/>
          <p:nvPr/>
        </p:nvGrpSpPr>
        <p:grpSpPr>
          <a:xfrm>
            <a:off x="2266950" y="2670175"/>
            <a:ext cx="1143000" cy="165100"/>
            <a:chOff x="2068" y="3283"/>
            <a:chExt cx="720" cy="104"/>
          </a:xfrm>
        </p:grpSpPr>
        <p:sp>
          <p:nvSpPr>
            <p:cNvPr id="2993" name="Google Shape;2993;p98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98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95" name="Google Shape;2995;p98"/>
          <p:cNvSpPr/>
          <p:nvPr/>
        </p:nvSpPr>
        <p:spPr>
          <a:xfrm>
            <a:off x="763588" y="1876425"/>
            <a:ext cx="887412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98"/>
          <p:cNvSpPr/>
          <p:nvPr/>
        </p:nvSpPr>
        <p:spPr>
          <a:xfrm>
            <a:off x="1101725" y="4049713"/>
            <a:ext cx="261938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p98"/>
          <p:cNvSpPr/>
          <p:nvPr/>
        </p:nvSpPr>
        <p:spPr>
          <a:xfrm>
            <a:off x="2376488" y="4051300"/>
            <a:ext cx="261937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p98"/>
          <p:cNvSpPr/>
          <p:nvPr/>
        </p:nvSpPr>
        <p:spPr>
          <a:xfrm>
            <a:off x="431800" y="417830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9" name="Google Shape;2999;p98"/>
          <p:cNvSpPr txBox="1"/>
          <p:nvPr/>
        </p:nvSpPr>
        <p:spPr>
          <a:xfrm>
            <a:off x="2649538" y="4235450"/>
            <a:ext cx="280987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000" name="Google Shape;3000;p98"/>
          <p:cNvSpPr txBox="1"/>
          <p:nvPr/>
        </p:nvSpPr>
        <p:spPr>
          <a:xfrm>
            <a:off x="1404938" y="4210050"/>
            <a:ext cx="280987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001" name="Google Shape;3001;p98"/>
          <p:cNvSpPr txBox="1"/>
          <p:nvPr/>
        </p:nvSpPr>
        <p:spPr>
          <a:xfrm>
            <a:off x="1074738" y="4195763"/>
            <a:ext cx="280987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002" name="Google Shape;3002;p98"/>
          <p:cNvSpPr txBox="1"/>
          <p:nvPr/>
        </p:nvSpPr>
        <p:spPr>
          <a:xfrm>
            <a:off x="2352675" y="4230688"/>
            <a:ext cx="280988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003" name="Google Shape;3003;p98"/>
          <p:cNvSpPr txBox="1"/>
          <p:nvPr/>
        </p:nvSpPr>
        <p:spPr>
          <a:xfrm>
            <a:off x="1338263" y="643890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3004" name="Google Shape;3004;p98"/>
          <p:cNvSpPr txBox="1"/>
          <p:nvPr/>
        </p:nvSpPr>
        <p:spPr>
          <a:xfrm rot="-5400000">
            <a:off x="-1154906" y="5336381"/>
            <a:ext cx="26765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Franklin’s chemical cell</a:t>
            </a:r>
            <a:endParaRPr/>
          </a:p>
        </p:txBody>
      </p:sp>
      <p:grpSp>
        <p:nvGrpSpPr>
          <p:cNvPr id="3005" name="Google Shape;3005;p98"/>
          <p:cNvGrpSpPr/>
          <p:nvPr/>
        </p:nvGrpSpPr>
        <p:grpSpPr>
          <a:xfrm>
            <a:off x="644525" y="2749550"/>
            <a:ext cx="1103313" cy="366713"/>
            <a:chOff x="1166" y="2930"/>
            <a:chExt cx="695" cy="231"/>
          </a:xfrm>
        </p:grpSpPr>
        <p:grpSp>
          <p:nvGrpSpPr>
            <p:cNvPr id="3006" name="Google Shape;3006;p98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3007" name="Google Shape;3007;p98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8" name="Google Shape;3008;p98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09" name="Google Shape;3009;p98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98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98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3012" name="Google Shape;3012;p98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3013" name="Google Shape;3013;p98"/>
          <p:cNvGrpSpPr/>
          <p:nvPr/>
        </p:nvGrpSpPr>
        <p:grpSpPr>
          <a:xfrm>
            <a:off x="2003425" y="2682875"/>
            <a:ext cx="1312863" cy="419100"/>
            <a:chOff x="1902" y="3291"/>
            <a:chExt cx="827" cy="264"/>
          </a:xfrm>
        </p:grpSpPr>
        <p:sp>
          <p:nvSpPr>
            <p:cNvPr id="3014" name="Google Shape;3014;p98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98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98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98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98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98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98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1" name="Google Shape;3021;p98"/>
          <p:cNvSpPr/>
          <p:nvPr/>
        </p:nvSpPr>
        <p:spPr>
          <a:xfrm>
            <a:off x="392113" y="2808288"/>
            <a:ext cx="833437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98"/>
          <p:cNvSpPr/>
          <p:nvPr/>
        </p:nvSpPr>
        <p:spPr>
          <a:xfrm>
            <a:off x="1563688" y="2798763"/>
            <a:ext cx="566737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98"/>
          <p:cNvSpPr/>
          <p:nvPr/>
        </p:nvSpPr>
        <p:spPr>
          <a:xfrm>
            <a:off x="2495550" y="279082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98"/>
          <p:cNvSpPr/>
          <p:nvPr/>
        </p:nvSpPr>
        <p:spPr>
          <a:xfrm>
            <a:off x="758825" y="1871663"/>
            <a:ext cx="887413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5" name="Google Shape;3025;p98"/>
          <p:cNvGrpSpPr/>
          <p:nvPr/>
        </p:nvGrpSpPr>
        <p:grpSpPr>
          <a:xfrm>
            <a:off x="1138238" y="4217988"/>
            <a:ext cx="171450" cy="171450"/>
            <a:chOff x="1761" y="2415"/>
            <a:chExt cx="108" cy="108"/>
          </a:xfrm>
        </p:grpSpPr>
        <p:sp>
          <p:nvSpPr>
            <p:cNvPr id="3026" name="Google Shape;3026;p98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7" name="Google Shape;3027;p98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8" name="Google Shape;3028;p98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29" name="Google Shape;3029;p98"/>
          <p:cNvSpPr txBox="1"/>
          <p:nvPr/>
        </p:nvSpPr>
        <p:spPr>
          <a:xfrm rot="-5400000">
            <a:off x="5230813" y="5154613"/>
            <a:ext cx="2005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less negative</a:t>
            </a:r>
            <a:endParaRPr/>
          </a:p>
        </p:txBody>
      </p:sp>
      <p:sp>
        <p:nvSpPr>
          <p:cNvPr id="3030" name="Google Shape;3030;p98"/>
          <p:cNvSpPr txBox="1"/>
          <p:nvPr/>
        </p:nvSpPr>
        <p:spPr>
          <a:xfrm rot="-5400000">
            <a:off x="-76200" y="5165725"/>
            <a:ext cx="200501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more positive</a:t>
            </a:r>
            <a:endParaRPr/>
          </a:p>
        </p:txBody>
      </p:sp>
      <p:sp>
        <p:nvSpPr>
          <p:cNvPr id="3031" name="Google Shape;3031;p98"/>
          <p:cNvSpPr txBox="1"/>
          <p:nvPr/>
        </p:nvSpPr>
        <p:spPr>
          <a:xfrm rot="-5400000">
            <a:off x="6510338" y="5145088"/>
            <a:ext cx="2005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more negative</a:t>
            </a:r>
            <a:endParaRPr/>
          </a:p>
        </p:txBody>
      </p:sp>
      <p:sp>
        <p:nvSpPr>
          <p:cNvPr id="3032" name="Google Shape;3032;p98"/>
          <p:cNvSpPr txBox="1"/>
          <p:nvPr/>
        </p:nvSpPr>
        <p:spPr>
          <a:xfrm rot="-5400000">
            <a:off x="1203325" y="5156200"/>
            <a:ext cx="200501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= less positive</a:t>
            </a:r>
            <a:endParaRPr/>
          </a:p>
        </p:txBody>
      </p:sp>
      <p:sp>
        <p:nvSpPr>
          <p:cNvPr id="3033" name="Google Shape;3033;p9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descr="franklin" id="3034" name="Google Shape;3034;p98"/>
          <p:cNvPicPr preferRelativeResize="0"/>
          <p:nvPr/>
        </p:nvPicPr>
        <p:blipFill rotWithShape="1">
          <a:blip r:embed="rId3">
            <a:alphaModFix/>
          </a:blip>
          <a:srcRect b="0" l="0" r="14931" t="0"/>
          <a:stretch/>
        </p:blipFill>
        <p:spPr>
          <a:xfrm>
            <a:off x="6991350" y="72574"/>
            <a:ext cx="1930346" cy="18904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035" name="Google Shape;3035;p98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3036" name="Google Shape;3036;p98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  <p:sp>
        <p:nvSpPr>
          <p:cNvPr id="3037" name="Google Shape;3037;p98"/>
          <p:cNvSpPr txBox="1"/>
          <p:nvPr/>
        </p:nvSpPr>
        <p:spPr>
          <a:xfrm>
            <a:off x="559022" y="3787091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3038" name="Google Shape;3038;p98"/>
          <p:cNvSpPr txBox="1"/>
          <p:nvPr/>
        </p:nvSpPr>
        <p:spPr>
          <a:xfrm>
            <a:off x="2709407" y="379661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  <p:sp>
        <p:nvSpPr>
          <p:cNvPr id="3039" name="Google Shape;3039;p98"/>
          <p:cNvSpPr txBox="1"/>
          <p:nvPr/>
        </p:nvSpPr>
        <p:spPr>
          <a:xfrm>
            <a:off x="3614057" y="2041837"/>
            <a:ext cx="204651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will use only  conventional current in this course.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99"/>
          <p:cNvSpPr/>
          <p:nvPr/>
        </p:nvSpPr>
        <p:spPr>
          <a:xfrm>
            <a:off x="685800" y="1931988"/>
            <a:ext cx="7772400" cy="49260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Consider positive charges                                   at points A and B.  Which one has                                        more potential energy?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charge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already                                           traveled through the circuit and is                                     returning to the battery so it can do                                               no more work on the bulb.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charge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still has the full                                        circuit to travel and can thus still do                                        work on the bulb.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∙Thus the positive charge at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                                      more potential energy.</a:t>
            </a:r>
            <a:endParaRPr/>
          </a:p>
        </p:txBody>
      </p:sp>
      <p:sp>
        <p:nvSpPr>
          <p:cNvPr id="3046" name="Google Shape;3046;p99"/>
          <p:cNvSpPr/>
          <p:nvPr/>
        </p:nvSpPr>
        <p:spPr>
          <a:xfrm>
            <a:off x="685800" y="1549399"/>
            <a:ext cx="7772400" cy="41002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electric potential energy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3047" name="Google Shape;3047;p99"/>
          <p:cNvSpPr/>
          <p:nvPr/>
        </p:nvSpPr>
        <p:spPr>
          <a:xfrm>
            <a:off x="6402388" y="228600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99"/>
          <p:cNvSpPr/>
          <p:nvPr/>
        </p:nvSpPr>
        <p:spPr>
          <a:xfrm>
            <a:off x="6388100" y="227171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99"/>
          <p:cNvSpPr/>
          <p:nvPr/>
        </p:nvSpPr>
        <p:spPr>
          <a:xfrm>
            <a:off x="6402388" y="228441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99"/>
          <p:cNvSpPr/>
          <p:nvPr/>
        </p:nvSpPr>
        <p:spPr>
          <a:xfrm>
            <a:off x="6399213" y="225107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1" name="Google Shape;3051;p99"/>
          <p:cNvGrpSpPr/>
          <p:nvPr/>
        </p:nvGrpSpPr>
        <p:grpSpPr>
          <a:xfrm>
            <a:off x="7618413" y="2670175"/>
            <a:ext cx="1143000" cy="165100"/>
            <a:chOff x="2068" y="3283"/>
            <a:chExt cx="720" cy="104"/>
          </a:xfrm>
        </p:grpSpPr>
        <p:sp>
          <p:nvSpPr>
            <p:cNvPr id="3052" name="Google Shape;3052;p99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99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4" name="Google Shape;3054;p99"/>
          <p:cNvSpPr/>
          <p:nvPr/>
        </p:nvSpPr>
        <p:spPr>
          <a:xfrm>
            <a:off x="6115050" y="187642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5" name="Google Shape;3055;p99"/>
          <p:cNvSpPr/>
          <p:nvPr/>
        </p:nvSpPr>
        <p:spPr>
          <a:xfrm>
            <a:off x="6453188" y="404971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6" name="Google Shape;3056;p99"/>
          <p:cNvSpPr/>
          <p:nvPr/>
        </p:nvSpPr>
        <p:spPr>
          <a:xfrm>
            <a:off x="7727950" y="405130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p99"/>
          <p:cNvSpPr/>
          <p:nvPr/>
        </p:nvSpPr>
        <p:spPr>
          <a:xfrm>
            <a:off x="5783263" y="417830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p99"/>
          <p:cNvSpPr txBox="1"/>
          <p:nvPr/>
        </p:nvSpPr>
        <p:spPr>
          <a:xfrm>
            <a:off x="8001000" y="4235450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059" name="Google Shape;3059;p99"/>
          <p:cNvSpPr txBox="1"/>
          <p:nvPr/>
        </p:nvSpPr>
        <p:spPr>
          <a:xfrm>
            <a:off x="6756400" y="4210050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060" name="Google Shape;3060;p99"/>
          <p:cNvSpPr txBox="1"/>
          <p:nvPr/>
        </p:nvSpPr>
        <p:spPr>
          <a:xfrm>
            <a:off x="6426200" y="419576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061" name="Google Shape;3061;p99"/>
          <p:cNvSpPr txBox="1"/>
          <p:nvPr/>
        </p:nvSpPr>
        <p:spPr>
          <a:xfrm>
            <a:off x="7704138" y="4230688"/>
            <a:ext cx="280987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062" name="Google Shape;3062;p99"/>
          <p:cNvSpPr txBox="1"/>
          <p:nvPr/>
        </p:nvSpPr>
        <p:spPr>
          <a:xfrm>
            <a:off x="6689725" y="643890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sp>
        <p:nvSpPr>
          <p:cNvPr id="3063" name="Google Shape;3063;p99"/>
          <p:cNvSpPr txBox="1"/>
          <p:nvPr/>
        </p:nvSpPr>
        <p:spPr>
          <a:xfrm rot="-5400000">
            <a:off x="7495381" y="5336382"/>
            <a:ext cx="26765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Franklin’s chemical cell</a:t>
            </a:r>
            <a:endParaRPr/>
          </a:p>
        </p:txBody>
      </p:sp>
      <p:grpSp>
        <p:nvGrpSpPr>
          <p:cNvPr id="3064" name="Google Shape;3064;p99"/>
          <p:cNvGrpSpPr/>
          <p:nvPr/>
        </p:nvGrpSpPr>
        <p:grpSpPr>
          <a:xfrm>
            <a:off x="5995988" y="2749550"/>
            <a:ext cx="1103312" cy="366713"/>
            <a:chOff x="1166" y="2930"/>
            <a:chExt cx="695" cy="231"/>
          </a:xfrm>
        </p:grpSpPr>
        <p:grpSp>
          <p:nvGrpSpPr>
            <p:cNvPr id="3065" name="Google Shape;3065;p99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3066" name="Google Shape;3066;p99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7" name="Google Shape;3067;p99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8" name="Google Shape;3068;p99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99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99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3071" name="Google Shape;3071;p99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3072" name="Google Shape;3072;p99"/>
          <p:cNvGrpSpPr/>
          <p:nvPr/>
        </p:nvGrpSpPr>
        <p:grpSpPr>
          <a:xfrm>
            <a:off x="7354888" y="2682875"/>
            <a:ext cx="1312862" cy="419100"/>
            <a:chOff x="1902" y="3291"/>
            <a:chExt cx="827" cy="264"/>
          </a:xfrm>
        </p:grpSpPr>
        <p:sp>
          <p:nvSpPr>
            <p:cNvPr id="3073" name="Google Shape;3073;p99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99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99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99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99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99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99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0" name="Google Shape;3080;p99"/>
          <p:cNvSpPr/>
          <p:nvPr/>
        </p:nvSpPr>
        <p:spPr>
          <a:xfrm>
            <a:off x="5743575" y="280828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1" name="Google Shape;3081;p99"/>
          <p:cNvSpPr/>
          <p:nvPr/>
        </p:nvSpPr>
        <p:spPr>
          <a:xfrm>
            <a:off x="6915150" y="279876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2" name="Google Shape;3082;p99"/>
          <p:cNvSpPr/>
          <p:nvPr/>
        </p:nvSpPr>
        <p:spPr>
          <a:xfrm>
            <a:off x="7847013" y="279082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3" name="Google Shape;3083;p99"/>
          <p:cNvSpPr/>
          <p:nvPr/>
        </p:nvSpPr>
        <p:spPr>
          <a:xfrm>
            <a:off x="6110288" y="187166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4" name="Google Shape;3084;p99"/>
          <p:cNvGrpSpPr/>
          <p:nvPr/>
        </p:nvGrpSpPr>
        <p:grpSpPr>
          <a:xfrm>
            <a:off x="6500827" y="3697288"/>
            <a:ext cx="482601" cy="396875"/>
            <a:chOff x="4095" y="2329"/>
            <a:chExt cx="304" cy="250"/>
          </a:xfrm>
        </p:grpSpPr>
        <p:grpSp>
          <p:nvGrpSpPr>
            <p:cNvPr id="3085" name="Google Shape;3085;p99"/>
            <p:cNvGrpSpPr/>
            <p:nvPr/>
          </p:nvGrpSpPr>
          <p:grpSpPr>
            <a:xfrm>
              <a:off x="4095" y="2430"/>
              <a:ext cx="108" cy="108"/>
              <a:chOff x="1761" y="2415"/>
              <a:chExt cx="108" cy="108"/>
            </a:xfrm>
          </p:grpSpPr>
          <p:sp>
            <p:nvSpPr>
              <p:cNvPr id="3086" name="Google Shape;3086;p99"/>
              <p:cNvSpPr/>
              <p:nvPr/>
            </p:nvSpPr>
            <p:spPr>
              <a:xfrm>
                <a:off x="1761" y="2415"/>
                <a:ext cx="108" cy="108"/>
              </a:xfrm>
              <a:prstGeom prst="ellipse">
                <a:avLst/>
              </a:prstGeom>
              <a:solidFill>
                <a:srgbClr val="FFCCC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87" name="Google Shape;3087;p99"/>
              <p:cNvCxnSpPr/>
              <p:nvPr/>
            </p:nvCxnSpPr>
            <p:spPr>
              <a:xfrm>
                <a:off x="1790" y="2466"/>
                <a:ext cx="5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8" name="Google Shape;3088;p99"/>
              <p:cNvCxnSpPr/>
              <p:nvPr/>
            </p:nvCxnSpPr>
            <p:spPr>
              <a:xfrm>
                <a:off x="1814" y="2436"/>
                <a:ext cx="0" cy="6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89" name="Google Shape;3089;p99"/>
            <p:cNvSpPr txBox="1"/>
            <p:nvPr/>
          </p:nvSpPr>
          <p:spPr>
            <a:xfrm>
              <a:off x="4187" y="2329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3090" name="Google Shape;3090;p99"/>
          <p:cNvGrpSpPr/>
          <p:nvPr/>
        </p:nvGrpSpPr>
        <p:grpSpPr>
          <a:xfrm>
            <a:off x="7402548" y="3702050"/>
            <a:ext cx="534990" cy="396875"/>
            <a:chOff x="4663" y="2332"/>
            <a:chExt cx="337" cy="250"/>
          </a:xfrm>
        </p:grpSpPr>
        <p:grpSp>
          <p:nvGrpSpPr>
            <p:cNvPr id="3091" name="Google Shape;3091;p99"/>
            <p:cNvGrpSpPr/>
            <p:nvPr/>
          </p:nvGrpSpPr>
          <p:grpSpPr>
            <a:xfrm>
              <a:off x="4892" y="2424"/>
              <a:ext cx="108" cy="108"/>
              <a:chOff x="1761" y="2415"/>
              <a:chExt cx="108" cy="108"/>
            </a:xfrm>
          </p:grpSpPr>
          <p:sp>
            <p:nvSpPr>
              <p:cNvPr id="3092" name="Google Shape;3092;p99"/>
              <p:cNvSpPr/>
              <p:nvPr/>
            </p:nvSpPr>
            <p:spPr>
              <a:xfrm>
                <a:off x="1761" y="2415"/>
                <a:ext cx="108" cy="108"/>
              </a:xfrm>
              <a:prstGeom prst="ellipse">
                <a:avLst/>
              </a:prstGeom>
              <a:solidFill>
                <a:srgbClr val="FFCCC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93" name="Google Shape;3093;p99"/>
              <p:cNvCxnSpPr/>
              <p:nvPr/>
            </p:nvCxnSpPr>
            <p:spPr>
              <a:xfrm>
                <a:off x="1790" y="2466"/>
                <a:ext cx="5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4" name="Google Shape;3094;p99"/>
              <p:cNvCxnSpPr/>
              <p:nvPr/>
            </p:nvCxnSpPr>
            <p:spPr>
              <a:xfrm>
                <a:off x="1814" y="2436"/>
                <a:ext cx="0" cy="6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95" name="Google Shape;3095;p99"/>
            <p:cNvSpPr txBox="1"/>
            <p:nvPr/>
          </p:nvSpPr>
          <p:spPr>
            <a:xfrm>
              <a:off x="4663" y="2332"/>
              <a:ext cx="2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sp>
        <p:nvSpPr>
          <p:cNvPr id="3096" name="Google Shape;3096;p9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3097" name="Google Shape;3097;p99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3098" name="Google Shape;3098;p99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3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p100"/>
          <p:cNvSpPr/>
          <p:nvPr/>
        </p:nvSpPr>
        <p:spPr>
          <a:xfrm>
            <a:off x="682625" y="5878286"/>
            <a:ext cx="5108575" cy="979713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 potential difference is often abbreviated p.d. </a:t>
            </a:r>
            <a:endParaRPr/>
          </a:p>
        </p:txBody>
      </p:sp>
      <p:sp>
        <p:nvSpPr>
          <p:cNvPr id="3105" name="Google Shape;3105;p100"/>
          <p:cNvSpPr/>
          <p:nvPr/>
        </p:nvSpPr>
        <p:spPr>
          <a:xfrm>
            <a:off x="685800" y="1549400"/>
            <a:ext cx="7772400" cy="43434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electric potential difference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define 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 potential                                  difference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the amount of                                         work done in moving a positive                                             charge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a point of lower                                         potential energy to a point of                                                 higher potential energy.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units for electric potential                                        difference are volts V or, as can be                                        seen from the formula, J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06" name="Google Shape;3106;p100"/>
          <p:cNvSpPr/>
          <p:nvPr/>
        </p:nvSpPr>
        <p:spPr>
          <a:xfrm>
            <a:off x="6402388" y="2286000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100"/>
          <p:cNvSpPr/>
          <p:nvPr/>
        </p:nvSpPr>
        <p:spPr>
          <a:xfrm>
            <a:off x="6388100" y="227171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p100"/>
          <p:cNvSpPr/>
          <p:nvPr/>
        </p:nvSpPr>
        <p:spPr>
          <a:xfrm>
            <a:off x="6402388" y="2284413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p100"/>
          <p:cNvSpPr/>
          <p:nvPr/>
        </p:nvSpPr>
        <p:spPr>
          <a:xfrm>
            <a:off x="6399213" y="2251075"/>
            <a:ext cx="288925" cy="723900"/>
          </a:xfrm>
          <a:custGeom>
            <a:rect b="b" l="l" r="r" t="t"/>
            <a:pathLst>
              <a:path extrusionOk="0" h="589" w="394">
                <a:moveTo>
                  <a:pt x="17" y="572"/>
                </a:moveTo>
                <a:cubicBezTo>
                  <a:pt x="17" y="429"/>
                  <a:pt x="17" y="286"/>
                  <a:pt x="17" y="209"/>
                </a:cubicBezTo>
                <a:cubicBezTo>
                  <a:pt x="17" y="132"/>
                  <a:pt x="0" y="144"/>
                  <a:pt x="17" y="111"/>
                </a:cubicBezTo>
                <a:cubicBezTo>
                  <a:pt x="34" y="78"/>
                  <a:pt x="88" y="10"/>
                  <a:pt x="120" y="8"/>
                </a:cubicBezTo>
                <a:cubicBezTo>
                  <a:pt x="152" y="6"/>
                  <a:pt x="208" y="65"/>
                  <a:pt x="212" y="100"/>
                </a:cubicBezTo>
                <a:cubicBezTo>
                  <a:pt x="216" y="135"/>
                  <a:pt x="165" y="220"/>
                  <a:pt x="142" y="221"/>
                </a:cubicBezTo>
                <a:cubicBezTo>
                  <a:pt x="119" y="222"/>
                  <a:pt x="68" y="141"/>
                  <a:pt x="74" y="105"/>
                </a:cubicBezTo>
                <a:cubicBezTo>
                  <a:pt x="80" y="69"/>
                  <a:pt x="144" y="5"/>
                  <a:pt x="178" y="7"/>
                </a:cubicBezTo>
                <a:cubicBezTo>
                  <a:pt x="212" y="9"/>
                  <a:pt x="273" y="83"/>
                  <a:pt x="276" y="117"/>
                </a:cubicBezTo>
                <a:cubicBezTo>
                  <a:pt x="279" y="151"/>
                  <a:pt x="220" y="211"/>
                  <a:pt x="195" y="209"/>
                </a:cubicBezTo>
                <a:cubicBezTo>
                  <a:pt x="170" y="207"/>
                  <a:pt x="117" y="139"/>
                  <a:pt x="126" y="105"/>
                </a:cubicBezTo>
                <a:cubicBezTo>
                  <a:pt x="135" y="71"/>
                  <a:pt x="213" y="0"/>
                  <a:pt x="247" y="2"/>
                </a:cubicBezTo>
                <a:cubicBezTo>
                  <a:pt x="281" y="4"/>
                  <a:pt x="327" y="82"/>
                  <a:pt x="333" y="117"/>
                </a:cubicBezTo>
                <a:cubicBezTo>
                  <a:pt x="339" y="152"/>
                  <a:pt x="309" y="211"/>
                  <a:pt x="281" y="209"/>
                </a:cubicBezTo>
                <a:cubicBezTo>
                  <a:pt x="253" y="207"/>
                  <a:pt x="165" y="139"/>
                  <a:pt x="166" y="105"/>
                </a:cubicBezTo>
                <a:cubicBezTo>
                  <a:pt x="167" y="71"/>
                  <a:pt x="251" y="14"/>
                  <a:pt x="287" y="7"/>
                </a:cubicBezTo>
                <a:cubicBezTo>
                  <a:pt x="323" y="0"/>
                  <a:pt x="364" y="40"/>
                  <a:pt x="379" y="65"/>
                </a:cubicBezTo>
                <a:cubicBezTo>
                  <a:pt x="394" y="90"/>
                  <a:pt x="379" y="70"/>
                  <a:pt x="379" y="157"/>
                </a:cubicBezTo>
                <a:cubicBezTo>
                  <a:pt x="379" y="244"/>
                  <a:pt x="379" y="416"/>
                  <a:pt x="379" y="589"/>
                </a:cubicBezTo>
              </a:path>
            </a:pathLst>
          </a:cu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0" name="Google Shape;3110;p100"/>
          <p:cNvGrpSpPr/>
          <p:nvPr/>
        </p:nvGrpSpPr>
        <p:grpSpPr>
          <a:xfrm>
            <a:off x="7618413" y="2670175"/>
            <a:ext cx="1143000" cy="165100"/>
            <a:chOff x="2068" y="3283"/>
            <a:chExt cx="720" cy="104"/>
          </a:xfrm>
        </p:grpSpPr>
        <p:sp>
          <p:nvSpPr>
            <p:cNvPr id="3111" name="Google Shape;3111;p100"/>
            <p:cNvSpPr/>
            <p:nvPr/>
          </p:nvSpPr>
          <p:spPr>
            <a:xfrm>
              <a:off x="2068" y="3300"/>
              <a:ext cx="714" cy="7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100"/>
            <p:cNvSpPr/>
            <p:nvPr/>
          </p:nvSpPr>
          <p:spPr>
            <a:xfrm>
              <a:off x="2655" y="3283"/>
              <a:ext cx="133" cy="10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FFFFFF"/>
                </a:gs>
                <a:gs pos="100000">
                  <a:schemeClr val="dk1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3" name="Google Shape;3113;p100"/>
          <p:cNvSpPr/>
          <p:nvPr/>
        </p:nvSpPr>
        <p:spPr>
          <a:xfrm>
            <a:off x="6115050" y="1876425"/>
            <a:ext cx="887413" cy="887413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4" name="Google Shape;3114;p100"/>
          <p:cNvSpPr/>
          <p:nvPr/>
        </p:nvSpPr>
        <p:spPr>
          <a:xfrm>
            <a:off x="6453188" y="4049713"/>
            <a:ext cx="261937" cy="2300287"/>
          </a:xfrm>
          <a:prstGeom prst="rect">
            <a:avLst/>
          </a:prstGeom>
          <a:gradFill>
            <a:gsLst>
              <a:gs pos="0">
                <a:srgbClr val="B3575A"/>
              </a:gs>
              <a:gs pos="50000">
                <a:srgbClr val="FF7C80"/>
              </a:gs>
              <a:gs pos="100000">
                <a:srgbClr val="B3575A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5" name="Google Shape;3115;p100"/>
          <p:cNvSpPr/>
          <p:nvPr/>
        </p:nvSpPr>
        <p:spPr>
          <a:xfrm>
            <a:off x="7727950" y="4051300"/>
            <a:ext cx="261938" cy="2293938"/>
          </a:xfrm>
          <a:prstGeom prst="rect">
            <a:avLst/>
          </a:prstGeom>
          <a:gradFill>
            <a:gsLst>
              <a:gs pos="0">
                <a:srgbClr val="006B8F"/>
              </a:gs>
              <a:gs pos="50000">
                <a:srgbClr val="0099CC"/>
              </a:gs>
              <a:gs pos="100000">
                <a:srgbClr val="006B8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6" name="Google Shape;3116;p100"/>
          <p:cNvSpPr/>
          <p:nvPr/>
        </p:nvSpPr>
        <p:spPr>
          <a:xfrm>
            <a:off x="5783263" y="4178300"/>
            <a:ext cx="2895600" cy="2679700"/>
          </a:xfrm>
          <a:custGeom>
            <a:rect b="b" l="l" r="r" t="t"/>
            <a:pathLst>
              <a:path extrusionOk="0" h="1688" w="1904">
                <a:moveTo>
                  <a:pt x="0" y="0"/>
                </a:moveTo>
                <a:lnTo>
                  <a:pt x="0" y="1688"/>
                </a:lnTo>
                <a:lnTo>
                  <a:pt x="1904" y="1688"/>
                </a:lnTo>
                <a:lnTo>
                  <a:pt x="1904" y="23"/>
                </a:lnTo>
              </a:path>
            </a:pathLst>
          </a:custGeom>
          <a:gradFill>
            <a:gsLst>
              <a:gs pos="0">
                <a:srgbClr val="6B4723"/>
              </a:gs>
              <a:gs pos="50000">
                <a:srgbClr val="996633">
                  <a:alpha val="46666"/>
                </a:srgbClr>
              </a:gs>
              <a:gs pos="100000">
                <a:srgbClr val="6B472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7" name="Google Shape;3117;p100"/>
          <p:cNvSpPr txBox="1"/>
          <p:nvPr/>
        </p:nvSpPr>
        <p:spPr>
          <a:xfrm>
            <a:off x="8001000" y="4235450"/>
            <a:ext cx="280988" cy="201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118" name="Google Shape;3118;p100"/>
          <p:cNvSpPr txBox="1"/>
          <p:nvPr/>
        </p:nvSpPr>
        <p:spPr>
          <a:xfrm>
            <a:off x="6756400" y="4210050"/>
            <a:ext cx="280988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119" name="Google Shape;3119;p100"/>
          <p:cNvSpPr txBox="1"/>
          <p:nvPr/>
        </p:nvSpPr>
        <p:spPr>
          <a:xfrm>
            <a:off x="6426200" y="4195763"/>
            <a:ext cx="280988" cy="216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120" name="Google Shape;3120;p100"/>
          <p:cNvSpPr txBox="1"/>
          <p:nvPr/>
        </p:nvSpPr>
        <p:spPr>
          <a:xfrm>
            <a:off x="7704138" y="4230688"/>
            <a:ext cx="280987" cy="201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121" name="Google Shape;3121;p100"/>
          <p:cNvSpPr txBox="1"/>
          <p:nvPr/>
        </p:nvSpPr>
        <p:spPr>
          <a:xfrm>
            <a:off x="6689725" y="6438900"/>
            <a:ext cx="1250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Electrolyte</a:t>
            </a:r>
            <a:endParaRPr/>
          </a:p>
        </p:txBody>
      </p:sp>
      <p:grpSp>
        <p:nvGrpSpPr>
          <p:cNvPr id="3122" name="Google Shape;3122;p100"/>
          <p:cNvGrpSpPr/>
          <p:nvPr/>
        </p:nvGrpSpPr>
        <p:grpSpPr>
          <a:xfrm>
            <a:off x="5995988" y="2749550"/>
            <a:ext cx="1103312" cy="366713"/>
            <a:chOff x="1166" y="2930"/>
            <a:chExt cx="695" cy="231"/>
          </a:xfrm>
        </p:grpSpPr>
        <p:grpSp>
          <p:nvGrpSpPr>
            <p:cNvPr id="3123" name="Google Shape;3123;p100"/>
            <p:cNvGrpSpPr/>
            <p:nvPr/>
          </p:nvGrpSpPr>
          <p:grpSpPr>
            <a:xfrm>
              <a:off x="1166" y="2936"/>
              <a:ext cx="695" cy="211"/>
              <a:chOff x="1166" y="2936"/>
              <a:chExt cx="695" cy="211"/>
            </a:xfrm>
          </p:grpSpPr>
          <p:sp>
            <p:nvSpPr>
              <p:cNvPr id="3124" name="Google Shape;3124;p100"/>
              <p:cNvSpPr/>
              <p:nvPr/>
            </p:nvSpPr>
            <p:spPr>
              <a:xfrm>
                <a:off x="1166" y="3091"/>
                <a:ext cx="695" cy="56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p100"/>
              <p:cNvSpPr/>
              <p:nvPr/>
            </p:nvSpPr>
            <p:spPr>
              <a:xfrm>
                <a:off x="1412" y="2936"/>
                <a:ext cx="204" cy="155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50000">
                    <a:schemeClr val="lt1"/>
                  </a:gs>
                  <a:gs pos="100000">
                    <a:srgbClr val="B3B3B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6" name="Google Shape;3126;p100"/>
            <p:cNvSpPr/>
            <p:nvPr/>
          </p:nvSpPr>
          <p:spPr>
            <a:xfrm>
              <a:off x="1222" y="3035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100"/>
            <p:cNvSpPr/>
            <p:nvPr/>
          </p:nvSpPr>
          <p:spPr>
            <a:xfrm>
              <a:off x="1697" y="3033"/>
              <a:ext cx="98" cy="56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100"/>
            <p:cNvSpPr txBox="1"/>
            <p:nvPr/>
          </p:nvSpPr>
          <p:spPr>
            <a:xfrm>
              <a:off x="1664" y="2930"/>
              <a:ext cx="16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3129" name="Google Shape;3129;p100"/>
            <p:cNvSpPr txBox="1"/>
            <p:nvPr/>
          </p:nvSpPr>
          <p:spPr>
            <a:xfrm>
              <a:off x="1178" y="2965"/>
              <a:ext cx="181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3130" name="Google Shape;3130;p100"/>
          <p:cNvGrpSpPr/>
          <p:nvPr/>
        </p:nvGrpSpPr>
        <p:grpSpPr>
          <a:xfrm>
            <a:off x="7354888" y="2682875"/>
            <a:ext cx="1312862" cy="419100"/>
            <a:chOff x="1902" y="3291"/>
            <a:chExt cx="827" cy="264"/>
          </a:xfrm>
        </p:grpSpPr>
        <p:sp>
          <p:nvSpPr>
            <p:cNvPr id="3131" name="Google Shape;3131;p100"/>
            <p:cNvSpPr/>
            <p:nvPr/>
          </p:nvSpPr>
          <p:spPr>
            <a:xfrm>
              <a:off x="1902" y="3447"/>
              <a:ext cx="827" cy="108"/>
            </a:xfrm>
            <a:prstGeom prst="rect">
              <a:avLst/>
            </a:prstGeom>
            <a:gradFill>
              <a:gsLst>
                <a:gs pos="0">
                  <a:srgbClr val="B3B3B3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100"/>
            <p:cNvSpPr/>
            <p:nvPr/>
          </p:nvSpPr>
          <p:spPr>
            <a:xfrm>
              <a:off x="2051" y="3292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100"/>
            <p:cNvSpPr/>
            <p:nvPr/>
          </p:nvSpPr>
          <p:spPr>
            <a:xfrm>
              <a:off x="1941" y="3421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100"/>
            <p:cNvSpPr/>
            <p:nvPr/>
          </p:nvSpPr>
          <p:spPr>
            <a:xfrm>
              <a:off x="2602" y="3418"/>
              <a:ext cx="98" cy="29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100"/>
            <p:cNvSpPr/>
            <p:nvPr/>
          </p:nvSpPr>
          <p:spPr>
            <a:xfrm>
              <a:off x="2470" y="3291"/>
              <a:ext cx="107" cy="155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B3B3B3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100"/>
            <p:cNvSpPr/>
            <p:nvPr/>
          </p:nvSpPr>
          <p:spPr>
            <a:xfrm>
              <a:off x="2079" y="3312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7" name="Google Shape;3137;p100"/>
            <p:cNvSpPr/>
            <p:nvPr/>
          </p:nvSpPr>
          <p:spPr>
            <a:xfrm>
              <a:off x="2492" y="3310"/>
              <a:ext cx="56" cy="5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8" name="Google Shape;3138;p100"/>
          <p:cNvSpPr/>
          <p:nvPr/>
        </p:nvSpPr>
        <p:spPr>
          <a:xfrm>
            <a:off x="5743575" y="2808288"/>
            <a:ext cx="833438" cy="1235075"/>
          </a:xfrm>
          <a:custGeom>
            <a:rect b="b" l="l" r="r" t="t"/>
            <a:pathLst>
              <a:path extrusionOk="0" h="778" w="525">
                <a:moveTo>
                  <a:pt x="525" y="778"/>
                </a:moveTo>
                <a:lnTo>
                  <a:pt x="525" y="438"/>
                </a:lnTo>
                <a:lnTo>
                  <a:pt x="0" y="438"/>
                </a:lnTo>
                <a:lnTo>
                  <a:pt x="0" y="0"/>
                </a:lnTo>
                <a:lnTo>
                  <a:pt x="271" y="0"/>
                </a:lnTo>
                <a:lnTo>
                  <a:pt x="271" y="58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p100"/>
          <p:cNvSpPr/>
          <p:nvPr/>
        </p:nvSpPr>
        <p:spPr>
          <a:xfrm>
            <a:off x="6915150" y="2798763"/>
            <a:ext cx="566738" cy="101600"/>
          </a:xfrm>
          <a:custGeom>
            <a:rect b="b" l="l" r="r" t="t"/>
            <a:pathLst>
              <a:path extrusionOk="0" h="64" w="357">
                <a:moveTo>
                  <a:pt x="0" y="64"/>
                </a:moveTo>
                <a:lnTo>
                  <a:pt x="0" y="0"/>
                </a:lnTo>
                <a:lnTo>
                  <a:pt x="357" y="0"/>
                </a:lnTo>
                <a:lnTo>
                  <a:pt x="357" y="52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100"/>
          <p:cNvSpPr/>
          <p:nvPr/>
        </p:nvSpPr>
        <p:spPr>
          <a:xfrm>
            <a:off x="7847013" y="2790825"/>
            <a:ext cx="1016000" cy="1252538"/>
          </a:xfrm>
          <a:custGeom>
            <a:rect b="b" l="l" r="r" t="t"/>
            <a:pathLst>
              <a:path extrusionOk="0" h="749" w="657">
                <a:moveTo>
                  <a:pt x="455" y="57"/>
                </a:moveTo>
                <a:lnTo>
                  <a:pt x="455" y="0"/>
                </a:lnTo>
                <a:lnTo>
                  <a:pt x="657" y="0"/>
                </a:lnTo>
                <a:lnTo>
                  <a:pt x="657" y="426"/>
                </a:lnTo>
                <a:lnTo>
                  <a:pt x="0" y="426"/>
                </a:lnTo>
                <a:lnTo>
                  <a:pt x="0" y="749"/>
                </a:ln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p100"/>
          <p:cNvSpPr/>
          <p:nvPr/>
        </p:nvSpPr>
        <p:spPr>
          <a:xfrm>
            <a:off x="6110288" y="1871663"/>
            <a:ext cx="887412" cy="887412"/>
          </a:xfrm>
          <a:prstGeom prst="ellipse">
            <a:avLst/>
          </a:prstGeom>
          <a:solidFill>
            <a:srgbClr val="FFFF00">
              <a:alpha val="51764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2" name="Google Shape;3142;p100"/>
          <p:cNvGrpSpPr/>
          <p:nvPr/>
        </p:nvGrpSpPr>
        <p:grpSpPr>
          <a:xfrm>
            <a:off x="6489700" y="4217988"/>
            <a:ext cx="171450" cy="171450"/>
            <a:chOff x="1761" y="2415"/>
            <a:chExt cx="108" cy="108"/>
          </a:xfrm>
        </p:grpSpPr>
        <p:sp>
          <p:nvSpPr>
            <p:cNvPr id="3143" name="Google Shape;3143;p100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4" name="Google Shape;3144;p100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5" name="Google Shape;3145;p100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46" name="Google Shape;3146;p100"/>
          <p:cNvGrpSpPr/>
          <p:nvPr/>
        </p:nvGrpSpPr>
        <p:grpSpPr>
          <a:xfrm>
            <a:off x="833438" y="4266525"/>
            <a:ext cx="4729162" cy="461963"/>
            <a:chOff x="525" y="2625"/>
            <a:chExt cx="2979" cy="291"/>
          </a:xfrm>
        </p:grpSpPr>
        <p:sp>
          <p:nvSpPr>
            <p:cNvPr id="3147" name="Google Shape;3147;p100"/>
            <p:cNvSpPr/>
            <p:nvPr/>
          </p:nvSpPr>
          <p:spPr>
            <a:xfrm>
              <a:off x="528" y="2638"/>
              <a:ext cx="1310" cy="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∆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 q</a:t>
              </a:r>
              <a:endParaRPr/>
            </a:p>
          </p:txBody>
        </p:sp>
        <p:sp>
          <p:nvSpPr>
            <p:cNvPr id="3148" name="Google Shape;3148;p100"/>
            <p:cNvSpPr txBox="1"/>
            <p:nvPr/>
          </p:nvSpPr>
          <p:spPr>
            <a:xfrm>
              <a:off x="1691" y="2625"/>
              <a:ext cx="1813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potential difference</a:t>
              </a:r>
              <a:endParaRPr/>
            </a:p>
          </p:txBody>
        </p:sp>
        <p:sp>
          <p:nvSpPr>
            <p:cNvPr id="3149" name="Google Shape;3149;p100"/>
            <p:cNvSpPr/>
            <p:nvPr/>
          </p:nvSpPr>
          <p:spPr>
            <a:xfrm>
              <a:off x="525" y="2627"/>
              <a:ext cx="2973" cy="28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0" name="Google Shape;3150;p10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3151" name="Google Shape;3151;p100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3152" name="Google Shape;3152;p100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101"/>
          <p:cNvSpPr/>
          <p:nvPr/>
        </p:nvSpPr>
        <p:spPr>
          <a:xfrm>
            <a:off x="685800" y="1549400"/>
            <a:ext cx="7772400" cy="52832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electric potential difference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∙Think of a battery as an engine that                                  uses </a:t>
            </a:r>
            <a:r>
              <a:rPr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chemical energy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take                                            positive charges and move them                                        from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to high potential within                                          the cell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 they can do work                                         outside the cell in the external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schematic symbol for a switch                                                 is shown.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∙For this                                                                                  circuit we                                                                                 have the                                                                          schematic: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9" name="Google Shape;3159;p101"/>
          <p:cNvGrpSpPr/>
          <p:nvPr/>
        </p:nvGrpSpPr>
        <p:grpSpPr>
          <a:xfrm>
            <a:off x="5745618" y="1871663"/>
            <a:ext cx="3119438" cy="4986337"/>
            <a:chOff x="3665" y="1179"/>
            <a:chExt cx="1965" cy="3141"/>
          </a:xfrm>
        </p:grpSpPr>
        <p:sp>
          <p:nvSpPr>
            <p:cNvPr id="3160" name="Google Shape;3160;p101"/>
            <p:cNvSpPr/>
            <p:nvPr/>
          </p:nvSpPr>
          <p:spPr>
            <a:xfrm>
              <a:off x="4080" y="1440"/>
              <a:ext cx="182" cy="456"/>
            </a:xfrm>
            <a:custGeom>
              <a:rect b="b" l="l" r="r" t="t"/>
              <a:pathLst>
                <a:path extrusionOk="0" h="589" w="394">
                  <a:moveTo>
                    <a:pt x="17" y="572"/>
                  </a:moveTo>
                  <a:cubicBezTo>
                    <a:pt x="17" y="429"/>
                    <a:pt x="17" y="286"/>
                    <a:pt x="17" y="209"/>
                  </a:cubicBezTo>
                  <a:cubicBezTo>
                    <a:pt x="17" y="132"/>
                    <a:pt x="0" y="144"/>
                    <a:pt x="17" y="111"/>
                  </a:cubicBezTo>
                  <a:cubicBezTo>
                    <a:pt x="34" y="78"/>
                    <a:pt x="88" y="10"/>
                    <a:pt x="120" y="8"/>
                  </a:cubicBezTo>
                  <a:cubicBezTo>
                    <a:pt x="152" y="6"/>
                    <a:pt x="208" y="65"/>
                    <a:pt x="212" y="100"/>
                  </a:cubicBezTo>
                  <a:cubicBezTo>
                    <a:pt x="216" y="135"/>
                    <a:pt x="165" y="220"/>
                    <a:pt x="142" y="221"/>
                  </a:cubicBezTo>
                  <a:cubicBezTo>
                    <a:pt x="119" y="222"/>
                    <a:pt x="68" y="141"/>
                    <a:pt x="74" y="105"/>
                  </a:cubicBezTo>
                  <a:cubicBezTo>
                    <a:pt x="80" y="69"/>
                    <a:pt x="144" y="5"/>
                    <a:pt x="178" y="7"/>
                  </a:cubicBezTo>
                  <a:cubicBezTo>
                    <a:pt x="212" y="9"/>
                    <a:pt x="273" y="83"/>
                    <a:pt x="276" y="117"/>
                  </a:cubicBezTo>
                  <a:cubicBezTo>
                    <a:pt x="279" y="151"/>
                    <a:pt x="220" y="211"/>
                    <a:pt x="195" y="209"/>
                  </a:cubicBezTo>
                  <a:cubicBezTo>
                    <a:pt x="170" y="207"/>
                    <a:pt x="117" y="139"/>
                    <a:pt x="126" y="105"/>
                  </a:cubicBezTo>
                  <a:cubicBezTo>
                    <a:pt x="135" y="71"/>
                    <a:pt x="213" y="0"/>
                    <a:pt x="247" y="2"/>
                  </a:cubicBezTo>
                  <a:cubicBezTo>
                    <a:pt x="281" y="4"/>
                    <a:pt x="327" y="82"/>
                    <a:pt x="333" y="117"/>
                  </a:cubicBezTo>
                  <a:cubicBezTo>
                    <a:pt x="339" y="152"/>
                    <a:pt x="309" y="211"/>
                    <a:pt x="281" y="209"/>
                  </a:cubicBezTo>
                  <a:cubicBezTo>
                    <a:pt x="253" y="207"/>
                    <a:pt x="165" y="139"/>
                    <a:pt x="166" y="105"/>
                  </a:cubicBezTo>
                  <a:cubicBezTo>
                    <a:pt x="167" y="71"/>
                    <a:pt x="251" y="14"/>
                    <a:pt x="287" y="7"/>
                  </a:cubicBezTo>
                  <a:cubicBezTo>
                    <a:pt x="323" y="0"/>
                    <a:pt x="364" y="40"/>
                    <a:pt x="379" y="65"/>
                  </a:cubicBezTo>
                  <a:cubicBezTo>
                    <a:pt x="394" y="90"/>
                    <a:pt x="379" y="70"/>
                    <a:pt x="379" y="157"/>
                  </a:cubicBezTo>
                  <a:cubicBezTo>
                    <a:pt x="379" y="244"/>
                    <a:pt x="379" y="416"/>
                    <a:pt x="379" y="58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101"/>
            <p:cNvSpPr/>
            <p:nvPr/>
          </p:nvSpPr>
          <p:spPr>
            <a:xfrm>
              <a:off x="4071" y="1431"/>
              <a:ext cx="182" cy="456"/>
            </a:xfrm>
            <a:custGeom>
              <a:rect b="b" l="l" r="r" t="t"/>
              <a:pathLst>
                <a:path extrusionOk="0" h="589" w="394">
                  <a:moveTo>
                    <a:pt x="17" y="572"/>
                  </a:moveTo>
                  <a:cubicBezTo>
                    <a:pt x="17" y="429"/>
                    <a:pt x="17" y="286"/>
                    <a:pt x="17" y="209"/>
                  </a:cubicBezTo>
                  <a:cubicBezTo>
                    <a:pt x="17" y="132"/>
                    <a:pt x="0" y="144"/>
                    <a:pt x="17" y="111"/>
                  </a:cubicBezTo>
                  <a:cubicBezTo>
                    <a:pt x="34" y="78"/>
                    <a:pt x="88" y="10"/>
                    <a:pt x="120" y="8"/>
                  </a:cubicBezTo>
                  <a:cubicBezTo>
                    <a:pt x="152" y="6"/>
                    <a:pt x="208" y="65"/>
                    <a:pt x="212" y="100"/>
                  </a:cubicBezTo>
                  <a:cubicBezTo>
                    <a:pt x="216" y="135"/>
                    <a:pt x="165" y="220"/>
                    <a:pt x="142" y="221"/>
                  </a:cubicBezTo>
                  <a:cubicBezTo>
                    <a:pt x="119" y="222"/>
                    <a:pt x="68" y="141"/>
                    <a:pt x="74" y="105"/>
                  </a:cubicBezTo>
                  <a:cubicBezTo>
                    <a:pt x="80" y="69"/>
                    <a:pt x="144" y="5"/>
                    <a:pt x="178" y="7"/>
                  </a:cubicBezTo>
                  <a:cubicBezTo>
                    <a:pt x="212" y="9"/>
                    <a:pt x="273" y="83"/>
                    <a:pt x="276" y="117"/>
                  </a:cubicBezTo>
                  <a:cubicBezTo>
                    <a:pt x="279" y="151"/>
                    <a:pt x="220" y="211"/>
                    <a:pt x="195" y="209"/>
                  </a:cubicBezTo>
                  <a:cubicBezTo>
                    <a:pt x="170" y="207"/>
                    <a:pt x="117" y="139"/>
                    <a:pt x="126" y="105"/>
                  </a:cubicBezTo>
                  <a:cubicBezTo>
                    <a:pt x="135" y="71"/>
                    <a:pt x="213" y="0"/>
                    <a:pt x="247" y="2"/>
                  </a:cubicBezTo>
                  <a:cubicBezTo>
                    <a:pt x="281" y="4"/>
                    <a:pt x="327" y="82"/>
                    <a:pt x="333" y="117"/>
                  </a:cubicBezTo>
                  <a:cubicBezTo>
                    <a:pt x="339" y="152"/>
                    <a:pt x="309" y="211"/>
                    <a:pt x="281" y="209"/>
                  </a:cubicBezTo>
                  <a:cubicBezTo>
                    <a:pt x="253" y="207"/>
                    <a:pt x="165" y="139"/>
                    <a:pt x="166" y="105"/>
                  </a:cubicBezTo>
                  <a:cubicBezTo>
                    <a:pt x="167" y="71"/>
                    <a:pt x="251" y="14"/>
                    <a:pt x="287" y="7"/>
                  </a:cubicBezTo>
                  <a:cubicBezTo>
                    <a:pt x="323" y="0"/>
                    <a:pt x="364" y="40"/>
                    <a:pt x="379" y="65"/>
                  </a:cubicBezTo>
                  <a:cubicBezTo>
                    <a:pt x="394" y="90"/>
                    <a:pt x="379" y="70"/>
                    <a:pt x="379" y="157"/>
                  </a:cubicBezTo>
                  <a:cubicBezTo>
                    <a:pt x="379" y="244"/>
                    <a:pt x="379" y="416"/>
                    <a:pt x="379" y="589"/>
                  </a:cubicBezTo>
                </a:path>
              </a:pathLst>
            </a:custGeom>
            <a:noFill/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101"/>
            <p:cNvSpPr/>
            <p:nvPr/>
          </p:nvSpPr>
          <p:spPr>
            <a:xfrm>
              <a:off x="4080" y="1439"/>
              <a:ext cx="182" cy="456"/>
            </a:xfrm>
            <a:custGeom>
              <a:rect b="b" l="l" r="r" t="t"/>
              <a:pathLst>
                <a:path extrusionOk="0" h="589" w="394">
                  <a:moveTo>
                    <a:pt x="17" y="572"/>
                  </a:moveTo>
                  <a:cubicBezTo>
                    <a:pt x="17" y="429"/>
                    <a:pt x="17" y="286"/>
                    <a:pt x="17" y="209"/>
                  </a:cubicBezTo>
                  <a:cubicBezTo>
                    <a:pt x="17" y="132"/>
                    <a:pt x="0" y="144"/>
                    <a:pt x="17" y="111"/>
                  </a:cubicBezTo>
                  <a:cubicBezTo>
                    <a:pt x="34" y="78"/>
                    <a:pt x="88" y="10"/>
                    <a:pt x="120" y="8"/>
                  </a:cubicBezTo>
                  <a:cubicBezTo>
                    <a:pt x="152" y="6"/>
                    <a:pt x="208" y="65"/>
                    <a:pt x="212" y="100"/>
                  </a:cubicBezTo>
                  <a:cubicBezTo>
                    <a:pt x="216" y="135"/>
                    <a:pt x="165" y="220"/>
                    <a:pt x="142" y="221"/>
                  </a:cubicBezTo>
                  <a:cubicBezTo>
                    <a:pt x="119" y="222"/>
                    <a:pt x="68" y="141"/>
                    <a:pt x="74" y="105"/>
                  </a:cubicBezTo>
                  <a:cubicBezTo>
                    <a:pt x="80" y="69"/>
                    <a:pt x="144" y="5"/>
                    <a:pt x="178" y="7"/>
                  </a:cubicBezTo>
                  <a:cubicBezTo>
                    <a:pt x="212" y="9"/>
                    <a:pt x="273" y="83"/>
                    <a:pt x="276" y="117"/>
                  </a:cubicBezTo>
                  <a:cubicBezTo>
                    <a:pt x="279" y="151"/>
                    <a:pt x="220" y="211"/>
                    <a:pt x="195" y="209"/>
                  </a:cubicBezTo>
                  <a:cubicBezTo>
                    <a:pt x="170" y="207"/>
                    <a:pt x="117" y="139"/>
                    <a:pt x="126" y="105"/>
                  </a:cubicBezTo>
                  <a:cubicBezTo>
                    <a:pt x="135" y="71"/>
                    <a:pt x="213" y="0"/>
                    <a:pt x="247" y="2"/>
                  </a:cubicBezTo>
                  <a:cubicBezTo>
                    <a:pt x="281" y="4"/>
                    <a:pt x="327" y="82"/>
                    <a:pt x="333" y="117"/>
                  </a:cubicBezTo>
                  <a:cubicBezTo>
                    <a:pt x="339" y="152"/>
                    <a:pt x="309" y="211"/>
                    <a:pt x="281" y="209"/>
                  </a:cubicBezTo>
                  <a:cubicBezTo>
                    <a:pt x="253" y="207"/>
                    <a:pt x="165" y="139"/>
                    <a:pt x="166" y="105"/>
                  </a:cubicBezTo>
                  <a:cubicBezTo>
                    <a:pt x="167" y="71"/>
                    <a:pt x="251" y="14"/>
                    <a:pt x="287" y="7"/>
                  </a:cubicBezTo>
                  <a:cubicBezTo>
                    <a:pt x="323" y="0"/>
                    <a:pt x="364" y="40"/>
                    <a:pt x="379" y="65"/>
                  </a:cubicBezTo>
                  <a:cubicBezTo>
                    <a:pt x="394" y="90"/>
                    <a:pt x="379" y="70"/>
                    <a:pt x="379" y="157"/>
                  </a:cubicBezTo>
                  <a:cubicBezTo>
                    <a:pt x="379" y="244"/>
                    <a:pt x="379" y="416"/>
                    <a:pt x="379" y="589"/>
                  </a:cubicBezTo>
                </a:path>
              </a:pathLst>
            </a:cu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101"/>
            <p:cNvSpPr/>
            <p:nvPr/>
          </p:nvSpPr>
          <p:spPr>
            <a:xfrm>
              <a:off x="4078" y="1418"/>
              <a:ext cx="182" cy="456"/>
            </a:xfrm>
            <a:custGeom>
              <a:rect b="b" l="l" r="r" t="t"/>
              <a:pathLst>
                <a:path extrusionOk="0" h="589" w="394">
                  <a:moveTo>
                    <a:pt x="17" y="572"/>
                  </a:moveTo>
                  <a:cubicBezTo>
                    <a:pt x="17" y="429"/>
                    <a:pt x="17" y="286"/>
                    <a:pt x="17" y="209"/>
                  </a:cubicBezTo>
                  <a:cubicBezTo>
                    <a:pt x="17" y="132"/>
                    <a:pt x="0" y="144"/>
                    <a:pt x="17" y="111"/>
                  </a:cubicBezTo>
                  <a:cubicBezTo>
                    <a:pt x="34" y="78"/>
                    <a:pt x="88" y="10"/>
                    <a:pt x="120" y="8"/>
                  </a:cubicBezTo>
                  <a:cubicBezTo>
                    <a:pt x="152" y="6"/>
                    <a:pt x="208" y="65"/>
                    <a:pt x="212" y="100"/>
                  </a:cubicBezTo>
                  <a:cubicBezTo>
                    <a:pt x="216" y="135"/>
                    <a:pt x="165" y="220"/>
                    <a:pt x="142" y="221"/>
                  </a:cubicBezTo>
                  <a:cubicBezTo>
                    <a:pt x="119" y="222"/>
                    <a:pt x="68" y="141"/>
                    <a:pt x="74" y="105"/>
                  </a:cubicBezTo>
                  <a:cubicBezTo>
                    <a:pt x="80" y="69"/>
                    <a:pt x="144" y="5"/>
                    <a:pt x="178" y="7"/>
                  </a:cubicBezTo>
                  <a:cubicBezTo>
                    <a:pt x="212" y="9"/>
                    <a:pt x="273" y="83"/>
                    <a:pt x="276" y="117"/>
                  </a:cubicBezTo>
                  <a:cubicBezTo>
                    <a:pt x="279" y="151"/>
                    <a:pt x="220" y="211"/>
                    <a:pt x="195" y="209"/>
                  </a:cubicBezTo>
                  <a:cubicBezTo>
                    <a:pt x="170" y="207"/>
                    <a:pt x="117" y="139"/>
                    <a:pt x="126" y="105"/>
                  </a:cubicBezTo>
                  <a:cubicBezTo>
                    <a:pt x="135" y="71"/>
                    <a:pt x="213" y="0"/>
                    <a:pt x="247" y="2"/>
                  </a:cubicBezTo>
                  <a:cubicBezTo>
                    <a:pt x="281" y="4"/>
                    <a:pt x="327" y="82"/>
                    <a:pt x="333" y="117"/>
                  </a:cubicBezTo>
                  <a:cubicBezTo>
                    <a:pt x="339" y="152"/>
                    <a:pt x="309" y="211"/>
                    <a:pt x="281" y="209"/>
                  </a:cubicBezTo>
                  <a:cubicBezTo>
                    <a:pt x="253" y="207"/>
                    <a:pt x="165" y="139"/>
                    <a:pt x="166" y="105"/>
                  </a:cubicBezTo>
                  <a:cubicBezTo>
                    <a:pt x="167" y="71"/>
                    <a:pt x="251" y="14"/>
                    <a:pt x="287" y="7"/>
                  </a:cubicBezTo>
                  <a:cubicBezTo>
                    <a:pt x="323" y="0"/>
                    <a:pt x="364" y="40"/>
                    <a:pt x="379" y="65"/>
                  </a:cubicBezTo>
                  <a:cubicBezTo>
                    <a:pt x="394" y="90"/>
                    <a:pt x="379" y="70"/>
                    <a:pt x="379" y="157"/>
                  </a:cubicBezTo>
                  <a:cubicBezTo>
                    <a:pt x="379" y="244"/>
                    <a:pt x="379" y="416"/>
                    <a:pt x="379" y="589"/>
                  </a:cubicBezTo>
                </a:path>
              </a:pathLst>
            </a:custGeom>
            <a:noFill/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4" name="Google Shape;3164;p101"/>
            <p:cNvGrpSpPr/>
            <p:nvPr/>
          </p:nvGrpSpPr>
          <p:grpSpPr>
            <a:xfrm>
              <a:off x="4846" y="1682"/>
              <a:ext cx="720" cy="104"/>
              <a:chOff x="2068" y="3283"/>
              <a:chExt cx="720" cy="104"/>
            </a:xfrm>
          </p:grpSpPr>
          <p:sp>
            <p:nvSpPr>
              <p:cNvPr id="3165" name="Google Shape;3165;p101"/>
              <p:cNvSpPr/>
              <p:nvPr/>
            </p:nvSpPr>
            <p:spPr>
              <a:xfrm>
                <a:off x="2068" y="3300"/>
                <a:ext cx="714" cy="7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6" name="Google Shape;3166;p101"/>
              <p:cNvSpPr/>
              <p:nvPr/>
            </p:nvSpPr>
            <p:spPr>
              <a:xfrm>
                <a:off x="2655" y="3283"/>
                <a:ext cx="133" cy="104"/>
              </a:xfrm>
              <a:prstGeom prst="rect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FFFFF"/>
                  </a:gs>
                  <a:gs pos="100000">
                    <a:schemeClr val="dk1"/>
                  </a:gs>
                </a:gsLst>
                <a:lin ang="540000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67" name="Google Shape;3167;p101"/>
            <p:cNvSpPr/>
            <p:nvPr/>
          </p:nvSpPr>
          <p:spPr>
            <a:xfrm>
              <a:off x="3899" y="1182"/>
              <a:ext cx="559" cy="559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101"/>
            <p:cNvSpPr/>
            <p:nvPr/>
          </p:nvSpPr>
          <p:spPr>
            <a:xfrm>
              <a:off x="4112" y="2551"/>
              <a:ext cx="165" cy="1449"/>
            </a:xfrm>
            <a:prstGeom prst="rect">
              <a:avLst/>
            </a:prstGeom>
            <a:gradFill>
              <a:gsLst>
                <a:gs pos="0">
                  <a:srgbClr val="B3575A"/>
                </a:gs>
                <a:gs pos="50000">
                  <a:srgbClr val="FF7C80"/>
                </a:gs>
                <a:gs pos="100000">
                  <a:srgbClr val="B357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101"/>
            <p:cNvSpPr/>
            <p:nvPr/>
          </p:nvSpPr>
          <p:spPr>
            <a:xfrm>
              <a:off x="4915" y="2552"/>
              <a:ext cx="165" cy="1445"/>
            </a:xfrm>
            <a:prstGeom prst="rect">
              <a:avLst/>
            </a:prstGeom>
            <a:gradFill>
              <a:gsLst>
                <a:gs pos="0">
                  <a:srgbClr val="006B8F"/>
                </a:gs>
                <a:gs pos="50000">
                  <a:srgbClr val="0099CC"/>
                </a:gs>
                <a:gs pos="100000">
                  <a:srgbClr val="006B8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101"/>
            <p:cNvSpPr/>
            <p:nvPr/>
          </p:nvSpPr>
          <p:spPr>
            <a:xfrm>
              <a:off x="3690" y="2632"/>
              <a:ext cx="1824" cy="1688"/>
            </a:xfrm>
            <a:custGeom>
              <a:rect b="b" l="l" r="r" t="t"/>
              <a:pathLst>
                <a:path extrusionOk="0" h="1688" w="1904">
                  <a:moveTo>
                    <a:pt x="0" y="0"/>
                  </a:moveTo>
                  <a:lnTo>
                    <a:pt x="0" y="1688"/>
                  </a:lnTo>
                  <a:lnTo>
                    <a:pt x="1904" y="1688"/>
                  </a:lnTo>
                  <a:lnTo>
                    <a:pt x="1904" y="23"/>
                  </a:lnTo>
                </a:path>
              </a:pathLst>
            </a:custGeom>
            <a:gradFill>
              <a:gsLst>
                <a:gs pos="0">
                  <a:srgbClr val="6B4723"/>
                </a:gs>
                <a:gs pos="50000">
                  <a:srgbClr val="996633">
                    <a:alpha val="46666"/>
                  </a:srgbClr>
                </a:gs>
                <a:gs pos="100000">
                  <a:srgbClr val="6B472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101"/>
            <p:cNvSpPr txBox="1"/>
            <p:nvPr/>
          </p:nvSpPr>
          <p:spPr>
            <a:xfrm>
              <a:off x="4261" y="4056"/>
              <a:ext cx="7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Electrolyte</a:t>
              </a:r>
              <a:endParaRPr/>
            </a:p>
          </p:txBody>
        </p:sp>
        <p:grpSp>
          <p:nvGrpSpPr>
            <p:cNvPr id="3172" name="Google Shape;3172;p101"/>
            <p:cNvGrpSpPr/>
            <p:nvPr/>
          </p:nvGrpSpPr>
          <p:grpSpPr>
            <a:xfrm>
              <a:off x="3824" y="1732"/>
              <a:ext cx="695" cy="231"/>
              <a:chOff x="1166" y="2930"/>
              <a:chExt cx="695" cy="231"/>
            </a:xfrm>
          </p:grpSpPr>
          <p:grpSp>
            <p:nvGrpSpPr>
              <p:cNvPr id="3173" name="Google Shape;3173;p101"/>
              <p:cNvGrpSpPr/>
              <p:nvPr/>
            </p:nvGrpSpPr>
            <p:grpSpPr>
              <a:xfrm>
                <a:off x="1166" y="2936"/>
                <a:ext cx="695" cy="211"/>
                <a:chOff x="1166" y="2936"/>
                <a:chExt cx="695" cy="211"/>
              </a:xfrm>
            </p:grpSpPr>
            <p:sp>
              <p:nvSpPr>
                <p:cNvPr id="3174" name="Google Shape;3174;p101"/>
                <p:cNvSpPr/>
                <p:nvPr/>
              </p:nvSpPr>
              <p:spPr>
                <a:xfrm>
                  <a:off x="1166" y="3091"/>
                  <a:ext cx="695" cy="56"/>
                </a:xfrm>
                <a:prstGeom prst="rect">
                  <a:avLst/>
                </a:prstGeom>
                <a:gradFill>
                  <a:gsLst>
                    <a:gs pos="0">
                      <a:srgbClr val="B3B3B3"/>
                    </a:gs>
                    <a:gs pos="50000">
                      <a:schemeClr val="lt1"/>
                    </a:gs>
                    <a:gs pos="100000">
                      <a:srgbClr val="B3B3B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5" name="Google Shape;3175;p101"/>
                <p:cNvSpPr/>
                <p:nvPr/>
              </p:nvSpPr>
              <p:spPr>
                <a:xfrm>
                  <a:off x="1412" y="2936"/>
                  <a:ext cx="204" cy="155"/>
                </a:xfrm>
                <a:prstGeom prst="rect">
                  <a:avLst/>
                </a:prstGeom>
                <a:gradFill>
                  <a:gsLst>
                    <a:gs pos="0">
                      <a:srgbClr val="B3B3B3"/>
                    </a:gs>
                    <a:gs pos="50000">
                      <a:schemeClr val="lt1"/>
                    </a:gs>
                    <a:gs pos="100000">
                      <a:srgbClr val="B3B3B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176" name="Google Shape;3176;p101"/>
              <p:cNvSpPr/>
              <p:nvPr/>
            </p:nvSpPr>
            <p:spPr>
              <a:xfrm>
                <a:off x="1222" y="3035"/>
                <a:ext cx="98" cy="56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7" name="Google Shape;3177;p101"/>
              <p:cNvSpPr/>
              <p:nvPr/>
            </p:nvSpPr>
            <p:spPr>
              <a:xfrm>
                <a:off x="1697" y="3033"/>
                <a:ext cx="98" cy="56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8" name="Google Shape;3178;p101"/>
              <p:cNvSpPr txBox="1"/>
              <p:nvPr/>
            </p:nvSpPr>
            <p:spPr>
              <a:xfrm>
                <a:off x="1664" y="2930"/>
                <a:ext cx="16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3179" name="Google Shape;3179;p101"/>
              <p:cNvSpPr txBox="1"/>
              <p:nvPr/>
            </p:nvSpPr>
            <p:spPr>
              <a:xfrm>
                <a:off x="1178" y="2965"/>
                <a:ext cx="181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grpSp>
          <p:nvGrpSpPr>
            <p:cNvPr id="3180" name="Google Shape;3180;p101"/>
            <p:cNvGrpSpPr/>
            <p:nvPr/>
          </p:nvGrpSpPr>
          <p:grpSpPr>
            <a:xfrm>
              <a:off x="4680" y="1690"/>
              <a:ext cx="827" cy="264"/>
              <a:chOff x="1902" y="3291"/>
              <a:chExt cx="827" cy="264"/>
            </a:xfrm>
          </p:grpSpPr>
          <p:sp>
            <p:nvSpPr>
              <p:cNvPr id="3181" name="Google Shape;3181;p101"/>
              <p:cNvSpPr/>
              <p:nvPr/>
            </p:nvSpPr>
            <p:spPr>
              <a:xfrm>
                <a:off x="1902" y="3447"/>
                <a:ext cx="827" cy="108"/>
              </a:xfrm>
              <a:prstGeom prst="rect">
                <a:avLst/>
              </a:prstGeom>
              <a:gradFill>
                <a:gsLst>
                  <a:gs pos="0">
                    <a:srgbClr val="B3B3B3"/>
                  </a:gs>
                  <a:gs pos="100000">
                    <a:schemeClr val="lt1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2" name="Google Shape;3182;p101"/>
              <p:cNvSpPr/>
              <p:nvPr/>
            </p:nvSpPr>
            <p:spPr>
              <a:xfrm>
                <a:off x="2051" y="3292"/>
                <a:ext cx="107" cy="155"/>
              </a:xfrm>
              <a:prstGeom prst="rect">
                <a:avLst/>
              </a:prstGeom>
              <a:gradFill>
                <a:gsLst>
                  <a:gs pos="0">
                    <a:schemeClr val="lt1"/>
                  </a:gs>
                  <a:gs pos="100000">
                    <a:srgbClr val="B3B3B3"/>
                  </a:gs>
                </a:gsLst>
                <a:lin ang="1890000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3" name="Google Shape;3183;p101"/>
              <p:cNvSpPr/>
              <p:nvPr/>
            </p:nvSpPr>
            <p:spPr>
              <a:xfrm>
                <a:off x="1941" y="3421"/>
                <a:ext cx="98" cy="29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4" name="Google Shape;3184;p101"/>
              <p:cNvSpPr/>
              <p:nvPr/>
            </p:nvSpPr>
            <p:spPr>
              <a:xfrm>
                <a:off x="2602" y="3418"/>
                <a:ext cx="98" cy="29"/>
              </a:xfrm>
              <a:prstGeom prst="rect">
                <a:avLst/>
              </a:prstGeom>
              <a:gradFill>
                <a:gsLst>
                  <a:gs pos="0">
                    <a:srgbClr val="5A5A5A"/>
                  </a:gs>
                  <a:gs pos="50000">
                    <a:schemeClr val="lt2"/>
                  </a:gs>
                  <a:gs pos="100000">
                    <a:srgbClr val="5A5A5A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5" name="Google Shape;3185;p101"/>
              <p:cNvSpPr/>
              <p:nvPr/>
            </p:nvSpPr>
            <p:spPr>
              <a:xfrm>
                <a:off x="2470" y="3291"/>
                <a:ext cx="107" cy="155"/>
              </a:xfrm>
              <a:prstGeom prst="rect">
                <a:avLst/>
              </a:prstGeom>
              <a:gradFill>
                <a:gsLst>
                  <a:gs pos="0">
                    <a:schemeClr val="lt1"/>
                  </a:gs>
                  <a:gs pos="100000">
                    <a:srgbClr val="B3B3B3"/>
                  </a:gs>
                </a:gsLst>
                <a:lin ang="1890000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6" name="Google Shape;3186;p101"/>
              <p:cNvSpPr/>
              <p:nvPr/>
            </p:nvSpPr>
            <p:spPr>
              <a:xfrm>
                <a:off x="2079" y="3312"/>
                <a:ext cx="56" cy="56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7" name="Google Shape;3187;p101"/>
              <p:cNvSpPr/>
              <p:nvPr/>
            </p:nvSpPr>
            <p:spPr>
              <a:xfrm>
                <a:off x="2492" y="3310"/>
                <a:ext cx="56" cy="56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8" name="Google Shape;3188;p101"/>
            <p:cNvSpPr/>
            <p:nvPr/>
          </p:nvSpPr>
          <p:spPr>
            <a:xfrm>
              <a:off x="3665" y="1769"/>
              <a:ext cx="525" cy="778"/>
            </a:xfrm>
            <a:custGeom>
              <a:rect b="b" l="l" r="r" t="t"/>
              <a:pathLst>
                <a:path extrusionOk="0" h="778" w="525">
                  <a:moveTo>
                    <a:pt x="525" y="778"/>
                  </a:moveTo>
                  <a:lnTo>
                    <a:pt x="525" y="438"/>
                  </a:lnTo>
                  <a:lnTo>
                    <a:pt x="0" y="438"/>
                  </a:lnTo>
                  <a:lnTo>
                    <a:pt x="0" y="0"/>
                  </a:lnTo>
                  <a:lnTo>
                    <a:pt x="271" y="0"/>
                  </a:lnTo>
                  <a:lnTo>
                    <a:pt x="271" y="58"/>
                  </a:ln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101"/>
            <p:cNvSpPr/>
            <p:nvPr/>
          </p:nvSpPr>
          <p:spPr>
            <a:xfrm>
              <a:off x="4403" y="1763"/>
              <a:ext cx="357" cy="64"/>
            </a:xfrm>
            <a:custGeom>
              <a:rect b="b" l="l" r="r" t="t"/>
              <a:pathLst>
                <a:path extrusionOk="0" h="64" w="357">
                  <a:moveTo>
                    <a:pt x="0" y="64"/>
                  </a:moveTo>
                  <a:lnTo>
                    <a:pt x="0" y="0"/>
                  </a:lnTo>
                  <a:lnTo>
                    <a:pt x="357" y="0"/>
                  </a:lnTo>
                  <a:lnTo>
                    <a:pt x="357" y="52"/>
                  </a:ln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101"/>
            <p:cNvSpPr/>
            <p:nvPr/>
          </p:nvSpPr>
          <p:spPr>
            <a:xfrm>
              <a:off x="4990" y="1758"/>
              <a:ext cx="640" cy="789"/>
            </a:xfrm>
            <a:custGeom>
              <a:rect b="b" l="l" r="r" t="t"/>
              <a:pathLst>
                <a:path extrusionOk="0" h="749" w="657">
                  <a:moveTo>
                    <a:pt x="455" y="57"/>
                  </a:moveTo>
                  <a:lnTo>
                    <a:pt x="455" y="0"/>
                  </a:lnTo>
                  <a:lnTo>
                    <a:pt x="657" y="0"/>
                  </a:lnTo>
                  <a:lnTo>
                    <a:pt x="657" y="426"/>
                  </a:lnTo>
                  <a:lnTo>
                    <a:pt x="0" y="426"/>
                  </a:lnTo>
                  <a:lnTo>
                    <a:pt x="0" y="749"/>
                  </a:ln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p101"/>
            <p:cNvSpPr/>
            <p:nvPr/>
          </p:nvSpPr>
          <p:spPr>
            <a:xfrm>
              <a:off x="3896" y="1179"/>
              <a:ext cx="559" cy="559"/>
            </a:xfrm>
            <a:prstGeom prst="ellipse">
              <a:avLst/>
            </a:prstGeom>
            <a:solidFill>
              <a:srgbClr val="FFFF00">
                <a:alpha val="51764"/>
              </a:srgbClr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2" name="Google Shape;3192;p101"/>
          <p:cNvSpPr txBox="1"/>
          <p:nvPr/>
        </p:nvSpPr>
        <p:spPr>
          <a:xfrm rot="-5400000">
            <a:off x="5313818" y="5154613"/>
            <a:ext cx="20050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 potential</a:t>
            </a:r>
            <a:endParaRPr/>
          </a:p>
        </p:txBody>
      </p:sp>
      <p:sp>
        <p:nvSpPr>
          <p:cNvPr id="3193" name="Google Shape;3193;p101"/>
          <p:cNvSpPr txBox="1"/>
          <p:nvPr/>
        </p:nvSpPr>
        <p:spPr>
          <a:xfrm rot="-5400000">
            <a:off x="7137856" y="5145087"/>
            <a:ext cx="2005012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low potential</a:t>
            </a:r>
            <a:endParaRPr/>
          </a:p>
        </p:txBody>
      </p:sp>
      <p:grpSp>
        <p:nvGrpSpPr>
          <p:cNvPr id="3194" name="Google Shape;3194;p101"/>
          <p:cNvGrpSpPr/>
          <p:nvPr/>
        </p:nvGrpSpPr>
        <p:grpSpPr>
          <a:xfrm>
            <a:off x="6580643" y="4891088"/>
            <a:ext cx="1268412" cy="4762"/>
            <a:chOff x="4191" y="3249"/>
            <a:chExt cx="799" cy="3"/>
          </a:xfrm>
        </p:grpSpPr>
        <p:cxnSp>
          <p:nvCxnSpPr>
            <p:cNvPr id="3195" name="Google Shape;3195;p101"/>
            <p:cNvCxnSpPr/>
            <p:nvPr/>
          </p:nvCxnSpPr>
          <p:spPr>
            <a:xfrm rot="10800000">
              <a:off x="4191" y="3251"/>
              <a:ext cx="796" cy="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96" name="Google Shape;3196;p101"/>
            <p:cNvCxnSpPr/>
            <p:nvPr/>
          </p:nvCxnSpPr>
          <p:spPr>
            <a:xfrm rot="10800000">
              <a:off x="4808" y="3252"/>
              <a:ext cx="182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7" name="Google Shape;3197;p101"/>
            <p:cNvCxnSpPr/>
            <p:nvPr/>
          </p:nvCxnSpPr>
          <p:spPr>
            <a:xfrm rot="10800000">
              <a:off x="4652" y="3249"/>
              <a:ext cx="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8" name="Google Shape;3198;p101"/>
            <p:cNvCxnSpPr/>
            <p:nvPr/>
          </p:nvCxnSpPr>
          <p:spPr>
            <a:xfrm rot="10800000">
              <a:off x="4526" y="3252"/>
              <a:ext cx="53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99" name="Google Shape;3199;p101"/>
          <p:cNvSpPr txBox="1"/>
          <p:nvPr/>
        </p:nvSpPr>
        <p:spPr>
          <a:xfrm rot="-5400000">
            <a:off x="6349888" y="5264009"/>
            <a:ext cx="17505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Chemical</a:t>
            </a:r>
            <a:r>
              <a:rPr b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endParaRPr/>
          </a:p>
        </p:txBody>
      </p:sp>
      <p:cxnSp>
        <p:nvCxnSpPr>
          <p:cNvPr id="3200" name="Google Shape;3200;p101"/>
          <p:cNvCxnSpPr/>
          <p:nvPr/>
        </p:nvCxnSpPr>
        <p:spPr>
          <a:xfrm rot="10800000">
            <a:off x="2935967" y="5110163"/>
            <a:ext cx="0" cy="1250950"/>
          </a:xfrm>
          <a:prstGeom prst="straightConnector1">
            <a:avLst/>
          </a:prstGeom>
          <a:noFill/>
          <a:ln cap="flat" cmpd="sng" w="19050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1" name="Google Shape;3201;p101"/>
          <p:cNvCxnSpPr/>
          <p:nvPr/>
        </p:nvCxnSpPr>
        <p:spPr>
          <a:xfrm rot="10800000">
            <a:off x="5284335" y="5113338"/>
            <a:ext cx="0" cy="1250950"/>
          </a:xfrm>
          <a:prstGeom prst="straightConnector1">
            <a:avLst/>
          </a:prstGeom>
          <a:noFill/>
          <a:ln cap="flat" cmpd="sng" w="19050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2" name="Google Shape;3202;p101"/>
          <p:cNvCxnSpPr/>
          <p:nvPr/>
        </p:nvCxnSpPr>
        <p:spPr>
          <a:xfrm>
            <a:off x="3850822" y="6364288"/>
            <a:ext cx="1419225" cy="0"/>
          </a:xfrm>
          <a:prstGeom prst="straightConnector1">
            <a:avLst/>
          </a:prstGeom>
          <a:noFill/>
          <a:ln cap="flat" cmpd="sng" w="19050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3" name="Google Shape;3203;p101"/>
          <p:cNvSpPr txBox="1"/>
          <p:nvPr/>
        </p:nvSpPr>
        <p:spPr>
          <a:xfrm>
            <a:off x="3455761" y="5922510"/>
            <a:ext cx="6479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cell</a:t>
            </a:r>
            <a:endParaRPr/>
          </a:p>
        </p:txBody>
      </p:sp>
      <p:sp>
        <p:nvSpPr>
          <p:cNvPr id="3204" name="Google Shape;3204;p101"/>
          <p:cNvSpPr txBox="1"/>
          <p:nvPr/>
        </p:nvSpPr>
        <p:spPr>
          <a:xfrm>
            <a:off x="3065463" y="5232400"/>
            <a:ext cx="8531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lamp</a:t>
            </a:r>
            <a:endParaRPr/>
          </a:p>
        </p:txBody>
      </p:sp>
      <p:sp>
        <p:nvSpPr>
          <p:cNvPr id="3205" name="Google Shape;3205;p101"/>
          <p:cNvSpPr txBox="1"/>
          <p:nvPr/>
        </p:nvSpPr>
        <p:spPr>
          <a:xfrm>
            <a:off x="4067175" y="5307013"/>
            <a:ext cx="1040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/>
          </a:p>
        </p:txBody>
      </p:sp>
      <p:sp>
        <p:nvSpPr>
          <p:cNvPr id="3206" name="Google Shape;3206;p101"/>
          <p:cNvSpPr txBox="1"/>
          <p:nvPr/>
        </p:nvSpPr>
        <p:spPr>
          <a:xfrm>
            <a:off x="2780394" y="6359525"/>
            <a:ext cx="5693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3207" name="Google Shape;3207;p101"/>
          <p:cNvSpPr txBox="1"/>
          <p:nvPr/>
        </p:nvSpPr>
        <p:spPr>
          <a:xfrm>
            <a:off x="3405188" y="6359525"/>
            <a:ext cx="4924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  <p:grpSp>
        <p:nvGrpSpPr>
          <p:cNvPr id="3208" name="Google Shape;3208;p101"/>
          <p:cNvGrpSpPr/>
          <p:nvPr/>
        </p:nvGrpSpPr>
        <p:grpSpPr>
          <a:xfrm>
            <a:off x="3198813" y="6275388"/>
            <a:ext cx="171450" cy="171450"/>
            <a:chOff x="1761" y="2415"/>
            <a:chExt cx="108" cy="108"/>
          </a:xfrm>
        </p:grpSpPr>
        <p:sp>
          <p:nvSpPr>
            <p:cNvPr id="3209" name="Google Shape;3209;p101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10" name="Google Shape;3210;p101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1" name="Google Shape;3211;p101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12" name="Google Shape;3212;p101"/>
          <p:cNvGrpSpPr/>
          <p:nvPr/>
        </p:nvGrpSpPr>
        <p:grpSpPr>
          <a:xfrm>
            <a:off x="6504443" y="4794250"/>
            <a:ext cx="171450" cy="171450"/>
            <a:chOff x="1761" y="2415"/>
            <a:chExt cx="108" cy="108"/>
          </a:xfrm>
        </p:grpSpPr>
        <p:sp>
          <p:nvSpPr>
            <p:cNvPr id="3213" name="Google Shape;3213;p101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14" name="Google Shape;3214;p101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5" name="Google Shape;3215;p101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16" name="Google Shape;3216;p10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3217" name="Google Shape;3217;p101"/>
          <p:cNvSpPr txBox="1"/>
          <p:nvPr/>
        </p:nvSpPr>
        <p:spPr>
          <a:xfrm>
            <a:off x="5951079" y="3808862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(+)</a:t>
            </a:r>
            <a:endParaRPr/>
          </a:p>
        </p:txBody>
      </p:sp>
      <p:sp>
        <p:nvSpPr>
          <p:cNvPr id="3218" name="Google Shape;3218;p101"/>
          <p:cNvSpPr txBox="1"/>
          <p:nvPr/>
        </p:nvSpPr>
        <p:spPr>
          <a:xfrm>
            <a:off x="8101464" y="381838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(-)</a:t>
            </a:r>
            <a:endParaRPr/>
          </a:p>
        </p:txBody>
      </p:sp>
      <p:pic>
        <p:nvPicPr>
          <p:cNvPr id="3219" name="Google Shape;3219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442" y="4831216"/>
            <a:ext cx="1143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0" name="Google Shape;3220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0911" y="5057096"/>
            <a:ext cx="12763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1" name="Google Shape;3221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3431" y="6056086"/>
            <a:ext cx="88582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p102"/>
          <p:cNvSpPr/>
          <p:nvPr/>
        </p:nvSpPr>
        <p:spPr>
          <a:xfrm>
            <a:off x="685800" y="1549400"/>
            <a:ext cx="7772400" cy="52832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electric potential difference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∙As an analogy to gravitational potential energy, think of the chemical cell as an elevator, powered by a chemical engine.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∙Inside the cell, positive                                                     charges at low potential are                                                               raised through chemical                                                        energy to high potential.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∙Outside the cell, positive                                                    charges at high potential are                                                released into the external                                                       circuit to do their electrical                                                  work, losing energy as they go.</a:t>
            </a:r>
            <a:endParaRPr/>
          </a:p>
        </p:txBody>
      </p:sp>
      <p:grpSp>
        <p:nvGrpSpPr>
          <p:cNvPr id="3228" name="Google Shape;3228;p102"/>
          <p:cNvGrpSpPr/>
          <p:nvPr/>
        </p:nvGrpSpPr>
        <p:grpSpPr>
          <a:xfrm>
            <a:off x="6516869" y="3305394"/>
            <a:ext cx="2350907" cy="3363913"/>
            <a:chOff x="3122" y="1896"/>
            <a:chExt cx="978" cy="2119"/>
          </a:xfrm>
        </p:grpSpPr>
        <p:sp>
          <p:nvSpPr>
            <p:cNvPr id="3229" name="Google Shape;3229;p102"/>
            <p:cNvSpPr/>
            <p:nvPr/>
          </p:nvSpPr>
          <p:spPr>
            <a:xfrm>
              <a:off x="3122" y="1896"/>
              <a:ext cx="978" cy="2119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p102"/>
            <p:cNvSpPr txBox="1"/>
            <p:nvPr/>
          </p:nvSpPr>
          <p:spPr>
            <a:xfrm>
              <a:off x="3273" y="3464"/>
              <a:ext cx="73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external  circuit</a:t>
              </a:r>
              <a:endParaRPr/>
            </a:p>
          </p:txBody>
        </p:sp>
      </p:grpSp>
      <p:grpSp>
        <p:nvGrpSpPr>
          <p:cNvPr id="3231" name="Google Shape;3231;p102"/>
          <p:cNvGrpSpPr/>
          <p:nvPr/>
        </p:nvGrpSpPr>
        <p:grpSpPr>
          <a:xfrm>
            <a:off x="5003800" y="3303806"/>
            <a:ext cx="1565275" cy="3365501"/>
            <a:chOff x="3114" y="1896"/>
            <a:chExt cx="986" cy="2120"/>
          </a:xfrm>
        </p:grpSpPr>
        <p:sp>
          <p:nvSpPr>
            <p:cNvPr id="3232" name="Google Shape;3232;p102"/>
            <p:cNvSpPr/>
            <p:nvPr/>
          </p:nvSpPr>
          <p:spPr>
            <a:xfrm>
              <a:off x="3122" y="1896"/>
              <a:ext cx="978" cy="212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p102"/>
            <p:cNvSpPr txBox="1"/>
            <p:nvPr/>
          </p:nvSpPr>
          <p:spPr>
            <a:xfrm>
              <a:off x="3114" y="3464"/>
              <a:ext cx="964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333399"/>
                  </a:solidFill>
                  <a:latin typeface="Arial"/>
                  <a:ea typeface="Arial"/>
                  <a:cs typeface="Arial"/>
                  <a:sym typeface="Arial"/>
                </a:rPr>
                <a:t>chemical cell</a:t>
              </a:r>
              <a:endParaRPr/>
            </a:p>
          </p:txBody>
        </p:sp>
      </p:grpSp>
      <p:grpSp>
        <p:nvGrpSpPr>
          <p:cNvPr id="3234" name="Google Shape;3234;p102"/>
          <p:cNvGrpSpPr/>
          <p:nvPr/>
        </p:nvGrpSpPr>
        <p:grpSpPr>
          <a:xfrm>
            <a:off x="7810500" y="5132606"/>
            <a:ext cx="171450" cy="171450"/>
            <a:chOff x="1761" y="2415"/>
            <a:chExt cx="108" cy="108"/>
          </a:xfrm>
        </p:grpSpPr>
        <p:sp>
          <p:nvSpPr>
            <p:cNvPr id="3235" name="Google Shape;3235;p102"/>
            <p:cNvSpPr/>
            <p:nvPr/>
          </p:nvSpPr>
          <p:spPr>
            <a:xfrm>
              <a:off x="1761" y="2415"/>
              <a:ext cx="108" cy="108"/>
            </a:xfrm>
            <a:prstGeom prst="ellipse">
              <a:avLst/>
            </a:prstGeom>
            <a:solidFill>
              <a:srgbClr val="FFCC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6" name="Google Shape;3236;p102"/>
            <p:cNvCxnSpPr/>
            <p:nvPr/>
          </p:nvCxnSpPr>
          <p:spPr>
            <a:xfrm>
              <a:off x="1790" y="2466"/>
              <a:ext cx="5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7" name="Google Shape;3237;p102"/>
            <p:cNvCxnSpPr/>
            <p:nvPr/>
          </p:nvCxnSpPr>
          <p:spPr>
            <a:xfrm>
              <a:off x="1814" y="2436"/>
              <a:ext cx="0" cy="6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38" name="Google Shape;3238;p102"/>
          <p:cNvGrpSpPr/>
          <p:nvPr/>
        </p:nvGrpSpPr>
        <p:grpSpPr>
          <a:xfrm>
            <a:off x="7186613" y="3314125"/>
            <a:ext cx="804862" cy="804863"/>
            <a:chOff x="1395" y="3704"/>
            <a:chExt cx="507" cy="507"/>
          </a:xfrm>
        </p:grpSpPr>
        <p:cxnSp>
          <p:nvCxnSpPr>
            <p:cNvPr id="3239" name="Google Shape;3239;p102"/>
            <p:cNvCxnSpPr/>
            <p:nvPr/>
          </p:nvCxnSpPr>
          <p:spPr>
            <a:xfrm>
              <a:off x="1395" y="3949"/>
              <a:ext cx="50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0" name="Google Shape;3240;p102"/>
            <p:cNvCxnSpPr/>
            <p:nvPr/>
          </p:nvCxnSpPr>
          <p:spPr>
            <a:xfrm rot="-5400000">
              <a:off x="1397" y="3958"/>
              <a:ext cx="50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1" name="Google Shape;3241;p102"/>
            <p:cNvCxnSpPr/>
            <p:nvPr/>
          </p:nvCxnSpPr>
          <p:spPr>
            <a:xfrm>
              <a:off x="1463" y="3760"/>
              <a:ext cx="364" cy="3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2" name="Google Shape;3242;p102"/>
            <p:cNvCxnSpPr/>
            <p:nvPr/>
          </p:nvCxnSpPr>
          <p:spPr>
            <a:xfrm rot="5400000">
              <a:off x="1465" y="3767"/>
              <a:ext cx="364" cy="3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3" name="Google Shape;3243;p102"/>
            <p:cNvSpPr/>
            <p:nvPr/>
          </p:nvSpPr>
          <p:spPr>
            <a:xfrm>
              <a:off x="1516" y="3820"/>
              <a:ext cx="257" cy="25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4" name="Google Shape;3244;p102"/>
          <p:cNvGrpSpPr/>
          <p:nvPr/>
        </p:nvGrpSpPr>
        <p:grpSpPr>
          <a:xfrm>
            <a:off x="7539038" y="4244400"/>
            <a:ext cx="804862" cy="804863"/>
            <a:chOff x="1395" y="3704"/>
            <a:chExt cx="507" cy="507"/>
          </a:xfrm>
        </p:grpSpPr>
        <p:cxnSp>
          <p:nvCxnSpPr>
            <p:cNvPr id="3245" name="Google Shape;3245;p102"/>
            <p:cNvCxnSpPr/>
            <p:nvPr/>
          </p:nvCxnSpPr>
          <p:spPr>
            <a:xfrm>
              <a:off x="1395" y="3949"/>
              <a:ext cx="50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6" name="Google Shape;3246;p102"/>
            <p:cNvCxnSpPr/>
            <p:nvPr/>
          </p:nvCxnSpPr>
          <p:spPr>
            <a:xfrm rot="-5400000">
              <a:off x="1397" y="3958"/>
              <a:ext cx="50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7" name="Google Shape;3247;p102"/>
            <p:cNvCxnSpPr/>
            <p:nvPr/>
          </p:nvCxnSpPr>
          <p:spPr>
            <a:xfrm>
              <a:off x="1463" y="3760"/>
              <a:ext cx="364" cy="3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8" name="Google Shape;3248;p102"/>
            <p:cNvCxnSpPr/>
            <p:nvPr/>
          </p:nvCxnSpPr>
          <p:spPr>
            <a:xfrm rot="5400000">
              <a:off x="1465" y="3767"/>
              <a:ext cx="364" cy="3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9" name="Google Shape;3249;p102"/>
            <p:cNvSpPr/>
            <p:nvPr/>
          </p:nvSpPr>
          <p:spPr>
            <a:xfrm>
              <a:off x="1516" y="3820"/>
              <a:ext cx="257" cy="25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0" name="Google Shape;3250;p102"/>
          <p:cNvSpPr/>
          <p:nvPr/>
        </p:nvSpPr>
        <p:spPr>
          <a:xfrm>
            <a:off x="6164263" y="3767356"/>
            <a:ext cx="2249487" cy="438150"/>
          </a:xfrm>
          <a:custGeom>
            <a:rect b="b" l="l" r="r" t="t"/>
            <a:pathLst>
              <a:path extrusionOk="0" h="276" w="1417">
                <a:moveTo>
                  <a:pt x="0" y="0"/>
                </a:moveTo>
                <a:lnTo>
                  <a:pt x="507" y="3"/>
                </a:lnTo>
                <a:lnTo>
                  <a:pt x="856" y="276"/>
                </a:lnTo>
                <a:lnTo>
                  <a:pt x="1417" y="276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102"/>
          <p:cNvSpPr/>
          <p:nvPr/>
        </p:nvSpPr>
        <p:spPr>
          <a:xfrm>
            <a:off x="6164263" y="4192806"/>
            <a:ext cx="2646362" cy="1143000"/>
          </a:xfrm>
          <a:custGeom>
            <a:rect b="b" l="l" r="r" t="t"/>
            <a:pathLst>
              <a:path extrusionOk="0" h="720" w="1667">
                <a:moveTo>
                  <a:pt x="0" y="717"/>
                </a:moveTo>
                <a:lnTo>
                  <a:pt x="1136" y="720"/>
                </a:lnTo>
                <a:lnTo>
                  <a:pt x="1667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2" name="Google Shape;3252;p102"/>
          <p:cNvGrpSpPr/>
          <p:nvPr/>
        </p:nvGrpSpPr>
        <p:grpSpPr>
          <a:xfrm>
            <a:off x="6024563" y="3811806"/>
            <a:ext cx="234950" cy="1539875"/>
            <a:chOff x="4722" y="1925"/>
            <a:chExt cx="148" cy="970"/>
          </a:xfrm>
        </p:grpSpPr>
        <p:cxnSp>
          <p:nvCxnSpPr>
            <p:cNvPr id="3253" name="Google Shape;3253;p102"/>
            <p:cNvCxnSpPr/>
            <p:nvPr/>
          </p:nvCxnSpPr>
          <p:spPr>
            <a:xfrm>
              <a:off x="4722" y="1925"/>
              <a:ext cx="0" cy="97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4" name="Google Shape;3254;p102"/>
            <p:cNvCxnSpPr/>
            <p:nvPr/>
          </p:nvCxnSpPr>
          <p:spPr>
            <a:xfrm>
              <a:off x="4723" y="2889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5" name="Google Shape;3255;p102"/>
            <p:cNvCxnSpPr/>
            <p:nvPr/>
          </p:nvCxnSpPr>
          <p:spPr>
            <a:xfrm>
              <a:off x="4731" y="2753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6" name="Google Shape;3256;p102"/>
            <p:cNvCxnSpPr/>
            <p:nvPr/>
          </p:nvCxnSpPr>
          <p:spPr>
            <a:xfrm>
              <a:off x="4732" y="2615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7" name="Google Shape;3257;p102"/>
            <p:cNvCxnSpPr/>
            <p:nvPr/>
          </p:nvCxnSpPr>
          <p:spPr>
            <a:xfrm>
              <a:off x="4732" y="2481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8" name="Google Shape;3258;p102"/>
            <p:cNvCxnSpPr/>
            <p:nvPr/>
          </p:nvCxnSpPr>
          <p:spPr>
            <a:xfrm>
              <a:off x="4732" y="2345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9" name="Google Shape;3259;p102"/>
            <p:cNvCxnSpPr/>
            <p:nvPr/>
          </p:nvCxnSpPr>
          <p:spPr>
            <a:xfrm>
              <a:off x="4733" y="2207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0" name="Google Shape;3260;p102"/>
            <p:cNvCxnSpPr/>
            <p:nvPr/>
          </p:nvCxnSpPr>
          <p:spPr>
            <a:xfrm>
              <a:off x="4726" y="2066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1" name="Google Shape;3261;p102"/>
            <p:cNvCxnSpPr/>
            <p:nvPr/>
          </p:nvCxnSpPr>
          <p:spPr>
            <a:xfrm>
              <a:off x="4727" y="1928"/>
              <a:ext cx="1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62" name="Google Shape;3262;p102"/>
          <p:cNvGrpSpPr/>
          <p:nvPr/>
        </p:nvGrpSpPr>
        <p:grpSpPr>
          <a:xfrm>
            <a:off x="5492750" y="4950044"/>
            <a:ext cx="790575" cy="788987"/>
            <a:chOff x="4072" y="1895"/>
            <a:chExt cx="392" cy="391"/>
          </a:xfrm>
        </p:grpSpPr>
        <p:sp>
          <p:nvSpPr>
            <p:cNvPr id="3263" name="Google Shape;3263;p102"/>
            <p:cNvSpPr/>
            <p:nvPr/>
          </p:nvSpPr>
          <p:spPr>
            <a:xfrm>
              <a:off x="4073" y="1895"/>
              <a:ext cx="391" cy="391"/>
            </a:xfrm>
            <a:prstGeom prst="ellipse">
              <a:avLst/>
            </a:prstGeom>
            <a:gradFill>
              <a:gsLst>
                <a:gs pos="0">
                  <a:srgbClr val="23236B"/>
                </a:gs>
                <a:gs pos="100000">
                  <a:schemeClr val="accent2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4" name="Google Shape;3264;p102"/>
            <p:cNvCxnSpPr/>
            <p:nvPr/>
          </p:nvCxnSpPr>
          <p:spPr>
            <a:xfrm>
              <a:off x="4072" y="2091"/>
              <a:ext cx="39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65" name="Google Shape;3265;p102"/>
          <p:cNvGrpSpPr/>
          <p:nvPr/>
        </p:nvGrpSpPr>
        <p:grpSpPr>
          <a:xfrm>
            <a:off x="5505450" y="3372069"/>
            <a:ext cx="790575" cy="788987"/>
            <a:chOff x="4072" y="1895"/>
            <a:chExt cx="392" cy="391"/>
          </a:xfrm>
        </p:grpSpPr>
        <p:sp>
          <p:nvSpPr>
            <p:cNvPr id="3266" name="Google Shape;3266;p102"/>
            <p:cNvSpPr/>
            <p:nvPr/>
          </p:nvSpPr>
          <p:spPr>
            <a:xfrm>
              <a:off x="4073" y="1895"/>
              <a:ext cx="391" cy="391"/>
            </a:xfrm>
            <a:prstGeom prst="ellipse">
              <a:avLst/>
            </a:prstGeom>
            <a:gradFill>
              <a:gsLst>
                <a:gs pos="0">
                  <a:srgbClr val="B30000"/>
                </a:gs>
                <a:gs pos="100000">
                  <a:srgbClr val="FF0000"/>
                </a:gs>
              </a:gsLst>
              <a:lin ang="189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7" name="Google Shape;3267;p102"/>
            <p:cNvCxnSpPr/>
            <p:nvPr/>
          </p:nvCxnSpPr>
          <p:spPr>
            <a:xfrm>
              <a:off x="4072" y="2091"/>
              <a:ext cx="39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68" name="Google Shape;3268;p102"/>
          <p:cNvGrpSpPr/>
          <p:nvPr/>
        </p:nvGrpSpPr>
        <p:grpSpPr>
          <a:xfrm>
            <a:off x="5340355" y="3375244"/>
            <a:ext cx="636588" cy="2366962"/>
            <a:chOff x="4067" y="1650"/>
            <a:chExt cx="401" cy="1491"/>
          </a:xfrm>
        </p:grpSpPr>
        <p:grpSp>
          <p:nvGrpSpPr>
            <p:cNvPr id="3269" name="Google Shape;3269;p102"/>
            <p:cNvGrpSpPr/>
            <p:nvPr/>
          </p:nvGrpSpPr>
          <p:grpSpPr>
            <a:xfrm>
              <a:off x="4067" y="1705"/>
              <a:ext cx="401" cy="1436"/>
              <a:chOff x="4067" y="1705"/>
              <a:chExt cx="401" cy="1186"/>
            </a:xfrm>
          </p:grpSpPr>
          <p:sp>
            <p:nvSpPr>
              <p:cNvPr id="3270" name="Google Shape;3270;p102"/>
              <p:cNvSpPr/>
              <p:nvPr/>
            </p:nvSpPr>
            <p:spPr>
              <a:xfrm>
                <a:off x="4067" y="1705"/>
                <a:ext cx="401" cy="1186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1" name="Google Shape;3271;p102"/>
              <p:cNvSpPr/>
              <p:nvPr/>
            </p:nvSpPr>
            <p:spPr>
              <a:xfrm>
                <a:off x="4252" y="1819"/>
                <a:ext cx="27" cy="273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2" name="Google Shape;3272;p102"/>
            <p:cNvSpPr txBox="1"/>
            <p:nvPr/>
          </p:nvSpPr>
          <p:spPr>
            <a:xfrm>
              <a:off x="4073" y="2811"/>
              <a:ext cx="3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(-)</a:t>
              </a:r>
              <a:endParaRPr/>
            </a:p>
          </p:txBody>
        </p:sp>
        <p:sp>
          <p:nvSpPr>
            <p:cNvPr id="3273" name="Google Shape;3273;p102"/>
            <p:cNvSpPr txBox="1"/>
            <p:nvPr/>
          </p:nvSpPr>
          <p:spPr>
            <a:xfrm>
              <a:off x="4070" y="1650"/>
              <a:ext cx="35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(+)</a:t>
              </a:r>
              <a:endParaRPr/>
            </a:p>
          </p:txBody>
        </p:sp>
      </p:grpSp>
      <p:sp>
        <p:nvSpPr>
          <p:cNvPr id="3274" name="Google Shape;3274;p102"/>
          <p:cNvSpPr/>
          <p:nvPr/>
        </p:nvSpPr>
        <p:spPr>
          <a:xfrm>
            <a:off x="5403850" y="4219794"/>
            <a:ext cx="511175" cy="998537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rgbClr val="839D9F"/>
              </a:gs>
              <a:gs pos="100000">
                <a:schemeClr val="accent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5" name="Google Shape;3275;p102"/>
          <p:cNvSpPr/>
          <p:nvPr/>
        </p:nvSpPr>
        <p:spPr>
          <a:xfrm>
            <a:off x="5548313" y="5008781"/>
            <a:ext cx="228600" cy="204788"/>
          </a:xfrm>
          <a:prstGeom prst="irregularSeal2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6" name="Google Shape;3276;p102"/>
          <p:cNvGrpSpPr/>
          <p:nvPr/>
        </p:nvGrpSpPr>
        <p:grpSpPr>
          <a:xfrm>
            <a:off x="5430838" y="3899119"/>
            <a:ext cx="463550" cy="1100137"/>
            <a:chOff x="4124" y="1980"/>
            <a:chExt cx="292" cy="693"/>
          </a:xfrm>
        </p:grpSpPr>
        <p:sp>
          <p:nvSpPr>
            <p:cNvPr id="3277" name="Google Shape;3277;p102"/>
            <p:cNvSpPr/>
            <p:nvPr/>
          </p:nvSpPr>
          <p:spPr>
            <a:xfrm>
              <a:off x="4239" y="1980"/>
              <a:ext cx="58" cy="542"/>
            </a:xfrm>
            <a:prstGeom prst="rect">
              <a:avLst/>
            </a:prstGeom>
            <a:gradFill>
              <a:gsLst>
                <a:gs pos="0">
                  <a:srgbClr val="5A5A5A"/>
                </a:gs>
                <a:gs pos="50000">
                  <a:schemeClr val="lt2"/>
                </a:gs>
                <a:gs pos="100000">
                  <a:srgbClr val="5A5A5A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102"/>
            <p:cNvSpPr/>
            <p:nvPr/>
          </p:nvSpPr>
          <p:spPr>
            <a:xfrm>
              <a:off x="4124" y="2517"/>
              <a:ext cx="292" cy="156"/>
            </a:xfrm>
            <a:prstGeom prst="rect">
              <a:avLst/>
            </a:prstGeom>
            <a:gradFill>
              <a:gsLst>
                <a:gs pos="0">
                  <a:srgbClr val="B30000"/>
                </a:gs>
                <a:gs pos="50000">
                  <a:srgbClr val="FF0000"/>
                </a:gs>
                <a:gs pos="100000">
                  <a:srgbClr val="B3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9" name="Google Shape;3279;p102"/>
          <p:cNvSpPr/>
          <p:nvPr/>
        </p:nvSpPr>
        <p:spPr>
          <a:xfrm>
            <a:off x="5418138" y="4242019"/>
            <a:ext cx="217487" cy="155575"/>
          </a:xfrm>
          <a:prstGeom prst="irregularSeal2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10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32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32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32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3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p103"/>
          <p:cNvSpPr/>
          <p:nvPr/>
        </p:nvSpPr>
        <p:spPr>
          <a:xfrm>
            <a:off x="682625" y="6053138"/>
            <a:ext cx="7753350" cy="8048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the increase rather than the decrease.</a:t>
            </a:r>
            <a:endParaRPr/>
          </a:p>
        </p:txBody>
      </p:sp>
      <p:sp>
        <p:nvSpPr>
          <p:cNvPr id="3287" name="Google Shape;3287;p103"/>
          <p:cNvSpPr/>
          <p:nvPr/>
        </p:nvSpPr>
        <p:spPr>
          <a:xfrm>
            <a:off x="685800" y="1549400"/>
            <a:ext cx="7772400" cy="45357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electric potential difference </a:t>
            </a:r>
            <a:endParaRPr/>
          </a:p>
        </p:txBody>
      </p:sp>
      <p:sp>
        <p:nvSpPr>
          <p:cNvPr id="3288" name="Google Shape;3288;p103"/>
          <p:cNvSpPr/>
          <p:nvPr/>
        </p:nvSpPr>
        <p:spPr>
          <a:xfrm>
            <a:off x="674688" y="1973943"/>
            <a:ext cx="7772400" cy="413657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 μC of charge is brought from an electric potential of 2.0 V to an electric potential of 14 V through use of a car battery. What is the change in potential energy of the charge?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see that 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Thus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(200×10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)(14 – 2)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0.0024 J.</a:t>
            </a:r>
            <a:endParaRPr/>
          </a:p>
        </p:txBody>
      </p:sp>
      <p:sp>
        <p:nvSpPr>
          <p:cNvPr id="3289" name="Google Shape;3289;p10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id="3290" name="Google Shape;3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9315" y="4789715"/>
            <a:ext cx="2304956" cy="20682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104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electromotive force (emf)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electromotive force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ε (or emf) of a cell is the amount of chemical energy converted to electrical energy per unit charge.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energy per                                                                 unit charge is volts,                                                                       emf is measured in                                                                  volts.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∙This cell has an                                                                        emf of ε = 1.6 V.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∙Because the cell is                                                                not connected to any                                                                    circuit we say that it is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unloaded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	</a:t>
            </a:r>
            <a:endParaRPr/>
          </a:p>
        </p:txBody>
      </p:sp>
      <p:sp>
        <p:nvSpPr>
          <p:cNvPr id="3297" name="Google Shape;3297;p104"/>
          <p:cNvSpPr/>
          <p:nvPr/>
        </p:nvSpPr>
        <p:spPr>
          <a:xfrm>
            <a:off x="5245090" y="5778278"/>
            <a:ext cx="2217738" cy="814387"/>
          </a:xfrm>
          <a:custGeom>
            <a:rect b="b" l="l" r="r" t="t"/>
            <a:pathLst>
              <a:path extrusionOk="0" h="513" w="1397">
                <a:moveTo>
                  <a:pt x="17" y="0"/>
                </a:moveTo>
                <a:cubicBezTo>
                  <a:pt x="12" y="59"/>
                  <a:pt x="7" y="119"/>
                  <a:pt x="17" y="190"/>
                </a:cubicBezTo>
                <a:cubicBezTo>
                  <a:pt x="27" y="261"/>
                  <a:pt x="0" y="372"/>
                  <a:pt x="78" y="425"/>
                </a:cubicBezTo>
                <a:cubicBezTo>
                  <a:pt x="156" y="478"/>
                  <a:pt x="324" y="503"/>
                  <a:pt x="487" y="508"/>
                </a:cubicBezTo>
                <a:cubicBezTo>
                  <a:pt x="650" y="513"/>
                  <a:pt x="904" y="486"/>
                  <a:pt x="1056" y="455"/>
                </a:cubicBezTo>
                <a:cubicBezTo>
                  <a:pt x="1208" y="424"/>
                  <a:pt x="1302" y="371"/>
                  <a:pt x="1397" y="319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8" name="Google Shape;329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080000">
            <a:off x="7770913" y="4916381"/>
            <a:ext cx="354012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299" name="Google Shape;3299;p104"/>
          <p:cNvSpPr/>
          <p:nvPr/>
        </p:nvSpPr>
        <p:spPr>
          <a:xfrm>
            <a:off x="5472103" y="3077940"/>
            <a:ext cx="1304925" cy="3443288"/>
          </a:xfrm>
          <a:custGeom>
            <a:rect b="b" l="l" r="r" t="t"/>
            <a:pathLst>
              <a:path extrusionOk="0" h="2169" w="822">
                <a:moveTo>
                  <a:pt x="33" y="1739"/>
                </a:moveTo>
                <a:cubicBezTo>
                  <a:pt x="30" y="1800"/>
                  <a:pt x="27" y="1861"/>
                  <a:pt x="33" y="1913"/>
                </a:cubicBezTo>
                <a:cubicBezTo>
                  <a:pt x="39" y="1965"/>
                  <a:pt x="0" y="2025"/>
                  <a:pt x="71" y="2050"/>
                </a:cubicBezTo>
                <a:cubicBezTo>
                  <a:pt x="142" y="2075"/>
                  <a:pt x="368" y="2169"/>
                  <a:pt x="458" y="2065"/>
                </a:cubicBezTo>
                <a:cubicBezTo>
                  <a:pt x="548" y="1961"/>
                  <a:pt x="611" y="1663"/>
                  <a:pt x="609" y="1428"/>
                </a:cubicBezTo>
                <a:cubicBezTo>
                  <a:pt x="607" y="1193"/>
                  <a:pt x="483" y="871"/>
                  <a:pt x="443" y="655"/>
                </a:cubicBezTo>
                <a:cubicBezTo>
                  <a:pt x="403" y="439"/>
                  <a:pt x="367" y="238"/>
                  <a:pt x="367" y="132"/>
                </a:cubicBezTo>
                <a:cubicBezTo>
                  <a:pt x="367" y="26"/>
                  <a:pt x="408" y="38"/>
                  <a:pt x="443" y="19"/>
                </a:cubicBezTo>
                <a:cubicBezTo>
                  <a:pt x="478" y="0"/>
                  <a:pt x="541" y="8"/>
                  <a:pt x="579" y="19"/>
                </a:cubicBezTo>
                <a:cubicBezTo>
                  <a:pt x="617" y="30"/>
                  <a:pt x="630" y="73"/>
                  <a:pt x="670" y="87"/>
                </a:cubicBezTo>
                <a:cubicBezTo>
                  <a:pt x="710" y="101"/>
                  <a:pt x="766" y="101"/>
                  <a:pt x="822" y="102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0" name="Google Shape;3300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0015" y="2849340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3301" name="Google Shape;3301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148400">
            <a:off x="4652953" y="4184428"/>
            <a:ext cx="661987" cy="6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3302" name="Google Shape;3302;p104"/>
          <p:cNvSpPr txBox="1"/>
          <p:nvPr/>
        </p:nvSpPr>
        <p:spPr>
          <a:xfrm>
            <a:off x="4317990" y="3060478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01.6</a:t>
            </a:r>
            <a:endParaRPr/>
          </a:p>
        </p:txBody>
      </p:sp>
      <p:sp>
        <p:nvSpPr>
          <p:cNvPr id="3303" name="Google Shape;3303;p104"/>
          <p:cNvSpPr txBox="1"/>
          <p:nvPr/>
        </p:nvSpPr>
        <p:spPr>
          <a:xfrm>
            <a:off x="4330690" y="3062065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00.0</a:t>
            </a:r>
            <a:endParaRPr/>
          </a:p>
        </p:txBody>
      </p:sp>
      <p:pic>
        <p:nvPicPr>
          <p:cNvPr descr="battery" id="3304" name="Google Shape;3304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8240" y="3403833"/>
            <a:ext cx="1624012" cy="2132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3305" name="Google Shape;3305;p10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4709722">
            <a:off x="7174356" y="2234978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06" name="Google Shape;3306;p10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1" name="Shape 3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2" name="Google Shape;3312;p105"/>
          <p:cNvSpPr/>
          <p:nvPr/>
        </p:nvSpPr>
        <p:spPr>
          <a:xfrm>
            <a:off x="674688" y="2002971"/>
            <a:ext cx="7772400" cy="4855029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How much chemical energy is converted to electrical energy by the cell if a charge of 15 μC is drawn by the voltmeter?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we have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 =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∆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(1.6)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(15×10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= 2.4×10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J.</a:t>
            </a:r>
            <a:endParaRPr baseline="30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3" name="Google Shape;3313;p105"/>
          <p:cNvSpPr/>
          <p:nvPr/>
        </p:nvSpPr>
        <p:spPr>
          <a:xfrm>
            <a:off x="685800" y="1549400"/>
            <a:ext cx="7772400" cy="482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electromotive force (emf) </a:t>
            </a:r>
            <a:endParaRPr/>
          </a:p>
        </p:txBody>
      </p:sp>
      <p:sp>
        <p:nvSpPr>
          <p:cNvPr id="3314" name="Google Shape;3314;p10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3315" name="Google Shape;3315;p105"/>
          <p:cNvSpPr/>
          <p:nvPr/>
        </p:nvSpPr>
        <p:spPr>
          <a:xfrm>
            <a:off x="5245090" y="5778278"/>
            <a:ext cx="2217738" cy="814387"/>
          </a:xfrm>
          <a:custGeom>
            <a:rect b="b" l="l" r="r" t="t"/>
            <a:pathLst>
              <a:path extrusionOk="0" h="513" w="1397">
                <a:moveTo>
                  <a:pt x="17" y="0"/>
                </a:moveTo>
                <a:cubicBezTo>
                  <a:pt x="12" y="59"/>
                  <a:pt x="7" y="119"/>
                  <a:pt x="17" y="190"/>
                </a:cubicBezTo>
                <a:cubicBezTo>
                  <a:pt x="27" y="261"/>
                  <a:pt x="0" y="372"/>
                  <a:pt x="78" y="425"/>
                </a:cubicBezTo>
                <a:cubicBezTo>
                  <a:pt x="156" y="478"/>
                  <a:pt x="324" y="503"/>
                  <a:pt x="487" y="508"/>
                </a:cubicBezTo>
                <a:cubicBezTo>
                  <a:pt x="650" y="513"/>
                  <a:pt x="904" y="486"/>
                  <a:pt x="1056" y="455"/>
                </a:cubicBezTo>
                <a:cubicBezTo>
                  <a:pt x="1208" y="424"/>
                  <a:pt x="1302" y="371"/>
                  <a:pt x="1397" y="319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6" name="Google Shape;331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080000">
            <a:off x="7770913" y="4916381"/>
            <a:ext cx="354012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17" name="Google Shape;3317;p105"/>
          <p:cNvSpPr/>
          <p:nvPr/>
        </p:nvSpPr>
        <p:spPr>
          <a:xfrm>
            <a:off x="5472103" y="3077940"/>
            <a:ext cx="1304925" cy="3443288"/>
          </a:xfrm>
          <a:custGeom>
            <a:rect b="b" l="l" r="r" t="t"/>
            <a:pathLst>
              <a:path extrusionOk="0" h="2169" w="822">
                <a:moveTo>
                  <a:pt x="33" y="1739"/>
                </a:moveTo>
                <a:cubicBezTo>
                  <a:pt x="30" y="1800"/>
                  <a:pt x="27" y="1861"/>
                  <a:pt x="33" y="1913"/>
                </a:cubicBezTo>
                <a:cubicBezTo>
                  <a:pt x="39" y="1965"/>
                  <a:pt x="0" y="2025"/>
                  <a:pt x="71" y="2050"/>
                </a:cubicBezTo>
                <a:cubicBezTo>
                  <a:pt x="142" y="2075"/>
                  <a:pt x="368" y="2169"/>
                  <a:pt x="458" y="2065"/>
                </a:cubicBezTo>
                <a:cubicBezTo>
                  <a:pt x="548" y="1961"/>
                  <a:pt x="611" y="1663"/>
                  <a:pt x="609" y="1428"/>
                </a:cubicBezTo>
                <a:cubicBezTo>
                  <a:pt x="607" y="1193"/>
                  <a:pt x="483" y="871"/>
                  <a:pt x="443" y="655"/>
                </a:cubicBezTo>
                <a:cubicBezTo>
                  <a:pt x="403" y="439"/>
                  <a:pt x="367" y="238"/>
                  <a:pt x="367" y="132"/>
                </a:cubicBezTo>
                <a:cubicBezTo>
                  <a:pt x="367" y="26"/>
                  <a:pt x="408" y="38"/>
                  <a:pt x="443" y="19"/>
                </a:cubicBezTo>
                <a:cubicBezTo>
                  <a:pt x="478" y="0"/>
                  <a:pt x="541" y="8"/>
                  <a:pt x="579" y="19"/>
                </a:cubicBezTo>
                <a:cubicBezTo>
                  <a:pt x="617" y="30"/>
                  <a:pt x="630" y="73"/>
                  <a:pt x="670" y="87"/>
                </a:cubicBezTo>
                <a:cubicBezTo>
                  <a:pt x="710" y="101"/>
                  <a:pt x="766" y="101"/>
                  <a:pt x="822" y="102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8" name="Google Shape;3318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0015" y="2849340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19" name="Google Shape;3319;p105"/>
          <p:cNvSpPr txBox="1"/>
          <p:nvPr/>
        </p:nvSpPr>
        <p:spPr>
          <a:xfrm>
            <a:off x="4317990" y="3060478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01.6</a:t>
            </a:r>
            <a:endParaRPr/>
          </a:p>
        </p:txBody>
      </p:sp>
      <p:pic>
        <p:nvPicPr>
          <p:cNvPr descr="battery" id="3320" name="Google Shape;3320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8240" y="3403833"/>
            <a:ext cx="1624012" cy="2132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3321" name="Google Shape;3321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709722">
            <a:off x="7174356" y="2234978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3322" name="Google Shape;3322;p10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1199705">
            <a:off x="4652963" y="4198936"/>
            <a:ext cx="661987" cy="636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" name="Google Shape;3328;p106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we connect a resistor as part of an external circuit, we see that the voltage read by the meter goes down a little bit.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say that the cell is                                                        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loaded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because there                                                               is a resistor connected                                                     externally in a circuit.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∙This cell has a                                                              loaded potential                                                                difference (p.d.) of                                                                         V = 1.5 V.</a:t>
            </a:r>
            <a:endParaRPr/>
          </a:p>
        </p:txBody>
      </p:sp>
      <p:pic>
        <p:nvPicPr>
          <p:cNvPr descr="resistor" id="3329" name="Google Shape;332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70221">
            <a:off x="6484028" y="3876001"/>
            <a:ext cx="1614487" cy="16144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30" name="Google Shape;3330;p106"/>
          <p:cNvSpPr/>
          <p:nvPr/>
        </p:nvSpPr>
        <p:spPr>
          <a:xfrm>
            <a:off x="7751079" y="5397506"/>
            <a:ext cx="1392921" cy="896938"/>
          </a:xfrm>
          <a:custGeom>
            <a:rect b="b" l="l" r="r" t="t"/>
            <a:pathLst>
              <a:path extrusionOk="0" h="565" w="960">
                <a:moveTo>
                  <a:pt x="0" y="122"/>
                </a:moveTo>
                <a:cubicBezTo>
                  <a:pt x="18" y="151"/>
                  <a:pt x="57" y="246"/>
                  <a:pt x="99" y="296"/>
                </a:cubicBezTo>
                <a:cubicBezTo>
                  <a:pt x="141" y="346"/>
                  <a:pt x="188" y="387"/>
                  <a:pt x="250" y="425"/>
                </a:cubicBezTo>
                <a:cubicBezTo>
                  <a:pt x="312" y="463"/>
                  <a:pt x="388" y="502"/>
                  <a:pt x="470" y="523"/>
                </a:cubicBezTo>
                <a:cubicBezTo>
                  <a:pt x="552" y="544"/>
                  <a:pt x="670" y="565"/>
                  <a:pt x="743" y="554"/>
                </a:cubicBezTo>
                <a:cubicBezTo>
                  <a:pt x="816" y="543"/>
                  <a:pt x="871" y="509"/>
                  <a:pt x="906" y="455"/>
                </a:cubicBezTo>
                <a:cubicBezTo>
                  <a:pt x="941" y="401"/>
                  <a:pt x="960" y="303"/>
                  <a:pt x="954" y="227"/>
                </a:cubicBezTo>
                <a:cubicBezTo>
                  <a:pt x="947" y="151"/>
                  <a:pt x="908" y="75"/>
                  <a:pt x="869" y="0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p10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sp>
        <p:nvSpPr>
          <p:cNvPr id="3332" name="Google Shape;3332;p106"/>
          <p:cNvSpPr/>
          <p:nvPr/>
        </p:nvSpPr>
        <p:spPr>
          <a:xfrm>
            <a:off x="5245090" y="5778278"/>
            <a:ext cx="2217738" cy="814387"/>
          </a:xfrm>
          <a:custGeom>
            <a:rect b="b" l="l" r="r" t="t"/>
            <a:pathLst>
              <a:path extrusionOk="0" h="513" w="1397">
                <a:moveTo>
                  <a:pt x="17" y="0"/>
                </a:moveTo>
                <a:cubicBezTo>
                  <a:pt x="12" y="59"/>
                  <a:pt x="7" y="119"/>
                  <a:pt x="17" y="190"/>
                </a:cubicBezTo>
                <a:cubicBezTo>
                  <a:pt x="27" y="261"/>
                  <a:pt x="0" y="372"/>
                  <a:pt x="78" y="425"/>
                </a:cubicBezTo>
                <a:cubicBezTo>
                  <a:pt x="156" y="478"/>
                  <a:pt x="324" y="503"/>
                  <a:pt x="487" y="508"/>
                </a:cubicBezTo>
                <a:cubicBezTo>
                  <a:pt x="650" y="513"/>
                  <a:pt x="904" y="486"/>
                  <a:pt x="1056" y="455"/>
                </a:cubicBezTo>
                <a:cubicBezTo>
                  <a:pt x="1208" y="424"/>
                  <a:pt x="1302" y="371"/>
                  <a:pt x="1397" y="319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3" name="Google Shape;3333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7080000">
            <a:off x="7770913" y="4916381"/>
            <a:ext cx="354012" cy="216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34" name="Google Shape;3334;p106"/>
          <p:cNvSpPr/>
          <p:nvPr/>
        </p:nvSpPr>
        <p:spPr>
          <a:xfrm>
            <a:off x="5472103" y="3077940"/>
            <a:ext cx="1304925" cy="3443288"/>
          </a:xfrm>
          <a:custGeom>
            <a:rect b="b" l="l" r="r" t="t"/>
            <a:pathLst>
              <a:path extrusionOk="0" h="2169" w="822">
                <a:moveTo>
                  <a:pt x="33" y="1739"/>
                </a:moveTo>
                <a:cubicBezTo>
                  <a:pt x="30" y="1800"/>
                  <a:pt x="27" y="1861"/>
                  <a:pt x="33" y="1913"/>
                </a:cubicBezTo>
                <a:cubicBezTo>
                  <a:pt x="39" y="1965"/>
                  <a:pt x="0" y="2025"/>
                  <a:pt x="71" y="2050"/>
                </a:cubicBezTo>
                <a:cubicBezTo>
                  <a:pt x="142" y="2075"/>
                  <a:pt x="368" y="2169"/>
                  <a:pt x="458" y="2065"/>
                </a:cubicBezTo>
                <a:cubicBezTo>
                  <a:pt x="548" y="1961"/>
                  <a:pt x="611" y="1663"/>
                  <a:pt x="609" y="1428"/>
                </a:cubicBezTo>
                <a:cubicBezTo>
                  <a:pt x="607" y="1193"/>
                  <a:pt x="483" y="871"/>
                  <a:pt x="443" y="655"/>
                </a:cubicBezTo>
                <a:cubicBezTo>
                  <a:pt x="403" y="439"/>
                  <a:pt x="367" y="238"/>
                  <a:pt x="367" y="132"/>
                </a:cubicBezTo>
                <a:cubicBezTo>
                  <a:pt x="367" y="26"/>
                  <a:pt x="408" y="38"/>
                  <a:pt x="443" y="19"/>
                </a:cubicBezTo>
                <a:cubicBezTo>
                  <a:pt x="478" y="0"/>
                  <a:pt x="541" y="8"/>
                  <a:pt x="579" y="19"/>
                </a:cubicBezTo>
                <a:cubicBezTo>
                  <a:pt x="617" y="30"/>
                  <a:pt x="630" y="73"/>
                  <a:pt x="670" y="87"/>
                </a:cubicBezTo>
                <a:cubicBezTo>
                  <a:pt x="710" y="101"/>
                  <a:pt x="766" y="101"/>
                  <a:pt x="822" y="102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5" name="Google Shape;3335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0015" y="2849340"/>
            <a:ext cx="1966913" cy="32131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battery" id="3336" name="Google Shape;3336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8240" y="3403833"/>
            <a:ext cx="1624012" cy="213201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3337" name="Google Shape;3337;p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1199705">
            <a:off x="4652963" y="4213450"/>
            <a:ext cx="661987" cy="636587"/>
          </a:xfrm>
          <a:prstGeom prst="rect">
            <a:avLst/>
          </a:prstGeom>
          <a:noFill/>
          <a:ln>
            <a:noFill/>
          </a:ln>
        </p:spPr>
      </p:pic>
      <p:sp>
        <p:nvSpPr>
          <p:cNvPr id="3338" name="Google Shape;3338;p106"/>
          <p:cNvSpPr txBox="1"/>
          <p:nvPr/>
        </p:nvSpPr>
        <p:spPr>
          <a:xfrm>
            <a:off x="4318000" y="3060521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01.5</a:t>
            </a:r>
            <a:endParaRPr/>
          </a:p>
        </p:txBody>
      </p:sp>
      <p:sp>
        <p:nvSpPr>
          <p:cNvPr id="3339" name="Google Shape;3339;p106"/>
          <p:cNvSpPr txBox="1"/>
          <p:nvPr/>
        </p:nvSpPr>
        <p:spPr>
          <a:xfrm>
            <a:off x="4318000" y="3065283"/>
            <a:ext cx="144303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01.6</a:t>
            </a:r>
            <a:endParaRPr/>
          </a:p>
        </p:txBody>
      </p:sp>
      <p:sp>
        <p:nvSpPr>
          <p:cNvPr id="3340" name="Google Shape;3340;p106"/>
          <p:cNvSpPr/>
          <p:nvPr/>
        </p:nvSpPr>
        <p:spPr>
          <a:xfrm>
            <a:off x="6635757" y="2933877"/>
            <a:ext cx="1700202" cy="780247"/>
          </a:xfrm>
          <a:custGeom>
            <a:rect b="b" l="l" r="r" t="t"/>
            <a:pathLst>
              <a:path extrusionOk="0" h="10804" w="10561">
                <a:moveTo>
                  <a:pt x="849" y="10804"/>
                </a:moveTo>
                <a:cubicBezTo>
                  <a:pt x="741" y="9706"/>
                  <a:pt x="0" y="7155"/>
                  <a:pt x="375" y="5549"/>
                </a:cubicBezTo>
                <a:cubicBezTo>
                  <a:pt x="750" y="3943"/>
                  <a:pt x="2035" y="1982"/>
                  <a:pt x="3097" y="1167"/>
                </a:cubicBezTo>
                <a:cubicBezTo>
                  <a:pt x="4160" y="352"/>
                  <a:pt x="5665" y="0"/>
                  <a:pt x="6750" y="660"/>
                </a:cubicBezTo>
                <a:cubicBezTo>
                  <a:pt x="7836" y="1320"/>
                  <a:pt x="9000" y="3826"/>
                  <a:pt x="9633" y="5166"/>
                </a:cubicBezTo>
                <a:cubicBezTo>
                  <a:pt x="10266" y="6508"/>
                  <a:pt x="10345" y="7210"/>
                  <a:pt x="10561" y="8661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1" name="Google Shape;3341;p10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4709722">
            <a:off x="7174356" y="2234978"/>
            <a:ext cx="339725" cy="21717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10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∙All cells and batteries have limits as to how rapidly the chemical reactions can maintain the voltage.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∙There is an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resistance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associated with a cell or a battery which causes the cell’s voltage to drop when there is an external demand for the cell’s electrical energy.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best cells will have small internal resistances.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internal resistance of a cell is why a battery becomes hot if there is a high demand for current from an external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∙Cell heat will be produced at the rate given by</a:t>
            </a:r>
            <a:endParaRPr/>
          </a:p>
        </p:txBody>
      </p:sp>
      <p:grpSp>
        <p:nvGrpSpPr>
          <p:cNvPr id="3348" name="Google Shape;3348;p107"/>
          <p:cNvGrpSpPr/>
          <p:nvPr/>
        </p:nvGrpSpPr>
        <p:grpSpPr>
          <a:xfrm>
            <a:off x="809625" y="6367009"/>
            <a:ext cx="7464425" cy="461963"/>
            <a:chOff x="510" y="3915"/>
            <a:chExt cx="4702" cy="291"/>
          </a:xfrm>
        </p:grpSpPr>
        <p:sp>
          <p:nvSpPr>
            <p:cNvPr id="3349" name="Google Shape;3349;p107"/>
            <p:cNvSpPr/>
            <p:nvPr/>
          </p:nvSpPr>
          <p:spPr>
            <a:xfrm>
              <a:off x="592" y="3928"/>
              <a:ext cx="833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107"/>
            <p:cNvSpPr txBox="1"/>
            <p:nvPr/>
          </p:nvSpPr>
          <p:spPr>
            <a:xfrm>
              <a:off x="3944" y="3915"/>
              <a:ext cx="1268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cell heat rate</a:t>
              </a:r>
              <a:endParaRPr/>
            </a:p>
          </p:txBody>
        </p:sp>
        <p:sp>
          <p:nvSpPr>
            <p:cNvPr id="3351" name="Google Shape;3351;p107"/>
            <p:cNvSpPr/>
            <p:nvPr/>
          </p:nvSpPr>
          <p:spPr>
            <a:xfrm>
              <a:off x="510" y="3917"/>
              <a:ext cx="4701" cy="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107"/>
            <p:cNvSpPr/>
            <p:nvPr/>
          </p:nvSpPr>
          <p:spPr>
            <a:xfrm>
              <a:off x="1532" y="3975"/>
              <a:ext cx="2469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= cell internal resistance</a:t>
              </a:r>
              <a:endParaRPr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3" name="Google Shape;3353;p10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108"/>
          <p:cNvSpPr/>
          <p:nvPr/>
        </p:nvSpPr>
        <p:spPr>
          <a:xfrm>
            <a:off x="682625" y="4673600"/>
            <a:ext cx="7753350" cy="21844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double the current, the rate of heat generation will quadruple because of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dependency.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accidentally “short circuit” a battery, the battery may even heat up enough to leak or explode!</a:t>
            </a:r>
            <a:endParaRPr/>
          </a:p>
        </p:txBody>
      </p:sp>
      <p:sp>
        <p:nvSpPr>
          <p:cNvPr id="3360" name="Google Shape;3360;p108"/>
          <p:cNvSpPr/>
          <p:nvPr/>
        </p:nvSpPr>
        <p:spPr>
          <a:xfrm>
            <a:off x="685800" y="1973943"/>
            <a:ext cx="7772400" cy="2728686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battery has an internal resistance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1.25 Ω. What is its rate of heat production if it is supplying an external circuit with a current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2.00 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∙Rate of heat production is power.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)(1.25) = 5.00 J 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5.00 W.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361" name="Google Shape;3361;p108"/>
          <p:cNvSpPr/>
          <p:nvPr/>
        </p:nvSpPr>
        <p:spPr>
          <a:xfrm>
            <a:off x="685800" y="1549399"/>
            <a:ext cx="7772400" cy="43905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3362" name="Google Shape;3362;p108"/>
          <p:cNvSpPr/>
          <p:nvPr/>
        </p:nvSpPr>
        <p:spPr>
          <a:xfrm>
            <a:off x="7386638" y="4290818"/>
            <a:ext cx="1370012" cy="860425"/>
          </a:xfrm>
          <a:custGeom>
            <a:rect b="b" l="l" r="r" t="t"/>
            <a:pathLst>
              <a:path extrusionOk="0" h="542" w="863">
                <a:moveTo>
                  <a:pt x="766" y="319"/>
                </a:moveTo>
                <a:cubicBezTo>
                  <a:pt x="779" y="315"/>
                  <a:pt x="793" y="311"/>
                  <a:pt x="804" y="341"/>
                </a:cubicBezTo>
                <a:cubicBezTo>
                  <a:pt x="815" y="371"/>
                  <a:pt x="863" y="469"/>
                  <a:pt x="834" y="501"/>
                </a:cubicBezTo>
                <a:cubicBezTo>
                  <a:pt x="805" y="533"/>
                  <a:pt x="726" y="542"/>
                  <a:pt x="630" y="531"/>
                </a:cubicBezTo>
                <a:cubicBezTo>
                  <a:pt x="534" y="520"/>
                  <a:pt x="349" y="472"/>
                  <a:pt x="258" y="432"/>
                </a:cubicBezTo>
                <a:cubicBezTo>
                  <a:pt x="167" y="392"/>
                  <a:pt x="127" y="360"/>
                  <a:pt x="84" y="288"/>
                </a:cubicBezTo>
                <a:cubicBezTo>
                  <a:pt x="41" y="216"/>
                  <a:pt x="20" y="108"/>
                  <a:pt x="0" y="0"/>
                </a:cubicBezTo>
              </a:path>
            </a:pathLst>
          </a:custGeom>
          <a:noFill/>
          <a:ln cap="flat" cmpd="sng" w="5715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ttery" id="3363" name="Google Shape;336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6850" y="3427218"/>
            <a:ext cx="1119188" cy="14684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364" name="Google Shape;3364;p108"/>
          <p:cNvSpPr/>
          <p:nvPr/>
        </p:nvSpPr>
        <p:spPr>
          <a:xfrm>
            <a:off x="7399338" y="3343081"/>
            <a:ext cx="733425" cy="1020762"/>
          </a:xfrm>
          <a:custGeom>
            <a:rect b="b" l="l" r="r" t="t"/>
            <a:pathLst>
              <a:path extrusionOk="0" h="643" w="462">
                <a:moveTo>
                  <a:pt x="462" y="112"/>
                </a:moveTo>
                <a:cubicBezTo>
                  <a:pt x="425" y="62"/>
                  <a:pt x="388" y="12"/>
                  <a:pt x="341" y="6"/>
                </a:cubicBezTo>
                <a:cubicBezTo>
                  <a:pt x="294" y="0"/>
                  <a:pt x="222" y="22"/>
                  <a:pt x="182" y="74"/>
                </a:cubicBezTo>
                <a:cubicBezTo>
                  <a:pt x="142" y="126"/>
                  <a:pt x="129" y="222"/>
                  <a:pt x="99" y="317"/>
                </a:cubicBezTo>
                <a:cubicBezTo>
                  <a:pt x="69" y="412"/>
                  <a:pt x="34" y="527"/>
                  <a:pt x="0" y="643"/>
                </a:cubicBezTo>
              </a:path>
            </a:pathLst>
          </a:custGeom>
          <a:noFill/>
          <a:ln cap="flat" cmpd="sng" w="57150">
            <a:solidFill>
              <a:srgbClr val="FF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5" name="Google Shape;3365;p108"/>
          <p:cNvSpPr/>
          <p:nvPr/>
        </p:nvSpPr>
        <p:spPr>
          <a:xfrm>
            <a:off x="7392988" y="3336731"/>
            <a:ext cx="1341437" cy="1828800"/>
          </a:xfrm>
          <a:custGeom>
            <a:rect b="b" l="l" r="r" t="t"/>
            <a:pathLst>
              <a:path extrusionOk="0" h="1152" w="845">
                <a:moveTo>
                  <a:pt x="456" y="107"/>
                </a:moveTo>
                <a:cubicBezTo>
                  <a:pt x="445" y="94"/>
                  <a:pt x="418" y="42"/>
                  <a:pt x="389" y="27"/>
                </a:cubicBezTo>
                <a:cubicBezTo>
                  <a:pt x="360" y="12"/>
                  <a:pt x="321" y="0"/>
                  <a:pt x="284" y="18"/>
                </a:cubicBezTo>
                <a:cubicBezTo>
                  <a:pt x="247" y="36"/>
                  <a:pt x="206" y="53"/>
                  <a:pt x="164" y="137"/>
                </a:cubicBezTo>
                <a:cubicBezTo>
                  <a:pt x="122" y="221"/>
                  <a:pt x="56" y="423"/>
                  <a:pt x="32" y="523"/>
                </a:cubicBezTo>
                <a:cubicBezTo>
                  <a:pt x="8" y="623"/>
                  <a:pt x="0" y="661"/>
                  <a:pt x="20" y="736"/>
                </a:cubicBezTo>
                <a:cubicBezTo>
                  <a:pt x="40" y="811"/>
                  <a:pt x="78" y="911"/>
                  <a:pt x="153" y="972"/>
                </a:cubicBezTo>
                <a:cubicBezTo>
                  <a:pt x="228" y="1033"/>
                  <a:pt x="363" y="1077"/>
                  <a:pt x="468" y="1105"/>
                </a:cubicBezTo>
                <a:cubicBezTo>
                  <a:pt x="573" y="1133"/>
                  <a:pt x="720" y="1152"/>
                  <a:pt x="782" y="1140"/>
                </a:cubicBezTo>
                <a:cubicBezTo>
                  <a:pt x="844" y="1128"/>
                  <a:pt x="839" y="1066"/>
                  <a:pt x="842" y="1034"/>
                </a:cubicBezTo>
                <a:cubicBezTo>
                  <a:pt x="845" y="1002"/>
                  <a:pt x="822" y="976"/>
                  <a:pt x="800" y="950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6" name="Google Shape;3366;p10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p109"/>
          <p:cNvSpPr/>
          <p:nvPr/>
        </p:nvSpPr>
        <p:spPr>
          <a:xfrm>
            <a:off x="685800" y="1549400"/>
            <a:ext cx="7772400" cy="52974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we wish to consider the internal                    resistance of a cell, we can use the cell                                    and the resistor symbols together, like this: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∙And we may enclose the whole cell in a                                 box of some sort to show that it is one unit.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∙Suppose we connect our cell with its                    internal resistance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an external circuit                        consisting of a single resistor of value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∙All of the chemical energy from the battery                                 is being consumed by the internal resistance                                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the external load represented by the                          resistance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373" name="Google Shape;3373;p109"/>
          <p:cNvSpPr/>
          <p:nvPr/>
        </p:nvSpPr>
        <p:spPr>
          <a:xfrm>
            <a:off x="7082965" y="2154238"/>
            <a:ext cx="1407887" cy="705076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4" name="Google Shape;3374;p109"/>
          <p:cNvSpPr txBox="1"/>
          <p:nvPr/>
        </p:nvSpPr>
        <p:spPr>
          <a:xfrm>
            <a:off x="7127873" y="2327965"/>
            <a:ext cx="48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375" name="Google Shape;3375;p109"/>
          <p:cNvSpPr txBox="1"/>
          <p:nvPr/>
        </p:nvSpPr>
        <p:spPr>
          <a:xfrm>
            <a:off x="7945438" y="2427292"/>
            <a:ext cx="48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pic>
        <p:nvPicPr>
          <p:cNvPr descr="battery" id="3376" name="Google Shape;337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198646">
            <a:off x="7122883" y="2669041"/>
            <a:ext cx="1252538" cy="164306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3377" name="Google Shape;3377;p109"/>
          <p:cNvCxnSpPr/>
          <p:nvPr/>
        </p:nvCxnSpPr>
        <p:spPr>
          <a:xfrm rot="10800000">
            <a:off x="7081838" y="4549775"/>
            <a:ext cx="1168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8" name="Google Shape;3378;p109"/>
          <p:cNvSpPr/>
          <p:nvPr/>
        </p:nvSpPr>
        <p:spPr>
          <a:xfrm>
            <a:off x="7093177" y="5752874"/>
            <a:ext cx="1168400" cy="385762"/>
          </a:xfrm>
          <a:custGeom>
            <a:rect b="b" l="l" r="r" t="t"/>
            <a:pathLst>
              <a:path extrusionOk="0" h="243" w="736">
                <a:moveTo>
                  <a:pt x="736" y="243"/>
                </a:moveTo>
                <a:lnTo>
                  <a:pt x="0" y="243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9" name="Google Shape;3379;p109"/>
          <p:cNvSpPr txBox="1"/>
          <p:nvPr/>
        </p:nvSpPr>
        <p:spPr>
          <a:xfrm>
            <a:off x="7129463" y="5062538"/>
            <a:ext cx="48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3380" name="Google Shape;3380;p10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id="3381" name="Google Shape;3381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4562" y="2177143"/>
            <a:ext cx="15811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2" name="Google Shape;3382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8899" y="4556352"/>
            <a:ext cx="257175" cy="1228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3" name="Google Shape;3383;p109"/>
          <p:cNvGrpSpPr/>
          <p:nvPr/>
        </p:nvGrpSpPr>
        <p:grpSpPr>
          <a:xfrm rot="5400000">
            <a:off x="7417255" y="4991781"/>
            <a:ext cx="1581150" cy="705076"/>
            <a:chOff x="6865710" y="2306638"/>
            <a:chExt cx="1581150" cy="705076"/>
          </a:xfrm>
        </p:grpSpPr>
        <p:sp>
          <p:nvSpPr>
            <p:cNvPr id="3384" name="Google Shape;3384;p109"/>
            <p:cNvSpPr/>
            <p:nvPr/>
          </p:nvSpPr>
          <p:spPr>
            <a:xfrm>
              <a:off x="6974113" y="2306638"/>
              <a:ext cx="1407887" cy="7050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85" name="Google Shape;3385;p1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65710" y="2329543"/>
              <a:ext cx="1581150" cy="581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86" name="Google Shape;3386;p109"/>
          <p:cNvSpPr txBox="1"/>
          <p:nvPr/>
        </p:nvSpPr>
        <p:spPr>
          <a:xfrm>
            <a:off x="7974465" y="4584945"/>
            <a:ext cx="48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387" name="Google Shape;3387;p109"/>
          <p:cNvSpPr txBox="1"/>
          <p:nvPr/>
        </p:nvSpPr>
        <p:spPr>
          <a:xfrm>
            <a:off x="7877631" y="5395464"/>
            <a:ext cx="48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p110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B: The particulate nature of matter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B.5 – Current and circuits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4" name="Google Shape;3394;p110"/>
          <p:cNvSpPr/>
          <p:nvPr/>
        </p:nvSpPr>
        <p:spPr>
          <a:xfrm>
            <a:off x="685800" y="1549400"/>
            <a:ext cx="7772400" cy="52974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can deduce that the electrical energy being created by the cell is </a:t>
            </a:r>
            <a:r>
              <a:rPr i="1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electrical energy being converted to heat energy by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∙The electrical energy being converted to heat energy by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i="1"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P,r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conservation of energy </a:t>
            </a:r>
            <a:r>
              <a:rPr i="1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P,R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P,r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    			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∙Note that the current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same everywhere.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∙From Ohm’s law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 that 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3395" name="Google Shape;3395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4905" y="355627"/>
            <a:ext cx="1666875" cy="1676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3396" name="Google Shape;3396;p110"/>
          <p:cNvGrpSpPr/>
          <p:nvPr/>
        </p:nvGrpSpPr>
        <p:grpSpPr>
          <a:xfrm>
            <a:off x="809625" y="6171527"/>
            <a:ext cx="7464425" cy="461963"/>
            <a:chOff x="510" y="3915"/>
            <a:chExt cx="4702" cy="291"/>
          </a:xfrm>
        </p:grpSpPr>
        <p:sp>
          <p:nvSpPr>
            <p:cNvPr id="3397" name="Google Shape;3397;p110"/>
            <p:cNvSpPr/>
            <p:nvPr/>
          </p:nvSpPr>
          <p:spPr>
            <a:xfrm>
              <a:off x="592" y="3928"/>
              <a:ext cx="2630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ε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+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+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p110"/>
            <p:cNvSpPr txBox="1"/>
            <p:nvPr/>
          </p:nvSpPr>
          <p:spPr>
            <a:xfrm>
              <a:off x="3641" y="3915"/>
              <a:ext cx="1571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emf relationship</a:t>
              </a:r>
              <a:endParaRPr/>
            </a:p>
          </p:txBody>
        </p:sp>
        <p:sp>
          <p:nvSpPr>
            <p:cNvPr id="3399" name="Google Shape;3399;p110"/>
            <p:cNvSpPr/>
            <p:nvPr/>
          </p:nvSpPr>
          <p:spPr>
            <a:xfrm>
              <a:off x="510" y="3917"/>
              <a:ext cx="4701" cy="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00" name="Google Shape;3400;p110"/>
          <p:cNvCxnSpPr/>
          <p:nvPr/>
        </p:nvCxnSpPr>
        <p:spPr>
          <a:xfrm>
            <a:off x="3536493" y="4926710"/>
            <a:ext cx="155575" cy="23971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1" name="Google Shape;3401;p110"/>
          <p:cNvCxnSpPr/>
          <p:nvPr/>
        </p:nvCxnSpPr>
        <p:spPr>
          <a:xfrm>
            <a:off x="4187823" y="4917185"/>
            <a:ext cx="155575" cy="23971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2" name="Google Shape;3402;p110"/>
          <p:cNvCxnSpPr/>
          <p:nvPr/>
        </p:nvCxnSpPr>
        <p:spPr>
          <a:xfrm>
            <a:off x="5026025" y="4928298"/>
            <a:ext cx="155575" cy="23971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3" name="Google Shape;3403;p110"/>
          <p:cNvCxnSpPr/>
          <p:nvPr/>
        </p:nvCxnSpPr>
        <p:spPr>
          <a:xfrm rot="10800000">
            <a:off x="8435295" y="410736"/>
            <a:ext cx="0" cy="3730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4" name="Google Shape;3404;p110"/>
          <p:cNvCxnSpPr/>
          <p:nvPr/>
        </p:nvCxnSpPr>
        <p:spPr>
          <a:xfrm>
            <a:off x="7852683" y="-175052"/>
            <a:ext cx="0" cy="11588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5" name="Google Shape;3405;p110"/>
          <p:cNvCxnSpPr/>
          <p:nvPr/>
        </p:nvCxnSpPr>
        <p:spPr>
          <a:xfrm>
            <a:off x="7284357" y="410736"/>
            <a:ext cx="1814" cy="154871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6" name="Google Shape;3406;p110"/>
          <p:cNvCxnSpPr/>
          <p:nvPr/>
        </p:nvCxnSpPr>
        <p:spPr>
          <a:xfrm>
            <a:off x="7852683" y="1391131"/>
            <a:ext cx="0" cy="11588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07" name="Google Shape;3407;p110"/>
          <p:cNvCxnSpPr/>
          <p:nvPr/>
        </p:nvCxnSpPr>
        <p:spPr>
          <a:xfrm flipH="1">
            <a:off x="8432800" y="953432"/>
            <a:ext cx="4082" cy="102053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408" name="Google Shape;3408;p110"/>
          <p:cNvSpPr/>
          <p:nvPr/>
        </p:nvSpPr>
        <p:spPr>
          <a:xfrm>
            <a:off x="8142742" y="778354"/>
            <a:ext cx="549275" cy="192088"/>
          </a:xfrm>
          <a:prstGeom prst="rect">
            <a:avLst/>
          </a:prstGeom>
          <a:solidFill>
            <a:srgbClr val="D60093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110"/>
          <p:cNvSpPr/>
          <p:nvPr/>
        </p:nvSpPr>
        <p:spPr>
          <a:xfrm>
            <a:off x="7184345" y="599195"/>
            <a:ext cx="192087" cy="841375"/>
          </a:xfrm>
          <a:prstGeom prst="rect">
            <a:avLst/>
          </a:prstGeom>
          <a:solidFill>
            <a:srgbClr val="FF00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0" name="Google Shape;3410;p110"/>
          <p:cNvSpPr/>
          <p:nvPr/>
        </p:nvSpPr>
        <p:spPr>
          <a:xfrm>
            <a:off x="8366806" y="1193829"/>
            <a:ext cx="167594" cy="634997"/>
          </a:xfrm>
          <a:prstGeom prst="rect">
            <a:avLst/>
          </a:prstGeom>
          <a:solidFill>
            <a:srgbClr val="00CC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111"/>
          <p:cNvSpPr/>
          <p:nvPr/>
        </p:nvSpPr>
        <p:spPr>
          <a:xfrm>
            <a:off x="674688" y="1944914"/>
            <a:ext cx="7772400" cy="49130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cell has an unloaded voltage of 1.6 V                                   and a loaded voltage of 1.5 V when a                                          330 Ω resistor is connected as shown.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Find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ε.   	 	(b) Find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Find the cell’s internal resistance.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From the first schematic we see                                       that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ε = 1.6 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(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Unloaded cell.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From the second diagram we see that the voltage across the 330 Ω resistor is </a:t>
            </a:r>
            <a:r>
              <a:rPr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1.5 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(</a:t>
            </a:r>
            <a:r>
              <a:rPr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Loaded cell.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that 1.5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(330)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0.0045 A.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111"/>
          <p:cNvSpPr/>
          <p:nvPr/>
        </p:nvSpPr>
        <p:spPr>
          <a:xfrm>
            <a:off x="685800" y="1549400"/>
            <a:ext cx="7772400" cy="41002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 </a:t>
            </a:r>
            <a:endParaRPr/>
          </a:p>
        </p:txBody>
      </p:sp>
      <p:sp>
        <p:nvSpPr>
          <p:cNvPr id="3418" name="Google Shape;3418;p11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id="3419" name="Google Shape;341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4102" y="1756680"/>
            <a:ext cx="2200275" cy="35337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420" name="Google Shape;3420;p111"/>
          <p:cNvSpPr/>
          <p:nvPr/>
        </p:nvSpPr>
        <p:spPr>
          <a:xfrm>
            <a:off x="6473381" y="3648979"/>
            <a:ext cx="1617436" cy="528638"/>
          </a:xfrm>
          <a:custGeom>
            <a:rect b="b" l="l" r="r" t="t"/>
            <a:pathLst>
              <a:path extrusionOk="0" h="333" w="1334">
                <a:moveTo>
                  <a:pt x="1334" y="333"/>
                </a:moveTo>
                <a:lnTo>
                  <a:pt x="1334" y="0"/>
                </a:lnTo>
                <a:lnTo>
                  <a:pt x="0" y="0"/>
                </a:lnTo>
                <a:lnTo>
                  <a:pt x="0" y="129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111"/>
          <p:cNvSpPr/>
          <p:nvPr/>
        </p:nvSpPr>
        <p:spPr>
          <a:xfrm>
            <a:off x="6473381" y="4678814"/>
            <a:ext cx="1646464" cy="552450"/>
          </a:xfrm>
          <a:custGeom>
            <a:rect b="b" l="l" r="r" t="t"/>
            <a:pathLst>
              <a:path extrusionOk="0" h="348" w="1334">
                <a:moveTo>
                  <a:pt x="1334" y="30"/>
                </a:moveTo>
                <a:lnTo>
                  <a:pt x="1334" y="348"/>
                </a:lnTo>
                <a:lnTo>
                  <a:pt x="0" y="348"/>
                </a:ln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2" name="Google Shape;3422;p111"/>
          <p:cNvSpPr/>
          <p:nvPr/>
        </p:nvSpPr>
        <p:spPr>
          <a:xfrm>
            <a:off x="8513763" y="2129065"/>
            <a:ext cx="287337" cy="950913"/>
          </a:xfrm>
          <a:prstGeom prst="rect">
            <a:avLst/>
          </a:prstGeom>
          <a:solidFill>
            <a:srgbClr val="FF00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3" name="Google Shape;3423;p111"/>
          <p:cNvSpPr/>
          <p:nvPr/>
        </p:nvSpPr>
        <p:spPr>
          <a:xfrm>
            <a:off x="8517619" y="3908654"/>
            <a:ext cx="287338" cy="950912"/>
          </a:xfrm>
          <a:prstGeom prst="rect">
            <a:avLst/>
          </a:prstGeom>
          <a:solidFill>
            <a:srgbClr val="FF99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4" name="Google Shape;3424;p111"/>
          <p:cNvSpPr txBox="1"/>
          <p:nvPr/>
        </p:nvSpPr>
        <p:spPr>
          <a:xfrm rot="5400000">
            <a:off x="8215024" y="2365828"/>
            <a:ext cx="9028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1.6 V</a:t>
            </a:r>
            <a:endParaRPr/>
          </a:p>
        </p:txBody>
      </p:sp>
      <p:sp>
        <p:nvSpPr>
          <p:cNvPr id="3425" name="Google Shape;3425;p111"/>
          <p:cNvSpPr txBox="1"/>
          <p:nvPr/>
        </p:nvSpPr>
        <p:spPr>
          <a:xfrm rot="5400000">
            <a:off x="8200510" y="4158341"/>
            <a:ext cx="9028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 V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p112"/>
          <p:cNvSpPr/>
          <p:nvPr/>
        </p:nvSpPr>
        <p:spPr>
          <a:xfrm>
            <a:off x="674688" y="1944914"/>
            <a:ext cx="7772400" cy="4913086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cell has an unloaded voltage of 1.6 V                                   and a loaded voltage of 1.5 V when a                                          330 Ω resistor is connected as shown.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Find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ε.   	 	(b) Find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Find the cell’s internal resistance.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Use the emf relationship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1.6	= (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0.0045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)(330) + (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0.0045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1.6	= 1.5 + 0.0045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0.1	= 0.0045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432" name="Google Shape;3432;p112"/>
          <p:cNvSpPr/>
          <p:nvPr/>
        </p:nvSpPr>
        <p:spPr>
          <a:xfrm>
            <a:off x="685800" y="1549400"/>
            <a:ext cx="7772400" cy="41002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internal resistance </a:t>
            </a:r>
            <a:endParaRPr/>
          </a:p>
        </p:txBody>
      </p:sp>
      <p:sp>
        <p:nvSpPr>
          <p:cNvPr id="3433" name="Google Shape;3433;p11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id="3434" name="Google Shape;343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4102" y="1756680"/>
            <a:ext cx="2200275" cy="35337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435" name="Google Shape;3435;p112"/>
          <p:cNvSpPr/>
          <p:nvPr/>
        </p:nvSpPr>
        <p:spPr>
          <a:xfrm>
            <a:off x="8513763" y="2129065"/>
            <a:ext cx="287337" cy="950913"/>
          </a:xfrm>
          <a:prstGeom prst="rect">
            <a:avLst/>
          </a:prstGeom>
          <a:solidFill>
            <a:srgbClr val="FF00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112"/>
          <p:cNvSpPr/>
          <p:nvPr/>
        </p:nvSpPr>
        <p:spPr>
          <a:xfrm>
            <a:off x="8517619" y="3908654"/>
            <a:ext cx="287338" cy="950912"/>
          </a:xfrm>
          <a:prstGeom prst="rect">
            <a:avLst/>
          </a:prstGeom>
          <a:solidFill>
            <a:srgbClr val="FF99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p112"/>
          <p:cNvSpPr txBox="1"/>
          <p:nvPr/>
        </p:nvSpPr>
        <p:spPr>
          <a:xfrm rot="5400000">
            <a:off x="8215024" y="2365828"/>
            <a:ext cx="9028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1.6 V</a:t>
            </a:r>
            <a:endParaRPr/>
          </a:p>
        </p:txBody>
      </p:sp>
      <p:sp>
        <p:nvSpPr>
          <p:cNvPr id="3438" name="Google Shape;3438;p112"/>
          <p:cNvSpPr txBox="1"/>
          <p:nvPr/>
        </p:nvSpPr>
        <p:spPr>
          <a:xfrm rot="5400000">
            <a:off x="8200510" y="4158341"/>
            <a:ext cx="9028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 V</a:t>
            </a:r>
            <a:endParaRPr/>
          </a:p>
        </p:txBody>
      </p:sp>
      <p:sp>
        <p:nvSpPr>
          <p:cNvPr id="3439" name="Google Shape;3439;p112"/>
          <p:cNvSpPr/>
          <p:nvPr/>
        </p:nvSpPr>
        <p:spPr>
          <a:xfrm>
            <a:off x="6479268" y="3648982"/>
            <a:ext cx="908503" cy="1561647"/>
          </a:xfrm>
          <a:custGeom>
            <a:rect b="b" l="l" r="r" t="t"/>
            <a:pathLst>
              <a:path extrusionOk="0" h="1015" w="743">
                <a:moveTo>
                  <a:pt x="743" y="235"/>
                </a:moveTo>
                <a:lnTo>
                  <a:pt x="743" y="0"/>
                </a:lnTo>
                <a:lnTo>
                  <a:pt x="0" y="0"/>
                </a:lnTo>
                <a:lnTo>
                  <a:pt x="0" y="1015"/>
                </a:lnTo>
                <a:lnTo>
                  <a:pt x="743" y="1015"/>
                </a:lnTo>
                <a:lnTo>
                  <a:pt x="743" y="311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0" name="Google Shape;3440;p112"/>
          <p:cNvSpPr txBox="1"/>
          <p:nvPr/>
        </p:nvSpPr>
        <p:spPr>
          <a:xfrm>
            <a:off x="4571970" y="6197600"/>
            <a:ext cx="22060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22 Ω.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p113"/>
          <p:cNvSpPr/>
          <p:nvPr/>
        </p:nvSpPr>
        <p:spPr>
          <a:xfrm>
            <a:off x="674688" y="1944914"/>
            <a:ext cx="7772400" cy="49130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cell has an unloaded voltage of 1.6 V                                   and a loaded voltage of 1.5 V when a                                          330 Ω resistor is connected as shown.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What is the terminal potential                                        difference (t.p.d.) of the cell?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terminal potential difference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                                      the potential difference at the terminals                                  of the cell where it connects to the external circuit.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∙This cell has an unloaded t.p.d of 1.6 V, and a loaded t.p.d. of 1.5 V. Note that the t.p.d. depends on the load.</a:t>
            </a:r>
            <a:endParaRPr/>
          </a:p>
        </p:txBody>
      </p:sp>
      <p:sp>
        <p:nvSpPr>
          <p:cNvPr id="3447" name="Google Shape;3447;p113"/>
          <p:cNvSpPr/>
          <p:nvPr/>
        </p:nvSpPr>
        <p:spPr>
          <a:xfrm>
            <a:off x="685800" y="1549400"/>
            <a:ext cx="7772400" cy="41002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Cells</a:t>
            </a:r>
            <a:r>
              <a:rPr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– terminal potential difference</a:t>
            </a:r>
            <a:endParaRPr/>
          </a:p>
        </p:txBody>
      </p:sp>
      <p:sp>
        <p:nvSpPr>
          <p:cNvPr id="3448" name="Google Shape;3448;p11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B: The particulate nature of matter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B.5 – Current and circuits</a:t>
            </a:r>
            <a:endParaRPr/>
          </a:p>
        </p:txBody>
      </p:sp>
      <p:pic>
        <p:nvPicPr>
          <p:cNvPr id="3449" name="Google Shape;344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4102" y="1756680"/>
            <a:ext cx="2200275" cy="35337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450" name="Google Shape;3450;p113"/>
          <p:cNvSpPr/>
          <p:nvPr/>
        </p:nvSpPr>
        <p:spPr>
          <a:xfrm>
            <a:off x="8513763" y="2129065"/>
            <a:ext cx="287337" cy="950913"/>
          </a:xfrm>
          <a:prstGeom prst="rect">
            <a:avLst/>
          </a:prstGeom>
          <a:solidFill>
            <a:srgbClr val="FF00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1" name="Google Shape;3451;p113"/>
          <p:cNvSpPr/>
          <p:nvPr/>
        </p:nvSpPr>
        <p:spPr>
          <a:xfrm>
            <a:off x="8517619" y="3908654"/>
            <a:ext cx="287338" cy="950912"/>
          </a:xfrm>
          <a:prstGeom prst="rect">
            <a:avLst/>
          </a:prstGeom>
          <a:solidFill>
            <a:srgbClr val="FF99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2" name="Google Shape;3452;p113"/>
          <p:cNvSpPr txBox="1"/>
          <p:nvPr/>
        </p:nvSpPr>
        <p:spPr>
          <a:xfrm rot="5400000">
            <a:off x="8215024" y="2365828"/>
            <a:ext cx="9028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1.6 V</a:t>
            </a:r>
            <a:endParaRPr/>
          </a:p>
        </p:txBody>
      </p:sp>
      <p:sp>
        <p:nvSpPr>
          <p:cNvPr id="3453" name="Google Shape;3453;p113"/>
          <p:cNvSpPr txBox="1"/>
          <p:nvPr/>
        </p:nvSpPr>
        <p:spPr>
          <a:xfrm rot="5400000">
            <a:off x="8200510" y="4158341"/>
            <a:ext cx="9028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 V</a:t>
            </a:r>
            <a:endParaRPr/>
          </a:p>
        </p:txBody>
      </p:sp>
      <p:sp>
        <p:nvSpPr>
          <p:cNvPr id="3454" name="Google Shape;3454;p113"/>
          <p:cNvSpPr/>
          <p:nvPr/>
        </p:nvSpPr>
        <p:spPr>
          <a:xfrm>
            <a:off x="7344229" y="1785257"/>
            <a:ext cx="116115" cy="116115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p113"/>
          <p:cNvSpPr/>
          <p:nvPr/>
        </p:nvSpPr>
        <p:spPr>
          <a:xfrm>
            <a:off x="7336971" y="3316514"/>
            <a:ext cx="116115" cy="116115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6" name="Google Shape;3456;p113"/>
          <p:cNvSpPr/>
          <p:nvPr/>
        </p:nvSpPr>
        <p:spPr>
          <a:xfrm>
            <a:off x="7351489" y="3592253"/>
            <a:ext cx="116115" cy="116115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p113"/>
          <p:cNvSpPr/>
          <p:nvPr/>
        </p:nvSpPr>
        <p:spPr>
          <a:xfrm>
            <a:off x="7344231" y="5123510"/>
            <a:ext cx="116115" cy="116115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
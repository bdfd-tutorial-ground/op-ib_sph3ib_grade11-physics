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6858000" cy="9144000"/>
  <p:embeddedFontLst>
    <p:embeddedFont>
      <p:font typeface="Meddon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Meddo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6" name="Google Shape;69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2" name="Google Shape;7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7" name="Google Shape;7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4" name="Google Shape;7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2" name="Google Shape;8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3" name="Google Shape;8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6" name="Google Shape;88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7" name="Google Shape;8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8" name="Google Shape;90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6" name="Google Shape;9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7" name="Google Shape;9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6" name="Google Shape;9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0" name="Google Shape;96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2" name="Google Shape;9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0" name="Google Shape;100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2" name="Google Shape;10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5" name="Google Shape;102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9" name="Google Shape;103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google.com/url?sa=i&amp;rct=j&amp;q=&amp;esrc=s&amp;frm=1&amp;source=images&amp;cd=&amp;cad=rja&amp;uact=8&amp;docid=TJDDsRU-zRxWAM&amp;tbnid=NZtNigV32f-lmM:&amp;ved=0CAUQjRw&amp;url=http://www.clker.com/clipart-6247.html&amp;ei=oJqxU4WxMMmvyATCtoD4Dg&amp;bvm=bv.69837884,d.aWw&amp;psig=AFQjCNE9iWuaVDc2w3toSQMg1ns1KWaWkw&amp;ust=1404234749640870" TargetMode="External"/><Relationship Id="rId4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gif"/><Relationship Id="rId4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10" Type="http://schemas.openxmlformats.org/officeDocument/2006/relationships/image" Target="../media/image29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36.jpg"/><Relationship Id="rId8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de.wikipedia.org/w/index.php?title=Datei:Everest_North_Face_toward_Base_Camp_Tibet_Luca_Galuzzi_2006.jpg&amp;filetimestamp=20070320004704" TargetMode="External"/><Relationship Id="rId4" Type="http://schemas.openxmlformats.org/officeDocument/2006/relationships/image" Target="../media/image40.jpg"/><Relationship Id="rId5" Type="http://schemas.openxmlformats.org/officeDocument/2006/relationships/image" Target="../media/image32.png"/><Relationship Id="rId6" Type="http://schemas.openxmlformats.org/officeDocument/2006/relationships/image" Target="../media/image3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de.wikipedia.org/w/index.php?title=Datei:Everest_North_Face_toward_Base_Camp_Tibet_Luca_Galuzzi_2006.jpg&amp;filetimestamp=20070320004704" TargetMode="External"/><Relationship Id="rId4" Type="http://schemas.openxmlformats.org/officeDocument/2006/relationships/image" Target="../media/image40.jpg"/><Relationship Id="rId5" Type="http://schemas.openxmlformats.org/officeDocument/2006/relationships/image" Target="../media/image32.png"/><Relationship Id="rId6" Type="http://schemas.openxmlformats.org/officeDocument/2006/relationships/image" Target="../media/image3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4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en.wikipedia.org/wiki/File:Foucault-rotz.gif" TargetMode="External"/><Relationship Id="rId4" Type="http://schemas.openxmlformats.org/officeDocument/2006/relationships/image" Target="../media/image52.gif"/><Relationship Id="rId5" Type="http://schemas.openxmlformats.org/officeDocument/2006/relationships/image" Target="../media/image39.jpg"/><Relationship Id="rId6" Type="http://schemas.openxmlformats.org/officeDocument/2006/relationships/image" Target="../media/image53.jpg"/><Relationship Id="rId7" Type="http://schemas.openxmlformats.org/officeDocument/2006/relationships/hyperlink" Target="http://en.wikipedia.org/wiki/File:Int%C3%A9rieur_du_Panth%C3%A9on.jpg" TargetMode="External"/><Relationship Id="rId8" Type="http://schemas.openxmlformats.org/officeDocument/2006/relationships/image" Target="../media/image4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en.wikipedia.org/wiki/File:Foucault-rotz.gif" TargetMode="External"/><Relationship Id="rId4" Type="http://schemas.openxmlformats.org/officeDocument/2006/relationships/image" Target="../media/image52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google.com/url?sa=i&amp;rct=j&amp;q=&amp;esrc=s&amp;frm=1&amp;source=images&amp;cd=&amp;cad=rja&amp;uact=8&amp;docid=e3LndXTNj0BmiM&amp;tbnid=2DiUrhrzExNEdM:&amp;ved=0CAUQjRw&amp;url=http://healthyliving.msn.com/health-wellness/men/10-questions-men-forget-to-ask-their-doctors&amp;ei=s_uxU4mxIqK48AH0t4HoBQ&amp;bvm=bv.69837884,d.b2U&amp;psig=AFQjCNH0v_zcQeQ_1XsmWuWSh667kCjAnQ&amp;ust=1404259357109436" TargetMode="External"/><Relationship Id="rId4" Type="http://schemas.openxmlformats.org/officeDocument/2006/relationships/image" Target="../media/image4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685800" y="1549400"/>
            <a:ext cx="7772400" cy="254862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Guiding questions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forces acting on a system be represented both visually and algebraically?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Newton’s laws be modelled mathematically?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knowledge of forces and momentum be used to predict the behaviour of interacting bodies?</a:t>
            </a:r>
            <a:endParaRPr/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85800" y="1549399"/>
            <a:ext cx="7772400" cy="51030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bodies moving along a circular trajectory at a constant speed experience an acceleration that is directed radially towards the centre of the circle—known as a centripetal acceleration as given by a=v</a:t>
            </a:r>
            <a:r>
              <a:rPr b="0" baseline="3000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/r=ω</a:t>
            </a:r>
            <a:r>
              <a:rPr b="0" baseline="3000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r=4π</a:t>
            </a:r>
            <a:r>
              <a:rPr b="0" baseline="3000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r/T</a:t>
            </a:r>
            <a:r>
              <a:rPr b="0" baseline="3000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circular motion is caused by a centripetal force acting perpendicular to the velocity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a centripetal force causes the body to change direction even if its magnitude of velocity may remain constant</a:t>
            </a:r>
            <a:endParaRPr/>
          </a:p>
        </p:txBody>
      </p:sp>
      <p:sp>
        <p:nvSpPr>
          <p:cNvPr id="97" name="Google Shape;97;p1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85800" y="1549399"/>
            <a:ext cx="7772400" cy="491431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the motion along a circular trajectory can be described in terms of the angular velocity ω which is related to the linear speed v by the equation as given by v=2πr/T=ωr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685800" y="1549399"/>
            <a:ext cx="7772400" cy="494367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booklet reference: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1" name="Google Shape;111;p1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51335"/>
          <a:stretch/>
        </p:blipFill>
        <p:spPr>
          <a:xfrm>
            <a:off x="3070481" y="2483142"/>
            <a:ext cx="3003037" cy="197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b="1" i="1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∙What force must be applied to Helen to keep her moving in a circle?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∙How does it depend on the Helen’s radius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∙How does it depend 					on Helen’s velocity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∙How does it depend 					on Helen’s mass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/>
          </a:p>
        </p:txBody>
      </p:sp>
      <p:sp>
        <p:nvSpPr>
          <p:cNvPr id="118" name="Google Shape;118;p1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38" y="3248025"/>
            <a:ext cx="4211637" cy="314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5267325" y="4932363"/>
            <a:ext cx="31003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On the next pass, however, Helen failed to clear the mountains.</a:t>
            </a:r>
            <a:endParaRPr/>
          </a:p>
        </p:txBody>
      </p:sp>
      <p:grpSp>
        <p:nvGrpSpPr>
          <p:cNvPr id="121" name="Google Shape;121;p17"/>
          <p:cNvGrpSpPr/>
          <p:nvPr/>
        </p:nvGrpSpPr>
        <p:grpSpPr>
          <a:xfrm>
            <a:off x="2035175" y="3582988"/>
            <a:ext cx="835025" cy="581025"/>
            <a:chOff x="1039" y="2196"/>
            <a:chExt cx="526" cy="366"/>
          </a:xfrm>
        </p:grpSpPr>
        <p:cxnSp>
          <p:nvCxnSpPr>
            <p:cNvPr id="122" name="Google Shape;122;p17"/>
            <p:cNvCxnSpPr/>
            <p:nvPr/>
          </p:nvCxnSpPr>
          <p:spPr>
            <a:xfrm flipH="1">
              <a:off x="1039" y="2393"/>
              <a:ext cx="526" cy="169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23" name="Google Shape;123;p17"/>
            <p:cNvSpPr txBox="1"/>
            <p:nvPr/>
          </p:nvSpPr>
          <p:spPr>
            <a:xfrm>
              <a:off x="1202" y="2196"/>
              <a:ext cx="27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2106613" y="4178300"/>
            <a:ext cx="1368425" cy="673100"/>
            <a:chOff x="1084" y="2571"/>
            <a:chExt cx="862" cy="424"/>
          </a:xfrm>
        </p:grpSpPr>
        <p:sp>
          <p:nvSpPr>
            <p:cNvPr id="125" name="Google Shape;125;p17"/>
            <p:cNvSpPr txBox="1"/>
            <p:nvPr/>
          </p:nvSpPr>
          <p:spPr>
            <a:xfrm>
              <a:off x="1743" y="2668"/>
              <a:ext cx="20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</a:t>
              </a:r>
              <a:endParaRPr/>
            </a:p>
          </p:txBody>
        </p:sp>
        <p:cxnSp>
          <p:nvCxnSpPr>
            <p:cNvPr id="126" name="Google Shape;126;p17"/>
            <p:cNvCxnSpPr/>
            <p:nvPr/>
          </p:nvCxnSpPr>
          <p:spPr>
            <a:xfrm>
              <a:off x="1084" y="2571"/>
              <a:ext cx="731" cy="17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27" name="Google Shape;127;p17"/>
          <p:cNvSpPr txBox="1"/>
          <p:nvPr/>
        </p:nvSpPr>
        <p:spPr>
          <a:xfrm>
            <a:off x="1906588" y="4067175"/>
            <a:ext cx="39687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particle is said to be in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 circular motion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it travels in a circle (or arc) with constant speed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∙Observe that the velocity vector is always tangent to the circle.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magnitude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velocity vector is          NOT changing.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velocity                         vector IS changing.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∙Thus, there is an acceleration, even                            though the speed is not changing!</a:t>
            </a:r>
            <a:endParaRPr/>
          </a:p>
        </p:txBody>
      </p:sp>
      <p:sp>
        <p:nvSpPr>
          <p:cNvPr id="133" name="Google Shape;133;p1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6167438" y="4237038"/>
            <a:ext cx="2624137" cy="2620962"/>
            <a:chOff x="864" y="1517"/>
            <a:chExt cx="1653" cy="1651"/>
          </a:xfrm>
        </p:grpSpPr>
        <p:sp>
          <p:nvSpPr>
            <p:cNvPr id="135" name="Google Shape;135;p18"/>
            <p:cNvSpPr/>
            <p:nvPr/>
          </p:nvSpPr>
          <p:spPr>
            <a:xfrm>
              <a:off x="86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110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34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158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182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206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86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10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34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58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82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206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6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10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34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158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82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206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86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10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34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158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82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206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86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110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134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158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182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206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6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10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134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158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82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206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71" name="Google Shape;171;p18"/>
            <p:cNvCxnSpPr/>
            <p:nvPr/>
          </p:nvCxnSpPr>
          <p:spPr>
            <a:xfrm>
              <a:off x="864" y="2448"/>
              <a:ext cx="158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18"/>
            <p:cNvCxnSpPr/>
            <p:nvPr/>
          </p:nvCxnSpPr>
          <p:spPr>
            <a:xfrm rot="10800000">
              <a:off x="1584" y="1632"/>
              <a:ext cx="0" cy="15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" name="Google Shape;173;p18"/>
            <p:cNvSpPr txBox="1"/>
            <p:nvPr/>
          </p:nvSpPr>
          <p:spPr>
            <a:xfrm>
              <a:off x="2304" y="2432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1584" y="1517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</a:t>
              </a:r>
              <a:endParaRPr/>
            </a:p>
          </p:txBody>
        </p:sp>
      </p:grpSp>
      <p:sp>
        <p:nvSpPr>
          <p:cNvPr id="175" name="Google Shape;175;p18"/>
          <p:cNvSpPr/>
          <p:nvPr/>
        </p:nvSpPr>
        <p:spPr>
          <a:xfrm>
            <a:off x="6167438" y="4562475"/>
            <a:ext cx="2286000" cy="2286000"/>
          </a:xfrm>
          <a:prstGeom prst="ellipse">
            <a:avLst/>
          </a:prstGeom>
          <a:noFill/>
          <a:ln cap="flat" cmpd="sng" w="9525">
            <a:solidFill>
              <a:srgbClr val="C0C0C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659688" y="5043488"/>
            <a:ext cx="3048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110538" y="4514850"/>
            <a:ext cx="3365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6131632" y="4743450"/>
            <a:ext cx="2309987" cy="1951038"/>
            <a:chOff x="3574" y="265"/>
            <a:chExt cx="1455" cy="1229"/>
          </a:xfrm>
        </p:grpSpPr>
        <p:grpSp>
          <p:nvGrpSpPr>
            <p:cNvPr id="179" name="Google Shape;179;p18"/>
            <p:cNvGrpSpPr/>
            <p:nvPr/>
          </p:nvGrpSpPr>
          <p:grpSpPr>
            <a:xfrm>
              <a:off x="4302" y="265"/>
              <a:ext cx="728" cy="614"/>
              <a:chOff x="4302" y="265"/>
              <a:chExt cx="728" cy="614"/>
            </a:xfrm>
          </p:grpSpPr>
          <p:sp>
            <p:nvSpPr>
              <p:cNvPr id="180" name="Google Shape;180;p18"/>
              <p:cNvSpPr/>
              <p:nvPr/>
            </p:nvSpPr>
            <p:spPr>
              <a:xfrm rot="-1561489">
                <a:off x="4901" y="506"/>
                <a:ext cx="110" cy="110"/>
              </a:xfrm>
              <a:prstGeom prst="ellipse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666666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81" name="Google Shape;181;p18"/>
              <p:cNvCxnSpPr/>
              <p:nvPr/>
            </p:nvCxnSpPr>
            <p:spPr>
              <a:xfrm rot="-1561489">
                <a:off x="4265" y="720"/>
                <a:ext cx="723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82" name="Google Shape;182;p18"/>
              <p:cNvCxnSpPr/>
              <p:nvPr/>
            </p:nvCxnSpPr>
            <p:spPr>
              <a:xfrm rot="10800000">
                <a:off x="4810" y="265"/>
                <a:ext cx="147" cy="2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grpSp>
          <p:nvGrpSpPr>
            <p:cNvPr id="183" name="Google Shape;183;p18"/>
            <p:cNvGrpSpPr/>
            <p:nvPr/>
          </p:nvGrpSpPr>
          <p:grpSpPr>
            <a:xfrm rot="10800000">
              <a:off x="3574" y="880"/>
              <a:ext cx="728" cy="614"/>
              <a:chOff x="4302" y="265"/>
              <a:chExt cx="728" cy="614"/>
            </a:xfrm>
          </p:grpSpPr>
          <p:sp>
            <p:nvSpPr>
              <p:cNvPr id="184" name="Google Shape;184;p18"/>
              <p:cNvSpPr/>
              <p:nvPr/>
            </p:nvSpPr>
            <p:spPr>
              <a:xfrm rot="-1561489">
                <a:off x="4901" y="506"/>
                <a:ext cx="110" cy="11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85" name="Google Shape;185;p18"/>
              <p:cNvCxnSpPr/>
              <p:nvPr/>
            </p:nvCxnSpPr>
            <p:spPr>
              <a:xfrm rot="-1561489">
                <a:off x="4265" y="720"/>
                <a:ext cx="723" cy="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186" name="Google Shape;186;p18"/>
              <p:cNvCxnSpPr/>
              <p:nvPr/>
            </p:nvCxnSpPr>
            <p:spPr>
              <a:xfrm rot="10800000">
                <a:off x="4810" y="265"/>
                <a:ext cx="147" cy="288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187" name="Google Shape;187;p18"/>
          <p:cNvGrpSpPr/>
          <p:nvPr/>
        </p:nvGrpSpPr>
        <p:grpSpPr>
          <a:xfrm>
            <a:off x="7893050" y="3654425"/>
            <a:ext cx="1250950" cy="785813"/>
            <a:chOff x="4147" y="2337"/>
            <a:chExt cx="788" cy="495"/>
          </a:xfrm>
        </p:grpSpPr>
        <p:sp>
          <p:nvSpPr>
            <p:cNvPr id="188" name="Google Shape;188;p18"/>
            <p:cNvSpPr/>
            <p:nvPr/>
          </p:nvSpPr>
          <p:spPr>
            <a:xfrm>
              <a:off x="4147" y="2361"/>
              <a:ext cx="731" cy="421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4166" y="2541"/>
              <a:ext cx="74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 blue</a:t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4160" y="2337"/>
              <a:ext cx="77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 red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681038" y="5991225"/>
            <a:ext cx="5526087" cy="8667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Centripetal means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center-seeking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85800" y="1549400"/>
            <a:ext cx="7772400" cy="44497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∙To find the direction of the acceleration 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Δ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we observe two nearby snapshots of the particle: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direction of the acceleration is gotten from          Δ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direction of the acceleration is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toward the          center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circle - you must be able to sketch this.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81038" y="4456113"/>
            <a:ext cx="1646237" cy="15367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99" name="Google Shape;199;p19"/>
          <p:cNvGrpSpPr/>
          <p:nvPr/>
        </p:nvGrpSpPr>
        <p:grpSpPr>
          <a:xfrm>
            <a:off x="6167438" y="4235450"/>
            <a:ext cx="2598737" cy="2622550"/>
            <a:chOff x="864" y="1516"/>
            <a:chExt cx="1637" cy="1652"/>
          </a:xfrm>
        </p:grpSpPr>
        <p:sp>
          <p:nvSpPr>
            <p:cNvPr id="200" name="Google Shape;200;p19"/>
            <p:cNvSpPr/>
            <p:nvPr/>
          </p:nvSpPr>
          <p:spPr>
            <a:xfrm>
              <a:off x="86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10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134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158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182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2064" y="29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86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110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134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158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182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2064" y="268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86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110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134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158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182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2064" y="244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86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110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134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158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182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2064" y="220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86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110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134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158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182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2064" y="196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86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110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134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158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182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2064" y="1728"/>
              <a:ext cx="240" cy="240"/>
            </a:xfrm>
            <a:prstGeom prst="rect">
              <a:avLst/>
            </a:prstGeom>
            <a:solidFill>
              <a:srgbClr val="F8F8F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" name="Google Shape;236;p19"/>
            <p:cNvCxnSpPr/>
            <p:nvPr/>
          </p:nvCxnSpPr>
          <p:spPr>
            <a:xfrm>
              <a:off x="864" y="2448"/>
              <a:ext cx="158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7" name="Google Shape;237;p19"/>
            <p:cNvCxnSpPr/>
            <p:nvPr/>
          </p:nvCxnSpPr>
          <p:spPr>
            <a:xfrm rot="10800000">
              <a:off x="1584" y="1632"/>
              <a:ext cx="0" cy="15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" name="Google Shape;238;p19"/>
            <p:cNvSpPr txBox="1"/>
            <p:nvPr/>
          </p:nvSpPr>
          <p:spPr>
            <a:xfrm>
              <a:off x="2304" y="2431"/>
              <a:ext cx="197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1584" y="1516"/>
              <a:ext cx="197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sp>
        <p:nvSpPr>
          <p:cNvPr id="240" name="Google Shape;240;p19"/>
          <p:cNvSpPr/>
          <p:nvPr/>
        </p:nvSpPr>
        <p:spPr>
          <a:xfrm>
            <a:off x="6167438" y="4562475"/>
            <a:ext cx="2286000" cy="2286000"/>
          </a:xfrm>
          <a:prstGeom prst="ellipse">
            <a:avLst/>
          </a:prstGeom>
          <a:noFill/>
          <a:ln cap="flat" cmpd="sng" w="9525">
            <a:solidFill>
              <a:srgbClr val="C0C0C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p19"/>
          <p:cNvGrpSpPr/>
          <p:nvPr/>
        </p:nvGrpSpPr>
        <p:grpSpPr>
          <a:xfrm>
            <a:off x="6123694" y="4743450"/>
            <a:ext cx="2317925" cy="1958976"/>
            <a:chOff x="3569" y="265"/>
            <a:chExt cx="1460" cy="1234"/>
          </a:xfrm>
        </p:grpSpPr>
        <p:grpSp>
          <p:nvGrpSpPr>
            <p:cNvPr id="242" name="Google Shape;242;p19"/>
            <p:cNvGrpSpPr/>
            <p:nvPr/>
          </p:nvGrpSpPr>
          <p:grpSpPr>
            <a:xfrm>
              <a:off x="4302" y="265"/>
              <a:ext cx="728" cy="614"/>
              <a:chOff x="4302" y="265"/>
              <a:chExt cx="728" cy="614"/>
            </a:xfrm>
          </p:grpSpPr>
          <p:sp>
            <p:nvSpPr>
              <p:cNvPr id="243" name="Google Shape;243;p19"/>
              <p:cNvSpPr/>
              <p:nvPr/>
            </p:nvSpPr>
            <p:spPr>
              <a:xfrm rot="-1561489">
                <a:off x="4901" y="506"/>
                <a:ext cx="110" cy="110"/>
              </a:xfrm>
              <a:prstGeom prst="ellipse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9B9B9B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4" name="Google Shape;244;p19"/>
              <p:cNvCxnSpPr/>
              <p:nvPr/>
            </p:nvCxnSpPr>
            <p:spPr>
              <a:xfrm rot="-1561489">
                <a:off x="4265" y="720"/>
                <a:ext cx="723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45" name="Google Shape;245;p19"/>
              <p:cNvCxnSpPr/>
              <p:nvPr/>
            </p:nvCxnSpPr>
            <p:spPr>
              <a:xfrm rot="10800000">
                <a:off x="4810" y="265"/>
                <a:ext cx="147" cy="2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grpSp>
          <p:nvGrpSpPr>
            <p:cNvPr id="246" name="Google Shape;246;p19"/>
            <p:cNvGrpSpPr/>
            <p:nvPr/>
          </p:nvGrpSpPr>
          <p:grpSpPr>
            <a:xfrm rot="10800000">
              <a:off x="3569" y="885"/>
              <a:ext cx="723" cy="614"/>
              <a:chOff x="4312" y="260"/>
              <a:chExt cx="723" cy="614"/>
            </a:xfrm>
          </p:grpSpPr>
          <p:sp>
            <p:nvSpPr>
              <p:cNvPr id="247" name="Google Shape;247;p19"/>
              <p:cNvSpPr/>
              <p:nvPr/>
            </p:nvSpPr>
            <p:spPr>
              <a:xfrm rot="-1561489">
                <a:off x="4906" y="501"/>
                <a:ext cx="110" cy="11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8" name="Google Shape;248;p19"/>
              <p:cNvCxnSpPr/>
              <p:nvPr/>
            </p:nvCxnSpPr>
            <p:spPr>
              <a:xfrm rot="-1561489">
                <a:off x="4275" y="715"/>
                <a:ext cx="723" cy="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249" name="Google Shape;249;p19"/>
              <p:cNvCxnSpPr/>
              <p:nvPr/>
            </p:nvCxnSpPr>
            <p:spPr>
              <a:xfrm rot="10800000">
                <a:off x="4820" y="260"/>
                <a:ext cx="147" cy="288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250" name="Google Shape;250;p19"/>
          <p:cNvGrpSpPr/>
          <p:nvPr/>
        </p:nvGrpSpPr>
        <p:grpSpPr>
          <a:xfrm>
            <a:off x="7287664" y="4748213"/>
            <a:ext cx="1155542" cy="974108"/>
            <a:chOff x="4302" y="265"/>
            <a:chExt cx="728" cy="614"/>
          </a:xfrm>
        </p:grpSpPr>
        <p:sp>
          <p:nvSpPr>
            <p:cNvPr id="251" name="Google Shape;251;p19"/>
            <p:cNvSpPr/>
            <p:nvPr/>
          </p:nvSpPr>
          <p:spPr>
            <a:xfrm rot="-1561489">
              <a:off x="4901" y="506"/>
              <a:ext cx="110" cy="110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rgbClr val="9B9B9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p19"/>
            <p:cNvCxnSpPr/>
            <p:nvPr/>
          </p:nvCxnSpPr>
          <p:spPr>
            <a:xfrm rot="-1561489">
              <a:off x="4265" y="720"/>
              <a:ext cx="723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53" name="Google Shape;253;p19"/>
            <p:cNvCxnSpPr/>
            <p:nvPr/>
          </p:nvCxnSpPr>
          <p:spPr>
            <a:xfrm rot="10800000">
              <a:off x="4810" y="265"/>
              <a:ext cx="147" cy="288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254" name="Google Shape;254;p19"/>
          <p:cNvGrpSpPr/>
          <p:nvPr/>
        </p:nvGrpSpPr>
        <p:grpSpPr>
          <a:xfrm rot="-1795891">
            <a:off x="6983808" y="4522889"/>
            <a:ext cx="1147604" cy="974108"/>
            <a:chOff x="4303" y="260"/>
            <a:chExt cx="723" cy="614"/>
          </a:xfrm>
        </p:grpSpPr>
        <p:sp>
          <p:nvSpPr>
            <p:cNvPr id="255" name="Google Shape;255;p19"/>
            <p:cNvSpPr/>
            <p:nvPr/>
          </p:nvSpPr>
          <p:spPr>
            <a:xfrm rot="-1561489">
              <a:off x="4897" y="503"/>
              <a:ext cx="110" cy="110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rgbClr val="9B9B9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" name="Google Shape;256;p19"/>
            <p:cNvCxnSpPr/>
            <p:nvPr/>
          </p:nvCxnSpPr>
          <p:spPr>
            <a:xfrm rot="-1561489">
              <a:off x="4266" y="715"/>
              <a:ext cx="723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57" name="Google Shape;257;p19"/>
            <p:cNvCxnSpPr/>
            <p:nvPr/>
          </p:nvCxnSpPr>
          <p:spPr>
            <a:xfrm rot="10800000">
              <a:off x="4808" y="260"/>
              <a:ext cx="147" cy="288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258" name="Google Shape;258;p19"/>
          <p:cNvGrpSpPr/>
          <p:nvPr/>
        </p:nvGrpSpPr>
        <p:grpSpPr>
          <a:xfrm>
            <a:off x="7893050" y="3654423"/>
            <a:ext cx="1250950" cy="723900"/>
            <a:chOff x="4147" y="2337"/>
            <a:chExt cx="788" cy="456"/>
          </a:xfrm>
        </p:grpSpPr>
        <p:sp>
          <p:nvSpPr>
            <p:cNvPr id="259" name="Google Shape;259;p19"/>
            <p:cNvSpPr/>
            <p:nvPr/>
          </p:nvSpPr>
          <p:spPr>
            <a:xfrm>
              <a:off x="4147" y="2361"/>
              <a:ext cx="731" cy="421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4166" y="2541"/>
              <a:ext cx="7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 blue</a:t>
              </a:r>
              <a:endParaRPr/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4160" y="2337"/>
              <a:ext cx="77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 red</a:t>
              </a:r>
              <a:endParaRPr/>
            </a:p>
          </p:txBody>
        </p:sp>
      </p:grpSp>
      <p:sp>
        <p:nvSpPr>
          <p:cNvPr id="262" name="Google Shape;262;p19"/>
          <p:cNvSpPr txBox="1"/>
          <p:nvPr/>
        </p:nvSpPr>
        <p:spPr>
          <a:xfrm>
            <a:off x="8159750" y="4635500"/>
            <a:ext cx="4937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0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7426325" y="4144963"/>
            <a:ext cx="4937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20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19"/>
          <p:cNvGrpSpPr/>
          <p:nvPr/>
        </p:nvGrpSpPr>
        <p:grpSpPr>
          <a:xfrm>
            <a:off x="6820492" y="4146550"/>
            <a:ext cx="1836146" cy="1577359"/>
            <a:chOff x="1468" y="3037"/>
            <a:chExt cx="1157" cy="994"/>
          </a:xfrm>
        </p:grpSpPr>
        <p:grpSp>
          <p:nvGrpSpPr>
            <p:cNvPr id="265" name="Google Shape;265;p19"/>
            <p:cNvGrpSpPr/>
            <p:nvPr/>
          </p:nvGrpSpPr>
          <p:grpSpPr>
            <a:xfrm>
              <a:off x="1765" y="3417"/>
              <a:ext cx="728" cy="614"/>
              <a:chOff x="4302" y="265"/>
              <a:chExt cx="728" cy="614"/>
            </a:xfrm>
          </p:grpSpPr>
          <p:sp>
            <p:nvSpPr>
              <p:cNvPr id="266" name="Google Shape;266;p19"/>
              <p:cNvSpPr/>
              <p:nvPr/>
            </p:nvSpPr>
            <p:spPr>
              <a:xfrm rot="-1561489">
                <a:off x="4901" y="506"/>
                <a:ext cx="110" cy="110"/>
              </a:xfrm>
              <a:prstGeom prst="ellipse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9B9B9B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7" name="Google Shape;267;p19"/>
              <p:cNvCxnSpPr/>
              <p:nvPr/>
            </p:nvCxnSpPr>
            <p:spPr>
              <a:xfrm rot="-1561489">
                <a:off x="4265" y="720"/>
                <a:ext cx="723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9"/>
              <p:cNvCxnSpPr/>
              <p:nvPr/>
            </p:nvCxnSpPr>
            <p:spPr>
              <a:xfrm rot="10800000">
                <a:off x="4810" y="265"/>
                <a:ext cx="147" cy="2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grpSp>
          <p:nvGrpSpPr>
            <p:cNvPr id="269" name="Google Shape;269;p19"/>
            <p:cNvGrpSpPr/>
            <p:nvPr/>
          </p:nvGrpSpPr>
          <p:grpSpPr>
            <a:xfrm rot="-1795891">
              <a:off x="1573" y="3275"/>
              <a:ext cx="724" cy="614"/>
              <a:chOff x="4303" y="260"/>
              <a:chExt cx="724" cy="614"/>
            </a:xfrm>
          </p:grpSpPr>
          <p:sp>
            <p:nvSpPr>
              <p:cNvPr id="270" name="Google Shape;270;p19"/>
              <p:cNvSpPr/>
              <p:nvPr/>
            </p:nvSpPr>
            <p:spPr>
              <a:xfrm rot="-1561489">
                <a:off x="4898" y="503"/>
                <a:ext cx="110" cy="110"/>
              </a:xfrm>
              <a:prstGeom prst="ellipse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666666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9"/>
              <p:cNvSpPr txBox="1"/>
              <p:nvPr/>
            </p:nvSpPr>
            <p:spPr>
              <a:xfrm rot="3838511">
                <a:off x="4891" y="516"/>
                <a:ext cx="78" cy="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2" name="Google Shape;272;p19"/>
              <p:cNvCxnSpPr/>
              <p:nvPr/>
            </p:nvCxnSpPr>
            <p:spPr>
              <a:xfrm rot="-1561489">
                <a:off x="4266" y="715"/>
                <a:ext cx="723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19"/>
              <p:cNvCxnSpPr/>
              <p:nvPr/>
            </p:nvCxnSpPr>
            <p:spPr>
              <a:xfrm rot="10800000">
                <a:off x="4808" y="260"/>
                <a:ext cx="147" cy="2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274" name="Google Shape;274;p19"/>
            <p:cNvSpPr txBox="1"/>
            <p:nvPr/>
          </p:nvSpPr>
          <p:spPr>
            <a:xfrm>
              <a:off x="2314" y="3346"/>
              <a:ext cx="311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852" y="3037"/>
              <a:ext cx="311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6" name="Google Shape;276;p19"/>
          <p:cNvCxnSpPr/>
          <p:nvPr/>
        </p:nvCxnSpPr>
        <p:spPr>
          <a:xfrm flipH="1">
            <a:off x="4029075" y="5026025"/>
            <a:ext cx="142875" cy="25558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19"/>
          <p:cNvSpPr txBox="1"/>
          <p:nvPr/>
        </p:nvSpPr>
        <p:spPr>
          <a:xfrm>
            <a:off x="3994150" y="5116513"/>
            <a:ext cx="58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grpSp>
        <p:nvGrpSpPr>
          <p:cNvPr id="278" name="Google Shape;278;p19"/>
          <p:cNvGrpSpPr/>
          <p:nvPr/>
        </p:nvGrpSpPr>
        <p:grpSpPr>
          <a:xfrm>
            <a:off x="847725" y="4357688"/>
            <a:ext cx="1490663" cy="1580424"/>
            <a:chOff x="1115" y="3176"/>
            <a:chExt cx="939" cy="996"/>
          </a:xfrm>
        </p:grpSpPr>
        <p:sp>
          <p:nvSpPr>
            <p:cNvPr id="279" name="Google Shape;279;p19"/>
            <p:cNvSpPr/>
            <p:nvPr/>
          </p:nvSpPr>
          <p:spPr>
            <a:xfrm rot="-1561489">
              <a:off x="1793" y="3797"/>
              <a:ext cx="110" cy="110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rgbClr val="9B9B9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" name="Google Shape;280;p19"/>
            <p:cNvCxnSpPr/>
            <p:nvPr/>
          </p:nvCxnSpPr>
          <p:spPr>
            <a:xfrm rot="-1561489">
              <a:off x="1157" y="4011"/>
              <a:ext cx="723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9"/>
            <p:cNvCxnSpPr/>
            <p:nvPr/>
          </p:nvCxnSpPr>
          <p:spPr>
            <a:xfrm rot="10800000">
              <a:off x="1702" y="3556"/>
              <a:ext cx="147" cy="288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82" name="Google Shape;282;p19"/>
            <p:cNvSpPr/>
            <p:nvPr/>
          </p:nvSpPr>
          <p:spPr>
            <a:xfrm rot="-3357380">
              <a:off x="1558" y="3515"/>
              <a:ext cx="110" cy="110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rgbClr val="9B9B9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" name="Google Shape;283;p19"/>
            <p:cNvCxnSpPr/>
            <p:nvPr/>
          </p:nvCxnSpPr>
          <p:spPr>
            <a:xfrm rot="-3357380">
              <a:off x="1045" y="3872"/>
              <a:ext cx="723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19"/>
            <p:cNvCxnSpPr/>
            <p:nvPr/>
          </p:nvCxnSpPr>
          <p:spPr>
            <a:xfrm rot="9004109">
              <a:off x="1401" y="3330"/>
              <a:ext cx="147" cy="288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85" name="Google Shape;285;p19"/>
            <p:cNvSpPr txBox="1"/>
            <p:nvPr/>
          </p:nvSpPr>
          <p:spPr>
            <a:xfrm>
              <a:off x="1743" y="3485"/>
              <a:ext cx="311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9"/>
            <p:cNvSpPr txBox="1"/>
            <p:nvPr/>
          </p:nvSpPr>
          <p:spPr>
            <a:xfrm>
              <a:off x="1351" y="3176"/>
              <a:ext cx="311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0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" name="Google Shape;287;p19"/>
            <p:cNvCxnSpPr/>
            <p:nvPr/>
          </p:nvCxnSpPr>
          <p:spPr>
            <a:xfrm rot="10800000">
              <a:off x="1360" y="3408"/>
              <a:ext cx="147" cy="288"/>
            </a:xfrm>
            <a:prstGeom prst="straightConnector1">
              <a:avLst/>
            </a:prstGeom>
            <a:noFill/>
            <a:ln cap="flat" cmpd="sng" w="28575">
              <a:solidFill>
                <a:srgbClr val="008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88" name="Google Shape;288;p19"/>
            <p:cNvCxnSpPr/>
            <p:nvPr/>
          </p:nvCxnSpPr>
          <p:spPr>
            <a:xfrm flipH="1">
              <a:off x="1506" y="3564"/>
              <a:ext cx="90" cy="161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9" name="Google Shape;289;p19"/>
            <p:cNvSpPr txBox="1"/>
            <p:nvPr/>
          </p:nvSpPr>
          <p:spPr>
            <a:xfrm>
              <a:off x="1115" y="3424"/>
              <a:ext cx="319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-v</a:t>
              </a:r>
              <a:r>
                <a:rPr b="1" baseline="-25000" lang="en-US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1494" y="3596"/>
              <a:ext cx="3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b="1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3373438" y="4852988"/>
            <a:ext cx="5725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1"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4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3362325" y="3238500"/>
            <a:ext cx="433388" cy="377825"/>
          </a:xfrm>
          <a:prstGeom prst="rect">
            <a:avLst/>
          </a:prstGeom>
          <a:solidFill>
            <a:srgbClr val="FF9900">
              <a:alpha val="2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9"/>
          <p:cNvCxnSpPr/>
          <p:nvPr/>
        </p:nvCxnSpPr>
        <p:spPr>
          <a:xfrm rot="10800000">
            <a:off x="4746625" y="4833938"/>
            <a:ext cx="233363" cy="4572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∙How does centripetal acceleration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 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∙To explore this we define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centripetal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∙Picture yourself as the passenger in a                           car that is rounding a left turn: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sharper the turn, the harder you                               and your door push against each other.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		(Small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big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endParaRPr/>
          </a:p>
          <a:p>
            <a:pPr indent="-1524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faster the turn, the harder you                               and your door push against each other.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		   (Big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big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endParaRPr/>
          </a:p>
        </p:txBody>
      </p:sp>
      <p:sp>
        <p:nvSpPr>
          <p:cNvPr id="299" name="Google Shape;299;p2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300" name="Google Shape;300;p20"/>
          <p:cNvGrpSpPr/>
          <p:nvPr/>
        </p:nvGrpSpPr>
        <p:grpSpPr>
          <a:xfrm>
            <a:off x="828675" y="3252791"/>
            <a:ext cx="7464425" cy="465138"/>
            <a:chOff x="522" y="2049"/>
            <a:chExt cx="4702" cy="293"/>
          </a:xfrm>
        </p:grpSpPr>
        <p:sp>
          <p:nvSpPr>
            <p:cNvPr id="301" name="Google Shape;301;p20"/>
            <p:cNvSpPr/>
            <p:nvPr/>
          </p:nvSpPr>
          <p:spPr>
            <a:xfrm>
              <a:off x="608" y="2049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302" name="Google Shape;302;p20"/>
            <p:cNvSpPr txBox="1"/>
            <p:nvPr/>
          </p:nvSpPr>
          <p:spPr>
            <a:xfrm>
              <a:off x="3207" y="2051"/>
              <a:ext cx="2017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force</a:t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522" y="2053"/>
              <a:ext cx="4701" cy="2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20"/>
          <p:cNvSpPr/>
          <p:nvPr/>
        </p:nvSpPr>
        <p:spPr>
          <a:xfrm flipH="1" rot="10800000">
            <a:off x="7002463" y="4316413"/>
            <a:ext cx="1828800" cy="1828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28575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20"/>
          <p:cNvGrpSpPr/>
          <p:nvPr/>
        </p:nvGrpSpPr>
        <p:grpSpPr>
          <a:xfrm>
            <a:off x="6226175" y="1349375"/>
            <a:ext cx="1563688" cy="5508625"/>
            <a:chOff x="1420" y="375"/>
            <a:chExt cx="985" cy="3470"/>
          </a:xfrm>
        </p:grpSpPr>
        <p:grpSp>
          <p:nvGrpSpPr>
            <p:cNvPr id="306" name="Google Shape;306;p20"/>
            <p:cNvGrpSpPr/>
            <p:nvPr/>
          </p:nvGrpSpPr>
          <p:grpSpPr>
            <a:xfrm>
              <a:off x="1420" y="375"/>
              <a:ext cx="985" cy="3470"/>
              <a:chOff x="1779" y="460"/>
              <a:chExt cx="985" cy="3470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1779" y="2194"/>
                <a:ext cx="982" cy="1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1782" y="460"/>
                <a:ext cx="982" cy="1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j0398465[1]" id="309" name="Google Shape;30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31" y="3123"/>
              <a:ext cx="974" cy="5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0" name="Google Shape;310;p20"/>
            <p:cNvCxnSpPr/>
            <p:nvPr/>
          </p:nvCxnSpPr>
          <p:spPr>
            <a:xfrm flipH="1" rot="10800000">
              <a:off x="1835" y="3390"/>
              <a:ext cx="12" cy="192"/>
            </a:xfrm>
            <a:prstGeom prst="straightConnector1">
              <a:avLst/>
            </a:prstGeom>
            <a:noFill/>
            <a:ln cap="flat" cmpd="sng" w="5715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1" name="Google Shape;311;p20"/>
            <p:cNvSpPr txBox="1"/>
            <p:nvPr/>
          </p:nvSpPr>
          <p:spPr>
            <a:xfrm>
              <a:off x="1819" y="3496"/>
              <a:ext cx="3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" name="Google Shape;312;p20"/>
            <p:cNvGrpSpPr/>
            <p:nvPr/>
          </p:nvGrpSpPr>
          <p:grpSpPr>
            <a:xfrm>
              <a:off x="1825" y="2016"/>
              <a:ext cx="178" cy="185"/>
              <a:chOff x="593" y="3397"/>
              <a:chExt cx="212" cy="220"/>
            </a:xfrm>
          </p:grpSpPr>
          <p:cxnSp>
            <p:nvCxnSpPr>
              <p:cNvPr id="313" name="Google Shape;313;p20"/>
              <p:cNvCxnSpPr/>
              <p:nvPr/>
            </p:nvCxnSpPr>
            <p:spPr>
              <a:xfrm>
                <a:off x="593" y="3405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" name="Google Shape;314;p20"/>
              <p:cNvCxnSpPr/>
              <p:nvPr/>
            </p:nvCxnSpPr>
            <p:spPr>
              <a:xfrm flipH="1">
                <a:off x="593" y="3397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685800" y="1971675"/>
            <a:ext cx="7772400" cy="48863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For each experiment A and B, label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variables.          </a:t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685800" y="1549400"/>
            <a:ext cx="7772400" cy="4476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444500" y="2935288"/>
            <a:ext cx="1846263" cy="2665412"/>
            <a:chOff x="68" y="2016"/>
            <a:chExt cx="1163" cy="1679"/>
          </a:xfrm>
        </p:grpSpPr>
        <p:pic>
          <p:nvPicPr>
            <p:cNvPr descr="j0398465[1]" id="323" name="Google Shape;32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" y="2872"/>
              <a:ext cx="974" cy="5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4" name="Google Shape;324;p21"/>
            <p:cNvCxnSpPr/>
            <p:nvPr/>
          </p:nvCxnSpPr>
          <p:spPr>
            <a:xfrm flipH="1" rot="10800000">
              <a:off x="457" y="3306"/>
              <a:ext cx="12" cy="192"/>
            </a:xfrm>
            <a:prstGeom prst="straightConnector1">
              <a:avLst/>
            </a:prstGeom>
            <a:noFill/>
            <a:ln cap="flat" cmpd="sng" w="57150">
              <a:solidFill>
                <a:srgbClr val="D6009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5" name="Google Shape;325;p21"/>
            <p:cNvSpPr txBox="1"/>
            <p:nvPr/>
          </p:nvSpPr>
          <p:spPr>
            <a:xfrm>
              <a:off x="447" y="3407"/>
              <a:ext cx="33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621" y="2343"/>
              <a:ext cx="3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baseline="-25000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21"/>
            <p:cNvCxnSpPr/>
            <p:nvPr/>
          </p:nvCxnSpPr>
          <p:spPr>
            <a:xfrm flipH="1" rot="10800000">
              <a:off x="595" y="2328"/>
              <a:ext cx="18" cy="242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8" name="Google Shape;328;p21"/>
            <p:cNvCxnSpPr/>
            <p:nvPr/>
          </p:nvCxnSpPr>
          <p:spPr>
            <a:xfrm>
              <a:off x="935" y="3049"/>
              <a:ext cx="280" cy="1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9" name="Google Shape;329;p21"/>
            <p:cNvSpPr txBox="1"/>
            <p:nvPr/>
          </p:nvSpPr>
          <p:spPr>
            <a:xfrm>
              <a:off x="999" y="2748"/>
              <a:ext cx="2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grpSp>
          <p:nvGrpSpPr>
            <p:cNvPr id="330" name="Google Shape;330;p21"/>
            <p:cNvGrpSpPr/>
            <p:nvPr/>
          </p:nvGrpSpPr>
          <p:grpSpPr>
            <a:xfrm>
              <a:off x="446" y="2016"/>
              <a:ext cx="178" cy="185"/>
              <a:chOff x="593" y="3397"/>
              <a:chExt cx="212" cy="220"/>
            </a:xfrm>
          </p:grpSpPr>
          <p:cxnSp>
            <p:nvCxnSpPr>
              <p:cNvPr id="331" name="Google Shape;331;p21"/>
              <p:cNvCxnSpPr/>
              <p:nvPr/>
            </p:nvCxnSpPr>
            <p:spPr>
              <a:xfrm>
                <a:off x="593" y="3405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flipH="1">
                <a:off x="593" y="3397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33" name="Google Shape;333;p21"/>
            <p:cNvCxnSpPr/>
            <p:nvPr/>
          </p:nvCxnSpPr>
          <p:spPr>
            <a:xfrm flipH="1">
              <a:off x="486" y="2106"/>
              <a:ext cx="48" cy="776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4" name="Google Shape;334;p21"/>
            <p:cNvSpPr txBox="1"/>
            <p:nvPr/>
          </p:nvSpPr>
          <p:spPr>
            <a:xfrm>
              <a:off x="280" y="2183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335" name="Google Shape;335;p21"/>
          <p:cNvSpPr txBox="1"/>
          <p:nvPr/>
        </p:nvSpPr>
        <p:spPr>
          <a:xfrm>
            <a:off x="3986213" y="281781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7908925" y="281781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337" name="Google Shape;337;p21"/>
          <p:cNvCxnSpPr/>
          <p:nvPr/>
        </p:nvCxnSpPr>
        <p:spPr>
          <a:xfrm>
            <a:off x="4708525" y="2967038"/>
            <a:ext cx="0" cy="3890962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38" name="Google Shape;338;p21"/>
          <p:cNvGrpSpPr/>
          <p:nvPr/>
        </p:nvGrpSpPr>
        <p:grpSpPr>
          <a:xfrm>
            <a:off x="2384425" y="2925764"/>
            <a:ext cx="2098675" cy="2820988"/>
            <a:chOff x="1502" y="1835"/>
            <a:chExt cx="1322" cy="1777"/>
          </a:xfrm>
        </p:grpSpPr>
        <p:pic>
          <p:nvPicPr>
            <p:cNvPr descr="j0398465[1]" id="339" name="Google Shape;33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02" y="2669"/>
              <a:ext cx="974" cy="5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0" name="Google Shape;340;p21"/>
            <p:cNvCxnSpPr/>
            <p:nvPr/>
          </p:nvCxnSpPr>
          <p:spPr>
            <a:xfrm flipH="1" rot="10800000">
              <a:off x="1861" y="3065"/>
              <a:ext cx="41" cy="526"/>
            </a:xfrm>
            <a:prstGeom prst="straightConnector1">
              <a:avLst/>
            </a:prstGeom>
            <a:noFill/>
            <a:ln cap="flat" cmpd="sng" w="57150">
              <a:solidFill>
                <a:srgbClr val="D6009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1" name="Google Shape;341;p21"/>
            <p:cNvSpPr txBox="1"/>
            <p:nvPr/>
          </p:nvSpPr>
          <p:spPr>
            <a:xfrm>
              <a:off x="1863" y="3321"/>
              <a:ext cx="3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2017" y="2261"/>
              <a:ext cx="32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baseline="-25000" i="1" lang="en-US" sz="24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21"/>
            <p:cNvCxnSpPr/>
            <p:nvPr/>
          </p:nvCxnSpPr>
          <p:spPr>
            <a:xfrm flipH="1" rot="10800000">
              <a:off x="1991" y="2027"/>
              <a:ext cx="34" cy="461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4" name="Google Shape;344;p21"/>
            <p:cNvSpPr txBox="1"/>
            <p:nvPr/>
          </p:nvSpPr>
          <p:spPr>
            <a:xfrm>
              <a:off x="2503" y="2604"/>
              <a:ext cx="2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grpSp>
          <p:nvGrpSpPr>
            <p:cNvPr id="345" name="Google Shape;345;p21"/>
            <p:cNvGrpSpPr/>
            <p:nvPr/>
          </p:nvGrpSpPr>
          <p:grpSpPr>
            <a:xfrm>
              <a:off x="1886" y="1835"/>
              <a:ext cx="178" cy="185"/>
              <a:chOff x="593" y="3397"/>
              <a:chExt cx="212" cy="220"/>
            </a:xfrm>
          </p:grpSpPr>
          <p:cxnSp>
            <p:nvCxnSpPr>
              <p:cNvPr id="346" name="Google Shape;346;p21"/>
              <p:cNvCxnSpPr/>
              <p:nvPr/>
            </p:nvCxnSpPr>
            <p:spPr>
              <a:xfrm>
                <a:off x="593" y="3405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21"/>
              <p:cNvCxnSpPr/>
              <p:nvPr/>
            </p:nvCxnSpPr>
            <p:spPr>
              <a:xfrm flipH="1">
                <a:off x="593" y="3397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48" name="Google Shape;348;p21"/>
            <p:cNvCxnSpPr/>
            <p:nvPr/>
          </p:nvCxnSpPr>
          <p:spPr>
            <a:xfrm flipH="1">
              <a:off x="1926" y="1925"/>
              <a:ext cx="48" cy="776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9" name="Google Shape;349;p21"/>
            <p:cNvSpPr txBox="1"/>
            <p:nvPr/>
          </p:nvSpPr>
          <p:spPr>
            <a:xfrm>
              <a:off x="1705" y="2002"/>
              <a:ext cx="2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cxnSp>
          <p:nvCxnSpPr>
            <p:cNvPr id="350" name="Google Shape;350;p21"/>
            <p:cNvCxnSpPr/>
            <p:nvPr/>
          </p:nvCxnSpPr>
          <p:spPr>
            <a:xfrm>
              <a:off x="2369" y="2846"/>
              <a:ext cx="455" cy="2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1" name="Google Shape;351;p21"/>
          <p:cNvGrpSpPr/>
          <p:nvPr/>
        </p:nvGrpSpPr>
        <p:grpSpPr>
          <a:xfrm>
            <a:off x="4862513" y="2914650"/>
            <a:ext cx="1846263" cy="2665413"/>
            <a:chOff x="68" y="2016"/>
            <a:chExt cx="1163" cy="1679"/>
          </a:xfrm>
        </p:grpSpPr>
        <p:pic>
          <p:nvPicPr>
            <p:cNvPr descr="j0398465[1]" id="352" name="Google Shape;35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" y="2872"/>
              <a:ext cx="974" cy="5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3" name="Google Shape;353;p21"/>
            <p:cNvCxnSpPr/>
            <p:nvPr/>
          </p:nvCxnSpPr>
          <p:spPr>
            <a:xfrm flipH="1" rot="10800000">
              <a:off x="457" y="3306"/>
              <a:ext cx="12" cy="192"/>
            </a:xfrm>
            <a:prstGeom prst="straightConnector1">
              <a:avLst/>
            </a:prstGeom>
            <a:noFill/>
            <a:ln cap="flat" cmpd="sng" w="57150">
              <a:solidFill>
                <a:srgbClr val="D6009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4" name="Google Shape;354;p21"/>
            <p:cNvSpPr txBox="1"/>
            <p:nvPr/>
          </p:nvSpPr>
          <p:spPr>
            <a:xfrm>
              <a:off x="447" y="3407"/>
              <a:ext cx="33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621" y="2343"/>
              <a:ext cx="3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baseline="-25000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6" name="Google Shape;356;p21"/>
            <p:cNvCxnSpPr/>
            <p:nvPr/>
          </p:nvCxnSpPr>
          <p:spPr>
            <a:xfrm flipH="1" rot="10800000">
              <a:off x="595" y="2328"/>
              <a:ext cx="18" cy="242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7" name="Google Shape;357;p21"/>
            <p:cNvCxnSpPr/>
            <p:nvPr/>
          </p:nvCxnSpPr>
          <p:spPr>
            <a:xfrm>
              <a:off x="935" y="3049"/>
              <a:ext cx="280" cy="1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8" name="Google Shape;358;p21"/>
            <p:cNvSpPr txBox="1"/>
            <p:nvPr/>
          </p:nvSpPr>
          <p:spPr>
            <a:xfrm>
              <a:off x="999" y="2748"/>
              <a:ext cx="2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grpSp>
          <p:nvGrpSpPr>
            <p:cNvPr id="359" name="Google Shape;359;p21"/>
            <p:cNvGrpSpPr/>
            <p:nvPr/>
          </p:nvGrpSpPr>
          <p:grpSpPr>
            <a:xfrm>
              <a:off x="446" y="2016"/>
              <a:ext cx="178" cy="185"/>
              <a:chOff x="593" y="3397"/>
              <a:chExt cx="212" cy="220"/>
            </a:xfrm>
          </p:grpSpPr>
          <p:cxnSp>
            <p:nvCxnSpPr>
              <p:cNvPr id="360" name="Google Shape;360;p21"/>
              <p:cNvCxnSpPr/>
              <p:nvPr/>
            </p:nvCxnSpPr>
            <p:spPr>
              <a:xfrm>
                <a:off x="593" y="3405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21"/>
              <p:cNvCxnSpPr/>
              <p:nvPr/>
            </p:nvCxnSpPr>
            <p:spPr>
              <a:xfrm flipH="1">
                <a:off x="593" y="3397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62" name="Google Shape;362;p21"/>
            <p:cNvCxnSpPr/>
            <p:nvPr/>
          </p:nvCxnSpPr>
          <p:spPr>
            <a:xfrm flipH="1">
              <a:off x="486" y="2106"/>
              <a:ext cx="48" cy="776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3" name="Google Shape;363;p21"/>
            <p:cNvSpPr txBox="1"/>
            <p:nvPr/>
          </p:nvSpPr>
          <p:spPr>
            <a:xfrm>
              <a:off x="280" y="2183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>
            <a:off x="6802440" y="2919413"/>
            <a:ext cx="1846263" cy="2446337"/>
            <a:chOff x="4285" y="1982"/>
            <a:chExt cx="1163" cy="1541"/>
          </a:xfrm>
        </p:grpSpPr>
        <p:pic>
          <p:nvPicPr>
            <p:cNvPr descr="j0398465[1]" id="365" name="Google Shape;36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5" y="2662"/>
              <a:ext cx="974" cy="5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6" name="Google Shape;366;p21"/>
            <p:cNvCxnSpPr/>
            <p:nvPr/>
          </p:nvCxnSpPr>
          <p:spPr>
            <a:xfrm flipH="1" rot="10800000">
              <a:off x="4659" y="3096"/>
              <a:ext cx="27" cy="412"/>
            </a:xfrm>
            <a:prstGeom prst="straightConnector1">
              <a:avLst/>
            </a:prstGeom>
            <a:noFill/>
            <a:ln cap="flat" cmpd="sng" w="57150">
              <a:solidFill>
                <a:srgbClr val="D60093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7" name="Google Shape;367;p21"/>
            <p:cNvSpPr txBox="1"/>
            <p:nvPr/>
          </p:nvSpPr>
          <p:spPr>
            <a:xfrm>
              <a:off x="4664" y="3235"/>
              <a:ext cx="33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4801" y="2275"/>
              <a:ext cx="3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baseline="-25000" i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i="1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9" name="Google Shape;369;p21"/>
            <p:cNvCxnSpPr/>
            <p:nvPr/>
          </p:nvCxnSpPr>
          <p:spPr>
            <a:xfrm flipH="1" rot="10800000">
              <a:off x="4774" y="2172"/>
              <a:ext cx="27" cy="461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0" name="Google Shape;370;p21"/>
            <p:cNvCxnSpPr/>
            <p:nvPr/>
          </p:nvCxnSpPr>
          <p:spPr>
            <a:xfrm>
              <a:off x="5152" y="2839"/>
              <a:ext cx="280" cy="1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1" name="Google Shape;371;p21"/>
            <p:cNvSpPr txBox="1"/>
            <p:nvPr/>
          </p:nvSpPr>
          <p:spPr>
            <a:xfrm>
              <a:off x="5216" y="2538"/>
              <a:ext cx="2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grpSp>
          <p:nvGrpSpPr>
            <p:cNvPr id="372" name="Google Shape;372;p21"/>
            <p:cNvGrpSpPr/>
            <p:nvPr/>
          </p:nvGrpSpPr>
          <p:grpSpPr>
            <a:xfrm>
              <a:off x="4648" y="1982"/>
              <a:ext cx="178" cy="185"/>
              <a:chOff x="593" y="3397"/>
              <a:chExt cx="212" cy="220"/>
            </a:xfrm>
          </p:grpSpPr>
          <p:cxnSp>
            <p:nvCxnSpPr>
              <p:cNvPr id="373" name="Google Shape;373;p21"/>
              <p:cNvCxnSpPr/>
              <p:nvPr/>
            </p:nvCxnSpPr>
            <p:spPr>
              <a:xfrm>
                <a:off x="593" y="3405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21"/>
              <p:cNvCxnSpPr/>
              <p:nvPr/>
            </p:nvCxnSpPr>
            <p:spPr>
              <a:xfrm flipH="1">
                <a:off x="593" y="3397"/>
                <a:ext cx="212" cy="2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75" name="Google Shape;375;p21"/>
            <p:cNvCxnSpPr/>
            <p:nvPr/>
          </p:nvCxnSpPr>
          <p:spPr>
            <a:xfrm flipH="1">
              <a:off x="4703" y="2086"/>
              <a:ext cx="33" cy="586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6" name="Google Shape;376;p21"/>
            <p:cNvSpPr txBox="1"/>
            <p:nvPr/>
          </p:nvSpPr>
          <p:spPr>
            <a:xfrm>
              <a:off x="4512" y="2178"/>
              <a:ext cx="2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377" name="Google Shape;377;p21"/>
          <p:cNvSpPr txBox="1"/>
          <p:nvPr/>
        </p:nvSpPr>
        <p:spPr>
          <a:xfrm>
            <a:off x="703263" y="5630863"/>
            <a:ext cx="29956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1" lang="en-US"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1" sz="2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704850" y="5995988"/>
            <a:ext cx="30178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695325" y="6396038"/>
            <a:ext cx="41671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    </a:t>
            </a:r>
            <a:r>
              <a:rPr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b="1" i="1" lang="en-US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baseline="-25000" lang="en-US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sz="2400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4773613" y="5630863"/>
            <a:ext cx="32067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4762500" y="6008688"/>
            <a:ext cx="3203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</a:t>
            </a:r>
            <a:r>
              <a:rPr lang="en-US"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b="1" i="1" lang="en-US"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1" sz="2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4765675" y="6396038"/>
            <a:ext cx="43783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    </a:t>
            </a:r>
            <a:r>
              <a:rPr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b="1" i="1" lang="en-US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baseline="-25000" lang="en-US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sz="2400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21"/>
          <p:cNvGrpSpPr/>
          <p:nvPr/>
        </p:nvGrpSpPr>
        <p:grpSpPr>
          <a:xfrm>
            <a:off x="1212850" y="3709988"/>
            <a:ext cx="2770188" cy="609600"/>
            <a:chOff x="764" y="2337"/>
            <a:chExt cx="1745" cy="384"/>
          </a:xfrm>
        </p:grpSpPr>
        <p:sp>
          <p:nvSpPr>
            <p:cNvPr id="384" name="Google Shape;384;p21"/>
            <p:cNvSpPr txBox="1"/>
            <p:nvPr/>
          </p:nvSpPr>
          <p:spPr>
            <a:xfrm>
              <a:off x="764" y="2337"/>
              <a:ext cx="117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manipulated</a:t>
              </a:r>
              <a:endParaRPr/>
            </a:p>
          </p:txBody>
        </p:sp>
        <p:grpSp>
          <p:nvGrpSpPr>
            <p:cNvPr id="385" name="Google Shape;385;p21"/>
            <p:cNvGrpSpPr/>
            <p:nvPr/>
          </p:nvGrpSpPr>
          <p:grpSpPr>
            <a:xfrm>
              <a:off x="819" y="2600"/>
              <a:ext cx="1690" cy="121"/>
              <a:chOff x="819" y="2600"/>
              <a:chExt cx="1690" cy="121"/>
            </a:xfrm>
          </p:grpSpPr>
          <p:sp>
            <p:nvSpPr>
              <p:cNvPr id="386" name="Google Shape;386;p21"/>
              <p:cNvSpPr/>
              <p:nvPr/>
            </p:nvSpPr>
            <p:spPr>
              <a:xfrm>
                <a:off x="819" y="2600"/>
                <a:ext cx="1690" cy="121"/>
              </a:xfrm>
              <a:custGeom>
                <a:rect b="b" l="l" r="r" t="t"/>
                <a:pathLst>
                  <a:path extrusionOk="0" h="121" w="1690">
                    <a:moveTo>
                      <a:pt x="0" y="0"/>
                    </a:moveTo>
                    <a:lnTo>
                      <a:pt x="1508" y="0"/>
                    </a:lnTo>
                    <a:lnTo>
                      <a:pt x="1690" y="121"/>
                    </a:lnTo>
                  </a:path>
                </a:pathLst>
              </a:custGeom>
              <a:noFill/>
              <a:ln cap="flat" cmpd="sng" w="28575">
                <a:solidFill>
                  <a:srgbClr val="FF3300"/>
                </a:solidFill>
                <a:prstDash val="dash"/>
                <a:round/>
                <a:headEnd len="sm" w="sm" type="none"/>
                <a:tailEnd len="med" w="med" type="stealth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7" name="Google Shape;387;p21"/>
              <p:cNvCxnSpPr/>
              <p:nvPr/>
            </p:nvCxnSpPr>
            <p:spPr>
              <a:xfrm>
                <a:off x="1066" y="2600"/>
                <a:ext cx="182" cy="9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dash"/>
                <a:round/>
                <a:headEnd len="med" w="med" type="none"/>
                <a:tailEnd len="med" w="med" type="stealth"/>
              </a:ln>
            </p:spPr>
          </p:cxnSp>
        </p:grpSp>
      </p:grpSp>
      <p:grpSp>
        <p:nvGrpSpPr>
          <p:cNvPr id="388" name="Google Shape;388;p21"/>
          <p:cNvGrpSpPr/>
          <p:nvPr/>
        </p:nvGrpSpPr>
        <p:grpSpPr>
          <a:xfrm>
            <a:off x="1143000" y="2855913"/>
            <a:ext cx="1752600" cy="536575"/>
            <a:chOff x="720" y="1799"/>
            <a:chExt cx="1104" cy="338"/>
          </a:xfrm>
        </p:grpSpPr>
        <p:sp>
          <p:nvSpPr>
            <p:cNvPr id="389" name="Google Shape;389;p21"/>
            <p:cNvSpPr txBox="1"/>
            <p:nvPr/>
          </p:nvSpPr>
          <p:spPr>
            <a:xfrm>
              <a:off x="801" y="1799"/>
              <a:ext cx="102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no change</a:t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864" y="2031"/>
              <a:ext cx="902" cy="106"/>
            </a:xfrm>
            <a:custGeom>
              <a:rect b="b" l="l" r="r" t="t"/>
              <a:pathLst>
                <a:path extrusionOk="0" h="106" w="902">
                  <a:moveTo>
                    <a:pt x="0" y="0"/>
                  </a:moveTo>
                  <a:lnTo>
                    <a:pt x="841" y="0"/>
                  </a:lnTo>
                  <a:lnTo>
                    <a:pt x="902" y="106"/>
                  </a:lnTo>
                </a:path>
              </a:pathLst>
            </a:custGeom>
            <a:noFill/>
            <a:ln cap="flat" cmpd="sng" w="28575">
              <a:solidFill>
                <a:schemeClr val="accent6"/>
              </a:solidFill>
              <a:prstDash val="dash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21"/>
            <p:cNvCxnSpPr/>
            <p:nvPr/>
          </p:nvCxnSpPr>
          <p:spPr>
            <a:xfrm flipH="1">
              <a:off x="720" y="2031"/>
              <a:ext cx="144" cy="91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dash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392" name="Google Shape;392;p21"/>
          <p:cNvGrpSpPr/>
          <p:nvPr/>
        </p:nvGrpSpPr>
        <p:grpSpPr>
          <a:xfrm>
            <a:off x="1346200" y="4799013"/>
            <a:ext cx="1722438" cy="615950"/>
            <a:chOff x="848" y="3023"/>
            <a:chExt cx="1085" cy="388"/>
          </a:xfrm>
        </p:grpSpPr>
        <p:sp>
          <p:nvSpPr>
            <p:cNvPr id="393" name="Google Shape;393;p21"/>
            <p:cNvSpPr txBox="1"/>
            <p:nvPr/>
          </p:nvSpPr>
          <p:spPr>
            <a:xfrm>
              <a:off x="848" y="3023"/>
              <a:ext cx="10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responding</a:t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917" y="3274"/>
              <a:ext cx="1016" cy="137"/>
            </a:xfrm>
            <a:custGeom>
              <a:rect b="b" l="l" r="r" t="t"/>
              <a:pathLst>
                <a:path extrusionOk="0" h="137" w="1016">
                  <a:moveTo>
                    <a:pt x="0" y="0"/>
                  </a:moveTo>
                  <a:lnTo>
                    <a:pt x="894" y="0"/>
                  </a:lnTo>
                  <a:lnTo>
                    <a:pt x="1016" y="137"/>
                  </a:lnTo>
                </a:path>
              </a:pathLst>
            </a:custGeom>
            <a:noFill/>
            <a:ln cap="flat" cmpd="sng" w="28575">
              <a:solidFill>
                <a:srgbClr val="D60093"/>
              </a:solidFill>
              <a:prstDash val="dash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5" name="Google Shape;395;p21"/>
            <p:cNvCxnSpPr/>
            <p:nvPr/>
          </p:nvCxnSpPr>
          <p:spPr>
            <a:xfrm flipH="1">
              <a:off x="880" y="3266"/>
              <a:ext cx="37" cy="91"/>
            </a:xfrm>
            <a:prstGeom prst="straightConnector1">
              <a:avLst/>
            </a:prstGeom>
            <a:noFill/>
            <a:ln cap="flat" cmpd="sng" w="28575">
              <a:solidFill>
                <a:srgbClr val="D60093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396" name="Google Shape;396;p21"/>
          <p:cNvGrpSpPr/>
          <p:nvPr/>
        </p:nvGrpSpPr>
        <p:grpSpPr>
          <a:xfrm>
            <a:off x="5646738" y="3676650"/>
            <a:ext cx="2679700" cy="606425"/>
            <a:chOff x="3557" y="2316"/>
            <a:chExt cx="1688" cy="382"/>
          </a:xfrm>
        </p:grpSpPr>
        <p:sp>
          <p:nvSpPr>
            <p:cNvPr id="397" name="Google Shape;397;p21"/>
            <p:cNvSpPr txBox="1"/>
            <p:nvPr/>
          </p:nvSpPr>
          <p:spPr>
            <a:xfrm>
              <a:off x="3557" y="2316"/>
              <a:ext cx="102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no change</a:t>
              </a:r>
              <a:endParaRPr/>
            </a:p>
          </p:txBody>
        </p:sp>
        <p:cxnSp>
          <p:nvCxnSpPr>
            <p:cNvPr id="398" name="Google Shape;398;p21"/>
            <p:cNvCxnSpPr/>
            <p:nvPr/>
          </p:nvCxnSpPr>
          <p:spPr>
            <a:xfrm>
              <a:off x="3615" y="2569"/>
              <a:ext cx="1630" cy="1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dash"/>
              <a:round/>
              <a:headEnd len="med" w="med" type="none"/>
              <a:tailEnd len="med" w="med" type="stealth"/>
            </a:ln>
          </p:spPr>
        </p:cxnSp>
        <p:cxnSp>
          <p:nvCxnSpPr>
            <p:cNvPr id="399" name="Google Shape;399;p21"/>
            <p:cNvCxnSpPr/>
            <p:nvPr/>
          </p:nvCxnSpPr>
          <p:spPr>
            <a:xfrm>
              <a:off x="3797" y="2569"/>
              <a:ext cx="205" cy="129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dash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400" name="Google Shape;400;p21"/>
          <p:cNvGrpSpPr/>
          <p:nvPr/>
        </p:nvGrpSpPr>
        <p:grpSpPr>
          <a:xfrm>
            <a:off x="5486400" y="2787650"/>
            <a:ext cx="2014538" cy="628650"/>
            <a:chOff x="3456" y="1756"/>
            <a:chExt cx="1269" cy="396"/>
          </a:xfrm>
        </p:grpSpPr>
        <p:sp>
          <p:nvSpPr>
            <p:cNvPr id="401" name="Google Shape;401;p21"/>
            <p:cNvSpPr txBox="1"/>
            <p:nvPr/>
          </p:nvSpPr>
          <p:spPr>
            <a:xfrm>
              <a:off x="3550" y="1756"/>
              <a:ext cx="117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manipulated</a:t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3456" y="2008"/>
              <a:ext cx="1182" cy="91"/>
            </a:xfrm>
            <a:custGeom>
              <a:rect b="b" l="l" r="r" t="t"/>
              <a:pathLst>
                <a:path extrusionOk="0" h="91" w="1182">
                  <a:moveTo>
                    <a:pt x="1182" y="0"/>
                  </a:moveTo>
                  <a:lnTo>
                    <a:pt x="129" y="0"/>
                  </a:lnTo>
                  <a:lnTo>
                    <a:pt x="0" y="91"/>
                  </a:lnTo>
                </a:path>
              </a:pathLst>
            </a:custGeom>
            <a:noFill/>
            <a:ln cap="flat" cmpd="sng" w="28575">
              <a:solidFill>
                <a:schemeClr val="accent6"/>
              </a:solidFill>
              <a:prstDash val="dash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21"/>
            <p:cNvCxnSpPr/>
            <p:nvPr/>
          </p:nvCxnSpPr>
          <p:spPr>
            <a:xfrm>
              <a:off x="4297" y="2008"/>
              <a:ext cx="220" cy="144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dash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404" name="Google Shape;404;p21"/>
          <p:cNvGrpSpPr/>
          <p:nvPr/>
        </p:nvGrpSpPr>
        <p:grpSpPr>
          <a:xfrm>
            <a:off x="5716588" y="4752975"/>
            <a:ext cx="1755775" cy="534988"/>
            <a:chOff x="3601" y="3020"/>
            <a:chExt cx="1106" cy="337"/>
          </a:xfrm>
        </p:grpSpPr>
        <p:sp>
          <p:nvSpPr>
            <p:cNvPr id="405" name="Google Shape;405;p21"/>
            <p:cNvSpPr txBox="1"/>
            <p:nvPr/>
          </p:nvSpPr>
          <p:spPr>
            <a:xfrm>
              <a:off x="3601" y="3020"/>
              <a:ext cx="10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responding</a:t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3661" y="3282"/>
              <a:ext cx="1046" cy="75"/>
            </a:xfrm>
            <a:custGeom>
              <a:rect b="b" l="l" r="r" t="t"/>
              <a:pathLst>
                <a:path extrusionOk="0" h="75" w="1046">
                  <a:moveTo>
                    <a:pt x="0" y="75"/>
                  </a:moveTo>
                  <a:lnTo>
                    <a:pt x="15" y="0"/>
                  </a:lnTo>
                  <a:lnTo>
                    <a:pt x="1046" y="0"/>
                  </a:lnTo>
                </a:path>
              </a:pathLst>
            </a:custGeom>
            <a:noFill/>
            <a:ln cap="flat" cmpd="sng" w="28575">
              <a:solidFill>
                <a:srgbClr val="D60093"/>
              </a:solidFill>
              <a:prstDash val="dash"/>
              <a:round/>
              <a:headEnd len="med" w="med" type="stealth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Centripetal force and acceleration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know the following things about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increases,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increases.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increases,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decreases.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dimensional analysis                                             we have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∙What can we do to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“fix” the units?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is the correct one!</a:t>
            </a:r>
            <a:endParaRPr/>
          </a:p>
        </p:txBody>
      </p:sp>
      <p:sp>
        <p:nvSpPr>
          <p:cNvPr id="412" name="Google Shape;412;p2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2551113" y="3943350"/>
            <a:ext cx="1093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3213100" y="3821113"/>
            <a:ext cx="44767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3895725" y="3910013"/>
            <a:ext cx="658813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</a:t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4475163" y="3829050"/>
            <a:ext cx="601662" cy="74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4986338" y="3973513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983163" y="3767138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6470650" y="3844925"/>
            <a:ext cx="447675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5346700" y="3833813"/>
            <a:ext cx="715963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m/s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119813" y="3978275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6107113" y="3781425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p22"/>
          <p:cNvGrpSpPr/>
          <p:nvPr/>
        </p:nvGrpSpPr>
        <p:grpSpPr>
          <a:xfrm>
            <a:off x="828675" y="5008568"/>
            <a:ext cx="7464425" cy="465138"/>
            <a:chOff x="522" y="3219"/>
            <a:chExt cx="4702" cy="293"/>
          </a:xfrm>
        </p:grpSpPr>
        <p:sp>
          <p:nvSpPr>
            <p:cNvPr id="424" name="Google Shape;424;p22"/>
            <p:cNvSpPr/>
            <p:nvPr/>
          </p:nvSpPr>
          <p:spPr>
            <a:xfrm>
              <a:off x="608" y="3219"/>
              <a:ext cx="129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r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2"/>
            <p:cNvSpPr txBox="1"/>
            <p:nvPr/>
          </p:nvSpPr>
          <p:spPr>
            <a:xfrm>
              <a:off x="2743" y="3221"/>
              <a:ext cx="2481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acceleration</a:t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522" y="3223"/>
              <a:ext cx="4701" cy="2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" name="Google Shape;427;p22"/>
          <p:cNvSpPr/>
          <p:nvPr/>
        </p:nvSpPr>
        <p:spPr>
          <a:xfrm>
            <a:off x="2522538" y="5761038"/>
            <a:ext cx="1093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3106738" y="5638800"/>
            <a:ext cx="703262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30000" i="1" sz="2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3914775" y="5726113"/>
            <a:ext cx="658813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</a:t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4535488" y="5637213"/>
            <a:ext cx="5207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5019675" y="5759450"/>
            <a:ext cx="458788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5016500" y="5562600"/>
            <a:ext cx="458788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507163" y="5621338"/>
            <a:ext cx="6223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6259513" y="5756275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6256338" y="5559425"/>
            <a:ext cx="458787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7100888" y="5734050"/>
            <a:ext cx="558800" cy="493713"/>
          </a:xfrm>
          <a:custGeom>
            <a:rect b="b" l="l" r="r" t="t"/>
            <a:pathLst>
              <a:path extrusionOk="0" h="449" w="352">
                <a:moveTo>
                  <a:pt x="0" y="287"/>
                </a:moveTo>
                <a:lnTo>
                  <a:pt x="93" y="449"/>
                </a:lnTo>
                <a:lnTo>
                  <a:pt x="352" y="0"/>
                </a:ln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7" name="Google Shape;437;p22"/>
          <p:cNvGrpSpPr/>
          <p:nvPr/>
        </p:nvGrpSpPr>
        <p:grpSpPr>
          <a:xfrm>
            <a:off x="2659063" y="3768725"/>
            <a:ext cx="939800" cy="819150"/>
            <a:chOff x="2085" y="3427"/>
            <a:chExt cx="691" cy="691"/>
          </a:xfrm>
        </p:grpSpPr>
        <p:sp>
          <p:nvSpPr>
            <p:cNvPr id="438" name="Google Shape;438;p22"/>
            <p:cNvSpPr/>
            <p:nvPr/>
          </p:nvSpPr>
          <p:spPr>
            <a:xfrm>
              <a:off x="2085" y="3427"/>
              <a:ext cx="691" cy="691"/>
            </a:xfrm>
            <a:prstGeom prst="ellipse">
              <a:avLst/>
            </a:prstGeom>
            <a:noFill/>
            <a:ln cap="flat" cmpd="sng" w="76200">
              <a:solidFill>
                <a:srgbClr val="FF0000">
                  <a:alpha val="3764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22"/>
            <p:cNvCxnSpPr/>
            <p:nvPr/>
          </p:nvCxnSpPr>
          <p:spPr>
            <a:xfrm flipH="1" rot="10800000">
              <a:off x="2188" y="3531"/>
              <a:ext cx="484" cy="484"/>
            </a:xfrm>
            <a:prstGeom prst="straightConnector1">
              <a:avLst/>
            </a:prstGeom>
            <a:noFill/>
            <a:ln cap="flat" cmpd="sng" w="76200">
              <a:solidFill>
                <a:srgbClr val="FF0000">
                  <a:alpha val="45490"/>
                </a:srgbClr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0" name="Google Shape;440;p22"/>
          <p:cNvSpPr/>
          <p:nvPr/>
        </p:nvSpPr>
        <p:spPr>
          <a:xfrm>
            <a:off x="1135063" y="2532063"/>
            <a:ext cx="3584575" cy="312737"/>
          </a:xfrm>
          <a:prstGeom prst="rect">
            <a:avLst/>
          </a:prstGeom>
          <a:solidFill>
            <a:srgbClr val="FF99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1109663" y="2932113"/>
            <a:ext cx="3657600" cy="312737"/>
          </a:xfrm>
          <a:prstGeom prst="rect">
            <a:avLst/>
          </a:prstGeom>
          <a:solidFill>
            <a:srgbClr val="66FF33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22"/>
          <p:cNvGrpSpPr/>
          <p:nvPr/>
        </p:nvGrpSpPr>
        <p:grpSpPr>
          <a:xfrm>
            <a:off x="4987925" y="2670177"/>
            <a:ext cx="3311525" cy="833438"/>
            <a:chOff x="3142" y="1682"/>
            <a:chExt cx="2086" cy="525"/>
          </a:xfrm>
        </p:grpSpPr>
        <p:sp>
          <p:nvSpPr>
            <p:cNvPr id="443" name="Google Shape;443;p22"/>
            <p:cNvSpPr/>
            <p:nvPr/>
          </p:nvSpPr>
          <p:spPr>
            <a:xfrm>
              <a:off x="3226" y="1795"/>
              <a:ext cx="689" cy="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3610" y="1705"/>
              <a:ext cx="282" cy="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sp>
          <p:nvSpPr>
            <p:cNvPr id="445" name="Google Shape;445;p22"/>
            <p:cNvSpPr txBox="1"/>
            <p:nvPr/>
          </p:nvSpPr>
          <p:spPr>
            <a:xfrm>
              <a:off x="4090" y="1684"/>
              <a:ext cx="1138" cy="52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first guess formula</a:t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3142" y="1682"/>
              <a:ext cx="2080" cy="5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22"/>
          <p:cNvGrpSpPr/>
          <p:nvPr/>
        </p:nvGrpSpPr>
        <p:grpSpPr>
          <a:xfrm>
            <a:off x="2641600" y="3895725"/>
            <a:ext cx="3363913" cy="646113"/>
            <a:chOff x="691" y="2753"/>
            <a:chExt cx="2119" cy="349"/>
          </a:xfrm>
        </p:grpSpPr>
        <p:sp>
          <p:nvSpPr>
            <p:cNvPr id="448" name="Google Shape;448;p22"/>
            <p:cNvSpPr/>
            <p:nvPr/>
          </p:nvSpPr>
          <p:spPr>
            <a:xfrm>
              <a:off x="691" y="2840"/>
              <a:ext cx="219" cy="155"/>
            </a:xfrm>
            <a:prstGeom prst="rect">
              <a:avLst/>
            </a:prstGeom>
            <a:solidFill>
              <a:srgbClr val="FF3300">
                <a:alpha val="1843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1906" y="2753"/>
              <a:ext cx="219" cy="339"/>
            </a:xfrm>
            <a:prstGeom prst="rect">
              <a:avLst/>
            </a:prstGeom>
            <a:solidFill>
              <a:srgbClr val="FF3300">
                <a:alpha val="1843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1077" y="2754"/>
              <a:ext cx="219" cy="322"/>
            </a:xfrm>
            <a:prstGeom prst="rect">
              <a:avLst/>
            </a:prstGeom>
            <a:solidFill>
              <a:schemeClr val="hlink">
                <a:alpha val="1843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430" y="2763"/>
              <a:ext cx="380" cy="339"/>
            </a:xfrm>
            <a:prstGeom prst="rect">
              <a:avLst/>
            </a:prstGeom>
            <a:solidFill>
              <a:schemeClr val="hlink">
                <a:alpha val="1843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" name="Google Shape;452;p22"/>
          <p:cNvSpPr/>
          <p:nvPr/>
        </p:nvSpPr>
        <p:spPr>
          <a:xfrm>
            <a:off x="5289550" y="5629275"/>
            <a:ext cx="1071563" cy="674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</a:t>
            </a:r>
            <a:r>
              <a:rPr baseline="3000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453" name="Google Shape;453;p22"/>
          <p:cNvGrpSpPr/>
          <p:nvPr/>
        </p:nvGrpSpPr>
        <p:grpSpPr>
          <a:xfrm>
            <a:off x="2519363" y="5667375"/>
            <a:ext cx="3651250" cy="669925"/>
            <a:chOff x="662" y="3603"/>
            <a:chExt cx="2195" cy="353"/>
          </a:xfrm>
        </p:grpSpPr>
        <p:sp>
          <p:nvSpPr>
            <p:cNvPr id="454" name="Google Shape;454;p22"/>
            <p:cNvSpPr/>
            <p:nvPr/>
          </p:nvSpPr>
          <p:spPr>
            <a:xfrm>
              <a:off x="662" y="3704"/>
              <a:ext cx="219" cy="155"/>
            </a:xfrm>
            <a:prstGeom prst="rect">
              <a:avLst/>
            </a:prstGeom>
            <a:solidFill>
              <a:srgbClr val="FF3300">
                <a:alpha val="1843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907" y="3617"/>
              <a:ext cx="219" cy="339"/>
            </a:xfrm>
            <a:prstGeom prst="rect">
              <a:avLst/>
            </a:prstGeom>
            <a:solidFill>
              <a:srgbClr val="FF3300">
                <a:alpha val="1843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1096" y="3606"/>
              <a:ext cx="219" cy="322"/>
            </a:xfrm>
            <a:prstGeom prst="rect">
              <a:avLst/>
            </a:prstGeom>
            <a:solidFill>
              <a:schemeClr val="hlink">
                <a:alpha val="1843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2443" y="3603"/>
              <a:ext cx="414" cy="339"/>
            </a:xfrm>
            <a:prstGeom prst="rect">
              <a:avLst/>
            </a:prstGeom>
            <a:solidFill>
              <a:schemeClr val="hlink">
                <a:alpha val="1843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22"/>
          <p:cNvSpPr/>
          <p:nvPr/>
        </p:nvSpPr>
        <p:spPr>
          <a:xfrm>
            <a:off x="5838825" y="2759075"/>
            <a:ext cx="227013" cy="312738"/>
          </a:xfrm>
          <a:prstGeom prst="rect">
            <a:avLst/>
          </a:prstGeom>
          <a:solidFill>
            <a:srgbClr val="FF99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5840413" y="3084513"/>
            <a:ext cx="227012" cy="312737"/>
          </a:xfrm>
          <a:prstGeom prst="rect">
            <a:avLst/>
          </a:prstGeom>
          <a:solidFill>
            <a:srgbClr val="66FF33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22"/>
          <p:cNvGrpSpPr/>
          <p:nvPr/>
        </p:nvGrpSpPr>
        <p:grpSpPr>
          <a:xfrm>
            <a:off x="5251450" y="2678113"/>
            <a:ext cx="904875" cy="814387"/>
            <a:chOff x="2085" y="3427"/>
            <a:chExt cx="691" cy="691"/>
          </a:xfrm>
        </p:grpSpPr>
        <p:sp>
          <p:nvSpPr>
            <p:cNvPr id="461" name="Google Shape;461;p22"/>
            <p:cNvSpPr/>
            <p:nvPr/>
          </p:nvSpPr>
          <p:spPr>
            <a:xfrm>
              <a:off x="2085" y="3427"/>
              <a:ext cx="691" cy="691"/>
            </a:xfrm>
            <a:prstGeom prst="ellipse">
              <a:avLst/>
            </a:prstGeom>
            <a:noFill/>
            <a:ln cap="flat" cmpd="sng" w="76200">
              <a:solidFill>
                <a:srgbClr val="FF0000">
                  <a:alpha val="3764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2" name="Google Shape;462;p22"/>
            <p:cNvCxnSpPr/>
            <p:nvPr/>
          </p:nvCxnSpPr>
          <p:spPr>
            <a:xfrm flipH="1" rot="10800000">
              <a:off x="2188" y="3531"/>
              <a:ext cx="484" cy="484"/>
            </a:xfrm>
            <a:prstGeom prst="straightConnector1">
              <a:avLst/>
            </a:prstGeom>
            <a:noFill/>
            <a:ln cap="flat" cmpd="sng" w="76200">
              <a:solidFill>
                <a:srgbClr val="FF0000">
                  <a:alpha val="45490"/>
                </a:srgbClr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9GcTptwVuvDpYUoZG8_CTp3wMdEU7KykY2d4OJkfcG7LawlZCfHWsTQ" id="467" name="Google Shape;4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487363"/>
            <a:ext cx="1751013" cy="109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3"/>
          <p:cNvSpPr/>
          <p:nvPr/>
        </p:nvSpPr>
        <p:spPr>
          <a:xfrm>
            <a:off x="685800" y="1549400"/>
            <a:ext cx="7772400" cy="14938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674688" y="3049588"/>
            <a:ext cx="7781925" cy="38084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730-kg Smart Car negotiates a 30. m radius turn at 25.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What is its centripetal acceleration and force? What force is causing this acceleration?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25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30 = 21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(730)(21) = 15000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centripetal force is caused by the friction force between the tires and the pavement.</a:t>
            </a:r>
            <a:endParaRPr/>
          </a:p>
        </p:txBody>
      </p:sp>
      <p:grpSp>
        <p:nvGrpSpPr>
          <p:cNvPr id="471" name="Google Shape;471;p23"/>
          <p:cNvGrpSpPr/>
          <p:nvPr/>
        </p:nvGrpSpPr>
        <p:grpSpPr>
          <a:xfrm>
            <a:off x="828675" y="1944692"/>
            <a:ext cx="7464425" cy="465138"/>
            <a:chOff x="522" y="2049"/>
            <a:chExt cx="4702" cy="293"/>
          </a:xfrm>
        </p:grpSpPr>
        <p:sp>
          <p:nvSpPr>
            <p:cNvPr id="472" name="Google Shape;472;p23"/>
            <p:cNvSpPr/>
            <p:nvPr/>
          </p:nvSpPr>
          <p:spPr>
            <a:xfrm>
              <a:off x="608" y="2049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473" name="Google Shape;473;p23"/>
            <p:cNvSpPr txBox="1"/>
            <p:nvPr/>
          </p:nvSpPr>
          <p:spPr>
            <a:xfrm>
              <a:off x="3207" y="2051"/>
              <a:ext cx="2017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force</a:t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522" y="2053"/>
              <a:ext cx="4701" cy="2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" name="Google Shape;475;p23"/>
          <p:cNvGrpSpPr/>
          <p:nvPr/>
        </p:nvGrpSpPr>
        <p:grpSpPr>
          <a:xfrm>
            <a:off x="828675" y="2493968"/>
            <a:ext cx="7464425" cy="465138"/>
            <a:chOff x="522" y="3219"/>
            <a:chExt cx="4702" cy="293"/>
          </a:xfrm>
        </p:grpSpPr>
        <p:sp>
          <p:nvSpPr>
            <p:cNvPr id="476" name="Google Shape;476;p23"/>
            <p:cNvSpPr/>
            <p:nvPr/>
          </p:nvSpPr>
          <p:spPr>
            <a:xfrm>
              <a:off x="608" y="3219"/>
              <a:ext cx="129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2743" y="3221"/>
              <a:ext cx="2481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acceleration</a:t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522" y="3223"/>
              <a:ext cx="4701" cy="2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4"/>
          <p:cNvSpPr/>
          <p:nvPr/>
        </p:nvSpPr>
        <p:spPr>
          <a:xfrm>
            <a:off x="674688" y="4891088"/>
            <a:ext cx="7772400" cy="19669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period and the frequency of a day.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period is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(24 h)(3600 s h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= 86400 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frequency is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86400 = 1.16×10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Hz.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85800" y="1549400"/>
            <a:ext cx="7772400" cy="33543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Period and frequency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time for one complete revolution.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(measured in Hz or “cycles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s”) is defined as how many cycles (oscillations, repetitions, revolutions) occur each second.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period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seconds per revolution, frequency must be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486" name="Google Shape;486;p24"/>
          <p:cNvGrpSpPr/>
          <p:nvPr/>
        </p:nvGrpSpPr>
        <p:grpSpPr>
          <a:xfrm>
            <a:off x="831850" y="4367215"/>
            <a:ext cx="7464425" cy="461665"/>
            <a:chOff x="831850" y="3868738"/>
            <a:chExt cx="7464425" cy="461368"/>
          </a:xfrm>
        </p:grpSpPr>
        <p:sp>
          <p:nvSpPr>
            <p:cNvPr id="487" name="Google Shape;487;p24"/>
            <p:cNvSpPr/>
            <p:nvPr/>
          </p:nvSpPr>
          <p:spPr>
            <a:xfrm>
              <a:off x="836613" y="3889376"/>
              <a:ext cx="2055813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 T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4"/>
            <p:cNvSpPr txBox="1"/>
            <p:nvPr/>
          </p:nvSpPr>
          <p:spPr>
            <a:xfrm>
              <a:off x="4572000" y="3868738"/>
              <a:ext cx="3724275" cy="46136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831850" y="3871913"/>
              <a:ext cx="7462838" cy="45070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2241393" y="3890963"/>
              <a:ext cx="2055813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or 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f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://mail.colonial.net/~hkaiter/aa_newest_images/spineart.gif" id="491" name="Google Shape;4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263" y="5221288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4"/>
          <p:cNvSpPr/>
          <p:nvPr/>
        </p:nvSpPr>
        <p:spPr>
          <a:xfrm flipH="1">
            <a:off x="7813964" y="5237017"/>
            <a:ext cx="1316180" cy="1205345"/>
          </a:xfrm>
          <a:prstGeom prst="arc">
            <a:avLst>
              <a:gd fmla="val 16200000" name="adj1"/>
              <a:gd fmla="val 5385124" name="adj2"/>
            </a:avLst>
          </a:prstGeom>
          <a:gradFill>
            <a:gsLst>
              <a:gs pos="0">
                <a:srgbClr val="000000">
                  <a:alpha val="47843"/>
                </a:srgbClr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p24"/>
          <p:cNvGrpSpPr/>
          <p:nvPr/>
        </p:nvGrpSpPr>
        <p:grpSpPr>
          <a:xfrm>
            <a:off x="7613650" y="26988"/>
            <a:ext cx="1503363" cy="1503362"/>
            <a:chOff x="4100" y="2501"/>
            <a:chExt cx="947" cy="947"/>
          </a:xfrm>
        </p:grpSpPr>
        <p:sp>
          <p:nvSpPr>
            <p:cNvPr id="494" name="Google Shape;494;p24"/>
            <p:cNvSpPr/>
            <p:nvPr/>
          </p:nvSpPr>
          <p:spPr>
            <a:xfrm>
              <a:off x="4100" y="2501"/>
              <a:ext cx="947" cy="947"/>
            </a:xfrm>
            <a:prstGeom prst="ellipse">
              <a:avLst/>
            </a:prstGeom>
            <a:solidFill>
              <a:schemeClr val="lt1"/>
            </a:solidFill>
            <a:ln cap="flat" cmpd="thickThin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95" name="Google Shape;495;p24"/>
            <p:cNvCxnSpPr/>
            <p:nvPr/>
          </p:nvCxnSpPr>
          <p:spPr>
            <a:xfrm>
              <a:off x="4578" y="2523"/>
              <a:ext cx="0" cy="9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4"/>
            <p:cNvCxnSpPr/>
            <p:nvPr/>
          </p:nvCxnSpPr>
          <p:spPr>
            <a:xfrm>
              <a:off x="4122" y="2979"/>
              <a:ext cx="90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24"/>
            <p:cNvCxnSpPr/>
            <p:nvPr/>
          </p:nvCxnSpPr>
          <p:spPr>
            <a:xfrm flipH="1" rot="10800000">
              <a:off x="4351" y="2588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24"/>
            <p:cNvCxnSpPr/>
            <p:nvPr/>
          </p:nvCxnSpPr>
          <p:spPr>
            <a:xfrm flipH="1" rot="10800000">
              <a:off x="4174" y="2756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24"/>
            <p:cNvCxnSpPr/>
            <p:nvPr/>
          </p:nvCxnSpPr>
          <p:spPr>
            <a:xfrm rot="10800000">
              <a:off x="4346" y="2575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24"/>
            <p:cNvCxnSpPr/>
            <p:nvPr/>
          </p:nvCxnSpPr>
          <p:spPr>
            <a:xfrm rot="10800000">
              <a:off x="4169" y="2743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1" name="Google Shape;501;p24"/>
            <p:cNvSpPr/>
            <p:nvPr/>
          </p:nvSpPr>
          <p:spPr>
            <a:xfrm>
              <a:off x="4203" y="2593"/>
              <a:ext cx="750" cy="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4436" y="2528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endParaRPr/>
            </a:p>
          </p:txBody>
        </p:sp>
        <p:sp>
          <p:nvSpPr>
            <p:cNvPr id="503" name="Google Shape;503;p24"/>
            <p:cNvSpPr txBox="1"/>
            <p:nvPr/>
          </p:nvSpPr>
          <p:spPr>
            <a:xfrm>
              <a:off x="4798" y="2863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endParaRPr/>
            </a:p>
          </p:txBody>
        </p:sp>
        <p:sp>
          <p:nvSpPr>
            <p:cNvPr id="504" name="Google Shape;504;p24"/>
            <p:cNvSpPr txBox="1"/>
            <p:nvPr/>
          </p:nvSpPr>
          <p:spPr>
            <a:xfrm>
              <a:off x="4470" y="3167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endParaRPr/>
            </a:p>
          </p:txBody>
        </p:sp>
        <p:sp>
          <p:nvSpPr>
            <p:cNvPr id="505" name="Google Shape;505;p24"/>
            <p:cNvSpPr txBox="1"/>
            <p:nvPr/>
          </p:nvSpPr>
          <p:spPr>
            <a:xfrm>
              <a:off x="4154" y="2859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endParaRPr/>
            </a:p>
          </p:txBody>
        </p:sp>
      </p:grpSp>
      <p:grpSp>
        <p:nvGrpSpPr>
          <p:cNvPr id="506" name="Google Shape;506;p24"/>
          <p:cNvGrpSpPr/>
          <p:nvPr/>
        </p:nvGrpSpPr>
        <p:grpSpPr>
          <a:xfrm>
            <a:off x="8324850" y="122238"/>
            <a:ext cx="96838" cy="1311275"/>
            <a:chOff x="4532" y="2501"/>
            <a:chExt cx="61" cy="826"/>
          </a:xfrm>
        </p:grpSpPr>
        <p:cxnSp>
          <p:nvCxnSpPr>
            <p:cNvPr id="507" name="Google Shape;507;p24"/>
            <p:cNvCxnSpPr/>
            <p:nvPr/>
          </p:nvCxnSpPr>
          <p:spPr>
            <a:xfrm>
              <a:off x="4563" y="2501"/>
              <a:ext cx="0" cy="417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8" name="Google Shape;508;p24"/>
            <p:cNvSpPr/>
            <p:nvPr/>
          </p:nvSpPr>
          <p:spPr>
            <a:xfrm>
              <a:off x="4540" y="2918"/>
              <a:ext cx="48" cy="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Period and centripetal acceleration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∙Sometimes the period of a revolution is given, rather than a velocity.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∙One revolution is one circumference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∙Therefore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4π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= 4π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		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4π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/ 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15" name="Google Shape;515;p2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516" name="Google Shape;516;p25"/>
          <p:cNvGrpSpPr/>
          <p:nvPr/>
        </p:nvGrpSpPr>
        <p:grpSpPr>
          <a:xfrm>
            <a:off x="828675" y="5529263"/>
            <a:ext cx="7464425" cy="833437"/>
            <a:chOff x="522" y="3239"/>
            <a:chExt cx="4702" cy="525"/>
          </a:xfrm>
        </p:grpSpPr>
        <p:sp>
          <p:nvSpPr>
            <p:cNvPr id="517" name="Google Shape;517;p25"/>
            <p:cNvSpPr/>
            <p:nvPr/>
          </p:nvSpPr>
          <p:spPr>
            <a:xfrm>
              <a:off x="608" y="3239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5"/>
            <p:cNvSpPr txBox="1"/>
            <p:nvPr/>
          </p:nvSpPr>
          <p:spPr>
            <a:xfrm>
              <a:off x="3380" y="3241"/>
              <a:ext cx="1844" cy="52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acceleration</a:t>
              </a:r>
              <a:endParaRPr/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522" y="3243"/>
              <a:ext cx="4701" cy="51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618" y="3471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4π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/ T 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521" name="Google Shape;521;p25"/>
          <p:cNvCxnSpPr/>
          <p:nvPr/>
        </p:nvCxnSpPr>
        <p:spPr>
          <a:xfrm flipH="1" rot="10800000">
            <a:off x="4772025" y="4743450"/>
            <a:ext cx="187325" cy="1079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25"/>
          <p:cNvCxnSpPr/>
          <p:nvPr/>
        </p:nvCxnSpPr>
        <p:spPr>
          <a:xfrm flipH="1" rot="10800000">
            <a:off x="4089400" y="4633913"/>
            <a:ext cx="133350" cy="1079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6"/>
          <p:cNvSpPr/>
          <p:nvPr/>
        </p:nvSpPr>
        <p:spPr>
          <a:xfrm>
            <a:off x="685800" y="1549400"/>
            <a:ext cx="7772400" cy="13382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674688" y="2846388"/>
            <a:ext cx="7781925" cy="40116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Mr. Whiskers the 2.50-kg physics cat is being swung around horizontally by a string harness having a radius of 3.00 meters. He takes 5.00 seconds to complete one full revolution. What are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4π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/ 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= 4π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(5)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4.74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(2.5)(4.74) = 11.9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∙What is causing the centripetal force?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tension of the string!</a:t>
            </a:r>
            <a:endParaRPr/>
          </a:p>
        </p:txBody>
      </p:sp>
      <p:grpSp>
        <p:nvGrpSpPr>
          <p:cNvPr id="530" name="Google Shape;530;p26"/>
          <p:cNvGrpSpPr/>
          <p:nvPr/>
        </p:nvGrpSpPr>
        <p:grpSpPr>
          <a:xfrm>
            <a:off x="828675" y="1965325"/>
            <a:ext cx="7464425" cy="833438"/>
            <a:chOff x="522" y="3239"/>
            <a:chExt cx="4702" cy="525"/>
          </a:xfrm>
        </p:grpSpPr>
        <p:sp>
          <p:nvSpPr>
            <p:cNvPr id="531" name="Google Shape;531;p26"/>
            <p:cNvSpPr/>
            <p:nvPr/>
          </p:nvSpPr>
          <p:spPr>
            <a:xfrm>
              <a:off x="608" y="3239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6"/>
            <p:cNvSpPr txBox="1"/>
            <p:nvPr/>
          </p:nvSpPr>
          <p:spPr>
            <a:xfrm>
              <a:off x="3380" y="3241"/>
              <a:ext cx="1844" cy="52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centripetal acceleration</a:t>
              </a: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522" y="3243"/>
              <a:ext cx="4701" cy="51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618" y="3471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4π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/ T 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535" name="Google Shape;535;p26"/>
          <p:cNvGrpSpPr/>
          <p:nvPr/>
        </p:nvGrpSpPr>
        <p:grpSpPr>
          <a:xfrm rot="10800000">
            <a:off x="6332538" y="2779713"/>
            <a:ext cx="1146175" cy="4078287"/>
            <a:chOff x="3425" y="1491"/>
            <a:chExt cx="722" cy="2569"/>
          </a:xfrm>
        </p:grpSpPr>
        <p:sp>
          <p:nvSpPr>
            <p:cNvPr id="536" name="Google Shape;536;p26"/>
            <p:cNvSpPr/>
            <p:nvPr/>
          </p:nvSpPr>
          <p:spPr>
            <a:xfrm rot="10800000">
              <a:off x="3425" y="1491"/>
              <a:ext cx="720" cy="1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Cj03302490000[1]" id="537" name="Google Shape;53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503" y="1500"/>
              <a:ext cx="616" cy="55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8" name="Google Shape;538;p26"/>
            <p:cNvCxnSpPr/>
            <p:nvPr/>
          </p:nvCxnSpPr>
          <p:spPr>
            <a:xfrm>
              <a:off x="3778" y="1711"/>
              <a:ext cx="0" cy="186"/>
            </a:xfrm>
            <a:prstGeom prst="straightConnector1">
              <a:avLst/>
            </a:prstGeom>
            <a:noFill/>
            <a:ln cap="flat" cmpd="sng" w="38100">
              <a:solidFill>
                <a:srgbClr val="DDDDD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6"/>
            <p:cNvCxnSpPr/>
            <p:nvPr/>
          </p:nvCxnSpPr>
          <p:spPr>
            <a:xfrm>
              <a:off x="3778" y="1889"/>
              <a:ext cx="0" cy="8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0" name="Google Shape;540;p26"/>
            <p:cNvSpPr/>
            <p:nvPr/>
          </p:nvSpPr>
          <p:spPr>
            <a:xfrm rot="10800000">
              <a:off x="3427" y="2773"/>
              <a:ext cx="720" cy="1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1" name="Google Shape;541;p26"/>
            <p:cNvGrpSpPr/>
            <p:nvPr/>
          </p:nvGrpSpPr>
          <p:grpSpPr>
            <a:xfrm>
              <a:off x="3735" y="2728"/>
              <a:ext cx="93" cy="93"/>
              <a:chOff x="1685" y="2669"/>
              <a:chExt cx="127" cy="127"/>
            </a:xfrm>
          </p:grpSpPr>
          <p:cxnSp>
            <p:nvCxnSpPr>
              <p:cNvPr id="542" name="Google Shape;542;p26"/>
              <p:cNvCxnSpPr/>
              <p:nvPr/>
            </p:nvCxnSpPr>
            <p:spPr>
              <a:xfrm>
                <a:off x="1693" y="2677"/>
                <a:ext cx="119" cy="1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26"/>
              <p:cNvCxnSpPr/>
              <p:nvPr/>
            </p:nvCxnSpPr>
            <p:spPr>
              <a:xfrm flipH="1">
                <a:off x="1685" y="2669"/>
                <a:ext cx="127" cy="1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44" name="Google Shape;544;p26"/>
          <p:cNvSpPr txBox="1"/>
          <p:nvPr/>
        </p:nvSpPr>
        <p:spPr>
          <a:xfrm>
            <a:off x="7639050" y="4038600"/>
            <a:ext cx="149066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hlink"/>
                </a:solidFill>
                <a:latin typeface="Meddon"/>
                <a:ea typeface="Meddon"/>
                <a:cs typeface="Meddon"/>
                <a:sym typeface="Meddon"/>
              </a:rPr>
              <a:t>Mr. W the Physics Cat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displacement and arc length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∙Consider the rotating arm which                                             has 6 paint cans along its radius.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∙Each can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a spout that is                                            opened for exactly a quarter                                                     of a revolution.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call θ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                                                          displacement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∙All 6 color trails represent the                       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angular displacements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90˚.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∙Each color traces out a different displacement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call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 length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∙All 6 color trails represent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arc lengths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550" name="Google Shape;550;p2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551" name="Google Shape;551;p27"/>
          <p:cNvGrpSpPr/>
          <p:nvPr/>
        </p:nvGrpSpPr>
        <p:grpSpPr>
          <a:xfrm>
            <a:off x="4962525" y="1871663"/>
            <a:ext cx="3794125" cy="3792537"/>
            <a:chOff x="1749" y="1803"/>
            <a:chExt cx="2390" cy="2389"/>
          </a:xfrm>
        </p:grpSpPr>
        <p:sp>
          <p:nvSpPr>
            <p:cNvPr id="552" name="Google Shape;552;p27"/>
            <p:cNvSpPr/>
            <p:nvPr/>
          </p:nvSpPr>
          <p:spPr>
            <a:xfrm>
              <a:off x="1750" y="1803"/>
              <a:ext cx="2378" cy="2378"/>
            </a:xfrm>
            <a:prstGeom prst="ellipse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2913" y="2955"/>
              <a:ext cx="74" cy="74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" name="Google Shape;554;p27"/>
            <p:cNvCxnSpPr/>
            <p:nvPr/>
          </p:nvCxnSpPr>
          <p:spPr>
            <a:xfrm>
              <a:off x="1749" y="2997"/>
              <a:ext cx="239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27"/>
            <p:cNvCxnSpPr/>
            <p:nvPr/>
          </p:nvCxnSpPr>
          <p:spPr>
            <a:xfrm>
              <a:off x="2944" y="1803"/>
              <a:ext cx="0" cy="2389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556" name="Google Shape;556;p27"/>
            <p:cNvSpPr/>
            <p:nvPr/>
          </p:nvSpPr>
          <p:spPr>
            <a:xfrm>
              <a:off x="3141" y="2952"/>
              <a:ext cx="74" cy="74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3380" y="2949"/>
              <a:ext cx="74" cy="74"/>
            </a:xfrm>
            <a:prstGeom prst="ellipse">
              <a:avLst/>
            </a:prstGeom>
            <a:solidFill>
              <a:srgbClr val="66FF3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3608" y="2946"/>
              <a:ext cx="74" cy="74"/>
            </a:xfrm>
            <a:prstGeom prst="ellipse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3825" y="2943"/>
              <a:ext cx="74" cy="74"/>
            </a:xfrm>
            <a:prstGeom prst="ellipse">
              <a:avLst/>
            </a:prstGeom>
            <a:solidFill>
              <a:srgbClr val="008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4053" y="2951"/>
              <a:ext cx="74" cy="74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1" name="Google Shape;561;p27"/>
          <p:cNvSpPr/>
          <p:nvPr/>
        </p:nvSpPr>
        <p:spPr>
          <a:xfrm>
            <a:off x="6858000" y="3376613"/>
            <a:ext cx="373063" cy="373062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6856413" y="3005138"/>
            <a:ext cx="744537" cy="744537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76200">
            <a:solidFill>
              <a:srgbClr val="66F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6869113" y="2644775"/>
            <a:ext cx="1100137" cy="1100138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762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6881813" y="2301875"/>
            <a:ext cx="1455737" cy="1455738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762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7"/>
          <p:cNvSpPr/>
          <p:nvPr/>
        </p:nvSpPr>
        <p:spPr>
          <a:xfrm>
            <a:off x="6859588" y="1924050"/>
            <a:ext cx="1828800" cy="1828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27"/>
          <p:cNvCxnSpPr/>
          <p:nvPr/>
        </p:nvCxnSpPr>
        <p:spPr>
          <a:xfrm>
            <a:off x="8728075" y="3786188"/>
            <a:ext cx="415925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7" name="Google Shape;567;p27"/>
          <p:cNvCxnSpPr/>
          <p:nvPr/>
        </p:nvCxnSpPr>
        <p:spPr>
          <a:xfrm rot="-5400000">
            <a:off x="6652419" y="1639094"/>
            <a:ext cx="415925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68" name="Google Shape;568;p27"/>
          <p:cNvSpPr/>
          <p:nvPr/>
        </p:nvSpPr>
        <p:spPr>
          <a:xfrm>
            <a:off x="4768850" y="1687513"/>
            <a:ext cx="4197350" cy="4198937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27"/>
          <p:cNvGrpSpPr/>
          <p:nvPr/>
        </p:nvGrpSpPr>
        <p:grpSpPr>
          <a:xfrm>
            <a:off x="8062913" y="1930400"/>
            <a:ext cx="342900" cy="457200"/>
            <a:chOff x="8478981" y="1191491"/>
            <a:chExt cx="341801" cy="456906"/>
          </a:xfrm>
        </p:grpSpPr>
        <p:sp>
          <p:nvSpPr>
            <p:cNvPr id="570" name="Google Shape;570;p27"/>
            <p:cNvSpPr/>
            <p:nvPr/>
          </p:nvSpPr>
          <p:spPr>
            <a:xfrm>
              <a:off x="8562848" y="1288267"/>
              <a:ext cx="178813" cy="31888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7"/>
            <p:cNvSpPr txBox="1"/>
            <p:nvPr/>
          </p:nvSpPr>
          <p:spPr>
            <a:xfrm>
              <a:off x="8478981" y="1191491"/>
              <a:ext cx="341801" cy="456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endParaRPr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27"/>
          <p:cNvSpPr txBox="1"/>
          <p:nvPr/>
        </p:nvSpPr>
        <p:spPr>
          <a:xfrm>
            <a:off x="6843713" y="3357563"/>
            <a:ext cx="369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7053263" y="3052763"/>
            <a:ext cx="369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574" name="Google Shape;574;p27"/>
          <p:cNvSpPr txBox="1"/>
          <p:nvPr/>
        </p:nvSpPr>
        <p:spPr>
          <a:xfrm>
            <a:off x="7291388" y="2762250"/>
            <a:ext cx="369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33CC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575" name="Google Shape;575;p27"/>
          <p:cNvSpPr txBox="1"/>
          <p:nvPr/>
        </p:nvSpPr>
        <p:spPr>
          <a:xfrm>
            <a:off x="7529513" y="2500313"/>
            <a:ext cx="369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576" name="Google Shape;576;p27"/>
          <p:cNvSpPr txBox="1"/>
          <p:nvPr/>
        </p:nvSpPr>
        <p:spPr>
          <a:xfrm>
            <a:off x="7710488" y="2209800"/>
            <a:ext cx="369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8"/>
          <p:cNvSpPr/>
          <p:nvPr/>
        </p:nvSpPr>
        <p:spPr>
          <a:xfrm>
            <a:off x="674688" y="4267200"/>
            <a:ext cx="7781925" cy="259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30° into radians (rad) and convert 1.75 rad to degrees.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 30°(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180° ) = 0.52 rad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 1.75 rad (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180°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 ) = 100°.</a:t>
            </a:r>
            <a:endParaRPr/>
          </a:p>
        </p:txBody>
      </p:sp>
      <p:sp>
        <p:nvSpPr>
          <p:cNvPr id="582" name="Google Shape;582;p28"/>
          <p:cNvSpPr/>
          <p:nvPr/>
        </p:nvSpPr>
        <p:spPr>
          <a:xfrm>
            <a:off x="685800" y="1549400"/>
            <a:ext cx="7772400" cy="27320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displacement and arc length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this point it is useful to define a new way to measure angles – called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radians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∙Looking at the above conversions we see that there are 2π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360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˚.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583" name="Google Shape;583;p2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584" name="Google Shape;584;p28"/>
          <p:cNvGrpSpPr/>
          <p:nvPr/>
        </p:nvGrpSpPr>
        <p:grpSpPr>
          <a:xfrm>
            <a:off x="788988" y="2762253"/>
            <a:ext cx="7464425" cy="674688"/>
            <a:chOff x="523" y="2651"/>
            <a:chExt cx="4702" cy="425"/>
          </a:xfrm>
        </p:grpSpPr>
        <p:sp>
          <p:nvSpPr>
            <p:cNvPr id="585" name="Google Shape;585;p28"/>
            <p:cNvSpPr/>
            <p:nvPr/>
          </p:nvSpPr>
          <p:spPr>
            <a:xfrm>
              <a:off x="721" y="2651"/>
              <a:ext cx="2280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180°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 1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baseline="-25000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 rev</a:t>
              </a:r>
              <a:endParaRPr/>
            </a:p>
          </p:txBody>
        </p:sp>
        <p:sp>
          <p:nvSpPr>
            <p:cNvPr id="586" name="Google Shape;586;p28"/>
            <p:cNvSpPr txBox="1"/>
            <p:nvPr/>
          </p:nvSpPr>
          <p:spPr>
            <a:xfrm>
              <a:off x="3018" y="2669"/>
              <a:ext cx="2207" cy="40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radian-degree-revolution conversions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523" y="2671"/>
              <a:ext cx="4701" cy="3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625" y="2844"/>
              <a:ext cx="2651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360°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 1 rev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/>
          <p:nvPr/>
        </p:nvSpPr>
        <p:spPr>
          <a:xfrm>
            <a:off x="674688" y="4308475"/>
            <a:ext cx="7781925" cy="2549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Suppose the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line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located                    at a radius of 1.50 m and the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 line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                             located at 1.25 m. Find their lengths.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 90°(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180°) = 1.57 rad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= 1.50×1.57 = 2.4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= 1.25×1.57 = 2.0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685800" y="1549400"/>
            <a:ext cx="7772400" cy="27876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displacement and arc length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relationship between angular displacement θ and arc length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endParaRPr/>
          </a:p>
          <a:p>
            <a:pPr indent="0" lvl="0" marL="0" marR="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r is the radius.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595" name="Google Shape;595;p2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596" name="Google Shape;596;p29"/>
          <p:cNvGrpSpPr/>
          <p:nvPr/>
        </p:nvGrpSpPr>
        <p:grpSpPr>
          <a:xfrm>
            <a:off x="806450" y="3414714"/>
            <a:ext cx="7464425" cy="461665"/>
            <a:chOff x="833438" y="3880603"/>
            <a:chExt cx="7464425" cy="461368"/>
          </a:xfrm>
        </p:grpSpPr>
        <p:sp>
          <p:nvSpPr>
            <p:cNvPr id="597" name="Google Shape;597;p29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θ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9"/>
            <p:cNvSpPr txBox="1"/>
            <p:nvPr/>
          </p:nvSpPr>
          <p:spPr>
            <a:xfrm>
              <a:off x="4710113" y="3880603"/>
              <a:ext cx="3587750" cy="46136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θ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2643188" y="3902814"/>
              <a:ext cx="2055813" cy="406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in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radians</a:t>
              </a:r>
              <a:endParaRPr/>
            </a:p>
          </p:txBody>
        </p:sp>
      </p:grpSp>
      <p:pic>
        <p:nvPicPr>
          <p:cNvPr id="601" name="Google Shape;6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775" y="4779963"/>
            <a:ext cx="2062163" cy="204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" name="Google Shape;602;p29"/>
          <p:cNvGrpSpPr/>
          <p:nvPr/>
        </p:nvGrpSpPr>
        <p:grpSpPr>
          <a:xfrm>
            <a:off x="808038" y="1971678"/>
            <a:ext cx="7464425" cy="674688"/>
            <a:chOff x="523" y="2651"/>
            <a:chExt cx="4702" cy="425"/>
          </a:xfrm>
        </p:grpSpPr>
        <p:sp>
          <p:nvSpPr>
            <p:cNvPr id="603" name="Google Shape;603;p29"/>
            <p:cNvSpPr/>
            <p:nvPr/>
          </p:nvSpPr>
          <p:spPr>
            <a:xfrm>
              <a:off x="721" y="2651"/>
              <a:ext cx="2280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180°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 1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baseline="-25000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 rev</a:t>
              </a:r>
              <a:endParaRPr/>
            </a:p>
          </p:txBody>
        </p:sp>
        <p:sp>
          <p:nvSpPr>
            <p:cNvPr id="604" name="Google Shape;604;p29"/>
            <p:cNvSpPr txBox="1"/>
            <p:nvPr/>
          </p:nvSpPr>
          <p:spPr>
            <a:xfrm>
              <a:off x="3018" y="2669"/>
              <a:ext cx="2207" cy="40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radian-degree-revolution conversions</a:t>
              </a: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523" y="2671"/>
              <a:ext cx="4701" cy="3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625" y="2844"/>
              <a:ext cx="2651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360°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 1 rev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speed and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arc length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simply the displacement we learned about in Topic 2, and is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is in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(1/2)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∙Because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/ t,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see that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/ t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definition of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=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t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substitution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 θ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	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associative property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ω		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define ω ≡ θ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call ω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         </a:t>
            </a:r>
            <a:endParaRPr/>
          </a:p>
        </p:txBody>
      </p:sp>
      <p:sp>
        <p:nvSpPr>
          <p:cNvPr id="612" name="Google Shape;612;p3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613" name="Google Shape;613;p30"/>
          <p:cNvGrpSpPr/>
          <p:nvPr/>
        </p:nvGrpSpPr>
        <p:grpSpPr>
          <a:xfrm>
            <a:off x="806450" y="1997077"/>
            <a:ext cx="7464425" cy="461665"/>
            <a:chOff x="833438" y="3880603"/>
            <a:chExt cx="7464425" cy="461367"/>
          </a:xfrm>
        </p:grpSpPr>
        <p:sp>
          <p:nvSpPr>
            <p:cNvPr id="614" name="Google Shape;614;p30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θ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0"/>
            <p:cNvSpPr txBox="1"/>
            <p:nvPr/>
          </p:nvSpPr>
          <p:spPr>
            <a:xfrm>
              <a:off x="4710113" y="3880603"/>
              <a:ext cx="3587750" cy="4613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θ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2643188" y="3902814"/>
              <a:ext cx="2055813" cy="406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in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radians</a:t>
              </a:r>
              <a:endParaRPr/>
            </a:p>
          </p:txBody>
        </p:sp>
      </p:grpSp>
      <p:grpSp>
        <p:nvGrpSpPr>
          <p:cNvPr id="618" name="Google Shape;618;p30"/>
          <p:cNvGrpSpPr/>
          <p:nvPr/>
        </p:nvGrpSpPr>
        <p:grpSpPr>
          <a:xfrm>
            <a:off x="806450" y="5884864"/>
            <a:ext cx="7464425" cy="461665"/>
            <a:chOff x="833438" y="3880603"/>
            <a:chExt cx="7464425" cy="461368"/>
          </a:xfrm>
        </p:grpSpPr>
        <p:sp>
          <p:nvSpPr>
            <p:cNvPr id="619" name="Google Shape;619;p30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ω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0"/>
            <p:cNvSpPr txBox="1"/>
            <p:nvPr/>
          </p:nvSpPr>
          <p:spPr>
            <a:xfrm>
              <a:off x="4710113" y="3880603"/>
              <a:ext cx="3587750" cy="46136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ω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2078038" y="3902814"/>
              <a:ext cx="2620963" cy="406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/ 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(rad s</a:t>
              </a:r>
              <a:r>
                <a:rPr baseline="30000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30000" sz="2400">
                <a:solidFill>
                  <a:srgbClr val="2D2D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1"/>
          <p:cNvSpPr/>
          <p:nvPr/>
        </p:nvSpPr>
        <p:spPr>
          <a:xfrm>
            <a:off x="674688" y="2535238"/>
            <a:ext cx="7781925" cy="43227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point mass moving at a constant speed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circle of radius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shown.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…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arenBoth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period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 point mass, and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the frequency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point mass, and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the angular speed ω of the point mass.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 We need a time piece.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∙For one revolution the period is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12 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∙Frequency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= 0.083 Hz.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∙Angular speed is ω = θ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2π rad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s = 0.52 rad 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speed and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629" name="Google Shape;629;p3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630" name="Google Shape;630;p31"/>
          <p:cNvGrpSpPr/>
          <p:nvPr/>
        </p:nvGrpSpPr>
        <p:grpSpPr>
          <a:xfrm>
            <a:off x="806450" y="2009777"/>
            <a:ext cx="7464425" cy="461665"/>
            <a:chOff x="833438" y="3880603"/>
            <a:chExt cx="7464425" cy="461367"/>
          </a:xfrm>
        </p:grpSpPr>
        <p:sp>
          <p:nvSpPr>
            <p:cNvPr id="631" name="Google Shape;631;p31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ω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1"/>
            <p:cNvSpPr txBox="1"/>
            <p:nvPr/>
          </p:nvSpPr>
          <p:spPr>
            <a:xfrm>
              <a:off x="4710113" y="3880603"/>
              <a:ext cx="3587750" cy="4613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ω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2078038" y="3902814"/>
              <a:ext cx="2620963" cy="406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/ 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(rad s</a:t>
              </a:r>
              <a:r>
                <a:rPr baseline="30000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30000" sz="2400">
                <a:solidFill>
                  <a:srgbClr val="2D2D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31"/>
          <p:cNvGrpSpPr/>
          <p:nvPr/>
        </p:nvGrpSpPr>
        <p:grpSpPr>
          <a:xfrm>
            <a:off x="7432675" y="4946650"/>
            <a:ext cx="1503363" cy="1519238"/>
            <a:chOff x="4100" y="2501"/>
            <a:chExt cx="947" cy="957"/>
          </a:xfrm>
        </p:grpSpPr>
        <p:sp>
          <p:nvSpPr>
            <p:cNvPr id="636" name="Google Shape;636;p31"/>
            <p:cNvSpPr/>
            <p:nvPr/>
          </p:nvSpPr>
          <p:spPr>
            <a:xfrm>
              <a:off x="4100" y="2501"/>
              <a:ext cx="947" cy="947"/>
            </a:xfrm>
            <a:prstGeom prst="ellipse">
              <a:avLst/>
            </a:prstGeom>
            <a:solidFill>
              <a:schemeClr val="lt1"/>
            </a:solidFill>
            <a:ln cap="flat" cmpd="thickThin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7" name="Google Shape;637;p31"/>
            <p:cNvCxnSpPr/>
            <p:nvPr/>
          </p:nvCxnSpPr>
          <p:spPr>
            <a:xfrm>
              <a:off x="4578" y="2523"/>
              <a:ext cx="0" cy="9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31"/>
            <p:cNvCxnSpPr/>
            <p:nvPr/>
          </p:nvCxnSpPr>
          <p:spPr>
            <a:xfrm>
              <a:off x="4122" y="2979"/>
              <a:ext cx="90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31"/>
            <p:cNvCxnSpPr/>
            <p:nvPr/>
          </p:nvCxnSpPr>
          <p:spPr>
            <a:xfrm flipH="1" rot="10800000">
              <a:off x="4351" y="2588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31"/>
            <p:cNvCxnSpPr/>
            <p:nvPr/>
          </p:nvCxnSpPr>
          <p:spPr>
            <a:xfrm flipH="1" rot="10800000">
              <a:off x="4174" y="2756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31"/>
            <p:cNvCxnSpPr/>
            <p:nvPr/>
          </p:nvCxnSpPr>
          <p:spPr>
            <a:xfrm rot="10800000">
              <a:off x="4346" y="2575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31"/>
            <p:cNvCxnSpPr/>
            <p:nvPr/>
          </p:nvCxnSpPr>
          <p:spPr>
            <a:xfrm rot="10800000">
              <a:off x="4169" y="2743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31"/>
            <p:cNvSpPr/>
            <p:nvPr/>
          </p:nvSpPr>
          <p:spPr>
            <a:xfrm>
              <a:off x="4203" y="2593"/>
              <a:ext cx="750" cy="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1"/>
            <p:cNvSpPr txBox="1"/>
            <p:nvPr/>
          </p:nvSpPr>
          <p:spPr>
            <a:xfrm>
              <a:off x="4457" y="25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645" name="Google Shape;645;p31"/>
            <p:cNvSpPr txBox="1"/>
            <p:nvPr/>
          </p:nvSpPr>
          <p:spPr>
            <a:xfrm>
              <a:off x="4798" y="2863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646" name="Google Shape;646;p31"/>
            <p:cNvSpPr txBox="1"/>
            <p:nvPr/>
          </p:nvSpPr>
          <p:spPr>
            <a:xfrm>
              <a:off x="4470" y="3167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647" name="Google Shape;647;p31"/>
            <p:cNvSpPr txBox="1"/>
            <p:nvPr/>
          </p:nvSpPr>
          <p:spPr>
            <a:xfrm>
              <a:off x="4154" y="2859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648" name="Google Shape;648;p31"/>
          <p:cNvGrpSpPr/>
          <p:nvPr/>
        </p:nvGrpSpPr>
        <p:grpSpPr>
          <a:xfrm>
            <a:off x="8143875" y="5041900"/>
            <a:ext cx="96838" cy="1311275"/>
            <a:chOff x="4532" y="2501"/>
            <a:chExt cx="61" cy="826"/>
          </a:xfrm>
        </p:grpSpPr>
        <p:cxnSp>
          <p:nvCxnSpPr>
            <p:cNvPr id="649" name="Google Shape;649;p31"/>
            <p:cNvCxnSpPr/>
            <p:nvPr/>
          </p:nvCxnSpPr>
          <p:spPr>
            <a:xfrm>
              <a:off x="4563" y="2501"/>
              <a:ext cx="0" cy="417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0" name="Google Shape;650;p31"/>
            <p:cNvSpPr/>
            <p:nvPr/>
          </p:nvSpPr>
          <p:spPr>
            <a:xfrm>
              <a:off x="4540" y="2918"/>
              <a:ext cx="48" cy="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31"/>
          <p:cNvGrpSpPr/>
          <p:nvPr/>
        </p:nvGrpSpPr>
        <p:grpSpPr>
          <a:xfrm>
            <a:off x="7245350" y="3117850"/>
            <a:ext cx="1770063" cy="1768475"/>
            <a:chOff x="1933" y="2380"/>
            <a:chExt cx="1182" cy="1182"/>
          </a:xfrm>
        </p:grpSpPr>
        <p:sp>
          <p:nvSpPr>
            <p:cNvPr id="653" name="Google Shape;653;p31"/>
            <p:cNvSpPr/>
            <p:nvPr/>
          </p:nvSpPr>
          <p:spPr>
            <a:xfrm>
              <a:off x="1933" y="2380"/>
              <a:ext cx="1182" cy="118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2978" y="2911"/>
              <a:ext cx="128" cy="129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100000">
                  <a:srgbClr val="5A5A5A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5" name="Google Shape;655;p31"/>
            <p:cNvCxnSpPr/>
            <p:nvPr/>
          </p:nvCxnSpPr>
          <p:spPr>
            <a:xfrm>
              <a:off x="2516" y="2971"/>
              <a:ext cx="531" cy="0"/>
            </a:xfrm>
            <a:prstGeom prst="straightConnector1">
              <a:avLst/>
            </a:prstGeom>
            <a:noFill/>
            <a:ln cap="flat" cmpd="sng" w="38100">
              <a:solidFill>
                <a:srgbClr val="00206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656" name="Google Shape;656;p31"/>
            <p:cNvGrpSpPr/>
            <p:nvPr/>
          </p:nvGrpSpPr>
          <p:grpSpPr>
            <a:xfrm>
              <a:off x="2464" y="2926"/>
              <a:ext cx="114" cy="106"/>
              <a:chOff x="789" y="2403"/>
              <a:chExt cx="114" cy="106"/>
            </a:xfrm>
          </p:grpSpPr>
          <p:cxnSp>
            <p:nvCxnSpPr>
              <p:cNvPr id="657" name="Google Shape;657;p31"/>
              <p:cNvCxnSpPr/>
              <p:nvPr/>
            </p:nvCxnSpPr>
            <p:spPr>
              <a:xfrm>
                <a:off x="796" y="2403"/>
                <a:ext cx="107" cy="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31"/>
              <p:cNvCxnSpPr/>
              <p:nvPr/>
            </p:nvCxnSpPr>
            <p:spPr>
              <a:xfrm flipH="1">
                <a:off x="789" y="2403"/>
                <a:ext cx="114" cy="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59" name="Google Shape;659;p31"/>
            <p:cNvSpPr/>
            <p:nvPr/>
          </p:nvSpPr>
          <p:spPr>
            <a:xfrm>
              <a:off x="2683" y="2880"/>
              <a:ext cx="189" cy="1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1"/>
            <p:cNvSpPr txBox="1"/>
            <p:nvPr/>
          </p:nvSpPr>
          <p:spPr>
            <a:xfrm>
              <a:off x="2677" y="2810"/>
              <a:ext cx="204" cy="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cxnSp>
          <p:nvCxnSpPr>
            <p:cNvPr id="661" name="Google Shape;661;p31"/>
            <p:cNvCxnSpPr/>
            <p:nvPr/>
          </p:nvCxnSpPr>
          <p:spPr>
            <a:xfrm rot="10800000">
              <a:off x="3039" y="2493"/>
              <a:ext cx="0" cy="47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62" name="Google Shape;662;p31"/>
            <p:cNvSpPr txBox="1"/>
            <p:nvPr/>
          </p:nvSpPr>
          <p:spPr>
            <a:xfrm>
              <a:off x="2792" y="2476"/>
              <a:ext cx="246" cy="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"/>
          <p:cNvSpPr/>
          <p:nvPr/>
        </p:nvSpPr>
        <p:spPr>
          <a:xfrm>
            <a:off x="682625" y="6021388"/>
            <a:ext cx="7764463" cy="83661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depends on length or position but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speed does not. 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674688" y="2535238"/>
            <a:ext cx="7781925" cy="35274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angular speed of the second                    hand on a clock. Then find the speed of the tip of                  the hand if it is 18.0 cm long.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 A second hand turns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rad each 60 s.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has an angular speed given by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ω 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 = 0.105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rad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speed of the tip is given by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 = 0.180(0.105) = 0.0189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speed and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670" name="Google Shape;670;p3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671" name="Google Shape;671;p32"/>
          <p:cNvGrpSpPr/>
          <p:nvPr/>
        </p:nvGrpSpPr>
        <p:grpSpPr>
          <a:xfrm>
            <a:off x="806450" y="2009777"/>
            <a:ext cx="7464425" cy="461665"/>
            <a:chOff x="833438" y="3880603"/>
            <a:chExt cx="7464425" cy="461367"/>
          </a:xfrm>
        </p:grpSpPr>
        <p:sp>
          <p:nvSpPr>
            <p:cNvPr id="672" name="Google Shape;672;p32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ω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2"/>
            <p:cNvSpPr txBox="1"/>
            <p:nvPr/>
          </p:nvSpPr>
          <p:spPr>
            <a:xfrm>
              <a:off x="4710113" y="3880603"/>
              <a:ext cx="3587750" cy="4613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ω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2078038" y="3902814"/>
              <a:ext cx="2620963" cy="406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/ 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(rad s</a:t>
              </a:r>
              <a:r>
                <a:rPr baseline="30000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30000" sz="2400">
                <a:solidFill>
                  <a:srgbClr val="2D2D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encrypted-tbn1.gstatic.com/images?q=tbn:ANd9GcRqVS8-Dv8FGdsHnqaKhe2CIZgu6FuTW9BNB8AH40GmkteFflBg" id="676" name="Google Shape;676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6775" y="4122738"/>
            <a:ext cx="1927225" cy="1920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32"/>
          <p:cNvGrpSpPr/>
          <p:nvPr/>
        </p:nvGrpSpPr>
        <p:grpSpPr>
          <a:xfrm rot="5160000">
            <a:off x="8116094" y="4409281"/>
            <a:ext cx="96838" cy="1311275"/>
            <a:chOff x="4532" y="2501"/>
            <a:chExt cx="61" cy="826"/>
          </a:xfrm>
        </p:grpSpPr>
        <p:cxnSp>
          <p:nvCxnSpPr>
            <p:cNvPr id="678" name="Google Shape;678;p32"/>
            <p:cNvCxnSpPr/>
            <p:nvPr/>
          </p:nvCxnSpPr>
          <p:spPr>
            <a:xfrm>
              <a:off x="4563" y="2501"/>
              <a:ext cx="0" cy="417"/>
            </a:xfrm>
            <a:prstGeom prst="straightConnector1">
              <a:avLst/>
            </a:prstGeom>
            <a:noFill/>
            <a:ln cap="flat" cmpd="sng" w="1905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9" name="Google Shape;679;p32"/>
            <p:cNvSpPr/>
            <p:nvPr/>
          </p:nvSpPr>
          <p:spPr>
            <a:xfrm>
              <a:off x="4540" y="2918"/>
              <a:ext cx="48" cy="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/>
          <p:nvPr/>
        </p:nvSpPr>
        <p:spPr>
          <a:xfrm>
            <a:off x="674688" y="2535238"/>
            <a:ext cx="7781925" cy="43227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car rounds a                                                     90° turn in 6.0 seconds.                                                     What is its angular speed                                              during the turn?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ω needs radians we                                                  begin by converting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90°(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180°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1.57 rad.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∙Now we use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1.57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6.0 = 0.26 rad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3"/>
          <p:cNvSpPr/>
          <p:nvPr/>
        </p:nvSpPr>
        <p:spPr>
          <a:xfrm>
            <a:off x="685800" y="1549400"/>
            <a:ext cx="7772400" cy="10271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speed and speed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/>
          </a:p>
        </p:txBody>
      </p:sp>
      <p:sp>
        <p:nvSpPr>
          <p:cNvPr id="687" name="Google Shape;687;p3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688" name="Google Shape;688;p33"/>
          <p:cNvGrpSpPr/>
          <p:nvPr/>
        </p:nvGrpSpPr>
        <p:grpSpPr>
          <a:xfrm>
            <a:off x="806450" y="2009777"/>
            <a:ext cx="7464425" cy="461665"/>
            <a:chOff x="833438" y="3880603"/>
            <a:chExt cx="7464425" cy="461367"/>
          </a:xfrm>
        </p:grpSpPr>
        <p:sp>
          <p:nvSpPr>
            <p:cNvPr id="689" name="Google Shape;689;p33"/>
            <p:cNvSpPr/>
            <p:nvPr/>
          </p:nvSpPr>
          <p:spPr>
            <a:xfrm>
              <a:off x="838201" y="3901241"/>
              <a:ext cx="2428875" cy="407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ω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3"/>
            <p:cNvSpPr txBox="1"/>
            <p:nvPr/>
          </p:nvSpPr>
          <p:spPr>
            <a:xfrm>
              <a:off x="4710113" y="3880603"/>
              <a:ext cx="3587750" cy="4613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ω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833438" y="3883778"/>
              <a:ext cx="7462838" cy="45269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2078038" y="3902814"/>
              <a:ext cx="2620963" cy="406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/ 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(rad s</a:t>
              </a:r>
              <a:r>
                <a:rPr baseline="30000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30000" sz="2400">
                <a:solidFill>
                  <a:srgbClr val="2D2D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050" y="2825750"/>
            <a:ext cx="3570288" cy="22240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4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Banking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car is able to round the                                          curve because of the friction                                       between tire and pavement.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friction always points to                                             the center of the circle.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∙So, how does a plane follow                                                a circular trajectory?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∙There is no sideways friction force that the plane can use because there is no solid friction between the air and the plane.</a:t>
            </a:r>
            <a:endParaRPr/>
          </a:p>
        </p:txBody>
      </p:sp>
      <p:sp>
        <p:nvSpPr>
          <p:cNvPr id="699" name="Google Shape;699;p3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0" name="Google Shape;7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4250" y="2019300"/>
            <a:ext cx="3570288" cy="22240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701" name="Google Shape;701;p34"/>
          <p:cNvSpPr/>
          <p:nvPr/>
        </p:nvSpPr>
        <p:spPr>
          <a:xfrm rot="10800000">
            <a:off x="4922838" y="3357563"/>
            <a:ext cx="3441700" cy="760412"/>
          </a:xfrm>
          <a:custGeom>
            <a:rect b="b" l="l" r="r" t="t"/>
            <a:pathLst>
              <a:path extrusionOk="0" fill="none" h="33299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749"/>
                  <a:pt x="20404" y="29811"/>
                  <a:pt x="18157" y="33299"/>
                </a:cubicBezTo>
              </a:path>
              <a:path extrusionOk="0" h="33299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749"/>
                  <a:pt x="20404" y="29811"/>
                  <a:pt x="18157" y="332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p34"/>
          <p:cNvCxnSpPr/>
          <p:nvPr/>
        </p:nvCxnSpPr>
        <p:spPr>
          <a:xfrm flipH="1" rot="10800000">
            <a:off x="6588125" y="3794125"/>
            <a:ext cx="301625" cy="9525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34"/>
          <p:cNvCxnSpPr/>
          <p:nvPr/>
        </p:nvCxnSpPr>
        <p:spPr>
          <a:xfrm flipH="1" rot="10800000">
            <a:off x="5692775" y="3705225"/>
            <a:ext cx="338138" cy="47625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34"/>
          <p:cNvCxnSpPr/>
          <p:nvPr/>
        </p:nvCxnSpPr>
        <p:spPr>
          <a:xfrm flipH="1" rot="10800000">
            <a:off x="7734300" y="3616325"/>
            <a:ext cx="290513" cy="7143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5"/>
          <p:cNvSpPr/>
          <p:nvPr/>
        </p:nvSpPr>
        <p:spPr>
          <a:xfrm>
            <a:off x="3598863" y="5199063"/>
            <a:ext cx="4848225" cy="16589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 ROLL maneuver that gives a plane a centripetal force as we will see on the next slide.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685800" y="1549400"/>
            <a:ext cx="7772400" cy="36480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Banking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∙Using control surfaces on the tail and the                    main wings, planes can execute three                           types of maneuver: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ROLL – Ailerons act in opposing directions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YAW – Tail rudder turns left or right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PITCH – Ailerons and horizontal stabilizer                         	    act together</a:t>
            </a:r>
            <a:endParaRPr/>
          </a:p>
        </p:txBody>
      </p:sp>
      <p:sp>
        <p:nvSpPr>
          <p:cNvPr id="711" name="Google Shape;711;p3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of Jet Airplane" id="712" name="Google Shape;7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38" y="4824413"/>
            <a:ext cx="2909887" cy="23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5"/>
          <p:cNvSpPr/>
          <p:nvPr/>
        </p:nvSpPr>
        <p:spPr>
          <a:xfrm>
            <a:off x="685800" y="4813300"/>
            <a:ext cx="2911475" cy="204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ll_pitch_yaw_axesdiagram" id="714" name="Google Shape;71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6725" y="1560513"/>
            <a:ext cx="209867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6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Banking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∙As the plane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(rolls), the lift vector                                   begins to have a horizontal component.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centripetal force causes the plane                               to begin traveling in a horizontal circle.</a:t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5907088" y="4187825"/>
            <a:ext cx="3236912" cy="267017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06px-Usaf" id="722" name="Google Shape;7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3590925"/>
            <a:ext cx="4165600" cy="3267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723" name="Google Shape;723;p36"/>
          <p:cNvGrpSpPr/>
          <p:nvPr/>
        </p:nvGrpSpPr>
        <p:grpSpPr>
          <a:xfrm>
            <a:off x="5980113" y="4703763"/>
            <a:ext cx="3116262" cy="1984375"/>
            <a:chOff x="1880" y="1076"/>
            <a:chExt cx="1963" cy="1250"/>
          </a:xfrm>
        </p:grpSpPr>
        <p:sp>
          <p:nvSpPr>
            <p:cNvPr id="724" name="Google Shape;724;p36"/>
            <p:cNvSpPr/>
            <p:nvPr/>
          </p:nvSpPr>
          <p:spPr>
            <a:xfrm>
              <a:off x="2698" y="1538"/>
              <a:ext cx="326" cy="32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" name="Google Shape;725;p36"/>
            <p:cNvGrpSpPr/>
            <p:nvPr/>
          </p:nvGrpSpPr>
          <p:grpSpPr>
            <a:xfrm>
              <a:off x="1888" y="1547"/>
              <a:ext cx="970" cy="288"/>
              <a:chOff x="1880" y="1539"/>
              <a:chExt cx="970" cy="288"/>
            </a:xfrm>
          </p:grpSpPr>
          <p:sp>
            <p:nvSpPr>
              <p:cNvPr id="726" name="Google Shape;726;p36"/>
              <p:cNvSpPr/>
              <p:nvPr/>
            </p:nvSpPr>
            <p:spPr>
              <a:xfrm>
                <a:off x="2342" y="1691"/>
                <a:ext cx="136" cy="13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36"/>
              <p:cNvSpPr/>
              <p:nvPr/>
            </p:nvSpPr>
            <p:spPr>
              <a:xfrm>
                <a:off x="1880" y="1539"/>
                <a:ext cx="970" cy="189"/>
              </a:xfrm>
              <a:custGeom>
                <a:rect b="b" l="l" r="r" t="t"/>
                <a:pathLst>
                  <a:path extrusionOk="0" h="189" w="970">
                    <a:moveTo>
                      <a:pt x="970" y="0"/>
                    </a:moveTo>
                    <a:lnTo>
                      <a:pt x="0" y="144"/>
                    </a:lnTo>
                    <a:lnTo>
                      <a:pt x="7" y="189"/>
                    </a:lnTo>
                    <a:lnTo>
                      <a:pt x="970" y="75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36"/>
              <p:cNvSpPr/>
              <p:nvPr/>
            </p:nvSpPr>
            <p:spPr>
              <a:xfrm>
                <a:off x="2395" y="1637"/>
                <a:ext cx="35" cy="6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9" name="Google Shape;729;p36"/>
            <p:cNvGrpSpPr/>
            <p:nvPr/>
          </p:nvGrpSpPr>
          <p:grpSpPr>
            <a:xfrm flipH="1">
              <a:off x="2855" y="1545"/>
              <a:ext cx="970" cy="288"/>
              <a:chOff x="1880" y="1539"/>
              <a:chExt cx="970" cy="288"/>
            </a:xfrm>
          </p:grpSpPr>
          <p:sp>
            <p:nvSpPr>
              <p:cNvPr id="730" name="Google Shape;730;p36"/>
              <p:cNvSpPr/>
              <p:nvPr/>
            </p:nvSpPr>
            <p:spPr>
              <a:xfrm>
                <a:off x="2342" y="1691"/>
                <a:ext cx="136" cy="13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36"/>
              <p:cNvSpPr/>
              <p:nvPr/>
            </p:nvSpPr>
            <p:spPr>
              <a:xfrm>
                <a:off x="1880" y="1539"/>
                <a:ext cx="970" cy="189"/>
              </a:xfrm>
              <a:custGeom>
                <a:rect b="b" l="l" r="r" t="t"/>
                <a:pathLst>
                  <a:path extrusionOk="0" h="189" w="970">
                    <a:moveTo>
                      <a:pt x="970" y="0"/>
                    </a:moveTo>
                    <a:lnTo>
                      <a:pt x="0" y="144"/>
                    </a:lnTo>
                    <a:lnTo>
                      <a:pt x="7" y="189"/>
                    </a:lnTo>
                    <a:lnTo>
                      <a:pt x="970" y="75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36"/>
              <p:cNvSpPr/>
              <p:nvPr/>
            </p:nvSpPr>
            <p:spPr>
              <a:xfrm>
                <a:off x="2395" y="1637"/>
                <a:ext cx="35" cy="6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33" name="Google Shape;73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5" y="1078"/>
              <a:ext cx="138" cy="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36"/>
            <p:cNvSpPr/>
            <p:nvPr/>
          </p:nvSpPr>
          <p:spPr>
            <a:xfrm>
              <a:off x="1880" y="1076"/>
              <a:ext cx="1963" cy="1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5" name="Google Shape;73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46963" y="5759450"/>
            <a:ext cx="1905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8688" y="5605463"/>
            <a:ext cx="5143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6"/>
          <p:cNvSpPr/>
          <p:nvPr/>
        </p:nvSpPr>
        <p:spPr>
          <a:xfrm>
            <a:off x="7278688" y="5451475"/>
            <a:ext cx="504825" cy="5048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6"/>
          <p:cNvSpPr/>
          <p:nvPr/>
        </p:nvSpPr>
        <p:spPr>
          <a:xfrm rot="10800000">
            <a:off x="7934325" y="1873250"/>
            <a:ext cx="3214688" cy="400050"/>
          </a:xfrm>
          <a:custGeom>
            <a:rect b="b" l="l" r="r" t="t"/>
            <a:pathLst>
              <a:path extrusionOk="0" fill="none" h="17534" w="20179">
                <a:moveTo>
                  <a:pt x="20179" y="7704"/>
                </a:moveTo>
                <a:cubicBezTo>
                  <a:pt x="18672" y="11649"/>
                  <a:pt x="16043" y="15067"/>
                  <a:pt x="12614" y="17533"/>
                </a:cubicBezTo>
              </a:path>
              <a:path extrusionOk="0" h="17534" w="20179">
                <a:moveTo>
                  <a:pt x="20179" y="7704"/>
                </a:moveTo>
                <a:cubicBezTo>
                  <a:pt x="18672" y="11649"/>
                  <a:pt x="16043" y="15067"/>
                  <a:pt x="12614" y="17533"/>
                </a:cubicBezTo>
                <a:lnTo>
                  <a:pt x="0" y="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39" name="Google Shape;739;p36"/>
          <p:cNvCxnSpPr/>
          <p:nvPr/>
        </p:nvCxnSpPr>
        <p:spPr>
          <a:xfrm flipH="1" rot="10800000">
            <a:off x="2273300" y="5257800"/>
            <a:ext cx="327025" cy="12065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40" name="Google Shape;74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1365250"/>
            <a:ext cx="2809875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6"/>
          <p:cNvSpPr/>
          <p:nvPr/>
        </p:nvSpPr>
        <p:spPr>
          <a:xfrm rot="10800000">
            <a:off x="7740650" y="2274888"/>
            <a:ext cx="3436938" cy="398462"/>
          </a:xfrm>
          <a:custGeom>
            <a:rect b="b" l="l" r="r" t="t"/>
            <a:pathLst>
              <a:path extrusionOk="0" fill="none" h="17472" w="21574">
                <a:moveTo>
                  <a:pt x="12699" y="0"/>
                </a:moveTo>
                <a:cubicBezTo>
                  <a:pt x="17991" y="3846"/>
                  <a:pt x="21255" y="9883"/>
                  <a:pt x="21574" y="16417"/>
                </a:cubicBezTo>
              </a:path>
              <a:path extrusionOk="0" h="17472" w="21574">
                <a:moveTo>
                  <a:pt x="12699" y="0"/>
                </a:moveTo>
                <a:cubicBezTo>
                  <a:pt x="17991" y="3846"/>
                  <a:pt x="21255" y="9883"/>
                  <a:pt x="21574" y="16417"/>
                </a:cubicBezTo>
                <a:lnTo>
                  <a:pt x="0" y="17472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42" name="Google Shape;742;p36"/>
          <p:cNvCxnSpPr/>
          <p:nvPr/>
        </p:nvCxnSpPr>
        <p:spPr>
          <a:xfrm>
            <a:off x="2279650" y="5411788"/>
            <a:ext cx="3175" cy="914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36"/>
          <p:cNvCxnSpPr/>
          <p:nvPr/>
        </p:nvCxnSpPr>
        <p:spPr>
          <a:xfrm flipH="1" rot="10800000">
            <a:off x="2268538" y="4640263"/>
            <a:ext cx="363537" cy="722312"/>
          </a:xfrm>
          <a:prstGeom prst="straightConnector1">
            <a:avLst/>
          </a:prstGeom>
          <a:noFill/>
          <a:ln cap="flat" cmpd="sng" w="38100">
            <a:solidFill>
              <a:srgbClr val="66FF3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36"/>
          <p:cNvSpPr/>
          <p:nvPr/>
        </p:nvSpPr>
        <p:spPr>
          <a:xfrm rot="10800000">
            <a:off x="690563" y="5035550"/>
            <a:ext cx="4124325" cy="492125"/>
          </a:xfrm>
          <a:custGeom>
            <a:rect b="b" l="l" r="r" t="t"/>
            <a:pathLst>
              <a:path extrusionOk="0" fill="none" h="21600" w="21233">
                <a:moveTo>
                  <a:pt x="0" y="0"/>
                </a:moveTo>
                <a:cubicBezTo>
                  <a:pt x="5" y="0"/>
                  <a:pt x="10" y="-1"/>
                  <a:pt x="16" y="0"/>
                </a:cubicBezTo>
                <a:cubicBezTo>
                  <a:pt x="10384" y="0"/>
                  <a:pt x="19290" y="7367"/>
                  <a:pt x="21233" y="17551"/>
                </a:cubicBezTo>
              </a:path>
              <a:path extrusionOk="0" h="21600" w="21233">
                <a:moveTo>
                  <a:pt x="0" y="0"/>
                </a:moveTo>
                <a:cubicBezTo>
                  <a:pt x="5" y="0"/>
                  <a:pt x="10" y="-1"/>
                  <a:pt x="16" y="0"/>
                </a:cubicBezTo>
                <a:cubicBezTo>
                  <a:pt x="10384" y="0"/>
                  <a:pt x="19290" y="7367"/>
                  <a:pt x="21233" y="17551"/>
                </a:cubicBezTo>
                <a:lnTo>
                  <a:pt x="16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5" name="Google Shape;745;p36"/>
          <p:cNvCxnSpPr/>
          <p:nvPr/>
        </p:nvCxnSpPr>
        <p:spPr>
          <a:xfrm flipH="1" rot="10800000">
            <a:off x="3670300" y="4451350"/>
            <a:ext cx="985838" cy="385763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746" name="Google Shape;746;p36"/>
          <p:cNvGrpSpPr/>
          <p:nvPr/>
        </p:nvGrpSpPr>
        <p:grpSpPr>
          <a:xfrm>
            <a:off x="4487863" y="4391025"/>
            <a:ext cx="336550" cy="96838"/>
            <a:chOff x="2827" y="2774"/>
            <a:chExt cx="212" cy="61"/>
          </a:xfrm>
        </p:grpSpPr>
        <p:cxnSp>
          <p:nvCxnSpPr>
            <p:cNvPr id="747" name="Google Shape;747;p36"/>
            <p:cNvCxnSpPr/>
            <p:nvPr/>
          </p:nvCxnSpPr>
          <p:spPr>
            <a:xfrm>
              <a:off x="2880" y="2774"/>
              <a:ext cx="106" cy="61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36"/>
            <p:cNvCxnSpPr/>
            <p:nvPr/>
          </p:nvCxnSpPr>
          <p:spPr>
            <a:xfrm flipH="1" rot="10800000">
              <a:off x="2827" y="2797"/>
              <a:ext cx="212" cy="2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49" name="Google Shape;749;p36"/>
          <p:cNvCxnSpPr/>
          <p:nvPr/>
        </p:nvCxnSpPr>
        <p:spPr>
          <a:xfrm flipH="1" rot="10800000">
            <a:off x="3016250" y="5060950"/>
            <a:ext cx="95250" cy="36513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rcedes Benz amg sls Roadster.jpg (660×402)" id="754" name="Google Shape;7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0" y="4654550"/>
            <a:ext cx="4052888" cy="22034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755" name="Google Shape;755;p37"/>
          <p:cNvSpPr/>
          <p:nvPr/>
        </p:nvSpPr>
        <p:spPr>
          <a:xfrm>
            <a:off x="4481513" y="5245100"/>
            <a:ext cx="3965575" cy="16129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banked curve can be designed so that a car can make the turn even if it is perfectly frictionless!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7"/>
          <p:cNvSpPr/>
          <p:nvPr/>
        </p:nvSpPr>
        <p:spPr>
          <a:xfrm>
            <a:off x="685800" y="1549400"/>
            <a:ext cx="7772400" cy="31146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Banking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∙Even though cars use friction,                                         roads are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the                                           need for friction is reduced.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∙Instead of a component of the LIFT                                   force providing a centripetal force,                                     a component of the NORMAL force                                 does so.</a:t>
            </a:r>
            <a:endParaRPr/>
          </a:p>
        </p:txBody>
      </p:sp>
      <p:sp>
        <p:nvSpPr>
          <p:cNvPr id="757" name="Google Shape;757;p3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97px-Banked_turn" id="758" name="Google Shape;75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482" y="1170655"/>
            <a:ext cx="3390314" cy="413049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759" name="Google Shape;759;p37"/>
          <p:cNvCxnSpPr/>
          <p:nvPr/>
        </p:nvCxnSpPr>
        <p:spPr>
          <a:xfrm>
            <a:off x="2268538" y="6389688"/>
            <a:ext cx="1587" cy="4683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37"/>
          <p:cNvCxnSpPr/>
          <p:nvPr/>
        </p:nvCxnSpPr>
        <p:spPr>
          <a:xfrm rot="10800000">
            <a:off x="1230313" y="5661025"/>
            <a:ext cx="660400" cy="230188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37"/>
          <p:cNvCxnSpPr/>
          <p:nvPr/>
        </p:nvCxnSpPr>
        <p:spPr>
          <a:xfrm flipH="1">
            <a:off x="1309688" y="6307138"/>
            <a:ext cx="407987" cy="71437"/>
          </a:xfrm>
          <a:prstGeom prst="straightConnector1">
            <a:avLst/>
          </a:prstGeom>
          <a:noFill/>
          <a:ln cap="flat" cmpd="sng" w="5715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2" name="Google Shape;762;p37"/>
          <p:cNvSpPr txBox="1"/>
          <p:nvPr/>
        </p:nvSpPr>
        <p:spPr>
          <a:xfrm>
            <a:off x="2319338" y="6457950"/>
            <a:ext cx="474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sp>
        <p:nvSpPr>
          <p:cNvPr id="763" name="Google Shape;763;p37"/>
          <p:cNvSpPr txBox="1"/>
          <p:nvPr/>
        </p:nvSpPr>
        <p:spPr>
          <a:xfrm>
            <a:off x="820738" y="537686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764" name="Google Shape;764;p37"/>
          <p:cNvSpPr txBox="1"/>
          <p:nvPr/>
        </p:nvSpPr>
        <p:spPr>
          <a:xfrm>
            <a:off x="892175" y="6230938"/>
            <a:ext cx="5196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speed and centripetal acceleration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∙Sometimes the angular speed of an object in circular motion is given, rather than its velocity.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 we get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we get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 r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	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∙Putting it all together we have</a:t>
            </a:r>
            <a:endParaRPr/>
          </a:p>
        </p:txBody>
      </p:sp>
      <p:sp>
        <p:nvSpPr>
          <p:cNvPr id="770" name="Google Shape;770;p3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771" name="Google Shape;771;p38"/>
          <p:cNvCxnSpPr/>
          <p:nvPr/>
        </p:nvCxnSpPr>
        <p:spPr>
          <a:xfrm flipH="1" rot="10800000">
            <a:off x="5132388" y="3895725"/>
            <a:ext cx="206375" cy="825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38"/>
          <p:cNvCxnSpPr/>
          <p:nvPr/>
        </p:nvCxnSpPr>
        <p:spPr>
          <a:xfrm flipH="1" rot="10800000">
            <a:off x="4260850" y="3787775"/>
            <a:ext cx="133350" cy="1079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3" name="Google Shape;773;p38"/>
          <p:cNvGrpSpPr/>
          <p:nvPr/>
        </p:nvGrpSpPr>
        <p:grpSpPr>
          <a:xfrm>
            <a:off x="828675" y="5043486"/>
            <a:ext cx="7464425" cy="1206499"/>
            <a:chOff x="522" y="2873"/>
            <a:chExt cx="4702" cy="760"/>
          </a:xfrm>
        </p:grpSpPr>
        <p:sp>
          <p:nvSpPr>
            <p:cNvPr id="774" name="Google Shape;774;p38"/>
            <p:cNvSpPr/>
            <p:nvPr/>
          </p:nvSpPr>
          <p:spPr>
            <a:xfrm>
              <a:off x="608" y="2875"/>
              <a:ext cx="1434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8"/>
            <p:cNvSpPr txBox="1"/>
            <p:nvPr/>
          </p:nvSpPr>
          <p:spPr>
            <a:xfrm>
              <a:off x="4082" y="2877"/>
              <a:ext cx="1142" cy="7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(all three forms)</a:t>
              </a: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22" y="2879"/>
              <a:ext cx="4701" cy="74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8"/>
            <p:cNvSpPr/>
            <p:nvPr/>
          </p:nvSpPr>
          <p:spPr>
            <a:xfrm>
              <a:off x="618" y="3114"/>
              <a:ext cx="1426" cy="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4π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/ T 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617" y="3370"/>
              <a:ext cx="1392" cy="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2391" y="2873"/>
              <a:ext cx="1434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mv</a:t>
              </a:r>
              <a:r>
                <a:rPr baseline="30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-25000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8"/>
            <p:cNvSpPr/>
            <p:nvPr/>
          </p:nvSpPr>
          <p:spPr>
            <a:xfrm>
              <a:off x="2401" y="3112"/>
              <a:ext cx="1618" cy="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4π</a:t>
              </a:r>
              <a:r>
                <a:rPr baseline="30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2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mr / T </a:t>
              </a:r>
              <a:r>
                <a:rPr baseline="30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81" name="Google Shape;781;p38"/>
            <p:cNvSpPr/>
            <p:nvPr/>
          </p:nvSpPr>
          <p:spPr>
            <a:xfrm>
              <a:off x="2400" y="3368"/>
              <a:ext cx="1392" cy="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m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baseline="30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aseline="30000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9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velocity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∙As speed with a direction is called velocity, angular speed with a direction is called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angular velocity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∙To assign a direction to a rotation we                                  use 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hand rule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follows: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Rest the heel of your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hand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                             rotating object.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 sure your fingers are curled                                        in the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direction of rotation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Your extended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thumb points                                   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direction of the angular                                     velocity.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5103813" y="5318125"/>
            <a:ext cx="3343275" cy="15398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   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velocity always points perpendicular to the plane of motion!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789" name="Google Shape;789;p39"/>
          <p:cNvGrpSpPr/>
          <p:nvPr/>
        </p:nvGrpSpPr>
        <p:grpSpPr>
          <a:xfrm>
            <a:off x="833438" y="2009775"/>
            <a:ext cx="7464425" cy="461963"/>
            <a:chOff x="525" y="2291"/>
            <a:chExt cx="4702" cy="291"/>
          </a:xfrm>
        </p:grpSpPr>
        <p:sp>
          <p:nvSpPr>
            <p:cNvPr id="790" name="Google Shape;790;p39"/>
            <p:cNvSpPr/>
            <p:nvPr/>
          </p:nvSpPr>
          <p:spPr>
            <a:xfrm>
              <a:off x="528" y="2304"/>
              <a:ext cx="2166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2π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2π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 = θ / t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9"/>
            <p:cNvSpPr txBox="1"/>
            <p:nvPr/>
          </p:nvSpPr>
          <p:spPr>
            <a:xfrm>
              <a:off x="2685" y="2291"/>
              <a:ext cx="2542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ω,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525" y="2293"/>
              <a:ext cx="4701" cy="28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1665" y="2305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39"/>
          <p:cNvGrpSpPr/>
          <p:nvPr/>
        </p:nvGrpSpPr>
        <p:grpSpPr>
          <a:xfrm>
            <a:off x="7216775" y="3117850"/>
            <a:ext cx="1770063" cy="1768475"/>
            <a:chOff x="1933" y="2380"/>
            <a:chExt cx="1182" cy="1182"/>
          </a:xfrm>
        </p:grpSpPr>
        <p:sp>
          <p:nvSpPr>
            <p:cNvPr id="795" name="Google Shape;795;p39"/>
            <p:cNvSpPr/>
            <p:nvPr/>
          </p:nvSpPr>
          <p:spPr>
            <a:xfrm>
              <a:off x="1933" y="2380"/>
              <a:ext cx="1182" cy="118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2978" y="2911"/>
              <a:ext cx="128" cy="129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100000">
                  <a:srgbClr val="5A5A5A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" name="Google Shape;797;p39"/>
            <p:cNvCxnSpPr/>
            <p:nvPr/>
          </p:nvCxnSpPr>
          <p:spPr>
            <a:xfrm>
              <a:off x="2516" y="2971"/>
              <a:ext cx="531" cy="0"/>
            </a:xfrm>
            <a:prstGeom prst="straightConnector1">
              <a:avLst/>
            </a:prstGeom>
            <a:noFill/>
            <a:ln cap="flat" cmpd="sng" w="38100">
              <a:solidFill>
                <a:srgbClr val="00206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798" name="Google Shape;798;p39"/>
            <p:cNvGrpSpPr/>
            <p:nvPr/>
          </p:nvGrpSpPr>
          <p:grpSpPr>
            <a:xfrm>
              <a:off x="2464" y="2926"/>
              <a:ext cx="114" cy="106"/>
              <a:chOff x="789" y="2403"/>
              <a:chExt cx="114" cy="106"/>
            </a:xfrm>
          </p:grpSpPr>
          <p:cxnSp>
            <p:nvCxnSpPr>
              <p:cNvPr id="799" name="Google Shape;799;p39"/>
              <p:cNvCxnSpPr/>
              <p:nvPr/>
            </p:nvCxnSpPr>
            <p:spPr>
              <a:xfrm>
                <a:off x="796" y="2403"/>
                <a:ext cx="107" cy="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39"/>
              <p:cNvCxnSpPr/>
              <p:nvPr/>
            </p:nvCxnSpPr>
            <p:spPr>
              <a:xfrm flipH="1">
                <a:off x="789" y="2403"/>
                <a:ext cx="114" cy="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01" name="Google Shape;801;p39"/>
            <p:cNvSpPr/>
            <p:nvPr/>
          </p:nvSpPr>
          <p:spPr>
            <a:xfrm>
              <a:off x="2683" y="2880"/>
              <a:ext cx="189" cy="1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9"/>
            <p:cNvSpPr txBox="1"/>
            <p:nvPr/>
          </p:nvSpPr>
          <p:spPr>
            <a:xfrm>
              <a:off x="2677" y="2810"/>
              <a:ext cx="204" cy="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  <p:cxnSp>
          <p:nvCxnSpPr>
            <p:cNvPr id="803" name="Google Shape;803;p39"/>
            <p:cNvCxnSpPr/>
            <p:nvPr/>
          </p:nvCxnSpPr>
          <p:spPr>
            <a:xfrm rot="10800000">
              <a:off x="3039" y="2493"/>
              <a:ext cx="0" cy="47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04" name="Google Shape;804;p39"/>
            <p:cNvSpPr txBox="1"/>
            <p:nvPr/>
          </p:nvSpPr>
          <p:spPr>
            <a:xfrm>
              <a:off x="2792" y="2476"/>
              <a:ext cx="238" cy="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  <p:pic>
        <p:nvPicPr>
          <p:cNvPr descr="right hand.JPG" id="805" name="Google Shape;80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6338" y="3513138"/>
            <a:ext cx="1150937" cy="20351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806" name="Google Shape;806;p39"/>
          <p:cNvSpPr/>
          <p:nvPr/>
        </p:nvSpPr>
        <p:spPr>
          <a:xfrm>
            <a:off x="7821613" y="3713163"/>
            <a:ext cx="633412" cy="633412"/>
          </a:xfrm>
          <a:prstGeom prst="arc">
            <a:avLst>
              <a:gd fmla="val 12490704" name="adj1"/>
              <a:gd fmla="val 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39"/>
          <p:cNvGrpSpPr/>
          <p:nvPr/>
        </p:nvGrpSpPr>
        <p:grpSpPr>
          <a:xfrm>
            <a:off x="7975607" y="4164012"/>
            <a:ext cx="396262" cy="1333859"/>
            <a:chOff x="7666891" y="4797082"/>
            <a:chExt cx="396012" cy="1333865"/>
          </a:xfrm>
        </p:grpSpPr>
        <p:sp>
          <p:nvSpPr>
            <p:cNvPr id="808" name="Google Shape;808;p39"/>
            <p:cNvSpPr txBox="1"/>
            <p:nvPr/>
          </p:nvSpPr>
          <p:spPr>
            <a:xfrm>
              <a:off x="7666891" y="5669280"/>
              <a:ext cx="396012" cy="461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D60093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endParaRPr b="1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9" name="Google Shape;809;p39"/>
            <p:cNvCxnSpPr/>
            <p:nvPr/>
          </p:nvCxnSpPr>
          <p:spPr>
            <a:xfrm flipH="1" rot="-5400000">
              <a:off x="7371499" y="5247951"/>
              <a:ext cx="957266" cy="55528"/>
            </a:xfrm>
            <a:prstGeom prst="straightConnector1">
              <a:avLst/>
            </a:prstGeom>
            <a:noFill/>
            <a:ln cap="flat" cmpd="sng" w="57150">
              <a:solidFill>
                <a:srgbClr val="D60093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/>
          <p:nvPr/>
        </p:nvSpPr>
        <p:spPr>
          <a:xfrm>
            <a:off x="685800" y="2560638"/>
            <a:ext cx="7772400" cy="42973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angular velocity                                   (in rad 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of the wheel on the shaft.                                            It is rotating at 30.0 rpm (revolutions                                              per minute).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magnitude of ω is given by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ω = (30.0 rev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s)(2π rad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3.14 rad 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direction of ω is given by the right hand rule: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	“Place heel of right hand so fingers are curled in 	 direction of rotation. Thumb gives the direction.”</a:t>
            </a:r>
            <a:endParaRPr i="1" sz="2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0"/>
          <p:cNvSpPr/>
          <p:nvPr/>
        </p:nvSpPr>
        <p:spPr>
          <a:xfrm>
            <a:off x="685800" y="1549400"/>
            <a:ext cx="7772400" cy="10112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Angular velocity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817" name="Google Shape;817;p40"/>
          <p:cNvGrpSpPr/>
          <p:nvPr/>
        </p:nvGrpSpPr>
        <p:grpSpPr>
          <a:xfrm>
            <a:off x="833438" y="2009775"/>
            <a:ext cx="7464425" cy="461963"/>
            <a:chOff x="525" y="2291"/>
            <a:chExt cx="4702" cy="291"/>
          </a:xfrm>
        </p:grpSpPr>
        <p:sp>
          <p:nvSpPr>
            <p:cNvPr id="818" name="Google Shape;818;p40"/>
            <p:cNvSpPr/>
            <p:nvPr/>
          </p:nvSpPr>
          <p:spPr>
            <a:xfrm>
              <a:off x="528" y="2304"/>
              <a:ext cx="2166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ω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2π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2π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 = θ / t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0"/>
            <p:cNvSpPr txBox="1"/>
            <p:nvPr/>
          </p:nvSpPr>
          <p:spPr>
            <a:xfrm>
              <a:off x="2685" y="2291"/>
              <a:ext cx="2542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 between ω,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525" y="2293"/>
              <a:ext cx="4701" cy="28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1665" y="2305"/>
              <a:ext cx="12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2" name="Google Shape;8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5981" y="2628461"/>
            <a:ext cx="3157538" cy="24542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823" name="Google Shape;82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5981" y="2614174"/>
            <a:ext cx="3157538" cy="24542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824" name="Google Shape;824;p40"/>
          <p:cNvSpPr/>
          <p:nvPr/>
        </p:nvSpPr>
        <p:spPr>
          <a:xfrm>
            <a:off x="5894556" y="4473136"/>
            <a:ext cx="452438" cy="44767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40"/>
          <p:cNvCxnSpPr/>
          <p:nvPr/>
        </p:nvCxnSpPr>
        <p:spPr>
          <a:xfrm flipH="1" rot="10800000">
            <a:off x="5038725" y="4856163"/>
            <a:ext cx="328613" cy="314325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40"/>
          <p:cNvCxnSpPr/>
          <p:nvPr/>
        </p:nvCxnSpPr>
        <p:spPr>
          <a:xfrm flipH="1" rot="10800000">
            <a:off x="2413000" y="4878388"/>
            <a:ext cx="457200" cy="2921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1"/>
          <p:cNvSpPr/>
          <p:nvPr/>
        </p:nvSpPr>
        <p:spPr>
          <a:xfrm>
            <a:off x="674688" y="1970088"/>
            <a:ext cx="7781925" cy="48879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at least five forces that are centripetal in nature: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tension force (Mr. W the physics cat).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friction force (the race car making the turn).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gravitational force (the moon and the earth).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electric force (an electron orbiting a nucleus).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magnetic force (a moving charge in a B-field).</a:t>
            </a:r>
            <a:endParaRPr/>
          </a:p>
        </p:txBody>
      </p:sp>
      <p:sp>
        <p:nvSpPr>
          <p:cNvPr id="832" name="Google Shape;832;p41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the forces providing centripetal forces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833" name="Google Shape;833;p4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834" name="Google Shape;834;p41"/>
          <p:cNvGrpSpPr/>
          <p:nvPr/>
        </p:nvGrpSpPr>
        <p:grpSpPr>
          <a:xfrm>
            <a:off x="965200" y="5851525"/>
            <a:ext cx="1335088" cy="1006475"/>
            <a:chOff x="1542" y="2991"/>
            <a:chExt cx="1621" cy="1233"/>
          </a:xfrm>
        </p:grpSpPr>
        <p:pic>
          <p:nvPicPr>
            <p:cNvPr id="835" name="Google Shape;83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42" y="3594"/>
              <a:ext cx="1620" cy="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3" y="2991"/>
              <a:ext cx="1620" cy="6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7" name="Google Shape;83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5575" y="5975350"/>
            <a:ext cx="1385888" cy="74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302490000[1]" id="838" name="Google Shape;83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8575" y="5278438"/>
            <a:ext cx="1250950" cy="112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rth view-white background" id="839" name="Google Shape;83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0" y="5562600"/>
            <a:ext cx="1081088" cy="104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7100" y="5341938"/>
            <a:ext cx="180975" cy="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1"/>
          <p:cNvSpPr/>
          <p:nvPr/>
        </p:nvSpPr>
        <p:spPr>
          <a:xfrm>
            <a:off x="5684838" y="5591175"/>
            <a:ext cx="1103312" cy="10318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1"/>
          <p:cNvSpPr/>
          <p:nvPr/>
        </p:nvSpPr>
        <p:spPr>
          <a:xfrm>
            <a:off x="6154738" y="6088063"/>
            <a:ext cx="134937" cy="134937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1"/>
          <p:cNvSpPr/>
          <p:nvPr/>
        </p:nvSpPr>
        <p:spPr>
          <a:xfrm>
            <a:off x="6408738" y="6550025"/>
            <a:ext cx="63500" cy="63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1"/>
          <p:cNvSpPr/>
          <p:nvPr/>
        </p:nvSpPr>
        <p:spPr>
          <a:xfrm>
            <a:off x="5856288" y="5735638"/>
            <a:ext cx="762000" cy="760412"/>
          </a:xfrm>
          <a:prstGeom prst="ellipse">
            <a:avLst/>
          </a:prstGeom>
          <a:solidFill>
            <a:srgbClr val="DDDDDD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5" name="Google Shape;845;p41"/>
          <p:cNvGrpSpPr/>
          <p:nvPr/>
        </p:nvGrpSpPr>
        <p:grpSpPr>
          <a:xfrm>
            <a:off x="7153275" y="5378450"/>
            <a:ext cx="1727200" cy="1549400"/>
            <a:chOff x="2798" y="1214"/>
            <a:chExt cx="2962" cy="2655"/>
          </a:xfrm>
        </p:grpSpPr>
        <p:sp>
          <p:nvSpPr>
            <p:cNvPr id="846" name="Google Shape;846;p41"/>
            <p:cNvSpPr/>
            <p:nvPr/>
          </p:nvSpPr>
          <p:spPr>
            <a:xfrm>
              <a:off x="2933" y="1220"/>
              <a:ext cx="2827" cy="23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7" name="Google Shape;847;p4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98" y="1214"/>
              <a:ext cx="2962" cy="2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8" name="Google Shape;848;p41"/>
          <p:cNvSpPr/>
          <p:nvPr/>
        </p:nvSpPr>
        <p:spPr>
          <a:xfrm>
            <a:off x="7451725" y="6662738"/>
            <a:ext cx="44450" cy="460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8559800" y="6042025"/>
            <a:ext cx="93663" cy="130175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0232898[1]" id="850" name="Google Shape;850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1931988" y="5360988"/>
            <a:ext cx="730250" cy="149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2"/>
          <p:cNvSpPr/>
          <p:nvPr/>
        </p:nvSpPr>
        <p:spPr>
          <a:xfrm>
            <a:off x="674688" y="1970088"/>
            <a:ext cx="7781925" cy="48879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Dobson is watching a 16-pound bowling ball being swung around at 50 m/s by Arnold. If the string is cut at the instant the ball is next to the ice cream, what will the ball do?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It will follow path A and strike Dobson's ice cream.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It will fly outward along curve path B.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It will fly tangent to the original circular path along C.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2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925" y="5705475"/>
            <a:ext cx="257175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2"/>
          <p:cNvSpPr/>
          <p:nvPr/>
        </p:nvSpPr>
        <p:spPr>
          <a:xfrm>
            <a:off x="227013" y="5108575"/>
            <a:ext cx="6196012" cy="962025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j0232898[1]" id="860" name="Google Shape;8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850063" y="4867275"/>
            <a:ext cx="911225" cy="1863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1" name="Google Shape;861;p42"/>
          <p:cNvGrpSpPr/>
          <p:nvPr/>
        </p:nvGrpSpPr>
        <p:grpSpPr>
          <a:xfrm>
            <a:off x="6424613" y="5602288"/>
            <a:ext cx="2428875" cy="1204912"/>
            <a:chOff x="3751" y="2908"/>
            <a:chExt cx="1530" cy="759"/>
          </a:xfrm>
        </p:grpSpPr>
        <p:sp>
          <p:nvSpPr>
            <p:cNvPr id="862" name="Google Shape;862;p42"/>
            <p:cNvSpPr/>
            <p:nvPr/>
          </p:nvSpPr>
          <p:spPr>
            <a:xfrm>
              <a:off x="3751" y="2908"/>
              <a:ext cx="1363" cy="759"/>
            </a:xfrm>
            <a:custGeom>
              <a:rect b="b" l="l" r="r" t="t"/>
              <a:pathLst>
                <a:path extrusionOk="0" h="759" w="1363">
                  <a:moveTo>
                    <a:pt x="0" y="0"/>
                  </a:moveTo>
                  <a:cubicBezTo>
                    <a:pt x="202" y="7"/>
                    <a:pt x="404" y="15"/>
                    <a:pt x="576" y="84"/>
                  </a:cubicBezTo>
                  <a:cubicBezTo>
                    <a:pt x="748" y="153"/>
                    <a:pt x="902" y="302"/>
                    <a:pt x="1033" y="415"/>
                  </a:cubicBezTo>
                  <a:cubicBezTo>
                    <a:pt x="1164" y="528"/>
                    <a:pt x="1263" y="643"/>
                    <a:pt x="1363" y="75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63" name="Google Shape;863;p42"/>
            <p:cNvSpPr txBox="1"/>
            <p:nvPr/>
          </p:nvSpPr>
          <p:spPr>
            <a:xfrm>
              <a:off x="5069" y="3428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/>
            </a:p>
          </p:txBody>
        </p:sp>
      </p:grpSp>
      <p:grpSp>
        <p:nvGrpSpPr>
          <p:cNvPr id="864" name="Google Shape;864;p42"/>
          <p:cNvGrpSpPr/>
          <p:nvPr/>
        </p:nvGrpSpPr>
        <p:grpSpPr>
          <a:xfrm>
            <a:off x="6435725" y="5122863"/>
            <a:ext cx="1811338" cy="469900"/>
            <a:chOff x="3758" y="3155"/>
            <a:chExt cx="1141" cy="296"/>
          </a:xfrm>
        </p:grpSpPr>
        <p:cxnSp>
          <p:nvCxnSpPr>
            <p:cNvPr id="865" name="Google Shape;865;p42"/>
            <p:cNvCxnSpPr/>
            <p:nvPr/>
          </p:nvCxnSpPr>
          <p:spPr>
            <a:xfrm flipH="1" rot="10800000">
              <a:off x="3758" y="3296"/>
              <a:ext cx="929" cy="155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66" name="Google Shape;866;p42"/>
            <p:cNvSpPr txBox="1"/>
            <p:nvPr/>
          </p:nvSpPr>
          <p:spPr>
            <a:xfrm>
              <a:off x="4687" y="3155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/>
            </a:p>
          </p:txBody>
        </p:sp>
      </p:grpSp>
      <p:pic>
        <p:nvPicPr>
          <p:cNvPr descr="MC900437067[1]" id="867" name="Google Shape;86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8788" y="4754563"/>
            <a:ext cx="717550" cy="71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42"/>
          <p:cNvGrpSpPr/>
          <p:nvPr/>
        </p:nvGrpSpPr>
        <p:grpSpPr>
          <a:xfrm>
            <a:off x="6405563" y="5611813"/>
            <a:ext cx="449262" cy="966787"/>
            <a:chOff x="3778" y="3462"/>
            <a:chExt cx="283" cy="609"/>
          </a:xfrm>
        </p:grpSpPr>
        <p:cxnSp>
          <p:nvCxnSpPr>
            <p:cNvPr id="869" name="Google Shape;869;p42"/>
            <p:cNvCxnSpPr/>
            <p:nvPr/>
          </p:nvCxnSpPr>
          <p:spPr>
            <a:xfrm>
              <a:off x="3795" y="3462"/>
              <a:ext cx="266" cy="609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70" name="Google Shape;870;p42"/>
            <p:cNvSpPr txBox="1"/>
            <p:nvPr/>
          </p:nvSpPr>
          <p:spPr>
            <a:xfrm>
              <a:off x="3778" y="3787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/>
            </a:p>
          </p:txBody>
        </p:sp>
      </p:grpSp>
      <p:sp>
        <p:nvSpPr>
          <p:cNvPr id="871" name="Google Shape;871;p42"/>
          <p:cNvSpPr/>
          <p:nvPr/>
        </p:nvSpPr>
        <p:spPr>
          <a:xfrm>
            <a:off x="723900" y="4425950"/>
            <a:ext cx="444500" cy="444500"/>
          </a:xfrm>
          <a:prstGeom prst="ellipse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2" name="Google Shape;87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9513" y="4748213"/>
            <a:ext cx="2571750" cy="96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e Nordseite vom Weg zum Basislager aus gesehen" id="877" name="Google Shape;877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2857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43"/>
          <p:cNvSpPr/>
          <p:nvPr/>
        </p:nvSpPr>
        <p:spPr>
          <a:xfrm>
            <a:off x="674688" y="1970088"/>
            <a:ext cx="7781925" cy="48879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0.500-kg baseball is placed in a circular orbit around the earth at slightly higher that the tallest point, Mount Everest (8850 m). Given that the earth has a radius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6400000 m, find the speed of the ball.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The ball is traveling in a circle                       of radius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6408850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caused by the weight of the ball so                          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(0.5)(10) = 5 N.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5 = (0.5)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6408850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8000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3"/>
          <p:cNvSpPr/>
          <p:nvPr/>
        </p:nvSpPr>
        <p:spPr>
          <a:xfrm>
            <a:off x="685800" y="1549400"/>
            <a:ext cx="7772400" cy="4270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Earth view-white background" id="881" name="Google Shape;88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4279900"/>
            <a:ext cx="2117725" cy="204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4100" y="3854450"/>
            <a:ext cx="354013" cy="3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3"/>
          <p:cNvSpPr/>
          <p:nvPr/>
        </p:nvSpPr>
        <p:spPr>
          <a:xfrm>
            <a:off x="6178550" y="179388"/>
            <a:ext cx="84138" cy="8413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e Nordseite vom Weg zum Basislager aus gesehen" id="888" name="Google Shape;888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2857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4"/>
          <p:cNvSpPr/>
          <p:nvPr/>
        </p:nvSpPr>
        <p:spPr>
          <a:xfrm>
            <a:off x="674688" y="1957388"/>
            <a:ext cx="7781925" cy="49006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0.500-kg baseball is placed in a circular orbit around the earth at slightly higher that the tallest point, Mount Everest (8850 m). How long will it take the ball to return to Everest?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We want to find the period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know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8000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also know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6408850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have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2π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/ v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2π(6408850)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8000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(5030 s)(1 h / 3600 s) = 1.40 h.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4"/>
          <p:cNvSpPr/>
          <p:nvPr/>
        </p:nvSpPr>
        <p:spPr>
          <a:xfrm>
            <a:off x="685800" y="1549400"/>
            <a:ext cx="7772400" cy="4381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Earth view-white background" id="892" name="Google Shape;89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4279900"/>
            <a:ext cx="2117725" cy="204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4100" y="3854450"/>
            <a:ext cx="354013" cy="3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44"/>
          <p:cNvSpPr/>
          <p:nvPr/>
        </p:nvSpPr>
        <p:spPr>
          <a:xfrm>
            <a:off x="6178550" y="179388"/>
            <a:ext cx="84138" cy="8413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5"/>
          <p:cNvSpPr/>
          <p:nvPr/>
        </p:nvSpPr>
        <p:spPr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Explain how an object can remain in orbit yet always be falling.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∙Throw the ball at progressively larger speeds.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all instances the force of gravity will draw                    the ball toward the center of the earth.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∙When the ball is finally thrown at a                                 great enough speed, the curvature of                              the ball’s path will match the curvature                              of the earth’s surface.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ball is effectively falling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around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the earth!</a:t>
            </a:r>
            <a:endParaRPr/>
          </a:p>
        </p:txBody>
      </p:sp>
      <p:sp>
        <p:nvSpPr>
          <p:cNvPr id="900" name="Google Shape;900;p45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Earth view-white background" id="902" name="Google Shape;902;p45"/>
          <p:cNvPicPr preferRelativeResize="0"/>
          <p:nvPr/>
        </p:nvPicPr>
        <p:blipFill rotWithShape="1">
          <a:blip r:embed="rId3">
            <a:alphaModFix/>
          </a:blip>
          <a:srcRect b="20631" l="0" r="34622" t="0"/>
          <a:stretch/>
        </p:blipFill>
        <p:spPr>
          <a:xfrm>
            <a:off x="6191250" y="3389313"/>
            <a:ext cx="2952750" cy="34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913" y="2865438"/>
            <a:ext cx="303212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8500" y="2854325"/>
            <a:ext cx="303213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975" y="2859088"/>
            <a:ext cx="303213" cy="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6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12" name="Google Shape;912;p46"/>
          <p:cNvSpPr/>
          <p:nvPr/>
        </p:nvSpPr>
        <p:spPr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angular speed of the minute                  hand of a clock, and the rotation of the earth in                         one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minute hand takes 1 hour to go around one time. Thus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3600 s = 0.00175 rad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earth takes 24 h for each revolution so that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ω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( 2π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 h )( 1 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3600 s 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0.0000727 rad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small angular speed is why we can’t really feel the earth as it spins.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mail.colonial.net/~hkaiter/aa_newest_images/spineart.gif" id="913" name="Google Shape;9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2538" y="2060575"/>
            <a:ext cx="1541462" cy="15430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7"/>
          <p:cNvSpPr/>
          <p:nvPr/>
        </p:nvSpPr>
        <p:spPr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Foucault pendulum is                               a heavy pendulum on a very long                                  cable that is set in oscillation over a                              round reference table. Explain how it                               can be used to tell time.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blue arcs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 the motion                                    of the pendulum bob relative to the                             universe at large.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the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 lines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 the                                plane of motion of the pendulum                                  relative to the building.</a:t>
            </a:r>
            <a:endParaRPr/>
          </a:p>
        </p:txBody>
      </p:sp>
      <p:sp>
        <p:nvSpPr>
          <p:cNvPr id="919" name="Google Shape;919;p47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50px-Foucault-rotz" id="921" name="Google Shape;921;p4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4435475"/>
            <a:ext cx="3219450" cy="2420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20px-Pendule_de_Foucault" id="922" name="Google Shape;92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7725" y="2009775"/>
            <a:ext cx="3216275" cy="241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20px-P%C3%A9ndulo_de_Foucault-20110815-125224-2191-1000d-a2b2" id="923" name="Google Shape;923;p47"/>
          <p:cNvPicPr preferRelativeResize="0"/>
          <p:nvPr/>
        </p:nvPicPr>
        <p:blipFill rotWithShape="1">
          <a:blip r:embed="rId6">
            <a:alphaModFix/>
          </a:blip>
          <a:srcRect b="0" l="0" r="31345" t="0"/>
          <a:stretch/>
        </p:blipFill>
        <p:spPr>
          <a:xfrm>
            <a:off x="6842125" y="2006600"/>
            <a:ext cx="2301875" cy="242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0px-Int%C3%A9rieur_du_Panth%C3%A9on" id="924" name="Google Shape;924;p47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1666" l="0" r="0" t="13777"/>
          <a:stretch/>
        </p:blipFill>
        <p:spPr>
          <a:xfrm>
            <a:off x="5935663" y="2012950"/>
            <a:ext cx="1901825" cy="2411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8"/>
          <p:cNvSpPr/>
          <p:nvPr/>
        </p:nvSpPr>
        <p:spPr>
          <a:xfrm>
            <a:off x="674688" y="5907088"/>
            <a:ext cx="7772400" cy="95091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solution only works when the pendulum is at one of the poles. See the Wiki for a general solution. 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674688" y="1993900"/>
            <a:ext cx="7781925" cy="39274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Foucault pendulum is                               a heavy pendulum on a very long                                  cable that is set in oscillation over a                              round reference table. Explain how it                               can be used to tell time.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the building is rotating with the earth at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0.0000727 rad 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each hour the green line rotates by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θ = ω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0.0000727(3600)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= 0.262 rad (360°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2π rad) = 15.0°.</a:t>
            </a:r>
            <a:endParaRPr/>
          </a:p>
        </p:txBody>
      </p:sp>
      <p:sp>
        <p:nvSpPr>
          <p:cNvPr id="931" name="Google Shape;931;p48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8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50px-Foucault-rotz" id="933" name="Google Shape;933;p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0925" y="2005013"/>
            <a:ext cx="3013075" cy="226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9"/>
          <p:cNvSpPr/>
          <p:nvPr/>
        </p:nvSpPr>
        <p:spPr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Find the apparent weight of                        someone standing on an equatorial scale                               if his weight is 882 N at the north pole.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Recall that ω = 0.0000727                                     rad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the earth.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blue arcs represent the lines of                                 latitude.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white line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the earth’s radius.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yellow line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the radius of the circle a point at a latitude of θ follows.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cos θ, and that at the equator, θ = 0˚ and at the pole, θ = 90˚.</a:t>
            </a:r>
            <a:endParaRPr/>
          </a:p>
        </p:txBody>
      </p:sp>
      <p:sp>
        <p:nvSpPr>
          <p:cNvPr id="939" name="Google Shape;939;p49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http://mail.colonial.net/~hkaiter/aa_newest_images/spineart.gif" id="941" name="Google Shape;94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0" y="2330450"/>
            <a:ext cx="2452688" cy="24526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942" name="Google Shape;942;p49"/>
          <p:cNvCxnSpPr/>
          <p:nvPr/>
        </p:nvCxnSpPr>
        <p:spPr>
          <a:xfrm rot="-5400000">
            <a:off x="7090569" y="3032919"/>
            <a:ext cx="1001712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43" name="Google Shape;943;p49"/>
          <p:cNvCxnSpPr/>
          <p:nvPr/>
        </p:nvCxnSpPr>
        <p:spPr>
          <a:xfrm flipH="1" rot="10800000">
            <a:off x="7596188" y="3516313"/>
            <a:ext cx="1492250" cy="285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944" name="Google Shape;944;p49"/>
          <p:cNvCxnSpPr>
            <a:endCxn id="945" idx="2"/>
          </p:cNvCxnSpPr>
          <p:nvPr/>
        </p:nvCxnSpPr>
        <p:spPr>
          <a:xfrm flipH="1" rot="10800000">
            <a:off x="7589825" y="2868613"/>
            <a:ext cx="1017600" cy="676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46" name="Google Shape;946;p49"/>
          <p:cNvSpPr/>
          <p:nvPr/>
        </p:nvSpPr>
        <p:spPr>
          <a:xfrm flipH="1" rot="10800000">
            <a:off x="7032625" y="2238375"/>
            <a:ext cx="1141413" cy="488950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9"/>
          <p:cNvSpPr/>
          <p:nvPr/>
        </p:nvSpPr>
        <p:spPr>
          <a:xfrm flipH="1" rot="10800000">
            <a:off x="6562725" y="2430463"/>
            <a:ext cx="2044700" cy="876300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9"/>
          <p:cNvSpPr/>
          <p:nvPr/>
        </p:nvSpPr>
        <p:spPr>
          <a:xfrm flipH="1" rot="10800000">
            <a:off x="6357938" y="2997200"/>
            <a:ext cx="2457450" cy="1025525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9"/>
          <p:cNvSpPr txBox="1"/>
          <p:nvPr/>
        </p:nvSpPr>
        <p:spPr>
          <a:xfrm>
            <a:off x="7962900" y="3136900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9" name="Google Shape;949;p49"/>
          <p:cNvCxnSpPr/>
          <p:nvPr/>
        </p:nvCxnSpPr>
        <p:spPr>
          <a:xfrm>
            <a:off x="7594600" y="2889250"/>
            <a:ext cx="1001713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50" name="Google Shape;950;p49"/>
          <p:cNvSpPr txBox="1"/>
          <p:nvPr/>
        </p:nvSpPr>
        <p:spPr>
          <a:xfrm>
            <a:off x="7721600" y="288131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9"/>
          <p:cNvSpPr/>
          <p:nvPr/>
        </p:nvSpPr>
        <p:spPr>
          <a:xfrm>
            <a:off x="7540625" y="2419350"/>
            <a:ext cx="112713" cy="69850"/>
          </a:xfrm>
          <a:prstGeom prst="ellipse">
            <a:avLst/>
          </a:prstGeom>
          <a:solidFill>
            <a:srgbClr val="33CCFF"/>
          </a:solidFill>
          <a:ln cap="flat" cmpd="sng" w="254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p49"/>
          <p:cNvCxnSpPr/>
          <p:nvPr/>
        </p:nvCxnSpPr>
        <p:spPr>
          <a:xfrm rot="-5400000">
            <a:off x="7384256" y="2231232"/>
            <a:ext cx="417513" cy="63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53" name="Google Shape;953;p49"/>
          <p:cNvSpPr txBox="1"/>
          <p:nvPr/>
        </p:nvSpPr>
        <p:spPr>
          <a:xfrm>
            <a:off x="7958138" y="2513013"/>
            <a:ext cx="2872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9"/>
          <p:cNvSpPr txBox="1"/>
          <p:nvPr/>
        </p:nvSpPr>
        <p:spPr>
          <a:xfrm>
            <a:off x="7721600" y="1784350"/>
            <a:ext cx="3962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9"/>
          <p:cNvSpPr txBox="1"/>
          <p:nvPr/>
        </p:nvSpPr>
        <p:spPr>
          <a:xfrm>
            <a:off x="5945188" y="3244850"/>
            <a:ext cx="4587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0˚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9"/>
          <p:cNvSpPr txBox="1"/>
          <p:nvPr/>
        </p:nvSpPr>
        <p:spPr>
          <a:xfrm>
            <a:off x="6927850" y="1906588"/>
            <a:ext cx="6303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90˚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9"/>
          <p:cNvSpPr txBox="1"/>
          <p:nvPr/>
        </p:nvSpPr>
        <p:spPr>
          <a:xfrm>
            <a:off x="7974013" y="2782888"/>
            <a:ext cx="3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0"/>
          <p:cNvSpPr/>
          <p:nvPr/>
        </p:nvSpPr>
        <p:spPr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Find the apparent weight of                        someone standing on an equatorial scale                               if his weight is 882 N at the north pole.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Recall that ω = 0.0000727                                     rad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the earth.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∙Thus, at the equator,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at the                                     pole,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 Furthermore,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6400000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∙Then, at the equator,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ω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6400000× 0.0000727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0.0338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∙Then, at the pole,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ω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0× 0.0000727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0.000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0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http://mail.colonial.net/~hkaiter/aa_newest_images/spineart.gif" id="965" name="Google Shape;96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0" y="2330450"/>
            <a:ext cx="2452688" cy="24526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966" name="Google Shape;966;p50"/>
          <p:cNvCxnSpPr/>
          <p:nvPr/>
        </p:nvCxnSpPr>
        <p:spPr>
          <a:xfrm rot="-5400000">
            <a:off x="7090569" y="3032919"/>
            <a:ext cx="1001712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7" name="Google Shape;967;p50"/>
          <p:cNvCxnSpPr/>
          <p:nvPr/>
        </p:nvCxnSpPr>
        <p:spPr>
          <a:xfrm flipH="1" rot="10800000">
            <a:off x="7596188" y="3516313"/>
            <a:ext cx="1492250" cy="285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968" name="Google Shape;968;p50"/>
          <p:cNvCxnSpPr>
            <a:endCxn id="969" idx="2"/>
          </p:cNvCxnSpPr>
          <p:nvPr/>
        </p:nvCxnSpPr>
        <p:spPr>
          <a:xfrm flipH="1" rot="10800000">
            <a:off x="7589825" y="2868613"/>
            <a:ext cx="1017600" cy="676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0" name="Google Shape;970;p50"/>
          <p:cNvSpPr/>
          <p:nvPr/>
        </p:nvSpPr>
        <p:spPr>
          <a:xfrm flipH="1" rot="10800000">
            <a:off x="7032625" y="2238375"/>
            <a:ext cx="1141413" cy="488950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0"/>
          <p:cNvSpPr/>
          <p:nvPr/>
        </p:nvSpPr>
        <p:spPr>
          <a:xfrm flipH="1" rot="10800000">
            <a:off x="6562725" y="2430463"/>
            <a:ext cx="2044700" cy="876300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0"/>
          <p:cNvSpPr/>
          <p:nvPr/>
        </p:nvSpPr>
        <p:spPr>
          <a:xfrm flipH="1" rot="10800000">
            <a:off x="6357938" y="2997200"/>
            <a:ext cx="2457450" cy="1025525"/>
          </a:xfrm>
          <a:prstGeom prst="arc">
            <a:avLst>
              <a:gd fmla="val 10850545" name="adj1"/>
              <a:gd fmla="val 0" name="adj2"/>
            </a:avLst>
          </a:prstGeom>
          <a:noFill/>
          <a:ln cap="flat" cmpd="sng" w="381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0"/>
          <p:cNvSpPr txBox="1"/>
          <p:nvPr/>
        </p:nvSpPr>
        <p:spPr>
          <a:xfrm>
            <a:off x="7962900" y="3136900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50"/>
          <p:cNvCxnSpPr/>
          <p:nvPr/>
        </p:nvCxnSpPr>
        <p:spPr>
          <a:xfrm>
            <a:off x="7594600" y="2889250"/>
            <a:ext cx="1001713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4" name="Google Shape;974;p50"/>
          <p:cNvSpPr txBox="1"/>
          <p:nvPr/>
        </p:nvSpPr>
        <p:spPr>
          <a:xfrm>
            <a:off x="7721600" y="288131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0"/>
          <p:cNvSpPr/>
          <p:nvPr/>
        </p:nvSpPr>
        <p:spPr>
          <a:xfrm>
            <a:off x="7540625" y="2419350"/>
            <a:ext cx="112713" cy="69850"/>
          </a:xfrm>
          <a:prstGeom prst="ellipse">
            <a:avLst/>
          </a:prstGeom>
          <a:solidFill>
            <a:srgbClr val="33CCFF"/>
          </a:solidFill>
          <a:ln cap="flat" cmpd="sng" w="25400">
            <a:solidFill>
              <a:srgbClr val="33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50"/>
          <p:cNvCxnSpPr/>
          <p:nvPr/>
        </p:nvCxnSpPr>
        <p:spPr>
          <a:xfrm rot="-5400000">
            <a:off x="7384256" y="2231232"/>
            <a:ext cx="417513" cy="63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77" name="Google Shape;977;p50"/>
          <p:cNvSpPr txBox="1"/>
          <p:nvPr/>
        </p:nvSpPr>
        <p:spPr>
          <a:xfrm>
            <a:off x="7958138" y="2513013"/>
            <a:ext cx="2872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0"/>
          <p:cNvSpPr txBox="1"/>
          <p:nvPr/>
        </p:nvSpPr>
        <p:spPr>
          <a:xfrm>
            <a:off x="7721600" y="1784350"/>
            <a:ext cx="3962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0"/>
          <p:cNvSpPr txBox="1"/>
          <p:nvPr/>
        </p:nvSpPr>
        <p:spPr>
          <a:xfrm>
            <a:off x="7974013" y="2782888"/>
            <a:ext cx="3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1"/>
          <p:cNvSpPr/>
          <p:nvPr/>
        </p:nvSpPr>
        <p:spPr>
          <a:xfrm>
            <a:off x="674688" y="1993900"/>
            <a:ext cx="7781925" cy="48641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Find the apparent weight of                        someone standing on an equatorial scale                               if his weight is 882 N at the north pole.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Make a free-body                                            diagram at the equator…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∙Scales read the normal force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Σ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∙Then,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882 – ( 882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9.8 ) × 0.0338 = 879 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man has apparently “lost” about 3 N!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1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A.2.3 – Circular motion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https://encrypted-tbn0.gstatic.com/images?q=tbn:ANd9GcQu6fMLEr1OoZLnhTqb4aXpKuNlM4fD6oVArqEAMdjW7_xgxkpzDw" id="987" name="Google Shape;987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0588" y="2147888"/>
            <a:ext cx="1684337" cy="29940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988" name="Google Shape;988;p51"/>
          <p:cNvGrpSpPr/>
          <p:nvPr/>
        </p:nvGrpSpPr>
        <p:grpSpPr>
          <a:xfrm>
            <a:off x="5570539" y="2984194"/>
            <a:ext cx="900112" cy="492438"/>
            <a:chOff x="5739624" y="2984777"/>
            <a:chExt cx="900331" cy="492119"/>
          </a:xfrm>
        </p:grpSpPr>
        <p:cxnSp>
          <p:nvCxnSpPr>
            <p:cNvPr id="989" name="Google Shape;989;p51"/>
            <p:cNvCxnSpPr/>
            <p:nvPr/>
          </p:nvCxnSpPr>
          <p:spPr>
            <a:xfrm rot="10800000">
              <a:off x="5739624" y="3475310"/>
              <a:ext cx="900331" cy="158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0" name="Google Shape;990;p51"/>
            <p:cNvSpPr txBox="1"/>
            <p:nvPr/>
          </p:nvSpPr>
          <p:spPr>
            <a:xfrm>
              <a:off x="6060831" y="2984777"/>
              <a:ext cx="497373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1" name="Google Shape;991;p51"/>
          <p:cNvGrpSpPr/>
          <p:nvPr/>
        </p:nvGrpSpPr>
        <p:grpSpPr>
          <a:xfrm>
            <a:off x="6456361" y="2982618"/>
            <a:ext cx="653307" cy="492433"/>
            <a:chOff x="6625883" y="2982438"/>
            <a:chExt cx="653336" cy="492114"/>
          </a:xfrm>
        </p:grpSpPr>
        <p:cxnSp>
          <p:nvCxnSpPr>
            <p:cNvPr id="992" name="Google Shape;992;p51"/>
            <p:cNvCxnSpPr/>
            <p:nvPr/>
          </p:nvCxnSpPr>
          <p:spPr>
            <a:xfrm>
              <a:off x="6625883" y="3474552"/>
              <a:ext cx="653336" cy="0"/>
            </a:xfrm>
            <a:prstGeom prst="straightConnector1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3" name="Google Shape;993;p51"/>
            <p:cNvSpPr txBox="1"/>
            <p:nvPr/>
          </p:nvSpPr>
          <p:spPr>
            <a:xfrm>
              <a:off x="6694502" y="2982438"/>
              <a:ext cx="519717" cy="461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994" name="Google Shape;994;p51"/>
          <p:cNvGrpSpPr/>
          <p:nvPr/>
        </p:nvGrpSpPr>
        <p:grpSpPr>
          <a:xfrm>
            <a:off x="5722940" y="3735390"/>
            <a:ext cx="606080" cy="461665"/>
            <a:chOff x="5892025" y="3734969"/>
            <a:chExt cx="605635" cy="461368"/>
          </a:xfrm>
        </p:grpSpPr>
        <p:cxnSp>
          <p:nvCxnSpPr>
            <p:cNvPr id="995" name="Google Shape;995;p51"/>
            <p:cNvCxnSpPr/>
            <p:nvPr/>
          </p:nvCxnSpPr>
          <p:spPr>
            <a:xfrm rot="10800000">
              <a:off x="5892025" y="3795255"/>
              <a:ext cx="536181" cy="1586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6" name="Google Shape;996;p51"/>
            <p:cNvSpPr txBox="1"/>
            <p:nvPr/>
          </p:nvSpPr>
          <p:spPr>
            <a:xfrm>
              <a:off x="6028005" y="3734969"/>
              <a:ext cx="469655" cy="461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baseline="-25000" lang="en-US" sz="24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7" name="Google Shape;997;p51"/>
          <p:cNvSpPr/>
          <p:nvPr/>
        </p:nvSpPr>
        <p:spPr>
          <a:xfrm>
            <a:off x="6386513" y="3376613"/>
            <a:ext cx="196850" cy="19685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2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2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2"/>
          <p:cNvSpPr/>
          <p:nvPr/>
        </p:nvSpPr>
        <p:spPr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05" name="Google Shape;100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25" y="2027238"/>
            <a:ext cx="77343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263" y="5251450"/>
            <a:ext cx="7724775" cy="157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2"/>
          <p:cNvSpPr txBox="1"/>
          <p:nvPr/>
        </p:nvSpPr>
        <p:spPr>
          <a:xfrm>
            <a:off x="1335088" y="5831885"/>
            <a:ext cx="76009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kx = 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r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 implies that as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increases, so does the centripetal force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needed to move it in a circle.</a:t>
            </a:r>
            <a:endParaRPr/>
          </a:p>
        </p:txBody>
      </p:sp>
      <p:sp>
        <p:nvSpPr>
          <p:cNvPr id="1008" name="Google Shape;1008;p52"/>
          <p:cNvSpPr txBox="1"/>
          <p:nvPr/>
        </p:nvSpPr>
        <p:spPr>
          <a:xfrm>
            <a:off x="1333500" y="6388100"/>
            <a:ext cx="68548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∙Thus,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increases.</a:t>
            </a:r>
            <a:endParaRPr/>
          </a:p>
        </p:txBody>
      </p:sp>
      <p:sp>
        <p:nvSpPr>
          <p:cNvPr id="1009" name="Google Shape;1009;p52"/>
          <p:cNvSpPr txBox="1"/>
          <p:nvPr/>
        </p:nvSpPr>
        <p:spPr>
          <a:xfrm>
            <a:off x="3476625" y="5567363"/>
            <a:ext cx="37766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∙Use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kx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  (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CONST).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3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3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3"/>
          <p:cNvSpPr/>
          <p:nvPr/>
        </p:nvSpPr>
        <p:spPr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17" name="Google Shape;101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25" y="2027238"/>
            <a:ext cx="77343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913" y="5130800"/>
            <a:ext cx="7754937" cy="159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53"/>
          <p:cNvSpPr txBox="1"/>
          <p:nvPr/>
        </p:nvSpPr>
        <p:spPr>
          <a:xfrm>
            <a:off x="1371600" y="5341938"/>
            <a:ext cx="72294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kx = F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 = 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0.010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1800 Nm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20" name="Google Shape;1020;p53"/>
          <p:cNvSpPr txBox="1"/>
          <p:nvPr/>
        </p:nvSpPr>
        <p:spPr>
          <a:xfrm>
            <a:off x="1379538" y="5627688"/>
            <a:ext cx="72294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kx =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1800( 0.265 – 0.250 ) = 27 N.</a:t>
            </a:r>
            <a:endParaRPr/>
          </a:p>
        </p:txBody>
      </p:sp>
      <p:sp>
        <p:nvSpPr>
          <p:cNvPr id="1021" name="Google Shape;1021;p53"/>
          <p:cNvSpPr txBox="1"/>
          <p:nvPr/>
        </p:nvSpPr>
        <p:spPr>
          <a:xfrm>
            <a:off x="1374775" y="5932488"/>
            <a:ext cx="72294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m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r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 F</a:t>
            </a:r>
            <a:r>
              <a:rPr baseline="-25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/ m = 0.265(27)/0.075 = 95.4</a:t>
            </a:r>
            <a:endParaRPr i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53"/>
          <p:cNvSpPr txBox="1"/>
          <p:nvPr/>
        </p:nvSpPr>
        <p:spPr>
          <a:xfrm>
            <a:off x="1384300" y="6235700"/>
            <a:ext cx="72294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9.8 ms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4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4"/>
          <p:cNvSpPr/>
          <p:nvPr/>
        </p:nvSpPr>
        <p:spPr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0" name="Google Shape;10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3" y="2024063"/>
            <a:ext cx="7785100" cy="394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" y="4822825"/>
            <a:ext cx="5113338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54"/>
          <p:cNvSpPr txBox="1"/>
          <p:nvPr/>
        </p:nvSpPr>
        <p:spPr>
          <a:xfrm>
            <a:off x="4643438" y="874713"/>
            <a:ext cx="37766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∙Use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ω   (ω = CONST).</a:t>
            </a:r>
            <a:endParaRPr/>
          </a:p>
        </p:txBody>
      </p:sp>
      <p:sp>
        <p:nvSpPr>
          <p:cNvPr id="1033" name="Google Shape;1033;p54"/>
          <p:cNvSpPr txBox="1"/>
          <p:nvPr/>
        </p:nvSpPr>
        <p:spPr>
          <a:xfrm>
            <a:off x="4638675" y="1187450"/>
            <a:ext cx="37766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∙Use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(ω = CONST).</a:t>
            </a:r>
            <a:endParaRPr/>
          </a:p>
        </p:txBody>
      </p:sp>
      <p:sp>
        <p:nvSpPr>
          <p:cNvPr id="1034" name="Google Shape;1034;p54"/>
          <p:cNvSpPr txBox="1"/>
          <p:nvPr/>
        </p:nvSpPr>
        <p:spPr>
          <a:xfrm>
            <a:off x="5559425" y="5546725"/>
            <a:ext cx="1490663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∙At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baseline="30000" sz="20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4"/>
          <p:cNvSpPr txBox="1"/>
          <p:nvPr/>
        </p:nvSpPr>
        <p:spPr>
          <a:xfrm>
            <a:off x="7194550" y="5546725"/>
            <a:ext cx="212725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   ∙At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ω =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i="1"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30000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i="1"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4"/>
          <p:cNvSpPr/>
          <p:nvPr/>
        </p:nvSpPr>
        <p:spPr>
          <a:xfrm>
            <a:off x="758825" y="6100763"/>
            <a:ext cx="385763" cy="38576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5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centripetal acceleration and force 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A.2.3 – Circular motion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5"/>
          <p:cNvSpPr/>
          <p:nvPr/>
        </p:nvSpPr>
        <p:spPr>
          <a:xfrm>
            <a:off x="685800" y="2011363"/>
            <a:ext cx="7772400" cy="484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44" name="Google Shape;104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12950"/>
            <a:ext cx="7772400" cy="403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55"/>
          <p:cNvSpPr txBox="1"/>
          <p:nvPr/>
        </p:nvSpPr>
        <p:spPr>
          <a:xfrm>
            <a:off x="841375" y="6011863"/>
            <a:ext cx="75914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∙Objects moving in uniform circular motion feel a centripetal (center-seeking) force.</a:t>
            </a:r>
            <a:endParaRPr sz="20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5"/>
          <p:cNvSpPr/>
          <p:nvPr/>
        </p:nvSpPr>
        <p:spPr>
          <a:xfrm>
            <a:off x="6534150" y="4138613"/>
            <a:ext cx="385763" cy="38576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
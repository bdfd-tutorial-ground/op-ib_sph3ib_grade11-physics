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9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1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5" name="Google Shape;63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8" name="Google Shape;67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9" name="Google Shape;6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1" name="Google Shape;73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2" name="Google Shape;7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9" name="Google Shape;76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0" name="Google Shape;77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9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1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5" name="Google Shape;84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8" name="Google Shape;86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9" name="Google Shape;8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2" name="Google Shape;88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3" name="Google Shape;8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2" name="Google Shape;89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3" name="Google Shape;89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2" name="Google Shape;92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3" name="Google Shape;92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6" name="Google Shape;93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7" name="Google Shape;93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6" name="Google Shape;96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7" name="Google Shape;9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4" name="Google Shape;99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5" name="Google Shape;9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2" name="Google Shape;102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3" name="Google Shape;102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0" name="Google Shape;105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1" name="Google Shape;105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8" name="Google Shape;107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9" name="Google Shape;10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4" name="Google Shape;109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5" name="Google Shape;109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2" name="Google Shape;111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3" name="Google Shape;111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4" name="Google Shape;114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5" name="Google Shape;114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1" name="Google Shape;116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2" name="Google Shape;116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1" name="Google Shape;1181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2" name="Google Shape;118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3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Relationship Id="rId4" Type="http://schemas.openxmlformats.org/officeDocument/2006/relationships/image" Target="../media/image29.jpg"/><Relationship Id="rId5" Type="http://schemas.openxmlformats.org/officeDocument/2006/relationships/image" Target="../media/image1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Relationship Id="rId8" Type="http://schemas.openxmlformats.org/officeDocument/2006/relationships/image" Target="../media/image4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Relationship Id="rId8" Type="http://schemas.openxmlformats.org/officeDocument/2006/relationships/image" Target="../media/image4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gif"/><Relationship Id="rId4" Type="http://schemas.openxmlformats.org/officeDocument/2006/relationships/image" Target="../media/image4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image" Target="../media/image10.jpg"/><Relationship Id="rId5" Type="http://schemas.openxmlformats.org/officeDocument/2006/relationships/image" Target="../media/image29.jpg"/><Relationship Id="rId6" Type="http://schemas.openxmlformats.org/officeDocument/2006/relationships/image" Target="../media/image1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47.png"/><Relationship Id="rId5" Type="http://schemas.openxmlformats.org/officeDocument/2006/relationships/image" Target="../media/image4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Relationship Id="rId4" Type="http://schemas.openxmlformats.org/officeDocument/2006/relationships/image" Target="../media/image49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Relationship Id="rId4" Type="http://schemas.openxmlformats.org/officeDocument/2006/relationships/image" Target="../media/image49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Relationship Id="rId4" Type="http://schemas.openxmlformats.org/officeDocument/2006/relationships/image" Target="../media/image4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jpg"/><Relationship Id="rId4" Type="http://schemas.openxmlformats.org/officeDocument/2006/relationships/image" Target="../media/image4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685800" y="1549400"/>
            <a:ext cx="7772400" cy="254862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Guiding questions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forces acting on a system be represented both visually and algebraically?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Newton’s laws be modelled mathematically?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knowledge of forces and momentum be used to predict the behaviour of interacting bodies?</a:t>
            </a:r>
            <a:endParaRPr/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85800" y="1549399"/>
            <a:ext cx="7772400" cy="50611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 should understand: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linear momentum as given by p=mv remains constant unless the system is acted upon by a resultant external force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a resultant external force applied to a system constitutes an impulse J as given by J=FΔt where F is the average resultant force and Δt is the time of contact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the applied external impulse equals the change in momentum of the system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Newton’s second law in the form F=ma assumes mass is constant whereas F=Δp/Δt allows for situations where mass is changing</a:t>
            </a:r>
            <a:endParaRPr/>
          </a:p>
        </p:txBody>
      </p:sp>
      <p:sp>
        <p:nvSpPr>
          <p:cNvPr id="97" name="Google Shape;97;p14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685800" y="1549399"/>
            <a:ext cx="7772400" cy="491431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 should understand: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•the elastic and inelastic collisions of two bodies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•explosions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•energy considerations in elastic collisions, inelastic collisions, and explosions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685800" y="1549399"/>
            <a:ext cx="7772400" cy="494367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booklet reference: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1" name="Google Shape;111;p1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50114" l="0" r="0" t="0"/>
          <a:stretch/>
        </p:blipFill>
        <p:spPr>
          <a:xfrm>
            <a:off x="3070481" y="2294003"/>
            <a:ext cx="3003037" cy="2022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698500" y="4022725"/>
            <a:ext cx="5942013" cy="28352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is the linear momentum of a 4.0-gram NATO SS 109 bullet traveling at 950 m/s?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grams to kg (jump 3 decimal places left) to get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.004 kg. 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(.004)(950) = 3.8 kg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685800" y="1549400"/>
            <a:ext cx="7772400" cy="24876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second law in terms of momentum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momentum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defined to be the product of an object’s mass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its velocity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∙Its units are obtained directly from the formula and are kg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	</a:t>
            </a:r>
            <a:endParaRPr/>
          </a:p>
        </p:txBody>
      </p:sp>
      <p:sp>
        <p:nvSpPr>
          <p:cNvPr id="120" name="Google Shape;120;p1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828675" y="2794000"/>
            <a:ext cx="7464425" cy="461963"/>
            <a:chOff x="828675" y="2793884"/>
            <a:chExt cx="7464426" cy="461962"/>
          </a:xfrm>
        </p:grpSpPr>
        <p:sp>
          <p:nvSpPr>
            <p:cNvPr id="122" name="Google Shape;122;p17"/>
            <p:cNvSpPr/>
            <p:nvPr/>
          </p:nvSpPr>
          <p:spPr>
            <a:xfrm>
              <a:off x="965200" y="2803409"/>
              <a:ext cx="2478088" cy="320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mv</a:t>
              </a:r>
              <a:endPara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5354639" y="2793884"/>
              <a:ext cx="2938462" cy="46196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linear momentum</a:t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828675" y="2797059"/>
              <a:ext cx="7462839" cy="43814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bullet-apple collision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3513" y="3879850"/>
            <a:ext cx="2574925" cy="24939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698500" y="4641850"/>
            <a:ext cx="7761288" cy="22161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6-kg object increases its speed from 5 m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25 m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30 s. What is the net force acting on it?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6( 25 – 5 )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30 = 4 N.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685800" y="1549400"/>
            <a:ext cx="7772400" cy="30924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Newton’s second law in terms of momentum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 = (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last is just Newton’s second law in terms of change in momentum rather than mass and acceleration.</a:t>
            </a:r>
            <a:endParaRPr/>
          </a:p>
        </p:txBody>
      </p:sp>
      <p:sp>
        <p:nvSpPr>
          <p:cNvPr id="133" name="Google Shape;133;p1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838200" y="4064000"/>
            <a:ext cx="7464425" cy="465138"/>
            <a:chOff x="838200" y="4063853"/>
            <a:chExt cx="7464426" cy="465943"/>
          </a:xfrm>
        </p:grpSpPr>
        <p:sp>
          <p:nvSpPr>
            <p:cNvPr id="135" name="Google Shape;135;p18"/>
            <p:cNvSpPr/>
            <p:nvPr/>
          </p:nvSpPr>
          <p:spPr>
            <a:xfrm>
              <a:off x="974725" y="4073394"/>
              <a:ext cx="2478088" cy="321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Δ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 /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Δ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3911600" y="4063853"/>
              <a:ext cx="4391026" cy="4611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 (p-form)</a:t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838200" y="4067033"/>
              <a:ext cx="7462839" cy="46276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8"/>
          <p:cNvGrpSpPr/>
          <p:nvPr/>
        </p:nvGrpSpPr>
        <p:grpSpPr>
          <a:xfrm>
            <a:off x="828675" y="1949450"/>
            <a:ext cx="7464425" cy="461963"/>
            <a:chOff x="828675" y="2793884"/>
            <a:chExt cx="7464426" cy="461962"/>
          </a:xfrm>
        </p:grpSpPr>
        <p:sp>
          <p:nvSpPr>
            <p:cNvPr id="139" name="Google Shape;139;p18"/>
            <p:cNvSpPr/>
            <p:nvPr/>
          </p:nvSpPr>
          <p:spPr>
            <a:xfrm>
              <a:off x="965200" y="2803409"/>
              <a:ext cx="2478088" cy="320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mv</a:t>
              </a:r>
              <a:endPara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5354639" y="2793884"/>
              <a:ext cx="2938462" cy="46196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linear momentum</a:t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828675" y="2797059"/>
              <a:ext cx="7462839" cy="43814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Collisions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event in which a relatively strong force acts on two or more bodies for a relatively short time.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Meteor Crater in                                                    the state of Arizona                                                            was the first crater to                                                           be identified as an                                                             impact crater.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20,000 to                                                        50,000 years ago, a                                                          small asteroid about                                                       80 feet in diameter impacted the Earth and formed the crater. 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Image result for meteor crater arizona" id="149" name="Google Shape;149;p19"/>
          <p:cNvPicPr preferRelativeResize="0"/>
          <p:nvPr/>
        </p:nvPicPr>
        <p:blipFill rotWithShape="1">
          <a:blip r:embed="rId3">
            <a:alphaModFix/>
          </a:blip>
          <a:srcRect b="12356" l="0" r="0" t="13306"/>
          <a:stretch/>
        </p:blipFill>
        <p:spPr>
          <a:xfrm>
            <a:off x="3819436" y="2929176"/>
            <a:ext cx="5204505" cy="2901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Collisions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event in which a relatively strong force acts on two or more bodies for a relatively short time.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cosmic collision between                                             two galaxies, UGC 06471                                                   and UGC 06472. 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Although this type of                                                   collision is long-lived by                                                    our standards, it is                                                               short-lived as measured                                                                    in the lifetime of a galaxy.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Colliding galaxies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5338" y="2844800"/>
            <a:ext cx="4267200" cy="38465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Collisions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event in which a relatively strong force acts on two or more bodies for a relatively short time.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 between                                                                 an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alpha particle                                                     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nucleus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alpha collision w nucleus"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8688" y="2757488"/>
            <a:ext cx="5446712" cy="3976687"/>
          </a:xfrm>
          <a:prstGeom prst="rect">
            <a:avLst/>
          </a:prstGeom>
          <a:noFill/>
          <a:ln>
            <a:noFill/>
          </a:ln>
          <a:effectLst>
            <a:outerShdw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166" name="Google Shape;166;p21"/>
          <p:cNvCxnSpPr/>
          <p:nvPr/>
        </p:nvCxnSpPr>
        <p:spPr>
          <a:xfrm flipH="1">
            <a:off x="3489325" y="5064125"/>
            <a:ext cx="4092575" cy="5715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7" name="Google Shape;167;p21"/>
          <p:cNvCxnSpPr/>
          <p:nvPr/>
        </p:nvCxnSpPr>
        <p:spPr>
          <a:xfrm flipH="1">
            <a:off x="7385050" y="5053013"/>
            <a:ext cx="206375" cy="1376362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/>
          <p:nvPr/>
        </p:nvCxnSpPr>
        <p:spPr>
          <a:xfrm flipH="1" rot="10800000">
            <a:off x="7623175" y="4121150"/>
            <a:ext cx="1028700" cy="947738"/>
          </a:xfrm>
          <a:prstGeom prst="straightConnector1">
            <a:avLst/>
          </a:prstGeom>
          <a:noFill/>
          <a:ln cap="flat" cmpd="sng" w="76200">
            <a:solidFill>
              <a:srgbClr val="FF3300">
                <a:alpha val="69803"/>
              </a:srgbClr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Collisions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∙Consider two colliding pool balls…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2232025" y="2357438"/>
            <a:ext cx="928688" cy="92868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2"/>
          <p:cNvSpPr/>
          <p:nvPr/>
        </p:nvSpPr>
        <p:spPr>
          <a:xfrm flipH="1" rot="10800000">
            <a:off x="688975" y="3305175"/>
            <a:ext cx="5656263" cy="6667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1608138" y="3525838"/>
            <a:ext cx="928687" cy="92868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3179763" y="3517900"/>
            <a:ext cx="928687" cy="928688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2241550" y="4583113"/>
            <a:ext cx="928688" cy="92868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3189288" y="4575175"/>
            <a:ext cx="928687" cy="928688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2251075" y="5672138"/>
            <a:ext cx="928688" cy="92868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198813" y="5664200"/>
            <a:ext cx="928687" cy="928688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1403350" y="3463925"/>
            <a:ext cx="2909888" cy="1020763"/>
          </a:xfrm>
          <a:prstGeom prst="rect">
            <a:avLst/>
          </a:prstGeom>
          <a:noFill/>
          <a:ln cap="flat" cmpd="sng" w="28575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1733550" y="4530725"/>
            <a:ext cx="2909888" cy="1020763"/>
          </a:xfrm>
          <a:prstGeom prst="rect">
            <a:avLst/>
          </a:prstGeom>
          <a:noFill/>
          <a:ln cap="flat" cmpd="sng" w="28575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021138" y="3535363"/>
            <a:ext cx="1830387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“Before” phase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4341813" y="4613275"/>
            <a:ext cx="18415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“During” phase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2163763" y="5597525"/>
            <a:ext cx="2909887" cy="1020763"/>
          </a:xfrm>
          <a:prstGeom prst="rect">
            <a:avLst/>
          </a:prstGeom>
          <a:noFill/>
          <a:ln cap="flat" cmpd="sng" w="28575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-84138" y="3722688"/>
            <a:ext cx="1528763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system boundary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236538" y="4775200"/>
            <a:ext cx="1528762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system boundary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663575" y="5886450"/>
            <a:ext cx="1528763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system boundary</a:t>
            </a:r>
            <a:endParaRPr/>
          </a:p>
        </p:txBody>
      </p:sp>
      <p:sp>
        <p:nvSpPr>
          <p:cNvPr id="191" name="Google Shape;191;p2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6062663" y="1562100"/>
            <a:ext cx="2387600" cy="53086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boundary</a:t>
            </a:r>
            <a:r>
              <a:rPr b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“area of interest” used by physicists in the study of complex processes.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closed</a:t>
            </a:r>
            <a:r>
              <a:rPr b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system has no work done on its parts by external forces.</a:t>
            </a:r>
            <a:r>
              <a:rPr b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743450" y="5680075"/>
            <a:ext cx="16383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“After” phase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3179763" y="2363788"/>
            <a:ext cx="928687" cy="928687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71513" y="1535113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Collisions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we take a close-up look at a collision between two bodies, we can plot the force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acting on each mass during the collision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 the time 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937125" y="3121025"/>
            <a:ext cx="4206875" cy="201295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1681163" y="3232150"/>
            <a:ext cx="519112" cy="519113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2195513" y="3232150"/>
            <a:ext cx="519112" cy="519113"/>
          </a:xfrm>
          <a:prstGeom prst="ellipse">
            <a:avLst/>
          </a:prstGeom>
          <a:gradFill>
            <a:gsLst>
              <a:gs pos="0">
                <a:srgbClr val="FF3300"/>
              </a:gs>
              <a:gs pos="100000">
                <a:srgbClr val="7618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3"/>
          <p:cNvGrpSpPr/>
          <p:nvPr/>
        </p:nvGrpSpPr>
        <p:grpSpPr>
          <a:xfrm>
            <a:off x="1014413" y="3216275"/>
            <a:ext cx="519112" cy="519113"/>
            <a:chOff x="2450" y="2474"/>
            <a:chExt cx="327" cy="327"/>
          </a:xfrm>
        </p:grpSpPr>
        <p:sp>
          <p:nvSpPr>
            <p:cNvPr id="205" name="Google Shape;205;p23"/>
            <p:cNvSpPr/>
            <p:nvPr/>
          </p:nvSpPr>
          <p:spPr>
            <a:xfrm>
              <a:off x="2450" y="2474"/>
              <a:ext cx="327" cy="32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3236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2489" y="2492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07" name="Google Shape;207;p23"/>
          <p:cNvGrpSpPr/>
          <p:nvPr/>
        </p:nvGrpSpPr>
        <p:grpSpPr>
          <a:xfrm>
            <a:off x="2727325" y="3216275"/>
            <a:ext cx="519113" cy="519113"/>
            <a:chOff x="2774" y="2474"/>
            <a:chExt cx="327" cy="327"/>
          </a:xfrm>
        </p:grpSpPr>
        <p:sp>
          <p:nvSpPr>
            <p:cNvPr id="208" name="Google Shape;208;p23"/>
            <p:cNvSpPr/>
            <p:nvPr/>
          </p:nvSpPr>
          <p:spPr>
            <a:xfrm>
              <a:off x="2774" y="2474"/>
              <a:ext cx="327" cy="327"/>
            </a:xfrm>
            <a:prstGeom prst="ellipse">
              <a:avLst/>
            </a:prstGeom>
            <a:gradFill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2815" y="2491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210" name="Google Shape;210;p23"/>
          <p:cNvGrpSpPr/>
          <p:nvPr/>
        </p:nvGrpSpPr>
        <p:grpSpPr>
          <a:xfrm>
            <a:off x="1697038" y="4135438"/>
            <a:ext cx="519112" cy="519112"/>
            <a:chOff x="2450" y="2829"/>
            <a:chExt cx="327" cy="327"/>
          </a:xfrm>
        </p:grpSpPr>
        <p:sp>
          <p:nvSpPr>
            <p:cNvPr id="211" name="Google Shape;211;p23"/>
            <p:cNvSpPr/>
            <p:nvPr/>
          </p:nvSpPr>
          <p:spPr>
            <a:xfrm>
              <a:off x="2450" y="2829"/>
              <a:ext cx="327" cy="32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3236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3"/>
            <p:cNvSpPr txBox="1"/>
            <p:nvPr/>
          </p:nvSpPr>
          <p:spPr>
            <a:xfrm>
              <a:off x="2489" y="2856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13" name="Google Shape;213;p23"/>
          <p:cNvGrpSpPr/>
          <p:nvPr/>
        </p:nvGrpSpPr>
        <p:grpSpPr>
          <a:xfrm>
            <a:off x="2179638" y="4135438"/>
            <a:ext cx="519112" cy="519112"/>
            <a:chOff x="2774" y="2829"/>
            <a:chExt cx="327" cy="327"/>
          </a:xfrm>
        </p:grpSpPr>
        <p:sp>
          <p:nvSpPr>
            <p:cNvPr id="214" name="Google Shape;214;p23"/>
            <p:cNvSpPr/>
            <p:nvPr/>
          </p:nvSpPr>
          <p:spPr>
            <a:xfrm>
              <a:off x="2774" y="2829"/>
              <a:ext cx="327" cy="327"/>
            </a:xfrm>
            <a:prstGeom prst="ellipse">
              <a:avLst/>
            </a:prstGeom>
            <a:gradFill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3"/>
            <p:cNvSpPr txBox="1"/>
            <p:nvPr/>
          </p:nvSpPr>
          <p:spPr>
            <a:xfrm>
              <a:off x="2815" y="2855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216" name="Google Shape;216;p23"/>
          <p:cNvGrpSpPr/>
          <p:nvPr/>
        </p:nvGrpSpPr>
        <p:grpSpPr>
          <a:xfrm>
            <a:off x="1770063" y="4794250"/>
            <a:ext cx="488950" cy="519113"/>
            <a:chOff x="2450" y="3174"/>
            <a:chExt cx="327" cy="327"/>
          </a:xfrm>
        </p:grpSpPr>
        <p:sp>
          <p:nvSpPr>
            <p:cNvPr id="217" name="Google Shape;217;p23"/>
            <p:cNvSpPr/>
            <p:nvPr/>
          </p:nvSpPr>
          <p:spPr>
            <a:xfrm>
              <a:off x="2450" y="3174"/>
              <a:ext cx="327" cy="32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3236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2488" y="3192"/>
              <a:ext cx="27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19" name="Google Shape;219;p23"/>
          <p:cNvGrpSpPr/>
          <p:nvPr/>
        </p:nvGrpSpPr>
        <p:grpSpPr>
          <a:xfrm>
            <a:off x="2195513" y="4794250"/>
            <a:ext cx="474662" cy="519113"/>
            <a:chOff x="2774" y="3174"/>
            <a:chExt cx="327" cy="327"/>
          </a:xfrm>
        </p:grpSpPr>
        <p:sp>
          <p:nvSpPr>
            <p:cNvPr id="220" name="Google Shape;220;p23"/>
            <p:cNvSpPr/>
            <p:nvPr/>
          </p:nvSpPr>
          <p:spPr>
            <a:xfrm>
              <a:off x="2774" y="3174"/>
              <a:ext cx="327" cy="327"/>
            </a:xfrm>
            <a:prstGeom prst="ellipse">
              <a:avLst/>
            </a:prstGeom>
            <a:gradFill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3"/>
            <p:cNvSpPr txBox="1"/>
            <p:nvPr/>
          </p:nvSpPr>
          <p:spPr>
            <a:xfrm>
              <a:off x="2804" y="3191"/>
              <a:ext cx="28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222" name="Google Shape;222;p23"/>
          <p:cNvGrpSpPr/>
          <p:nvPr/>
        </p:nvGrpSpPr>
        <p:grpSpPr>
          <a:xfrm>
            <a:off x="1697038" y="5486400"/>
            <a:ext cx="519112" cy="519113"/>
            <a:chOff x="2450" y="3520"/>
            <a:chExt cx="327" cy="327"/>
          </a:xfrm>
        </p:grpSpPr>
        <p:sp>
          <p:nvSpPr>
            <p:cNvPr id="223" name="Google Shape;223;p23"/>
            <p:cNvSpPr/>
            <p:nvPr/>
          </p:nvSpPr>
          <p:spPr>
            <a:xfrm>
              <a:off x="2450" y="3520"/>
              <a:ext cx="327" cy="32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3236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3"/>
            <p:cNvSpPr txBox="1"/>
            <p:nvPr/>
          </p:nvSpPr>
          <p:spPr>
            <a:xfrm>
              <a:off x="2489" y="3548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25" name="Google Shape;225;p23"/>
          <p:cNvGrpSpPr/>
          <p:nvPr/>
        </p:nvGrpSpPr>
        <p:grpSpPr>
          <a:xfrm>
            <a:off x="2179638" y="5486400"/>
            <a:ext cx="519112" cy="519113"/>
            <a:chOff x="2774" y="3520"/>
            <a:chExt cx="327" cy="327"/>
          </a:xfrm>
        </p:grpSpPr>
        <p:sp>
          <p:nvSpPr>
            <p:cNvPr id="226" name="Google Shape;226;p23"/>
            <p:cNvSpPr/>
            <p:nvPr/>
          </p:nvSpPr>
          <p:spPr>
            <a:xfrm>
              <a:off x="2774" y="3520"/>
              <a:ext cx="327" cy="327"/>
            </a:xfrm>
            <a:prstGeom prst="ellipse">
              <a:avLst/>
            </a:prstGeom>
            <a:gradFill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3"/>
            <p:cNvSpPr txBox="1"/>
            <p:nvPr/>
          </p:nvSpPr>
          <p:spPr>
            <a:xfrm>
              <a:off x="2815" y="3547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228" name="Google Shape;228;p23"/>
          <p:cNvGrpSpPr/>
          <p:nvPr/>
        </p:nvGrpSpPr>
        <p:grpSpPr>
          <a:xfrm>
            <a:off x="1009650" y="6161088"/>
            <a:ext cx="519113" cy="519112"/>
            <a:chOff x="2450" y="3883"/>
            <a:chExt cx="327" cy="327"/>
          </a:xfrm>
        </p:grpSpPr>
        <p:sp>
          <p:nvSpPr>
            <p:cNvPr id="229" name="Google Shape;229;p23"/>
            <p:cNvSpPr/>
            <p:nvPr/>
          </p:nvSpPr>
          <p:spPr>
            <a:xfrm>
              <a:off x="2450" y="3883"/>
              <a:ext cx="327" cy="32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3236B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3"/>
            <p:cNvSpPr txBox="1"/>
            <p:nvPr/>
          </p:nvSpPr>
          <p:spPr>
            <a:xfrm>
              <a:off x="2489" y="3903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31" name="Google Shape;231;p23"/>
          <p:cNvGrpSpPr/>
          <p:nvPr/>
        </p:nvGrpSpPr>
        <p:grpSpPr>
          <a:xfrm>
            <a:off x="2773363" y="6161088"/>
            <a:ext cx="519112" cy="519112"/>
            <a:chOff x="2774" y="3883"/>
            <a:chExt cx="327" cy="327"/>
          </a:xfrm>
        </p:grpSpPr>
        <p:sp>
          <p:nvSpPr>
            <p:cNvPr id="232" name="Google Shape;232;p23"/>
            <p:cNvSpPr/>
            <p:nvPr/>
          </p:nvSpPr>
          <p:spPr>
            <a:xfrm>
              <a:off x="2774" y="3883"/>
              <a:ext cx="327" cy="327"/>
            </a:xfrm>
            <a:prstGeom prst="ellipse">
              <a:avLst/>
            </a:prstGeom>
            <a:gradFill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2815" y="3902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234" name="Google Shape;234;p23"/>
          <p:cNvGrpSpPr/>
          <p:nvPr/>
        </p:nvGrpSpPr>
        <p:grpSpPr>
          <a:xfrm>
            <a:off x="1495425" y="2960688"/>
            <a:ext cx="758825" cy="533400"/>
            <a:chOff x="2333" y="2305"/>
            <a:chExt cx="478" cy="336"/>
          </a:xfrm>
        </p:grpSpPr>
        <p:cxnSp>
          <p:nvCxnSpPr>
            <p:cNvPr id="235" name="Google Shape;235;p23"/>
            <p:cNvCxnSpPr/>
            <p:nvPr/>
          </p:nvCxnSpPr>
          <p:spPr>
            <a:xfrm>
              <a:off x="2381" y="2641"/>
              <a:ext cx="326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36" name="Google Shape;236;p23"/>
            <p:cNvSpPr txBox="1"/>
            <p:nvPr/>
          </p:nvSpPr>
          <p:spPr>
            <a:xfrm>
              <a:off x="2333" y="2305"/>
              <a:ext cx="4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  <a:endParaRPr b="1" i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23"/>
          <p:cNvGrpSpPr/>
          <p:nvPr/>
        </p:nvGrpSpPr>
        <p:grpSpPr>
          <a:xfrm>
            <a:off x="474663" y="5992813"/>
            <a:ext cx="803275" cy="461962"/>
            <a:chOff x="1680" y="3777"/>
            <a:chExt cx="506" cy="291"/>
          </a:xfrm>
        </p:grpSpPr>
        <p:cxnSp>
          <p:nvCxnSpPr>
            <p:cNvPr id="238" name="Google Shape;238;p23"/>
            <p:cNvCxnSpPr/>
            <p:nvPr/>
          </p:nvCxnSpPr>
          <p:spPr>
            <a:xfrm>
              <a:off x="1680" y="4043"/>
              <a:ext cx="326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39" name="Google Shape;239;p23"/>
            <p:cNvSpPr txBox="1"/>
            <p:nvPr/>
          </p:nvSpPr>
          <p:spPr>
            <a:xfrm>
              <a:off x="1708" y="3777"/>
              <a:ext cx="4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Af</a:t>
              </a:r>
              <a:endParaRPr b="1" i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23"/>
          <p:cNvGrpSpPr/>
          <p:nvPr/>
        </p:nvGrpSpPr>
        <p:grpSpPr>
          <a:xfrm>
            <a:off x="2195513" y="2967038"/>
            <a:ext cx="788987" cy="520700"/>
            <a:chOff x="3801" y="3725"/>
            <a:chExt cx="497" cy="328"/>
          </a:xfrm>
        </p:grpSpPr>
        <p:cxnSp>
          <p:nvCxnSpPr>
            <p:cNvPr id="241" name="Google Shape;241;p23"/>
            <p:cNvCxnSpPr/>
            <p:nvPr/>
          </p:nvCxnSpPr>
          <p:spPr>
            <a:xfrm>
              <a:off x="3801" y="4053"/>
              <a:ext cx="326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42" name="Google Shape;242;p23"/>
            <p:cNvSpPr txBox="1"/>
            <p:nvPr/>
          </p:nvSpPr>
          <p:spPr>
            <a:xfrm>
              <a:off x="3820" y="3725"/>
              <a:ext cx="4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1" i="1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3"/>
          <p:cNvGrpSpPr/>
          <p:nvPr/>
        </p:nvGrpSpPr>
        <p:grpSpPr>
          <a:xfrm>
            <a:off x="3216275" y="5970588"/>
            <a:ext cx="758825" cy="461962"/>
            <a:chOff x="3986" y="2665"/>
            <a:chExt cx="478" cy="291"/>
          </a:xfrm>
        </p:grpSpPr>
        <p:cxnSp>
          <p:nvCxnSpPr>
            <p:cNvPr id="244" name="Google Shape;244;p23"/>
            <p:cNvCxnSpPr/>
            <p:nvPr/>
          </p:nvCxnSpPr>
          <p:spPr>
            <a:xfrm>
              <a:off x="4061" y="2939"/>
              <a:ext cx="326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45" name="Google Shape;245;p23"/>
            <p:cNvSpPr txBox="1"/>
            <p:nvPr/>
          </p:nvSpPr>
          <p:spPr>
            <a:xfrm>
              <a:off x="3986" y="2665"/>
              <a:ext cx="4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-25000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Bf</a:t>
              </a:r>
              <a:endParaRPr b="1" i="1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6" name="Google Shape;246;p23"/>
          <p:cNvCxnSpPr/>
          <p:nvPr/>
        </p:nvCxnSpPr>
        <p:spPr>
          <a:xfrm>
            <a:off x="2211388" y="4079875"/>
            <a:ext cx="381000" cy="0"/>
          </a:xfrm>
          <a:prstGeom prst="straightConnector1">
            <a:avLst/>
          </a:prstGeom>
          <a:noFill/>
          <a:ln cap="flat" cmpd="sng" w="57150">
            <a:solidFill>
              <a:srgbClr val="FF33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3"/>
          <p:cNvCxnSpPr/>
          <p:nvPr/>
        </p:nvCxnSpPr>
        <p:spPr>
          <a:xfrm>
            <a:off x="1814513" y="4079875"/>
            <a:ext cx="3810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8" name="Google Shape;248;p23"/>
          <p:cNvCxnSpPr/>
          <p:nvPr/>
        </p:nvCxnSpPr>
        <p:spPr>
          <a:xfrm>
            <a:off x="2208213" y="4749800"/>
            <a:ext cx="655637" cy="0"/>
          </a:xfrm>
          <a:prstGeom prst="straightConnector1">
            <a:avLst/>
          </a:prstGeom>
          <a:noFill/>
          <a:ln cap="flat" cmpd="sng" w="57150">
            <a:solidFill>
              <a:srgbClr val="FF33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23"/>
          <p:cNvCxnSpPr/>
          <p:nvPr/>
        </p:nvCxnSpPr>
        <p:spPr>
          <a:xfrm>
            <a:off x="1536700" y="4749800"/>
            <a:ext cx="655638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" name="Google Shape;250;p23"/>
          <p:cNvCxnSpPr/>
          <p:nvPr/>
        </p:nvCxnSpPr>
        <p:spPr>
          <a:xfrm>
            <a:off x="2195513" y="5435600"/>
            <a:ext cx="381000" cy="0"/>
          </a:xfrm>
          <a:prstGeom prst="straightConnector1">
            <a:avLst/>
          </a:prstGeom>
          <a:noFill/>
          <a:ln cap="flat" cmpd="sng" w="57150">
            <a:solidFill>
              <a:srgbClr val="FF33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23"/>
          <p:cNvCxnSpPr/>
          <p:nvPr/>
        </p:nvCxnSpPr>
        <p:spPr>
          <a:xfrm>
            <a:off x="1798638" y="5435600"/>
            <a:ext cx="3810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2" name="Google Shape;252;p23"/>
          <p:cNvSpPr/>
          <p:nvPr/>
        </p:nvSpPr>
        <p:spPr>
          <a:xfrm>
            <a:off x="733425" y="3105150"/>
            <a:ext cx="2757488" cy="706438"/>
          </a:xfrm>
          <a:prstGeom prst="rect">
            <a:avLst/>
          </a:prstGeom>
          <a:noFill/>
          <a:ln cap="flat" cmpd="sng" w="31750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98463" y="6126163"/>
            <a:ext cx="3549650" cy="579437"/>
          </a:xfrm>
          <a:prstGeom prst="rect">
            <a:avLst/>
          </a:prstGeom>
          <a:noFill/>
          <a:ln cap="flat" cmpd="sng" w="31750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1111250" y="3983038"/>
            <a:ext cx="2195513" cy="2027237"/>
          </a:xfrm>
          <a:prstGeom prst="rect">
            <a:avLst/>
          </a:prstGeom>
          <a:noFill/>
          <a:ln cap="flat" cmpd="sng" w="31750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3317875" y="3024188"/>
            <a:ext cx="155257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“Before” phase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3130550" y="4572000"/>
            <a:ext cx="1554163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“During” phase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3752850" y="5995988"/>
            <a:ext cx="13716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“After” phase</a:t>
            </a:r>
            <a:endParaRPr/>
          </a:p>
        </p:txBody>
      </p:sp>
      <p:grpSp>
        <p:nvGrpSpPr>
          <p:cNvPr id="258" name="Google Shape;258;p23"/>
          <p:cNvGrpSpPr/>
          <p:nvPr/>
        </p:nvGrpSpPr>
        <p:grpSpPr>
          <a:xfrm>
            <a:off x="5145088" y="4286250"/>
            <a:ext cx="3935412" cy="508000"/>
            <a:chOff x="163" y="3293"/>
            <a:chExt cx="1651" cy="320"/>
          </a:xfrm>
        </p:grpSpPr>
        <p:cxnSp>
          <p:nvCxnSpPr>
            <p:cNvPr id="259" name="Google Shape;259;p23"/>
            <p:cNvCxnSpPr/>
            <p:nvPr/>
          </p:nvCxnSpPr>
          <p:spPr>
            <a:xfrm>
              <a:off x="163" y="3293"/>
              <a:ext cx="1651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0" name="Google Shape;260;p23"/>
            <p:cNvSpPr txBox="1"/>
            <p:nvPr/>
          </p:nvSpPr>
          <p:spPr>
            <a:xfrm>
              <a:off x="1681" y="3322"/>
              <a:ext cx="1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grpSp>
        <p:nvGrpSpPr>
          <p:cNvPr id="261" name="Google Shape;261;p23"/>
          <p:cNvGrpSpPr/>
          <p:nvPr/>
        </p:nvGrpSpPr>
        <p:grpSpPr>
          <a:xfrm>
            <a:off x="5141913" y="3124200"/>
            <a:ext cx="371475" cy="1812925"/>
            <a:chOff x="259" y="2687"/>
            <a:chExt cx="234" cy="1163"/>
          </a:xfrm>
        </p:grpSpPr>
        <p:cxnSp>
          <p:nvCxnSpPr>
            <p:cNvPr id="262" name="Google Shape;262;p23"/>
            <p:cNvCxnSpPr/>
            <p:nvPr/>
          </p:nvCxnSpPr>
          <p:spPr>
            <a:xfrm rot="10800000">
              <a:off x="259" y="2746"/>
              <a:ext cx="0" cy="1104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3" name="Google Shape;263;p23"/>
            <p:cNvSpPr txBox="1"/>
            <p:nvPr/>
          </p:nvSpPr>
          <p:spPr>
            <a:xfrm>
              <a:off x="259" y="2687"/>
              <a:ext cx="234" cy="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cxnSp>
        <p:nvCxnSpPr>
          <p:cNvPr id="264" name="Google Shape;264;p23"/>
          <p:cNvCxnSpPr/>
          <p:nvPr/>
        </p:nvCxnSpPr>
        <p:spPr>
          <a:xfrm>
            <a:off x="6146800" y="3292475"/>
            <a:ext cx="0" cy="1589088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3"/>
          <p:cNvCxnSpPr/>
          <p:nvPr/>
        </p:nvCxnSpPr>
        <p:spPr>
          <a:xfrm>
            <a:off x="7778750" y="3292475"/>
            <a:ext cx="0" cy="1603375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6" name="Google Shape;266;p23"/>
          <p:cNvSpPr/>
          <p:nvPr/>
        </p:nvSpPr>
        <p:spPr>
          <a:xfrm>
            <a:off x="5281613" y="42100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283200" y="428783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546725" y="420370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548313" y="428148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811838" y="4213225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813425" y="4291013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103938" y="42227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105525" y="430053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5097463" y="3602038"/>
            <a:ext cx="10906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6397625" y="411480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399213" y="4397375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634163" y="3967163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6635750" y="4575175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913563" y="37274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915150" y="481488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7235825" y="3978275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237413" y="4530725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7510463" y="4129088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7512050" y="4368800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7761288" y="42100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7762875" y="428783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8026400" y="42100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8027988" y="428783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8320088" y="42100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8321675" y="428783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8613775" y="4210050"/>
            <a:ext cx="88900" cy="88900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8615363" y="4287838"/>
            <a:ext cx="88900" cy="88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6467475" y="3352800"/>
            <a:ext cx="10922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During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7983538" y="3613150"/>
            <a:ext cx="83343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5313363" y="3756025"/>
            <a:ext cx="3398837" cy="552450"/>
          </a:xfrm>
          <a:custGeom>
            <a:rect b="b" l="l" r="r" t="t"/>
            <a:pathLst>
              <a:path extrusionOk="0" h="493" w="1194">
                <a:moveTo>
                  <a:pt x="0" y="475"/>
                </a:moveTo>
                <a:cubicBezTo>
                  <a:pt x="37" y="475"/>
                  <a:pt x="75" y="475"/>
                  <a:pt x="108" y="475"/>
                </a:cubicBezTo>
                <a:cubicBezTo>
                  <a:pt x="141" y="475"/>
                  <a:pt x="168" y="475"/>
                  <a:pt x="200" y="475"/>
                </a:cubicBezTo>
                <a:cubicBezTo>
                  <a:pt x="232" y="475"/>
                  <a:pt x="267" y="493"/>
                  <a:pt x="300" y="475"/>
                </a:cubicBezTo>
                <a:cubicBezTo>
                  <a:pt x="333" y="457"/>
                  <a:pt x="369" y="411"/>
                  <a:pt x="401" y="367"/>
                </a:cubicBezTo>
                <a:cubicBezTo>
                  <a:pt x="433" y="323"/>
                  <a:pt x="462" y="269"/>
                  <a:pt x="492" y="208"/>
                </a:cubicBezTo>
                <a:cubicBezTo>
                  <a:pt x="522" y="147"/>
                  <a:pt x="553" y="0"/>
                  <a:pt x="584" y="0"/>
                </a:cubicBezTo>
                <a:cubicBezTo>
                  <a:pt x="615" y="0"/>
                  <a:pt x="641" y="146"/>
                  <a:pt x="676" y="208"/>
                </a:cubicBezTo>
                <a:cubicBezTo>
                  <a:pt x="711" y="270"/>
                  <a:pt x="757" y="332"/>
                  <a:pt x="793" y="375"/>
                </a:cubicBezTo>
                <a:cubicBezTo>
                  <a:pt x="829" y="418"/>
                  <a:pt x="860" y="452"/>
                  <a:pt x="893" y="467"/>
                </a:cubicBezTo>
                <a:cubicBezTo>
                  <a:pt x="926" y="482"/>
                  <a:pt x="961" y="467"/>
                  <a:pt x="993" y="467"/>
                </a:cubicBezTo>
                <a:cubicBezTo>
                  <a:pt x="1025" y="467"/>
                  <a:pt x="1052" y="466"/>
                  <a:pt x="1085" y="467"/>
                </a:cubicBezTo>
                <a:cubicBezTo>
                  <a:pt x="1118" y="468"/>
                  <a:pt x="1156" y="471"/>
                  <a:pt x="1194" y="475"/>
                </a:cubicBezTo>
              </a:path>
            </a:pathLst>
          </a:cu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 flipH="1" rot="10800000">
            <a:off x="5308600" y="4273550"/>
            <a:ext cx="3398838" cy="593725"/>
          </a:xfrm>
          <a:custGeom>
            <a:rect b="b" l="l" r="r" t="t"/>
            <a:pathLst>
              <a:path extrusionOk="0" h="493" w="1194">
                <a:moveTo>
                  <a:pt x="0" y="475"/>
                </a:moveTo>
                <a:cubicBezTo>
                  <a:pt x="37" y="475"/>
                  <a:pt x="75" y="475"/>
                  <a:pt x="108" y="475"/>
                </a:cubicBezTo>
                <a:cubicBezTo>
                  <a:pt x="141" y="475"/>
                  <a:pt x="168" y="475"/>
                  <a:pt x="200" y="475"/>
                </a:cubicBezTo>
                <a:cubicBezTo>
                  <a:pt x="232" y="475"/>
                  <a:pt x="267" y="493"/>
                  <a:pt x="300" y="475"/>
                </a:cubicBezTo>
                <a:cubicBezTo>
                  <a:pt x="333" y="457"/>
                  <a:pt x="369" y="411"/>
                  <a:pt x="401" y="367"/>
                </a:cubicBezTo>
                <a:cubicBezTo>
                  <a:pt x="433" y="323"/>
                  <a:pt x="462" y="269"/>
                  <a:pt x="492" y="208"/>
                </a:cubicBezTo>
                <a:cubicBezTo>
                  <a:pt x="522" y="147"/>
                  <a:pt x="553" y="0"/>
                  <a:pt x="584" y="0"/>
                </a:cubicBezTo>
                <a:cubicBezTo>
                  <a:pt x="615" y="0"/>
                  <a:pt x="641" y="146"/>
                  <a:pt x="676" y="208"/>
                </a:cubicBezTo>
                <a:cubicBezTo>
                  <a:pt x="711" y="270"/>
                  <a:pt x="757" y="332"/>
                  <a:pt x="793" y="375"/>
                </a:cubicBezTo>
                <a:cubicBezTo>
                  <a:pt x="829" y="418"/>
                  <a:pt x="860" y="452"/>
                  <a:pt x="893" y="467"/>
                </a:cubicBezTo>
                <a:cubicBezTo>
                  <a:pt x="926" y="482"/>
                  <a:pt x="961" y="467"/>
                  <a:pt x="993" y="467"/>
                </a:cubicBezTo>
                <a:cubicBezTo>
                  <a:pt x="1025" y="467"/>
                  <a:pt x="1052" y="466"/>
                  <a:pt x="1085" y="467"/>
                </a:cubicBezTo>
                <a:cubicBezTo>
                  <a:pt x="1118" y="468"/>
                  <a:pt x="1156" y="471"/>
                  <a:pt x="1194" y="475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1163638" y="3903663"/>
            <a:ext cx="758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2625725" y="3906838"/>
            <a:ext cx="758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endParaRPr b="1" i="1" sz="24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1169988" y="4725988"/>
            <a:ext cx="7588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2655888" y="4729163"/>
            <a:ext cx="758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endParaRPr b="1" i="1" sz="24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1192213" y="5210175"/>
            <a:ext cx="758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b="1"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2663825" y="5226050"/>
            <a:ext cx="758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endParaRPr b="1" i="1" sz="24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4937125" y="5275263"/>
            <a:ext cx="3513138" cy="15954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the perfect symmetry of the action-reaction force pairs.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∙Although the force varies                                                  with time, we can simplify it                                                      by “averaging it out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follows: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an ant farm (two                                              sheets of glass with sand in                                           between) filled with the sand in the shape of the above force curve: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now let the sand level itself out (by tapping or shaking the ant farm):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area of the rectangle is the same as the area under the original force vs. time curve.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force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height of this rectangle.</a:t>
            </a:r>
            <a:endParaRPr/>
          </a:p>
        </p:txBody>
      </p:sp>
      <p:grpSp>
        <p:nvGrpSpPr>
          <p:cNvPr id="311" name="Google Shape;311;p24"/>
          <p:cNvGrpSpPr/>
          <p:nvPr/>
        </p:nvGrpSpPr>
        <p:grpSpPr>
          <a:xfrm>
            <a:off x="5149850" y="3060700"/>
            <a:ext cx="3725863" cy="461963"/>
            <a:chOff x="614" y="3671"/>
            <a:chExt cx="2004" cy="291"/>
          </a:xfrm>
        </p:grpSpPr>
        <p:cxnSp>
          <p:nvCxnSpPr>
            <p:cNvPr id="312" name="Google Shape;312;p24"/>
            <p:cNvCxnSpPr/>
            <p:nvPr/>
          </p:nvCxnSpPr>
          <p:spPr>
            <a:xfrm>
              <a:off x="614" y="3677"/>
              <a:ext cx="1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3" name="Google Shape;313;p24"/>
            <p:cNvSpPr txBox="1"/>
            <p:nvPr/>
          </p:nvSpPr>
          <p:spPr>
            <a:xfrm>
              <a:off x="2448" y="3671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sp>
        <p:nvSpPr>
          <p:cNvPr id="314" name="Google Shape;314;p24"/>
          <p:cNvSpPr/>
          <p:nvPr/>
        </p:nvSpPr>
        <p:spPr>
          <a:xfrm>
            <a:off x="5424488" y="2135188"/>
            <a:ext cx="3019425" cy="933450"/>
          </a:xfrm>
          <a:custGeom>
            <a:rect b="b" l="l" r="r" t="t"/>
            <a:pathLst>
              <a:path extrusionOk="0" h="576" w="1277">
                <a:moveTo>
                  <a:pt x="0" y="576"/>
                </a:moveTo>
                <a:cubicBezTo>
                  <a:pt x="105" y="532"/>
                  <a:pt x="211" y="489"/>
                  <a:pt x="317" y="393"/>
                </a:cubicBezTo>
                <a:cubicBezTo>
                  <a:pt x="423" y="297"/>
                  <a:pt x="527" y="0"/>
                  <a:pt x="634" y="0"/>
                </a:cubicBezTo>
                <a:cubicBezTo>
                  <a:pt x="741" y="0"/>
                  <a:pt x="853" y="297"/>
                  <a:pt x="960" y="393"/>
                </a:cubicBezTo>
                <a:cubicBezTo>
                  <a:pt x="1067" y="489"/>
                  <a:pt x="1172" y="532"/>
                  <a:pt x="1277" y="576"/>
                </a:cubicBezTo>
              </a:path>
            </a:pathLst>
          </a:custGeom>
          <a:solidFill>
            <a:srgbClr val="FF9933"/>
          </a:solidFill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5410200" y="2563813"/>
            <a:ext cx="3063875" cy="504825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24"/>
          <p:cNvGrpSpPr/>
          <p:nvPr/>
        </p:nvGrpSpPr>
        <p:grpSpPr>
          <a:xfrm>
            <a:off x="4921250" y="1758950"/>
            <a:ext cx="503238" cy="1905000"/>
            <a:chOff x="1603" y="3187"/>
            <a:chExt cx="317" cy="759"/>
          </a:xfrm>
        </p:grpSpPr>
        <p:cxnSp>
          <p:nvCxnSpPr>
            <p:cNvPr id="317" name="Google Shape;317;p24"/>
            <p:cNvCxnSpPr/>
            <p:nvPr/>
          </p:nvCxnSpPr>
          <p:spPr>
            <a:xfrm rot="10800000">
              <a:off x="1920" y="3187"/>
              <a:ext cx="0" cy="7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8" name="Google Shape;318;p24"/>
            <p:cNvSpPr txBox="1"/>
            <p:nvPr/>
          </p:nvSpPr>
          <p:spPr>
            <a:xfrm rot="-5400000">
              <a:off x="1555" y="3306"/>
              <a:ext cx="38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Force</a:t>
              </a:r>
              <a:endParaRPr/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8591550" y="2560638"/>
            <a:ext cx="1162050" cy="638175"/>
            <a:chOff x="2938" y="1775"/>
            <a:chExt cx="625" cy="242"/>
          </a:xfrm>
        </p:grpSpPr>
        <p:sp>
          <p:nvSpPr>
            <p:cNvPr id="320" name="Google Shape;320;p24"/>
            <p:cNvSpPr/>
            <p:nvPr/>
          </p:nvSpPr>
          <p:spPr>
            <a:xfrm>
              <a:off x="3045" y="1801"/>
              <a:ext cx="518" cy="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2938" y="1775"/>
              <a:ext cx="115" cy="183"/>
            </a:xfrm>
            <a:prstGeom prst="rightBrace">
              <a:avLst>
                <a:gd fmla="val 9368" name="adj1"/>
                <a:gd fmla="val 50000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24"/>
          <p:cNvGrpSpPr/>
          <p:nvPr/>
        </p:nvGrpSpPr>
        <p:grpSpPr>
          <a:xfrm>
            <a:off x="5431242" y="3121819"/>
            <a:ext cx="3022600" cy="621506"/>
            <a:chOff x="1579" y="2002"/>
            <a:chExt cx="1278" cy="391"/>
          </a:xfrm>
        </p:grpSpPr>
        <p:sp>
          <p:nvSpPr>
            <p:cNvPr id="323" name="Google Shape;323;p24"/>
            <p:cNvSpPr/>
            <p:nvPr/>
          </p:nvSpPr>
          <p:spPr>
            <a:xfrm>
              <a:off x="2129" y="2177"/>
              <a:ext cx="288" cy="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 rot="5400000">
              <a:off x="2117" y="1463"/>
              <a:ext cx="201" cy="1278"/>
            </a:xfrm>
            <a:prstGeom prst="rightBrace">
              <a:avLst>
                <a:gd fmla="val 52985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5" name="Google Shape;325;p24"/>
          <p:cNvCxnSpPr/>
          <p:nvPr/>
        </p:nvCxnSpPr>
        <p:spPr>
          <a:xfrm>
            <a:off x="3570288" y="636588"/>
            <a:ext cx="100012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4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7" name="Google Shape;327;p24"/>
          <p:cNvCxnSpPr/>
          <p:nvPr/>
        </p:nvCxnSpPr>
        <p:spPr>
          <a:xfrm>
            <a:off x="5443538" y="2560638"/>
            <a:ext cx="3040062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" name="Google Shape;328;p24"/>
          <p:cNvGrpSpPr/>
          <p:nvPr/>
        </p:nvGrpSpPr>
        <p:grpSpPr>
          <a:xfrm>
            <a:off x="5408613" y="1941513"/>
            <a:ext cx="3087687" cy="1169987"/>
            <a:chOff x="3705" y="1555"/>
            <a:chExt cx="1306" cy="422"/>
          </a:xfrm>
        </p:grpSpPr>
        <p:sp>
          <p:nvSpPr>
            <p:cNvPr id="329" name="Google Shape;329;p24"/>
            <p:cNvSpPr/>
            <p:nvPr/>
          </p:nvSpPr>
          <p:spPr>
            <a:xfrm>
              <a:off x="3715" y="1555"/>
              <a:ext cx="1287" cy="413"/>
            </a:xfrm>
            <a:prstGeom prst="rect">
              <a:avLst/>
            </a:prstGeom>
            <a:solidFill>
              <a:srgbClr val="BBE0E3">
                <a:alpha val="49803"/>
              </a:srgbClr>
            </a:solidFill>
            <a:ln cap="flat" cmpd="sng" w="9525">
              <a:solidFill>
                <a:schemeClr val="lt2">
                  <a:alpha val="51764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24"/>
            <p:cNvCxnSpPr/>
            <p:nvPr/>
          </p:nvCxnSpPr>
          <p:spPr>
            <a:xfrm>
              <a:off x="5011" y="1555"/>
              <a:ext cx="0" cy="422"/>
            </a:xfrm>
            <a:prstGeom prst="straightConnector1">
              <a:avLst/>
            </a:prstGeom>
            <a:noFill/>
            <a:ln cap="flat" cmpd="sng" w="38100">
              <a:solidFill>
                <a:srgbClr val="212167">
                  <a:alpha val="43921"/>
                </a:srgbClr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24"/>
            <p:cNvCxnSpPr/>
            <p:nvPr/>
          </p:nvCxnSpPr>
          <p:spPr>
            <a:xfrm>
              <a:off x="3705" y="1555"/>
              <a:ext cx="0" cy="422"/>
            </a:xfrm>
            <a:prstGeom prst="straightConnector1">
              <a:avLst/>
            </a:prstGeom>
            <a:noFill/>
            <a:ln cap="flat" cmpd="sng" w="38100">
              <a:solidFill>
                <a:srgbClr val="212167">
                  <a:alpha val="44705"/>
                </a:srgbClr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nt Farm.JPG" id="332" name="Google Shape;3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0"/>
            <a:ext cx="28956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t.bmp" id="333" name="Google Shape;3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0163" y="5465763"/>
            <a:ext cx="1493837" cy="1392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"/>
          <p:cNvSpPr/>
          <p:nvPr/>
        </p:nvSpPr>
        <p:spPr>
          <a:xfrm>
            <a:off x="685800" y="1549400"/>
            <a:ext cx="7772400" cy="44719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define a new quantity                                                  called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impulse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the                                                           average force times the time.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amounts to the area                                                       under the force vs. time graph.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see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so we can interpret the impulse as the change in momentum of the object during the collision.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5"/>
          <p:cNvCxnSpPr/>
          <p:nvPr/>
        </p:nvCxnSpPr>
        <p:spPr>
          <a:xfrm>
            <a:off x="3570288" y="636588"/>
            <a:ext cx="100012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5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42" name="Google Shape;342;p25"/>
          <p:cNvGrpSpPr/>
          <p:nvPr/>
        </p:nvGrpSpPr>
        <p:grpSpPr>
          <a:xfrm>
            <a:off x="5049036" y="1278970"/>
            <a:ext cx="4740060" cy="1603930"/>
            <a:chOff x="4924024" y="1397508"/>
            <a:chExt cx="4786172" cy="2331040"/>
          </a:xfrm>
        </p:grpSpPr>
        <p:grpSp>
          <p:nvGrpSpPr>
            <p:cNvPr id="343" name="Google Shape;343;p25"/>
            <p:cNvGrpSpPr/>
            <p:nvPr/>
          </p:nvGrpSpPr>
          <p:grpSpPr>
            <a:xfrm>
              <a:off x="5150232" y="3060005"/>
              <a:ext cx="3681126" cy="668340"/>
              <a:chOff x="614" y="3671"/>
              <a:chExt cx="1980" cy="421"/>
            </a:xfrm>
          </p:grpSpPr>
          <p:cxnSp>
            <p:nvCxnSpPr>
              <p:cNvPr id="344" name="Google Shape;344;p25"/>
              <p:cNvCxnSpPr/>
              <p:nvPr/>
            </p:nvCxnSpPr>
            <p:spPr>
              <a:xfrm>
                <a:off x="614" y="3675"/>
                <a:ext cx="197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45" name="Google Shape;345;p25"/>
              <p:cNvSpPr txBox="1"/>
              <p:nvPr/>
            </p:nvSpPr>
            <p:spPr>
              <a:xfrm>
                <a:off x="2448" y="3671"/>
                <a:ext cx="146" cy="4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sp>
          <p:nvSpPr>
            <p:cNvPr id="346" name="Google Shape;346;p25"/>
            <p:cNvSpPr/>
            <p:nvPr/>
          </p:nvSpPr>
          <p:spPr>
            <a:xfrm>
              <a:off x="5410525" y="2563432"/>
              <a:ext cx="3064829" cy="505268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7" name="Google Shape;347;p25"/>
            <p:cNvGrpSpPr/>
            <p:nvPr/>
          </p:nvGrpSpPr>
          <p:grpSpPr>
            <a:xfrm>
              <a:off x="4924024" y="1397508"/>
              <a:ext cx="500855" cy="1911620"/>
              <a:chOff x="1605" y="2763"/>
              <a:chExt cx="315" cy="1186"/>
            </a:xfrm>
          </p:grpSpPr>
          <p:cxnSp>
            <p:nvCxnSpPr>
              <p:cNvPr id="348" name="Google Shape;348;p25"/>
              <p:cNvCxnSpPr/>
              <p:nvPr/>
            </p:nvCxnSpPr>
            <p:spPr>
              <a:xfrm rot="10800000">
                <a:off x="1920" y="3187"/>
                <a:ext cx="0" cy="76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49" name="Google Shape;349;p25"/>
              <p:cNvSpPr txBox="1"/>
              <p:nvPr/>
            </p:nvSpPr>
            <p:spPr>
              <a:xfrm rot="-5400000">
                <a:off x="1209" y="3158"/>
                <a:ext cx="108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Force</a:t>
                </a:r>
                <a:endParaRPr/>
              </a:p>
            </p:txBody>
          </p:sp>
        </p:grpSp>
        <p:grpSp>
          <p:nvGrpSpPr>
            <p:cNvPr id="350" name="Google Shape;350;p25"/>
            <p:cNvGrpSpPr/>
            <p:nvPr/>
          </p:nvGrpSpPr>
          <p:grpSpPr>
            <a:xfrm>
              <a:off x="8592208" y="2526918"/>
              <a:ext cx="1117988" cy="568862"/>
              <a:chOff x="2938" y="1762"/>
              <a:chExt cx="602" cy="216"/>
            </a:xfrm>
          </p:grpSpPr>
          <p:sp>
            <p:nvSpPr>
              <p:cNvPr id="351" name="Google Shape;351;p25"/>
              <p:cNvSpPr/>
              <p:nvPr/>
            </p:nvSpPr>
            <p:spPr>
              <a:xfrm>
                <a:off x="3022" y="1762"/>
                <a:ext cx="518" cy="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5"/>
              <p:cNvSpPr/>
              <p:nvPr/>
            </p:nvSpPr>
            <p:spPr>
              <a:xfrm>
                <a:off x="2938" y="1775"/>
                <a:ext cx="115" cy="183"/>
              </a:xfrm>
              <a:prstGeom prst="rightBrace">
                <a:avLst>
                  <a:gd fmla="val 9368" name="adj1"/>
                  <a:gd fmla="val 50000" name="adj2"/>
                </a:avLst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5"/>
            <p:cNvGrpSpPr/>
            <p:nvPr/>
          </p:nvGrpSpPr>
          <p:grpSpPr>
            <a:xfrm>
              <a:off x="5435172" y="3085610"/>
              <a:ext cx="3021878" cy="642937"/>
              <a:chOff x="1580" y="1988"/>
              <a:chExt cx="1278" cy="405"/>
            </a:xfrm>
          </p:grpSpPr>
          <p:sp>
            <p:nvSpPr>
              <p:cNvPr id="354" name="Google Shape;354;p25"/>
              <p:cNvSpPr/>
              <p:nvPr/>
            </p:nvSpPr>
            <p:spPr>
              <a:xfrm>
                <a:off x="2129" y="2176"/>
                <a:ext cx="288" cy="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∆</a:t>
                </a:r>
                <a:r>
                  <a:rPr i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 rot="5400000">
                <a:off x="2118" y="1461"/>
                <a:ext cx="202" cy="1278"/>
              </a:xfrm>
              <a:prstGeom prst="rightBrace">
                <a:avLst>
                  <a:gd fmla="val 52985" name="adj1"/>
                  <a:gd fmla="val 5000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5"/>
              <p:cNvSpPr txBox="1"/>
              <p:nvPr/>
            </p:nvSpPr>
            <p:spPr>
              <a:xfrm>
                <a:off x="1593" y="1988"/>
                <a:ext cx="1215" cy="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57" name="Google Shape;357;p25"/>
            <p:cNvCxnSpPr/>
            <p:nvPr/>
          </p:nvCxnSpPr>
          <p:spPr>
            <a:xfrm>
              <a:off x="5444187" y="2561124"/>
              <a:ext cx="3039182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8" name="Google Shape;358;p25"/>
          <p:cNvGrpSpPr/>
          <p:nvPr/>
        </p:nvGrpSpPr>
        <p:grpSpPr>
          <a:xfrm>
            <a:off x="828675" y="3933825"/>
            <a:ext cx="7464425" cy="539750"/>
            <a:chOff x="828675" y="3933508"/>
            <a:chExt cx="7464424" cy="540017"/>
          </a:xfrm>
        </p:grpSpPr>
        <p:sp>
          <p:nvSpPr>
            <p:cNvPr id="359" name="Google Shape;359;p25"/>
            <p:cNvSpPr/>
            <p:nvPr/>
          </p:nvSpPr>
          <p:spPr>
            <a:xfrm>
              <a:off x="965200" y="3943038"/>
              <a:ext cx="6196012" cy="530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             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area under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vs.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graph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5"/>
            <p:cNvSpPr txBox="1"/>
            <p:nvPr/>
          </p:nvSpPr>
          <p:spPr>
            <a:xfrm>
              <a:off x="6907212" y="3933508"/>
              <a:ext cx="1385887" cy="46219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impulse</a:t>
              </a: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828675" y="3936685"/>
              <a:ext cx="7462837" cy="43836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25"/>
          <p:cNvGrpSpPr/>
          <p:nvPr/>
        </p:nvGrpSpPr>
        <p:grpSpPr>
          <a:xfrm>
            <a:off x="5045861" y="2728087"/>
            <a:ext cx="3913989" cy="1140651"/>
            <a:chOff x="4610600" y="4303069"/>
            <a:chExt cx="3953544" cy="1732126"/>
          </a:xfrm>
        </p:grpSpPr>
        <p:grpSp>
          <p:nvGrpSpPr>
            <p:cNvPr id="363" name="Google Shape;363;p25"/>
            <p:cNvGrpSpPr/>
            <p:nvPr/>
          </p:nvGrpSpPr>
          <p:grpSpPr>
            <a:xfrm>
              <a:off x="4838398" y="5068532"/>
              <a:ext cx="3725746" cy="693740"/>
              <a:chOff x="614" y="3254"/>
              <a:chExt cx="2004" cy="437"/>
            </a:xfrm>
          </p:grpSpPr>
          <p:cxnSp>
            <p:nvCxnSpPr>
              <p:cNvPr id="364" name="Google Shape;364;p25"/>
              <p:cNvCxnSpPr/>
              <p:nvPr/>
            </p:nvCxnSpPr>
            <p:spPr>
              <a:xfrm>
                <a:off x="614" y="3676"/>
                <a:ext cx="197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65" name="Google Shape;365;p25"/>
              <p:cNvSpPr txBox="1"/>
              <p:nvPr/>
            </p:nvSpPr>
            <p:spPr>
              <a:xfrm>
                <a:off x="2448" y="3254"/>
                <a:ext cx="170" cy="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sp>
          <p:nvSpPr>
            <p:cNvPr id="366" name="Google Shape;366;p25"/>
            <p:cNvSpPr/>
            <p:nvPr/>
          </p:nvSpPr>
          <p:spPr>
            <a:xfrm>
              <a:off x="5113319" y="4805746"/>
              <a:ext cx="3019473" cy="932934"/>
            </a:xfrm>
            <a:custGeom>
              <a:rect b="b" l="l" r="r" t="t"/>
              <a:pathLst>
                <a:path extrusionOk="0" h="576" w="1277">
                  <a:moveTo>
                    <a:pt x="0" y="576"/>
                  </a:moveTo>
                  <a:cubicBezTo>
                    <a:pt x="105" y="532"/>
                    <a:pt x="211" y="489"/>
                    <a:pt x="317" y="393"/>
                  </a:cubicBezTo>
                  <a:cubicBezTo>
                    <a:pt x="423" y="297"/>
                    <a:pt x="527" y="0"/>
                    <a:pt x="634" y="0"/>
                  </a:cubicBezTo>
                  <a:cubicBezTo>
                    <a:pt x="741" y="0"/>
                    <a:pt x="853" y="297"/>
                    <a:pt x="960" y="393"/>
                  </a:cubicBezTo>
                  <a:cubicBezTo>
                    <a:pt x="1067" y="489"/>
                    <a:pt x="1172" y="532"/>
                    <a:pt x="1277" y="576"/>
                  </a:cubicBezTo>
                </a:path>
              </a:pathLst>
            </a:custGeom>
            <a:solidFill>
              <a:srgbClr val="FF9933"/>
            </a:solidFill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7" name="Google Shape;367;p25"/>
            <p:cNvGrpSpPr/>
            <p:nvPr/>
          </p:nvGrpSpPr>
          <p:grpSpPr>
            <a:xfrm>
              <a:off x="4610600" y="4303069"/>
              <a:ext cx="502442" cy="1732126"/>
              <a:chOff x="1604" y="3137"/>
              <a:chExt cx="317" cy="690"/>
            </a:xfrm>
          </p:grpSpPr>
          <p:cxnSp>
            <p:nvCxnSpPr>
              <p:cNvPr id="368" name="Google Shape;368;p25"/>
              <p:cNvCxnSpPr/>
              <p:nvPr/>
            </p:nvCxnSpPr>
            <p:spPr>
              <a:xfrm flipH="1" rot="10800000">
                <a:off x="1919" y="3187"/>
                <a:ext cx="1" cy="6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69" name="Google Shape;369;p25"/>
              <p:cNvSpPr txBox="1"/>
              <p:nvPr/>
            </p:nvSpPr>
            <p:spPr>
              <a:xfrm rot="-5400000">
                <a:off x="1448" y="3292"/>
                <a:ext cx="60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Force</a:t>
                </a:r>
                <a:endParaRPr/>
              </a:p>
            </p:txBody>
          </p:sp>
        </p:grpSp>
      </p:grpSp>
      <p:grpSp>
        <p:nvGrpSpPr>
          <p:cNvPr id="370" name="Google Shape;370;p25"/>
          <p:cNvGrpSpPr/>
          <p:nvPr/>
        </p:nvGrpSpPr>
        <p:grpSpPr>
          <a:xfrm>
            <a:off x="854075" y="5411788"/>
            <a:ext cx="7464425" cy="536575"/>
            <a:chOff x="854463" y="5453679"/>
            <a:chExt cx="7464424" cy="536842"/>
          </a:xfrm>
        </p:grpSpPr>
        <p:sp>
          <p:nvSpPr>
            <p:cNvPr id="371" name="Google Shape;371;p25"/>
            <p:cNvSpPr/>
            <p:nvPr/>
          </p:nvSpPr>
          <p:spPr>
            <a:xfrm>
              <a:off x="990988" y="5460032"/>
              <a:ext cx="6196012" cy="530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 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area under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vs.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graph</a:t>
              </a:r>
              <a:endParaRPr/>
            </a:p>
          </p:txBody>
        </p:sp>
        <p:sp>
          <p:nvSpPr>
            <p:cNvPr id="372" name="Google Shape;372;p25"/>
            <p:cNvSpPr txBox="1"/>
            <p:nvPr/>
          </p:nvSpPr>
          <p:spPr>
            <a:xfrm>
              <a:off x="6933000" y="5464797"/>
              <a:ext cx="1385887" cy="4621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impulse</a:t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854463" y="5453679"/>
              <a:ext cx="7462837" cy="4685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6"/>
          <p:cNvSpPr/>
          <p:nvPr/>
        </p:nvSpPr>
        <p:spPr>
          <a:xfrm>
            <a:off x="703263" y="5978525"/>
            <a:ext cx="7747000" cy="8794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impulse can be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685800" y="1549400"/>
            <a:ext cx="7772400" cy="44719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∙It is well to point out here                                                   that during a collision there                                                     are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objects interacting                                                       with one another.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Newton’s third                                         law, the forces are equal but opposite so that </a:t>
            </a:r>
            <a:r>
              <a:rPr b="1"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 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for one object, the area (impulse or momentum change) is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while for the other object the area (impulse or momentum change) is </a:t>
            </a:r>
            <a:r>
              <a:rPr i="1"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26"/>
          <p:cNvCxnSpPr/>
          <p:nvPr/>
        </p:nvCxnSpPr>
        <p:spPr>
          <a:xfrm>
            <a:off x="3570288" y="636588"/>
            <a:ext cx="100012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6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5024438" y="2876550"/>
            <a:ext cx="2989262" cy="614363"/>
          </a:xfrm>
          <a:custGeom>
            <a:rect b="b" l="l" r="r" t="t"/>
            <a:pathLst>
              <a:path extrusionOk="0" h="576" w="1277">
                <a:moveTo>
                  <a:pt x="0" y="576"/>
                </a:moveTo>
                <a:cubicBezTo>
                  <a:pt x="105" y="532"/>
                  <a:pt x="211" y="489"/>
                  <a:pt x="317" y="393"/>
                </a:cubicBezTo>
                <a:cubicBezTo>
                  <a:pt x="423" y="297"/>
                  <a:pt x="527" y="0"/>
                  <a:pt x="634" y="0"/>
                </a:cubicBezTo>
                <a:cubicBezTo>
                  <a:pt x="741" y="0"/>
                  <a:pt x="853" y="297"/>
                  <a:pt x="960" y="393"/>
                </a:cubicBezTo>
                <a:cubicBezTo>
                  <a:pt x="1067" y="489"/>
                  <a:pt x="1172" y="532"/>
                  <a:pt x="1277" y="576"/>
                </a:cubicBezTo>
              </a:path>
            </a:pathLst>
          </a:custGeom>
          <a:solidFill>
            <a:srgbClr val="FF0000">
              <a:alpha val="50980"/>
            </a:srgbClr>
          </a:solidFill>
          <a:ln cap="flat" cmpd="sng" w="444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26"/>
          <p:cNvGrpSpPr/>
          <p:nvPr/>
        </p:nvGrpSpPr>
        <p:grpSpPr>
          <a:xfrm>
            <a:off x="854075" y="1979613"/>
            <a:ext cx="7464425" cy="536575"/>
            <a:chOff x="854463" y="5453679"/>
            <a:chExt cx="7464424" cy="536842"/>
          </a:xfrm>
        </p:grpSpPr>
        <p:sp>
          <p:nvSpPr>
            <p:cNvPr id="385" name="Google Shape;385;p26"/>
            <p:cNvSpPr/>
            <p:nvPr/>
          </p:nvSpPr>
          <p:spPr>
            <a:xfrm>
              <a:off x="990988" y="5460032"/>
              <a:ext cx="6196012" cy="530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 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area under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vs.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graph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6"/>
            <p:cNvSpPr txBox="1"/>
            <p:nvPr/>
          </p:nvSpPr>
          <p:spPr>
            <a:xfrm>
              <a:off x="6933000" y="5464797"/>
              <a:ext cx="1385887" cy="4621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impulse</a:t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854463" y="5453679"/>
              <a:ext cx="7462837" cy="4685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" name="Google Shape;388;p26"/>
          <p:cNvSpPr/>
          <p:nvPr/>
        </p:nvSpPr>
        <p:spPr>
          <a:xfrm flipH="1" rot="10800000">
            <a:off x="5035550" y="3494088"/>
            <a:ext cx="2989263" cy="612775"/>
          </a:xfrm>
          <a:custGeom>
            <a:rect b="b" l="l" r="r" t="t"/>
            <a:pathLst>
              <a:path extrusionOk="0" h="576" w="1277">
                <a:moveTo>
                  <a:pt x="0" y="576"/>
                </a:moveTo>
                <a:cubicBezTo>
                  <a:pt x="105" y="532"/>
                  <a:pt x="211" y="489"/>
                  <a:pt x="317" y="393"/>
                </a:cubicBezTo>
                <a:cubicBezTo>
                  <a:pt x="423" y="297"/>
                  <a:pt x="527" y="0"/>
                  <a:pt x="634" y="0"/>
                </a:cubicBezTo>
                <a:cubicBezTo>
                  <a:pt x="741" y="0"/>
                  <a:pt x="853" y="297"/>
                  <a:pt x="960" y="393"/>
                </a:cubicBezTo>
                <a:cubicBezTo>
                  <a:pt x="1067" y="489"/>
                  <a:pt x="1172" y="532"/>
                  <a:pt x="1277" y="576"/>
                </a:cubicBezTo>
              </a:path>
            </a:pathLst>
          </a:custGeom>
          <a:solidFill>
            <a:schemeClr val="accent2">
              <a:alpha val="48627"/>
            </a:schemeClr>
          </a:solidFill>
          <a:ln cap="flat" cmpd="sng" w="444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26"/>
          <p:cNvGrpSpPr/>
          <p:nvPr/>
        </p:nvGrpSpPr>
        <p:grpSpPr>
          <a:xfrm>
            <a:off x="4668838" y="2678113"/>
            <a:ext cx="3771900" cy="1587500"/>
            <a:chOff x="4780740" y="2791314"/>
            <a:chExt cx="3772418" cy="1587294"/>
          </a:xfrm>
        </p:grpSpPr>
        <p:cxnSp>
          <p:nvCxnSpPr>
            <p:cNvPr id="390" name="Google Shape;390;p26"/>
            <p:cNvCxnSpPr/>
            <p:nvPr/>
          </p:nvCxnSpPr>
          <p:spPr>
            <a:xfrm flipH="1" rot="10800000">
              <a:off x="5134801" y="2791314"/>
              <a:ext cx="1588" cy="15269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1" name="Google Shape;391;p26"/>
            <p:cNvSpPr txBox="1"/>
            <p:nvPr/>
          </p:nvSpPr>
          <p:spPr>
            <a:xfrm>
              <a:off x="4780740" y="2896075"/>
              <a:ext cx="1017727" cy="457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grpSp>
          <p:nvGrpSpPr>
            <p:cNvPr id="392" name="Google Shape;392;p26"/>
            <p:cNvGrpSpPr/>
            <p:nvPr/>
          </p:nvGrpSpPr>
          <p:grpSpPr>
            <a:xfrm>
              <a:off x="4864272" y="3164047"/>
              <a:ext cx="3688886" cy="461993"/>
              <a:chOff x="614" y="3256"/>
              <a:chExt cx="2004" cy="442"/>
            </a:xfrm>
          </p:grpSpPr>
          <p:cxnSp>
            <p:nvCxnSpPr>
              <p:cNvPr id="393" name="Google Shape;393;p26"/>
              <p:cNvCxnSpPr/>
              <p:nvPr/>
            </p:nvCxnSpPr>
            <p:spPr>
              <a:xfrm>
                <a:off x="614" y="3677"/>
                <a:ext cx="197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94" name="Google Shape;394;p26"/>
              <p:cNvSpPr txBox="1"/>
              <p:nvPr/>
            </p:nvSpPr>
            <p:spPr>
              <a:xfrm>
                <a:off x="2448" y="3256"/>
                <a:ext cx="170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sp>
          <p:nvSpPr>
            <p:cNvPr id="395" name="Google Shape;395;p26"/>
            <p:cNvSpPr txBox="1"/>
            <p:nvPr/>
          </p:nvSpPr>
          <p:spPr>
            <a:xfrm>
              <a:off x="4806143" y="3921467"/>
              <a:ext cx="1017727" cy="457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/>
          <p:nvPr/>
        </p:nvSpPr>
        <p:spPr>
          <a:xfrm>
            <a:off x="703263" y="6302375"/>
            <a:ext cx="7747000" cy="55562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units for impulse can also be kg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403" name="Google Shape;403;p27"/>
          <p:cNvSpPr/>
          <p:nvPr/>
        </p:nvSpPr>
        <p:spPr>
          <a:xfrm>
            <a:off x="679450" y="2011363"/>
            <a:ext cx="7761288" cy="433316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A 0.140-kg baseball comes in at 40.0 m/s, strikes the bat, and goes back out at 50.0 m/s.  If the collision lasts 1.20 ms (a typical value), find the impulse imparted to the ball from the bat during the collision.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can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 = 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– 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12.6 Ns.</a:t>
            </a:r>
            <a:endParaRPr/>
          </a:p>
        </p:txBody>
      </p:sp>
      <p:pic>
        <p:nvPicPr>
          <p:cNvPr descr="Baseball" id="404" name="Google Shape;4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3741738"/>
            <a:ext cx="647700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Oak" id="405" name="Google Shape;405;p27"/>
          <p:cNvSpPr/>
          <p:nvPr/>
        </p:nvSpPr>
        <p:spPr>
          <a:xfrm rot="5400000">
            <a:off x="1616075" y="3733800"/>
            <a:ext cx="669925" cy="669925"/>
          </a:xfrm>
          <a:prstGeom prst="ellips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Baseball" id="406" name="Google Shape;4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2425" y="3744913"/>
            <a:ext cx="647700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Oak" id="407" name="Google Shape;407;p27"/>
          <p:cNvSpPr/>
          <p:nvPr/>
        </p:nvSpPr>
        <p:spPr>
          <a:xfrm rot="5400000">
            <a:off x="3798888" y="3724275"/>
            <a:ext cx="669925" cy="669925"/>
          </a:xfrm>
          <a:prstGeom prst="ellips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Baseball" id="408" name="Google Shape;4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8488" y="4881563"/>
            <a:ext cx="647700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Oak" id="409" name="Google Shape;409;p27"/>
          <p:cNvSpPr/>
          <p:nvPr/>
        </p:nvSpPr>
        <p:spPr>
          <a:xfrm rot="5400000">
            <a:off x="3800475" y="4873625"/>
            <a:ext cx="669925" cy="669925"/>
          </a:xfrm>
          <a:prstGeom prst="ellipse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10" name="Google Shape;410;p27"/>
          <p:cNvCxnSpPr/>
          <p:nvPr/>
        </p:nvCxnSpPr>
        <p:spPr>
          <a:xfrm>
            <a:off x="4738688" y="5194300"/>
            <a:ext cx="1219200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1" name="Google Shape;411;p27"/>
          <p:cNvSpPr txBox="1"/>
          <p:nvPr/>
        </p:nvSpPr>
        <p:spPr>
          <a:xfrm>
            <a:off x="6076950" y="3559175"/>
            <a:ext cx="21320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7"/>
          <p:cNvSpPr txBox="1"/>
          <p:nvPr/>
        </p:nvSpPr>
        <p:spPr>
          <a:xfrm>
            <a:off x="6143625" y="4806950"/>
            <a:ext cx="21320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 m/s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4384675" y="4300538"/>
            <a:ext cx="116046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4573588" y="5514975"/>
            <a:ext cx="11525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  <p:cxnSp>
        <p:nvCxnSpPr>
          <p:cNvPr id="415" name="Google Shape;415;p27"/>
          <p:cNvCxnSpPr/>
          <p:nvPr/>
        </p:nvCxnSpPr>
        <p:spPr>
          <a:xfrm>
            <a:off x="3671888" y="4797425"/>
            <a:ext cx="4638675" cy="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6" name="Google Shape;416;p27"/>
          <p:cNvSpPr txBox="1"/>
          <p:nvPr/>
        </p:nvSpPr>
        <p:spPr>
          <a:xfrm>
            <a:off x="6065838" y="3952875"/>
            <a:ext cx="2416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40( 0.14 ) 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7"/>
          <p:cNvSpPr txBox="1"/>
          <p:nvPr/>
        </p:nvSpPr>
        <p:spPr>
          <a:xfrm>
            <a:off x="6076950" y="4341813"/>
            <a:ext cx="25892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5.6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6132293" y="5210175"/>
            <a:ext cx="23637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50( 0.14 ) 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6145213" y="5622925"/>
            <a:ext cx="26193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kg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21" name="Google Shape;421;p27"/>
          <p:cNvCxnSpPr/>
          <p:nvPr/>
        </p:nvCxnSpPr>
        <p:spPr>
          <a:xfrm>
            <a:off x="4824413" y="4065588"/>
            <a:ext cx="947737" cy="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triangle"/>
            <a:tailEnd len="sm" w="sm" type="none"/>
          </a:ln>
        </p:spPr>
      </p:cxnSp>
      <p:pic>
        <p:nvPicPr>
          <p:cNvPr descr="ballbat.jpg" id="422" name="Google Shape;422;p27"/>
          <p:cNvPicPr preferRelativeResize="0"/>
          <p:nvPr/>
        </p:nvPicPr>
        <p:blipFill rotWithShape="1">
          <a:blip r:embed="rId5">
            <a:alphaModFix/>
          </a:blip>
          <a:srcRect b="19298" l="0" r="27895" t="13333"/>
          <a:stretch/>
        </p:blipFill>
        <p:spPr>
          <a:xfrm>
            <a:off x="6330950" y="168275"/>
            <a:ext cx="2349500" cy="16462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703263" y="5078413"/>
            <a:ext cx="7747000" cy="177958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a Newton is about a quarter-pound,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about 10500 / 4 = 2626 pounds – more than a ton of force!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Furthermore,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even greater than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679450" y="2011363"/>
            <a:ext cx="7761288" cy="305276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A 0.140-kg baseball comes in at 40.0 m/s, strikes the bat, and goes back out at 50.0 m/s.  If the collision lasts 1.20 ms (a typical value), find the average force exerted on the ball during the collision.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Thus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F = J /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=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12.6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1.20×10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= 10500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8"/>
          <p:cNvSpPr/>
          <p:nvPr/>
        </p:nvSpPr>
        <p:spPr>
          <a:xfrm>
            <a:off x="5326063" y="4024313"/>
            <a:ext cx="2722562" cy="979487"/>
          </a:xfrm>
          <a:custGeom>
            <a:rect b="b" l="l" r="r" t="t"/>
            <a:pathLst>
              <a:path extrusionOk="0" h="576" w="1277">
                <a:moveTo>
                  <a:pt x="0" y="576"/>
                </a:moveTo>
                <a:cubicBezTo>
                  <a:pt x="105" y="532"/>
                  <a:pt x="211" y="489"/>
                  <a:pt x="317" y="393"/>
                </a:cubicBezTo>
                <a:cubicBezTo>
                  <a:pt x="423" y="297"/>
                  <a:pt x="527" y="0"/>
                  <a:pt x="634" y="0"/>
                </a:cubicBezTo>
                <a:cubicBezTo>
                  <a:pt x="741" y="0"/>
                  <a:pt x="853" y="297"/>
                  <a:pt x="960" y="393"/>
                </a:cubicBezTo>
                <a:cubicBezTo>
                  <a:pt x="1067" y="489"/>
                  <a:pt x="1172" y="532"/>
                  <a:pt x="1277" y="576"/>
                </a:cubicBezTo>
              </a:path>
            </a:pathLst>
          </a:custGeom>
          <a:solidFill>
            <a:srgbClr val="FF3300"/>
          </a:solidFill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5311775" y="4473575"/>
            <a:ext cx="2762250" cy="530225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28"/>
          <p:cNvGrpSpPr/>
          <p:nvPr/>
        </p:nvGrpSpPr>
        <p:grpSpPr>
          <a:xfrm>
            <a:off x="5310188" y="3790950"/>
            <a:ext cx="2784475" cy="1228725"/>
            <a:chOff x="3705" y="1555"/>
            <a:chExt cx="1306" cy="422"/>
          </a:xfrm>
        </p:grpSpPr>
        <p:sp>
          <p:nvSpPr>
            <p:cNvPr id="434" name="Google Shape;434;p28"/>
            <p:cNvSpPr/>
            <p:nvPr/>
          </p:nvSpPr>
          <p:spPr>
            <a:xfrm>
              <a:off x="3715" y="1555"/>
              <a:ext cx="1287" cy="413"/>
            </a:xfrm>
            <a:prstGeom prst="rect">
              <a:avLst/>
            </a:prstGeom>
            <a:solidFill>
              <a:srgbClr val="BBE0E3">
                <a:alpha val="49803"/>
              </a:srgbClr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5" name="Google Shape;435;p28"/>
            <p:cNvCxnSpPr/>
            <p:nvPr/>
          </p:nvCxnSpPr>
          <p:spPr>
            <a:xfrm>
              <a:off x="5011" y="1555"/>
              <a:ext cx="0" cy="42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28"/>
            <p:cNvCxnSpPr/>
            <p:nvPr/>
          </p:nvCxnSpPr>
          <p:spPr>
            <a:xfrm>
              <a:off x="3705" y="1555"/>
              <a:ext cx="0" cy="42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7" name="Google Shape;437;p28"/>
          <p:cNvGrpSpPr/>
          <p:nvPr/>
        </p:nvGrpSpPr>
        <p:grpSpPr>
          <a:xfrm>
            <a:off x="6667500" y="3714750"/>
            <a:ext cx="2798763" cy="460375"/>
            <a:chOff x="3267" y="1877"/>
            <a:chExt cx="972" cy="158"/>
          </a:xfrm>
        </p:grpSpPr>
        <p:sp>
          <p:nvSpPr>
            <p:cNvPr id="438" name="Google Shape;438;p28"/>
            <p:cNvSpPr txBox="1"/>
            <p:nvPr/>
          </p:nvSpPr>
          <p:spPr>
            <a:xfrm>
              <a:off x="3848" y="1877"/>
              <a:ext cx="391" cy="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28"/>
            <p:cNvCxnSpPr/>
            <p:nvPr/>
          </p:nvCxnSpPr>
          <p:spPr>
            <a:xfrm>
              <a:off x="3267" y="1978"/>
              <a:ext cx="5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0" name="Google Shape;440;p28"/>
          <p:cNvGrpSpPr/>
          <p:nvPr/>
        </p:nvGrpSpPr>
        <p:grpSpPr>
          <a:xfrm>
            <a:off x="5303838" y="4273550"/>
            <a:ext cx="3408362" cy="460375"/>
            <a:chOff x="2331" y="2069"/>
            <a:chExt cx="1598" cy="158"/>
          </a:xfrm>
        </p:grpSpPr>
        <p:sp>
          <p:nvSpPr>
            <p:cNvPr id="441" name="Google Shape;441;p28"/>
            <p:cNvSpPr txBox="1"/>
            <p:nvPr/>
          </p:nvSpPr>
          <p:spPr>
            <a:xfrm>
              <a:off x="3754" y="2069"/>
              <a:ext cx="175" cy="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p28"/>
            <p:cNvCxnSpPr/>
            <p:nvPr/>
          </p:nvCxnSpPr>
          <p:spPr>
            <a:xfrm>
              <a:off x="2331" y="2138"/>
              <a:ext cx="14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443" name="Google Shape;443;p2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ballbat.jpg" id="444" name="Google Shape;444;p28"/>
          <p:cNvPicPr preferRelativeResize="0"/>
          <p:nvPr/>
        </p:nvPicPr>
        <p:blipFill rotWithShape="1">
          <a:blip r:embed="rId3">
            <a:alphaModFix/>
          </a:blip>
          <a:srcRect b="19298" l="0" r="27895" t="13333"/>
          <a:stretch/>
        </p:blipFill>
        <p:spPr>
          <a:xfrm>
            <a:off x="6330950" y="168275"/>
            <a:ext cx="2349500" cy="16462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9"/>
          <p:cNvSpPr/>
          <p:nvPr/>
        </p:nvSpPr>
        <p:spPr>
          <a:xfrm>
            <a:off x="685800" y="1549400"/>
            <a:ext cx="7772400" cy="10668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Sketching and interpreting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451" name="Google Shape;451;p2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674688" y="2574925"/>
            <a:ext cx="7781925" cy="42830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bat striking a ball imparts a force to it as shown in the graph. Find the impulse.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			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 the graph into simple areas of rectangles and triangles.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(1/2)(3)(9) = 13.5 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(4)(9) = 36 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(1/2)(3)(9) = 13.5 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13.5 + 36 + 13.5 = 63 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</a:t>
            </a:r>
            <a:endParaRPr baseline="-25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29"/>
          <p:cNvGrpSpPr/>
          <p:nvPr/>
        </p:nvGrpSpPr>
        <p:grpSpPr>
          <a:xfrm>
            <a:off x="827088" y="1979613"/>
            <a:ext cx="7464425" cy="536575"/>
            <a:chOff x="854463" y="5453679"/>
            <a:chExt cx="7464424" cy="536842"/>
          </a:xfrm>
        </p:grpSpPr>
        <p:sp>
          <p:nvSpPr>
            <p:cNvPr id="454" name="Google Shape;454;p29"/>
            <p:cNvSpPr/>
            <p:nvPr/>
          </p:nvSpPr>
          <p:spPr>
            <a:xfrm>
              <a:off x="990988" y="5460032"/>
              <a:ext cx="6196011" cy="530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 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area under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 vs. </a:t>
              </a:r>
              <a:r>
                <a:rPr i="1"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rgbClr val="2D2D8A"/>
                  </a:solidFill>
                  <a:latin typeface="Arial"/>
                  <a:ea typeface="Arial"/>
                  <a:cs typeface="Arial"/>
                  <a:sym typeface="Arial"/>
                </a:rPr>
                <a:t>graph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9"/>
            <p:cNvSpPr txBox="1"/>
            <p:nvPr/>
          </p:nvSpPr>
          <p:spPr>
            <a:xfrm>
              <a:off x="6932999" y="5464797"/>
              <a:ext cx="1385888" cy="46219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impulse</a:t>
              </a: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854463" y="5453679"/>
              <a:ext cx="7462836" cy="46854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29"/>
          <p:cNvGrpSpPr/>
          <p:nvPr/>
        </p:nvGrpSpPr>
        <p:grpSpPr>
          <a:xfrm>
            <a:off x="4783138" y="4251325"/>
            <a:ext cx="3751262" cy="2543175"/>
            <a:chOff x="2302" y="2188"/>
            <a:chExt cx="2363" cy="1602"/>
          </a:xfrm>
        </p:grpSpPr>
        <p:grpSp>
          <p:nvGrpSpPr>
            <p:cNvPr id="458" name="Google Shape;458;p29"/>
            <p:cNvGrpSpPr/>
            <p:nvPr/>
          </p:nvGrpSpPr>
          <p:grpSpPr>
            <a:xfrm>
              <a:off x="2736" y="2313"/>
              <a:ext cx="1729" cy="1037"/>
              <a:chOff x="2736" y="2313"/>
              <a:chExt cx="1729" cy="1037"/>
            </a:xfrm>
          </p:grpSpPr>
          <p:sp>
            <p:nvSpPr>
              <p:cNvPr id="459" name="Google Shape;459;p29"/>
              <p:cNvSpPr/>
              <p:nvPr/>
            </p:nvSpPr>
            <p:spPr>
              <a:xfrm>
                <a:off x="2736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9"/>
              <p:cNvSpPr/>
              <p:nvPr/>
            </p:nvSpPr>
            <p:spPr>
              <a:xfrm>
                <a:off x="2909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9"/>
              <p:cNvSpPr/>
              <p:nvPr/>
            </p:nvSpPr>
            <p:spPr>
              <a:xfrm>
                <a:off x="3082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9"/>
              <p:cNvSpPr/>
              <p:nvPr/>
            </p:nvSpPr>
            <p:spPr>
              <a:xfrm>
                <a:off x="3255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3428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9"/>
              <p:cNvSpPr/>
              <p:nvPr/>
            </p:nvSpPr>
            <p:spPr>
              <a:xfrm>
                <a:off x="3601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9"/>
              <p:cNvSpPr/>
              <p:nvPr/>
            </p:nvSpPr>
            <p:spPr>
              <a:xfrm>
                <a:off x="3774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9"/>
              <p:cNvSpPr/>
              <p:nvPr/>
            </p:nvSpPr>
            <p:spPr>
              <a:xfrm>
                <a:off x="3946" y="2313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9"/>
              <p:cNvSpPr/>
              <p:nvPr/>
            </p:nvSpPr>
            <p:spPr>
              <a:xfrm>
                <a:off x="4119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9"/>
              <p:cNvSpPr/>
              <p:nvPr/>
            </p:nvSpPr>
            <p:spPr>
              <a:xfrm>
                <a:off x="4292" y="231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9"/>
              <p:cNvSpPr/>
              <p:nvPr/>
            </p:nvSpPr>
            <p:spPr>
              <a:xfrm>
                <a:off x="2736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9"/>
              <p:cNvSpPr/>
              <p:nvPr/>
            </p:nvSpPr>
            <p:spPr>
              <a:xfrm>
                <a:off x="2909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9"/>
              <p:cNvSpPr/>
              <p:nvPr/>
            </p:nvSpPr>
            <p:spPr>
              <a:xfrm>
                <a:off x="3082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9"/>
              <p:cNvSpPr/>
              <p:nvPr/>
            </p:nvSpPr>
            <p:spPr>
              <a:xfrm>
                <a:off x="3255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9"/>
              <p:cNvSpPr/>
              <p:nvPr/>
            </p:nvSpPr>
            <p:spPr>
              <a:xfrm>
                <a:off x="3428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9"/>
              <p:cNvSpPr/>
              <p:nvPr/>
            </p:nvSpPr>
            <p:spPr>
              <a:xfrm>
                <a:off x="3601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9"/>
              <p:cNvSpPr/>
              <p:nvPr/>
            </p:nvSpPr>
            <p:spPr>
              <a:xfrm>
                <a:off x="3774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9"/>
              <p:cNvSpPr/>
              <p:nvPr/>
            </p:nvSpPr>
            <p:spPr>
              <a:xfrm>
                <a:off x="3946" y="2428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4119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4292" y="242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9"/>
              <p:cNvSpPr/>
              <p:nvPr/>
            </p:nvSpPr>
            <p:spPr>
              <a:xfrm>
                <a:off x="2736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9"/>
              <p:cNvSpPr/>
              <p:nvPr/>
            </p:nvSpPr>
            <p:spPr>
              <a:xfrm>
                <a:off x="2909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29"/>
              <p:cNvSpPr/>
              <p:nvPr/>
            </p:nvSpPr>
            <p:spPr>
              <a:xfrm>
                <a:off x="3082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29"/>
              <p:cNvSpPr/>
              <p:nvPr/>
            </p:nvSpPr>
            <p:spPr>
              <a:xfrm>
                <a:off x="3255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29"/>
              <p:cNvSpPr/>
              <p:nvPr/>
            </p:nvSpPr>
            <p:spPr>
              <a:xfrm>
                <a:off x="3428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29"/>
              <p:cNvSpPr/>
              <p:nvPr/>
            </p:nvSpPr>
            <p:spPr>
              <a:xfrm>
                <a:off x="3601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9"/>
              <p:cNvSpPr/>
              <p:nvPr/>
            </p:nvSpPr>
            <p:spPr>
              <a:xfrm>
                <a:off x="3774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9"/>
              <p:cNvSpPr/>
              <p:nvPr/>
            </p:nvSpPr>
            <p:spPr>
              <a:xfrm>
                <a:off x="3946" y="2543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29"/>
              <p:cNvSpPr/>
              <p:nvPr/>
            </p:nvSpPr>
            <p:spPr>
              <a:xfrm>
                <a:off x="4119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29"/>
              <p:cNvSpPr/>
              <p:nvPr/>
            </p:nvSpPr>
            <p:spPr>
              <a:xfrm>
                <a:off x="4292" y="254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9"/>
              <p:cNvSpPr/>
              <p:nvPr/>
            </p:nvSpPr>
            <p:spPr>
              <a:xfrm>
                <a:off x="2736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9"/>
              <p:cNvSpPr/>
              <p:nvPr/>
            </p:nvSpPr>
            <p:spPr>
              <a:xfrm>
                <a:off x="2909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>
                <a:off x="3082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9"/>
              <p:cNvSpPr/>
              <p:nvPr/>
            </p:nvSpPr>
            <p:spPr>
              <a:xfrm>
                <a:off x="3255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9"/>
              <p:cNvSpPr/>
              <p:nvPr/>
            </p:nvSpPr>
            <p:spPr>
              <a:xfrm>
                <a:off x="3428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9"/>
              <p:cNvSpPr/>
              <p:nvPr/>
            </p:nvSpPr>
            <p:spPr>
              <a:xfrm>
                <a:off x="3601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9"/>
              <p:cNvSpPr/>
              <p:nvPr/>
            </p:nvSpPr>
            <p:spPr>
              <a:xfrm>
                <a:off x="3774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9"/>
              <p:cNvSpPr/>
              <p:nvPr/>
            </p:nvSpPr>
            <p:spPr>
              <a:xfrm>
                <a:off x="3946" y="2658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>
                <a:off x="4119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9"/>
              <p:cNvSpPr/>
              <p:nvPr/>
            </p:nvSpPr>
            <p:spPr>
              <a:xfrm>
                <a:off x="4292" y="265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9"/>
              <p:cNvSpPr/>
              <p:nvPr/>
            </p:nvSpPr>
            <p:spPr>
              <a:xfrm>
                <a:off x="2736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9"/>
              <p:cNvSpPr/>
              <p:nvPr/>
            </p:nvSpPr>
            <p:spPr>
              <a:xfrm>
                <a:off x="2909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9"/>
              <p:cNvSpPr/>
              <p:nvPr/>
            </p:nvSpPr>
            <p:spPr>
              <a:xfrm>
                <a:off x="3082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9"/>
              <p:cNvSpPr/>
              <p:nvPr/>
            </p:nvSpPr>
            <p:spPr>
              <a:xfrm>
                <a:off x="3255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9"/>
              <p:cNvSpPr/>
              <p:nvPr/>
            </p:nvSpPr>
            <p:spPr>
              <a:xfrm>
                <a:off x="3428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29"/>
              <p:cNvSpPr/>
              <p:nvPr/>
            </p:nvSpPr>
            <p:spPr>
              <a:xfrm>
                <a:off x="3601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9"/>
              <p:cNvSpPr/>
              <p:nvPr/>
            </p:nvSpPr>
            <p:spPr>
              <a:xfrm>
                <a:off x="3774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9"/>
              <p:cNvSpPr/>
              <p:nvPr/>
            </p:nvSpPr>
            <p:spPr>
              <a:xfrm>
                <a:off x="3946" y="2773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29"/>
              <p:cNvSpPr/>
              <p:nvPr/>
            </p:nvSpPr>
            <p:spPr>
              <a:xfrm>
                <a:off x="4119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9"/>
              <p:cNvSpPr/>
              <p:nvPr/>
            </p:nvSpPr>
            <p:spPr>
              <a:xfrm>
                <a:off x="4292" y="277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29"/>
              <p:cNvSpPr/>
              <p:nvPr/>
            </p:nvSpPr>
            <p:spPr>
              <a:xfrm>
                <a:off x="2736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9"/>
              <p:cNvSpPr/>
              <p:nvPr/>
            </p:nvSpPr>
            <p:spPr>
              <a:xfrm>
                <a:off x="2909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9"/>
              <p:cNvSpPr/>
              <p:nvPr/>
            </p:nvSpPr>
            <p:spPr>
              <a:xfrm>
                <a:off x="3082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9"/>
              <p:cNvSpPr/>
              <p:nvPr/>
            </p:nvSpPr>
            <p:spPr>
              <a:xfrm>
                <a:off x="3255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29"/>
              <p:cNvSpPr/>
              <p:nvPr/>
            </p:nvSpPr>
            <p:spPr>
              <a:xfrm>
                <a:off x="3428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9"/>
              <p:cNvSpPr/>
              <p:nvPr/>
            </p:nvSpPr>
            <p:spPr>
              <a:xfrm>
                <a:off x="3601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29"/>
              <p:cNvSpPr/>
              <p:nvPr/>
            </p:nvSpPr>
            <p:spPr>
              <a:xfrm>
                <a:off x="3774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29"/>
              <p:cNvSpPr/>
              <p:nvPr/>
            </p:nvSpPr>
            <p:spPr>
              <a:xfrm>
                <a:off x="3946" y="2888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29"/>
              <p:cNvSpPr/>
              <p:nvPr/>
            </p:nvSpPr>
            <p:spPr>
              <a:xfrm>
                <a:off x="4119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29"/>
              <p:cNvSpPr/>
              <p:nvPr/>
            </p:nvSpPr>
            <p:spPr>
              <a:xfrm>
                <a:off x="4292" y="288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2736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9"/>
              <p:cNvSpPr/>
              <p:nvPr/>
            </p:nvSpPr>
            <p:spPr>
              <a:xfrm>
                <a:off x="2909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9"/>
              <p:cNvSpPr/>
              <p:nvPr/>
            </p:nvSpPr>
            <p:spPr>
              <a:xfrm>
                <a:off x="3082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3255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9"/>
              <p:cNvSpPr/>
              <p:nvPr/>
            </p:nvSpPr>
            <p:spPr>
              <a:xfrm>
                <a:off x="3428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9"/>
              <p:cNvSpPr/>
              <p:nvPr/>
            </p:nvSpPr>
            <p:spPr>
              <a:xfrm>
                <a:off x="3601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9"/>
              <p:cNvSpPr/>
              <p:nvPr/>
            </p:nvSpPr>
            <p:spPr>
              <a:xfrm>
                <a:off x="3774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9"/>
              <p:cNvSpPr/>
              <p:nvPr/>
            </p:nvSpPr>
            <p:spPr>
              <a:xfrm>
                <a:off x="3946" y="3003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9"/>
              <p:cNvSpPr/>
              <p:nvPr/>
            </p:nvSpPr>
            <p:spPr>
              <a:xfrm>
                <a:off x="4119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29"/>
              <p:cNvSpPr/>
              <p:nvPr/>
            </p:nvSpPr>
            <p:spPr>
              <a:xfrm>
                <a:off x="4292" y="300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29"/>
              <p:cNvSpPr/>
              <p:nvPr/>
            </p:nvSpPr>
            <p:spPr>
              <a:xfrm>
                <a:off x="2736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29"/>
              <p:cNvSpPr/>
              <p:nvPr/>
            </p:nvSpPr>
            <p:spPr>
              <a:xfrm>
                <a:off x="2909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29"/>
              <p:cNvSpPr/>
              <p:nvPr/>
            </p:nvSpPr>
            <p:spPr>
              <a:xfrm>
                <a:off x="3082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3255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29"/>
              <p:cNvSpPr/>
              <p:nvPr/>
            </p:nvSpPr>
            <p:spPr>
              <a:xfrm>
                <a:off x="3428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29"/>
              <p:cNvSpPr/>
              <p:nvPr/>
            </p:nvSpPr>
            <p:spPr>
              <a:xfrm>
                <a:off x="3601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9"/>
              <p:cNvSpPr/>
              <p:nvPr/>
            </p:nvSpPr>
            <p:spPr>
              <a:xfrm>
                <a:off x="3774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29"/>
              <p:cNvSpPr/>
              <p:nvPr/>
            </p:nvSpPr>
            <p:spPr>
              <a:xfrm>
                <a:off x="3946" y="3118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29"/>
              <p:cNvSpPr/>
              <p:nvPr/>
            </p:nvSpPr>
            <p:spPr>
              <a:xfrm>
                <a:off x="4119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9"/>
              <p:cNvSpPr/>
              <p:nvPr/>
            </p:nvSpPr>
            <p:spPr>
              <a:xfrm>
                <a:off x="4292" y="3119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29"/>
              <p:cNvSpPr/>
              <p:nvPr/>
            </p:nvSpPr>
            <p:spPr>
              <a:xfrm>
                <a:off x="2736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29"/>
              <p:cNvSpPr/>
              <p:nvPr/>
            </p:nvSpPr>
            <p:spPr>
              <a:xfrm>
                <a:off x="2909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29"/>
              <p:cNvSpPr/>
              <p:nvPr/>
            </p:nvSpPr>
            <p:spPr>
              <a:xfrm>
                <a:off x="3082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29"/>
              <p:cNvSpPr/>
              <p:nvPr/>
            </p:nvSpPr>
            <p:spPr>
              <a:xfrm>
                <a:off x="3255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9"/>
              <p:cNvSpPr/>
              <p:nvPr/>
            </p:nvSpPr>
            <p:spPr>
              <a:xfrm>
                <a:off x="3428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9"/>
              <p:cNvSpPr/>
              <p:nvPr/>
            </p:nvSpPr>
            <p:spPr>
              <a:xfrm>
                <a:off x="3601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29"/>
              <p:cNvSpPr/>
              <p:nvPr/>
            </p:nvSpPr>
            <p:spPr>
              <a:xfrm>
                <a:off x="3774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29"/>
              <p:cNvSpPr/>
              <p:nvPr/>
            </p:nvSpPr>
            <p:spPr>
              <a:xfrm>
                <a:off x="3946" y="3233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29"/>
              <p:cNvSpPr/>
              <p:nvPr/>
            </p:nvSpPr>
            <p:spPr>
              <a:xfrm>
                <a:off x="4119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29"/>
              <p:cNvSpPr/>
              <p:nvPr/>
            </p:nvSpPr>
            <p:spPr>
              <a:xfrm>
                <a:off x="4292" y="3234"/>
                <a:ext cx="173" cy="116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9" name="Google Shape;549;p29"/>
            <p:cNvSpPr txBox="1"/>
            <p:nvPr/>
          </p:nvSpPr>
          <p:spPr>
            <a:xfrm>
              <a:off x="2511" y="3225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50" name="Google Shape;550;p29"/>
            <p:cNvSpPr txBox="1"/>
            <p:nvPr/>
          </p:nvSpPr>
          <p:spPr>
            <a:xfrm>
              <a:off x="2520" y="2188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551" name="Google Shape;551;p29"/>
            <p:cNvSpPr txBox="1"/>
            <p:nvPr/>
          </p:nvSpPr>
          <p:spPr>
            <a:xfrm>
              <a:off x="2513" y="2879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552" name="Google Shape;552;p29"/>
            <p:cNvSpPr txBox="1"/>
            <p:nvPr/>
          </p:nvSpPr>
          <p:spPr>
            <a:xfrm>
              <a:off x="2521" y="2517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553" name="Google Shape;553;p29"/>
            <p:cNvSpPr txBox="1"/>
            <p:nvPr/>
          </p:nvSpPr>
          <p:spPr>
            <a:xfrm>
              <a:off x="2626" y="3340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54" name="Google Shape;554;p29"/>
            <p:cNvSpPr txBox="1"/>
            <p:nvPr/>
          </p:nvSpPr>
          <p:spPr>
            <a:xfrm>
              <a:off x="3492" y="3350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555" name="Google Shape;555;p29"/>
            <p:cNvSpPr txBox="1"/>
            <p:nvPr/>
          </p:nvSpPr>
          <p:spPr>
            <a:xfrm>
              <a:off x="4333" y="3350"/>
              <a:ext cx="33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56" name="Google Shape;556;p29"/>
            <p:cNvSpPr txBox="1"/>
            <p:nvPr/>
          </p:nvSpPr>
          <p:spPr>
            <a:xfrm rot="-5400000">
              <a:off x="1907" y="2682"/>
              <a:ext cx="108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Force </a:t>
              </a: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N</a:t>
              </a:r>
              <a:endParaRPr/>
            </a:p>
          </p:txBody>
        </p:sp>
        <p:sp>
          <p:nvSpPr>
            <p:cNvPr id="557" name="Google Shape;557;p29"/>
            <p:cNvSpPr txBox="1"/>
            <p:nvPr/>
          </p:nvSpPr>
          <p:spPr>
            <a:xfrm>
              <a:off x="3149" y="3499"/>
              <a:ext cx="9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Time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s</a:t>
              </a:r>
              <a:endParaRPr/>
            </a:p>
          </p:txBody>
        </p:sp>
      </p:grpSp>
      <p:sp>
        <p:nvSpPr>
          <p:cNvPr id="558" name="Google Shape;558;p29"/>
          <p:cNvSpPr/>
          <p:nvPr/>
        </p:nvSpPr>
        <p:spPr>
          <a:xfrm>
            <a:off x="5464175" y="4448175"/>
            <a:ext cx="2743200" cy="1658938"/>
          </a:xfrm>
          <a:custGeom>
            <a:rect b="b" l="l" r="r" t="t"/>
            <a:pathLst>
              <a:path extrusionOk="0" h="1045" w="1728">
                <a:moveTo>
                  <a:pt x="0" y="1045"/>
                </a:moveTo>
                <a:lnTo>
                  <a:pt x="523" y="0"/>
                </a:lnTo>
                <a:lnTo>
                  <a:pt x="1213" y="0"/>
                </a:lnTo>
                <a:lnTo>
                  <a:pt x="1728" y="103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7389813" y="4435475"/>
            <a:ext cx="793750" cy="1660525"/>
          </a:xfrm>
          <a:prstGeom prst="rtTriangle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9"/>
          <p:cNvSpPr/>
          <p:nvPr/>
        </p:nvSpPr>
        <p:spPr>
          <a:xfrm flipH="1">
            <a:off x="5502275" y="4437063"/>
            <a:ext cx="793750" cy="1660525"/>
          </a:xfrm>
          <a:prstGeom prst="rtTriangle">
            <a:avLst/>
          </a:prstGeom>
          <a:solidFill>
            <a:srgbClr val="FF99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6294438" y="4435475"/>
            <a:ext cx="1095375" cy="1660525"/>
          </a:xfrm>
          <a:prstGeom prst="rect">
            <a:avLst/>
          </a:prstGeom>
          <a:solidFill>
            <a:srgbClr val="66FF33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/>
          <p:cNvSpPr/>
          <p:nvPr/>
        </p:nvSpPr>
        <p:spPr>
          <a:xfrm>
            <a:off x="679450" y="2011363"/>
            <a:ext cx="7761288" cy="48466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a jet engine                                                produce thrust?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jet engine sucks                                                     in air (at about the speed                                                  that the plane is flying through the air), heats it up, and expels it at a greater velocity.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momentum of the air changes since its velocity does, and hence an impulse has been imparted to it by the engine.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engine feels an equal and opposite impulse.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∙Hence the engine creates a thrust.</a:t>
            </a:r>
            <a:endParaRPr/>
          </a:p>
        </p:txBody>
      </p:sp>
      <p:sp>
        <p:nvSpPr>
          <p:cNvPr id="568" name="Google Shape;568;p30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Image of Jet Engine" id="569" name="Google Shape;5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1688" y="1990725"/>
            <a:ext cx="3840162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0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grpSp>
        <p:nvGrpSpPr>
          <p:cNvPr id="571" name="Google Shape;571;p30"/>
          <p:cNvGrpSpPr/>
          <p:nvPr/>
        </p:nvGrpSpPr>
        <p:grpSpPr>
          <a:xfrm rot="233069">
            <a:off x="4679950" y="3344863"/>
            <a:ext cx="552450" cy="512762"/>
            <a:chOff x="4737" y="2342"/>
            <a:chExt cx="348" cy="323"/>
          </a:xfrm>
        </p:grpSpPr>
        <p:cxnSp>
          <p:nvCxnSpPr>
            <p:cNvPr id="572" name="Google Shape;572;p30"/>
            <p:cNvCxnSpPr/>
            <p:nvPr/>
          </p:nvCxnSpPr>
          <p:spPr>
            <a:xfrm flipH="1" rot="10800000">
              <a:off x="4737" y="2342"/>
              <a:ext cx="348" cy="121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3" name="Google Shape;573;p30"/>
            <p:cNvSpPr txBox="1"/>
            <p:nvPr/>
          </p:nvSpPr>
          <p:spPr>
            <a:xfrm>
              <a:off x="4808" y="2377"/>
              <a:ext cx="23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/>
            </a:p>
          </p:txBody>
        </p:sp>
      </p:grpSp>
      <p:grpSp>
        <p:nvGrpSpPr>
          <p:cNvPr id="574" name="Google Shape;574;p30"/>
          <p:cNvGrpSpPr/>
          <p:nvPr/>
        </p:nvGrpSpPr>
        <p:grpSpPr>
          <a:xfrm>
            <a:off x="7907338" y="2274888"/>
            <a:ext cx="938212" cy="531812"/>
            <a:chOff x="4737" y="2342"/>
            <a:chExt cx="348" cy="252"/>
          </a:xfrm>
        </p:grpSpPr>
        <p:cxnSp>
          <p:nvCxnSpPr>
            <p:cNvPr id="575" name="Google Shape;575;p30"/>
            <p:cNvCxnSpPr/>
            <p:nvPr/>
          </p:nvCxnSpPr>
          <p:spPr>
            <a:xfrm flipH="1" rot="10800000">
              <a:off x="4737" y="2342"/>
              <a:ext cx="348" cy="121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6" name="Google Shape;576;p30"/>
            <p:cNvSpPr txBox="1"/>
            <p:nvPr/>
          </p:nvSpPr>
          <p:spPr>
            <a:xfrm>
              <a:off x="4808" y="2377"/>
              <a:ext cx="233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</p:grpSp>
      <p:grpSp>
        <p:nvGrpSpPr>
          <p:cNvPr id="577" name="Google Shape;577;p30"/>
          <p:cNvGrpSpPr/>
          <p:nvPr/>
        </p:nvGrpSpPr>
        <p:grpSpPr>
          <a:xfrm>
            <a:off x="5656851" y="1971451"/>
            <a:ext cx="980487" cy="538387"/>
            <a:chOff x="3595" y="1266"/>
            <a:chExt cx="618" cy="339"/>
          </a:xfrm>
        </p:grpSpPr>
        <p:cxnSp>
          <p:nvCxnSpPr>
            <p:cNvPr id="578" name="Google Shape;578;p30"/>
            <p:cNvCxnSpPr/>
            <p:nvPr/>
          </p:nvCxnSpPr>
          <p:spPr>
            <a:xfrm flipH="1" rot="-10575150">
              <a:off x="3600" y="1285"/>
              <a:ext cx="591" cy="161"/>
            </a:xfrm>
            <a:prstGeom prst="straightConnector1">
              <a:avLst/>
            </a:prstGeom>
            <a:noFill/>
            <a:ln cap="flat" cmpd="sng" w="57150">
              <a:solidFill>
                <a:srgbClr val="008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79" name="Google Shape;579;p30"/>
            <p:cNvSpPr txBox="1"/>
            <p:nvPr/>
          </p:nvSpPr>
          <p:spPr>
            <a:xfrm>
              <a:off x="3818" y="1317"/>
              <a:ext cx="39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1"/>
          <p:cNvSpPr/>
          <p:nvPr/>
        </p:nvSpPr>
        <p:spPr>
          <a:xfrm>
            <a:off x="703263" y="4899025"/>
            <a:ext cx="7747000" cy="19589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equation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known as the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rocket engine equation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because it shows us how to calculate the thrust of a rocket engine.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second example will show how this is done.</a:t>
            </a:r>
            <a:endParaRPr/>
          </a:p>
        </p:txBody>
      </p:sp>
      <p:sp>
        <p:nvSpPr>
          <p:cNvPr id="586" name="Google Shape;586;p31"/>
          <p:cNvSpPr/>
          <p:nvPr/>
        </p:nvSpPr>
        <p:spPr>
          <a:xfrm>
            <a:off x="679450" y="2011363"/>
            <a:ext cx="7761288" cy="292639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have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(if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 is constant)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589" name="Google Shape;5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6575" y="0"/>
            <a:ext cx="9826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1"/>
          <p:cNvSpPr txBox="1"/>
          <p:nvPr/>
        </p:nvSpPr>
        <p:spPr>
          <a:xfrm>
            <a:off x="6119813" y="766763"/>
            <a:ext cx="2054225" cy="3478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is a 2-stage rocket.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i="1" lang="en-US" sz="2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orange tanks hold fuel</a:t>
            </a:r>
            <a:r>
              <a:rPr i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and the </a:t>
            </a:r>
            <a:r>
              <a:rPr i="1" lang="en-US" sz="20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blue tanks hold oxidizer</a:t>
            </a:r>
            <a:r>
              <a:rPr i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oxidizer is needed so that the rocket works without air.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"/>
          <p:cNvSpPr/>
          <p:nvPr/>
        </p:nvSpPr>
        <p:spPr>
          <a:xfrm>
            <a:off x="679450" y="2011363"/>
            <a:ext cx="7761288" cy="48466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purpose of the rocket nozzle?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the combustion chamber the gas                           particles have random directions.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shape of the nozzle is such that                                the particles in the sphere of combustion                          are deflected in such a way that they all                                come out antiparallel to the rocket.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∙This maximizes the impulse on the gases.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rocket feels an equal and opposite (maximized) impulse, creating a maximized thrust.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p32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599" name="Google Shape;599;p32"/>
          <p:cNvSpPr/>
          <p:nvPr/>
        </p:nvSpPr>
        <p:spPr>
          <a:xfrm>
            <a:off x="7246938" y="-96838"/>
            <a:ext cx="454025" cy="769938"/>
          </a:xfrm>
          <a:custGeom>
            <a:rect b="b" l="l" r="r" t="t"/>
            <a:pathLst>
              <a:path extrusionOk="0" h="485" w="286">
                <a:moveTo>
                  <a:pt x="248" y="0"/>
                </a:moveTo>
                <a:lnTo>
                  <a:pt x="99" y="135"/>
                </a:lnTo>
                <a:lnTo>
                  <a:pt x="0" y="182"/>
                </a:lnTo>
                <a:lnTo>
                  <a:pt x="25" y="331"/>
                </a:lnTo>
                <a:lnTo>
                  <a:pt x="286" y="485"/>
                </a:lnTo>
              </a:path>
            </a:pathLst>
          </a:custGeom>
          <a:noFill/>
          <a:ln cap="flat" cmpd="sng" w="76200">
            <a:solidFill>
              <a:srgbClr val="FF9933">
                <a:alpha val="49803"/>
              </a:srgbClr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0" name="Google Shape;600;p32"/>
          <p:cNvSpPr/>
          <p:nvPr/>
        </p:nvSpPr>
        <p:spPr>
          <a:xfrm>
            <a:off x="7437438" y="-47625"/>
            <a:ext cx="647700" cy="612775"/>
          </a:xfrm>
          <a:custGeom>
            <a:rect b="b" l="l" r="r" t="t"/>
            <a:pathLst>
              <a:path extrusionOk="0" h="386" w="408">
                <a:moveTo>
                  <a:pt x="408" y="0"/>
                </a:moveTo>
                <a:lnTo>
                  <a:pt x="15" y="182"/>
                </a:lnTo>
                <a:lnTo>
                  <a:pt x="0" y="227"/>
                </a:lnTo>
                <a:lnTo>
                  <a:pt x="302" y="386"/>
                </a:lnTo>
              </a:path>
            </a:pathLst>
          </a:custGeom>
          <a:noFill/>
          <a:ln cap="flat" cmpd="sng" w="76200">
            <a:solidFill>
              <a:srgbClr val="009999">
                <a:alpha val="49803"/>
              </a:srgbClr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7515225" y="1435100"/>
            <a:ext cx="1016000" cy="1016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2" name="Google Shape;602;p32"/>
          <p:cNvSpPr/>
          <p:nvPr/>
        </p:nvSpPr>
        <p:spPr>
          <a:xfrm rot="-5400000">
            <a:off x="7004844" y="3498057"/>
            <a:ext cx="3297237" cy="457200"/>
          </a:xfrm>
          <a:custGeom>
            <a:rect b="b" l="l" r="r" t="t"/>
            <a:pathLst>
              <a:path extrusionOk="0" h="288" w="2077">
                <a:moveTo>
                  <a:pt x="2077" y="0"/>
                </a:moveTo>
                <a:lnTo>
                  <a:pt x="1797" y="288"/>
                </a:lnTo>
                <a:lnTo>
                  <a:pt x="0" y="288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32"/>
          <p:cNvSpPr/>
          <p:nvPr/>
        </p:nvSpPr>
        <p:spPr>
          <a:xfrm rot="-5400000">
            <a:off x="5711031" y="3628232"/>
            <a:ext cx="3411537" cy="685800"/>
          </a:xfrm>
          <a:custGeom>
            <a:rect b="b" l="l" r="r" t="t"/>
            <a:pathLst>
              <a:path extrusionOk="0" h="10000" w="10948">
                <a:moveTo>
                  <a:pt x="10948" y="10000"/>
                </a:moveTo>
                <a:lnTo>
                  <a:pt x="9440" y="0"/>
                </a:lnTo>
                <a:lnTo>
                  <a:pt x="0" y="0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32"/>
          <p:cNvSpPr/>
          <p:nvPr/>
        </p:nvSpPr>
        <p:spPr>
          <a:xfrm rot="-5400000">
            <a:off x="5802312" y="3562351"/>
            <a:ext cx="3357563" cy="277812"/>
          </a:xfrm>
          <a:custGeom>
            <a:rect b="b" l="l" r="r" t="t"/>
            <a:pathLst>
              <a:path extrusionOk="0" h="175" w="2115">
                <a:moveTo>
                  <a:pt x="2115" y="175"/>
                </a:moveTo>
                <a:lnTo>
                  <a:pt x="2047" y="0"/>
                </a:lnTo>
                <a:lnTo>
                  <a:pt x="0" y="0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05" name="Google Shape;605;p32"/>
          <p:cNvCxnSpPr/>
          <p:nvPr/>
        </p:nvCxnSpPr>
        <p:spPr>
          <a:xfrm flipH="1" rot="-5400000">
            <a:off x="6725444" y="3644106"/>
            <a:ext cx="2638425" cy="476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06" name="Google Shape;6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5938" y="0"/>
            <a:ext cx="2278062" cy="40655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607" name="Google Shape;607;p32"/>
          <p:cNvGrpSpPr/>
          <p:nvPr/>
        </p:nvGrpSpPr>
        <p:grpSpPr>
          <a:xfrm>
            <a:off x="6231988" y="1224684"/>
            <a:ext cx="450961" cy="1139483"/>
            <a:chOff x="6231988" y="1224684"/>
            <a:chExt cx="450961" cy="1139483"/>
          </a:xfrm>
        </p:grpSpPr>
        <p:cxnSp>
          <p:nvCxnSpPr>
            <p:cNvPr id="608" name="Google Shape;608;p32"/>
            <p:cNvCxnSpPr/>
            <p:nvPr/>
          </p:nvCxnSpPr>
          <p:spPr>
            <a:xfrm rot="-5400000">
              <a:off x="6112413" y="1793631"/>
              <a:ext cx="1139483" cy="1588"/>
            </a:xfrm>
            <a:prstGeom prst="straightConnector1">
              <a:avLst/>
            </a:prstGeom>
            <a:noFill/>
            <a:ln cap="flat" cmpd="sng" w="53975">
              <a:solidFill>
                <a:srgbClr val="009999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09" name="Google Shape;609;p32"/>
            <p:cNvSpPr txBox="1"/>
            <p:nvPr/>
          </p:nvSpPr>
          <p:spPr>
            <a:xfrm>
              <a:off x="6231988" y="1617784"/>
              <a:ext cx="372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3"/>
          <p:cNvSpPr/>
          <p:nvPr/>
        </p:nvSpPr>
        <p:spPr>
          <a:xfrm>
            <a:off x="685800" y="1549400"/>
            <a:ext cx="7772400" cy="9969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Impulse and force – time graphs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679450" y="2489200"/>
            <a:ext cx="7761288" cy="4368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 A rocket engine consumes                                     fuel and oxidizer at a rate of 275 kg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                                 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used a chemical reaction that gives                      the product gas particles an average                       speed of 1250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Find the thrust                     produced by this engine.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units of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kg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                     clearly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275.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speed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1250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given. Thus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275×1250 = 344000 N.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3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18" name="Google Shape;618;p33"/>
          <p:cNvGrpSpPr/>
          <p:nvPr/>
        </p:nvGrpSpPr>
        <p:grpSpPr>
          <a:xfrm>
            <a:off x="838200" y="1968500"/>
            <a:ext cx="7464425" cy="465138"/>
            <a:chOff x="838200" y="4063853"/>
            <a:chExt cx="7464425" cy="465943"/>
          </a:xfrm>
        </p:grpSpPr>
        <p:sp>
          <p:nvSpPr>
            <p:cNvPr id="619" name="Google Shape;619;p33"/>
            <p:cNvSpPr/>
            <p:nvPr/>
          </p:nvSpPr>
          <p:spPr>
            <a:xfrm>
              <a:off x="974724" y="4073394"/>
              <a:ext cx="2795417" cy="400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( Δ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 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Δ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sp>
          <p:nvSpPr>
            <p:cNvPr id="620" name="Google Shape;620;p33"/>
            <p:cNvSpPr txBox="1"/>
            <p:nvPr/>
          </p:nvSpPr>
          <p:spPr>
            <a:xfrm>
              <a:off x="4924425" y="4063853"/>
              <a:ext cx="3378200" cy="4611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rocket engine equation</a:t>
              </a: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838200" y="4067033"/>
              <a:ext cx="7462838" cy="46276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2" name="Google Shape;622;p33"/>
          <p:cNvSpPr/>
          <p:nvPr/>
        </p:nvSpPr>
        <p:spPr>
          <a:xfrm>
            <a:off x="6654800" y="3446463"/>
            <a:ext cx="842963" cy="1504950"/>
          </a:xfrm>
          <a:custGeom>
            <a:rect b="b" l="l" r="r" t="t"/>
            <a:pathLst>
              <a:path extrusionOk="0" h="1505243" w="844062">
                <a:moveTo>
                  <a:pt x="844062" y="0"/>
                </a:moveTo>
                <a:lnTo>
                  <a:pt x="829994" y="450166"/>
                </a:lnTo>
                <a:lnTo>
                  <a:pt x="436099" y="506437"/>
                </a:lnTo>
                <a:lnTo>
                  <a:pt x="196948" y="801858"/>
                </a:lnTo>
                <a:lnTo>
                  <a:pt x="0" y="914400"/>
                </a:lnTo>
                <a:lnTo>
                  <a:pt x="56271" y="1069144"/>
                </a:lnTo>
                <a:lnTo>
                  <a:pt x="478302" y="1294227"/>
                </a:lnTo>
                <a:lnTo>
                  <a:pt x="464234" y="1505243"/>
                </a:lnTo>
              </a:path>
            </a:pathLst>
          </a:custGeom>
          <a:noFill/>
          <a:ln cap="flat" cmpd="sng" w="76200">
            <a:solidFill>
              <a:srgbClr val="FF9900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6794500" y="3713163"/>
            <a:ext cx="465138" cy="858837"/>
          </a:xfrm>
          <a:custGeom>
            <a:rect b="b" l="l" r="r" t="t"/>
            <a:pathLst>
              <a:path extrusionOk="0" h="858129" w="464234">
                <a:moveTo>
                  <a:pt x="464234" y="0"/>
                </a:moveTo>
                <a:lnTo>
                  <a:pt x="464234" y="478301"/>
                </a:lnTo>
                <a:lnTo>
                  <a:pt x="0" y="675249"/>
                </a:lnTo>
                <a:lnTo>
                  <a:pt x="42203" y="745587"/>
                </a:lnTo>
                <a:lnTo>
                  <a:pt x="295422" y="858129"/>
                </a:lnTo>
              </a:path>
            </a:pathLst>
          </a:custGeom>
          <a:noFill/>
          <a:ln cap="flat" cmpd="sng" w="76200">
            <a:solidFill>
              <a:srgbClr val="009999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7653338" y="3614738"/>
            <a:ext cx="969962" cy="928687"/>
          </a:xfrm>
          <a:custGeom>
            <a:rect b="b" l="l" r="r" t="t"/>
            <a:pathLst>
              <a:path extrusionOk="0" h="928468" w="970670">
                <a:moveTo>
                  <a:pt x="140677" y="281354"/>
                </a:moveTo>
                <a:lnTo>
                  <a:pt x="126609" y="759655"/>
                </a:lnTo>
                <a:lnTo>
                  <a:pt x="0" y="787791"/>
                </a:lnTo>
                <a:lnTo>
                  <a:pt x="42203" y="900332"/>
                </a:lnTo>
                <a:lnTo>
                  <a:pt x="351692" y="928468"/>
                </a:lnTo>
                <a:lnTo>
                  <a:pt x="450166" y="844061"/>
                </a:lnTo>
                <a:lnTo>
                  <a:pt x="590843" y="801858"/>
                </a:lnTo>
                <a:lnTo>
                  <a:pt x="801858" y="464234"/>
                </a:lnTo>
                <a:lnTo>
                  <a:pt x="970670" y="407963"/>
                </a:lnTo>
                <a:lnTo>
                  <a:pt x="970670" y="211015"/>
                </a:lnTo>
                <a:lnTo>
                  <a:pt x="604910" y="0"/>
                </a:lnTo>
                <a:lnTo>
                  <a:pt x="576775" y="84406"/>
                </a:lnTo>
              </a:path>
            </a:pathLst>
          </a:custGeom>
          <a:noFill/>
          <a:ln cap="flat" cmpd="sng" w="76200">
            <a:solidFill>
              <a:srgbClr val="FF9900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7934325" y="3741738"/>
            <a:ext cx="534988" cy="604837"/>
          </a:xfrm>
          <a:custGeom>
            <a:rect b="b" l="l" r="r" t="t"/>
            <a:pathLst>
              <a:path extrusionOk="0" h="604911" w="534573">
                <a:moveTo>
                  <a:pt x="84407" y="154745"/>
                </a:moveTo>
                <a:lnTo>
                  <a:pt x="84407" y="464234"/>
                </a:lnTo>
                <a:lnTo>
                  <a:pt x="0" y="534572"/>
                </a:lnTo>
                <a:lnTo>
                  <a:pt x="126610" y="604911"/>
                </a:lnTo>
                <a:lnTo>
                  <a:pt x="267287" y="548640"/>
                </a:lnTo>
                <a:lnTo>
                  <a:pt x="196948" y="407963"/>
                </a:lnTo>
                <a:lnTo>
                  <a:pt x="520505" y="295422"/>
                </a:lnTo>
                <a:lnTo>
                  <a:pt x="534573" y="182880"/>
                </a:lnTo>
                <a:lnTo>
                  <a:pt x="168813" y="0"/>
                </a:lnTo>
              </a:path>
            </a:pathLst>
          </a:custGeom>
          <a:noFill/>
          <a:ln cap="flat" cmpd="sng" w="76200">
            <a:solidFill>
              <a:srgbClr val="009999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7791450" y="4632325"/>
            <a:ext cx="773113" cy="766763"/>
          </a:xfrm>
          <a:prstGeom prst="ellipse">
            <a:avLst/>
          </a:prstGeom>
          <a:solidFill>
            <a:srgbClr val="FF0000">
              <a:alpha val="5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7693025" y="4713288"/>
            <a:ext cx="995363" cy="1536700"/>
          </a:xfrm>
          <a:prstGeom prst="ellipse">
            <a:avLst/>
          </a:prstGeom>
          <a:solidFill>
            <a:srgbClr val="FF9900">
              <a:alpha val="5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7497763" y="4865688"/>
            <a:ext cx="1392237" cy="1992312"/>
          </a:xfrm>
          <a:prstGeom prst="ellipse">
            <a:avLst/>
          </a:prstGeom>
          <a:solidFill>
            <a:schemeClr val="accen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6775450" y="5135563"/>
            <a:ext cx="774700" cy="768350"/>
          </a:xfrm>
          <a:prstGeom prst="ellipse">
            <a:avLst/>
          </a:prstGeom>
          <a:solidFill>
            <a:srgbClr val="FF0000">
              <a:alpha val="5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6677025" y="5218113"/>
            <a:ext cx="996950" cy="1536700"/>
          </a:xfrm>
          <a:prstGeom prst="ellipse">
            <a:avLst/>
          </a:prstGeom>
          <a:solidFill>
            <a:srgbClr val="FF9900">
              <a:alpha val="5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1" name="Google Shape;631;p33"/>
          <p:cNvSpPr/>
          <p:nvPr/>
        </p:nvSpPr>
        <p:spPr>
          <a:xfrm>
            <a:off x="6483350" y="5370513"/>
            <a:ext cx="1392238" cy="1992312"/>
          </a:xfrm>
          <a:prstGeom prst="ellipse">
            <a:avLst/>
          </a:prstGeom>
          <a:solidFill>
            <a:schemeClr val="accent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LR87-AJ-5_PerspectiveDWG" id="632" name="Google Shape;6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5375" y="2349500"/>
            <a:ext cx="2968625" cy="45085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4"/>
          <p:cNvSpPr/>
          <p:nvPr/>
        </p:nvSpPr>
        <p:spPr>
          <a:xfrm>
            <a:off x="703263" y="6035675"/>
            <a:ext cx="7747000" cy="82232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during a process a physical quantity does not change, that quantity is said to be conserved.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685800" y="1549400"/>
            <a:ext cx="7772400" cy="45275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∙Recall Newton’s second law (p-form):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the net force acting on an object is zero, we have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 =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=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words, if the net force is zero, then the momentum does not change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constant.</a:t>
            </a:r>
            <a:endParaRPr/>
          </a:p>
        </p:txBody>
      </p:sp>
      <p:grpSp>
        <p:nvGrpSpPr>
          <p:cNvPr id="640" name="Google Shape;640;p34"/>
          <p:cNvGrpSpPr/>
          <p:nvPr/>
        </p:nvGrpSpPr>
        <p:grpSpPr>
          <a:xfrm>
            <a:off x="839788" y="5145088"/>
            <a:ext cx="7464425" cy="831850"/>
            <a:chOff x="839788" y="5399088"/>
            <a:chExt cx="7464425" cy="830997"/>
          </a:xfrm>
        </p:grpSpPr>
        <p:sp>
          <p:nvSpPr>
            <p:cNvPr id="641" name="Google Shape;641;p34"/>
            <p:cNvSpPr/>
            <p:nvPr/>
          </p:nvSpPr>
          <p:spPr>
            <a:xfrm>
              <a:off x="976313" y="5464108"/>
              <a:ext cx="4210050" cy="321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4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839788" y="5402260"/>
              <a:ext cx="7462837" cy="81513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4" name="Google Shape;644;p3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45" name="Google Shape;645;p34"/>
          <p:cNvGrpSpPr/>
          <p:nvPr/>
        </p:nvGrpSpPr>
        <p:grpSpPr>
          <a:xfrm>
            <a:off x="838200" y="2347913"/>
            <a:ext cx="7464425" cy="465137"/>
            <a:chOff x="838200" y="4063853"/>
            <a:chExt cx="7464426" cy="465943"/>
          </a:xfrm>
        </p:grpSpPr>
        <p:sp>
          <p:nvSpPr>
            <p:cNvPr id="646" name="Google Shape;646;p34"/>
            <p:cNvSpPr/>
            <p:nvPr/>
          </p:nvSpPr>
          <p:spPr>
            <a:xfrm>
              <a:off x="974725" y="4073395"/>
              <a:ext cx="2478088" cy="321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Δ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 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Δ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47" name="Google Shape;647;p34"/>
            <p:cNvSpPr txBox="1"/>
            <p:nvPr/>
          </p:nvSpPr>
          <p:spPr>
            <a:xfrm>
              <a:off x="3911600" y="4063853"/>
              <a:ext cx="4391026" cy="46117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 (p-form)</a:t>
              </a: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838200" y="4067034"/>
              <a:ext cx="7462839" cy="46276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5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∙Recall that a system is a collection of more than one body, mutually interacting with each other – for example, colliding billiard balls: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Newton’s third law guarantees that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Thus we can refine the conservation of momentum:</a:t>
            </a:r>
            <a:endParaRPr baseline="-25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35"/>
          <p:cNvGrpSpPr/>
          <p:nvPr/>
        </p:nvGrpSpPr>
        <p:grpSpPr>
          <a:xfrm>
            <a:off x="839788" y="5997575"/>
            <a:ext cx="7464425" cy="831850"/>
            <a:chOff x="839788" y="5399088"/>
            <a:chExt cx="7464425" cy="830997"/>
          </a:xfrm>
        </p:grpSpPr>
        <p:sp>
          <p:nvSpPr>
            <p:cNvPr id="656" name="Google Shape;656;p35"/>
            <p:cNvSpPr/>
            <p:nvPr/>
          </p:nvSpPr>
          <p:spPr>
            <a:xfrm>
              <a:off x="976313" y="5464109"/>
              <a:ext cx="4210050" cy="321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5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839788" y="5402260"/>
              <a:ext cx="7462837" cy="81513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9" name="Google Shape;659;p3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0" name="Google Shape;660;p35"/>
          <p:cNvSpPr/>
          <p:nvPr/>
        </p:nvSpPr>
        <p:spPr>
          <a:xfrm>
            <a:off x="709613" y="3094891"/>
            <a:ext cx="7748587" cy="1772532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1" name="Google Shape;661;p35"/>
          <p:cNvSpPr/>
          <p:nvPr/>
        </p:nvSpPr>
        <p:spPr>
          <a:xfrm>
            <a:off x="2911475" y="3516313"/>
            <a:ext cx="552450" cy="552450"/>
          </a:xfrm>
          <a:prstGeom prst="ellipse">
            <a:avLst/>
          </a:prstGeom>
          <a:gradFill>
            <a:gsLst>
              <a:gs pos="0">
                <a:srgbClr val="FF3300"/>
              </a:gs>
              <a:gs pos="100000">
                <a:srgbClr val="7618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2" name="Google Shape;662;p35"/>
          <p:cNvSpPr/>
          <p:nvPr/>
        </p:nvSpPr>
        <p:spPr>
          <a:xfrm>
            <a:off x="2914650" y="4070350"/>
            <a:ext cx="552450" cy="55245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7623175" y="3819525"/>
            <a:ext cx="552450" cy="55245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64" name="Google Shape;664;p35"/>
          <p:cNvGrpSpPr/>
          <p:nvPr/>
        </p:nvGrpSpPr>
        <p:grpSpPr>
          <a:xfrm>
            <a:off x="7735888" y="0"/>
            <a:ext cx="1408112" cy="1538288"/>
            <a:chOff x="7735888" y="0"/>
            <a:chExt cx="1408112" cy="1538288"/>
          </a:xfrm>
        </p:grpSpPr>
        <p:sp>
          <p:nvSpPr>
            <p:cNvPr id="665" name="Google Shape;665;p35"/>
            <p:cNvSpPr/>
            <p:nvPr/>
          </p:nvSpPr>
          <p:spPr>
            <a:xfrm>
              <a:off x="7735888" y="0"/>
              <a:ext cx="1408112" cy="153828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66" name="Google Shape;666;p35"/>
            <p:cNvSpPr/>
            <p:nvPr/>
          </p:nvSpPr>
          <p:spPr>
            <a:xfrm>
              <a:off x="7916863" y="222250"/>
              <a:ext cx="552450" cy="552450"/>
            </a:xfrm>
            <a:prstGeom prst="ellipse">
              <a:avLst/>
            </a:prstGeom>
            <a:gradFill>
              <a:gsLst>
                <a:gs pos="0">
                  <a:srgbClr val="FF3300"/>
                </a:gs>
                <a:gs pos="100000">
                  <a:srgbClr val="7618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67" name="Google Shape;667;p35"/>
            <p:cNvSpPr/>
            <p:nvPr/>
          </p:nvSpPr>
          <p:spPr>
            <a:xfrm>
              <a:off x="7920038" y="776288"/>
              <a:ext cx="552450" cy="55245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3236B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8380413" y="525463"/>
              <a:ext cx="552450" cy="55245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69" name="Google Shape;669;p35"/>
          <p:cNvGrpSpPr/>
          <p:nvPr/>
        </p:nvGrpSpPr>
        <p:grpSpPr>
          <a:xfrm>
            <a:off x="8147050" y="474663"/>
            <a:ext cx="504825" cy="338137"/>
            <a:chOff x="1971" y="2934"/>
            <a:chExt cx="364" cy="244"/>
          </a:xfrm>
        </p:grpSpPr>
        <p:cxnSp>
          <p:nvCxnSpPr>
            <p:cNvPr id="670" name="Google Shape;670;p35"/>
            <p:cNvCxnSpPr/>
            <p:nvPr/>
          </p:nvCxnSpPr>
          <p:spPr>
            <a:xfrm rot="10800000">
              <a:off x="1971" y="2934"/>
              <a:ext cx="181" cy="121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671" name="Google Shape;671;p35"/>
            <p:cNvCxnSpPr/>
            <p:nvPr/>
          </p:nvCxnSpPr>
          <p:spPr>
            <a:xfrm>
              <a:off x="2154" y="3057"/>
              <a:ext cx="181" cy="121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672" name="Google Shape;672;p35"/>
          <p:cNvGrpSpPr/>
          <p:nvPr/>
        </p:nvGrpSpPr>
        <p:grpSpPr>
          <a:xfrm>
            <a:off x="8164513" y="836613"/>
            <a:ext cx="515937" cy="227012"/>
            <a:chOff x="1934" y="3133"/>
            <a:chExt cx="416" cy="204"/>
          </a:xfrm>
        </p:grpSpPr>
        <p:cxnSp>
          <p:nvCxnSpPr>
            <p:cNvPr id="673" name="Google Shape;673;p35"/>
            <p:cNvCxnSpPr/>
            <p:nvPr/>
          </p:nvCxnSpPr>
          <p:spPr>
            <a:xfrm flipH="1">
              <a:off x="1934" y="3238"/>
              <a:ext cx="204" cy="99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674" name="Google Shape;674;p35"/>
            <p:cNvCxnSpPr/>
            <p:nvPr/>
          </p:nvCxnSpPr>
          <p:spPr>
            <a:xfrm flipH="1" rot="10800000">
              <a:off x="2146" y="3133"/>
              <a:ext cx="204" cy="99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675" name="Google Shape;675;p35"/>
          <p:cNvSpPr txBox="1"/>
          <p:nvPr/>
        </p:nvSpPr>
        <p:spPr>
          <a:xfrm>
            <a:off x="6246055" y="-7"/>
            <a:ext cx="14630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The internal forces cancel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6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3" name="Google Shape;683;p36"/>
          <p:cNvSpPr/>
          <p:nvPr/>
        </p:nvSpPr>
        <p:spPr>
          <a:xfrm>
            <a:off x="698500" y="2911475"/>
            <a:ext cx="7761288" cy="3946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2500-kg gondola car                                       traveling at 3.0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1500-kg                                                  of sand dropped into it as it travels                                                            by. Find the initial momentum of                                                the system.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The system consists of sand and car: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0,car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0,car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2500(3) = 7500 kgms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0,sand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sand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0,sand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1500(0) =       0 kgms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0,car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0,sand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 + 7500 kgms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7500 kgms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6"/>
          <p:cNvSpPr/>
          <p:nvPr/>
        </p:nvSpPr>
        <p:spPr>
          <a:xfrm flipH="1" rot="10800000">
            <a:off x="5724525" y="2841625"/>
            <a:ext cx="1168400" cy="1084263"/>
          </a:xfrm>
          <a:prstGeom prst="trapezoid">
            <a:avLst>
              <a:gd fmla="val 38861" name="adj"/>
            </a:avLst>
          </a:prstGeom>
          <a:gradFill>
            <a:gsLst>
              <a:gs pos="0">
                <a:srgbClr val="7C7C7C"/>
              </a:gs>
              <a:gs pos="50000">
                <a:srgbClr val="B4B4B4"/>
              </a:gs>
              <a:gs pos="100000">
                <a:srgbClr val="D8D8D8"/>
              </a:gs>
            </a:gsLst>
            <a:lin ang="5400000" scaled="0"/>
          </a:gra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5" name="Google Shape;685;p36"/>
          <p:cNvSpPr/>
          <p:nvPr/>
        </p:nvSpPr>
        <p:spPr>
          <a:xfrm flipH="1" rot="10800000">
            <a:off x="5753100" y="2870200"/>
            <a:ext cx="1111250" cy="1082675"/>
          </a:xfrm>
          <a:prstGeom prst="trapezoid">
            <a:avLst>
              <a:gd fmla="val 40587" name="adj"/>
            </a:avLst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86" name="Google Shape;686;p36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687" name="Google Shape;687;p36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6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0" name="Google Shape;69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0538" y="3919538"/>
            <a:ext cx="3573462" cy="94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8350" y="5508625"/>
            <a:ext cx="1012825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6"/>
          <p:cNvSpPr/>
          <p:nvPr/>
        </p:nvSpPr>
        <p:spPr>
          <a:xfrm flipH="1" rot="10800000">
            <a:off x="7478713" y="5959475"/>
            <a:ext cx="300037" cy="307975"/>
          </a:xfrm>
          <a:prstGeom prst="trapezoid">
            <a:avLst>
              <a:gd fmla="val 41886" name="adj"/>
            </a:avLst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93" name="Google Shape;69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3" y="4843463"/>
            <a:ext cx="9134475" cy="12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36"/>
          <p:cNvGrpSpPr/>
          <p:nvPr/>
        </p:nvGrpSpPr>
        <p:grpSpPr>
          <a:xfrm>
            <a:off x="8061325" y="6388100"/>
            <a:ext cx="1012825" cy="342900"/>
            <a:chOff x="7962314" y="6203852"/>
            <a:chExt cx="1181686" cy="400313"/>
          </a:xfrm>
        </p:grpSpPr>
        <p:sp>
          <p:nvSpPr>
            <p:cNvPr id="695" name="Google Shape;695;p36"/>
            <p:cNvSpPr/>
            <p:nvPr/>
          </p:nvSpPr>
          <p:spPr>
            <a:xfrm flipH="1">
              <a:off x="8145680" y="6203852"/>
              <a:ext cx="759391" cy="159384"/>
            </a:xfrm>
            <a:prstGeom prst="trapezoid">
              <a:avLst>
                <a:gd fmla="val 41886" name="adj"/>
              </a:avLst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696" name="Google Shape;696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62314" y="6290790"/>
              <a:ext cx="1181686" cy="313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7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7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698500" y="2911475"/>
            <a:ext cx="7761288" cy="3946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2500-kg gondola car                                       traveling at 3.0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1500-kg                                                  of sand dropped into it as it travels                                                            by. Find the final speed of                                                the system.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The initial and final momentums are equal: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7500 kgms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p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(2500 + 1500)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4000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7500 = 4000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1.9 ms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05" name="Google Shape;705;p37"/>
          <p:cNvSpPr/>
          <p:nvPr/>
        </p:nvSpPr>
        <p:spPr>
          <a:xfrm flipH="1" rot="10800000">
            <a:off x="5724525" y="2841625"/>
            <a:ext cx="1168400" cy="1084263"/>
          </a:xfrm>
          <a:prstGeom prst="trapezoid">
            <a:avLst>
              <a:gd fmla="val 38861" name="adj"/>
            </a:avLst>
          </a:prstGeom>
          <a:gradFill>
            <a:gsLst>
              <a:gs pos="0">
                <a:srgbClr val="7C7C7C"/>
              </a:gs>
              <a:gs pos="50000">
                <a:srgbClr val="B4B4B4"/>
              </a:gs>
              <a:gs pos="100000">
                <a:srgbClr val="D8D8D8"/>
              </a:gs>
            </a:gsLst>
            <a:lin ang="5400000" scaled="0"/>
          </a:gra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6" name="Google Shape;706;p37"/>
          <p:cNvSpPr/>
          <p:nvPr/>
        </p:nvSpPr>
        <p:spPr>
          <a:xfrm flipH="1" rot="10800000">
            <a:off x="5753100" y="2870200"/>
            <a:ext cx="1111250" cy="1082675"/>
          </a:xfrm>
          <a:prstGeom prst="trapezoid">
            <a:avLst>
              <a:gd fmla="val 40587" name="adj"/>
            </a:avLst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07" name="Google Shape;707;p37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708" name="Google Shape;708;p37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7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1" name="Google Shape;7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0538" y="3919538"/>
            <a:ext cx="3573462" cy="94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3" y="4843463"/>
            <a:ext cx="91344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8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8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0" name="Google Shape;720;p38"/>
          <p:cNvSpPr/>
          <p:nvPr/>
        </p:nvSpPr>
        <p:spPr>
          <a:xfrm>
            <a:off x="698500" y="2911475"/>
            <a:ext cx="7761288" cy="3946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2500-kg gondola car                                       traveling at 3.0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1500-kg                                                  of sand dropped into it as it travels                                                            by. If the dump lasts 4.5 s, what is                                     the average force on the car?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=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m*v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m*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∆v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(2500)(1.9 – 3.0) / (4.5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(2500)(-1.1) / (4.5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-610 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8"/>
          <p:cNvSpPr/>
          <p:nvPr/>
        </p:nvSpPr>
        <p:spPr>
          <a:xfrm flipH="1" rot="10800000">
            <a:off x="5724525" y="2841625"/>
            <a:ext cx="1168400" cy="1084263"/>
          </a:xfrm>
          <a:prstGeom prst="trapezoid">
            <a:avLst>
              <a:gd fmla="val 38861" name="adj"/>
            </a:avLst>
          </a:prstGeom>
          <a:gradFill>
            <a:gsLst>
              <a:gs pos="0">
                <a:srgbClr val="7C7C7C"/>
              </a:gs>
              <a:gs pos="50000">
                <a:srgbClr val="B4B4B4"/>
              </a:gs>
              <a:gs pos="100000">
                <a:srgbClr val="D8D8D8"/>
              </a:gs>
            </a:gsLst>
            <a:lin ang="5400000" scaled="0"/>
          </a:gra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2" name="Google Shape;722;p38"/>
          <p:cNvSpPr/>
          <p:nvPr/>
        </p:nvSpPr>
        <p:spPr>
          <a:xfrm flipH="1" rot="10800000">
            <a:off x="5753100" y="2870200"/>
            <a:ext cx="1111250" cy="1082675"/>
          </a:xfrm>
          <a:prstGeom prst="trapezoid">
            <a:avLst>
              <a:gd fmla="val 40587" name="adj"/>
            </a:avLst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23" name="Google Shape;723;p38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724" name="Google Shape;724;p38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8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7" name="Google Shape;72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0538" y="3919538"/>
            <a:ext cx="3573462" cy="94773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728" name="Google Shape;72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3" y="4843463"/>
            <a:ext cx="91344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9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5" name="Google Shape;735;p39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736" name="Google Shape;736;p39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9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39"/>
          <p:cNvSpPr/>
          <p:nvPr/>
        </p:nvSpPr>
        <p:spPr>
          <a:xfrm>
            <a:off x="698500" y="2924175"/>
            <a:ext cx="7761288" cy="39338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12-kg block of ice is struck by a hammer so that it breaks into two pieces. The 4.0-kg piece travels travels at +16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x-direction. What is the velocity of the other piece?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Make before/after sketches!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initial momentum of the two is 0.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CONST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we see that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(8 + 4)(0) = 8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+ 4(16) →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-8.0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 </a:t>
            </a:r>
            <a:endParaRPr/>
          </a:p>
        </p:txBody>
      </p:sp>
      <p:sp>
        <p:nvSpPr>
          <p:cNvPr id="740" name="Google Shape;740;p39"/>
          <p:cNvSpPr/>
          <p:nvPr/>
        </p:nvSpPr>
        <p:spPr>
          <a:xfrm>
            <a:off x="6437313" y="458788"/>
            <a:ext cx="468312" cy="468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1" name="Google Shape;741;p39"/>
          <p:cNvSpPr/>
          <p:nvPr/>
        </p:nvSpPr>
        <p:spPr>
          <a:xfrm>
            <a:off x="6907213" y="461963"/>
            <a:ext cx="276225" cy="468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42" name="Google Shape;742;p39"/>
          <p:cNvGrpSpPr/>
          <p:nvPr/>
        </p:nvGrpSpPr>
        <p:grpSpPr>
          <a:xfrm>
            <a:off x="7051675" y="4365625"/>
            <a:ext cx="468313" cy="471488"/>
            <a:chOff x="3245" y="2918"/>
            <a:chExt cx="295" cy="297"/>
          </a:xfrm>
        </p:grpSpPr>
        <p:sp>
          <p:nvSpPr>
            <p:cNvPr id="743" name="Google Shape;743;p39"/>
            <p:cNvSpPr/>
            <p:nvPr/>
          </p:nvSpPr>
          <p:spPr>
            <a:xfrm>
              <a:off x="3245" y="2920"/>
              <a:ext cx="295" cy="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9"/>
            <p:cNvSpPr txBox="1"/>
            <p:nvPr/>
          </p:nvSpPr>
          <p:spPr>
            <a:xfrm>
              <a:off x="3297" y="2918"/>
              <a:ext cx="2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grpSp>
        <p:nvGrpSpPr>
          <p:cNvPr id="745" name="Google Shape;745;p39"/>
          <p:cNvGrpSpPr/>
          <p:nvPr/>
        </p:nvGrpSpPr>
        <p:grpSpPr>
          <a:xfrm>
            <a:off x="7510463" y="4371975"/>
            <a:ext cx="363537" cy="468313"/>
            <a:chOff x="3534" y="2922"/>
            <a:chExt cx="229" cy="295"/>
          </a:xfrm>
        </p:grpSpPr>
        <p:sp>
          <p:nvSpPr>
            <p:cNvPr id="746" name="Google Shape;746;p39"/>
            <p:cNvSpPr/>
            <p:nvPr/>
          </p:nvSpPr>
          <p:spPr>
            <a:xfrm>
              <a:off x="3541" y="2922"/>
              <a:ext cx="174" cy="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9"/>
            <p:cNvSpPr txBox="1"/>
            <p:nvPr/>
          </p:nvSpPr>
          <p:spPr>
            <a:xfrm>
              <a:off x="3534" y="2928"/>
              <a:ext cx="2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748" name="Google Shape;748;p39"/>
          <p:cNvGrpSpPr/>
          <p:nvPr/>
        </p:nvGrpSpPr>
        <p:grpSpPr>
          <a:xfrm>
            <a:off x="6778625" y="5137150"/>
            <a:ext cx="468313" cy="471488"/>
            <a:chOff x="3245" y="2918"/>
            <a:chExt cx="295" cy="297"/>
          </a:xfrm>
        </p:grpSpPr>
        <p:sp>
          <p:nvSpPr>
            <p:cNvPr id="749" name="Google Shape;749;p39"/>
            <p:cNvSpPr/>
            <p:nvPr/>
          </p:nvSpPr>
          <p:spPr>
            <a:xfrm>
              <a:off x="3245" y="2920"/>
              <a:ext cx="295" cy="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9"/>
            <p:cNvSpPr txBox="1"/>
            <p:nvPr/>
          </p:nvSpPr>
          <p:spPr>
            <a:xfrm>
              <a:off x="3297" y="2918"/>
              <a:ext cx="2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grpSp>
        <p:nvGrpSpPr>
          <p:cNvPr id="751" name="Google Shape;751;p39"/>
          <p:cNvGrpSpPr/>
          <p:nvPr/>
        </p:nvGrpSpPr>
        <p:grpSpPr>
          <a:xfrm>
            <a:off x="7850188" y="5124450"/>
            <a:ext cx="363537" cy="468313"/>
            <a:chOff x="3534" y="2922"/>
            <a:chExt cx="229" cy="295"/>
          </a:xfrm>
        </p:grpSpPr>
        <p:sp>
          <p:nvSpPr>
            <p:cNvPr id="752" name="Google Shape;752;p39"/>
            <p:cNvSpPr/>
            <p:nvPr/>
          </p:nvSpPr>
          <p:spPr>
            <a:xfrm>
              <a:off x="3541" y="2922"/>
              <a:ext cx="174" cy="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9"/>
            <p:cNvSpPr txBox="1"/>
            <p:nvPr/>
          </p:nvSpPr>
          <p:spPr>
            <a:xfrm>
              <a:off x="3534" y="2928"/>
              <a:ext cx="2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754" name="Google Shape;754;p39"/>
          <p:cNvGrpSpPr/>
          <p:nvPr/>
        </p:nvGrpSpPr>
        <p:grpSpPr>
          <a:xfrm>
            <a:off x="8242300" y="5233988"/>
            <a:ext cx="901700" cy="457200"/>
            <a:chOff x="5048" y="3623"/>
            <a:chExt cx="568" cy="288"/>
          </a:xfrm>
        </p:grpSpPr>
        <p:cxnSp>
          <p:nvCxnSpPr>
            <p:cNvPr id="755" name="Google Shape;755;p39"/>
            <p:cNvCxnSpPr/>
            <p:nvPr/>
          </p:nvCxnSpPr>
          <p:spPr>
            <a:xfrm>
              <a:off x="5048" y="3638"/>
              <a:ext cx="56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56" name="Google Shape;756;p39"/>
            <p:cNvSpPr txBox="1"/>
            <p:nvPr/>
          </p:nvSpPr>
          <p:spPr>
            <a:xfrm>
              <a:off x="5139" y="3623"/>
              <a:ext cx="33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</p:grpSp>
      <p:grpSp>
        <p:nvGrpSpPr>
          <p:cNvPr id="757" name="Google Shape;757;p39"/>
          <p:cNvGrpSpPr/>
          <p:nvPr/>
        </p:nvGrpSpPr>
        <p:grpSpPr>
          <a:xfrm>
            <a:off x="6316663" y="5211763"/>
            <a:ext cx="541337" cy="457200"/>
            <a:chOff x="3797" y="3246"/>
            <a:chExt cx="341" cy="288"/>
          </a:xfrm>
        </p:grpSpPr>
        <p:cxnSp>
          <p:nvCxnSpPr>
            <p:cNvPr id="758" name="Google Shape;758;p39"/>
            <p:cNvCxnSpPr/>
            <p:nvPr/>
          </p:nvCxnSpPr>
          <p:spPr>
            <a:xfrm rot="10800000">
              <a:off x="3797" y="3289"/>
              <a:ext cx="34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59" name="Google Shape;759;p39"/>
            <p:cNvSpPr txBox="1"/>
            <p:nvPr/>
          </p:nvSpPr>
          <p:spPr>
            <a:xfrm>
              <a:off x="3883" y="324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</p:grpSp>
      <p:sp>
        <p:nvSpPr>
          <p:cNvPr id="760" name="Google Shape;760;p39"/>
          <p:cNvSpPr/>
          <p:nvPr/>
        </p:nvSpPr>
        <p:spPr>
          <a:xfrm>
            <a:off x="6973888" y="4175125"/>
            <a:ext cx="1123950" cy="685800"/>
          </a:xfrm>
          <a:prstGeom prst="rect">
            <a:avLst/>
          </a:prstGeom>
          <a:solidFill>
            <a:srgbClr val="FF99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9"/>
          <p:cNvSpPr/>
          <p:nvPr/>
        </p:nvSpPr>
        <p:spPr>
          <a:xfrm>
            <a:off x="1722438" y="6278563"/>
            <a:ext cx="1263650" cy="352425"/>
          </a:xfrm>
          <a:prstGeom prst="rect">
            <a:avLst/>
          </a:prstGeom>
          <a:solidFill>
            <a:srgbClr val="FF99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2" name="Google Shape;762;p39"/>
          <p:cNvSpPr/>
          <p:nvPr/>
        </p:nvSpPr>
        <p:spPr>
          <a:xfrm>
            <a:off x="3263900" y="6281738"/>
            <a:ext cx="493713" cy="352425"/>
          </a:xfrm>
          <a:prstGeom prst="rect">
            <a:avLst/>
          </a:prstGeom>
          <a:solidFill>
            <a:srgbClr val="66FFFF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3" name="Google Shape;763;p39"/>
          <p:cNvSpPr/>
          <p:nvPr/>
        </p:nvSpPr>
        <p:spPr>
          <a:xfrm>
            <a:off x="6543675" y="4960938"/>
            <a:ext cx="931863" cy="685800"/>
          </a:xfrm>
          <a:prstGeom prst="rect">
            <a:avLst/>
          </a:prstGeom>
          <a:solidFill>
            <a:srgbClr val="66FFFF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9"/>
          <p:cNvSpPr/>
          <p:nvPr/>
        </p:nvSpPr>
        <p:spPr>
          <a:xfrm>
            <a:off x="3954463" y="6275388"/>
            <a:ext cx="793750" cy="352425"/>
          </a:xfrm>
          <a:prstGeom prst="rect">
            <a:avLst/>
          </a:prstGeom>
          <a:solidFill>
            <a:srgbClr val="0080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5" name="Google Shape;765;p39"/>
          <p:cNvSpPr/>
          <p:nvPr/>
        </p:nvSpPr>
        <p:spPr>
          <a:xfrm>
            <a:off x="7761288" y="4951413"/>
            <a:ext cx="1112837" cy="685800"/>
          </a:xfrm>
          <a:prstGeom prst="rect">
            <a:avLst/>
          </a:prstGeom>
          <a:solidFill>
            <a:srgbClr val="0080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3" name="Google Shape;773;p40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4" name="Google Shape;774;p40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775" name="Google Shape;775;p40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0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8" name="Google Shape;778;p40"/>
          <p:cNvSpPr/>
          <p:nvPr/>
        </p:nvSpPr>
        <p:spPr>
          <a:xfrm>
            <a:off x="698500" y="2889250"/>
            <a:ext cx="7761288" cy="39687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730-kg Smart Car traveling at 25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(x-dir) collides with a stationary 1800-kg Dodge Charger. The two vehicles stick together. Find their velocity immediately after the collision.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 Make sketches!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(730)(25)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1800(0)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730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1800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18250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2530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18250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2530 = 7.2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Sand" id="779" name="Google Shape;779;p40"/>
          <p:cNvSpPr/>
          <p:nvPr/>
        </p:nvSpPr>
        <p:spPr>
          <a:xfrm>
            <a:off x="179388" y="4965700"/>
            <a:ext cx="8723312" cy="444500"/>
          </a:xfrm>
          <a:custGeom>
            <a:rect b="b" l="l" r="r" t="t"/>
            <a:pathLst>
              <a:path extrusionOk="0" h="568" w="5495">
                <a:moveTo>
                  <a:pt x="0" y="568"/>
                </a:moveTo>
                <a:lnTo>
                  <a:pt x="516" y="0"/>
                </a:lnTo>
                <a:lnTo>
                  <a:pt x="5495" y="0"/>
                </a:lnTo>
                <a:lnTo>
                  <a:pt x="4896" y="561"/>
                </a:lnTo>
                <a:lnTo>
                  <a:pt x="0" y="568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odge charger police car" id="780" name="Google Shape;78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288" y="3898900"/>
            <a:ext cx="2446337" cy="183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9GcTptwVuvDpYUoZG8_CTp3wMdEU7KykY2d4OJkfcG7LawlZCfHWsTQ" id="781" name="Google Shape;781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738" y="4305300"/>
            <a:ext cx="1743075" cy="1085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40"/>
          <p:cNvGrpSpPr/>
          <p:nvPr/>
        </p:nvGrpSpPr>
        <p:grpSpPr>
          <a:xfrm>
            <a:off x="4021138" y="3883025"/>
            <a:ext cx="3259137" cy="1835150"/>
            <a:chOff x="2940" y="133"/>
            <a:chExt cx="2053" cy="1156"/>
          </a:xfrm>
        </p:grpSpPr>
        <p:pic>
          <p:nvPicPr>
            <p:cNvPr descr="dodge charger police car" id="783" name="Google Shape;783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52" y="133"/>
              <a:ext cx="1541" cy="1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d9GcTptwVuvDpYUoZG8_CTp3wMdEU7KykY2d4OJkfcG7LawlZCfHWsTQ" id="784" name="Google Shape;784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40" y="413"/>
              <a:ext cx="1098" cy="6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5" name="Google Shape;785;p40"/>
          <p:cNvGrpSpPr/>
          <p:nvPr/>
        </p:nvGrpSpPr>
        <p:grpSpPr>
          <a:xfrm>
            <a:off x="5513388" y="325438"/>
            <a:ext cx="1857375" cy="904875"/>
            <a:chOff x="3395" y="-67"/>
            <a:chExt cx="1170" cy="570"/>
          </a:xfrm>
        </p:grpSpPr>
        <p:sp>
          <p:nvSpPr>
            <p:cNvPr id="786" name="Google Shape;786;p40"/>
            <p:cNvSpPr/>
            <p:nvPr/>
          </p:nvSpPr>
          <p:spPr>
            <a:xfrm>
              <a:off x="3547" y="107"/>
              <a:ext cx="121" cy="12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4200" y="76"/>
              <a:ext cx="182" cy="18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8" name="Google Shape;788;p40"/>
            <p:cNvCxnSpPr/>
            <p:nvPr/>
          </p:nvCxnSpPr>
          <p:spPr>
            <a:xfrm>
              <a:off x="3661" y="167"/>
              <a:ext cx="47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89" name="Google Shape;789;p40"/>
            <p:cNvSpPr txBox="1"/>
            <p:nvPr/>
          </p:nvSpPr>
          <p:spPr>
            <a:xfrm>
              <a:off x="3395" y="215"/>
              <a:ext cx="43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730</a:t>
              </a:r>
              <a:endParaRPr/>
            </a:p>
          </p:txBody>
        </p:sp>
        <p:sp>
          <p:nvSpPr>
            <p:cNvPr id="790" name="Google Shape;790;p40"/>
            <p:cNvSpPr txBox="1"/>
            <p:nvPr/>
          </p:nvSpPr>
          <p:spPr>
            <a:xfrm>
              <a:off x="4021" y="215"/>
              <a:ext cx="5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1800</a:t>
              </a:r>
              <a:endParaRPr/>
            </a:p>
          </p:txBody>
        </p:sp>
        <p:sp>
          <p:nvSpPr>
            <p:cNvPr id="791" name="Google Shape;791;p40"/>
            <p:cNvSpPr txBox="1"/>
            <p:nvPr/>
          </p:nvSpPr>
          <p:spPr>
            <a:xfrm>
              <a:off x="3727" y="-67"/>
              <a:ext cx="33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/>
            </a:p>
          </p:txBody>
        </p:sp>
        <p:sp>
          <p:nvSpPr>
            <p:cNvPr id="792" name="Google Shape;792;p40"/>
            <p:cNvSpPr txBox="1"/>
            <p:nvPr/>
          </p:nvSpPr>
          <p:spPr>
            <a:xfrm>
              <a:off x="4323" y="-6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793" name="Google Shape;793;p40"/>
          <p:cNvGrpSpPr/>
          <p:nvPr/>
        </p:nvGrpSpPr>
        <p:grpSpPr>
          <a:xfrm>
            <a:off x="7612063" y="234950"/>
            <a:ext cx="1350962" cy="1370013"/>
            <a:chOff x="4416" y="240"/>
            <a:chExt cx="851" cy="863"/>
          </a:xfrm>
        </p:grpSpPr>
        <p:sp>
          <p:nvSpPr>
            <p:cNvPr id="794" name="Google Shape;794;p40"/>
            <p:cNvSpPr/>
            <p:nvPr/>
          </p:nvSpPr>
          <p:spPr>
            <a:xfrm>
              <a:off x="4639" y="464"/>
              <a:ext cx="121" cy="12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4747" y="433"/>
              <a:ext cx="182" cy="182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6" name="Google Shape;796;p40"/>
            <p:cNvCxnSpPr/>
            <p:nvPr/>
          </p:nvCxnSpPr>
          <p:spPr>
            <a:xfrm>
              <a:off x="4935" y="524"/>
              <a:ext cx="19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97" name="Google Shape;797;p40"/>
            <p:cNvSpPr txBox="1"/>
            <p:nvPr/>
          </p:nvSpPr>
          <p:spPr>
            <a:xfrm>
              <a:off x="4416" y="585"/>
              <a:ext cx="851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   730 </a:t>
              </a:r>
              <a:r>
                <a:rPr lang="en-US" sz="24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+1800</a:t>
              </a:r>
              <a:endParaRPr/>
            </a:p>
          </p:txBody>
        </p:sp>
        <p:sp>
          <p:nvSpPr>
            <p:cNvPr id="798" name="Google Shape;798;p40"/>
            <p:cNvSpPr txBox="1"/>
            <p:nvPr/>
          </p:nvSpPr>
          <p:spPr>
            <a:xfrm>
              <a:off x="4950" y="240"/>
              <a:ext cx="30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v</a:t>
              </a:r>
              <a:r>
                <a:rPr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i="1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9" name="Google Shape;799;p40"/>
          <p:cNvSpPr txBox="1"/>
          <p:nvPr/>
        </p:nvSpPr>
        <p:spPr>
          <a:xfrm>
            <a:off x="5842000" y="-12700"/>
            <a:ext cx="10493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800" name="Google Shape;800;p40"/>
          <p:cNvSpPr txBox="1"/>
          <p:nvPr/>
        </p:nvSpPr>
        <p:spPr>
          <a:xfrm>
            <a:off x="7839075" y="-12700"/>
            <a:ext cx="79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1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41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808" name="Google Shape;808;p41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1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810" name="Google Shape;810;p41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p41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loaded Glock-22,                                          having a mass of 975 g, fires                                                   a 9.15-g bullet with a muzzle                                        velocity of 300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gun’s recoil velocity.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Glock,f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bullet,f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975(0) = (975 – 9.15)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(9.15)(-300)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= 965.85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2745 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2745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965.85 = 2.84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12" name="Google Shape;812;p41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13" name="Google Shape;8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1738" y="2874963"/>
            <a:ext cx="3427412" cy="2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8313" y="733425"/>
            <a:ext cx="1574800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6088" y="142875"/>
            <a:ext cx="477837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4550" y="122238"/>
            <a:ext cx="1195388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1"/>
          <p:cNvSpPr/>
          <p:nvPr/>
        </p:nvSpPr>
        <p:spPr>
          <a:xfrm>
            <a:off x="5094288" y="3041650"/>
            <a:ext cx="2478087" cy="173038"/>
          </a:xfrm>
          <a:prstGeom prst="rect">
            <a:avLst/>
          </a:prstGeom>
          <a:gradFill>
            <a:gsLst>
              <a:gs pos="0">
                <a:schemeClr val="dk2"/>
              </a:gs>
              <a:gs pos="50000">
                <a:srgbClr val="FFFFFF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18" name="Google Shape;818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23113" y="3044825"/>
            <a:ext cx="133350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24713" y="3041650"/>
            <a:ext cx="349250" cy="169863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1"/>
          <p:cNvSpPr/>
          <p:nvPr/>
        </p:nvSpPr>
        <p:spPr>
          <a:xfrm>
            <a:off x="8384345" y="970670"/>
            <a:ext cx="759655" cy="12660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1" name="Google Shape;821;p41"/>
          <p:cNvSpPr/>
          <p:nvPr/>
        </p:nvSpPr>
        <p:spPr>
          <a:xfrm>
            <a:off x="8174038" y="957263"/>
            <a:ext cx="182562" cy="125412"/>
          </a:xfrm>
          <a:prstGeom prst="rect">
            <a:avLst/>
          </a:prstGeom>
          <a:solidFill>
            <a:srgbClr val="D9D9D9">
              <a:alpha val="5254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2" name="Google Shape;822;p41"/>
          <p:cNvSpPr/>
          <p:nvPr/>
        </p:nvSpPr>
        <p:spPr>
          <a:xfrm>
            <a:off x="7315200" y="773113"/>
            <a:ext cx="871538" cy="479425"/>
          </a:xfrm>
          <a:prstGeom prst="rect">
            <a:avLst/>
          </a:prstGeom>
          <a:solidFill>
            <a:srgbClr val="FF0000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2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9" name="Google Shape;829;p42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830" name="Google Shape;830;p42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2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3" name="Google Shape;833;p42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loaded Glock-22,                                          having a mass of 975 g, fires                                                   a 9.15-g bullet with a muzzle                                        velocity of 300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change in kinetic energy                                             of the gun/bullet system.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J. Then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(1/2)(0.975 – 0.00915)2.84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(1/2)(0.00915)300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416 J.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416 – 0 = 416 J.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2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35" name="Google Shape;83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1738" y="2874963"/>
            <a:ext cx="3427412" cy="2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8313" y="733425"/>
            <a:ext cx="1574800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6088" y="142875"/>
            <a:ext cx="477837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4550" y="122238"/>
            <a:ext cx="1195388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2"/>
          <p:cNvSpPr/>
          <p:nvPr/>
        </p:nvSpPr>
        <p:spPr>
          <a:xfrm>
            <a:off x="5094288" y="3041650"/>
            <a:ext cx="2478087" cy="173038"/>
          </a:xfrm>
          <a:prstGeom prst="rect">
            <a:avLst/>
          </a:prstGeom>
          <a:gradFill>
            <a:gsLst>
              <a:gs pos="0">
                <a:schemeClr val="dk2"/>
              </a:gs>
              <a:gs pos="50000">
                <a:srgbClr val="FFFFFF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0" name="Google Shape;840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23113" y="3044825"/>
            <a:ext cx="133350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24713" y="3041650"/>
            <a:ext cx="349250" cy="16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3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Image of Jet Airplane" id="848" name="Google Shape;8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2325" y="-114300"/>
            <a:ext cx="2555875" cy="20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43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Conservation of linear momentum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0" name="Google Shape;850;p43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851" name="Google Shape;851;p43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3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853" name="Google Shape;853;p43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4" name="Google Shape;854;p43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the ailerons on a plane’s                                    wing cause it to roll?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the ailerons oppose each other.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this picture the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right aileron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deflects air downward.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∙Conserving momentum, the right wing dips </a:t>
            </a:r>
            <a:r>
              <a:rPr b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upward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this picture the </a:t>
            </a:r>
            <a:r>
              <a:rPr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left aileron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deflects air upward.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∙Conserving momentum, the left wing dips </a:t>
            </a:r>
            <a:r>
              <a:rPr b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downward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cxnSp>
        <p:nvCxnSpPr>
          <p:cNvPr id="855" name="Google Shape;855;p43"/>
          <p:cNvCxnSpPr/>
          <p:nvPr/>
        </p:nvCxnSpPr>
        <p:spPr>
          <a:xfrm flipH="1" rot="10800000">
            <a:off x="5294313" y="3133725"/>
            <a:ext cx="1046162" cy="584200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43"/>
          <p:cNvCxnSpPr/>
          <p:nvPr/>
        </p:nvCxnSpPr>
        <p:spPr>
          <a:xfrm>
            <a:off x="6364288" y="3140075"/>
            <a:ext cx="0" cy="1419225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57" name="Google Shape;8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4950" y="2597150"/>
            <a:ext cx="3135313" cy="203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8" name="Google Shape;858;p43"/>
          <p:cNvCxnSpPr/>
          <p:nvPr/>
        </p:nvCxnSpPr>
        <p:spPr>
          <a:xfrm flipH="1" rot="10800000">
            <a:off x="7005638" y="4002088"/>
            <a:ext cx="1046162" cy="58420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43"/>
          <p:cNvCxnSpPr/>
          <p:nvPr/>
        </p:nvCxnSpPr>
        <p:spPr>
          <a:xfrm>
            <a:off x="8050213" y="2613025"/>
            <a:ext cx="0" cy="1419225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860" name="Google Shape;860;p43"/>
          <p:cNvGrpSpPr/>
          <p:nvPr/>
        </p:nvGrpSpPr>
        <p:grpSpPr>
          <a:xfrm>
            <a:off x="5753100" y="2728913"/>
            <a:ext cx="466725" cy="490537"/>
            <a:chOff x="5753685" y="2729132"/>
            <a:chExt cx="465384" cy="489801"/>
          </a:xfrm>
        </p:grpSpPr>
        <p:cxnSp>
          <p:nvCxnSpPr>
            <p:cNvPr id="861" name="Google Shape;861;p43"/>
            <p:cNvCxnSpPr/>
            <p:nvPr/>
          </p:nvCxnSpPr>
          <p:spPr>
            <a:xfrm>
              <a:off x="6219069" y="2729132"/>
              <a:ext cx="0" cy="372306"/>
            </a:xfrm>
            <a:prstGeom prst="straightConnector1">
              <a:avLst/>
            </a:prstGeom>
            <a:noFill/>
            <a:ln cap="flat" cmpd="sng" w="57150">
              <a:solidFill>
                <a:srgbClr val="009999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862" name="Google Shape;862;p43"/>
            <p:cNvSpPr txBox="1"/>
            <p:nvPr/>
          </p:nvSpPr>
          <p:spPr>
            <a:xfrm>
              <a:off x="5753685" y="2757664"/>
              <a:ext cx="337166" cy="461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grpSp>
        <p:nvGrpSpPr>
          <p:cNvPr id="863" name="Google Shape;863;p43"/>
          <p:cNvGrpSpPr/>
          <p:nvPr/>
        </p:nvGrpSpPr>
        <p:grpSpPr>
          <a:xfrm>
            <a:off x="8031163" y="4175125"/>
            <a:ext cx="393700" cy="461963"/>
            <a:chOff x="6219069" y="2672860"/>
            <a:chExt cx="392756" cy="461665"/>
          </a:xfrm>
        </p:grpSpPr>
        <p:cxnSp>
          <p:nvCxnSpPr>
            <p:cNvPr id="864" name="Google Shape;864;p43"/>
            <p:cNvCxnSpPr/>
            <p:nvPr/>
          </p:nvCxnSpPr>
          <p:spPr>
            <a:xfrm>
              <a:off x="6219069" y="2729132"/>
              <a:ext cx="0" cy="372306"/>
            </a:xfrm>
            <a:prstGeom prst="straightConnector1">
              <a:avLst/>
            </a:prstGeom>
            <a:noFill/>
            <a:ln cap="flat" cmpd="sng" w="57150">
              <a:solidFill>
                <a:srgbClr val="00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5" name="Google Shape;865;p43"/>
            <p:cNvSpPr txBox="1"/>
            <p:nvPr/>
          </p:nvSpPr>
          <p:spPr>
            <a:xfrm>
              <a:off x="6274498" y="2672860"/>
              <a:ext cx="33732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4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billiard balls colliding in such a way that the speeds of the balls in the system remain unchanged.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The red ball has the same speed as the white ball…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Both balls have same speeds both before and after…</a:t>
            </a:r>
            <a:endParaRPr/>
          </a:p>
        </p:txBody>
      </p:sp>
      <p:sp>
        <p:nvSpPr>
          <p:cNvPr id="872" name="Google Shape;872;p44"/>
          <p:cNvSpPr/>
          <p:nvPr/>
        </p:nvSpPr>
        <p:spPr>
          <a:xfrm>
            <a:off x="685800" y="1549400"/>
            <a:ext cx="7772400" cy="13208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Comparing elastic collisions and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an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 collision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kinetic energy is conserved (it does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change). 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73" name="Google Shape;873;p4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4" name="Google Shape;874;p44"/>
          <p:cNvSpPr/>
          <p:nvPr/>
        </p:nvSpPr>
        <p:spPr>
          <a:xfrm>
            <a:off x="709613" y="4178103"/>
            <a:ext cx="7748587" cy="773725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5" name="Google Shape;875;p44"/>
          <p:cNvSpPr/>
          <p:nvPr/>
        </p:nvSpPr>
        <p:spPr>
          <a:xfrm>
            <a:off x="3966575" y="4304097"/>
            <a:ext cx="552450" cy="552450"/>
          </a:xfrm>
          <a:prstGeom prst="ellipse">
            <a:avLst/>
          </a:prstGeom>
          <a:gradFill>
            <a:gsLst>
              <a:gs pos="0">
                <a:srgbClr val="FF3300"/>
              </a:gs>
              <a:gs pos="100000">
                <a:srgbClr val="7618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6" name="Google Shape;876;p44"/>
          <p:cNvSpPr/>
          <p:nvPr/>
        </p:nvSpPr>
        <p:spPr>
          <a:xfrm>
            <a:off x="4542351" y="4311894"/>
            <a:ext cx="552450" cy="55245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7" name="Google Shape;877;p44"/>
          <p:cNvSpPr/>
          <p:nvPr/>
        </p:nvSpPr>
        <p:spPr>
          <a:xfrm>
            <a:off x="721336" y="5484048"/>
            <a:ext cx="7748587" cy="773725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8" name="Google Shape;878;p44"/>
          <p:cNvSpPr/>
          <p:nvPr/>
        </p:nvSpPr>
        <p:spPr>
          <a:xfrm>
            <a:off x="4546502" y="5603728"/>
            <a:ext cx="552450" cy="55245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9" name="Google Shape;879;p44"/>
          <p:cNvSpPr/>
          <p:nvPr/>
        </p:nvSpPr>
        <p:spPr>
          <a:xfrm>
            <a:off x="3964231" y="5595981"/>
            <a:ext cx="552450" cy="552450"/>
          </a:xfrm>
          <a:prstGeom prst="ellipse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5"/>
          <p:cNvSpPr/>
          <p:nvPr/>
        </p:nvSpPr>
        <p:spPr>
          <a:xfrm>
            <a:off x="674688" y="2849563"/>
            <a:ext cx="7781925" cy="23971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baseball and a hard wall colliding in such a way that the speed of the ball changes.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5"/>
          <p:cNvSpPr/>
          <p:nvPr/>
        </p:nvSpPr>
        <p:spPr>
          <a:xfrm>
            <a:off x="685800" y="1549400"/>
            <a:ext cx="7772400" cy="13208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Comparing elastic collisions and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an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inelastic collision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kinetic energy is not conserved (it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change). 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87" name="Google Shape;887;p4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8" name="Google Shape;888;p45"/>
          <p:cNvSpPr/>
          <p:nvPr/>
        </p:nvSpPr>
        <p:spPr>
          <a:xfrm>
            <a:off x="787791" y="4121834"/>
            <a:ext cx="506437" cy="1012873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Baseball" id="889" name="Google Shape;88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538" y="4291013"/>
            <a:ext cx="647700" cy="6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6"/>
          <p:cNvSpPr/>
          <p:nvPr/>
        </p:nvSpPr>
        <p:spPr>
          <a:xfrm>
            <a:off x="674688" y="3165475"/>
            <a:ext cx="7781925" cy="3692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objects colliding and sticking together.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The train cars hitch and move as one body…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The cars collide and move (at first) as one body…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685800" y="1549400"/>
            <a:ext cx="7772400" cy="16446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Comparing elastic collisions and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a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completely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inelastic collision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colliding bodies stick together and end up with the same velocities, but different from the originals.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0" y="4862513"/>
            <a:ext cx="9144000" cy="46037"/>
          </a:xfrm>
          <a:prstGeom prst="rect">
            <a:avLst/>
          </a:prstGeom>
          <a:gradFill>
            <a:gsLst>
              <a:gs pos="0">
                <a:srgbClr val="B3B3B3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99" name="Google Shape;899;p46"/>
          <p:cNvGrpSpPr/>
          <p:nvPr/>
        </p:nvGrpSpPr>
        <p:grpSpPr>
          <a:xfrm>
            <a:off x="0" y="4063122"/>
            <a:ext cx="1912938" cy="817563"/>
            <a:chOff x="464" y="1863"/>
            <a:chExt cx="1205" cy="515"/>
          </a:xfrm>
        </p:grpSpPr>
        <p:pic>
          <p:nvPicPr>
            <p:cNvPr descr="tn00175_[1]" id="900" name="Google Shape;900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" y="1863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1" name="Google Shape;901;p46"/>
            <p:cNvCxnSpPr/>
            <p:nvPr/>
          </p:nvCxnSpPr>
          <p:spPr>
            <a:xfrm>
              <a:off x="853" y="2130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02" name="Google Shape;902;p46"/>
            <p:cNvSpPr txBox="1"/>
            <p:nvPr/>
          </p:nvSpPr>
          <p:spPr>
            <a:xfrm>
              <a:off x="1252" y="2009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3" name="Google Shape;903;p46"/>
          <p:cNvGrpSpPr/>
          <p:nvPr/>
        </p:nvGrpSpPr>
        <p:grpSpPr>
          <a:xfrm>
            <a:off x="3152775" y="4063122"/>
            <a:ext cx="1912938" cy="817563"/>
            <a:chOff x="2139" y="1867"/>
            <a:chExt cx="1205" cy="515"/>
          </a:xfrm>
        </p:grpSpPr>
        <p:pic>
          <p:nvPicPr>
            <p:cNvPr descr="tn00175_[1]" id="904" name="Google Shape;90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9" y="1867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5" name="Google Shape;905;p46"/>
            <p:cNvCxnSpPr/>
            <p:nvPr/>
          </p:nvCxnSpPr>
          <p:spPr>
            <a:xfrm>
              <a:off x="2597" y="2139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06" name="Google Shape;906;p46"/>
            <p:cNvSpPr txBox="1"/>
            <p:nvPr/>
          </p:nvSpPr>
          <p:spPr>
            <a:xfrm>
              <a:off x="2862" y="2018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7" name="Google Shape;907;p46"/>
          <p:cNvGrpSpPr/>
          <p:nvPr/>
        </p:nvGrpSpPr>
        <p:grpSpPr>
          <a:xfrm>
            <a:off x="2100263" y="4050422"/>
            <a:ext cx="3808412" cy="823913"/>
            <a:chOff x="457" y="2784"/>
            <a:chExt cx="2399" cy="519"/>
          </a:xfrm>
        </p:grpSpPr>
        <p:pic>
          <p:nvPicPr>
            <p:cNvPr descr="tn00175_[1]" id="908" name="Google Shape;90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" y="2788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9" name="Google Shape;909;p46"/>
            <p:cNvCxnSpPr/>
            <p:nvPr/>
          </p:nvCxnSpPr>
          <p:spPr>
            <a:xfrm>
              <a:off x="846" y="3055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10" name="Google Shape;910;p46"/>
            <p:cNvSpPr txBox="1"/>
            <p:nvPr/>
          </p:nvSpPr>
          <p:spPr>
            <a:xfrm>
              <a:off x="1245" y="2934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pic>
          <p:nvPicPr>
            <p:cNvPr descr="tn00175_[1]" id="911" name="Google Shape;91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51" y="2784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46"/>
            <p:cNvSpPr txBox="1"/>
            <p:nvPr/>
          </p:nvSpPr>
          <p:spPr>
            <a:xfrm>
              <a:off x="2374" y="2935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913" name="Google Shape;913;p46"/>
            <p:cNvCxnSpPr/>
            <p:nvPr/>
          </p:nvCxnSpPr>
          <p:spPr>
            <a:xfrm>
              <a:off x="2016" y="3064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  <p:sp>
        <p:nvSpPr>
          <p:cNvPr descr="Sand" id="914" name="Google Shape;914;p46"/>
          <p:cNvSpPr/>
          <p:nvPr/>
        </p:nvSpPr>
        <p:spPr>
          <a:xfrm>
            <a:off x="573088" y="5980113"/>
            <a:ext cx="7999412" cy="406400"/>
          </a:xfrm>
          <a:custGeom>
            <a:rect b="b" l="l" r="r" t="t"/>
            <a:pathLst>
              <a:path extrusionOk="0" h="568" w="5495">
                <a:moveTo>
                  <a:pt x="0" y="568"/>
                </a:moveTo>
                <a:lnTo>
                  <a:pt x="516" y="0"/>
                </a:lnTo>
                <a:lnTo>
                  <a:pt x="5495" y="0"/>
                </a:lnTo>
                <a:lnTo>
                  <a:pt x="4896" y="561"/>
                </a:lnTo>
                <a:lnTo>
                  <a:pt x="0" y="568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odge charger police car" id="915" name="Google Shape;91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0288" y="4922838"/>
            <a:ext cx="2243137" cy="1684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9GcTptwVuvDpYUoZG8_CTp3wMdEU7KykY2d4OJkfcG7LawlZCfHWsTQ" id="916" name="Google Shape;91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738" y="5283200"/>
            <a:ext cx="1598612" cy="995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" name="Google Shape;917;p46"/>
          <p:cNvGrpSpPr/>
          <p:nvPr/>
        </p:nvGrpSpPr>
        <p:grpSpPr>
          <a:xfrm>
            <a:off x="4021138" y="4906963"/>
            <a:ext cx="2989262" cy="1684337"/>
            <a:chOff x="2940" y="133"/>
            <a:chExt cx="2053" cy="1156"/>
          </a:xfrm>
        </p:grpSpPr>
        <p:pic>
          <p:nvPicPr>
            <p:cNvPr descr="dodge charger police car" id="918" name="Google Shape;918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52" y="133"/>
              <a:ext cx="1541" cy="1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d9GcTptwVuvDpYUoZG8_CTp3wMdEU7KykY2d4OJkfcG7LawlZCfHWsTQ" id="919" name="Google Shape;919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40" y="413"/>
              <a:ext cx="1098" cy="6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7"/>
          <p:cNvSpPr/>
          <p:nvPr/>
        </p:nvSpPr>
        <p:spPr>
          <a:xfrm>
            <a:off x="674688" y="3151188"/>
            <a:ext cx="7781925" cy="37068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at rest suddenly separating into two pieces.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A block of ice broken in two by a hammer stroke…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A bullet leaving a gun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7"/>
          <p:cNvSpPr/>
          <p:nvPr/>
        </p:nvSpPr>
        <p:spPr>
          <a:xfrm>
            <a:off x="685800" y="1549400"/>
            <a:ext cx="7772400" cy="16446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Comparing elastic collisions and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 explosion is similar to a completely inelastic collision in that the bodies were originally stuck together and began with the same velocities.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8" name="Google Shape;928;p47"/>
          <p:cNvSpPr/>
          <p:nvPr/>
        </p:nvSpPr>
        <p:spPr>
          <a:xfrm>
            <a:off x="4256088" y="4186238"/>
            <a:ext cx="468312" cy="468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9" name="Google Shape;929;p47"/>
          <p:cNvSpPr/>
          <p:nvPr/>
        </p:nvSpPr>
        <p:spPr>
          <a:xfrm>
            <a:off x="4725988" y="4189413"/>
            <a:ext cx="276225" cy="468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30" name="Google Shape;9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850" y="4979988"/>
            <a:ext cx="2728913" cy="1878012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47"/>
          <p:cNvSpPr/>
          <p:nvPr/>
        </p:nvSpPr>
        <p:spPr>
          <a:xfrm>
            <a:off x="4700588" y="5106988"/>
            <a:ext cx="1971675" cy="153987"/>
          </a:xfrm>
          <a:prstGeom prst="rect">
            <a:avLst/>
          </a:prstGeom>
          <a:gradFill>
            <a:gsLst>
              <a:gs pos="0">
                <a:schemeClr val="dk2"/>
              </a:gs>
              <a:gs pos="50000">
                <a:srgbClr val="FFFFFF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32" name="Google Shape;93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2850" y="5135563"/>
            <a:ext cx="104775" cy="1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6038" y="5122863"/>
            <a:ext cx="277812" cy="134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8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Two train cars having equal masses of 750 kg and velocities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10.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collide and hitch together. What is their final speed?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momentum conservation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Then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2,0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2,f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mu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+ 5 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7.5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940" name="Google Shape;940;p48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1" name="Google Shape;941;p48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942" name="Google Shape;942;p48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8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944" name="Google Shape;944;p48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48"/>
          <p:cNvSpPr/>
          <p:nvPr/>
        </p:nvSpPr>
        <p:spPr>
          <a:xfrm>
            <a:off x="0" y="4806950"/>
            <a:ext cx="9144000" cy="46038"/>
          </a:xfrm>
          <a:prstGeom prst="rect">
            <a:avLst/>
          </a:prstGeom>
          <a:gradFill>
            <a:gsLst>
              <a:gs pos="0">
                <a:srgbClr val="B3B3B3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46" name="Google Shape;946;p48"/>
          <p:cNvGrpSpPr/>
          <p:nvPr/>
        </p:nvGrpSpPr>
        <p:grpSpPr>
          <a:xfrm>
            <a:off x="0" y="4006850"/>
            <a:ext cx="1912938" cy="817563"/>
            <a:chOff x="464" y="1863"/>
            <a:chExt cx="1205" cy="515"/>
          </a:xfrm>
        </p:grpSpPr>
        <p:pic>
          <p:nvPicPr>
            <p:cNvPr descr="tn00175_[1]" id="947" name="Google Shape;947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" y="1863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48" name="Google Shape;948;p48"/>
            <p:cNvCxnSpPr/>
            <p:nvPr/>
          </p:nvCxnSpPr>
          <p:spPr>
            <a:xfrm>
              <a:off x="853" y="2130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49" name="Google Shape;949;p48"/>
            <p:cNvSpPr txBox="1"/>
            <p:nvPr/>
          </p:nvSpPr>
          <p:spPr>
            <a:xfrm>
              <a:off x="1252" y="2009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0" name="Google Shape;950;p48"/>
          <p:cNvGrpSpPr/>
          <p:nvPr/>
        </p:nvGrpSpPr>
        <p:grpSpPr>
          <a:xfrm>
            <a:off x="3152775" y="4006850"/>
            <a:ext cx="1912938" cy="817563"/>
            <a:chOff x="2139" y="1867"/>
            <a:chExt cx="1205" cy="515"/>
          </a:xfrm>
        </p:grpSpPr>
        <p:pic>
          <p:nvPicPr>
            <p:cNvPr descr="tn00175_[1]" id="951" name="Google Shape;951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9" y="1867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52" name="Google Shape;952;p48"/>
            <p:cNvCxnSpPr/>
            <p:nvPr/>
          </p:nvCxnSpPr>
          <p:spPr>
            <a:xfrm>
              <a:off x="2597" y="2139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53" name="Google Shape;953;p48"/>
            <p:cNvSpPr txBox="1"/>
            <p:nvPr/>
          </p:nvSpPr>
          <p:spPr>
            <a:xfrm>
              <a:off x="2862" y="2018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4" name="Google Shape;954;p48"/>
          <p:cNvGrpSpPr/>
          <p:nvPr/>
        </p:nvGrpSpPr>
        <p:grpSpPr>
          <a:xfrm>
            <a:off x="2100263" y="3994150"/>
            <a:ext cx="3808412" cy="823913"/>
            <a:chOff x="457" y="2784"/>
            <a:chExt cx="2399" cy="519"/>
          </a:xfrm>
        </p:grpSpPr>
        <p:pic>
          <p:nvPicPr>
            <p:cNvPr descr="tn00175_[1]" id="955" name="Google Shape;95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" y="2788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56" name="Google Shape;956;p48"/>
            <p:cNvCxnSpPr/>
            <p:nvPr/>
          </p:nvCxnSpPr>
          <p:spPr>
            <a:xfrm>
              <a:off x="846" y="3055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57" name="Google Shape;957;p48"/>
            <p:cNvSpPr txBox="1"/>
            <p:nvPr/>
          </p:nvSpPr>
          <p:spPr>
            <a:xfrm>
              <a:off x="1245" y="2934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pic>
          <p:nvPicPr>
            <p:cNvPr descr="tn00175_[1]" id="958" name="Google Shape;958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51" y="2784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p48"/>
            <p:cNvSpPr txBox="1"/>
            <p:nvPr/>
          </p:nvSpPr>
          <p:spPr>
            <a:xfrm>
              <a:off x="2374" y="2935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960" name="Google Shape;960;p48"/>
            <p:cNvCxnSpPr/>
            <p:nvPr/>
          </p:nvCxnSpPr>
          <p:spPr>
            <a:xfrm>
              <a:off x="2016" y="3064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  <p:cxnSp>
        <p:nvCxnSpPr>
          <p:cNvPr id="961" name="Google Shape;961;p48"/>
          <p:cNvCxnSpPr/>
          <p:nvPr/>
        </p:nvCxnSpPr>
        <p:spPr>
          <a:xfrm flipH="1" rot="10800000">
            <a:off x="3032125" y="6116638"/>
            <a:ext cx="241300" cy="276225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48"/>
          <p:cNvCxnSpPr/>
          <p:nvPr/>
        </p:nvCxnSpPr>
        <p:spPr>
          <a:xfrm flipH="1" rot="10800000">
            <a:off x="4927600" y="6119813"/>
            <a:ext cx="241300" cy="276225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4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9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 </a:t>
            </a:r>
            <a:endParaRPr i="1" sz="2400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49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971" name="Google Shape;971;p49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9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973" name="Google Shape;973;p49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4" name="Google Shape;974;p49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Two train cars having equal masses of 750 kg and velocities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10.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collide and hitch together. Find the change in kinetic energy.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mv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= (1/2) (750 + 750) 7.5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42187.5 J.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(1/2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(750)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(1/2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(750)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46875 J.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42187.5 – 46875 = - 4700 J.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0" y="4806950"/>
            <a:ext cx="9144000" cy="46038"/>
          </a:xfrm>
          <a:prstGeom prst="rect">
            <a:avLst/>
          </a:prstGeom>
          <a:gradFill>
            <a:gsLst>
              <a:gs pos="0">
                <a:srgbClr val="B3B3B3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76" name="Google Shape;976;p49"/>
          <p:cNvGrpSpPr/>
          <p:nvPr/>
        </p:nvGrpSpPr>
        <p:grpSpPr>
          <a:xfrm>
            <a:off x="0" y="4006850"/>
            <a:ext cx="1912938" cy="817563"/>
            <a:chOff x="464" y="1863"/>
            <a:chExt cx="1205" cy="515"/>
          </a:xfrm>
        </p:grpSpPr>
        <p:pic>
          <p:nvPicPr>
            <p:cNvPr descr="tn00175_[1]" id="977" name="Google Shape;977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" y="1863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78" name="Google Shape;978;p49"/>
            <p:cNvCxnSpPr/>
            <p:nvPr/>
          </p:nvCxnSpPr>
          <p:spPr>
            <a:xfrm>
              <a:off x="853" y="2130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79" name="Google Shape;979;p49"/>
            <p:cNvSpPr txBox="1"/>
            <p:nvPr/>
          </p:nvSpPr>
          <p:spPr>
            <a:xfrm>
              <a:off x="1252" y="2009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0" name="Google Shape;980;p49"/>
          <p:cNvGrpSpPr/>
          <p:nvPr/>
        </p:nvGrpSpPr>
        <p:grpSpPr>
          <a:xfrm>
            <a:off x="3152775" y="4006850"/>
            <a:ext cx="1912938" cy="817563"/>
            <a:chOff x="2139" y="1867"/>
            <a:chExt cx="1205" cy="515"/>
          </a:xfrm>
        </p:grpSpPr>
        <p:pic>
          <p:nvPicPr>
            <p:cNvPr descr="tn00175_[1]" id="981" name="Google Shape;981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9" y="1867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82" name="Google Shape;982;p49"/>
            <p:cNvCxnSpPr/>
            <p:nvPr/>
          </p:nvCxnSpPr>
          <p:spPr>
            <a:xfrm>
              <a:off x="2597" y="2139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83" name="Google Shape;983;p49"/>
            <p:cNvSpPr txBox="1"/>
            <p:nvPr/>
          </p:nvSpPr>
          <p:spPr>
            <a:xfrm>
              <a:off x="2862" y="2018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" name="Google Shape;984;p49"/>
          <p:cNvGrpSpPr/>
          <p:nvPr/>
        </p:nvGrpSpPr>
        <p:grpSpPr>
          <a:xfrm>
            <a:off x="2100263" y="3994150"/>
            <a:ext cx="3808412" cy="823913"/>
            <a:chOff x="457" y="2784"/>
            <a:chExt cx="2399" cy="519"/>
          </a:xfrm>
        </p:grpSpPr>
        <p:pic>
          <p:nvPicPr>
            <p:cNvPr descr="tn00175_[1]" id="985" name="Google Shape;985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" y="2788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86" name="Google Shape;986;p49"/>
            <p:cNvCxnSpPr/>
            <p:nvPr/>
          </p:nvCxnSpPr>
          <p:spPr>
            <a:xfrm>
              <a:off x="846" y="3055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987" name="Google Shape;987;p49"/>
            <p:cNvSpPr txBox="1"/>
            <p:nvPr/>
          </p:nvSpPr>
          <p:spPr>
            <a:xfrm>
              <a:off x="1245" y="2934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pic>
          <p:nvPicPr>
            <p:cNvPr descr="tn00175_[1]" id="988" name="Google Shape;988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51" y="2784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49"/>
            <p:cNvSpPr txBox="1"/>
            <p:nvPr/>
          </p:nvSpPr>
          <p:spPr>
            <a:xfrm>
              <a:off x="2374" y="2935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990" name="Google Shape;990;p49"/>
            <p:cNvCxnSpPr/>
            <p:nvPr/>
          </p:nvCxnSpPr>
          <p:spPr>
            <a:xfrm>
              <a:off x="2016" y="3064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  <p:sp>
        <p:nvSpPr>
          <p:cNvPr id="991" name="Google Shape;991;p4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0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" name="Google Shape;998;p50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999" name="Google Shape;999;p50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0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1001" name="Google Shape;1001;p50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2" name="Google Shape;1002;p50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Two train cars having equal masses of 750 kg and velocities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10.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collide and hitch together. Determine the type of collision.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K,f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K,0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this is an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inelastic collision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the two objects travel as one (they are stuck together) this is also a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completely inelastic collision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003" name="Google Shape;1003;p50"/>
          <p:cNvSpPr/>
          <p:nvPr/>
        </p:nvSpPr>
        <p:spPr>
          <a:xfrm>
            <a:off x="0" y="4806950"/>
            <a:ext cx="9144000" cy="46038"/>
          </a:xfrm>
          <a:prstGeom prst="rect">
            <a:avLst/>
          </a:prstGeom>
          <a:gradFill>
            <a:gsLst>
              <a:gs pos="0">
                <a:srgbClr val="B3B3B3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04" name="Google Shape;1004;p50"/>
          <p:cNvGrpSpPr/>
          <p:nvPr/>
        </p:nvGrpSpPr>
        <p:grpSpPr>
          <a:xfrm>
            <a:off x="0" y="4006850"/>
            <a:ext cx="1912938" cy="817563"/>
            <a:chOff x="464" y="1863"/>
            <a:chExt cx="1205" cy="515"/>
          </a:xfrm>
        </p:grpSpPr>
        <p:pic>
          <p:nvPicPr>
            <p:cNvPr descr="tn00175_[1]" id="1005" name="Google Shape;100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" y="1863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06" name="Google Shape;1006;p50"/>
            <p:cNvCxnSpPr/>
            <p:nvPr/>
          </p:nvCxnSpPr>
          <p:spPr>
            <a:xfrm>
              <a:off x="853" y="2130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07" name="Google Shape;1007;p50"/>
            <p:cNvSpPr txBox="1"/>
            <p:nvPr/>
          </p:nvSpPr>
          <p:spPr>
            <a:xfrm>
              <a:off x="1252" y="2009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50"/>
          <p:cNvGrpSpPr/>
          <p:nvPr/>
        </p:nvGrpSpPr>
        <p:grpSpPr>
          <a:xfrm>
            <a:off x="3152775" y="4006850"/>
            <a:ext cx="1912938" cy="817563"/>
            <a:chOff x="2139" y="1867"/>
            <a:chExt cx="1205" cy="515"/>
          </a:xfrm>
        </p:grpSpPr>
        <p:pic>
          <p:nvPicPr>
            <p:cNvPr descr="tn00175_[1]" id="1009" name="Google Shape;1009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9" y="1867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10" name="Google Shape;1010;p50"/>
            <p:cNvCxnSpPr/>
            <p:nvPr/>
          </p:nvCxnSpPr>
          <p:spPr>
            <a:xfrm>
              <a:off x="2597" y="2139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11" name="Google Shape;1011;p50"/>
            <p:cNvSpPr txBox="1"/>
            <p:nvPr/>
          </p:nvSpPr>
          <p:spPr>
            <a:xfrm>
              <a:off x="2862" y="2018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2" name="Google Shape;1012;p50"/>
          <p:cNvGrpSpPr/>
          <p:nvPr/>
        </p:nvGrpSpPr>
        <p:grpSpPr>
          <a:xfrm>
            <a:off x="2100263" y="3994150"/>
            <a:ext cx="3808412" cy="823913"/>
            <a:chOff x="457" y="2784"/>
            <a:chExt cx="2399" cy="519"/>
          </a:xfrm>
        </p:grpSpPr>
        <p:pic>
          <p:nvPicPr>
            <p:cNvPr descr="tn00175_[1]" id="1013" name="Google Shape;1013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" y="2788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14" name="Google Shape;1014;p50"/>
            <p:cNvCxnSpPr/>
            <p:nvPr/>
          </p:nvCxnSpPr>
          <p:spPr>
            <a:xfrm>
              <a:off x="846" y="3055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15" name="Google Shape;1015;p50"/>
            <p:cNvSpPr txBox="1"/>
            <p:nvPr/>
          </p:nvSpPr>
          <p:spPr>
            <a:xfrm>
              <a:off x="1245" y="2934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pic>
          <p:nvPicPr>
            <p:cNvPr descr="tn00175_[1]" id="1016" name="Google Shape;1016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51" y="2784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7" name="Google Shape;1017;p50"/>
            <p:cNvSpPr txBox="1"/>
            <p:nvPr/>
          </p:nvSpPr>
          <p:spPr>
            <a:xfrm>
              <a:off x="2374" y="2935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1018" name="Google Shape;1018;p50"/>
            <p:cNvCxnSpPr/>
            <p:nvPr/>
          </p:nvCxnSpPr>
          <p:spPr>
            <a:xfrm>
              <a:off x="2016" y="3064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  <p:sp>
        <p:nvSpPr>
          <p:cNvPr id="1019" name="Google Shape;1019;p5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51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6" name="Google Shape;1026;p51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1027" name="Google Shape;1027;p51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1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1029" name="Google Shape;1029;p51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0" name="Google Shape;1030;p51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Two train cars having equal masses of 750 kg and velocities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10.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collide and hitch together. Was mechanical energy conserved?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 energy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potential energy remained constant and the kinetic energy decreased, the mechanical energy was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conserved.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1"/>
          <p:cNvSpPr/>
          <p:nvPr/>
        </p:nvSpPr>
        <p:spPr>
          <a:xfrm>
            <a:off x="0" y="4806950"/>
            <a:ext cx="9144000" cy="46038"/>
          </a:xfrm>
          <a:prstGeom prst="rect">
            <a:avLst/>
          </a:prstGeom>
          <a:gradFill>
            <a:gsLst>
              <a:gs pos="0">
                <a:srgbClr val="B3B3B3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32" name="Google Shape;1032;p51"/>
          <p:cNvGrpSpPr/>
          <p:nvPr/>
        </p:nvGrpSpPr>
        <p:grpSpPr>
          <a:xfrm>
            <a:off x="0" y="4006850"/>
            <a:ext cx="1912938" cy="817563"/>
            <a:chOff x="464" y="1863"/>
            <a:chExt cx="1205" cy="515"/>
          </a:xfrm>
        </p:grpSpPr>
        <p:pic>
          <p:nvPicPr>
            <p:cNvPr descr="tn00175_[1]" id="1033" name="Google Shape;103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" y="1863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34" name="Google Shape;1034;p51"/>
            <p:cNvCxnSpPr/>
            <p:nvPr/>
          </p:nvCxnSpPr>
          <p:spPr>
            <a:xfrm>
              <a:off x="853" y="2130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35" name="Google Shape;1035;p51"/>
            <p:cNvSpPr txBox="1"/>
            <p:nvPr/>
          </p:nvSpPr>
          <p:spPr>
            <a:xfrm>
              <a:off x="1252" y="2009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6" name="Google Shape;1036;p51"/>
          <p:cNvGrpSpPr/>
          <p:nvPr/>
        </p:nvGrpSpPr>
        <p:grpSpPr>
          <a:xfrm>
            <a:off x="3152775" y="4006850"/>
            <a:ext cx="1912938" cy="817563"/>
            <a:chOff x="2139" y="1867"/>
            <a:chExt cx="1205" cy="515"/>
          </a:xfrm>
        </p:grpSpPr>
        <p:pic>
          <p:nvPicPr>
            <p:cNvPr descr="tn00175_[1]" id="1037" name="Google Shape;103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9" y="1867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38" name="Google Shape;1038;p51"/>
            <p:cNvCxnSpPr/>
            <p:nvPr/>
          </p:nvCxnSpPr>
          <p:spPr>
            <a:xfrm>
              <a:off x="2597" y="2139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39" name="Google Shape;1039;p51"/>
            <p:cNvSpPr txBox="1"/>
            <p:nvPr/>
          </p:nvSpPr>
          <p:spPr>
            <a:xfrm>
              <a:off x="2862" y="2018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0" name="Google Shape;1040;p51"/>
          <p:cNvGrpSpPr/>
          <p:nvPr/>
        </p:nvGrpSpPr>
        <p:grpSpPr>
          <a:xfrm>
            <a:off x="2100263" y="3994150"/>
            <a:ext cx="3808412" cy="823913"/>
            <a:chOff x="457" y="2784"/>
            <a:chExt cx="2399" cy="519"/>
          </a:xfrm>
        </p:grpSpPr>
        <p:pic>
          <p:nvPicPr>
            <p:cNvPr descr="tn00175_[1]" id="1041" name="Google Shape;104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" y="2788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42" name="Google Shape;1042;p51"/>
            <p:cNvCxnSpPr/>
            <p:nvPr/>
          </p:nvCxnSpPr>
          <p:spPr>
            <a:xfrm>
              <a:off x="846" y="3055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43" name="Google Shape;1043;p51"/>
            <p:cNvSpPr txBox="1"/>
            <p:nvPr/>
          </p:nvSpPr>
          <p:spPr>
            <a:xfrm>
              <a:off x="1245" y="2934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pic>
          <p:nvPicPr>
            <p:cNvPr descr="tn00175_[1]" id="1044" name="Google Shape;104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51" y="2784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51"/>
            <p:cNvSpPr txBox="1"/>
            <p:nvPr/>
          </p:nvSpPr>
          <p:spPr>
            <a:xfrm>
              <a:off x="2374" y="2935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1046" name="Google Shape;1046;p51"/>
            <p:cNvCxnSpPr/>
            <p:nvPr/>
          </p:nvCxnSpPr>
          <p:spPr>
            <a:xfrm>
              <a:off x="2016" y="3064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  <p:sp>
        <p:nvSpPr>
          <p:cNvPr id="1047" name="Google Shape;1047;p5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52"/>
          <p:cNvSpPr/>
          <p:nvPr/>
        </p:nvSpPr>
        <p:spPr>
          <a:xfrm>
            <a:off x="685800" y="1549400"/>
            <a:ext cx="7772400" cy="13763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4" name="Google Shape;1054;p52"/>
          <p:cNvGrpSpPr/>
          <p:nvPr/>
        </p:nvGrpSpPr>
        <p:grpSpPr>
          <a:xfrm>
            <a:off x="839788" y="1981200"/>
            <a:ext cx="7464425" cy="830263"/>
            <a:chOff x="839788" y="5399088"/>
            <a:chExt cx="7464425" cy="830997"/>
          </a:xfrm>
        </p:grpSpPr>
        <p:sp>
          <p:nvSpPr>
            <p:cNvPr id="1055" name="Google Shape;1055;p52"/>
            <p:cNvSpPr/>
            <p:nvPr/>
          </p:nvSpPr>
          <p:spPr>
            <a:xfrm>
              <a:off x="976313" y="5464234"/>
              <a:ext cx="4210050" cy="320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 then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2"/>
            <p:cNvSpPr txBox="1"/>
            <p:nvPr/>
          </p:nvSpPr>
          <p:spPr>
            <a:xfrm>
              <a:off x="5541963" y="5399088"/>
              <a:ext cx="2762250" cy="8309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conservation of linear momentum</a:t>
              </a:r>
              <a:endParaRPr/>
            </a:p>
          </p:txBody>
        </p:sp>
        <p:sp>
          <p:nvSpPr>
            <p:cNvPr id="1057" name="Google Shape;1057;p52"/>
            <p:cNvSpPr/>
            <p:nvPr/>
          </p:nvSpPr>
          <p:spPr>
            <a:xfrm>
              <a:off x="839788" y="5402266"/>
              <a:ext cx="7462837" cy="81510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8" name="Google Shape;1058;p52"/>
          <p:cNvSpPr/>
          <p:nvPr/>
        </p:nvSpPr>
        <p:spPr>
          <a:xfrm>
            <a:off x="674688" y="2849563"/>
            <a:ext cx="7781925" cy="40084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Two train cars having equal masses of 750 kg and velocities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10.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collide and hitch together. Was total energy conserved?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energy is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conserved.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loss in mechanical energy is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- 4700 J.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energy lost is mostly converted to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(there is some sound, and possibly light, but very little).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2"/>
          <p:cNvSpPr/>
          <p:nvPr/>
        </p:nvSpPr>
        <p:spPr>
          <a:xfrm>
            <a:off x="0" y="4806950"/>
            <a:ext cx="9144000" cy="46038"/>
          </a:xfrm>
          <a:prstGeom prst="rect">
            <a:avLst/>
          </a:prstGeom>
          <a:gradFill>
            <a:gsLst>
              <a:gs pos="0">
                <a:srgbClr val="B3B3B3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60" name="Google Shape;1060;p52"/>
          <p:cNvGrpSpPr/>
          <p:nvPr/>
        </p:nvGrpSpPr>
        <p:grpSpPr>
          <a:xfrm>
            <a:off x="0" y="4006850"/>
            <a:ext cx="1912938" cy="817563"/>
            <a:chOff x="464" y="1863"/>
            <a:chExt cx="1205" cy="515"/>
          </a:xfrm>
        </p:grpSpPr>
        <p:pic>
          <p:nvPicPr>
            <p:cNvPr descr="tn00175_[1]" id="1061" name="Google Shape;1061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4" y="1863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62" name="Google Shape;1062;p52"/>
            <p:cNvCxnSpPr/>
            <p:nvPr/>
          </p:nvCxnSpPr>
          <p:spPr>
            <a:xfrm>
              <a:off x="853" y="2130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63" name="Google Shape;1063;p52"/>
            <p:cNvSpPr txBox="1"/>
            <p:nvPr/>
          </p:nvSpPr>
          <p:spPr>
            <a:xfrm>
              <a:off x="1252" y="2009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4" name="Google Shape;1064;p52"/>
          <p:cNvGrpSpPr/>
          <p:nvPr/>
        </p:nvGrpSpPr>
        <p:grpSpPr>
          <a:xfrm>
            <a:off x="3152775" y="4006850"/>
            <a:ext cx="1912938" cy="817563"/>
            <a:chOff x="2139" y="1867"/>
            <a:chExt cx="1205" cy="515"/>
          </a:xfrm>
        </p:grpSpPr>
        <p:pic>
          <p:nvPicPr>
            <p:cNvPr descr="tn00175_[1]" id="1065" name="Google Shape;1065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9" y="1867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66" name="Google Shape;1066;p52"/>
            <p:cNvCxnSpPr/>
            <p:nvPr/>
          </p:nvCxnSpPr>
          <p:spPr>
            <a:xfrm>
              <a:off x="2597" y="2139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67" name="Google Shape;1067;p52"/>
            <p:cNvSpPr txBox="1"/>
            <p:nvPr/>
          </p:nvSpPr>
          <p:spPr>
            <a:xfrm>
              <a:off x="2862" y="2018"/>
              <a:ext cx="294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aseline="-25000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8" name="Google Shape;1068;p52"/>
          <p:cNvGrpSpPr/>
          <p:nvPr/>
        </p:nvGrpSpPr>
        <p:grpSpPr>
          <a:xfrm>
            <a:off x="2100263" y="3994150"/>
            <a:ext cx="3808412" cy="823913"/>
            <a:chOff x="457" y="2784"/>
            <a:chExt cx="2399" cy="519"/>
          </a:xfrm>
        </p:grpSpPr>
        <p:pic>
          <p:nvPicPr>
            <p:cNvPr descr="tn00175_[1]" id="1069" name="Google Shape;106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" y="2788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0" name="Google Shape;1070;p52"/>
            <p:cNvCxnSpPr/>
            <p:nvPr/>
          </p:nvCxnSpPr>
          <p:spPr>
            <a:xfrm>
              <a:off x="846" y="3055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1071" name="Google Shape;1071;p52"/>
            <p:cNvSpPr txBox="1"/>
            <p:nvPr/>
          </p:nvSpPr>
          <p:spPr>
            <a:xfrm>
              <a:off x="1245" y="2934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pic>
          <p:nvPicPr>
            <p:cNvPr descr="tn00175_[1]" id="1072" name="Google Shape;1072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51" y="2784"/>
              <a:ext cx="1205" cy="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52"/>
            <p:cNvSpPr txBox="1"/>
            <p:nvPr/>
          </p:nvSpPr>
          <p:spPr>
            <a:xfrm>
              <a:off x="2374" y="2935"/>
              <a:ext cx="212" cy="288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1074" name="Google Shape;1074;p52"/>
            <p:cNvCxnSpPr/>
            <p:nvPr/>
          </p:nvCxnSpPr>
          <p:spPr>
            <a:xfrm>
              <a:off x="2016" y="3064"/>
              <a:ext cx="426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  <p:sp>
        <p:nvSpPr>
          <p:cNvPr id="1075" name="Google Shape;1075;p5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3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82" name="Google Shape;1082;p53"/>
          <p:cNvSpPr/>
          <p:nvPr/>
        </p:nvSpPr>
        <p:spPr>
          <a:xfrm>
            <a:off x="671513" y="1982788"/>
            <a:ext cx="7797800" cy="4875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a .020-kg bullet traveling horizontally at 300. m/s strikes a 4.0-kg block of wood resting on a wood floor. How fast is the block/bullet combo moving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immediately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after collision?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we consider the bullet-block combo as our system, there are no external forces in the x-direction at collision.  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mv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.02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+ 4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(.02)(300) + 4(0)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4.02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1.5 m/s</a:t>
            </a:r>
            <a:endParaRPr/>
          </a:p>
        </p:txBody>
      </p:sp>
      <p:sp>
        <p:nvSpPr>
          <p:cNvPr descr="Oak" id="1083" name="Google Shape;1083;p53"/>
          <p:cNvSpPr/>
          <p:nvPr/>
        </p:nvSpPr>
        <p:spPr>
          <a:xfrm>
            <a:off x="5510213" y="844550"/>
            <a:ext cx="3633787" cy="1174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descr="Medium wood" id="1084" name="Google Shape;1084;p53"/>
          <p:cNvSpPr/>
          <p:nvPr/>
        </p:nvSpPr>
        <p:spPr>
          <a:xfrm>
            <a:off x="5667375" y="190500"/>
            <a:ext cx="655638" cy="65563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85" name="Google Shape;1085;p53"/>
          <p:cNvCxnSpPr/>
          <p:nvPr/>
        </p:nvCxnSpPr>
        <p:spPr>
          <a:xfrm>
            <a:off x="5667375" y="403225"/>
            <a:ext cx="334963" cy="0"/>
          </a:xfrm>
          <a:prstGeom prst="straightConnector1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3"/>
          <p:cNvCxnSpPr/>
          <p:nvPr/>
        </p:nvCxnSpPr>
        <p:spPr>
          <a:xfrm>
            <a:off x="5821363" y="403225"/>
            <a:ext cx="182562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53"/>
          <p:cNvSpPr txBox="1"/>
          <p:nvPr/>
        </p:nvSpPr>
        <p:spPr>
          <a:xfrm>
            <a:off x="5518150" y="4987925"/>
            <a:ext cx="3344863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 bullet and the block move at the same speed after collision (completely inelastic)</a:t>
            </a:r>
            <a:endParaRPr/>
          </a:p>
        </p:txBody>
      </p:sp>
      <p:cxnSp>
        <p:nvCxnSpPr>
          <p:cNvPr id="1088" name="Google Shape;1088;p53"/>
          <p:cNvCxnSpPr/>
          <p:nvPr/>
        </p:nvCxnSpPr>
        <p:spPr>
          <a:xfrm>
            <a:off x="1246188" y="5945188"/>
            <a:ext cx="152400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53"/>
          <p:cNvCxnSpPr/>
          <p:nvPr/>
        </p:nvCxnSpPr>
        <p:spPr>
          <a:xfrm>
            <a:off x="2065338" y="5945188"/>
            <a:ext cx="152400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53"/>
          <p:cNvCxnSpPr/>
          <p:nvPr/>
        </p:nvCxnSpPr>
        <p:spPr>
          <a:xfrm>
            <a:off x="1304925" y="5973763"/>
            <a:ext cx="4176713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1" name="Google Shape;1091;p53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4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98" name="Google Shape;1098;p54"/>
          <p:cNvSpPr/>
          <p:nvPr/>
        </p:nvSpPr>
        <p:spPr>
          <a:xfrm>
            <a:off x="671513" y="1982788"/>
            <a:ext cx="7797800" cy="4875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a .020-kg bullet traveling horizontally at 300. m/s strikes a 4.0-kg block of wood resting on a wood floor. The block/bullet combo slides 6 m before coming to a stop. Find the friction 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the block and the floor.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the work-kinetic energy theorem: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(1/2)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 (1/2)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i="1"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(1/2)(4.02)(0)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 (1/2)(4.02)(1.5)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(6)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180°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- 4.5225 = - 6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- 4.5225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0.75 N.</a:t>
            </a:r>
            <a:endParaRPr/>
          </a:p>
        </p:txBody>
      </p:sp>
      <p:sp>
        <p:nvSpPr>
          <p:cNvPr id="1099" name="Google Shape;1099;p54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descr="Oak" id="1100" name="Google Shape;1100;p54"/>
          <p:cNvSpPr/>
          <p:nvPr/>
        </p:nvSpPr>
        <p:spPr>
          <a:xfrm>
            <a:off x="5510213" y="844550"/>
            <a:ext cx="3633787" cy="1174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edium wood" id="1101" name="Google Shape;1101;p54"/>
          <p:cNvSpPr/>
          <p:nvPr/>
        </p:nvSpPr>
        <p:spPr>
          <a:xfrm>
            <a:off x="5667375" y="190500"/>
            <a:ext cx="655638" cy="65563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2" name="Google Shape;1102;p54"/>
          <p:cNvCxnSpPr/>
          <p:nvPr/>
        </p:nvCxnSpPr>
        <p:spPr>
          <a:xfrm>
            <a:off x="5667375" y="403225"/>
            <a:ext cx="334963" cy="0"/>
          </a:xfrm>
          <a:prstGeom prst="straightConnector1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54"/>
          <p:cNvCxnSpPr/>
          <p:nvPr/>
        </p:nvCxnSpPr>
        <p:spPr>
          <a:xfrm>
            <a:off x="5821363" y="403225"/>
            <a:ext cx="182562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4" name="Google Shape;1104;p54"/>
          <p:cNvGrpSpPr/>
          <p:nvPr/>
        </p:nvGrpSpPr>
        <p:grpSpPr>
          <a:xfrm>
            <a:off x="6003925" y="1004888"/>
            <a:ext cx="2320925" cy="461962"/>
            <a:chOff x="3767" y="633"/>
            <a:chExt cx="1462" cy="291"/>
          </a:xfrm>
        </p:grpSpPr>
        <p:cxnSp>
          <p:nvCxnSpPr>
            <p:cNvPr id="1105" name="Google Shape;1105;p54"/>
            <p:cNvCxnSpPr/>
            <p:nvPr/>
          </p:nvCxnSpPr>
          <p:spPr>
            <a:xfrm>
              <a:off x="3767" y="652"/>
              <a:ext cx="1462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06" name="Google Shape;1106;p54"/>
            <p:cNvSpPr txBox="1"/>
            <p:nvPr/>
          </p:nvSpPr>
          <p:spPr>
            <a:xfrm>
              <a:off x="4338" y="633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</p:grpSp>
      <p:grpSp>
        <p:nvGrpSpPr>
          <p:cNvPr id="1107" name="Google Shape;1107;p54"/>
          <p:cNvGrpSpPr/>
          <p:nvPr/>
        </p:nvGrpSpPr>
        <p:grpSpPr>
          <a:xfrm>
            <a:off x="4986338" y="488950"/>
            <a:ext cx="1004887" cy="461963"/>
            <a:chOff x="3141" y="308"/>
            <a:chExt cx="633" cy="291"/>
          </a:xfrm>
        </p:grpSpPr>
        <p:cxnSp>
          <p:nvCxnSpPr>
            <p:cNvPr id="1108" name="Google Shape;1108;p54"/>
            <p:cNvCxnSpPr/>
            <p:nvPr/>
          </p:nvCxnSpPr>
          <p:spPr>
            <a:xfrm rot="10800000">
              <a:off x="3304" y="523"/>
              <a:ext cx="470" cy="0"/>
            </a:xfrm>
            <a:prstGeom prst="straightConnector1">
              <a:avLst/>
            </a:prstGeom>
            <a:noFill/>
            <a:ln cap="flat" cmpd="sng" w="5715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09" name="Google Shape;1109;p54"/>
            <p:cNvSpPr txBox="1"/>
            <p:nvPr/>
          </p:nvSpPr>
          <p:spPr>
            <a:xfrm>
              <a:off x="3141" y="308"/>
              <a:ext cx="18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5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16" name="Google Shape;1116;p55"/>
          <p:cNvSpPr/>
          <p:nvPr/>
        </p:nvSpPr>
        <p:spPr>
          <a:xfrm>
            <a:off x="671513" y="1982788"/>
            <a:ext cx="7797800" cy="4875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a .020-kg bullet traveling horizontally at 300. m/s strikes a 4.0-kg block of wood resting on a wood floor. The block/bullet combo slides 6 m before coming to a stop. Find the dynamic friction coefficient 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the block and the floor.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a free-body diagram to                                                 find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mg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= (4.00 + 0.020)(10) = 40.2 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µ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0.75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40.2 = 0.019.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55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descr="Oak" id="1118" name="Google Shape;1118;p55"/>
          <p:cNvSpPr/>
          <p:nvPr/>
        </p:nvSpPr>
        <p:spPr>
          <a:xfrm>
            <a:off x="5510213" y="844550"/>
            <a:ext cx="3633787" cy="1174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edium wood" id="1119" name="Google Shape;1119;p55"/>
          <p:cNvSpPr/>
          <p:nvPr/>
        </p:nvSpPr>
        <p:spPr>
          <a:xfrm>
            <a:off x="5667375" y="190500"/>
            <a:ext cx="655638" cy="65563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0" name="Google Shape;1120;p55"/>
          <p:cNvCxnSpPr/>
          <p:nvPr/>
        </p:nvCxnSpPr>
        <p:spPr>
          <a:xfrm>
            <a:off x="5667375" y="403225"/>
            <a:ext cx="334963" cy="0"/>
          </a:xfrm>
          <a:prstGeom prst="straightConnector1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55"/>
          <p:cNvCxnSpPr/>
          <p:nvPr/>
        </p:nvCxnSpPr>
        <p:spPr>
          <a:xfrm>
            <a:off x="5821363" y="403225"/>
            <a:ext cx="182562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22" name="Google Shape;1122;p55"/>
          <p:cNvGrpSpPr/>
          <p:nvPr/>
        </p:nvGrpSpPr>
        <p:grpSpPr>
          <a:xfrm>
            <a:off x="6003925" y="1004888"/>
            <a:ext cx="2320925" cy="461962"/>
            <a:chOff x="3767" y="633"/>
            <a:chExt cx="1462" cy="291"/>
          </a:xfrm>
        </p:grpSpPr>
        <p:cxnSp>
          <p:nvCxnSpPr>
            <p:cNvPr id="1123" name="Google Shape;1123;p55"/>
            <p:cNvCxnSpPr/>
            <p:nvPr/>
          </p:nvCxnSpPr>
          <p:spPr>
            <a:xfrm>
              <a:off x="3767" y="652"/>
              <a:ext cx="1462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24" name="Google Shape;1124;p55"/>
            <p:cNvSpPr txBox="1"/>
            <p:nvPr/>
          </p:nvSpPr>
          <p:spPr>
            <a:xfrm>
              <a:off x="4338" y="633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</p:grpSp>
      <p:grpSp>
        <p:nvGrpSpPr>
          <p:cNvPr id="1125" name="Google Shape;1125;p55"/>
          <p:cNvGrpSpPr/>
          <p:nvPr/>
        </p:nvGrpSpPr>
        <p:grpSpPr>
          <a:xfrm>
            <a:off x="4986338" y="488950"/>
            <a:ext cx="1004887" cy="461963"/>
            <a:chOff x="3141" y="308"/>
            <a:chExt cx="633" cy="291"/>
          </a:xfrm>
        </p:grpSpPr>
        <p:cxnSp>
          <p:nvCxnSpPr>
            <p:cNvPr id="1126" name="Google Shape;1126;p55"/>
            <p:cNvCxnSpPr/>
            <p:nvPr/>
          </p:nvCxnSpPr>
          <p:spPr>
            <a:xfrm rot="10800000">
              <a:off x="3304" y="523"/>
              <a:ext cx="470" cy="0"/>
            </a:xfrm>
            <a:prstGeom prst="straightConnector1">
              <a:avLst/>
            </a:prstGeom>
            <a:noFill/>
            <a:ln cap="flat" cmpd="sng" w="5715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27" name="Google Shape;1127;p55"/>
            <p:cNvSpPr txBox="1"/>
            <p:nvPr/>
          </p:nvSpPr>
          <p:spPr>
            <a:xfrm>
              <a:off x="3141" y="308"/>
              <a:ext cx="18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grpSp>
        <p:nvGrpSpPr>
          <p:cNvPr id="1128" name="Google Shape;1128;p55"/>
          <p:cNvGrpSpPr/>
          <p:nvPr/>
        </p:nvGrpSpPr>
        <p:grpSpPr>
          <a:xfrm>
            <a:off x="4986338" y="4197350"/>
            <a:ext cx="4157662" cy="771525"/>
            <a:chOff x="5138738" y="342900"/>
            <a:chExt cx="4157662" cy="771525"/>
          </a:xfrm>
        </p:grpSpPr>
        <p:sp>
          <p:nvSpPr>
            <p:cNvPr descr="Oak" id="1129" name="Google Shape;1129;p55"/>
            <p:cNvSpPr/>
            <p:nvPr/>
          </p:nvSpPr>
          <p:spPr>
            <a:xfrm>
              <a:off x="5662613" y="996950"/>
              <a:ext cx="3633787" cy="117475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Medium wood" id="1130" name="Google Shape;1130;p55"/>
            <p:cNvSpPr/>
            <p:nvPr/>
          </p:nvSpPr>
          <p:spPr>
            <a:xfrm>
              <a:off x="5819775" y="342900"/>
              <a:ext cx="655638" cy="655638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1" name="Google Shape;1131;p55"/>
            <p:cNvCxnSpPr/>
            <p:nvPr/>
          </p:nvCxnSpPr>
          <p:spPr>
            <a:xfrm>
              <a:off x="5819775" y="555625"/>
              <a:ext cx="334963" cy="0"/>
            </a:xfrm>
            <a:prstGeom prst="straightConnector1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2" name="Google Shape;1132;p55"/>
            <p:cNvCxnSpPr/>
            <p:nvPr/>
          </p:nvCxnSpPr>
          <p:spPr>
            <a:xfrm>
              <a:off x="5973763" y="555625"/>
              <a:ext cx="182562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33" name="Google Shape;1133;p55"/>
            <p:cNvGrpSpPr/>
            <p:nvPr/>
          </p:nvGrpSpPr>
          <p:grpSpPr>
            <a:xfrm>
              <a:off x="5138738" y="641351"/>
              <a:ext cx="1004887" cy="461963"/>
              <a:chOff x="3141" y="308"/>
              <a:chExt cx="633" cy="291"/>
            </a:xfrm>
          </p:grpSpPr>
          <p:cxnSp>
            <p:nvCxnSpPr>
              <p:cNvPr id="1134" name="Google Shape;1134;p55"/>
              <p:cNvCxnSpPr/>
              <p:nvPr/>
            </p:nvCxnSpPr>
            <p:spPr>
              <a:xfrm rot="10800000">
                <a:off x="3304" y="523"/>
                <a:ext cx="47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135" name="Google Shape;1135;p55"/>
              <p:cNvSpPr txBox="1"/>
              <p:nvPr/>
            </p:nvSpPr>
            <p:spPr>
              <a:xfrm>
                <a:off x="3141" y="308"/>
                <a:ext cx="181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/>
              </a:p>
            </p:txBody>
          </p:sp>
        </p:grpSp>
      </p:grpSp>
      <p:grpSp>
        <p:nvGrpSpPr>
          <p:cNvPr id="1136" name="Google Shape;1136;p55"/>
          <p:cNvGrpSpPr/>
          <p:nvPr/>
        </p:nvGrpSpPr>
        <p:grpSpPr>
          <a:xfrm>
            <a:off x="5964239" y="4573587"/>
            <a:ext cx="676274" cy="900112"/>
            <a:chOff x="5992838" y="4573588"/>
            <a:chExt cx="675251" cy="899538"/>
          </a:xfrm>
        </p:grpSpPr>
        <p:cxnSp>
          <p:nvCxnSpPr>
            <p:cNvPr id="1137" name="Google Shape;1137;p55"/>
            <p:cNvCxnSpPr/>
            <p:nvPr/>
          </p:nvCxnSpPr>
          <p:spPr>
            <a:xfrm rot="5400000">
              <a:off x="5543861" y="5022564"/>
              <a:ext cx="899538" cy="1585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138" name="Google Shape;1138;p55"/>
            <p:cNvSpPr txBox="1"/>
            <p:nvPr/>
          </p:nvSpPr>
          <p:spPr>
            <a:xfrm>
              <a:off x="6049900" y="4924201"/>
              <a:ext cx="618188" cy="4616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</p:grpSp>
      <p:grpSp>
        <p:nvGrpSpPr>
          <p:cNvPr id="1139" name="Google Shape;1139;p55"/>
          <p:cNvGrpSpPr/>
          <p:nvPr/>
        </p:nvGrpSpPr>
        <p:grpSpPr>
          <a:xfrm>
            <a:off x="6018213" y="3740150"/>
            <a:ext cx="703262" cy="1125538"/>
            <a:chOff x="7369127" y="3641189"/>
            <a:chExt cx="703385" cy="1126208"/>
          </a:xfrm>
        </p:grpSpPr>
        <p:cxnSp>
          <p:nvCxnSpPr>
            <p:cNvPr id="1140" name="Google Shape;1140;p55"/>
            <p:cNvCxnSpPr/>
            <p:nvPr/>
          </p:nvCxnSpPr>
          <p:spPr>
            <a:xfrm rot="5400000">
              <a:off x="6920390" y="4317073"/>
              <a:ext cx="899060" cy="1587"/>
            </a:xfrm>
            <a:prstGeom prst="straightConnector1">
              <a:avLst/>
            </a:prstGeom>
            <a:noFill/>
            <a:ln cap="flat" cmpd="sng" w="57150">
              <a:solidFill>
                <a:srgbClr val="009999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sp>
          <p:nvSpPr>
            <p:cNvPr id="1141" name="Google Shape;1141;p55"/>
            <p:cNvSpPr txBox="1"/>
            <p:nvPr/>
          </p:nvSpPr>
          <p:spPr>
            <a:xfrm>
              <a:off x="7453278" y="3641189"/>
              <a:ext cx="619234" cy="462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6"/>
          <p:cNvSpPr/>
          <p:nvPr/>
        </p:nvSpPr>
        <p:spPr>
          <a:xfrm>
            <a:off x="685800" y="1549400"/>
            <a:ext cx="7772400" cy="461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Quantitatively analysing inelastic collisions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48" name="Google Shape;1148;p56"/>
          <p:cNvSpPr/>
          <p:nvPr/>
        </p:nvSpPr>
        <p:spPr>
          <a:xfrm>
            <a:off x="671513" y="1982788"/>
            <a:ext cx="7797800" cy="4875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a .020-kg bullet traveling horizontally at 300. m/s strikes a 4.0-kg block of wood resting on a wood floor. If the bullet penetrates .060 m of the block, find the average force 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acting on it during its collision.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the work-kinetic energy theorem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only the bullet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(1/2)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(1/2)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(1/2)(.02)(1.5)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(1/2)(.02)(300)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(.06)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- 900 = -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0.06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15000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56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descr="Oak" id="1150" name="Google Shape;1150;p56"/>
          <p:cNvSpPr/>
          <p:nvPr/>
        </p:nvSpPr>
        <p:spPr>
          <a:xfrm>
            <a:off x="5510213" y="844550"/>
            <a:ext cx="3633787" cy="1174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edium wood" id="1151" name="Google Shape;1151;p56"/>
          <p:cNvSpPr/>
          <p:nvPr/>
        </p:nvSpPr>
        <p:spPr>
          <a:xfrm>
            <a:off x="5667375" y="190500"/>
            <a:ext cx="655638" cy="65563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2" name="Google Shape;1152;p56"/>
          <p:cNvCxnSpPr/>
          <p:nvPr/>
        </p:nvCxnSpPr>
        <p:spPr>
          <a:xfrm>
            <a:off x="5667375" y="403225"/>
            <a:ext cx="334963" cy="0"/>
          </a:xfrm>
          <a:prstGeom prst="straightConnector1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56"/>
          <p:cNvCxnSpPr/>
          <p:nvPr/>
        </p:nvCxnSpPr>
        <p:spPr>
          <a:xfrm>
            <a:off x="5821363" y="403225"/>
            <a:ext cx="182562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4" name="Google Shape;1154;p56"/>
          <p:cNvGrpSpPr/>
          <p:nvPr/>
        </p:nvGrpSpPr>
        <p:grpSpPr>
          <a:xfrm>
            <a:off x="5002213" y="469900"/>
            <a:ext cx="1004887" cy="469900"/>
            <a:chOff x="4312" y="789"/>
            <a:chExt cx="633" cy="296"/>
          </a:xfrm>
        </p:grpSpPr>
        <p:cxnSp>
          <p:nvCxnSpPr>
            <p:cNvPr id="1155" name="Google Shape;1155;p56"/>
            <p:cNvCxnSpPr/>
            <p:nvPr/>
          </p:nvCxnSpPr>
          <p:spPr>
            <a:xfrm>
              <a:off x="4732" y="809"/>
              <a:ext cx="213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156" name="Google Shape;1156;p56"/>
            <p:cNvCxnSpPr/>
            <p:nvPr/>
          </p:nvCxnSpPr>
          <p:spPr>
            <a:xfrm rot="10800000">
              <a:off x="4312" y="808"/>
              <a:ext cx="414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57" name="Google Shape;1157;p56"/>
            <p:cNvSpPr txBox="1"/>
            <p:nvPr/>
          </p:nvSpPr>
          <p:spPr>
            <a:xfrm>
              <a:off x="4720" y="794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1158" name="Google Shape;1158;p56"/>
            <p:cNvSpPr txBox="1"/>
            <p:nvPr/>
          </p:nvSpPr>
          <p:spPr>
            <a:xfrm>
              <a:off x="4461" y="789"/>
              <a:ext cx="23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7"/>
          <p:cNvSpPr/>
          <p:nvPr/>
        </p:nvSpPr>
        <p:spPr>
          <a:xfrm>
            <a:off x="698500" y="3024188"/>
            <a:ext cx="7761288" cy="38338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Show that kinetic energy can be calculated directly from the momentum using the following: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obtain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/ m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Then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(1/2)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(1/2)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mp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p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7"/>
          <p:cNvSpPr/>
          <p:nvPr/>
        </p:nvSpPr>
        <p:spPr>
          <a:xfrm>
            <a:off x="685800" y="1549400"/>
            <a:ext cx="7772400" cy="15176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Kinetic energy in terms of momentum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67" name="Google Shape;1167;p57"/>
          <p:cNvGrpSpPr/>
          <p:nvPr/>
        </p:nvGrpSpPr>
        <p:grpSpPr>
          <a:xfrm>
            <a:off x="828675" y="1963738"/>
            <a:ext cx="7464425" cy="461962"/>
            <a:chOff x="828675" y="2793884"/>
            <a:chExt cx="7464426" cy="461962"/>
          </a:xfrm>
        </p:grpSpPr>
        <p:sp>
          <p:nvSpPr>
            <p:cNvPr id="1168" name="Google Shape;1168;p57"/>
            <p:cNvSpPr/>
            <p:nvPr/>
          </p:nvSpPr>
          <p:spPr>
            <a:xfrm>
              <a:off x="965200" y="2803409"/>
              <a:ext cx="2478088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mv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7"/>
            <p:cNvSpPr txBox="1"/>
            <p:nvPr/>
          </p:nvSpPr>
          <p:spPr>
            <a:xfrm>
              <a:off x="5354639" y="2793884"/>
              <a:ext cx="2938462" cy="46196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linear momentum</a:t>
              </a:r>
              <a:endParaRPr/>
            </a:p>
          </p:txBody>
        </p:sp>
        <p:sp>
          <p:nvSpPr>
            <p:cNvPr id="1170" name="Google Shape;1170;p57"/>
            <p:cNvSpPr/>
            <p:nvPr/>
          </p:nvSpPr>
          <p:spPr>
            <a:xfrm>
              <a:off x="828675" y="2797059"/>
              <a:ext cx="7462839" cy="43815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1" name="Google Shape;1171;p57"/>
          <p:cNvGrpSpPr/>
          <p:nvPr/>
        </p:nvGrpSpPr>
        <p:grpSpPr>
          <a:xfrm>
            <a:off x="828675" y="2468563"/>
            <a:ext cx="7464425" cy="461962"/>
            <a:chOff x="828675" y="3808729"/>
            <a:chExt cx="7464426" cy="461665"/>
          </a:xfrm>
        </p:grpSpPr>
        <p:sp>
          <p:nvSpPr>
            <p:cNvPr id="1172" name="Google Shape;1172;p57"/>
            <p:cNvSpPr/>
            <p:nvPr/>
          </p:nvSpPr>
          <p:spPr>
            <a:xfrm>
              <a:off x="965200" y="3818248"/>
              <a:ext cx="2368550" cy="320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(1/2)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mv 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7"/>
            <p:cNvSpPr txBox="1"/>
            <p:nvPr/>
          </p:nvSpPr>
          <p:spPr>
            <a:xfrm>
              <a:off x="5867401" y="3808729"/>
              <a:ext cx="242570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kinetic energy</a:t>
              </a:r>
              <a:endParaRPr/>
            </a:p>
          </p:txBody>
        </p:sp>
        <p:sp>
          <p:nvSpPr>
            <p:cNvPr id="1174" name="Google Shape;1174;p57"/>
            <p:cNvSpPr/>
            <p:nvPr/>
          </p:nvSpPr>
          <p:spPr>
            <a:xfrm>
              <a:off x="828675" y="3811902"/>
              <a:ext cx="7462839" cy="45849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5" name="Google Shape;1175;p57"/>
          <p:cNvGrpSpPr/>
          <p:nvPr/>
        </p:nvGrpSpPr>
        <p:grpSpPr>
          <a:xfrm>
            <a:off x="827088" y="3830638"/>
            <a:ext cx="7464425" cy="461962"/>
            <a:chOff x="828675" y="3808729"/>
            <a:chExt cx="7464426" cy="461665"/>
          </a:xfrm>
        </p:grpSpPr>
        <p:sp>
          <p:nvSpPr>
            <p:cNvPr id="1176" name="Google Shape;1176;p57"/>
            <p:cNvSpPr/>
            <p:nvPr/>
          </p:nvSpPr>
          <p:spPr>
            <a:xfrm>
              <a:off x="965200" y="3818248"/>
              <a:ext cx="2368550" cy="320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1177" name="Google Shape;1177;p57"/>
            <p:cNvSpPr txBox="1"/>
            <p:nvPr/>
          </p:nvSpPr>
          <p:spPr>
            <a:xfrm>
              <a:off x="5867401" y="3808729"/>
              <a:ext cx="242570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kinetic energy</a:t>
              </a:r>
              <a:endParaRPr/>
            </a:p>
          </p:txBody>
        </p:sp>
        <p:sp>
          <p:nvSpPr>
            <p:cNvPr id="1178" name="Google Shape;1178;p57"/>
            <p:cNvSpPr/>
            <p:nvPr/>
          </p:nvSpPr>
          <p:spPr>
            <a:xfrm>
              <a:off x="828675" y="3811902"/>
              <a:ext cx="7462838" cy="45849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8"/>
          <p:cNvSpPr/>
          <p:nvPr/>
        </p:nvSpPr>
        <p:spPr>
          <a:xfrm>
            <a:off x="698500" y="2574925"/>
            <a:ext cx="7761288" cy="42830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What is the kinetic                                        energy of a 4.0-gram NATO SS 109                                    bullet traveling at 950 m/s  and having                                         a momentum of  3.8 kg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work from                                   scratch using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(1/2)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mv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you                                can use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p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∙Let’s use the new formula…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p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= 3.8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(2×0.004)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= 1800 J.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58"/>
          <p:cNvSpPr/>
          <p:nvPr/>
        </p:nvSpPr>
        <p:spPr>
          <a:xfrm>
            <a:off x="685800" y="1549400"/>
            <a:ext cx="7772400" cy="10810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Kinetic energy in terms of momentum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5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A.2.2 – … and momentum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87" name="Google Shape;1187;p58"/>
          <p:cNvGrpSpPr/>
          <p:nvPr/>
        </p:nvGrpSpPr>
        <p:grpSpPr>
          <a:xfrm>
            <a:off x="827088" y="1987550"/>
            <a:ext cx="7464425" cy="461963"/>
            <a:chOff x="828675" y="3808729"/>
            <a:chExt cx="7464426" cy="461665"/>
          </a:xfrm>
        </p:grpSpPr>
        <p:sp>
          <p:nvSpPr>
            <p:cNvPr id="1188" name="Google Shape;1188;p58"/>
            <p:cNvSpPr/>
            <p:nvPr/>
          </p:nvSpPr>
          <p:spPr>
            <a:xfrm>
              <a:off x="965200" y="3818248"/>
              <a:ext cx="2368550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1189" name="Google Shape;1189;p58"/>
            <p:cNvSpPr txBox="1"/>
            <p:nvPr/>
          </p:nvSpPr>
          <p:spPr>
            <a:xfrm>
              <a:off x="5867401" y="3808729"/>
              <a:ext cx="242570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kinetic energy</a:t>
              </a:r>
              <a:endParaRPr/>
            </a:p>
          </p:txBody>
        </p:sp>
        <p:sp>
          <p:nvSpPr>
            <p:cNvPr id="1190" name="Google Shape;1190;p58"/>
            <p:cNvSpPr/>
            <p:nvPr/>
          </p:nvSpPr>
          <p:spPr>
            <a:xfrm>
              <a:off x="828675" y="3811902"/>
              <a:ext cx="7462838" cy="45849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bullet-apple collision" id="1191" name="Google Shape;119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6950" y="2708275"/>
            <a:ext cx="2746375" cy="26622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
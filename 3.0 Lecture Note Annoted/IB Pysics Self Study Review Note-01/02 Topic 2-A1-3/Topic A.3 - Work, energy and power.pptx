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2012 By Timothy K. Lund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93" name="Google Shape;9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2012 By Timothy K. Lund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00" name="Google Shape;10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2012 By Timothy K. Lund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07" name="Google Shape;10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2012 By Timothy K. Lund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15" name="Google Shape;11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22" name="Google Shape;12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07" name="Google Shape;20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19" name="Google Shape;21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45" name="Google Shape;24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74" name="Google Shape;27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88" name="Google Shape;28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05" name="Google Shape;30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72" name="Google Shape;37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467" name="Google Shape;46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515" name="Google Shape;51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608" name="Google Shape;60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9" name="Google Shape;60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702" name="Google Shape;70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3" name="Google Shape;703;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797" name="Google Shape;79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8" name="Google Shape;798;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881" name="Google Shape;88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2" name="Google Shape;882;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966" name="Google Shape;96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7" name="Google Shape;96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979" name="Google Shape;97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0" name="Google Shape;980;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992" name="Google Shape;99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3" name="Google Shape;99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006" name="Google Shape;100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7" name="Google Shape;1007;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022" name="Google Shape;102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3" name="Google Shape;1023;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043" name="Google Shape;104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4" name="Google Shape;104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068" name="Google Shape;106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9" name="Google Shape;1069;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087" name="Google Shape;1087;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8" name="Google Shape;1088;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106" name="Google Shape;110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7" name="Google Shape;1107;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121" name="Google Shape;112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2" name="Google Shape;112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136" name="Google Shape;113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7" name="Google Shape;1137;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151" name="Google Shape;115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2" name="Google Shape;1152;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163" name="Google Shape;1163;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4" name="Google Shape;1164;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187" name="Google Shape;118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8" name="Google Shape;1188;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1" name="Google Shape;1211;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7" name="Google Shape;1227;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0" name="Google Shape;1240;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256" name="Google Shape;125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7" name="Google Shape;1257;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266" name="Google Shape;126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7" name="Google Shape;1267;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284" name="Google Shape;128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5" name="Google Shape;1285;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308" name="Google Shape;130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9" name="Google Shape;130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336" name="Google Shape;1336;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7" name="Google Shape;1337;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368" name="Google Shape;1368;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9" name="Google Shape;1369;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405" name="Google Shape;140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6" name="Google Shape;1406;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1" name="Shape 1501"/>
        <p:cNvGrpSpPr/>
        <p:nvPr/>
      </p:nvGrpSpPr>
      <p:grpSpPr>
        <a:xfrm>
          <a:off x="0" y="0"/>
          <a:ext cx="0" cy="0"/>
          <a:chOff x="0" y="0"/>
          <a:chExt cx="0" cy="0"/>
        </a:xfrm>
      </p:grpSpPr>
      <p:sp>
        <p:nvSpPr>
          <p:cNvPr id="1502" name="Google Shape;1502;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503" name="Google Shape;1503;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4" name="Google Shape;1504;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524" name="Google Shape;152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5" name="Google Shape;1525;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537" name="Google Shape;1537;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8" name="Google Shape;1538;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561" name="Google Shape;1561;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2" name="Google Shape;1562;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576" name="Google Shape;1576;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7" name="Google Shape;1577;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18" name="Google Shape;18;p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30" name="Google Shape;30;p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6" name="Google Shape;36;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7" name="Google Shape;37;p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3" name="Google Shape;43;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4" name="Google Shape;44;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5" name="Google Shape;45;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6" name="Google Shape;46;p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2" name="Google Shape;62;p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9" name="Google Shape;69;p1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9pPr>
          </a:lstStyle>
          <a:p/>
        </p:txBody>
      </p:sp>
      <p:sp>
        <p:nvSpPr>
          <p:cNvPr id="13" name="Google Shape;13;p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9pPr>
          </a:lstStyle>
          <a:p/>
        </p:txBody>
      </p:sp>
      <p:sp>
        <p:nvSpPr>
          <p:cNvPr id="14" name="Google Shape;14;p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11.jpg"/><Relationship Id="rId5"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5.png"/><Relationship Id="rId4" Type="http://schemas.openxmlformats.org/officeDocument/2006/relationships/image" Target="../media/image1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hyperlink" Target="https://www.google.com/url?q=http://half-life.wikia.com/wiki/Supply_Crate&amp;sa=U&amp;ei=s1B-U40Kho7IBP2FgvAB&amp;ved=0CC4Q9QEwAA&amp;sig2=f3GrBBxz9HcVZFQ3xW28jw&amp;usg=AFQjCNGMPT0jQrzxTTKAFUw2bSGNpL8UXw" TargetMode="External"/><Relationship Id="rId5" Type="http://schemas.openxmlformats.org/officeDocument/2006/relationships/image" Target="../media/image1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9.png"/><Relationship Id="rId4" Type="http://schemas.openxmlformats.org/officeDocument/2006/relationships/hyperlink" Target="https://www.google.com/url?q=http://half-life.wikia.com/wiki/Supply_Crate&amp;sa=U&amp;ei=s1B-U40Kho7IBP2FgvAB&amp;ved=0CC4Q9QEwAA&amp;sig2=f3GrBBxz9HcVZFQ3xW28jw&amp;usg=AFQjCNGMPT0jQrzxTTKAFUw2bSGNpL8UXw" TargetMode="External"/><Relationship Id="rId5" Type="http://schemas.openxmlformats.org/officeDocument/2006/relationships/image" Target="../media/image1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9.png"/><Relationship Id="rId4" Type="http://schemas.openxmlformats.org/officeDocument/2006/relationships/hyperlink" Target="https://www.google.com/url?q=http://half-life.wikia.com/wiki/Supply_Crate&amp;sa=U&amp;ei=s1B-U40Kho7IBP2FgvAB&amp;ved=0CC4Q9QEwAA&amp;sig2=f3GrBBxz9HcVZFQ3xW28jw&amp;usg=AFQjCNGMPT0jQrzxTTKAFUw2bSGNpL8UXw" TargetMode="External"/><Relationship Id="rId5" Type="http://schemas.openxmlformats.org/officeDocument/2006/relationships/image" Target="../media/image1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9.png"/><Relationship Id="rId4" Type="http://schemas.openxmlformats.org/officeDocument/2006/relationships/hyperlink" Target="https://www.google.com/url?q=http://half-life.wikia.com/wiki/Supply_Crate&amp;sa=U&amp;ei=s1B-U40Kho7IBP2FgvAB&amp;ved=0CC4Q9QEwAA&amp;sig2=f3GrBBxz9HcVZFQ3xW28jw&amp;usg=AFQjCNGMPT0jQrzxTTKAFUw2bSGNpL8UXw" TargetMode="External"/><Relationship Id="rId5" Type="http://schemas.openxmlformats.org/officeDocument/2006/relationships/image" Target="../media/image1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9.png"/><Relationship Id="rId4" Type="http://schemas.openxmlformats.org/officeDocument/2006/relationships/hyperlink" Target="https://www.google.com/url?q=http://half-life.wikia.com/wiki/Supply_Crate&amp;sa=U&amp;ei=s1B-U40Kho7IBP2FgvAB&amp;ved=0CC4Q9QEwAA&amp;sig2=f3GrBBxz9HcVZFQ3xW28jw&amp;usg=AFQjCNGMPT0jQrzxTTKAFUw2bSGNpL8UXw" TargetMode="External"/><Relationship Id="rId5" Type="http://schemas.openxmlformats.org/officeDocument/2006/relationships/image" Target="../media/image1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3.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3.pn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hyperlink" Target="http://3.bp.blogspot.com/-BT0vyixkfsU/TsO85fc2vyI/AAAAAAAAEcY/gJF5GychMwI/s1600/horsebarge.jpg" TargetMode="External"/><Relationship Id="rId4" Type="http://schemas.openxmlformats.org/officeDocument/2006/relationships/image" Target="../media/image24.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7.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1.jpg"/><Relationship Id="rId4" Type="http://schemas.openxmlformats.org/officeDocument/2006/relationships/hyperlink" Target="http://www.wisconsinwatch.org/wp-content/uploads/2011/11/Columbia-plant.jpg" TargetMode="External"/><Relationship Id="rId5" Type="http://schemas.openxmlformats.org/officeDocument/2006/relationships/image" Target="../media/image3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p:nvPr/>
        </p:nvSpPr>
        <p:spPr>
          <a:xfrm>
            <a:off x="685800" y="1549400"/>
            <a:ext cx="7772400" cy="4113213"/>
          </a:xfrm>
          <a:prstGeom prst="rect">
            <a:avLst/>
          </a:prstGeom>
          <a:solidFill>
            <a:srgbClr val="EAEAEA"/>
          </a:solidFill>
          <a:ln>
            <a:noFill/>
          </a:ln>
        </p:spPr>
        <p:txBody>
          <a:bodyPr anchorCtr="0" anchor="t" bIns="45700" lIns="91425" spcFirstLastPara="1" rIns="91425" wrap="square" tIns="45700">
            <a:noAutofit/>
          </a:bodyPr>
          <a:lstStyle/>
          <a:p>
            <a:pPr indent="-457200" lvl="0" marL="457200" marR="0" rtl="0" algn="l">
              <a:spcBef>
                <a:spcPts val="0"/>
              </a:spcBef>
              <a:spcAft>
                <a:spcPts val="0"/>
              </a:spcAft>
              <a:buNone/>
            </a:pPr>
            <a:r>
              <a:rPr b="1" i="0" lang="en-US" sz="2400" u="none" cap="none" strike="noStrike">
                <a:solidFill>
                  <a:schemeClr val="dk1"/>
                </a:solidFill>
                <a:latin typeface="Arial"/>
                <a:ea typeface="Arial"/>
                <a:cs typeface="Arial"/>
                <a:sym typeface="Arial"/>
              </a:rPr>
              <a:t>Essential idea: </a:t>
            </a:r>
            <a:r>
              <a:rPr b="0" i="0" lang="en-US" sz="2400" u="none" cap="none" strike="noStrike">
                <a:solidFill>
                  <a:schemeClr val="dk1"/>
                </a:solidFill>
                <a:latin typeface="Arial"/>
                <a:ea typeface="Arial"/>
                <a:cs typeface="Arial"/>
                <a:sym typeface="Arial"/>
              </a:rPr>
              <a:t>The fundamental concept of energy lays the basis upon which much of science is built.</a:t>
            </a:r>
            <a:endParaRPr/>
          </a:p>
          <a:p>
            <a:pPr indent="-457200" lvl="0" marL="457200" marR="0" rtl="0" algn="l">
              <a:spcBef>
                <a:spcPts val="0"/>
              </a:spcBef>
              <a:spcAft>
                <a:spcPts val="0"/>
              </a:spcAft>
              <a:buNone/>
            </a:pPr>
            <a:r>
              <a:rPr b="1" i="0" lang="en-US" sz="2400" u="none" cap="none" strike="noStrike">
                <a:solidFill>
                  <a:schemeClr val="dk1"/>
                </a:solidFill>
                <a:latin typeface="Arial"/>
                <a:ea typeface="Arial"/>
                <a:cs typeface="Arial"/>
                <a:sym typeface="Arial"/>
              </a:rPr>
              <a:t>Nature of science: </a:t>
            </a:r>
            <a:r>
              <a:rPr b="0" i="0" lang="en-US" sz="2400" u="none" cap="none" strike="noStrike">
                <a:solidFill>
                  <a:schemeClr val="dk1"/>
                </a:solidFill>
                <a:latin typeface="Arial"/>
                <a:ea typeface="Arial"/>
                <a:cs typeface="Arial"/>
                <a:sym typeface="Arial"/>
              </a:rPr>
              <a:t>Theories: Many phenomena can be fundamentally understood through application of the theory of conservation of energy. Over time, scientists have utilized this theory both to explain natural phenomena and, more importantly, to predict the outcome of previously unknown interactions. The concept of energy has evolved as a result of recognition of the relationship between mass and energy.</a:t>
            </a:r>
            <a:endParaRPr/>
          </a:p>
        </p:txBody>
      </p:sp>
      <p:sp>
        <p:nvSpPr>
          <p:cNvPr id="90" name="Google Shape;90;p1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anim calcmode="lin" valueType="num">
                                      <p:cBhvr additive="base">
                                        <p:cTn dur="500"/>
                                        <p:tgtEl>
                                          <p:spTgt spid="8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
                                            <p:txEl>
                                              <p:pRg end="1" st="1"/>
                                            </p:txEl>
                                          </p:spTgt>
                                        </p:tgtEl>
                                        <p:attrNameLst>
                                          <p:attrName>style.visibility</p:attrName>
                                        </p:attrNameLst>
                                      </p:cBhvr>
                                      <p:to>
                                        <p:strVal val="visible"/>
                                      </p:to>
                                    </p:set>
                                    <p:anim calcmode="lin" valueType="num">
                                      <p:cBhvr additive="base">
                                        <p:cTn dur="500"/>
                                        <p:tgtEl>
                                          <p:spTgt spid="8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p:nvPr/>
        </p:nvSpPr>
        <p:spPr>
          <a:xfrm>
            <a:off x="685800" y="1549400"/>
            <a:ext cx="7772400" cy="2987675"/>
          </a:xfrm>
          <a:prstGeom prst="rect">
            <a:avLst/>
          </a:prstGeom>
          <a:solidFill>
            <a:srgbClr val="EAEAEA"/>
          </a:solidFill>
          <a:ln>
            <a:noFill/>
          </a:ln>
        </p:spPr>
        <p:txBody>
          <a:bodyPr anchorCtr="0" anchor="t" bIns="45700" lIns="91425" spcFirstLastPara="1" rIns="91425" wrap="square" tIns="45700">
            <a:noAutofit/>
          </a:bodyPr>
          <a:lstStyle/>
          <a:p>
            <a:pPr indent="-457200" lvl="0" marL="457200" marR="0" rtl="0" algn="l">
              <a:spcBef>
                <a:spcPts val="0"/>
              </a:spcBef>
              <a:spcAft>
                <a:spcPts val="0"/>
              </a:spcAft>
              <a:buNone/>
            </a:pPr>
            <a:r>
              <a:rPr b="1" i="0" lang="en-US" sz="2400" u="none" cap="none" strike="noStrike">
                <a:solidFill>
                  <a:schemeClr val="accent2"/>
                </a:solidFill>
                <a:latin typeface="Arial"/>
                <a:ea typeface="Arial"/>
                <a:cs typeface="Arial"/>
                <a:sym typeface="Arial"/>
              </a:rPr>
              <a:t>Understandings: </a:t>
            </a:r>
            <a:endParaRPr b="0" i="0" sz="2400" u="none" cap="none" strike="noStrike">
              <a:solidFill>
                <a:schemeClr val="accent2"/>
              </a:solidFill>
              <a:latin typeface="Arial"/>
              <a:ea typeface="Arial"/>
              <a:cs typeface="Arial"/>
              <a:sym typeface="Arial"/>
            </a:endParaRPr>
          </a:p>
          <a:p>
            <a:pPr indent="-457200" lvl="0" marL="457200" marR="0" rtl="0" algn="l">
              <a:spcBef>
                <a:spcPts val="0"/>
              </a:spcBef>
              <a:spcAft>
                <a:spcPts val="0"/>
              </a:spcAft>
              <a:buNone/>
            </a:pPr>
            <a:r>
              <a:rPr b="0" i="0" lang="en-US" sz="2400" u="none" cap="none" strike="noStrike">
                <a:solidFill>
                  <a:schemeClr val="accent2"/>
                </a:solidFill>
                <a:latin typeface="Arial"/>
                <a:ea typeface="Arial"/>
                <a:cs typeface="Arial"/>
                <a:sym typeface="Arial"/>
              </a:rPr>
              <a:t>• Kinetic energy </a:t>
            </a:r>
            <a:endParaRPr/>
          </a:p>
          <a:p>
            <a:pPr indent="-457200" lvl="0" marL="457200" marR="0" rtl="0" algn="l">
              <a:spcBef>
                <a:spcPts val="0"/>
              </a:spcBef>
              <a:spcAft>
                <a:spcPts val="0"/>
              </a:spcAft>
              <a:buNone/>
            </a:pPr>
            <a:r>
              <a:rPr b="0" i="0" lang="en-US" sz="2400" u="none" cap="none" strike="noStrike">
                <a:solidFill>
                  <a:schemeClr val="accent2"/>
                </a:solidFill>
                <a:latin typeface="Arial"/>
                <a:ea typeface="Arial"/>
                <a:cs typeface="Arial"/>
                <a:sym typeface="Arial"/>
              </a:rPr>
              <a:t>• Gravitational potential energy </a:t>
            </a:r>
            <a:endParaRPr/>
          </a:p>
          <a:p>
            <a:pPr indent="-457200" lvl="0" marL="457200" marR="0" rtl="0" algn="l">
              <a:spcBef>
                <a:spcPts val="0"/>
              </a:spcBef>
              <a:spcAft>
                <a:spcPts val="0"/>
              </a:spcAft>
              <a:buNone/>
            </a:pPr>
            <a:r>
              <a:rPr b="0" i="0" lang="en-US" sz="2400" u="none" cap="none" strike="noStrike">
                <a:solidFill>
                  <a:schemeClr val="accent2"/>
                </a:solidFill>
                <a:latin typeface="Arial"/>
                <a:ea typeface="Arial"/>
                <a:cs typeface="Arial"/>
                <a:sym typeface="Arial"/>
              </a:rPr>
              <a:t>• Elastic potential energy </a:t>
            </a:r>
            <a:endParaRPr/>
          </a:p>
          <a:p>
            <a:pPr indent="-457200" lvl="0" marL="457200" marR="0" rtl="0" algn="l">
              <a:spcBef>
                <a:spcPts val="0"/>
              </a:spcBef>
              <a:spcAft>
                <a:spcPts val="0"/>
              </a:spcAft>
              <a:buNone/>
            </a:pPr>
            <a:r>
              <a:rPr b="0" i="0" lang="en-US" sz="2400" u="none" cap="none" strike="noStrike">
                <a:solidFill>
                  <a:schemeClr val="accent2"/>
                </a:solidFill>
                <a:latin typeface="Arial"/>
                <a:ea typeface="Arial"/>
                <a:cs typeface="Arial"/>
                <a:sym typeface="Arial"/>
              </a:rPr>
              <a:t>• Work done as energy transfer </a:t>
            </a:r>
            <a:endParaRPr/>
          </a:p>
          <a:p>
            <a:pPr indent="-457200" lvl="0" marL="457200" marR="0" rtl="0" algn="l">
              <a:spcBef>
                <a:spcPts val="0"/>
              </a:spcBef>
              <a:spcAft>
                <a:spcPts val="0"/>
              </a:spcAft>
              <a:buNone/>
            </a:pPr>
            <a:r>
              <a:rPr b="0" i="0" lang="en-US" sz="2400" u="none" cap="none" strike="noStrike">
                <a:solidFill>
                  <a:schemeClr val="accent2"/>
                </a:solidFill>
                <a:latin typeface="Arial"/>
                <a:ea typeface="Arial"/>
                <a:cs typeface="Arial"/>
                <a:sym typeface="Arial"/>
              </a:rPr>
              <a:t>• Power as rate of energy transfer </a:t>
            </a:r>
            <a:endParaRPr/>
          </a:p>
          <a:p>
            <a:pPr indent="-457200" lvl="0" marL="457200" marR="0" rtl="0" algn="l">
              <a:spcBef>
                <a:spcPts val="0"/>
              </a:spcBef>
              <a:spcAft>
                <a:spcPts val="0"/>
              </a:spcAft>
              <a:buNone/>
            </a:pPr>
            <a:r>
              <a:rPr b="0" i="0" lang="en-US" sz="2400" u="none" cap="none" strike="noStrike">
                <a:solidFill>
                  <a:schemeClr val="accent2"/>
                </a:solidFill>
                <a:latin typeface="Arial"/>
                <a:ea typeface="Arial"/>
                <a:cs typeface="Arial"/>
                <a:sym typeface="Arial"/>
              </a:rPr>
              <a:t>• Principle of conservation of energy </a:t>
            </a:r>
            <a:endParaRPr/>
          </a:p>
          <a:p>
            <a:pPr indent="-457200" lvl="0" marL="457200" marR="0" rtl="0" algn="l">
              <a:spcBef>
                <a:spcPts val="0"/>
              </a:spcBef>
              <a:spcAft>
                <a:spcPts val="0"/>
              </a:spcAft>
              <a:buNone/>
            </a:pPr>
            <a:r>
              <a:rPr b="0" i="0" lang="en-US" sz="2400" u="none" cap="none" strike="noStrike">
                <a:solidFill>
                  <a:schemeClr val="accent2"/>
                </a:solidFill>
                <a:latin typeface="Arial"/>
                <a:ea typeface="Arial"/>
                <a:cs typeface="Arial"/>
                <a:sym typeface="Arial"/>
              </a:rPr>
              <a:t>• Efficiency </a:t>
            </a:r>
            <a:endParaRPr/>
          </a:p>
        </p:txBody>
      </p:sp>
      <p:sp>
        <p:nvSpPr>
          <p:cNvPr id="97" name="Google Shape;97;p1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anim calcmode="lin" valueType="num">
                                      <p:cBhvr additive="base">
                                        <p:cTn dur="500"/>
                                        <p:tgtEl>
                                          <p:spTgt spid="9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anim calcmode="lin" valueType="num">
                                      <p:cBhvr additive="base">
                                        <p:cTn dur="500"/>
                                        <p:tgtEl>
                                          <p:spTgt spid="9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anim calcmode="lin" valueType="num">
                                      <p:cBhvr additive="base">
                                        <p:cTn dur="500"/>
                                        <p:tgtEl>
                                          <p:spTgt spid="9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anim calcmode="lin" valueType="num">
                                      <p:cBhvr additive="base">
                                        <p:cTn dur="500"/>
                                        <p:tgtEl>
                                          <p:spTgt spid="9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4" st="4"/>
                                            </p:txEl>
                                          </p:spTgt>
                                        </p:tgtEl>
                                        <p:attrNameLst>
                                          <p:attrName>style.visibility</p:attrName>
                                        </p:attrNameLst>
                                      </p:cBhvr>
                                      <p:to>
                                        <p:strVal val="visible"/>
                                      </p:to>
                                    </p:set>
                                    <p:anim calcmode="lin" valueType="num">
                                      <p:cBhvr additive="base">
                                        <p:cTn dur="500"/>
                                        <p:tgtEl>
                                          <p:spTgt spid="9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5" st="5"/>
                                            </p:txEl>
                                          </p:spTgt>
                                        </p:tgtEl>
                                        <p:attrNameLst>
                                          <p:attrName>style.visibility</p:attrName>
                                        </p:attrNameLst>
                                      </p:cBhvr>
                                      <p:to>
                                        <p:strVal val="visible"/>
                                      </p:to>
                                    </p:set>
                                    <p:anim calcmode="lin" valueType="num">
                                      <p:cBhvr additive="base">
                                        <p:cTn dur="500"/>
                                        <p:tgtEl>
                                          <p:spTgt spid="9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6" st="6"/>
                                            </p:txEl>
                                          </p:spTgt>
                                        </p:tgtEl>
                                        <p:attrNameLst>
                                          <p:attrName>style.visibility</p:attrName>
                                        </p:attrNameLst>
                                      </p:cBhvr>
                                      <p:to>
                                        <p:strVal val="visible"/>
                                      </p:to>
                                    </p:set>
                                    <p:anim calcmode="lin" valueType="num">
                                      <p:cBhvr additive="base">
                                        <p:cTn dur="500"/>
                                        <p:tgtEl>
                                          <p:spTgt spid="9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7" st="7"/>
                                            </p:txEl>
                                          </p:spTgt>
                                        </p:tgtEl>
                                        <p:attrNameLst>
                                          <p:attrName>style.visibility</p:attrName>
                                        </p:attrNameLst>
                                      </p:cBhvr>
                                      <p:to>
                                        <p:strVal val="visible"/>
                                      </p:to>
                                    </p:set>
                                    <p:anim calcmode="lin" valueType="num">
                                      <p:cBhvr additive="base">
                                        <p:cTn dur="500"/>
                                        <p:tgtEl>
                                          <p:spTgt spid="96">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p:nvPr/>
        </p:nvSpPr>
        <p:spPr>
          <a:xfrm>
            <a:off x="685800" y="1549400"/>
            <a:ext cx="7772400" cy="2987675"/>
          </a:xfrm>
          <a:prstGeom prst="rect">
            <a:avLst/>
          </a:prstGeom>
          <a:solidFill>
            <a:srgbClr val="EAEAEA"/>
          </a:solidFill>
          <a:ln>
            <a:noFill/>
          </a:ln>
        </p:spPr>
        <p:txBody>
          <a:bodyPr anchorCtr="0" anchor="t" bIns="45700" lIns="91425" spcFirstLastPara="1" rIns="91425" wrap="square" tIns="45700">
            <a:noAutofit/>
          </a:bodyPr>
          <a:lstStyle/>
          <a:p>
            <a:pPr indent="-457200" lvl="0" marL="457200" marR="0" rtl="0" algn="l">
              <a:spcBef>
                <a:spcPts val="0"/>
              </a:spcBef>
              <a:spcAft>
                <a:spcPts val="0"/>
              </a:spcAft>
              <a:buNone/>
            </a:pPr>
            <a:r>
              <a:rPr b="1" i="0" lang="en-US" sz="2400" u="none" cap="none" strike="noStrike">
                <a:solidFill>
                  <a:schemeClr val="accent2"/>
                </a:solidFill>
                <a:latin typeface="Arial"/>
                <a:ea typeface="Arial"/>
                <a:cs typeface="Arial"/>
                <a:sym typeface="Arial"/>
              </a:rPr>
              <a:t>Applications and skills: </a:t>
            </a:r>
            <a:endParaRPr b="0" i="0" sz="2400" u="none" cap="none" strike="noStrike">
              <a:solidFill>
                <a:schemeClr val="accent2"/>
              </a:solidFill>
              <a:latin typeface="Arial"/>
              <a:ea typeface="Arial"/>
              <a:cs typeface="Arial"/>
              <a:sym typeface="Arial"/>
            </a:endParaRPr>
          </a:p>
          <a:p>
            <a:pPr indent="-457200" lvl="0" marL="457200" marR="0" rtl="0" algn="l">
              <a:spcBef>
                <a:spcPts val="0"/>
              </a:spcBef>
              <a:spcAft>
                <a:spcPts val="0"/>
              </a:spcAft>
              <a:buNone/>
            </a:pPr>
            <a:r>
              <a:rPr b="0" i="0" lang="en-US" sz="2400" u="none" cap="none" strike="noStrike">
                <a:solidFill>
                  <a:schemeClr val="accent2"/>
                </a:solidFill>
                <a:latin typeface="Arial"/>
                <a:ea typeface="Arial"/>
                <a:cs typeface="Arial"/>
                <a:sym typeface="Arial"/>
              </a:rPr>
              <a:t>• Discussing the conservation of total energy within energy transformations </a:t>
            </a:r>
            <a:endParaRPr/>
          </a:p>
          <a:p>
            <a:pPr indent="-457200" lvl="0" marL="457200" marR="0" rtl="0" algn="l">
              <a:spcBef>
                <a:spcPts val="0"/>
              </a:spcBef>
              <a:spcAft>
                <a:spcPts val="0"/>
              </a:spcAft>
              <a:buNone/>
            </a:pPr>
            <a:r>
              <a:rPr b="0" i="0" lang="en-US" sz="2400" u="none" cap="none" strike="noStrike">
                <a:solidFill>
                  <a:schemeClr val="accent2"/>
                </a:solidFill>
                <a:latin typeface="Arial"/>
                <a:ea typeface="Arial"/>
                <a:cs typeface="Arial"/>
                <a:sym typeface="Arial"/>
              </a:rPr>
              <a:t>• Sketching and interpreting force–distance graphs </a:t>
            </a:r>
            <a:endParaRPr/>
          </a:p>
          <a:p>
            <a:pPr indent="-457200" lvl="0" marL="457200" marR="0" rtl="0" algn="l">
              <a:spcBef>
                <a:spcPts val="0"/>
              </a:spcBef>
              <a:spcAft>
                <a:spcPts val="0"/>
              </a:spcAft>
              <a:buNone/>
            </a:pPr>
            <a:r>
              <a:rPr b="0" i="0" lang="en-US" sz="2400" u="none" cap="none" strike="noStrike">
                <a:solidFill>
                  <a:schemeClr val="accent2"/>
                </a:solidFill>
                <a:latin typeface="Arial"/>
                <a:ea typeface="Arial"/>
                <a:cs typeface="Arial"/>
                <a:sym typeface="Arial"/>
              </a:rPr>
              <a:t>• Determining work done including cases where a resistive force acts </a:t>
            </a:r>
            <a:endParaRPr/>
          </a:p>
          <a:p>
            <a:pPr indent="-457200" lvl="0" marL="457200" marR="0" rtl="0" algn="l">
              <a:spcBef>
                <a:spcPts val="0"/>
              </a:spcBef>
              <a:spcAft>
                <a:spcPts val="0"/>
              </a:spcAft>
              <a:buNone/>
            </a:pPr>
            <a:r>
              <a:rPr b="0" i="0" lang="en-US" sz="2400" u="none" cap="none" strike="noStrike">
                <a:solidFill>
                  <a:schemeClr val="accent2"/>
                </a:solidFill>
                <a:latin typeface="Arial"/>
                <a:ea typeface="Arial"/>
                <a:cs typeface="Arial"/>
                <a:sym typeface="Arial"/>
              </a:rPr>
              <a:t>• Solving problems involving power </a:t>
            </a:r>
            <a:endParaRPr/>
          </a:p>
          <a:p>
            <a:pPr indent="-457200" lvl="0" marL="457200" marR="0" rtl="0" algn="l">
              <a:spcBef>
                <a:spcPts val="0"/>
              </a:spcBef>
              <a:spcAft>
                <a:spcPts val="0"/>
              </a:spcAft>
              <a:buNone/>
            </a:pPr>
            <a:r>
              <a:rPr b="0" i="0" lang="en-US" sz="2400" u="none" cap="none" strike="noStrike">
                <a:solidFill>
                  <a:schemeClr val="accent2"/>
                </a:solidFill>
                <a:latin typeface="Arial"/>
                <a:ea typeface="Arial"/>
                <a:cs typeface="Arial"/>
                <a:sym typeface="Arial"/>
              </a:rPr>
              <a:t>• Quantitatively describing efficiency in energy transfers</a:t>
            </a:r>
            <a:endParaRPr/>
          </a:p>
        </p:txBody>
      </p:sp>
      <p:sp>
        <p:nvSpPr>
          <p:cNvPr id="104" name="Google Shape;104;p15"/>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anim calcmode="lin" valueType="num">
                                      <p:cBhvr additive="base">
                                        <p:cTn dur="500"/>
                                        <p:tgtEl>
                                          <p:spTgt spid="10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anim calcmode="lin" valueType="num">
                                      <p:cBhvr additive="base">
                                        <p:cTn dur="500"/>
                                        <p:tgtEl>
                                          <p:spTgt spid="10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anim calcmode="lin" valueType="num">
                                      <p:cBhvr additive="base">
                                        <p:cTn dur="500"/>
                                        <p:tgtEl>
                                          <p:spTgt spid="10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anim calcmode="lin" valueType="num">
                                      <p:cBhvr additive="base">
                                        <p:cTn dur="500"/>
                                        <p:tgtEl>
                                          <p:spTgt spid="10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anim calcmode="lin" valueType="num">
                                      <p:cBhvr additive="base">
                                        <p:cTn dur="500"/>
                                        <p:tgtEl>
                                          <p:spTgt spid="10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anim calcmode="lin" valueType="num">
                                      <p:cBhvr additive="base">
                                        <p:cTn dur="500"/>
                                        <p:tgtEl>
                                          <p:spTgt spid="10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p:nvPr/>
        </p:nvSpPr>
        <p:spPr>
          <a:xfrm>
            <a:off x="685800" y="1549400"/>
            <a:ext cx="7772400" cy="4851400"/>
          </a:xfrm>
          <a:prstGeom prst="rect">
            <a:avLst/>
          </a:prstGeom>
          <a:solidFill>
            <a:srgbClr val="EAEAEA"/>
          </a:solidFill>
          <a:ln>
            <a:noFill/>
          </a:ln>
        </p:spPr>
        <p:txBody>
          <a:bodyPr anchorCtr="0" anchor="t" bIns="45700" lIns="91425" spcFirstLastPara="1" rIns="91425" wrap="square" tIns="45700">
            <a:noAutofit/>
          </a:bodyPr>
          <a:lstStyle/>
          <a:p>
            <a:pPr indent="-457200" lvl="0" marL="457200" marR="0" rtl="0" algn="l">
              <a:spcBef>
                <a:spcPts val="0"/>
              </a:spcBef>
              <a:spcAft>
                <a:spcPts val="0"/>
              </a:spcAft>
              <a:buNone/>
            </a:pPr>
            <a:r>
              <a:rPr b="1" i="0" lang="en-US" sz="2400" u="none" cap="none" strike="noStrike">
                <a:solidFill>
                  <a:srgbClr val="FF0000"/>
                </a:solidFill>
                <a:latin typeface="Arial"/>
                <a:ea typeface="Arial"/>
                <a:cs typeface="Arial"/>
                <a:sym typeface="Arial"/>
              </a:rPr>
              <a:t>Data booklet reference:</a:t>
            </a:r>
            <a:r>
              <a:rPr b="0" i="0" lang="en-US" sz="2400" u="none" cap="none" strike="noStrike">
                <a:solidFill>
                  <a:srgbClr val="FF0000"/>
                </a:solidFill>
                <a:latin typeface="Arial"/>
                <a:ea typeface="Arial"/>
                <a:cs typeface="Arial"/>
                <a:sym typeface="Arial"/>
              </a:rPr>
              <a:t> </a:t>
            </a:r>
            <a:endParaRPr/>
          </a:p>
        </p:txBody>
      </p:sp>
      <p:sp>
        <p:nvSpPr>
          <p:cNvPr id="111" name="Google Shape;111;p16"/>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800">
              <a:solidFill>
                <a:schemeClr val="dk1"/>
              </a:solidFill>
              <a:latin typeface="Arial"/>
              <a:ea typeface="Arial"/>
              <a:cs typeface="Arial"/>
              <a:sym typeface="Arial"/>
            </a:endParaRPr>
          </a:p>
        </p:txBody>
      </p:sp>
      <p:pic>
        <p:nvPicPr>
          <p:cNvPr id="112" name="Google Shape;112;p16"/>
          <p:cNvPicPr preferRelativeResize="0"/>
          <p:nvPr/>
        </p:nvPicPr>
        <p:blipFill rotWithShape="1">
          <a:blip r:embed="rId3">
            <a:alphaModFix/>
          </a:blip>
          <a:srcRect b="0" l="0" r="0" t="0"/>
          <a:stretch/>
        </p:blipFill>
        <p:spPr>
          <a:xfrm>
            <a:off x="2309585" y="2014915"/>
            <a:ext cx="4524830" cy="43500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 calcmode="lin" valueType="num">
                                      <p:cBhvr additive="base">
                                        <p:cTn dur="500"/>
                                        <p:tgtEl>
                                          <p:spTgt spid="1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2400" u="none" cap="none" strike="noStrike">
                <a:solidFill>
                  <a:srgbClr val="333399"/>
                </a:solidFill>
                <a:latin typeface="Arial"/>
                <a:ea typeface="Arial"/>
                <a:cs typeface="Arial"/>
                <a:sym typeface="Arial"/>
              </a:rPr>
              <a:t>Determining work done by a force</a:t>
            </a:r>
            <a:r>
              <a:rPr b="0" i="0" lang="en-US" sz="2000" u="none" cap="none" strike="noStrike">
                <a:solidFill>
                  <a:schemeClr val="dk1"/>
                </a:solidFill>
                <a:latin typeface="Courier New"/>
                <a:ea typeface="Courier New"/>
                <a:cs typeface="Courier New"/>
                <a:sym typeface="Courier New"/>
              </a:rPr>
              <a:t>	</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∙Dynamics is the study of forces as they are applied to bodies, and how the bodies respond to those forces.</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∙Generally, we create free-body diagrams to solve the problems via Newton’s second law.</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∙A weakness of the second law is that we have to know all of the applied forces in order to solve the problem.</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∙Sometimes, forces are hard to get a handle on.</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∙In other words, as the following example will show, Newton’s second law is just too hard to use to solve some physics problems.</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∙In these cases, the principles of work and energy are used - the subjects of Topic 2.3.</a:t>
            </a:r>
            <a:endParaRPr/>
          </a:p>
        </p:txBody>
      </p:sp>
      <p:sp>
        <p:nvSpPr>
          <p:cNvPr id="119" name="Google Shape;119;p1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8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anim calcmode="lin" valueType="num">
                                      <p:cBhvr additive="base">
                                        <p:cTn dur="500"/>
                                        <p:tgtEl>
                                          <p:spTgt spid="11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anim calcmode="lin" valueType="num">
                                      <p:cBhvr additive="base">
                                        <p:cTn dur="500"/>
                                        <p:tgtEl>
                                          <p:spTgt spid="11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anim calcmode="lin" valueType="num">
                                      <p:cBhvr additive="base">
                                        <p:cTn dur="500"/>
                                        <p:tgtEl>
                                          <p:spTgt spid="11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3" st="3"/>
                                            </p:txEl>
                                          </p:spTgt>
                                        </p:tgtEl>
                                        <p:attrNameLst>
                                          <p:attrName>style.visibility</p:attrName>
                                        </p:attrNameLst>
                                      </p:cBhvr>
                                      <p:to>
                                        <p:strVal val="visible"/>
                                      </p:to>
                                    </p:set>
                                    <p:anim calcmode="lin" valueType="num">
                                      <p:cBhvr additive="base">
                                        <p:cTn dur="500"/>
                                        <p:tgtEl>
                                          <p:spTgt spid="11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4" st="4"/>
                                            </p:txEl>
                                          </p:spTgt>
                                        </p:tgtEl>
                                        <p:attrNameLst>
                                          <p:attrName>style.visibility</p:attrName>
                                        </p:attrNameLst>
                                      </p:cBhvr>
                                      <p:to>
                                        <p:strVal val="visible"/>
                                      </p:to>
                                    </p:set>
                                    <p:anim calcmode="lin" valueType="num">
                                      <p:cBhvr additive="base">
                                        <p:cTn dur="500"/>
                                        <p:tgtEl>
                                          <p:spTgt spid="11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5" st="5"/>
                                            </p:txEl>
                                          </p:spTgt>
                                        </p:tgtEl>
                                        <p:attrNameLst>
                                          <p:attrName>style.visibility</p:attrName>
                                        </p:attrNameLst>
                                      </p:cBhvr>
                                      <p:to>
                                        <p:strVal val="visible"/>
                                      </p:to>
                                    </p:set>
                                    <p:anim calcmode="lin" valueType="num">
                                      <p:cBhvr additive="base">
                                        <p:cTn dur="500"/>
                                        <p:tgtEl>
                                          <p:spTgt spid="11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6" st="6"/>
                                            </p:txEl>
                                          </p:spTgt>
                                        </p:tgtEl>
                                        <p:attrNameLst>
                                          <p:attrName>style.visibility</p:attrName>
                                        </p:attrNameLst>
                                      </p:cBhvr>
                                      <p:to>
                                        <p:strVal val="visible"/>
                                      </p:to>
                                    </p:set>
                                    <p:anim calcmode="lin" valueType="num">
                                      <p:cBhvr additive="base">
                                        <p:cTn dur="500"/>
                                        <p:tgtEl>
                                          <p:spTgt spid="11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p:nvPr/>
        </p:nvSpPr>
        <p:spPr>
          <a:xfrm>
            <a:off x="685800" y="1549400"/>
            <a:ext cx="7772400" cy="46513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b="0" i="1" lang="en-US" sz="2400" u="none" cap="none" strike="noStrike">
                <a:solidFill>
                  <a:srgbClr val="333399"/>
                </a:solidFill>
                <a:latin typeface="Arial"/>
                <a:ea typeface="Arial"/>
                <a:cs typeface="Arial"/>
                <a:sym typeface="Arial"/>
              </a:rPr>
              <a:t>Determining work done by a force</a:t>
            </a:r>
            <a:r>
              <a:rPr b="0" i="0" lang="en-US" sz="2000" u="none" cap="none" strike="noStrike">
                <a:solidFill>
                  <a:srgbClr val="000000"/>
                </a:solidFill>
                <a:latin typeface="Courier New"/>
                <a:ea typeface="Courier New"/>
                <a:cs typeface="Courier New"/>
                <a:sym typeface="Courier New"/>
              </a:rPr>
              <a:t>	</a:t>
            </a:r>
            <a:endParaRPr/>
          </a:p>
          <a:p>
            <a:pPr indent="0" lvl="0" marL="0" marR="0" rtl="0" algn="l">
              <a:spcBef>
                <a:spcPts val="400"/>
              </a:spcBef>
              <a:spcAft>
                <a:spcPts val="0"/>
              </a:spcAft>
              <a:buClr>
                <a:schemeClr val="dk1"/>
              </a:buClr>
              <a:buSzPts val="2000"/>
              <a:buFont typeface="Courier New"/>
              <a:buNone/>
            </a:pPr>
            <a:r>
              <a:rPr b="0" i="0" lang="en-US" sz="2000" u="none" cap="none" strike="noStrike">
                <a:solidFill>
                  <a:schemeClr val="dk1"/>
                </a:solidFill>
                <a:latin typeface="Courier New"/>
                <a:ea typeface="Courier New"/>
                <a:cs typeface="Courier New"/>
                <a:sym typeface="Courier New"/>
              </a:rPr>
              <a:t>	</a:t>
            </a:r>
            <a:endParaRPr/>
          </a:p>
        </p:txBody>
      </p:sp>
      <p:sp>
        <p:nvSpPr>
          <p:cNvPr id="126" name="Google Shape;126;p18"/>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127" name="Google Shape;127;p18"/>
          <p:cNvSpPr/>
          <p:nvPr/>
        </p:nvSpPr>
        <p:spPr>
          <a:xfrm>
            <a:off x="674688" y="1976438"/>
            <a:ext cx="7781925" cy="4881562"/>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EXAMPLE: Suppose we wish to find the speed of the ball when it reaches the bottom of the track. Discuss the problems in using free-body diagrams to find that final speed.</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None/>
            </a:pPr>
            <a:r>
              <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None/>
            </a:pPr>
            <a:r>
              <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None/>
            </a:pPr>
            <a:r>
              <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SOLUTION: Because the slope of the track is changing, so is the relative orientation of </a:t>
            </a:r>
            <a:r>
              <a:rPr b="1" i="0" lang="en-US" sz="2400" u="none" cap="none" strike="noStrike">
                <a:solidFill>
                  <a:schemeClr val="dk1"/>
                </a:solidFill>
                <a:latin typeface="Arial"/>
                <a:ea typeface="Arial"/>
                <a:cs typeface="Arial"/>
                <a:sym typeface="Arial"/>
              </a:rPr>
              <a:t>R</a:t>
            </a:r>
            <a:r>
              <a:rPr b="0" i="0" lang="en-US" sz="2400" u="none" cap="none" strike="noStrike">
                <a:solidFill>
                  <a:schemeClr val="dk1"/>
                </a:solidFill>
                <a:latin typeface="Arial"/>
                <a:ea typeface="Arial"/>
                <a:cs typeface="Arial"/>
                <a:sym typeface="Arial"/>
              </a:rPr>
              <a:t> and </a:t>
            </a:r>
            <a:r>
              <a:rPr b="1" i="0" lang="en-US" sz="2400" u="none" cap="none" strike="noStrike">
                <a:solidFill>
                  <a:schemeClr val="dk1"/>
                </a:solidFill>
                <a:latin typeface="Arial"/>
                <a:ea typeface="Arial"/>
                <a:cs typeface="Arial"/>
                <a:sym typeface="Arial"/>
              </a:rPr>
              <a:t>W</a:t>
            </a:r>
            <a:r>
              <a:rPr b="0" i="0" lang="en-US" sz="2400" u="none" cap="none" strike="noStrike">
                <a:solidFill>
                  <a:schemeClr val="dk1"/>
                </a:solidFill>
                <a:latin typeface="Arial"/>
                <a:ea typeface="Arial"/>
                <a:cs typeface="Arial"/>
                <a:sym typeface="Arial"/>
              </a:rPr>
              <a:t>.</a:t>
            </a:r>
            <a:endParaRPr/>
          </a:p>
          <a:p>
            <a:pPr indent="-152400" lvl="0" marL="0" marR="0" rtl="0" algn="l">
              <a:spcBef>
                <a:spcPts val="48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Thus, the acceleration is </a:t>
            </a:r>
            <a:r>
              <a:rPr b="0" i="0" lang="en-US" sz="2400" u="sng" cap="none" strike="noStrike">
                <a:solidFill>
                  <a:schemeClr val="dk1"/>
                </a:solidFill>
                <a:latin typeface="Arial"/>
                <a:ea typeface="Arial"/>
                <a:cs typeface="Arial"/>
                <a:sym typeface="Arial"/>
              </a:rPr>
              <a:t>not</a:t>
            </a:r>
            <a:r>
              <a:rPr b="0" i="0" lang="en-US" sz="2400" u="none" cap="none" strike="noStrike">
                <a:solidFill>
                  <a:schemeClr val="dk1"/>
                </a:solidFill>
                <a:latin typeface="Arial"/>
                <a:ea typeface="Arial"/>
                <a:cs typeface="Arial"/>
                <a:sym typeface="Arial"/>
              </a:rPr>
              <a:t> constant and we </a:t>
            </a:r>
            <a:r>
              <a:rPr b="0" i="0" lang="en-US" sz="2400" u="sng" cap="none" strike="noStrike">
                <a:solidFill>
                  <a:schemeClr val="dk1"/>
                </a:solidFill>
                <a:latin typeface="Arial"/>
                <a:ea typeface="Arial"/>
                <a:cs typeface="Arial"/>
                <a:sym typeface="Arial"/>
              </a:rPr>
              <a:t>can’t</a:t>
            </a:r>
            <a:r>
              <a:rPr b="0" i="0" lang="en-US" sz="2400" u="none" cap="none" strike="noStrike">
                <a:solidFill>
                  <a:schemeClr val="dk1"/>
                </a:solidFill>
                <a:latin typeface="Arial"/>
                <a:ea typeface="Arial"/>
                <a:cs typeface="Arial"/>
                <a:sym typeface="Arial"/>
              </a:rPr>
              <a:t> use the kinematic equations.</a:t>
            </a:r>
            <a:endParaRPr/>
          </a:p>
          <a:p>
            <a:pPr indent="-152400" lvl="0" marL="0" marR="0" rtl="0" algn="l">
              <a:spcBef>
                <a:spcPts val="48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Thus we can’t find </a:t>
            </a:r>
            <a:r>
              <a:rPr b="0" i="1" lang="en-US" sz="2400" u="none" cap="none" strike="noStrike">
                <a:solidFill>
                  <a:schemeClr val="dk1"/>
                </a:solidFill>
                <a:latin typeface="Arial"/>
                <a:ea typeface="Arial"/>
                <a:cs typeface="Arial"/>
                <a:sym typeface="Arial"/>
              </a:rPr>
              <a:t>v</a:t>
            </a:r>
            <a:r>
              <a:rPr b="0" i="0" lang="en-US" sz="2400" u="none" cap="none" strike="noStrike">
                <a:solidFill>
                  <a:schemeClr val="dk1"/>
                </a:solidFill>
                <a:latin typeface="Arial"/>
                <a:ea typeface="Arial"/>
                <a:cs typeface="Arial"/>
                <a:sym typeface="Arial"/>
              </a:rPr>
              <a:t> at the bottom of the track.</a:t>
            </a:r>
            <a:endParaRPr/>
          </a:p>
        </p:txBody>
      </p:sp>
      <p:sp>
        <p:nvSpPr>
          <p:cNvPr id="128" name="Google Shape;128;p18"/>
          <p:cNvSpPr/>
          <p:nvPr/>
        </p:nvSpPr>
        <p:spPr>
          <a:xfrm>
            <a:off x="1860550" y="3403600"/>
            <a:ext cx="7064375" cy="1154113"/>
          </a:xfrm>
          <a:custGeom>
            <a:rect b="b" l="l" r="r" t="t"/>
            <a:pathLst>
              <a:path extrusionOk="0" h="727" w="4450">
                <a:moveTo>
                  <a:pt x="0" y="17"/>
                </a:moveTo>
                <a:cubicBezTo>
                  <a:pt x="90" y="29"/>
                  <a:pt x="394" y="0"/>
                  <a:pt x="551" y="92"/>
                </a:cubicBezTo>
                <a:cubicBezTo>
                  <a:pt x="708" y="184"/>
                  <a:pt x="791" y="467"/>
                  <a:pt x="944" y="568"/>
                </a:cubicBezTo>
                <a:cubicBezTo>
                  <a:pt x="1097" y="669"/>
                  <a:pt x="1306" y="727"/>
                  <a:pt x="1469" y="701"/>
                </a:cubicBezTo>
                <a:cubicBezTo>
                  <a:pt x="1632" y="675"/>
                  <a:pt x="1788" y="473"/>
                  <a:pt x="1920" y="409"/>
                </a:cubicBezTo>
                <a:cubicBezTo>
                  <a:pt x="2052" y="345"/>
                  <a:pt x="2155" y="309"/>
                  <a:pt x="2263" y="317"/>
                </a:cubicBezTo>
                <a:cubicBezTo>
                  <a:pt x="2371" y="325"/>
                  <a:pt x="2486" y="406"/>
                  <a:pt x="2571" y="459"/>
                </a:cubicBezTo>
                <a:cubicBezTo>
                  <a:pt x="2656" y="512"/>
                  <a:pt x="2674" y="592"/>
                  <a:pt x="2772" y="634"/>
                </a:cubicBezTo>
                <a:cubicBezTo>
                  <a:pt x="2870" y="676"/>
                  <a:pt x="2876" y="696"/>
                  <a:pt x="3156" y="710"/>
                </a:cubicBezTo>
                <a:cubicBezTo>
                  <a:pt x="3436" y="724"/>
                  <a:pt x="3943" y="721"/>
                  <a:pt x="4450" y="718"/>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29" name="Google Shape;129;p18"/>
          <p:cNvSpPr/>
          <p:nvPr/>
        </p:nvSpPr>
        <p:spPr>
          <a:xfrm>
            <a:off x="1835150" y="3257550"/>
            <a:ext cx="171450" cy="171450"/>
          </a:xfrm>
          <a:prstGeom prst="ellipse">
            <a:avLst/>
          </a:prstGeom>
          <a:gradFill>
            <a:gsLst>
              <a:gs pos="0">
                <a:schemeClr val="accent1"/>
              </a:gs>
              <a:gs pos="100000">
                <a:srgbClr val="839D9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descr="Oak" id="130" name="Google Shape;130;p18"/>
          <p:cNvSpPr/>
          <p:nvPr/>
        </p:nvSpPr>
        <p:spPr>
          <a:xfrm>
            <a:off x="8509000" y="4187825"/>
            <a:ext cx="514350" cy="382588"/>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nvGrpSpPr>
          <p:cNvPr id="131" name="Google Shape;131;p18"/>
          <p:cNvGrpSpPr/>
          <p:nvPr/>
        </p:nvGrpSpPr>
        <p:grpSpPr>
          <a:xfrm>
            <a:off x="833446" y="3644900"/>
            <a:ext cx="852488" cy="1195388"/>
            <a:chOff x="4057" y="1661"/>
            <a:chExt cx="537" cy="753"/>
          </a:xfrm>
        </p:grpSpPr>
        <p:cxnSp>
          <p:nvCxnSpPr>
            <p:cNvPr id="132" name="Google Shape;132;p18"/>
            <p:cNvCxnSpPr/>
            <p:nvPr/>
          </p:nvCxnSpPr>
          <p:spPr>
            <a:xfrm>
              <a:off x="4168" y="1668"/>
              <a:ext cx="0" cy="288"/>
            </a:xfrm>
            <a:prstGeom prst="straightConnector1">
              <a:avLst/>
            </a:prstGeom>
            <a:noFill/>
            <a:ln cap="flat" cmpd="sng" w="38100">
              <a:solidFill>
                <a:schemeClr val="dk1"/>
              </a:solidFill>
              <a:prstDash val="solid"/>
              <a:round/>
              <a:headEnd len="med" w="med" type="none"/>
              <a:tailEnd len="med" w="med" type="stealth"/>
            </a:ln>
          </p:spPr>
        </p:cxnSp>
        <p:sp>
          <p:nvSpPr>
            <p:cNvPr id="133" name="Google Shape;133;p18"/>
            <p:cNvSpPr txBox="1"/>
            <p:nvPr/>
          </p:nvSpPr>
          <p:spPr>
            <a:xfrm>
              <a:off x="4057" y="1924"/>
              <a:ext cx="299"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u="none">
                  <a:solidFill>
                    <a:schemeClr val="dk1"/>
                  </a:solidFill>
                  <a:latin typeface="Arial"/>
                  <a:ea typeface="Arial"/>
                  <a:cs typeface="Arial"/>
                  <a:sym typeface="Arial"/>
                </a:rPr>
                <a:t>W</a:t>
              </a:r>
              <a:endParaRPr/>
            </a:p>
          </p:txBody>
        </p:sp>
        <p:cxnSp>
          <p:nvCxnSpPr>
            <p:cNvPr id="134" name="Google Shape;134;p18"/>
            <p:cNvCxnSpPr/>
            <p:nvPr/>
          </p:nvCxnSpPr>
          <p:spPr>
            <a:xfrm>
              <a:off x="4434" y="1661"/>
              <a:ext cx="0" cy="288"/>
            </a:xfrm>
            <a:prstGeom prst="straightConnector1">
              <a:avLst/>
            </a:prstGeom>
            <a:noFill/>
            <a:ln cap="flat" cmpd="sng" w="38100">
              <a:solidFill>
                <a:schemeClr val="hlink"/>
              </a:solidFill>
              <a:prstDash val="solid"/>
              <a:round/>
              <a:headEnd len="med" w="med" type="stealth"/>
              <a:tailEnd len="med" w="med" type="none"/>
            </a:ln>
          </p:spPr>
        </p:cxnSp>
        <p:sp>
          <p:nvSpPr>
            <p:cNvPr id="135" name="Google Shape;135;p18"/>
            <p:cNvSpPr txBox="1"/>
            <p:nvPr/>
          </p:nvSpPr>
          <p:spPr>
            <a:xfrm>
              <a:off x="4337" y="1923"/>
              <a:ext cx="257"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u="none">
                  <a:solidFill>
                    <a:schemeClr val="hlink"/>
                  </a:solidFill>
                  <a:latin typeface="Arial"/>
                  <a:ea typeface="Arial"/>
                  <a:cs typeface="Arial"/>
                  <a:sym typeface="Arial"/>
                </a:rPr>
                <a:t>R</a:t>
              </a:r>
              <a:endParaRPr/>
            </a:p>
          </p:txBody>
        </p:sp>
        <p:sp>
          <p:nvSpPr>
            <p:cNvPr id="136" name="Google Shape;136;p18"/>
            <p:cNvSpPr txBox="1"/>
            <p:nvPr/>
          </p:nvSpPr>
          <p:spPr>
            <a:xfrm>
              <a:off x="4087" y="2162"/>
              <a:ext cx="440"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a:solidFill>
                    <a:srgbClr val="0070C0"/>
                  </a:solidFill>
                  <a:latin typeface="Arial"/>
                  <a:ea typeface="Arial"/>
                  <a:cs typeface="Arial"/>
                  <a:sym typeface="Arial"/>
                </a:rPr>
                <a:t>KEY</a:t>
              </a:r>
              <a:endParaRPr/>
            </a:p>
          </p:txBody>
        </p:sp>
      </p:grpSp>
      <p:grpSp>
        <p:nvGrpSpPr>
          <p:cNvPr id="137" name="Google Shape;137;p18"/>
          <p:cNvGrpSpPr/>
          <p:nvPr/>
        </p:nvGrpSpPr>
        <p:grpSpPr>
          <a:xfrm>
            <a:off x="5367338" y="3402013"/>
            <a:ext cx="107950" cy="912812"/>
            <a:chOff x="2758" y="1685"/>
            <a:chExt cx="68" cy="575"/>
          </a:xfrm>
        </p:grpSpPr>
        <p:cxnSp>
          <p:nvCxnSpPr>
            <p:cNvPr id="138" name="Google Shape;138;p18"/>
            <p:cNvCxnSpPr/>
            <p:nvPr/>
          </p:nvCxnSpPr>
          <p:spPr>
            <a:xfrm>
              <a:off x="2791" y="1685"/>
              <a:ext cx="0" cy="288"/>
            </a:xfrm>
            <a:prstGeom prst="straightConnector1">
              <a:avLst/>
            </a:prstGeom>
            <a:noFill/>
            <a:ln cap="flat" cmpd="sng" w="38100">
              <a:solidFill>
                <a:schemeClr val="hlink"/>
              </a:solidFill>
              <a:prstDash val="solid"/>
              <a:round/>
              <a:headEnd len="med" w="med" type="stealth"/>
              <a:tailEnd len="med" w="med" type="none"/>
            </a:ln>
          </p:spPr>
        </p:cxnSp>
        <p:cxnSp>
          <p:nvCxnSpPr>
            <p:cNvPr id="139" name="Google Shape;139;p18"/>
            <p:cNvCxnSpPr/>
            <p:nvPr/>
          </p:nvCxnSpPr>
          <p:spPr>
            <a:xfrm>
              <a:off x="2792" y="1972"/>
              <a:ext cx="0" cy="288"/>
            </a:xfrm>
            <a:prstGeom prst="straightConnector1">
              <a:avLst/>
            </a:prstGeom>
            <a:noFill/>
            <a:ln cap="flat" cmpd="sng" w="38100">
              <a:solidFill>
                <a:schemeClr val="dk1"/>
              </a:solidFill>
              <a:prstDash val="solid"/>
              <a:round/>
              <a:headEnd len="med" w="med" type="none"/>
              <a:tailEnd len="med" w="med" type="stealth"/>
            </a:ln>
          </p:spPr>
        </p:cxnSp>
        <p:sp>
          <p:nvSpPr>
            <p:cNvPr id="140" name="Google Shape;140;p18"/>
            <p:cNvSpPr/>
            <p:nvPr/>
          </p:nvSpPr>
          <p:spPr>
            <a:xfrm>
              <a:off x="2758" y="1933"/>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141" name="Google Shape;141;p18"/>
          <p:cNvGrpSpPr/>
          <p:nvPr/>
        </p:nvGrpSpPr>
        <p:grpSpPr>
          <a:xfrm>
            <a:off x="4340225" y="3944938"/>
            <a:ext cx="247650" cy="741362"/>
            <a:chOff x="2255" y="1936"/>
            <a:chExt cx="156" cy="467"/>
          </a:xfrm>
        </p:grpSpPr>
        <p:cxnSp>
          <p:nvCxnSpPr>
            <p:cNvPr id="142" name="Google Shape;142;p18"/>
            <p:cNvCxnSpPr/>
            <p:nvPr/>
          </p:nvCxnSpPr>
          <p:spPr>
            <a:xfrm>
              <a:off x="2383" y="2115"/>
              <a:ext cx="0" cy="288"/>
            </a:xfrm>
            <a:prstGeom prst="straightConnector1">
              <a:avLst/>
            </a:prstGeom>
            <a:noFill/>
            <a:ln cap="flat" cmpd="sng" w="38100">
              <a:solidFill>
                <a:schemeClr val="dk1"/>
              </a:solidFill>
              <a:prstDash val="solid"/>
              <a:round/>
              <a:headEnd len="med" w="med" type="none"/>
              <a:tailEnd len="med" w="med" type="stealth"/>
            </a:ln>
          </p:spPr>
        </p:cxnSp>
        <p:cxnSp>
          <p:nvCxnSpPr>
            <p:cNvPr id="143" name="Google Shape;143;p18"/>
            <p:cNvCxnSpPr/>
            <p:nvPr/>
          </p:nvCxnSpPr>
          <p:spPr>
            <a:xfrm>
              <a:off x="2255" y="1936"/>
              <a:ext cx="129" cy="175"/>
            </a:xfrm>
            <a:prstGeom prst="straightConnector1">
              <a:avLst/>
            </a:prstGeom>
            <a:noFill/>
            <a:ln cap="flat" cmpd="sng" w="38100">
              <a:solidFill>
                <a:schemeClr val="hlink"/>
              </a:solidFill>
              <a:prstDash val="solid"/>
              <a:round/>
              <a:headEnd len="med" w="med" type="stealth"/>
              <a:tailEnd len="med" w="med" type="none"/>
            </a:ln>
          </p:spPr>
        </p:cxnSp>
        <p:sp>
          <p:nvSpPr>
            <p:cNvPr id="144" name="Google Shape;144;p18"/>
            <p:cNvSpPr/>
            <p:nvPr/>
          </p:nvSpPr>
          <p:spPr>
            <a:xfrm>
              <a:off x="2343" y="2078"/>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145" name="Google Shape;145;p18"/>
          <p:cNvGrpSpPr/>
          <p:nvPr/>
        </p:nvGrpSpPr>
        <p:grpSpPr>
          <a:xfrm>
            <a:off x="3522663" y="4003675"/>
            <a:ext cx="204787" cy="817563"/>
            <a:chOff x="1564" y="2072"/>
            <a:chExt cx="129" cy="515"/>
          </a:xfrm>
        </p:grpSpPr>
        <p:cxnSp>
          <p:nvCxnSpPr>
            <p:cNvPr id="146" name="Google Shape;146;p18"/>
            <p:cNvCxnSpPr/>
            <p:nvPr/>
          </p:nvCxnSpPr>
          <p:spPr>
            <a:xfrm>
              <a:off x="1602" y="2299"/>
              <a:ext cx="0" cy="288"/>
            </a:xfrm>
            <a:prstGeom prst="straightConnector1">
              <a:avLst/>
            </a:prstGeom>
            <a:noFill/>
            <a:ln cap="flat" cmpd="sng" w="38100">
              <a:solidFill>
                <a:schemeClr val="dk1"/>
              </a:solidFill>
              <a:prstDash val="solid"/>
              <a:round/>
              <a:headEnd len="med" w="med" type="none"/>
              <a:tailEnd len="med" w="med" type="stealth"/>
            </a:ln>
          </p:spPr>
        </p:cxnSp>
        <p:cxnSp>
          <p:nvCxnSpPr>
            <p:cNvPr id="147" name="Google Shape;147;p18"/>
            <p:cNvCxnSpPr/>
            <p:nvPr/>
          </p:nvCxnSpPr>
          <p:spPr>
            <a:xfrm flipH="1">
              <a:off x="1610" y="2072"/>
              <a:ext cx="83" cy="213"/>
            </a:xfrm>
            <a:prstGeom prst="straightConnector1">
              <a:avLst/>
            </a:prstGeom>
            <a:noFill/>
            <a:ln cap="flat" cmpd="sng" w="38100">
              <a:solidFill>
                <a:schemeClr val="hlink"/>
              </a:solidFill>
              <a:prstDash val="solid"/>
              <a:round/>
              <a:headEnd len="med" w="med" type="stealth"/>
              <a:tailEnd len="med" w="med" type="none"/>
            </a:ln>
          </p:spPr>
        </p:cxnSp>
        <p:sp>
          <p:nvSpPr>
            <p:cNvPr id="148" name="Google Shape;148;p18"/>
            <p:cNvSpPr/>
            <p:nvPr/>
          </p:nvSpPr>
          <p:spPr>
            <a:xfrm>
              <a:off x="1564" y="2254"/>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149" name="Google Shape;149;p18"/>
          <p:cNvGrpSpPr/>
          <p:nvPr/>
        </p:nvGrpSpPr>
        <p:grpSpPr>
          <a:xfrm>
            <a:off x="2935288" y="3549650"/>
            <a:ext cx="263525" cy="595313"/>
            <a:chOff x="1194" y="1778"/>
            <a:chExt cx="166" cy="375"/>
          </a:xfrm>
        </p:grpSpPr>
        <p:cxnSp>
          <p:nvCxnSpPr>
            <p:cNvPr id="150" name="Google Shape;150;p18"/>
            <p:cNvCxnSpPr/>
            <p:nvPr/>
          </p:nvCxnSpPr>
          <p:spPr>
            <a:xfrm>
              <a:off x="1222" y="1865"/>
              <a:ext cx="0" cy="288"/>
            </a:xfrm>
            <a:prstGeom prst="straightConnector1">
              <a:avLst/>
            </a:prstGeom>
            <a:noFill/>
            <a:ln cap="flat" cmpd="sng" w="38100">
              <a:solidFill>
                <a:schemeClr val="dk1"/>
              </a:solidFill>
              <a:prstDash val="solid"/>
              <a:round/>
              <a:headEnd len="med" w="med" type="none"/>
              <a:tailEnd len="med" w="med" type="stealth"/>
            </a:ln>
          </p:spPr>
        </p:cxnSp>
        <p:cxnSp>
          <p:nvCxnSpPr>
            <p:cNvPr id="151" name="Google Shape;151;p18"/>
            <p:cNvCxnSpPr/>
            <p:nvPr/>
          </p:nvCxnSpPr>
          <p:spPr>
            <a:xfrm flipH="1">
              <a:off x="1223" y="1778"/>
              <a:ext cx="137" cy="90"/>
            </a:xfrm>
            <a:prstGeom prst="straightConnector1">
              <a:avLst/>
            </a:prstGeom>
            <a:noFill/>
            <a:ln cap="flat" cmpd="sng" w="38100">
              <a:solidFill>
                <a:schemeClr val="hlink"/>
              </a:solidFill>
              <a:prstDash val="solid"/>
              <a:round/>
              <a:headEnd len="med" w="med" type="stealth"/>
              <a:tailEnd len="med" w="med" type="none"/>
            </a:ln>
          </p:spPr>
        </p:cxnSp>
        <p:sp>
          <p:nvSpPr>
            <p:cNvPr id="152" name="Google Shape;152;p18"/>
            <p:cNvSpPr/>
            <p:nvPr/>
          </p:nvSpPr>
          <p:spPr>
            <a:xfrm>
              <a:off x="1194" y="1838"/>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153" name="Google Shape;153;p18"/>
          <p:cNvGrpSpPr/>
          <p:nvPr/>
        </p:nvGrpSpPr>
        <p:grpSpPr>
          <a:xfrm>
            <a:off x="6705600" y="4008438"/>
            <a:ext cx="107950" cy="912812"/>
            <a:chOff x="2758" y="1685"/>
            <a:chExt cx="68" cy="575"/>
          </a:xfrm>
        </p:grpSpPr>
        <p:cxnSp>
          <p:nvCxnSpPr>
            <p:cNvPr id="154" name="Google Shape;154;p18"/>
            <p:cNvCxnSpPr/>
            <p:nvPr/>
          </p:nvCxnSpPr>
          <p:spPr>
            <a:xfrm>
              <a:off x="2791" y="1685"/>
              <a:ext cx="0" cy="288"/>
            </a:xfrm>
            <a:prstGeom prst="straightConnector1">
              <a:avLst/>
            </a:prstGeom>
            <a:noFill/>
            <a:ln cap="flat" cmpd="sng" w="38100">
              <a:solidFill>
                <a:schemeClr val="hlink"/>
              </a:solidFill>
              <a:prstDash val="solid"/>
              <a:round/>
              <a:headEnd len="med" w="med" type="stealth"/>
              <a:tailEnd len="med" w="med" type="none"/>
            </a:ln>
          </p:spPr>
        </p:cxnSp>
        <p:cxnSp>
          <p:nvCxnSpPr>
            <p:cNvPr id="155" name="Google Shape;155;p18"/>
            <p:cNvCxnSpPr/>
            <p:nvPr/>
          </p:nvCxnSpPr>
          <p:spPr>
            <a:xfrm>
              <a:off x="2792" y="1972"/>
              <a:ext cx="0" cy="288"/>
            </a:xfrm>
            <a:prstGeom prst="straightConnector1">
              <a:avLst/>
            </a:prstGeom>
            <a:noFill/>
            <a:ln cap="flat" cmpd="sng" w="38100">
              <a:solidFill>
                <a:schemeClr val="dk1"/>
              </a:solidFill>
              <a:prstDash val="solid"/>
              <a:round/>
              <a:headEnd len="med" w="med" type="none"/>
              <a:tailEnd len="med" w="med" type="stealth"/>
            </a:ln>
          </p:spPr>
        </p:cxnSp>
        <p:sp>
          <p:nvSpPr>
            <p:cNvPr id="156" name="Google Shape;156;p18"/>
            <p:cNvSpPr/>
            <p:nvPr/>
          </p:nvSpPr>
          <p:spPr>
            <a:xfrm>
              <a:off x="2758" y="1933"/>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157" name="Google Shape;157;p18"/>
          <p:cNvGrpSpPr/>
          <p:nvPr/>
        </p:nvGrpSpPr>
        <p:grpSpPr>
          <a:xfrm>
            <a:off x="7131050" y="4022725"/>
            <a:ext cx="107950" cy="912813"/>
            <a:chOff x="2758" y="1685"/>
            <a:chExt cx="68" cy="575"/>
          </a:xfrm>
        </p:grpSpPr>
        <p:cxnSp>
          <p:nvCxnSpPr>
            <p:cNvPr id="158" name="Google Shape;158;p18"/>
            <p:cNvCxnSpPr/>
            <p:nvPr/>
          </p:nvCxnSpPr>
          <p:spPr>
            <a:xfrm>
              <a:off x="2791" y="1685"/>
              <a:ext cx="0" cy="288"/>
            </a:xfrm>
            <a:prstGeom prst="straightConnector1">
              <a:avLst/>
            </a:prstGeom>
            <a:noFill/>
            <a:ln cap="flat" cmpd="sng" w="38100">
              <a:solidFill>
                <a:schemeClr val="hlink"/>
              </a:solidFill>
              <a:prstDash val="solid"/>
              <a:round/>
              <a:headEnd len="med" w="med" type="stealth"/>
              <a:tailEnd len="med" w="med" type="none"/>
            </a:ln>
          </p:spPr>
        </p:cxnSp>
        <p:cxnSp>
          <p:nvCxnSpPr>
            <p:cNvPr id="159" name="Google Shape;159;p18"/>
            <p:cNvCxnSpPr/>
            <p:nvPr/>
          </p:nvCxnSpPr>
          <p:spPr>
            <a:xfrm>
              <a:off x="2792" y="1972"/>
              <a:ext cx="0" cy="288"/>
            </a:xfrm>
            <a:prstGeom prst="straightConnector1">
              <a:avLst/>
            </a:prstGeom>
            <a:noFill/>
            <a:ln cap="flat" cmpd="sng" w="38100">
              <a:solidFill>
                <a:schemeClr val="dk1"/>
              </a:solidFill>
              <a:prstDash val="solid"/>
              <a:round/>
              <a:headEnd len="med" w="med" type="none"/>
              <a:tailEnd len="med" w="med" type="stealth"/>
            </a:ln>
          </p:spPr>
        </p:cxnSp>
        <p:sp>
          <p:nvSpPr>
            <p:cNvPr id="160" name="Google Shape;160;p18"/>
            <p:cNvSpPr/>
            <p:nvPr/>
          </p:nvSpPr>
          <p:spPr>
            <a:xfrm>
              <a:off x="2758" y="1933"/>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161" name="Google Shape;161;p18"/>
          <p:cNvGrpSpPr/>
          <p:nvPr/>
        </p:nvGrpSpPr>
        <p:grpSpPr>
          <a:xfrm>
            <a:off x="5640388" y="3597275"/>
            <a:ext cx="204787" cy="817563"/>
            <a:chOff x="1564" y="2072"/>
            <a:chExt cx="129" cy="515"/>
          </a:xfrm>
        </p:grpSpPr>
        <p:cxnSp>
          <p:nvCxnSpPr>
            <p:cNvPr id="162" name="Google Shape;162;p18"/>
            <p:cNvCxnSpPr/>
            <p:nvPr/>
          </p:nvCxnSpPr>
          <p:spPr>
            <a:xfrm>
              <a:off x="1602" y="2299"/>
              <a:ext cx="0" cy="288"/>
            </a:xfrm>
            <a:prstGeom prst="straightConnector1">
              <a:avLst/>
            </a:prstGeom>
            <a:noFill/>
            <a:ln cap="flat" cmpd="sng" w="38100">
              <a:solidFill>
                <a:schemeClr val="dk1"/>
              </a:solidFill>
              <a:prstDash val="solid"/>
              <a:round/>
              <a:headEnd len="med" w="med" type="none"/>
              <a:tailEnd len="med" w="med" type="stealth"/>
            </a:ln>
          </p:spPr>
        </p:cxnSp>
        <p:cxnSp>
          <p:nvCxnSpPr>
            <p:cNvPr id="163" name="Google Shape;163;p18"/>
            <p:cNvCxnSpPr/>
            <p:nvPr/>
          </p:nvCxnSpPr>
          <p:spPr>
            <a:xfrm flipH="1">
              <a:off x="1610" y="2072"/>
              <a:ext cx="83" cy="213"/>
            </a:xfrm>
            <a:prstGeom prst="straightConnector1">
              <a:avLst/>
            </a:prstGeom>
            <a:noFill/>
            <a:ln cap="flat" cmpd="sng" w="38100">
              <a:solidFill>
                <a:schemeClr val="hlink"/>
              </a:solidFill>
              <a:prstDash val="solid"/>
              <a:round/>
              <a:headEnd len="med" w="med" type="stealth"/>
              <a:tailEnd len="med" w="med" type="none"/>
            </a:ln>
          </p:spPr>
        </p:cxnSp>
        <p:sp>
          <p:nvSpPr>
            <p:cNvPr id="164" name="Google Shape;164;p18"/>
            <p:cNvSpPr/>
            <p:nvPr/>
          </p:nvSpPr>
          <p:spPr>
            <a:xfrm>
              <a:off x="1564" y="2254"/>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165" name="Google Shape;165;p18"/>
          <p:cNvGrpSpPr/>
          <p:nvPr/>
        </p:nvGrpSpPr>
        <p:grpSpPr>
          <a:xfrm>
            <a:off x="5957888" y="3937000"/>
            <a:ext cx="263525" cy="595313"/>
            <a:chOff x="1194" y="1778"/>
            <a:chExt cx="166" cy="375"/>
          </a:xfrm>
        </p:grpSpPr>
        <p:cxnSp>
          <p:nvCxnSpPr>
            <p:cNvPr id="166" name="Google Shape;166;p18"/>
            <p:cNvCxnSpPr/>
            <p:nvPr/>
          </p:nvCxnSpPr>
          <p:spPr>
            <a:xfrm>
              <a:off x="1222" y="1865"/>
              <a:ext cx="0" cy="288"/>
            </a:xfrm>
            <a:prstGeom prst="straightConnector1">
              <a:avLst/>
            </a:prstGeom>
            <a:noFill/>
            <a:ln cap="flat" cmpd="sng" w="38100">
              <a:solidFill>
                <a:schemeClr val="dk1"/>
              </a:solidFill>
              <a:prstDash val="solid"/>
              <a:round/>
              <a:headEnd len="med" w="med" type="none"/>
              <a:tailEnd len="med" w="med" type="stealth"/>
            </a:ln>
          </p:spPr>
        </p:cxnSp>
        <p:cxnSp>
          <p:nvCxnSpPr>
            <p:cNvPr id="167" name="Google Shape;167;p18"/>
            <p:cNvCxnSpPr/>
            <p:nvPr/>
          </p:nvCxnSpPr>
          <p:spPr>
            <a:xfrm flipH="1">
              <a:off x="1223" y="1778"/>
              <a:ext cx="137" cy="90"/>
            </a:xfrm>
            <a:prstGeom prst="straightConnector1">
              <a:avLst/>
            </a:prstGeom>
            <a:noFill/>
            <a:ln cap="flat" cmpd="sng" w="38100">
              <a:solidFill>
                <a:schemeClr val="hlink"/>
              </a:solidFill>
              <a:prstDash val="solid"/>
              <a:round/>
              <a:headEnd len="med" w="med" type="stealth"/>
              <a:tailEnd len="med" w="med" type="none"/>
            </a:ln>
          </p:spPr>
        </p:cxnSp>
        <p:sp>
          <p:nvSpPr>
            <p:cNvPr id="168" name="Google Shape;168;p18"/>
            <p:cNvSpPr/>
            <p:nvPr/>
          </p:nvSpPr>
          <p:spPr>
            <a:xfrm>
              <a:off x="1194" y="1838"/>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169" name="Google Shape;169;p18"/>
          <p:cNvGrpSpPr/>
          <p:nvPr/>
        </p:nvGrpSpPr>
        <p:grpSpPr>
          <a:xfrm>
            <a:off x="3152775" y="3865563"/>
            <a:ext cx="263525" cy="595312"/>
            <a:chOff x="1194" y="1778"/>
            <a:chExt cx="166" cy="375"/>
          </a:xfrm>
        </p:grpSpPr>
        <p:cxnSp>
          <p:nvCxnSpPr>
            <p:cNvPr id="170" name="Google Shape;170;p18"/>
            <p:cNvCxnSpPr/>
            <p:nvPr/>
          </p:nvCxnSpPr>
          <p:spPr>
            <a:xfrm>
              <a:off x="1222" y="1865"/>
              <a:ext cx="0" cy="288"/>
            </a:xfrm>
            <a:prstGeom prst="straightConnector1">
              <a:avLst/>
            </a:prstGeom>
            <a:noFill/>
            <a:ln cap="flat" cmpd="sng" w="38100">
              <a:solidFill>
                <a:schemeClr val="dk1"/>
              </a:solidFill>
              <a:prstDash val="solid"/>
              <a:round/>
              <a:headEnd len="med" w="med" type="none"/>
              <a:tailEnd len="med" w="med" type="stealth"/>
            </a:ln>
          </p:spPr>
        </p:cxnSp>
        <p:cxnSp>
          <p:nvCxnSpPr>
            <p:cNvPr id="171" name="Google Shape;171;p18"/>
            <p:cNvCxnSpPr/>
            <p:nvPr/>
          </p:nvCxnSpPr>
          <p:spPr>
            <a:xfrm flipH="1">
              <a:off x="1223" y="1778"/>
              <a:ext cx="137" cy="90"/>
            </a:xfrm>
            <a:prstGeom prst="straightConnector1">
              <a:avLst/>
            </a:prstGeom>
            <a:noFill/>
            <a:ln cap="flat" cmpd="sng" w="38100">
              <a:solidFill>
                <a:schemeClr val="hlink"/>
              </a:solidFill>
              <a:prstDash val="solid"/>
              <a:round/>
              <a:headEnd len="med" w="med" type="stealth"/>
              <a:tailEnd len="med" w="med" type="none"/>
            </a:ln>
          </p:spPr>
        </p:cxnSp>
        <p:sp>
          <p:nvSpPr>
            <p:cNvPr id="172" name="Google Shape;172;p18"/>
            <p:cNvSpPr/>
            <p:nvPr/>
          </p:nvSpPr>
          <p:spPr>
            <a:xfrm>
              <a:off x="1194" y="1838"/>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173" name="Google Shape;173;p18"/>
          <p:cNvGrpSpPr/>
          <p:nvPr/>
        </p:nvGrpSpPr>
        <p:grpSpPr>
          <a:xfrm>
            <a:off x="3984625" y="4005263"/>
            <a:ext cx="107950" cy="912812"/>
            <a:chOff x="2758" y="1685"/>
            <a:chExt cx="68" cy="575"/>
          </a:xfrm>
        </p:grpSpPr>
        <p:cxnSp>
          <p:nvCxnSpPr>
            <p:cNvPr id="174" name="Google Shape;174;p18"/>
            <p:cNvCxnSpPr/>
            <p:nvPr/>
          </p:nvCxnSpPr>
          <p:spPr>
            <a:xfrm>
              <a:off x="2791" y="1685"/>
              <a:ext cx="0" cy="288"/>
            </a:xfrm>
            <a:prstGeom prst="straightConnector1">
              <a:avLst/>
            </a:prstGeom>
            <a:noFill/>
            <a:ln cap="flat" cmpd="sng" w="38100">
              <a:solidFill>
                <a:schemeClr val="hlink"/>
              </a:solidFill>
              <a:prstDash val="solid"/>
              <a:round/>
              <a:headEnd len="med" w="med" type="stealth"/>
              <a:tailEnd len="med" w="med" type="none"/>
            </a:ln>
          </p:spPr>
        </p:cxnSp>
        <p:cxnSp>
          <p:nvCxnSpPr>
            <p:cNvPr id="175" name="Google Shape;175;p18"/>
            <p:cNvCxnSpPr/>
            <p:nvPr/>
          </p:nvCxnSpPr>
          <p:spPr>
            <a:xfrm>
              <a:off x="2792" y="1972"/>
              <a:ext cx="0" cy="288"/>
            </a:xfrm>
            <a:prstGeom prst="straightConnector1">
              <a:avLst/>
            </a:prstGeom>
            <a:noFill/>
            <a:ln cap="flat" cmpd="sng" w="38100">
              <a:solidFill>
                <a:schemeClr val="dk1"/>
              </a:solidFill>
              <a:prstDash val="solid"/>
              <a:round/>
              <a:headEnd len="med" w="med" type="none"/>
              <a:tailEnd len="med" w="med" type="stealth"/>
            </a:ln>
          </p:spPr>
        </p:cxnSp>
        <p:sp>
          <p:nvSpPr>
            <p:cNvPr id="176" name="Google Shape;176;p18"/>
            <p:cNvSpPr/>
            <p:nvPr/>
          </p:nvSpPr>
          <p:spPr>
            <a:xfrm>
              <a:off x="2758" y="1933"/>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177" name="Google Shape;177;p18"/>
          <p:cNvGrpSpPr/>
          <p:nvPr/>
        </p:nvGrpSpPr>
        <p:grpSpPr>
          <a:xfrm>
            <a:off x="4583113" y="3765550"/>
            <a:ext cx="247650" cy="741363"/>
            <a:chOff x="2255" y="1936"/>
            <a:chExt cx="156" cy="467"/>
          </a:xfrm>
        </p:grpSpPr>
        <p:cxnSp>
          <p:nvCxnSpPr>
            <p:cNvPr id="178" name="Google Shape;178;p18"/>
            <p:cNvCxnSpPr/>
            <p:nvPr/>
          </p:nvCxnSpPr>
          <p:spPr>
            <a:xfrm>
              <a:off x="2383" y="2115"/>
              <a:ext cx="0" cy="288"/>
            </a:xfrm>
            <a:prstGeom prst="straightConnector1">
              <a:avLst/>
            </a:prstGeom>
            <a:noFill/>
            <a:ln cap="flat" cmpd="sng" w="38100">
              <a:solidFill>
                <a:schemeClr val="dk1"/>
              </a:solidFill>
              <a:prstDash val="solid"/>
              <a:round/>
              <a:headEnd len="med" w="med" type="none"/>
              <a:tailEnd len="med" w="med" type="stealth"/>
            </a:ln>
          </p:spPr>
        </p:cxnSp>
        <p:cxnSp>
          <p:nvCxnSpPr>
            <p:cNvPr id="179" name="Google Shape;179;p18"/>
            <p:cNvCxnSpPr/>
            <p:nvPr/>
          </p:nvCxnSpPr>
          <p:spPr>
            <a:xfrm>
              <a:off x="2255" y="1936"/>
              <a:ext cx="129" cy="175"/>
            </a:xfrm>
            <a:prstGeom prst="straightConnector1">
              <a:avLst/>
            </a:prstGeom>
            <a:noFill/>
            <a:ln cap="flat" cmpd="sng" w="38100">
              <a:solidFill>
                <a:schemeClr val="hlink"/>
              </a:solidFill>
              <a:prstDash val="solid"/>
              <a:round/>
              <a:headEnd len="med" w="med" type="stealth"/>
              <a:tailEnd len="med" w="med" type="none"/>
            </a:ln>
          </p:spPr>
        </p:cxnSp>
        <p:sp>
          <p:nvSpPr>
            <p:cNvPr id="180" name="Google Shape;180;p18"/>
            <p:cNvSpPr/>
            <p:nvPr/>
          </p:nvSpPr>
          <p:spPr>
            <a:xfrm>
              <a:off x="2343" y="2078"/>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181" name="Google Shape;181;p18"/>
          <p:cNvGrpSpPr/>
          <p:nvPr/>
        </p:nvGrpSpPr>
        <p:grpSpPr>
          <a:xfrm flipH="1">
            <a:off x="4943475" y="3563938"/>
            <a:ext cx="204788" cy="817562"/>
            <a:chOff x="1564" y="2072"/>
            <a:chExt cx="129" cy="515"/>
          </a:xfrm>
        </p:grpSpPr>
        <p:cxnSp>
          <p:nvCxnSpPr>
            <p:cNvPr id="182" name="Google Shape;182;p18"/>
            <p:cNvCxnSpPr/>
            <p:nvPr/>
          </p:nvCxnSpPr>
          <p:spPr>
            <a:xfrm>
              <a:off x="1602" y="2299"/>
              <a:ext cx="0" cy="288"/>
            </a:xfrm>
            <a:prstGeom prst="straightConnector1">
              <a:avLst/>
            </a:prstGeom>
            <a:noFill/>
            <a:ln cap="flat" cmpd="sng" w="38100">
              <a:solidFill>
                <a:schemeClr val="dk1"/>
              </a:solidFill>
              <a:prstDash val="solid"/>
              <a:round/>
              <a:headEnd len="med" w="med" type="none"/>
              <a:tailEnd len="med" w="med" type="stealth"/>
            </a:ln>
          </p:spPr>
        </p:cxnSp>
        <p:cxnSp>
          <p:nvCxnSpPr>
            <p:cNvPr id="183" name="Google Shape;183;p18"/>
            <p:cNvCxnSpPr/>
            <p:nvPr/>
          </p:nvCxnSpPr>
          <p:spPr>
            <a:xfrm flipH="1">
              <a:off x="1610" y="2072"/>
              <a:ext cx="83" cy="213"/>
            </a:xfrm>
            <a:prstGeom prst="straightConnector1">
              <a:avLst/>
            </a:prstGeom>
            <a:noFill/>
            <a:ln cap="flat" cmpd="sng" w="38100">
              <a:solidFill>
                <a:schemeClr val="hlink"/>
              </a:solidFill>
              <a:prstDash val="solid"/>
              <a:round/>
              <a:headEnd len="med" w="med" type="stealth"/>
              <a:tailEnd len="med" w="med" type="none"/>
            </a:ln>
          </p:spPr>
        </p:cxnSp>
        <p:sp>
          <p:nvSpPr>
            <p:cNvPr id="184" name="Google Shape;184;p18"/>
            <p:cNvSpPr/>
            <p:nvPr/>
          </p:nvSpPr>
          <p:spPr>
            <a:xfrm>
              <a:off x="1564" y="2254"/>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185" name="Google Shape;185;p18"/>
          <p:cNvGrpSpPr/>
          <p:nvPr/>
        </p:nvGrpSpPr>
        <p:grpSpPr>
          <a:xfrm>
            <a:off x="6232525" y="3995738"/>
            <a:ext cx="204788" cy="817562"/>
            <a:chOff x="1564" y="2072"/>
            <a:chExt cx="129" cy="515"/>
          </a:xfrm>
        </p:grpSpPr>
        <p:cxnSp>
          <p:nvCxnSpPr>
            <p:cNvPr id="186" name="Google Shape;186;p18"/>
            <p:cNvCxnSpPr/>
            <p:nvPr/>
          </p:nvCxnSpPr>
          <p:spPr>
            <a:xfrm>
              <a:off x="1602" y="2299"/>
              <a:ext cx="0" cy="288"/>
            </a:xfrm>
            <a:prstGeom prst="straightConnector1">
              <a:avLst/>
            </a:prstGeom>
            <a:noFill/>
            <a:ln cap="flat" cmpd="sng" w="38100">
              <a:solidFill>
                <a:schemeClr val="dk1"/>
              </a:solidFill>
              <a:prstDash val="solid"/>
              <a:round/>
              <a:headEnd len="med" w="med" type="none"/>
              <a:tailEnd len="med" w="med" type="stealth"/>
            </a:ln>
          </p:spPr>
        </p:cxnSp>
        <p:cxnSp>
          <p:nvCxnSpPr>
            <p:cNvPr id="187" name="Google Shape;187;p18"/>
            <p:cNvCxnSpPr/>
            <p:nvPr/>
          </p:nvCxnSpPr>
          <p:spPr>
            <a:xfrm flipH="1">
              <a:off x="1610" y="2072"/>
              <a:ext cx="83" cy="213"/>
            </a:xfrm>
            <a:prstGeom prst="straightConnector1">
              <a:avLst/>
            </a:prstGeom>
            <a:noFill/>
            <a:ln cap="flat" cmpd="sng" w="38100">
              <a:solidFill>
                <a:schemeClr val="hlink"/>
              </a:solidFill>
              <a:prstDash val="solid"/>
              <a:round/>
              <a:headEnd len="med" w="med" type="stealth"/>
              <a:tailEnd len="med" w="med" type="none"/>
            </a:ln>
          </p:spPr>
        </p:cxnSp>
        <p:sp>
          <p:nvSpPr>
            <p:cNvPr id="188" name="Google Shape;188;p18"/>
            <p:cNvSpPr/>
            <p:nvPr/>
          </p:nvSpPr>
          <p:spPr>
            <a:xfrm>
              <a:off x="1564" y="2254"/>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189" name="Google Shape;189;p18"/>
          <p:cNvGrpSpPr/>
          <p:nvPr/>
        </p:nvGrpSpPr>
        <p:grpSpPr>
          <a:xfrm>
            <a:off x="7505700" y="4013200"/>
            <a:ext cx="107950" cy="912813"/>
            <a:chOff x="2758" y="1685"/>
            <a:chExt cx="68" cy="575"/>
          </a:xfrm>
        </p:grpSpPr>
        <p:cxnSp>
          <p:nvCxnSpPr>
            <p:cNvPr id="190" name="Google Shape;190;p18"/>
            <p:cNvCxnSpPr/>
            <p:nvPr/>
          </p:nvCxnSpPr>
          <p:spPr>
            <a:xfrm>
              <a:off x="2791" y="1685"/>
              <a:ext cx="0" cy="288"/>
            </a:xfrm>
            <a:prstGeom prst="straightConnector1">
              <a:avLst/>
            </a:prstGeom>
            <a:noFill/>
            <a:ln cap="flat" cmpd="sng" w="38100">
              <a:solidFill>
                <a:schemeClr val="hlink"/>
              </a:solidFill>
              <a:prstDash val="solid"/>
              <a:round/>
              <a:headEnd len="med" w="med" type="stealth"/>
              <a:tailEnd len="med" w="med" type="none"/>
            </a:ln>
          </p:spPr>
        </p:cxnSp>
        <p:cxnSp>
          <p:nvCxnSpPr>
            <p:cNvPr id="191" name="Google Shape;191;p18"/>
            <p:cNvCxnSpPr/>
            <p:nvPr/>
          </p:nvCxnSpPr>
          <p:spPr>
            <a:xfrm>
              <a:off x="2792" y="1972"/>
              <a:ext cx="0" cy="288"/>
            </a:xfrm>
            <a:prstGeom prst="straightConnector1">
              <a:avLst/>
            </a:prstGeom>
            <a:noFill/>
            <a:ln cap="flat" cmpd="sng" w="38100">
              <a:solidFill>
                <a:schemeClr val="dk1"/>
              </a:solidFill>
              <a:prstDash val="solid"/>
              <a:round/>
              <a:headEnd len="med" w="med" type="none"/>
              <a:tailEnd len="med" w="med" type="stealth"/>
            </a:ln>
          </p:spPr>
        </p:cxnSp>
        <p:sp>
          <p:nvSpPr>
            <p:cNvPr id="192" name="Google Shape;192;p18"/>
            <p:cNvSpPr/>
            <p:nvPr/>
          </p:nvSpPr>
          <p:spPr>
            <a:xfrm>
              <a:off x="2758" y="1933"/>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193" name="Google Shape;193;p18"/>
          <p:cNvGrpSpPr/>
          <p:nvPr/>
        </p:nvGrpSpPr>
        <p:grpSpPr>
          <a:xfrm>
            <a:off x="7918450" y="4014788"/>
            <a:ext cx="107950" cy="912812"/>
            <a:chOff x="2758" y="1685"/>
            <a:chExt cx="68" cy="575"/>
          </a:xfrm>
        </p:grpSpPr>
        <p:cxnSp>
          <p:nvCxnSpPr>
            <p:cNvPr id="194" name="Google Shape;194;p18"/>
            <p:cNvCxnSpPr/>
            <p:nvPr/>
          </p:nvCxnSpPr>
          <p:spPr>
            <a:xfrm>
              <a:off x="2791" y="1685"/>
              <a:ext cx="0" cy="288"/>
            </a:xfrm>
            <a:prstGeom prst="straightConnector1">
              <a:avLst/>
            </a:prstGeom>
            <a:noFill/>
            <a:ln cap="flat" cmpd="sng" w="38100">
              <a:solidFill>
                <a:schemeClr val="hlink"/>
              </a:solidFill>
              <a:prstDash val="solid"/>
              <a:round/>
              <a:headEnd len="med" w="med" type="stealth"/>
              <a:tailEnd len="med" w="med" type="none"/>
            </a:ln>
          </p:spPr>
        </p:cxnSp>
        <p:cxnSp>
          <p:nvCxnSpPr>
            <p:cNvPr id="195" name="Google Shape;195;p18"/>
            <p:cNvCxnSpPr/>
            <p:nvPr/>
          </p:nvCxnSpPr>
          <p:spPr>
            <a:xfrm>
              <a:off x="2792" y="1972"/>
              <a:ext cx="0" cy="288"/>
            </a:xfrm>
            <a:prstGeom prst="straightConnector1">
              <a:avLst/>
            </a:prstGeom>
            <a:noFill/>
            <a:ln cap="flat" cmpd="sng" w="38100">
              <a:solidFill>
                <a:schemeClr val="dk1"/>
              </a:solidFill>
              <a:prstDash val="solid"/>
              <a:round/>
              <a:headEnd len="med" w="med" type="none"/>
              <a:tailEnd len="med" w="med" type="stealth"/>
            </a:ln>
          </p:spPr>
        </p:cxnSp>
        <p:sp>
          <p:nvSpPr>
            <p:cNvPr id="196" name="Google Shape;196;p18"/>
            <p:cNvSpPr/>
            <p:nvPr/>
          </p:nvSpPr>
          <p:spPr>
            <a:xfrm>
              <a:off x="2758" y="1933"/>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197" name="Google Shape;197;p18"/>
          <p:cNvGrpSpPr/>
          <p:nvPr/>
        </p:nvGrpSpPr>
        <p:grpSpPr>
          <a:xfrm>
            <a:off x="8304213" y="4029075"/>
            <a:ext cx="107950" cy="912813"/>
            <a:chOff x="2758" y="1685"/>
            <a:chExt cx="68" cy="575"/>
          </a:xfrm>
        </p:grpSpPr>
        <p:cxnSp>
          <p:nvCxnSpPr>
            <p:cNvPr id="198" name="Google Shape;198;p18"/>
            <p:cNvCxnSpPr/>
            <p:nvPr/>
          </p:nvCxnSpPr>
          <p:spPr>
            <a:xfrm>
              <a:off x="2791" y="1685"/>
              <a:ext cx="0" cy="288"/>
            </a:xfrm>
            <a:prstGeom prst="straightConnector1">
              <a:avLst/>
            </a:prstGeom>
            <a:noFill/>
            <a:ln cap="flat" cmpd="sng" w="38100">
              <a:solidFill>
                <a:schemeClr val="hlink"/>
              </a:solidFill>
              <a:prstDash val="solid"/>
              <a:round/>
              <a:headEnd len="med" w="med" type="stealth"/>
              <a:tailEnd len="med" w="med" type="none"/>
            </a:ln>
          </p:spPr>
        </p:cxnSp>
        <p:cxnSp>
          <p:nvCxnSpPr>
            <p:cNvPr id="199" name="Google Shape;199;p18"/>
            <p:cNvCxnSpPr/>
            <p:nvPr/>
          </p:nvCxnSpPr>
          <p:spPr>
            <a:xfrm>
              <a:off x="2792" y="1972"/>
              <a:ext cx="0" cy="288"/>
            </a:xfrm>
            <a:prstGeom prst="straightConnector1">
              <a:avLst/>
            </a:prstGeom>
            <a:noFill/>
            <a:ln cap="flat" cmpd="sng" w="38100">
              <a:solidFill>
                <a:schemeClr val="dk1"/>
              </a:solidFill>
              <a:prstDash val="solid"/>
              <a:round/>
              <a:headEnd len="med" w="med" type="none"/>
              <a:tailEnd len="med" w="med" type="stealth"/>
            </a:ln>
          </p:spPr>
        </p:cxnSp>
        <p:sp>
          <p:nvSpPr>
            <p:cNvPr id="200" name="Google Shape;200;p18"/>
            <p:cNvSpPr/>
            <p:nvPr/>
          </p:nvSpPr>
          <p:spPr>
            <a:xfrm>
              <a:off x="2758" y="1933"/>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grpSp>
        <p:nvGrpSpPr>
          <p:cNvPr id="201" name="Google Shape;201;p18"/>
          <p:cNvGrpSpPr/>
          <p:nvPr/>
        </p:nvGrpSpPr>
        <p:grpSpPr>
          <a:xfrm>
            <a:off x="2743200" y="3154363"/>
            <a:ext cx="204788" cy="817562"/>
            <a:chOff x="1564" y="2072"/>
            <a:chExt cx="129" cy="515"/>
          </a:xfrm>
        </p:grpSpPr>
        <p:cxnSp>
          <p:nvCxnSpPr>
            <p:cNvPr id="202" name="Google Shape;202;p18"/>
            <p:cNvCxnSpPr/>
            <p:nvPr/>
          </p:nvCxnSpPr>
          <p:spPr>
            <a:xfrm>
              <a:off x="1602" y="2299"/>
              <a:ext cx="0" cy="288"/>
            </a:xfrm>
            <a:prstGeom prst="straightConnector1">
              <a:avLst/>
            </a:prstGeom>
            <a:noFill/>
            <a:ln cap="flat" cmpd="sng" w="38100">
              <a:solidFill>
                <a:schemeClr val="dk1"/>
              </a:solidFill>
              <a:prstDash val="solid"/>
              <a:round/>
              <a:headEnd len="med" w="med" type="none"/>
              <a:tailEnd len="med" w="med" type="stealth"/>
            </a:ln>
          </p:spPr>
        </p:cxnSp>
        <p:cxnSp>
          <p:nvCxnSpPr>
            <p:cNvPr id="203" name="Google Shape;203;p18"/>
            <p:cNvCxnSpPr/>
            <p:nvPr/>
          </p:nvCxnSpPr>
          <p:spPr>
            <a:xfrm flipH="1">
              <a:off x="1610" y="2072"/>
              <a:ext cx="83" cy="213"/>
            </a:xfrm>
            <a:prstGeom prst="straightConnector1">
              <a:avLst/>
            </a:prstGeom>
            <a:noFill/>
            <a:ln cap="flat" cmpd="sng" w="38100">
              <a:solidFill>
                <a:schemeClr val="hlink"/>
              </a:solidFill>
              <a:prstDash val="solid"/>
              <a:round/>
              <a:headEnd len="med" w="med" type="stealth"/>
              <a:tailEnd len="med" w="med" type="none"/>
            </a:ln>
          </p:spPr>
        </p:cxnSp>
        <p:sp>
          <p:nvSpPr>
            <p:cNvPr id="204" name="Google Shape;204;p18"/>
            <p:cNvSpPr/>
            <p:nvPr/>
          </p:nvSpPr>
          <p:spPr>
            <a:xfrm>
              <a:off x="1564" y="2254"/>
              <a:ext cx="68" cy="6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b="0" sz="2000" u="none">
                <a:solidFill>
                  <a:schemeClr val="dk1"/>
                </a:solidFill>
                <a:latin typeface="Courier New"/>
                <a:ea typeface="Courier New"/>
                <a:cs typeface="Courier New"/>
                <a:sym typeface="Courier New"/>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anim calcmode="lin" valueType="num">
                                      <p:cBhvr additive="base">
                                        <p:cTn dur="500"/>
                                        <p:tgtEl>
                                          <p:spTgt spid="12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anim calcmode="lin" valueType="num">
                                      <p:cBhvr additive="base">
                                        <p:cTn dur="500"/>
                                        <p:tgtEl>
                                          <p:spTgt spid="12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anim calcmode="lin" valueType="num">
                                      <p:cBhvr additive="base">
                                        <p:cTn dur="500"/>
                                        <p:tgtEl>
                                          <p:spTgt spid="12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
                                            <p:txEl>
                                              <p:pRg end="3" st="3"/>
                                            </p:txEl>
                                          </p:spTgt>
                                        </p:tgtEl>
                                        <p:attrNameLst>
                                          <p:attrName>style.visibility</p:attrName>
                                        </p:attrNameLst>
                                      </p:cBhvr>
                                      <p:to>
                                        <p:strVal val="visible"/>
                                      </p:to>
                                    </p:set>
                                    <p:anim calcmode="lin" valueType="num">
                                      <p:cBhvr additive="base">
                                        <p:cTn dur="500"/>
                                        <p:tgtEl>
                                          <p:spTgt spid="12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
                                            <p:txEl>
                                              <p:pRg end="4" st="4"/>
                                            </p:txEl>
                                          </p:spTgt>
                                        </p:tgtEl>
                                        <p:attrNameLst>
                                          <p:attrName>style.visibility</p:attrName>
                                        </p:attrNameLst>
                                      </p:cBhvr>
                                      <p:to>
                                        <p:strVal val="visible"/>
                                      </p:to>
                                    </p:set>
                                    <p:anim calcmode="lin" valueType="num">
                                      <p:cBhvr additive="base">
                                        <p:cTn dur="500"/>
                                        <p:tgtEl>
                                          <p:spTgt spid="12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
                                            <p:txEl>
                                              <p:pRg end="5" st="5"/>
                                            </p:txEl>
                                          </p:spTgt>
                                        </p:tgtEl>
                                        <p:attrNameLst>
                                          <p:attrName>style.visibility</p:attrName>
                                        </p:attrNameLst>
                                      </p:cBhvr>
                                      <p:to>
                                        <p:strVal val="visible"/>
                                      </p:to>
                                    </p:set>
                                    <p:anim calcmode="lin" valueType="num">
                                      <p:cBhvr additive="base">
                                        <p:cTn dur="500"/>
                                        <p:tgtEl>
                                          <p:spTgt spid="12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
                                            <p:txEl>
                                              <p:pRg end="6" st="6"/>
                                            </p:txEl>
                                          </p:spTgt>
                                        </p:tgtEl>
                                        <p:attrNameLst>
                                          <p:attrName>style.visibility</p:attrName>
                                        </p:attrNameLst>
                                      </p:cBhvr>
                                      <p:to>
                                        <p:strVal val="visible"/>
                                      </p:to>
                                    </p:set>
                                    <p:anim calcmode="lin" valueType="num">
                                      <p:cBhvr additive="base">
                                        <p:cTn dur="500"/>
                                        <p:tgtEl>
                                          <p:spTgt spid="12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2000"/>
                                        <p:tgtEl>
                                          <p:spTgt spid="1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1"/>
                                        </p:tgtEl>
                                        <p:attrNameLst>
                                          <p:attrName>style.visibility</p:attrName>
                                        </p:attrNameLst>
                                      </p:cBhvr>
                                      <p:to>
                                        <p:strVal val="visible"/>
                                      </p:to>
                                    </p:set>
                                    <p:anim calcmode="lin" valueType="num">
                                      <p:cBhvr additive="base">
                                        <p:cTn dur="500"/>
                                        <p:tgtEl>
                                          <p:spTgt spid="131"/>
                                        </p:tgtEl>
                                        <p:attrNameLst>
                                          <p:attrName>ppt_w</p:attrName>
                                        </p:attrNameLst>
                                      </p:cBhvr>
                                      <p:tavLst>
                                        <p:tav fmla="" tm="0">
                                          <p:val>
                                            <p:strVal val="0"/>
                                          </p:val>
                                        </p:tav>
                                        <p:tav fmla="" tm="100000">
                                          <p:val>
                                            <p:strVal val="#ppt_w"/>
                                          </p:val>
                                        </p:tav>
                                      </p:tavLst>
                                    </p:anim>
                                    <p:anim calcmode="lin" valueType="num">
                                      <p:cBhvr additive="base">
                                        <p:cTn dur="500"/>
                                        <p:tgtEl>
                                          <p:spTgt spid="13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500"/>
                                        <p:tgtEl>
                                          <p:spTgt spid="16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500"/>
                                        <p:tgtEl>
                                          <p:spTgt spid="14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500"/>
                                        <p:tgtEl>
                                          <p:spTgt spid="181"/>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500"/>
                                        <p:tgtEl>
                                          <p:spTgt spid="161"/>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500"/>
                                        <p:tgtEl>
                                          <p:spTgt spid="157"/>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childTnLst>
                          </p:cTn>
                        </p:par>
                        <p:par>
                          <p:cTn fill="hold">
                            <p:stCondLst>
                              <p:cond delay="7500"/>
                            </p:stCondLst>
                            <p:childTnLst>
                              <p:par>
                                <p:cTn fill="hold" nodeType="after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9"/>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Determining work done by a force</a:t>
            </a:r>
            <a:r>
              <a:rPr lang="en-US" sz="2000">
                <a:solidFill>
                  <a:srgbClr val="000000"/>
                </a:solidFill>
                <a:latin typeface="Courier New"/>
                <a:ea typeface="Courier New"/>
                <a:cs typeface="Courier New"/>
                <a:sym typeface="Courier New"/>
              </a:rPr>
              <a:t>	</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∙As we have stated, the principles of work and                  energy need to be mastered in order to solve                   this type of problem. We begin by defining </a:t>
            </a:r>
            <a:r>
              <a:rPr b="1" lang="en-US" sz="2400">
                <a:solidFill>
                  <a:schemeClr val="dk1"/>
                </a:solidFill>
                <a:latin typeface="Arial"/>
                <a:ea typeface="Arial"/>
                <a:cs typeface="Arial"/>
                <a:sym typeface="Arial"/>
              </a:rPr>
              <a:t>work</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∙In everyday use, work is usually thought of as effort expended by a body, you, on homework, or on a job.</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∙In physics, we define work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as force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times the displacement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over which the force acts:</a:t>
            </a:r>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1200"/>
              </a:spcBef>
              <a:spcAft>
                <a:spcPts val="0"/>
              </a:spcAft>
              <a:buNone/>
            </a:pPr>
            <a:r>
              <a:rPr lang="en-US" sz="2400">
                <a:solidFill>
                  <a:schemeClr val="dk1"/>
                </a:solidFill>
                <a:latin typeface="Arial"/>
                <a:ea typeface="Arial"/>
                <a:cs typeface="Arial"/>
                <a:sym typeface="Arial"/>
              </a:rPr>
              <a:t>∙The units of work are the units of force (Newtons) times distance (meters). For convenience, we call a Newton-meter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m) a Joule (J) in honor of the physicist by that name.</a:t>
            </a:r>
            <a:r>
              <a:rPr lang="en-US" sz="2000">
                <a:solidFill>
                  <a:schemeClr val="dk1"/>
                </a:solidFill>
                <a:latin typeface="Courier New"/>
                <a:ea typeface="Courier New"/>
                <a:cs typeface="Courier New"/>
                <a:sym typeface="Courier New"/>
              </a:rPr>
              <a:t>	</a:t>
            </a:r>
            <a:endParaRPr/>
          </a:p>
        </p:txBody>
      </p:sp>
      <p:sp>
        <p:nvSpPr>
          <p:cNvPr id="211" name="Google Shape;211;p1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grpSp>
        <p:nvGrpSpPr>
          <p:cNvPr id="212" name="Google Shape;212;p19"/>
          <p:cNvGrpSpPr/>
          <p:nvPr/>
        </p:nvGrpSpPr>
        <p:grpSpPr>
          <a:xfrm>
            <a:off x="828675" y="4803775"/>
            <a:ext cx="7464425" cy="461963"/>
            <a:chOff x="828675" y="4773612"/>
            <a:chExt cx="7464426" cy="461665"/>
          </a:xfrm>
        </p:grpSpPr>
        <p:sp>
          <p:nvSpPr>
            <p:cNvPr id="213" name="Google Shape;213;p19"/>
            <p:cNvSpPr/>
            <p:nvPr/>
          </p:nvSpPr>
          <p:spPr>
            <a:xfrm>
              <a:off x="965200" y="4783131"/>
              <a:ext cx="1358900" cy="32046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Fs</a:t>
              </a:r>
              <a:endParaRPr i="1" sz="2400">
                <a:solidFill>
                  <a:schemeClr val="dk1"/>
                </a:solidFill>
                <a:latin typeface="Arial"/>
                <a:ea typeface="Arial"/>
                <a:cs typeface="Arial"/>
                <a:sym typeface="Arial"/>
              </a:endParaRPr>
            </a:p>
          </p:txBody>
        </p:sp>
        <p:sp>
          <p:nvSpPr>
            <p:cNvPr id="214" name="Google Shape;214;p19"/>
            <p:cNvSpPr txBox="1"/>
            <p:nvPr/>
          </p:nvSpPr>
          <p:spPr>
            <a:xfrm>
              <a:off x="3822700" y="4773612"/>
              <a:ext cx="4470401"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work done by a constant force</a:t>
              </a:r>
              <a:endParaRPr/>
            </a:p>
          </p:txBody>
        </p:sp>
        <p:sp>
          <p:nvSpPr>
            <p:cNvPr id="215" name="Google Shape;215;p19"/>
            <p:cNvSpPr/>
            <p:nvPr/>
          </p:nvSpPr>
          <p:spPr>
            <a:xfrm>
              <a:off x="828675" y="4776785"/>
              <a:ext cx="7462839"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pic>
        <p:nvPicPr>
          <p:cNvPr descr="joule" id="216" name="Google Shape;216;p19"/>
          <p:cNvPicPr preferRelativeResize="0"/>
          <p:nvPr/>
        </p:nvPicPr>
        <p:blipFill rotWithShape="1">
          <a:blip r:embed="rId3">
            <a:alphaModFix/>
          </a:blip>
          <a:srcRect b="0" l="0" r="0" t="0"/>
          <a:stretch/>
        </p:blipFill>
        <p:spPr>
          <a:xfrm>
            <a:off x="7237413" y="0"/>
            <a:ext cx="1906587" cy="2740025"/>
          </a:xfrm>
          <a:prstGeom prst="rect">
            <a:avLst/>
          </a:prstGeom>
          <a:noFill/>
          <a:ln>
            <a:noFill/>
          </a:ln>
          <a:effectLst>
            <a:outerShdw blurRad="292100" rotWithShape="0" algn="tl" dir="2700000" dist="139700">
              <a:srgbClr val="333333">
                <a:alpha val="6470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2"/>
                                        </p:tgtEl>
                                        <p:attrNameLst>
                                          <p:attrName>style.visibility</p:attrName>
                                        </p:attrNameLst>
                                      </p:cBhvr>
                                      <p:to>
                                        <p:strVal val="visible"/>
                                      </p:to>
                                    </p:set>
                                    <p:anim calcmode="lin" valueType="num">
                                      <p:cBhvr additive="base">
                                        <p:cTn dur="500"/>
                                        <p:tgtEl>
                                          <p:spTgt spid="212"/>
                                        </p:tgtEl>
                                        <p:attrNameLst>
                                          <p:attrName>ppt_w</p:attrName>
                                        </p:attrNameLst>
                                      </p:cBhvr>
                                      <p:tavLst>
                                        <p:tav fmla="" tm="0">
                                          <p:val>
                                            <p:strVal val="0"/>
                                          </p:val>
                                        </p:tav>
                                        <p:tav fmla="" tm="100000">
                                          <p:val>
                                            <p:strVal val="#ppt_w"/>
                                          </p:val>
                                        </p:tav>
                                      </p:tavLst>
                                    </p:anim>
                                    <p:anim calcmode="lin" valueType="num">
                                      <p:cBhvr additive="base">
                                        <p:cTn dur="500"/>
                                        <p:tgtEl>
                                          <p:spTgt spid="21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20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0"/>
          <p:cNvSpPr/>
          <p:nvPr/>
        </p:nvSpPr>
        <p:spPr>
          <a:xfrm>
            <a:off x="685800" y="1549400"/>
            <a:ext cx="7772400" cy="101123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Determining work done by a force</a:t>
            </a:r>
            <a:endParaRPr sz="2000">
              <a:solidFill>
                <a:schemeClr val="dk1"/>
              </a:solidFill>
              <a:latin typeface="Courier New"/>
              <a:ea typeface="Courier New"/>
              <a:cs typeface="Courier New"/>
              <a:sym typeface="Courier New"/>
            </a:endParaRPr>
          </a:p>
        </p:txBody>
      </p:sp>
      <p:sp>
        <p:nvSpPr>
          <p:cNvPr id="223" name="Google Shape;223;p2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224" name="Google Shape;224;p20"/>
          <p:cNvSpPr/>
          <p:nvPr/>
        </p:nvSpPr>
        <p:spPr>
          <a:xfrm>
            <a:off x="674688" y="2482850"/>
            <a:ext cx="7781925" cy="354647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Find the work done by the 25-Newton force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in displacing the box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15 meters.</a:t>
            </a:r>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1200"/>
              </a:spcBef>
              <a:spcAft>
                <a:spcPts val="0"/>
              </a:spcAft>
              <a:buNone/>
            </a:pPr>
            <a:r>
              <a:rPr lang="en-US" sz="2400">
                <a:solidFill>
                  <a:schemeClr val="dk1"/>
                </a:solidFill>
                <a:latin typeface="Arial"/>
                <a:ea typeface="Arial"/>
                <a:cs typeface="Arial"/>
                <a:sym typeface="Arial"/>
              </a:rPr>
              <a:t>SOLUTION:</a:t>
            </a:r>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Fs</a:t>
            </a:r>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W</a:t>
            </a:r>
            <a:r>
              <a:rPr lang="en-US" sz="2400">
                <a:solidFill>
                  <a:schemeClr val="dk1"/>
                </a:solidFill>
                <a:latin typeface="Arial"/>
                <a:ea typeface="Arial"/>
                <a:cs typeface="Arial"/>
                <a:sym typeface="Arial"/>
              </a:rPr>
              <a:t> = (25 N)(15 m)</a:t>
            </a:r>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W</a:t>
            </a:r>
            <a:r>
              <a:rPr lang="en-US" sz="2400">
                <a:solidFill>
                  <a:schemeClr val="dk1"/>
                </a:solidFill>
                <a:latin typeface="Arial"/>
                <a:ea typeface="Arial"/>
                <a:cs typeface="Arial"/>
                <a:sym typeface="Arial"/>
              </a:rPr>
              <a:t> = 380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m = 380 J.</a:t>
            </a:r>
            <a:endParaRPr/>
          </a:p>
        </p:txBody>
      </p:sp>
      <p:sp>
        <p:nvSpPr>
          <p:cNvPr descr="Walnut" id="225" name="Google Shape;225;p20"/>
          <p:cNvSpPr/>
          <p:nvPr/>
        </p:nvSpPr>
        <p:spPr>
          <a:xfrm>
            <a:off x="666750" y="4098925"/>
            <a:ext cx="7810500" cy="219075"/>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nvGrpSpPr>
          <p:cNvPr id="226" name="Google Shape;226;p20"/>
          <p:cNvGrpSpPr/>
          <p:nvPr/>
        </p:nvGrpSpPr>
        <p:grpSpPr>
          <a:xfrm>
            <a:off x="654050" y="3686175"/>
            <a:ext cx="815975" cy="412750"/>
            <a:chOff x="412" y="3915"/>
            <a:chExt cx="514" cy="260"/>
          </a:xfrm>
        </p:grpSpPr>
        <p:sp>
          <p:nvSpPr>
            <p:cNvPr descr="Oak" id="227" name="Google Shape;227;p20"/>
            <p:cNvSpPr/>
            <p:nvPr/>
          </p:nvSpPr>
          <p:spPr>
            <a:xfrm>
              <a:off x="426" y="3923"/>
              <a:ext cx="476" cy="251"/>
            </a:xfrm>
            <a:prstGeom prst="rect">
              <a:avLst/>
            </a:prstGeom>
            <a:blipFill rotWithShape="1">
              <a:blip r:embed="rId4">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descr="Oak" id="228" name="Google Shape;228;p20"/>
            <p:cNvSpPr/>
            <p:nvPr/>
          </p:nvSpPr>
          <p:spPr>
            <a:xfrm>
              <a:off x="417" y="3915"/>
              <a:ext cx="509" cy="56"/>
            </a:xfrm>
            <a:prstGeom prst="rect">
              <a:avLst/>
            </a:prstGeom>
            <a:blipFill rotWithShape="1">
              <a:blip r:embed="rId4">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descr="Oak" id="229" name="Google Shape;229;p20"/>
            <p:cNvSpPr/>
            <p:nvPr/>
          </p:nvSpPr>
          <p:spPr>
            <a:xfrm>
              <a:off x="412" y="4119"/>
              <a:ext cx="509" cy="56"/>
            </a:xfrm>
            <a:prstGeom prst="rect">
              <a:avLst/>
            </a:prstGeom>
            <a:blipFill rotWithShape="1">
              <a:blip r:embed="rId4">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grpSp>
        <p:nvGrpSpPr>
          <p:cNvPr id="230" name="Google Shape;230;p20"/>
          <p:cNvGrpSpPr/>
          <p:nvPr/>
        </p:nvGrpSpPr>
        <p:grpSpPr>
          <a:xfrm>
            <a:off x="0" y="3660769"/>
            <a:ext cx="649288" cy="457200"/>
            <a:chOff x="0" y="3906"/>
            <a:chExt cx="409" cy="288"/>
          </a:xfrm>
        </p:grpSpPr>
        <p:cxnSp>
          <p:nvCxnSpPr>
            <p:cNvPr id="231" name="Google Shape;231;p20"/>
            <p:cNvCxnSpPr/>
            <p:nvPr/>
          </p:nvCxnSpPr>
          <p:spPr>
            <a:xfrm>
              <a:off x="0" y="3923"/>
              <a:ext cx="409" cy="0"/>
            </a:xfrm>
            <a:prstGeom prst="straightConnector1">
              <a:avLst/>
            </a:prstGeom>
            <a:noFill/>
            <a:ln cap="flat" cmpd="sng" w="57150">
              <a:solidFill>
                <a:srgbClr val="009900"/>
              </a:solidFill>
              <a:prstDash val="solid"/>
              <a:round/>
              <a:headEnd len="med" w="med" type="none"/>
              <a:tailEnd len="med" w="med" type="stealth"/>
            </a:ln>
          </p:spPr>
        </p:cxnSp>
        <p:sp>
          <p:nvSpPr>
            <p:cNvPr id="232" name="Google Shape;232;p20"/>
            <p:cNvSpPr txBox="1"/>
            <p:nvPr/>
          </p:nvSpPr>
          <p:spPr>
            <a:xfrm>
              <a:off x="0" y="3906"/>
              <a:ext cx="23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9900"/>
                </a:buClr>
                <a:buSzPts val="2400"/>
                <a:buFont typeface="Arial"/>
                <a:buNone/>
              </a:pPr>
              <a:r>
                <a:rPr b="1" lang="en-US" sz="2400">
                  <a:solidFill>
                    <a:srgbClr val="009900"/>
                  </a:solidFill>
                  <a:latin typeface="Arial"/>
                  <a:ea typeface="Arial"/>
                  <a:cs typeface="Arial"/>
                  <a:sym typeface="Arial"/>
                </a:rPr>
                <a:t>F</a:t>
              </a:r>
              <a:endParaRPr/>
            </a:p>
          </p:txBody>
        </p:sp>
      </p:grpSp>
      <p:cxnSp>
        <p:nvCxnSpPr>
          <p:cNvPr id="233" name="Google Shape;233;p20"/>
          <p:cNvCxnSpPr/>
          <p:nvPr/>
        </p:nvCxnSpPr>
        <p:spPr>
          <a:xfrm rot="10800000">
            <a:off x="661988" y="3230563"/>
            <a:ext cx="0" cy="438150"/>
          </a:xfrm>
          <a:prstGeom prst="straightConnector1">
            <a:avLst/>
          </a:prstGeom>
          <a:noFill/>
          <a:ln cap="flat" cmpd="sng" w="9525">
            <a:solidFill>
              <a:schemeClr val="dk1"/>
            </a:solidFill>
            <a:prstDash val="solid"/>
            <a:round/>
            <a:headEnd len="med" w="med" type="none"/>
            <a:tailEnd len="med" w="med" type="none"/>
          </a:ln>
        </p:spPr>
      </p:cxnSp>
      <p:cxnSp>
        <p:nvCxnSpPr>
          <p:cNvPr id="234" name="Google Shape;234;p20"/>
          <p:cNvCxnSpPr/>
          <p:nvPr/>
        </p:nvCxnSpPr>
        <p:spPr>
          <a:xfrm>
            <a:off x="5789613" y="3224213"/>
            <a:ext cx="0" cy="442912"/>
          </a:xfrm>
          <a:prstGeom prst="straightConnector1">
            <a:avLst/>
          </a:prstGeom>
          <a:noFill/>
          <a:ln cap="flat" cmpd="sng" w="9525">
            <a:solidFill>
              <a:schemeClr val="dk1"/>
            </a:solidFill>
            <a:prstDash val="solid"/>
            <a:round/>
            <a:headEnd len="med" w="med" type="none"/>
            <a:tailEnd len="med" w="med" type="none"/>
          </a:ln>
        </p:spPr>
      </p:cxnSp>
      <p:grpSp>
        <p:nvGrpSpPr>
          <p:cNvPr id="235" name="Google Shape;235;p20"/>
          <p:cNvGrpSpPr/>
          <p:nvPr/>
        </p:nvGrpSpPr>
        <p:grpSpPr>
          <a:xfrm>
            <a:off x="655638" y="3046461"/>
            <a:ext cx="5119687" cy="457200"/>
            <a:chOff x="413" y="3421"/>
            <a:chExt cx="3225" cy="334"/>
          </a:xfrm>
        </p:grpSpPr>
        <p:cxnSp>
          <p:nvCxnSpPr>
            <p:cNvPr id="236" name="Google Shape;236;p20"/>
            <p:cNvCxnSpPr/>
            <p:nvPr/>
          </p:nvCxnSpPr>
          <p:spPr>
            <a:xfrm>
              <a:off x="413" y="3715"/>
              <a:ext cx="3225" cy="0"/>
            </a:xfrm>
            <a:prstGeom prst="straightConnector1">
              <a:avLst/>
            </a:prstGeom>
            <a:noFill/>
            <a:ln cap="flat" cmpd="sng" w="57150">
              <a:solidFill>
                <a:schemeClr val="accent2"/>
              </a:solidFill>
              <a:prstDash val="solid"/>
              <a:round/>
              <a:headEnd len="med" w="med" type="none"/>
              <a:tailEnd len="med" w="med" type="stealth"/>
            </a:ln>
          </p:spPr>
        </p:cxnSp>
        <p:sp>
          <p:nvSpPr>
            <p:cNvPr id="237" name="Google Shape;237;p20"/>
            <p:cNvSpPr txBox="1"/>
            <p:nvPr/>
          </p:nvSpPr>
          <p:spPr>
            <a:xfrm>
              <a:off x="1805" y="3421"/>
              <a:ext cx="223" cy="33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2400"/>
                <a:buFont typeface="Arial"/>
                <a:buNone/>
              </a:pPr>
              <a:r>
                <a:rPr b="1" lang="en-US" sz="2400">
                  <a:solidFill>
                    <a:schemeClr val="accent2"/>
                  </a:solidFill>
                  <a:latin typeface="Arial"/>
                  <a:ea typeface="Arial"/>
                  <a:cs typeface="Arial"/>
                  <a:sym typeface="Arial"/>
                </a:rPr>
                <a:t>s</a:t>
              </a:r>
              <a:endParaRPr/>
            </a:p>
          </p:txBody>
        </p:sp>
      </p:grpSp>
      <p:sp>
        <p:nvSpPr>
          <p:cNvPr id="238" name="Google Shape;238;p20"/>
          <p:cNvSpPr/>
          <p:nvPr/>
        </p:nvSpPr>
        <p:spPr>
          <a:xfrm>
            <a:off x="684213" y="6042025"/>
            <a:ext cx="7766050" cy="828675"/>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The units of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m) are Joules (J). You can just keep them as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m) if you prefer.</a:t>
            </a:r>
            <a:endParaRPr/>
          </a:p>
        </p:txBody>
      </p:sp>
      <p:grpSp>
        <p:nvGrpSpPr>
          <p:cNvPr id="239" name="Google Shape;239;p20"/>
          <p:cNvGrpSpPr/>
          <p:nvPr/>
        </p:nvGrpSpPr>
        <p:grpSpPr>
          <a:xfrm>
            <a:off x="828675" y="1947863"/>
            <a:ext cx="7464425" cy="461962"/>
            <a:chOff x="828675" y="4773612"/>
            <a:chExt cx="7464426" cy="461665"/>
          </a:xfrm>
        </p:grpSpPr>
        <p:sp>
          <p:nvSpPr>
            <p:cNvPr id="240" name="Google Shape;240;p20"/>
            <p:cNvSpPr/>
            <p:nvPr/>
          </p:nvSpPr>
          <p:spPr>
            <a:xfrm>
              <a:off x="965200" y="4783131"/>
              <a:ext cx="1358900" cy="32046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Fs</a:t>
              </a:r>
              <a:endParaRPr i="1" sz="2400">
                <a:solidFill>
                  <a:schemeClr val="dk1"/>
                </a:solidFill>
                <a:latin typeface="Arial"/>
                <a:ea typeface="Arial"/>
                <a:cs typeface="Arial"/>
                <a:sym typeface="Arial"/>
              </a:endParaRPr>
            </a:p>
          </p:txBody>
        </p:sp>
        <p:sp>
          <p:nvSpPr>
            <p:cNvPr id="241" name="Google Shape;241;p20"/>
            <p:cNvSpPr txBox="1"/>
            <p:nvPr/>
          </p:nvSpPr>
          <p:spPr>
            <a:xfrm>
              <a:off x="3822700" y="4773612"/>
              <a:ext cx="4470401"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work done by a constant force</a:t>
              </a:r>
              <a:endParaRPr/>
            </a:p>
          </p:txBody>
        </p:sp>
        <p:sp>
          <p:nvSpPr>
            <p:cNvPr id="242" name="Google Shape;242;p20"/>
            <p:cNvSpPr/>
            <p:nvPr/>
          </p:nvSpPr>
          <p:spPr>
            <a:xfrm>
              <a:off x="828675" y="4776785"/>
              <a:ext cx="7462839"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9"/>
                                        </p:tgtEl>
                                        <p:attrNameLst>
                                          <p:attrName>style.visibility</p:attrName>
                                        </p:attrNameLst>
                                      </p:cBhvr>
                                      <p:to>
                                        <p:strVal val="visible"/>
                                      </p:to>
                                    </p:set>
                                    <p:anim calcmode="lin" valueType="num">
                                      <p:cBhvr additive="base">
                                        <p:cTn dur="500"/>
                                        <p:tgtEl>
                                          <p:spTgt spid="239"/>
                                        </p:tgtEl>
                                        <p:attrNameLst>
                                          <p:attrName>ppt_w</p:attrName>
                                        </p:attrNameLst>
                                      </p:cBhvr>
                                      <p:tavLst>
                                        <p:tav fmla="" tm="0">
                                          <p:val>
                                            <p:strVal val="0"/>
                                          </p:val>
                                        </p:tav>
                                        <p:tav fmla="" tm="100000">
                                          <p:val>
                                            <p:strVal val="#ppt_w"/>
                                          </p:val>
                                        </p:tav>
                                      </p:tavLst>
                                    </p:anim>
                                    <p:anim calcmode="lin" valueType="num">
                                      <p:cBhvr additive="base">
                                        <p:cTn dur="500"/>
                                        <p:tgtEl>
                                          <p:spTgt spid="23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anim calcmode="lin" valueType="num">
                                      <p:cBhvr additive="base">
                                        <p:cTn dur="500"/>
                                        <p:tgtEl>
                                          <p:spTgt spid="22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anim calcmode="lin" valueType="num">
                                      <p:cBhvr additive="base">
                                        <p:cTn dur="500"/>
                                        <p:tgtEl>
                                          <p:spTgt spid="22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anim calcmode="lin" valueType="num">
                                      <p:cBhvr additive="base">
                                        <p:cTn dur="500"/>
                                        <p:tgtEl>
                                          <p:spTgt spid="22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anim calcmode="lin" valueType="num">
                                      <p:cBhvr additive="base">
                                        <p:cTn dur="500"/>
                                        <p:tgtEl>
                                          <p:spTgt spid="22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anim calcmode="lin" valueType="num">
                                      <p:cBhvr additive="base">
                                        <p:cTn dur="500"/>
                                        <p:tgtEl>
                                          <p:spTgt spid="22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anim calcmode="lin" valueType="num">
                                      <p:cBhvr additive="base">
                                        <p:cTn dur="500"/>
                                        <p:tgtEl>
                                          <p:spTgt spid="22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
                                            <p:txEl>
                                              <p:pRg end="6" st="6"/>
                                            </p:txEl>
                                          </p:spTgt>
                                        </p:tgtEl>
                                        <p:attrNameLst>
                                          <p:attrName>style.visibility</p:attrName>
                                        </p:attrNameLst>
                                      </p:cBhvr>
                                      <p:to>
                                        <p:strVal val="visible"/>
                                      </p:to>
                                    </p:set>
                                    <p:anim calcmode="lin" valueType="num">
                                      <p:cBhvr additive="base">
                                        <p:cTn dur="500"/>
                                        <p:tgtEl>
                                          <p:spTgt spid="22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500"/>
                                        <p:tgtEl>
                                          <p:spTgt spid="2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20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8">
                                            <p:txEl>
                                              <p:pRg end="0" st="0"/>
                                            </p:txEl>
                                          </p:spTgt>
                                        </p:tgtEl>
                                        <p:attrNameLst>
                                          <p:attrName>style.visibility</p:attrName>
                                        </p:attrNameLst>
                                      </p:cBhvr>
                                      <p:to>
                                        <p:strVal val="visible"/>
                                      </p:to>
                                    </p:set>
                                    <p:anim calcmode="lin" valueType="num">
                                      <p:cBhvr additive="base">
                                        <p:cTn dur="500"/>
                                        <p:tgtEl>
                                          <p:spTgt spid="23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1"/>
          <p:cNvSpPr/>
          <p:nvPr/>
        </p:nvSpPr>
        <p:spPr>
          <a:xfrm>
            <a:off x="685800" y="1549400"/>
            <a:ext cx="7772400" cy="291623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Determining work done by a force</a:t>
            </a:r>
            <a:endParaRPr sz="2000">
              <a:solidFill>
                <a:srgbClr val="000000"/>
              </a:solidFill>
              <a:latin typeface="Courier New"/>
              <a:ea typeface="Courier New"/>
              <a:cs typeface="Courier New"/>
              <a:sym typeface="Courier New"/>
            </a:endParaRPr>
          </a:p>
          <a:p>
            <a:pPr indent="0" lvl="0" marL="0" marR="0" rtl="0" algn="l">
              <a:spcBef>
                <a:spcPts val="400"/>
              </a:spcBef>
              <a:spcAft>
                <a:spcPts val="0"/>
              </a:spcAft>
              <a:buNone/>
            </a:pPr>
            <a:r>
              <a:t/>
            </a:r>
            <a:endParaRPr sz="2000">
              <a:solidFill>
                <a:schemeClr val="dk1"/>
              </a:solidFill>
              <a:latin typeface="Courier New"/>
              <a:ea typeface="Courier New"/>
              <a:cs typeface="Courier New"/>
              <a:sym typeface="Courier New"/>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∙If the force is not parallel to the displacement the formula for work has the minor correction</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p:txBody>
      </p:sp>
      <p:sp>
        <p:nvSpPr>
          <p:cNvPr id="249" name="Google Shape;249;p21"/>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grpSp>
        <p:nvGrpSpPr>
          <p:cNvPr id="250" name="Google Shape;250;p21"/>
          <p:cNvGrpSpPr/>
          <p:nvPr/>
        </p:nvGrpSpPr>
        <p:grpSpPr>
          <a:xfrm>
            <a:off x="819150" y="3162300"/>
            <a:ext cx="7464425" cy="1176338"/>
            <a:chOff x="819150" y="3314700"/>
            <a:chExt cx="7464425" cy="1176655"/>
          </a:xfrm>
        </p:grpSpPr>
        <p:sp>
          <p:nvSpPr>
            <p:cNvPr id="251" name="Google Shape;251;p21"/>
            <p:cNvSpPr/>
            <p:nvPr/>
          </p:nvSpPr>
          <p:spPr>
            <a:xfrm>
              <a:off x="955675" y="3324228"/>
              <a:ext cx="2346325" cy="32076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Fs</a:t>
              </a:r>
              <a:r>
                <a:rPr baseline="-25000"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cos</a:t>
              </a:r>
              <a:r>
                <a:rPr baseline="-25000"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θ</a:t>
              </a:r>
              <a:endParaRPr i="1" sz="2400">
                <a:solidFill>
                  <a:schemeClr val="dk1"/>
                </a:solidFill>
                <a:latin typeface="Arial"/>
                <a:ea typeface="Arial"/>
                <a:cs typeface="Arial"/>
                <a:sym typeface="Arial"/>
              </a:endParaRPr>
            </a:p>
          </p:txBody>
        </p:sp>
        <p:sp>
          <p:nvSpPr>
            <p:cNvPr id="252" name="Google Shape;252;p21"/>
            <p:cNvSpPr txBox="1"/>
            <p:nvPr/>
          </p:nvSpPr>
          <p:spPr>
            <a:xfrm>
              <a:off x="3822700" y="3314700"/>
              <a:ext cx="4460875" cy="830487"/>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work done by a constant force not parallel to displacement</a:t>
              </a:r>
              <a:endParaRPr/>
            </a:p>
          </p:txBody>
        </p:sp>
        <p:sp>
          <p:nvSpPr>
            <p:cNvPr id="253" name="Google Shape;253;p21"/>
            <p:cNvSpPr/>
            <p:nvPr/>
          </p:nvSpPr>
          <p:spPr>
            <a:xfrm>
              <a:off x="819150" y="3317876"/>
              <a:ext cx="7462838" cy="1162363"/>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54" name="Google Shape;254;p21"/>
            <p:cNvSpPr/>
            <p:nvPr/>
          </p:nvSpPr>
          <p:spPr>
            <a:xfrm>
              <a:off x="1077913" y="4110252"/>
              <a:ext cx="7146925" cy="381103"/>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None/>
              </a:pPr>
              <a:r>
                <a:rPr lang="en-US" sz="2400">
                  <a:solidFill>
                    <a:schemeClr val="accent2"/>
                  </a:solidFill>
                  <a:latin typeface="Arial"/>
                  <a:ea typeface="Arial"/>
                  <a:cs typeface="Arial"/>
                  <a:sym typeface="Arial"/>
                </a:rPr>
                <a:t>Where</a:t>
              </a:r>
              <a:r>
                <a:rPr baseline="-25000" lang="en-US" sz="2400">
                  <a:solidFill>
                    <a:schemeClr val="accent2"/>
                  </a:solidFill>
                  <a:latin typeface="Arial"/>
                  <a:ea typeface="Arial"/>
                  <a:cs typeface="Arial"/>
                  <a:sym typeface="Arial"/>
                </a:rPr>
                <a:t> </a:t>
              </a:r>
              <a:r>
                <a:rPr i="1" lang="en-US" sz="2400">
                  <a:solidFill>
                    <a:schemeClr val="accent2"/>
                  </a:solidFill>
                  <a:latin typeface="Arial"/>
                  <a:ea typeface="Arial"/>
                  <a:cs typeface="Arial"/>
                  <a:sym typeface="Arial"/>
                </a:rPr>
                <a:t>θ</a:t>
              </a:r>
              <a:r>
                <a:rPr lang="en-US" sz="2400">
                  <a:solidFill>
                    <a:schemeClr val="accent2"/>
                  </a:solidFill>
                  <a:latin typeface="Arial"/>
                  <a:ea typeface="Arial"/>
                  <a:cs typeface="Arial"/>
                  <a:sym typeface="Arial"/>
                </a:rPr>
                <a:t> is the angle between </a:t>
              </a:r>
              <a:r>
                <a:rPr b="1" lang="en-US" sz="2400">
                  <a:solidFill>
                    <a:schemeClr val="accent2"/>
                  </a:solidFill>
                  <a:latin typeface="Arial"/>
                  <a:ea typeface="Arial"/>
                  <a:cs typeface="Arial"/>
                  <a:sym typeface="Arial"/>
                </a:rPr>
                <a:t>F</a:t>
              </a:r>
              <a:r>
                <a:rPr lang="en-US" sz="2400">
                  <a:solidFill>
                    <a:schemeClr val="accent2"/>
                  </a:solidFill>
                  <a:latin typeface="Arial"/>
                  <a:ea typeface="Arial"/>
                  <a:cs typeface="Arial"/>
                  <a:sym typeface="Arial"/>
                </a:rPr>
                <a:t> and </a:t>
              </a:r>
              <a:r>
                <a:rPr b="1" lang="en-US" sz="2400">
                  <a:solidFill>
                    <a:schemeClr val="accent2"/>
                  </a:solidFill>
                  <a:latin typeface="Arial"/>
                  <a:ea typeface="Arial"/>
                  <a:cs typeface="Arial"/>
                  <a:sym typeface="Arial"/>
                </a:rPr>
                <a:t>s</a:t>
              </a:r>
              <a:r>
                <a:rPr lang="en-US" sz="2400">
                  <a:solidFill>
                    <a:schemeClr val="accent2"/>
                  </a:solidFill>
                  <a:latin typeface="Arial"/>
                  <a:ea typeface="Arial"/>
                  <a:cs typeface="Arial"/>
                  <a:sym typeface="Arial"/>
                </a:rPr>
                <a:t>.</a:t>
              </a:r>
              <a:endParaRPr i="1" sz="2400">
                <a:solidFill>
                  <a:schemeClr val="accent2"/>
                </a:solidFill>
                <a:latin typeface="Arial"/>
                <a:ea typeface="Arial"/>
                <a:cs typeface="Arial"/>
                <a:sym typeface="Arial"/>
              </a:endParaRPr>
            </a:p>
          </p:txBody>
        </p:sp>
      </p:grpSp>
      <p:sp>
        <p:nvSpPr>
          <p:cNvPr id="255" name="Google Shape;255;p21"/>
          <p:cNvSpPr/>
          <p:nvPr/>
        </p:nvSpPr>
        <p:spPr>
          <a:xfrm>
            <a:off x="684213" y="4451350"/>
            <a:ext cx="7758112" cy="2132013"/>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a:t>
            </a:r>
            <a:endParaRPr/>
          </a:p>
          <a:p>
            <a:pPr indent="0" lvl="0" marL="0" marR="0" rtl="0" algn="l">
              <a:spcBef>
                <a:spcPts val="48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If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and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are parallel, </a:t>
            </a:r>
            <a:r>
              <a:rPr i="1" lang="en-US" sz="2400">
                <a:solidFill>
                  <a:schemeClr val="dk1"/>
                </a:solidFill>
                <a:latin typeface="Arial"/>
                <a:ea typeface="Arial"/>
                <a:cs typeface="Arial"/>
                <a:sym typeface="Arial"/>
              </a:rPr>
              <a:t>θ</a:t>
            </a:r>
            <a:r>
              <a:rPr lang="en-US" sz="2400">
                <a:solidFill>
                  <a:schemeClr val="dk1"/>
                </a:solidFill>
                <a:latin typeface="Arial"/>
                <a:ea typeface="Arial"/>
                <a:cs typeface="Arial"/>
                <a:sym typeface="Arial"/>
              </a:rPr>
              <a:t> = 0°                                             			    and cos 0° = </a:t>
            </a:r>
            <a:r>
              <a:rPr baseline="30000"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1.</a:t>
            </a:r>
            <a:endParaRPr/>
          </a:p>
          <a:p>
            <a:pPr indent="0" lvl="0" marL="0" marR="0" rtl="0" algn="l">
              <a:spcBef>
                <a:spcPts val="48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If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and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are antiparallel, </a:t>
            </a:r>
            <a:r>
              <a:rPr i="1" lang="en-US" sz="2400">
                <a:solidFill>
                  <a:schemeClr val="dk1"/>
                </a:solidFill>
                <a:latin typeface="Arial"/>
                <a:ea typeface="Arial"/>
                <a:cs typeface="Arial"/>
                <a:sym typeface="Arial"/>
              </a:rPr>
              <a:t>θ</a:t>
            </a:r>
            <a:r>
              <a:rPr lang="en-US" sz="2400">
                <a:solidFill>
                  <a:schemeClr val="dk1"/>
                </a:solidFill>
                <a:latin typeface="Arial"/>
                <a:ea typeface="Arial"/>
                <a:cs typeface="Arial"/>
                <a:sym typeface="Arial"/>
              </a:rPr>
              <a:t> = 180° </a:t>
            </a:r>
            <a:r>
              <a:rPr lang="en-US" sz="2400">
                <a:solidFill>
                  <a:srgbClr val="000000"/>
                </a:solidFill>
                <a:latin typeface="Arial"/>
                <a:ea typeface="Arial"/>
                <a:cs typeface="Arial"/>
                <a:sym typeface="Arial"/>
              </a:rPr>
              <a:t>						and cos 180° = -1.</a:t>
            </a:r>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p:txBody>
      </p:sp>
      <p:grpSp>
        <p:nvGrpSpPr>
          <p:cNvPr id="256" name="Google Shape;256;p21"/>
          <p:cNvGrpSpPr/>
          <p:nvPr/>
        </p:nvGrpSpPr>
        <p:grpSpPr>
          <a:xfrm>
            <a:off x="6629400" y="4489450"/>
            <a:ext cx="1512888" cy="925513"/>
            <a:chOff x="3952" y="2696"/>
            <a:chExt cx="953" cy="583"/>
          </a:xfrm>
        </p:grpSpPr>
        <p:cxnSp>
          <p:nvCxnSpPr>
            <p:cNvPr id="257" name="Google Shape;257;p21"/>
            <p:cNvCxnSpPr/>
            <p:nvPr/>
          </p:nvCxnSpPr>
          <p:spPr>
            <a:xfrm>
              <a:off x="4221" y="2842"/>
              <a:ext cx="318" cy="0"/>
            </a:xfrm>
            <a:prstGeom prst="straightConnector1">
              <a:avLst/>
            </a:prstGeom>
            <a:noFill/>
            <a:ln cap="flat" cmpd="sng" w="38100">
              <a:solidFill>
                <a:srgbClr val="008000"/>
              </a:solidFill>
              <a:prstDash val="solid"/>
              <a:round/>
              <a:headEnd len="med" w="med" type="none"/>
              <a:tailEnd len="med" w="med" type="stealth"/>
            </a:ln>
          </p:spPr>
        </p:cxnSp>
        <p:cxnSp>
          <p:nvCxnSpPr>
            <p:cNvPr id="258" name="Google Shape;258;p21"/>
            <p:cNvCxnSpPr/>
            <p:nvPr/>
          </p:nvCxnSpPr>
          <p:spPr>
            <a:xfrm>
              <a:off x="4231" y="2963"/>
              <a:ext cx="674" cy="0"/>
            </a:xfrm>
            <a:prstGeom prst="straightConnector1">
              <a:avLst/>
            </a:prstGeom>
            <a:noFill/>
            <a:ln cap="flat" cmpd="sng" w="38100">
              <a:solidFill>
                <a:schemeClr val="accent2"/>
              </a:solidFill>
              <a:prstDash val="solid"/>
              <a:round/>
              <a:headEnd len="med" w="med" type="none"/>
              <a:tailEnd len="med" w="med" type="stealth"/>
            </a:ln>
          </p:spPr>
        </p:cxnSp>
        <p:sp>
          <p:nvSpPr>
            <p:cNvPr id="259" name="Google Shape;259;p21"/>
            <p:cNvSpPr txBox="1"/>
            <p:nvPr/>
          </p:nvSpPr>
          <p:spPr>
            <a:xfrm>
              <a:off x="3956" y="2696"/>
              <a:ext cx="23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8000"/>
                  </a:solidFill>
                  <a:latin typeface="Arial"/>
                  <a:ea typeface="Arial"/>
                  <a:cs typeface="Arial"/>
                  <a:sym typeface="Arial"/>
                </a:rPr>
                <a:t>F</a:t>
              </a:r>
              <a:endParaRPr/>
            </a:p>
          </p:txBody>
        </p:sp>
        <p:sp>
          <p:nvSpPr>
            <p:cNvPr id="260" name="Google Shape;260;p21"/>
            <p:cNvSpPr txBox="1"/>
            <p:nvPr/>
          </p:nvSpPr>
          <p:spPr>
            <a:xfrm>
              <a:off x="3952" y="2830"/>
              <a:ext cx="22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s</a:t>
              </a:r>
              <a:endParaRPr/>
            </a:p>
          </p:txBody>
        </p:sp>
        <p:sp>
          <p:nvSpPr>
            <p:cNvPr id="261" name="Google Shape;261;p21"/>
            <p:cNvSpPr txBox="1"/>
            <p:nvPr/>
          </p:nvSpPr>
          <p:spPr>
            <a:xfrm>
              <a:off x="4031" y="2988"/>
              <a:ext cx="795"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parallel</a:t>
              </a:r>
              <a:endParaRPr/>
            </a:p>
          </p:txBody>
        </p:sp>
      </p:grpSp>
      <p:grpSp>
        <p:nvGrpSpPr>
          <p:cNvPr id="262" name="Google Shape;262;p21"/>
          <p:cNvGrpSpPr/>
          <p:nvPr/>
        </p:nvGrpSpPr>
        <p:grpSpPr>
          <a:xfrm>
            <a:off x="6538913" y="5429250"/>
            <a:ext cx="1808162" cy="973138"/>
            <a:chOff x="4223" y="3122"/>
            <a:chExt cx="1139" cy="613"/>
          </a:xfrm>
        </p:grpSpPr>
        <p:cxnSp>
          <p:nvCxnSpPr>
            <p:cNvPr id="263" name="Google Shape;263;p21"/>
            <p:cNvCxnSpPr/>
            <p:nvPr/>
          </p:nvCxnSpPr>
          <p:spPr>
            <a:xfrm>
              <a:off x="4568" y="3268"/>
              <a:ext cx="318" cy="0"/>
            </a:xfrm>
            <a:prstGeom prst="straightConnector1">
              <a:avLst/>
            </a:prstGeom>
            <a:noFill/>
            <a:ln cap="flat" cmpd="sng" w="38100">
              <a:solidFill>
                <a:srgbClr val="008000"/>
              </a:solidFill>
              <a:prstDash val="solid"/>
              <a:round/>
              <a:headEnd len="med" w="med" type="none"/>
              <a:tailEnd len="med" w="med" type="stealth"/>
            </a:ln>
          </p:spPr>
        </p:cxnSp>
        <p:cxnSp>
          <p:nvCxnSpPr>
            <p:cNvPr id="264" name="Google Shape;264;p21"/>
            <p:cNvCxnSpPr/>
            <p:nvPr/>
          </p:nvCxnSpPr>
          <p:spPr>
            <a:xfrm>
              <a:off x="4558" y="3389"/>
              <a:ext cx="674" cy="0"/>
            </a:xfrm>
            <a:prstGeom prst="straightConnector1">
              <a:avLst/>
            </a:prstGeom>
            <a:noFill/>
            <a:ln cap="flat" cmpd="sng" w="38100">
              <a:solidFill>
                <a:schemeClr val="accent2"/>
              </a:solidFill>
              <a:prstDash val="solid"/>
              <a:round/>
              <a:headEnd len="med" w="med" type="stealth"/>
              <a:tailEnd len="med" w="med" type="none"/>
            </a:ln>
          </p:spPr>
        </p:cxnSp>
        <p:sp>
          <p:nvSpPr>
            <p:cNvPr id="265" name="Google Shape;265;p21"/>
            <p:cNvSpPr txBox="1"/>
            <p:nvPr/>
          </p:nvSpPr>
          <p:spPr>
            <a:xfrm>
              <a:off x="4283" y="3122"/>
              <a:ext cx="23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8000"/>
                  </a:solidFill>
                  <a:latin typeface="Arial"/>
                  <a:ea typeface="Arial"/>
                  <a:cs typeface="Arial"/>
                  <a:sym typeface="Arial"/>
                </a:rPr>
                <a:t>F</a:t>
              </a:r>
              <a:endParaRPr/>
            </a:p>
          </p:txBody>
        </p:sp>
        <p:sp>
          <p:nvSpPr>
            <p:cNvPr id="266" name="Google Shape;266;p21"/>
            <p:cNvSpPr txBox="1"/>
            <p:nvPr/>
          </p:nvSpPr>
          <p:spPr>
            <a:xfrm>
              <a:off x="4279" y="3256"/>
              <a:ext cx="22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s</a:t>
              </a:r>
              <a:endParaRPr/>
            </a:p>
          </p:txBody>
        </p:sp>
        <p:sp>
          <p:nvSpPr>
            <p:cNvPr id="267" name="Google Shape;267;p21"/>
            <p:cNvSpPr txBox="1"/>
            <p:nvPr/>
          </p:nvSpPr>
          <p:spPr>
            <a:xfrm>
              <a:off x="4223" y="3444"/>
              <a:ext cx="1139"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antiparallel</a:t>
              </a:r>
              <a:endParaRPr/>
            </a:p>
          </p:txBody>
        </p:sp>
      </p:grpSp>
      <p:grpSp>
        <p:nvGrpSpPr>
          <p:cNvPr id="268" name="Google Shape;268;p21"/>
          <p:cNvGrpSpPr/>
          <p:nvPr/>
        </p:nvGrpSpPr>
        <p:grpSpPr>
          <a:xfrm>
            <a:off x="828675" y="1947863"/>
            <a:ext cx="7464425" cy="461962"/>
            <a:chOff x="828675" y="4773612"/>
            <a:chExt cx="7464426" cy="461665"/>
          </a:xfrm>
        </p:grpSpPr>
        <p:sp>
          <p:nvSpPr>
            <p:cNvPr id="269" name="Google Shape;269;p21"/>
            <p:cNvSpPr/>
            <p:nvPr/>
          </p:nvSpPr>
          <p:spPr>
            <a:xfrm>
              <a:off x="965200" y="4783131"/>
              <a:ext cx="1358900" cy="32046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Fs</a:t>
              </a:r>
              <a:endParaRPr i="1" sz="2400">
                <a:solidFill>
                  <a:schemeClr val="dk1"/>
                </a:solidFill>
                <a:latin typeface="Arial"/>
                <a:ea typeface="Arial"/>
                <a:cs typeface="Arial"/>
                <a:sym typeface="Arial"/>
              </a:endParaRPr>
            </a:p>
          </p:txBody>
        </p:sp>
        <p:sp>
          <p:nvSpPr>
            <p:cNvPr id="270" name="Google Shape;270;p21"/>
            <p:cNvSpPr txBox="1"/>
            <p:nvPr/>
          </p:nvSpPr>
          <p:spPr>
            <a:xfrm>
              <a:off x="3822700" y="4773612"/>
              <a:ext cx="4470401"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work done by a constant force</a:t>
              </a:r>
              <a:endParaRPr/>
            </a:p>
          </p:txBody>
        </p:sp>
        <p:sp>
          <p:nvSpPr>
            <p:cNvPr id="271" name="Google Shape;271;p21"/>
            <p:cNvSpPr/>
            <p:nvPr/>
          </p:nvSpPr>
          <p:spPr>
            <a:xfrm>
              <a:off x="828675" y="4776785"/>
              <a:ext cx="7462839"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0"/>
                                        </p:tgtEl>
                                        <p:attrNameLst>
                                          <p:attrName>style.visibility</p:attrName>
                                        </p:attrNameLst>
                                      </p:cBhvr>
                                      <p:to>
                                        <p:strVal val="visible"/>
                                      </p:to>
                                    </p:set>
                                    <p:anim calcmode="lin" valueType="num">
                                      <p:cBhvr additive="base">
                                        <p:cTn dur="500"/>
                                        <p:tgtEl>
                                          <p:spTgt spid="250"/>
                                        </p:tgtEl>
                                        <p:attrNameLst>
                                          <p:attrName>ppt_w</p:attrName>
                                        </p:attrNameLst>
                                      </p:cBhvr>
                                      <p:tavLst>
                                        <p:tav fmla="" tm="0">
                                          <p:val>
                                            <p:strVal val="0"/>
                                          </p:val>
                                        </p:tav>
                                        <p:tav fmla="" tm="100000">
                                          <p:val>
                                            <p:strVal val="#ppt_w"/>
                                          </p:val>
                                        </p:tav>
                                      </p:tavLst>
                                    </p:anim>
                                    <p:anim calcmode="lin" valueType="num">
                                      <p:cBhvr additive="base">
                                        <p:cTn dur="500"/>
                                        <p:tgtEl>
                                          <p:spTgt spid="25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6"/>
                                        </p:tgtEl>
                                        <p:attrNameLst>
                                          <p:attrName>style.visibility</p:attrName>
                                        </p:attrNameLst>
                                      </p:cBhvr>
                                      <p:to>
                                        <p:strVal val="visible"/>
                                      </p:to>
                                    </p:set>
                                    <p:anim calcmode="lin" valueType="num">
                                      <p:cBhvr additive="base">
                                        <p:cTn dur="500"/>
                                        <p:tgtEl>
                                          <p:spTgt spid="256"/>
                                        </p:tgtEl>
                                        <p:attrNameLst>
                                          <p:attrName>ppt_w</p:attrName>
                                        </p:attrNameLst>
                                      </p:cBhvr>
                                      <p:tavLst>
                                        <p:tav fmla="" tm="0">
                                          <p:val>
                                            <p:strVal val="0"/>
                                          </p:val>
                                        </p:tav>
                                        <p:tav fmla="" tm="100000">
                                          <p:val>
                                            <p:strVal val="#ppt_w"/>
                                          </p:val>
                                        </p:tav>
                                      </p:tavLst>
                                    </p:anim>
                                    <p:anim calcmode="lin" valueType="num">
                                      <p:cBhvr additive="base">
                                        <p:cTn dur="500"/>
                                        <p:tgtEl>
                                          <p:spTgt spid="25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2"/>
                                        </p:tgtEl>
                                        <p:attrNameLst>
                                          <p:attrName>style.visibility</p:attrName>
                                        </p:attrNameLst>
                                      </p:cBhvr>
                                      <p:to>
                                        <p:strVal val="visible"/>
                                      </p:to>
                                    </p:set>
                                    <p:anim calcmode="lin" valueType="num">
                                      <p:cBhvr additive="base">
                                        <p:cTn dur="500"/>
                                        <p:tgtEl>
                                          <p:spTgt spid="262"/>
                                        </p:tgtEl>
                                        <p:attrNameLst>
                                          <p:attrName>ppt_w</p:attrName>
                                        </p:attrNameLst>
                                      </p:cBhvr>
                                      <p:tavLst>
                                        <p:tav fmla="" tm="0">
                                          <p:val>
                                            <p:strVal val="0"/>
                                          </p:val>
                                        </p:tav>
                                        <p:tav fmla="" tm="100000">
                                          <p:val>
                                            <p:strVal val="#ppt_w"/>
                                          </p:val>
                                        </p:tav>
                                      </p:tavLst>
                                    </p:anim>
                                    <p:anim calcmode="lin" valueType="num">
                                      <p:cBhvr additive="base">
                                        <p:cTn dur="500"/>
                                        <p:tgtEl>
                                          <p:spTgt spid="26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2"/>
          <p:cNvSpPr/>
          <p:nvPr/>
        </p:nvSpPr>
        <p:spPr>
          <a:xfrm>
            <a:off x="685800" y="1549400"/>
            <a:ext cx="7772400" cy="17113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Determining work done by a force</a:t>
            </a:r>
            <a:endParaRPr sz="2000">
              <a:solidFill>
                <a:srgbClr val="000000"/>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278" name="Google Shape;278;p22"/>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279" name="Google Shape;279;p22"/>
          <p:cNvSpPr/>
          <p:nvPr/>
        </p:nvSpPr>
        <p:spPr>
          <a:xfrm>
            <a:off x="674688" y="3246438"/>
            <a:ext cx="7781925" cy="281940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Find the work done by the force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lang="en-US" sz="2400">
                <a:solidFill>
                  <a:srgbClr val="000000"/>
                </a:solidFill>
                <a:latin typeface="Arial"/>
                <a:ea typeface="Arial"/>
                <a:cs typeface="Arial"/>
                <a:sym typeface="Arial"/>
              </a:rPr>
              <a:t>25 N </a:t>
            </a:r>
            <a:r>
              <a:rPr lang="en-US" sz="2400">
                <a:solidFill>
                  <a:schemeClr val="dk1"/>
                </a:solidFill>
                <a:latin typeface="Arial"/>
                <a:ea typeface="Arial"/>
                <a:cs typeface="Arial"/>
                <a:sym typeface="Arial"/>
              </a:rPr>
              <a:t>in displacing a box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15 m if the force and displacement are (a) parallel, (b) antiparallel and (c) at a 30° angle.</a:t>
            </a:r>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SOLUTION:</a:t>
            </a:r>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 (a)</a:t>
            </a:r>
            <a:r>
              <a:rPr i="1" lang="en-US" sz="2400">
                <a:solidFill>
                  <a:schemeClr val="dk1"/>
                </a:solidFill>
                <a:latin typeface="Arial"/>
                <a:ea typeface="Arial"/>
                <a:cs typeface="Arial"/>
                <a:sym typeface="Arial"/>
              </a:rPr>
              <a:t> 	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Fs</a:t>
            </a:r>
            <a:r>
              <a:rPr baseline="-25000"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cos</a:t>
            </a:r>
            <a:r>
              <a:rPr baseline="-25000"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θ</a:t>
            </a:r>
            <a:r>
              <a:rPr lang="en-US" sz="2400">
                <a:solidFill>
                  <a:schemeClr val="dk1"/>
                </a:solidFill>
                <a:latin typeface="Arial"/>
                <a:ea typeface="Arial"/>
                <a:cs typeface="Arial"/>
                <a:sym typeface="Arial"/>
              </a:rPr>
              <a:t> = (25)(15)</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cos</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0° = 380 J.</a:t>
            </a:r>
            <a:endParaRPr/>
          </a:p>
          <a:p>
            <a:pPr indent="0" lvl="0" marL="0" marR="0" rtl="0" algn="l">
              <a:spcBef>
                <a:spcPts val="30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(b)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(25)(15)</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cos</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180° = - 380 J.</a:t>
            </a:r>
            <a:endParaRPr/>
          </a:p>
          <a:p>
            <a:pPr indent="0" lvl="0" marL="0" marR="0" rtl="0" algn="l">
              <a:spcBef>
                <a:spcPts val="30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(c) </a:t>
            </a:r>
            <a:r>
              <a:rPr baseline="-25000"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(25)(15)</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cos</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30° = 320 J.</a:t>
            </a:r>
            <a:endParaRPr/>
          </a:p>
        </p:txBody>
      </p:sp>
      <p:sp>
        <p:nvSpPr>
          <p:cNvPr id="280" name="Google Shape;280;p22"/>
          <p:cNvSpPr/>
          <p:nvPr/>
        </p:nvSpPr>
        <p:spPr>
          <a:xfrm>
            <a:off x="685800" y="6065838"/>
            <a:ext cx="7758113" cy="796925"/>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Work can be negative.</a:t>
            </a:r>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and the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are the </a:t>
            </a:r>
            <a:r>
              <a:rPr lang="en-US" sz="2400" u="sng">
                <a:solidFill>
                  <a:schemeClr val="dk1"/>
                </a:solidFill>
                <a:latin typeface="Arial"/>
                <a:ea typeface="Arial"/>
                <a:cs typeface="Arial"/>
                <a:sym typeface="Arial"/>
              </a:rPr>
              <a:t>magnitudes</a:t>
            </a:r>
            <a:r>
              <a:rPr lang="en-US" sz="2400">
                <a:solidFill>
                  <a:schemeClr val="dk1"/>
                </a:solidFill>
                <a:latin typeface="Arial"/>
                <a:ea typeface="Arial"/>
                <a:cs typeface="Arial"/>
                <a:sym typeface="Arial"/>
              </a:rPr>
              <a:t> of </a:t>
            </a:r>
            <a:r>
              <a:rPr b="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and </a:t>
            </a:r>
            <a:r>
              <a:rPr b="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a:t>
            </a:r>
            <a:endParaRPr/>
          </a:p>
        </p:txBody>
      </p:sp>
      <p:grpSp>
        <p:nvGrpSpPr>
          <p:cNvPr id="281" name="Google Shape;281;p22"/>
          <p:cNvGrpSpPr/>
          <p:nvPr/>
        </p:nvGrpSpPr>
        <p:grpSpPr>
          <a:xfrm>
            <a:off x="819150" y="1970088"/>
            <a:ext cx="7464425" cy="1176337"/>
            <a:chOff x="819150" y="3314700"/>
            <a:chExt cx="7464425" cy="1176655"/>
          </a:xfrm>
        </p:grpSpPr>
        <p:sp>
          <p:nvSpPr>
            <p:cNvPr id="282" name="Google Shape;282;p22"/>
            <p:cNvSpPr/>
            <p:nvPr/>
          </p:nvSpPr>
          <p:spPr>
            <a:xfrm>
              <a:off x="955675" y="3324228"/>
              <a:ext cx="2346325" cy="32076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Fs</a:t>
              </a:r>
              <a:r>
                <a:rPr baseline="-25000"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cos</a:t>
              </a:r>
              <a:r>
                <a:rPr baseline="-25000"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θ</a:t>
              </a:r>
              <a:endParaRPr i="1" sz="2400">
                <a:solidFill>
                  <a:schemeClr val="dk1"/>
                </a:solidFill>
                <a:latin typeface="Arial"/>
                <a:ea typeface="Arial"/>
                <a:cs typeface="Arial"/>
                <a:sym typeface="Arial"/>
              </a:endParaRPr>
            </a:p>
          </p:txBody>
        </p:sp>
        <p:sp>
          <p:nvSpPr>
            <p:cNvPr id="283" name="Google Shape;283;p22"/>
            <p:cNvSpPr txBox="1"/>
            <p:nvPr/>
          </p:nvSpPr>
          <p:spPr>
            <a:xfrm>
              <a:off x="3822700" y="3314700"/>
              <a:ext cx="4460875" cy="830486"/>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work done by a constant force not parallel to displacement</a:t>
              </a:r>
              <a:endParaRPr/>
            </a:p>
          </p:txBody>
        </p:sp>
        <p:sp>
          <p:nvSpPr>
            <p:cNvPr id="284" name="Google Shape;284;p22"/>
            <p:cNvSpPr/>
            <p:nvPr/>
          </p:nvSpPr>
          <p:spPr>
            <a:xfrm>
              <a:off x="819150" y="3317876"/>
              <a:ext cx="7462838" cy="1162364"/>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85" name="Google Shape;285;p22"/>
            <p:cNvSpPr/>
            <p:nvPr/>
          </p:nvSpPr>
          <p:spPr>
            <a:xfrm>
              <a:off x="1077913" y="4110252"/>
              <a:ext cx="7146925" cy="381103"/>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None/>
              </a:pPr>
              <a:r>
                <a:rPr lang="en-US" sz="2400">
                  <a:solidFill>
                    <a:schemeClr val="accent2"/>
                  </a:solidFill>
                  <a:latin typeface="Arial"/>
                  <a:ea typeface="Arial"/>
                  <a:cs typeface="Arial"/>
                  <a:sym typeface="Arial"/>
                </a:rPr>
                <a:t>Where</a:t>
              </a:r>
              <a:r>
                <a:rPr baseline="-25000" lang="en-US" sz="2400">
                  <a:solidFill>
                    <a:schemeClr val="accent2"/>
                  </a:solidFill>
                  <a:latin typeface="Arial"/>
                  <a:ea typeface="Arial"/>
                  <a:cs typeface="Arial"/>
                  <a:sym typeface="Arial"/>
                </a:rPr>
                <a:t> </a:t>
              </a:r>
              <a:r>
                <a:rPr i="1" lang="en-US" sz="2400">
                  <a:solidFill>
                    <a:schemeClr val="accent2"/>
                  </a:solidFill>
                  <a:latin typeface="Arial"/>
                  <a:ea typeface="Arial"/>
                  <a:cs typeface="Arial"/>
                  <a:sym typeface="Arial"/>
                </a:rPr>
                <a:t>θ</a:t>
              </a:r>
              <a:r>
                <a:rPr lang="en-US" sz="2400">
                  <a:solidFill>
                    <a:schemeClr val="accent2"/>
                  </a:solidFill>
                  <a:latin typeface="Arial"/>
                  <a:ea typeface="Arial"/>
                  <a:cs typeface="Arial"/>
                  <a:sym typeface="Arial"/>
                </a:rPr>
                <a:t> is the angle between </a:t>
              </a:r>
              <a:r>
                <a:rPr b="1" lang="en-US" sz="2400">
                  <a:solidFill>
                    <a:schemeClr val="accent2"/>
                  </a:solidFill>
                  <a:latin typeface="Arial"/>
                  <a:ea typeface="Arial"/>
                  <a:cs typeface="Arial"/>
                  <a:sym typeface="Arial"/>
                </a:rPr>
                <a:t>F</a:t>
              </a:r>
              <a:r>
                <a:rPr lang="en-US" sz="2400">
                  <a:solidFill>
                    <a:schemeClr val="accent2"/>
                  </a:solidFill>
                  <a:latin typeface="Arial"/>
                  <a:ea typeface="Arial"/>
                  <a:cs typeface="Arial"/>
                  <a:sym typeface="Arial"/>
                </a:rPr>
                <a:t> and </a:t>
              </a:r>
              <a:r>
                <a:rPr b="1" lang="en-US" sz="2400">
                  <a:solidFill>
                    <a:schemeClr val="accent2"/>
                  </a:solidFill>
                  <a:latin typeface="Arial"/>
                  <a:ea typeface="Arial"/>
                  <a:cs typeface="Arial"/>
                  <a:sym typeface="Arial"/>
                </a:rPr>
                <a:t>s</a:t>
              </a:r>
              <a:r>
                <a:rPr lang="en-US" sz="2400">
                  <a:solidFill>
                    <a:schemeClr val="accent2"/>
                  </a:solidFill>
                  <a:latin typeface="Arial"/>
                  <a:ea typeface="Arial"/>
                  <a:cs typeface="Arial"/>
                  <a:sym typeface="Arial"/>
                </a:rPr>
                <a:t>.</a:t>
              </a:r>
              <a:endParaRPr i="1" sz="2400">
                <a:solidFill>
                  <a:schemeClr val="accent2"/>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1"/>
                                        </p:tgtEl>
                                        <p:attrNameLst>
                                          <p:attrName>style.visibility</p:attrName>
                                        </p:attrNameLst>
                                      </p:cBhvr>
                                      <p:to>
                                        <p:strVal val="visible"/>
                                      </p:to>
                                    </p:set>
                                    <p:anim calcmode="lin" valueType="num">
                                      <p:cBhvr additive="base">
                                        <p:cTn dur="500"/>
                                        <p:tgtEl>
                                          <p:spTgt spid="281"/>
                                        </p:tgtEl>
                                        <p:attrNameLst>
                                          <p:attrName>ppt_w</p:attrName>
                                        </p:attrNameLst>
                                      </p:cBhvr>
                                      <p:tavLst>
                                        <p:tav fmla="" tm="0">
                                          <p:val>
                                            <p:strVal val="0"/>
                                          </p:val>
                                        </p:tav>
                                        <p:tav fmla="" tm="100000">
                                          <p:val>
                                            <p:strVal val="#ppt_w"/>
                                          </p:val>
                                        </p:tav>
                                      </p:tavLst>
                                    </p:anim>
                                    <p:anim calcmode="lin" valueType="num">
                                      <p:cBhvr additive="base">
                                        <p:cTn dur="500"/>
                                        <p:tgtEl>
                                          <p:spTgt spid="28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9">
                                            <p:txEl>
                                              <p:pRg end="0" st="0"/>
                                            </p:txEl>
                                          </p:spTgt>
                                        </p:tgtEl>
                                        <p:attrNameLst>
                                          <p:attrName>style.visibility</p:attrName>
                                        </p:attrNameLst>
                                      </p:cBhvr>
                                      <p:to>
                                        <p:strVal val="visible"/>
                                      </p:to>
                                    </p:set>
                                    <p:anim calcmode="lin" valueType="num">
                                      <p:cBhvr additive="base">
                                        <p:cTn dur="500"/>
                                        <p:tgtEl>
                                          <p:spTgt spid="27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9">
                                            <p:txEl>
                                              <p:pRg end="1" st="1"/>
                                            </p:txEl>
                                          </p:spTgt>
                                        </p:tgtEl>
                                        <p:attrNameLst>
                                          <p:attrName>style.visibility</p:attrName>
                                        </p:attrNameLst>
                                      </p:cBhvr>
                                      <p:to>
                                        <p:strVal val="visible"/>
                                      </p:to>
                                    </p:set>
                                    <p:anim calcmode="lin" valueType="num">
                                      <p:cBhvr additive="base">
                                        <p:cTn dur="500"/>
                                        <p:tgtEl>
                                          <p:spTgt spid="27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9">
                                            <p:txEl>
                                              <p:pRg end="2" st="2"/>
                                            </p:txEl>
                                          </p:spTgt>
                                        </p:tgtEl>
                                        <p:attrNameLst>
                                          <p:attrName>style.visibility</p:attrName>
                                        </p:attrNameLst>
                                      </p:cBhvr>
                                      <p:to>
                                        <p:strVal val="visible"/>
                                      </p:to>
                                    </p:set>
                                    <p:anim calcmode="lin" valueType="num">
                                      <p:cBhvr additive="base">
                                        <p:cTn dur="500"/>
                                        <p:tgtEl>
                                          <p:spTgt spid="27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9">
                                            <p:txEl>
                                              <p:pRg end="3" st="3"/>
                                            </p:txEl>
                                          </p:spTgt>
                                        </p:tgtEl>
                                        <p:attrNameLst>
                                          <p:attrName>style.visibility</p:attrName>
                                        </p:attrNameLst>
                                      </p:cBhvr>
                                      <p:to>
                                        <p:strVal val="visible"/>
                                      </p:to>
                                    </p:set>
                                    <p:anim calcmode="lin" valueType="num">
                                      <p:cBhvr additive="base">
                                        <p:cTn dur="500"/>
                                        <p:tgtEl>
                                          <p:spTgt spid="27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9">
                                            <p:txEl>
                                              <p:pRg end="4" st="4"/>
                                            </p:txEl>
                                          </p:spTgt>
                                        </p:tgtEl>
                                        <p:attrNameLst>
                                          <p:attrName>style.visibility</p:attrName>
                                        </p:attrNameLst>
                                      </p:cBhvr>
                                      <p:to>
                                        <p:strVal val="visible"/>
                                      </p:to>
                                    </p:set>
                                    <p:anim calcmode="lin" valueType="num">
                                      <p:cBhvr additive="base">
                                        <p:cTn dur="500"/>
                                        <p:tgtEl>
                                          <p:spTgt spid="27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0">
                                            <p:txEl>
                                              <p:pRg end="0" st="0"/>
                                            </p:txEl>
                                          </p:spTgt>
                                        </p:tgtEl>
                                        <p:attrNameLst>
                                          <p:attrName>style.visibility</p:attrName>
                                        </p:attrNameLst>
                                      </p:cBhvr>
                                      <p:to>
                                        <p:strVal val="visible"/>
                                      </p:to>
                                    </p:set>
                                    <p:anim calcmode="lin" valueType="num">
                                      <p:cBhvr additive="base">
                                        <p:cTn dur="500"/>
                                        <p:tgtEl>
                                          <p:spTgt spid="28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0">
                                            <p:txEl>
                                              <p:pRg end="1" st="1"/>
                                            </p:txEl>
                                          </p:spTgt>
                                        </p:tgtEl>
                                        <p:attrNameLst>
                                          <p:attrName>style.visibility</p:attrName>
                                        </p:attrNameLst>
                                      </p:cBhvr>
                                      <p:to>
                                        <p:strVal val="visible"/>
                                      </p:to>
                                    </p:set>
                                    <p:anim calcmode="lin" valueType="num">
                                      <p:cBhvr additive="base">
                                        <p:cTn dur="500"/>
                                        <p:tgtEl>
                                          <p:spTgt spid="28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3"/>
          <p:cNvSpPr/>
          <p:nvPr/>
        </p:nvSpPr>
        <p:spPr>
          <a:xfrm>
            <a:off x="674688" y="2011363"/>
            <a:ext cx="7781925" cy="484663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Find the work done by the brakes in bringing a 730-kg Smart Car to a rest in 80. meters if its starting speed is 32 m/s.</a:t>
            </a:r>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2400"/>
              </a:spcBef>
              <a:spcAft>
                <a:spcPts val="0"/>
              </a:spcAft>
              <a:buNone/>
            </a:pPr>
            <a:r>
              <a:rPr lang="en-US" sz="2400">
                <a:solidFill>
                  <a:schemeClr val="dk1"/>
                </a:solidFill>
                <a:latin typeface="Arial"/>
                <a:ea typeface="Arial"/>
                <a:cs typeface="Arial"/>
                <a:sym typeface="Arial"/>
              </a:rPr>
              <a:t>SOLUTION: </a:t>
            </a:r>
            <a:r>
              <a:rPr b="1" lang="en-US" sz="2400">
                <a:solidFill>
                  <a:srgbClr val="FF0000"/>
                </a:solidFill>
                <a:latin typeface="Arial"/>
                <a:ea typeface="Arial"/>
                <a:cs typeface="Arial"/>
                <a:sym typeface="Arial"/>
              </a:rPr>
              <a:t>F</a:t>
            </a:r>
            <a:r>
              <a:rPr lang="en-US" sz="2400">
                <a:solidFill>
                  <a:schemeClr val="dk1"/>
                </a:solidFill>
                <a:latin typeface="Arial"/>
                <a:ea typeface="Arial"/>
                <a:cs typeface="Arial"/>
                <a:sym typeface="Arial"/>
              </a:rPr>
              <a:t> and </a:t>
            </a:r>
            <a:r>
              <a:rPr b="1" lang="en-US" sz="2400">
                <a:solidFill>
                  <a:schemeClr val="accent2"/>
                </a:solidFill>
                <a:latin typeface="Arial"/>
                <a:ea typeface="Arial"/>
                <a:cs typeface="Arial"/>
                <a:sym typeface="Arial"/>
              </a:rPr>
              <a:t>s</a:t>
            </a:r>
            <a:r>
              <a:rPr lang="en-US" sz="2400">
                <a:solidFill>
                  <a:schemeClr val="dk1"/>
                </a:solidFill>
                <a:latin typeface="Arial"/>
                <a:ea typeface="Arial"/>
                <a:cs typeface="Arial"/>
                <a:sym typeface="Arial"/>
              </a:rPr>
              <a:t> are antiparallel so </a:t>
            </a:r>
            <a:r>
              <a:rPr i="1" lang="en-US" sz="2400">
                <a:solidFill>
                  <a:schemeClr val="dk1"/>
                </a:solidFill>
                <a:latin typeface="Arial"/>
                <a:ea typeface="Arial"/>
                <a:cs typeface="Arial"/>
                <a:sym typeface="Arial"/>
              </a:rPr>
              <a:t>θ</a:t>
            </a:r>
            <a:r>
              <a:rPr lang="en-US" sz="2400">
                <a:solidFill>
                  <a:schemeClr val="dk1"/>
                </a:solidFill>
                <a:latin typeface="Arial"/>
                <a:ea typeface="Arial"/>
                <a:cs typeface="Arial"/>
                <a:sym typeface="Arial"/>
              </a:rPr>
              <a:t> = 180°.</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From</a:t>
            </a:r>
            <a:r>
              <a:rPr i="1" lang="en-US" sz="2400">
                <a:solidFill>
                  <a:srgbClr val="000000"/>
                </a:solidFill>
                <a:latin typeface="Arial"/>
                <a:ea typeface="Arial"/>
                <a:cs typeface="Arial"/>
                <a:sym typeface="Arial"/>
              </a:rPr>
              <a:t> </a:t>
            </a:r>
            <a:r>
              <a:rPr i="1" lang="en-US" sz="2400">
                <a:solidFill>
                  <a:schemeClr val="accent2"/>
                </a:solidFill>
                <a:latin typeface="Arial"/>
                <a:ea typeface="Arial"/>
                <a:cs typeface="Arial"/>
                <a:sym typeface="Arial"/>
              </a:rPr>
              <a:t>s</a:t>
            </a:r>
            <a:r>
              <a:rPr lang="en-US" sz="2400">
                <a:solidFill>
                  <a:srgbClr val="000000"/>
                </a:solidFill>
                <a:latin typeface="Arial"/>
                <a:ea typeface="Arial"/>
                <a:cs typeface="Arial"/>
                <a:sym typeface="Arial"/>
              </a:rPr>
              <a:t> = 80 m and</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a:t>
            </a:r>
            <a:r>
              <a:rPr i="1" lang="en-US" sz="2400">
                <a:solidFill>
                  <a:schemeClr val="accent2"/>
                </a:solidFill>
                <a:latin typeface="Arial"/>
                <a:ea typeface="Arial"/>
                <a:cs typeface="Arial"/>
                <a:sym typeface="Arial"/>
              </a:rPr>
              <a:t>s</a:t>
            </a:r>
            <a:r>
              <a:rPr lang="en-US" sz="2400">
                <a:solidFill>
                  <a:schemeClr val="dk1"/>
                </a:solidFill>
                <a:latin typeface="Arial"/>
                <a:ea typeface="Arial"/>
                <a:cs typeface="Arial"/>
                <a:sym typeface="Arial"/>
              </a:rPr>
              <a:t> we get</a:t>
            </a:r>
            <a:endParaRPr/>
          </a:p>
          <a:p>
            <a:pPr indent="0" lvl="0" marL="0" marR="0" rtl="0" algn="l">
              <a:spcBef>
                <a:spcPts val="48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0</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32</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(80) so that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-6.4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Then </a:t>
            </a:r>
            <a:r>
              <a:rPr i="1" lang="en-US" sz="2400">
                <a:solidFill>
                  <a:srgbClr val="FF0000"/>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ma</a:t>
            </a:r>
            <a:r>
              <a:rPr lang="en-US" sz="2400">
                <a:solidFill>
                  <a:schemeClr val="dk1"/>
                </a:solidFill>
                <a:latin typeface="Arial"/>
                <a:ea typeface="Arial"/>
                <a:cs typeface="Arial"/>
                <a:sym typeface="Arial"/>
              </a:rPr>
              <a:t> = 730(-6.4) = - 4672 n. |</a:t>
            </a:r>
            <a:r>
              <a:rPr i="1" lang="en-US" sz="2400">
                <a:solidFill>
                  <a:srgbClr val="FF0000"/>
                </a:solidFill>
                <a:latin typeface="Arial"/>
                <a:ea typeface="Arial"/>
                <a:cs typeface="Arial"/>
                <a:sym typeface="Arial"/>
              </a:rPr>
              <a:t>F</a:t>
            </a:r>
            <a:r>
              <a:rPr lang="en-US" sz="2400">
                <a:solidFill>
                  <a:schemeClr val="dk1"/>
                </a:solidFill>
                <a:latin typeface="Arial"/>
                <a:ea typeface="Arial"/>
                <a:cs typeface="Arial"/>
                <a:sym typeface="Arial"/>
              </a:rPr>
              <a:t>| = +4672 N.</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Finally,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Fs</a:t>
            </a:r>
            <a:r>
              <a:rPr baseline="-25000"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cos</a:t>
            </a:r>
            <a:r>
              <a:rPr baseline="-25000"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θ</a:t>
            </a:r>
            <a:r>
              <a:rPr lang="en-US" sz="2400">
                <a:solidFill>
                  <a:schemeClr val="dk1"/>
                </a:solidFill>
                <a:latin typeface="Arial"/>
                <a:ea typeface="Arial"/>
                <a:cs typeface="Arial"/>
                <a:sym typeface="Arial"/>
              </a:rPr>
              <a:t> </a:t>
            </a:r>
            <a:endParaRPr/>
          </a:p>
          <a:p>
            <a:pPr indent="0" lvl="0" marL="0" marR="0" rtl="0" algn="l">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(4672)(80)</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cos</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180° = - 370000 J.</a:t>
            </a:r>
            <a:endParaRPr sz="2400">
              <a:solidFill>
                <a:schemeClr val="dk1"/>
              </a:solidFill>
              <a:latin typeface="Arial"/>
              <a:ea typeface="Arial"/>
              <a:cs typeface="Arial"/>
              <a:sym typeface="Arial"/>
            </a:endParaRPr>
          </a:p>
        </p:txBody>
      </p:sp>
      <p:grpSp>
        <p:nvGrpSpPr>
          <p:cNvPr id="292" name="Google Shape;292;p23"/>
          <p:cNvGrpSpPr/>
          <p:nvPr/>
        </p:nvGrpSpPr>
        <p:grpSpPr>
          <a:xfrm>
            <a:off x="2400300" y="3978275"/>
            <a:ext cx="5691188" cy="457200"/>
            <a:chOff x="1144" y="2997"/>
            <a:chExt cx="3585" cy="288"/>
          </a:xfrm>
        </p:grpSpPr>
        <p:cxnSp>
          <p:nvCxnSpPr>
            <p:cNvPr id="293" name="Google Shape;293;p23"/>
            <p:cNvCxnSpPr/>
            <p:nvPr/>
          </p:nvCxnSpPr>
          <p:spPr>
            <a:xfrm>
              <a:off x="1144" y="3024"/>
              <a:ext cx="3585" cy="0"/>
            </a:xfrm>
            <a:prstGeom prst="straightConnector1">
              <a:avLst/>
            </a:prstGeom>
            <a:noFill/>
            <a:ln cap="flat" cmpd="sng" w="57150">
              <a:solidFill>
                <a:schemeClr val="accent2"/>
              </a:solidFill>
              <a:prstDash val="solid"/>
              <a:round/>
              <a:headEnd len="med" w="med" type="none"/>
              <a:tailEnd len="med" w="med" type="stealth"/>
            </a:ln>
          </p:spPr>
        </p:cxnSp>
        <p:sp>
          <p:nvSpPr>
            <p:cNvPr id="294" name="Google Shape;294;p23"/>
            <p:cNvSpPr txBox="1"/>
            <p:nvPr/>
          </p:nvSpPr>
          <p:spPr>
            <a:xfrm>
              <a:off x="2706" y="2997"/>
              <a:ext cx="23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s</a:t>
              </a:r>
              <a:endParaRPr/>
            </a:p>
          </p:txBody>
        </p:sp>
      </p:grpSp>
      <p:sp>
        <p:nvSpPr>
          <p:cNvPr id="295" name="Google Shape;295;p23"/>
          <p:cNvSpPr/>
          <p:nvPr/>
        </p:nvSpPr>
        <p:spPr>
          <a:xfrm>
            <a:off x="685800" y="1549400"/>
            <a:ext cx="7772400" cy="46196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Determining work done by a force</a:t>
            </a:r>
            <a:endParaRPr sz="2000">
              <a:solidFill>
                <a:srgbClr val="000000"/>
              </a:solidFill>
              <a:latin typeface="Courier New"/>
              <a:ea typeface="Courier New"/>
              <a:cs typeface="Courier New"/>
              <a:sym typeface="Courier New"/>
            </a:endParaRPr>
          </a:p>
        </p:txBody>
      </p:sp>
      <p:sp>
        <p:nvSpPr>
          <p:cNvPr id="296" name="Google Shape;296;p2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pic>
        <p:nvPicPr>
          <p:cNvPr descr="ANd9GcTptwVuvDpYUoZG8_CTp3wMdEU7KykY2d4OJkfcG7LawlZCfHWsTQ" id="297" name="Google Shape;297;p23"/>
          <p:cNvPicPr preferRelativeResize="0"/>
          <p:nvPr/>
        </p:nvPicPr>
        <p:blipFill rotWithShape="1">
          <a:blip r:embed="rId3">
            <a:alphaModFix/>
          </a:blip>
          <a:srcRect b="0" l="0" r="0" t="0"/>
          <a:stretch/>
        </p:blipFill>
        <p:spPr>
          <a:xfrm>
            <a:off x="1266825" y="3135313"/>
            <a:ext cx="1249363" cy="777875"/>
          </a:xfrm>
          <a:prstGeom prst="rect">
            <a:avLst/>
          </a:prstGeom>
          <a:noFill/>
          <a:ln>
            <a:noFill/>
          </a:ln>
        </p:spPr>
      </p:pic>
      <p:cxnSp>
        <p:nvCxnSpPr>
          <p:cNvPr id="298" name="Google Shape;298;p23"/>
          <p:cNvCxnSpPr/>
          <p:nvPr/>
        </p:nvCxnSpPr>
        <p:spPr>
          <a:xfrm>
            <a:off x="666750" y="3890963"/>
            <a:ext cx="7772400" cy="0"/>
          </a:xfrm>
          <a:prstGeom prst="straightConnector1">
            <a:avLst/>
          </a:prstGeom>
          <a:noFill/>
          <a:ln cap="flat" cmpd="sng" w="57150">
            <a:solidFill>
              <a:srgbClr val="4D4D4D"/>
            </a:solidFill>
            <a:prstDash val="solid"/>
            <a:round/>
            <a:headEnd len="med" w="med" type="none"/>
            <a:tailEnd len="med" w="med" type="none"/>
          </a:ln>
        </p:spPr>
      </p:cxnSp>
      <p:grpSp>
        <p:nvGrpSpPr>
          <p:cNvPr id="299" name="Google Shape;299;p23"/>
          <p:cNvGrpSpPr/>
          <p:nvPr/>
        </p:nvGrpSpPr>
        <p:grpSpPr>
          <a:xfrm>
            <a:off x="830263" y="3138488"/>
            <a:ext cx="1692275" cy="1266825"/>
            <a:chOff x="3388" y="3218"/>
            <a:chExt cx="1066" cy="798"/>
          </a:xfrm>
        </p:grpSpPr>
        <p:cxnSp>
          <p:nvCxnSpPr>
            <p:cNvPr id="300" name="Google Shape;300;p23"/>
            <p:cNvCxnSpPr/>
            <p:nvPr/>
          </p:nvCxnSpPr>
          <p:spPr>
            <a:xfrm rot="10800000">
              <a:off x="3388" y="3732"/>
              <a:ext cx="993" cy="0"/>
            </a:xfrm>
            <a:prstGeom prst="straightConnector1">
              <a:avLst/>
            </a:prstGeom>
            <a:noFill/>
            <a:ln cap="flat" cmpd="sng" w="57150">
              <a:solidFill>
                <a:srgbClr val="FF3300"/>
              </a:solidFill>
              <a:prstDash val="solid"/>
              <a:round/>
              <a:headEnd len="med" w="med" type="none"/>
              <a:tailEnd len="med" w="med" type="stealth"/>
            </a:ln>
          </p:spPr>
        </p:cxnSp>
        <p:sp>
          <p:nvSpPr>
            <p:cNvPr id="301" name="Google Shape;301;p23"/>
            <p:cNvSpPr txBox="1"/>
            <p:nvPr/>
          </p:nvSpPr>
          <p:spPr>
            <a:xfrm>
              <a:off x="3856" y="3725"/>
              <a:ext cx="23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F3300"/>
                  </a:solidFill>
                  <a:latin typeface="Arial"/>
                  <a:ea typeface="Arial"/>
                  <a:cs typeface="Arial"/>
                  <a:sym typeface="Arial"/>
                </a:rPr>
                <a:t>F</a:t>
              </a:r>
              <a:endParaRPr/>
            </a:p>
          </p:txBody>
        </p:sp>
        <p:pic>
          <p:nvPicPr>
            <p:cNvPr descr="ANd9GcTptwVuvDpYUoZG8_CTp3wMdEU7KykY2d4OJkfcG7LawlZCfHWsTQ" id="302" name="Google Shape;302;p23"/>
            <p:cNvPicPr preferRelativeResize="0"/>
            <p:nvPr/>
          </p:nvPicPr>
          <p:blipFill rotWithShape="1">
            <a:blip r:embed="rId3">
              <a:alphaModFix/>
            </a:blip>
            <a:srcRect b="0" l="0" r="0" t="0"/>
            <a:stretch/>
          </p:blipFill>
          <p:spPr>
            <a:xfrm>
              <a:off x="3667" y="3218"/>
              <a:ext cx="787" cy="49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0" st="0"/>
                                            </p:txEl>
                                          </p:spTgt>
                                        </p:tgtEl>
                                        <p:attrNameLst>
                                          <p:attrName>style.visibility</p:attrName>
                                        </p:attrNameLst>
                                      </p:cBhvr>
                                      <p:to>
                                        <p:strVal val="visible"/>
                                      </p:to>
                                    </p:set>
                                    <p:anim calcmode="lin" valueType="num">
                                      <p:cBhvr additive="base">
                                        <p:cTn dur="500"/>
                                        <p:tgtEl>
                                          <p:spTgt spid="29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1" st="1"/>
                                            </p:txEl>
                                          </p:spTgt>
                                        </p:tgtEl>
                                        <p:attrNameLst>
                                          <p:attrName>style.visibility</p:attrName>
                                        </p:attrNameLst>
                                      </p:cBhvr>
                                      <p:to>
                                        <p:strVal val="visible"/>
                                      </p:to>
                                    </p:set>
                                    <p:anim calcmode="lin" valueType="num">
                                      <p:cBhvr additive="base">
                                        <p:cTn dur="500"/>
                                        <p:tgtEl>
                                          <p:spTgt spid="29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2" st="2"/>
                                            </p:txEl>
                                          </p:spTgt>
                                        </p:tgtEl>
                                        <p:attrNameLst>
                                          <p:attrName>style.visibility</p:attrName>
                                        </p:attrNameLst>
                                      </p:cBhvr>
                                      <p:to>
                                        <p:strVal val="visible"/>
                                      </p:to>
                                    </p:set>
                                    <p:anim calcmode="lin" valueType="num">
                                      <p:cBhvr additive="base">
                                        <p:cTn dur="500"/>
                                        <p:tgtEl>
                                          <p:spTgt spid="29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3" st="3"/>
                                            </p:txEl>
                                          </p:spTgt>
                                        </p:tgtEl>
                                        <p:attrNameLst>
                                          <p:attrName>style.visibility</p:attrName>
                                        </p:attrNameLst>
                                      </p:cBhvr>
                                      <p:to>
                                        <p:strVal val="visible"/>
                                      </p:to>
                                    </p:set>
                                    <p:anim calcmode="lin" valueType="num">
                                      <p:cBhvr additive="base">
                                        <p:cTn dur="500"/>
                                        <p:tgtEl>
                                          <p:spTgt spid="29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4" st="4"/>
                                            </p:txEl>
                                          </p:spTgt>
                                        </p:tgtEl>
                                        <p:attrNameLst>
                                          <p:attrName>style.visibility</p:attrName>
                                        </p:attrNameLst>
                                      </p:cBhvr>
                                      <p:to>
                                        <p:strVal val="visible"/>
                                      </p:to>
                                    </p:set>
                                    <p:anim calcmode="lin" valueType="num">
                                      <p:cBhvr additive="base">
                                        <p:cTn dur="500"/>
                                        <p:tgtEl>
                                          <p:spTgt spid="29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5" st="5"/>
                                            </p:txEl>
                                          </p:spTgt>
                                        </p:tgtEl>
                                        <p:attrNameLst>
                                          <p:attrName>style.visibility</p:attrName>
                                        </p:attrNameLst>
                                      </p:cBhvr>
                                      <p:to>
                                        <p:strVal val="visible"/>
                                      </p:to>
                                    </p:set>
                                    <p:anim calcmode="lin" valueType="num">
                                      <p:cBhvr additive="base">
                                        <p:cTn dur="500"/>
                                        <p:tgtEl>
                                          <p:spTgt spid="29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6" st="6"/>
                                            </p:txEl>
                                          </p:spTgt>
                                        </p:tgtEl>
                                        <p:attrNameLst>
                                          <p:attrName>style.visibility</p:attrName>
                                        </p:attrNameLst>
                                      </p:cBhvr>
                                      <p:to>
                                        <p:strVal val="visible"/>
                                      </p:to>
                                    </p:set>
                                    <p:anim calcmode="lin" valueType="num">
                                      <p:cBhvr additive="base">
                                        <p:cTn dur="500"/>
                                        <p:tgtEl>
                                          <p:spTgt spid="29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7" st="7"/>
                                            </p:txEl>
                                          </p:spTgt>
                                        </p:tgtEl>
                                        <p:attrNameLst>
                                          <p:attrName>style.visibility</p:attrName>
                                        </p:attrNameLst>
                                      </p:cBhvr>
                                      <p:to>
                                        <p:strVal val="visible"/>
                                      </p:to>
                                    </p:set>
                                    <p:anim calcmode="lin" valueType="num">
                                      <p:cBhvr additive="base">
                                        <p:cTn dur="500"/>
                                        <p:tgtEl>
                                          <p:spTgt spid="291">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8" st="8"/>
                                            </p:txEl>
                                          </p:spTgt>
                                        </p:tgtEl>
                                        <p:attrNameLst>
                                          <p:attrName>style.visibility</p:attrName>
                                        </p:attrNameLst>
                                      </p:cBhvr>
                                      <p:to>
                                        <p:strVal val="visible"/>
                                      </p:to>
                                    </p:set>
                                    <p:anim calcmode="lin" valueType="num">
                                      <p:cBhvr additive="base">
                                        <p:cTn dur="500"/>
                                        <p:tgtEl>
                                          <p:spTgt spid="291">
                                            <p:txEl>
                                              <p:pRg end="8" st="8"/>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297"/>
                                        </p:tgtEl>
                                        <p:attrNameLst>
                                          <p:attrName>style.visibility</p:attrName>
                                        </p:attrNameLst>
                                      </p:cBhvr>
                                      <p:to>
                                        <p:strVal val="visible"/>
                                      </p:to>
                                    </p:set>
                                    <p:anim calcmode="lin" valueType="num">
                                      <p:cBhvr additive="base">
                                        <p:cTn dur="500"/>
                                        <p:tgtEl>
                                          <p:spTgt spid="297"/>
                                        </p:tgtEl>
                                        <p:attrNameLst>
                                          <p:attrName>ppt_w</p:attrName>
                                        </p:attrNameLst>
                                      </p:cBhvr>
                                      <p:tavLst>
                                        <p:tav fmla="" tm="0">
                                          <p:val>
                                            <p:strVal val="0"/>
                                          </p:val>
                                        </p:tav>
                                        <p:tav fmla="" tm="100000">
                                          <p:val>
                                            <p:strVal val="#ppt_w"/>
                                          </p:val>
                                        </p:tav>
                                      </p:tavLst>
                                    </p:anim>
                                    <p:anim calcmode="lin" valueType="num">
                                      <p:cBhvr additive="base">
                                        <p:cTn dur="500"/>
                                        <p:tgtEl>
                                          <p:spTgt spid="29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par>
                                <p:cTn fill="hold" nodeType="withEffect" presetClass="exit" presetID="10" presetSubtype="0">
                                  <p:stCondLst>
                                    <p:cond delay="0"/>
                                  </p:stCondLst>
                                  <p:childTnLst>
                                    <p:animEffect filter="fade" transition="out">
                                      <p:cBhvr>
                                        <p:cTn dur="500"/>
                                        <p:tgtEl>
                                          <p:spTgt spid="297"/>
                                        </p:tgtEl>
                                      </p:cBhvr>
                                    </p:animEffect>
                                    <p:set>
                                      <p:cBhvr>
                                        <p:cTn dur="1" fill="hold">
                                          <p:stCondLst>
                                            <p:cond delay="500"/>
                                          </p:stCondLst>
                                        </p:cTn>
                                        <p:tgtEl>
                                          <p:spTgt spid="29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3000"/>
                                        <p:tgtEl>
                                          <p:spTgt spid="2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4"/>
          <p:cNvSpPr/>
          <p:nvPr/>
        </p:nvSpPr>
        <p:spPr>
          <a:xfrm>
            <a:off x="685800" y="1549400"/>
            <a:ext cx="7772400" cy="69056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Determining work done by a force</a:t>
            </a:r>
            <a:endParaRPr sz="2000">
              <a:solidFill>
                <a:srgbClr val="000000"/>
              </a:solidFill>
              <a:latin typeface="Courier New"/>
              <a:ea typeface="Courier New"/>
              <a:cs typeface="Courier New"/>
              <a:sym typeface="Courier New"/>
            </a:endParaRPr>
          </a:p>
        </p:txBody>
      </p:sp>
      <p:sp>
        <p:nvSpPr>
          <p:cNvPr id="309" name="Google Shape;309;p24"/>
          <p:cNvSpPr/>
          <p:nvPr/>
        </p:nvSpPr>
        <p:spPr>
          <a:xfrm>
            <a:off x="674688" y="1973263"/>
            <a:ext cx="6877050" cy="4030662"/>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A pulley system is used to raise a 100-N crate 4 m as shown. Find the work done by the tension force </a:t>
            </a:r>
            <a:r>
              <a:rPr i="1" lang="en-US" sz="2400">
                <a:solidFill>
                  <a:schemeClr val="dk1"/>
                </a:solidFill>
                <a:latin typeface="Arial"/>
                <a:ea typeface="Arial"/>
                <a:cs typeface="Arial"/>
                <a:sym typeface="Arial"/>
              </a:rPr>
              <a:t>F</a:t>
            </a:r>
            <a:r>
              <a:rPr baseline="-25000" i="1" lang="en-US" sz="2400">
                <a:solidFill>
                  <a:schemeClr val="dk1"/>
                </a:solidFill>
                <a:latin typeface="Arial"/>
                <a:ea typeface="Arial"/>
                <a:cs typeface="Arial"/>
                <a:sym typeface="Arial"/>
              </a:rPr>
              <a:t>T</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if the lift occurs at constant speed.</a:t>
            </a:r>
            <a:endParaRPr sz="2400">
              <a:solidFill>
                <a:schemeClr val="dk1"/>
              </a:solidFill>
              <a:latin typeface="Arial"/>
              <a:ea typeface="Arial"/>
              <a:cs typeface="Arial"/>
              <a:sym typeface="Arial"/>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SOLUTION:</a:t>
            </a:r>
            <a:endParaRPr/>
          </a:p>
          <a:p>
            <a:pPr indent="-152400" lvl="0" marL="0" marR="0" rtl="0" algn="l">
              <a:spcBef>
                <a:spcPts val="30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From the FBD since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0, </a:t>
            </a:r>
            <a:r>
              <a:rPr i="1" lang="en-US" sz="2400">
                <a:solidFill>
                  <a:srgbClr val="008000"/>
                </a:solidFill>
                <a:latin typeface="Arial"/>
                <a:ea typeface="Arial"/>
                <a:cs typeface="Arial"/>
                <a:sym typeface="Arial"/>
              </a:rPr>
              <a:t>F</a:t>
            </a:r>
            <a:r>
              <a:rPr baseline="-25000" i="1" lang="en-US" sz="2400">
                <a:solidFill>
                  <a:srgbClr val="008000"/>
                </a:solidFill>
                <a:latin typeface="Arial"/>
                <a:ea typeface="Arial"/>
                <a:cs typeface="Arial"/>
                <a:sym typeface="Arial"/>
              </a:rPr>
              <a:t>T</a:t>
            </a:r>
            <a:r>
              <a:rPr lang="en-US" sz="2400">
                <a:solidFill>
                  <a:schemeClr val="dk1"/>
                </a:solidFill>
                <a:latin typeface="Arial"/>
                <a:ea typeface="Arial"/>
                <a:cs typeface="Arial"/>
                <a:sym typeface="Arial"/>
              </a:rPr>
              <a:t> = 100 N.</a:t>
            </a:r>
            <a:endParaRPr/>
          </a:p>
          <a:p>
            <a:pPr indent="-152400" lvl="0" marL="0" marR="0" rtl="0" algn="l">
              <a:spcBef>
                <a:spcPts val="30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From the statement of the problem, </a:t>
            </a:r>
            <a:r>
              <a:rPr i="1" lang="en-US" sz="2400">
                <a:solidFill>
                  <a:schemeClr val="accent2"/>
                </a:solidFill>
                <a:latin typeface="Arial"/>
                <a:ea typeface="Arial"/>
                <a:cs typeface="Arial"/>
                <a:sym typeface="Arial"/>
              </a:rPr>
              <a:t>x</a:t>
            </a:r>
            <a:r>
              <a:rPr lang="en-US" sz="2400">
                <a:solidFill>
                  <a:schemeClr val="dk1"/>
                </a:solidFill>
                <a:latin typeface="Arial"/>
                <a:ea typeface="Arial"/>
                <a:cs typeface="Arial"/>
                <a:sym typeface="Arial"/>
              </a:rPr>
              <a:t> = 4 m.</a:t>
            </a:r>
            <a:endParaRPr/>
          </a:p>
          <a:p>
            <a:pPr indent="-152400" lvl="0" marL="0" marR="0" rtl="0" algn="l">
              <a:spcBef>
                <a:spcPts val="30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Since the displacement and the tension are parallel, θ = 0°.</a:t>
            </a:r>
            <a:endParaRPr/>
          </a:p>
          <a:p>
            <a:pPr indent="-152400" lvl="0" marL="0" marR="0" rtl="0" algn="l">
              <a:spcBef>
                <a:spcPts val="30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Thus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rgbClr val="008000"/>
                </a:solidFill>
                <a:latin typeface="Arial"/>
                <a:ea typeface="Arial"/>
                <a:cs typeface="Arial"/>
                <a:sym typeface="Arial"/>
              </a:rPr>
              <a:t>F</a:t>
            </a:r>
            <a:r>
              <a:rPr baseline="-25000" i="1" lang="en-US" sz="2400">
                <a:solidFill>
                  <a:srgbClr val="008000"/>
                </a:solidFill>
                <a:latin typeface="Arial"/>
                <a:ea typeface="Arial"/>
                <a:cs typeface="Arial"/>
                <a:sym typeface="Arial"/>
              </a:rPr>
              <a:t>T</a:t>
            </a:r>
            <a:r>
              <a:rPr i="1" lang="en-US" sz="2400">
                <a:solidFill>
                  <a:schemeClr val="accent2"/>
                </a:solidFill>
                <a:latin typeface="Arial"/>
                <a:ea typeface="Arial"/>
                <a:cs typeface="Arial"/>
                <a:sym typeface="Arial"/>
              </a:rPr>
              <a:t>x</a:t>
            </a:r>
            <a:r>
              <a:rPr baseline="-25000"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cos</a:t>
            </a:r>
            <a:r>
              <a:rPr baseline="-25000"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θ  </a:t>
            </a:r>
            <a:r>
              <a:rPr lang="en-US" sz="2400">
                <a:solidFill>
                  <a:schemeClr val="dk1"/>
                </a:solidFill>
                <a:latin typeface="Arial"/>
                <a:ea typeface="Arial"/>
                <a:cs typeface="Arial"/>
                <a:sym typeface="Arial"/>
              </a:rPr>
              <a:t>= (100)(4) cos</a:t>
            </a:r>
            <a:r>
              <a:rPr baseline="-25000" lang="en-US" sz="2400">
                <a:solidFill>
                  <a:schemeClr val="dk1"/>
                </a:solidFill>
                <a:latin typeface="Arial"/>
                <a:ea typeface="Arial"/>
                <a:cs typeface="Arial"/>
                <a:sym typeface="Arial"/>
              </a:rPr>
              <a:t> </a:t>
            </a:r>
            <a:r>
              <a:rPr lang="en-US" sz="2400">
                <a:solidFill>
                  <a:srgbClr val="000000"/>
                </a:solidFill>
                <a:latin typeface="Arial"/>
                <a:ea typeface="Arial"/>
                <a:cs typeface="Arial"/>
                <a:sym typeface="Arial"/>
              </a:rPr>
              <a:t>0° = 400 J.</a:t>
            </a:r>
            <a:endParaRPr sz="2400">
              <a:solidFill>
                <a:schemeClr val="dk1"/>
              </a:solidFill>
              <a:latin typeface="Arial"/>
              <a:ea typeface="Arial"/>
              <a:cs typeface="Arial"/>
              <a:sym typeface="Arial"/>
            </a:endParaRPr>
          </a:p>
        </p:txBody>
      </p:sp>
      <p:sp>
        <p:nvSpPr>
          <p:cNvPr id="310" name="Google Shape;310;p2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descr="Medium wood" id="311" name="Google Shape;311;p24"/>
          <p:cNvSpPr/>
          <p:nvPr/>
        </p:nvSpPr>
        <p:spPr>
          <a:xfrm>
            <a:off x="7708900" y="5151438"/>
            <a:ext cx="609600" cy="609600"/>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nvGrpSpPr>
          <p:cNvPr id="312" name="Google Shape;312;p24"/>
          <p:cNvGrpSpPr/>
          <p:nvPr/>
        </p:nvGrpSpPr>
        <p:grpSpPr>
          <a:xfrm>
            <a:off x="7562850" y="5759450"/>
            <a:ext cx="1570038" cy="244475"/>
            <a:chOff x="3571" y="3417"/>
            <a:chExt cx="1613" cy="154"/>
          </a:xfrm>
        </p:grpSpPr>
        <p:sp>
          <p:nvSpPr>
            <p:cNvPr descr="Granite" id="313" name="Google Shape;313;p24"/>
            <p:cNvSpPr/>
            <p:nvPr/>
          </p:nvSpPr>
          <p:spPr>
            <a:xfrm>
              <a:off x="3571" y="3417"/>
              <a:ext cx="1613" cy="154"/>
            </a:xfrm>
            <a:prstGeom prst="rect">
              <a:avLst/>
            </a:prstGeom>
            <a:blipFill rotWithShape="1">
              <a:blip r:embed="rId4">
                <a:alphaModFix/>
              </a:blip>
              <a:tile algn="tl" flip="none" tx="0" sx="100000" ty="0" sy="100000"/>
            </a:blip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cxnSp>
          <p:nvCxnSpPr>
            <p:cNvPr descr="Granite" id="314" name="Google Shape;314;p24"/>
            <p:cNvCxnSpPr/>
            <p:nvPr/>
          </p:nvCxnSpPr>
          <p:spPr>
            <a:xfrm>
              <a:off x="3581" y="3417"/>
              <a:ext cx="1593" cy="0"/>
            </a:xfrm>
            <a:prstGeom prst="straightConnector1">
              <a:avLst/>
            </a:prstGeom>
            <a:noFill/>
            <a:ln cap="flat" cmpd="sng" w="9525">
              <a:solidFill>
                <a:schemeClr val="dk1"/>
              </a:solidFill>
              <a:prstDash val="solid"/>
              <a:round/>
              <a:headEnd len="med" w="med" type="none"/>
              <a:tailEnd len="med" w="med" type="none"/>
            </a:ln>
          </p:spPr>
        </p:cxnSp>
      </p:grpSp>
      <p:cxnSp>
        <p:nvCxnSpPr>
          <p:cNvPr id="315" name="Google Shape;315;p24"/>
          <p:cNvCxnSpPr/>
          <p:nvPr/>
        </p:nvCxnSpPr>
        <p:spPr>
          <a:xfrm rot="10800000">
            <a:off x="8013700" y="2925763"/>
            <a:ext cx="0" cy="2225675"/>
          </a:xfrm>
          <a:prstGeom prst="straightConnector1">
            <a:avLst/>
          </a:prstGeom>
          <a:noFill/>
          <a:ln cap="flat" cmpd="sng" w="9525">
            <a:solidFill>
              <a:schemeClr val="dk1"/>
            </a:solidFill>
            <a:prstDash val="solid"/>
            <a:round/>
            <a:headEnd len="med" w="med" type="none"/>
            <a:tailEnd len="med" w="med" type="none"/>
          </a:ln>
        </p:spPr>
      </p:cxnSp>
      <p:cxnSp>
        <p:nvCxnSpPr>
          <p:cNvPr id="316" name="Google Shape;316;p24"/>
          <p:cNvCxnSpPr/>
          <p:nvPr/>
        </p:nvCxnSpPr>
        <p:spPr>
          <a:xfrm>
            <a:off x="8697913" y="2925763"/>
            <a:ext cx="0" cy="1112837"/>
          </a:xfrm>
          <a:prstGeom prst="straightConnector1">
            <a:avLst/>
          </a:prstGeom>
          <a:noFill/>
          <a:ln cap="flat" cmpd="sng" w="9525">
            <a:solidFill>
              <a:schemeClr val="dk1"/>
            </a:solidFill>
            <a:prstDash val="solid"/>
            <a:round/>
            <a:headEnd len="med" w="med" type="none"/>
            <a:tailEnd len="med" w="med" type="none"/>
          </a:ln>
        </p:spPr>
      </p:cxnSp>
      <p:grpSp>
        <p:nvGrpSpPr>
          <p:cNvPr id="317" name="Google Shape;317;p24"/>
          <p:cNvGrpSpPr/>
          <p:nvPr/>
        </p:nvGrpSpPr>
        <p:grpSpPr>
          <a:xfrm>
            <a:off x="7753350" y="2490788"/>
            <a:ext cx="1250950" cy="774700"/>
            <a:chOff x="3974" y="1498"/>
            <a:chExt cx="788" cy="488"/>
          </a:xfrm>
        </p:grpSpPr>
        <p:grpSp>
          <p:nvGrpSpPr>
            <p:cNvPr id="318" name="Google Shape;318;p24"/>
            <p:cNvGrpSpPr/>
            <p:nvPr/>
          </p:nvGrpSpPr>
          <p:grpSpPr>
            <a:xfrm>
              <a:off x="4135" y="1545"/>
              <a:ext cx="441" cy="441"/>
              <a:chOff x="4205" y="1565"/>
              <a:chExt cx="441" cy="441"/>
            </a:xfrm>
          </p:grpSpPr>
          <p:sp>
            <p:nvSpPr>
              <p:cNvPr id="319" name="Google Shape;319;p24"/>
              <p:cNvSpPr/>
              <p:nvPr/>
            </p:nvSpPr>
            <p:spPr>
              <a:xfrm>
                <a:off x="4205" y="1565"/>
                <a:ext cx="441" cy="441"/>
              </a:xfrm>
              <a:prstGeom prst="ellipse">
                <a:avLst/>
              </a:prstGeom>
              <a:gradFill>
                <a:gsLst>
                  <a:gs pos="0">
                    <a:srgbClr val="525252"/>
                  </a:gs>
                  <a:gs pos="100000">
                    <a:srgbClr val="B2B2B2"/>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320" name="Google Shape;320;p24"/>
              <p:cNvSpPr/>
              <p:nvPr/>
            </p:nvSpPr>
            <p:spPr>
              <a:xfrm>
                <a:off x="4338" y="1699"/>
                <a:ext cx="173" cy="173"/>
              </a:xfrm>
              <a:prstGeom prst="ellipse">
                <a:avLst/>
              </a:prstGeom>
              <a:gradFill>
                <a:gsLst>
                  <a:gs pos="0">
                    <a:schemeClr val="lt2"/>
                  </a:gs>
                  <a:gs pos="100000">
                    <a:srgbClr val="5A5A5A"/>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321" name="Google Shape;321;p24"/>
            <p:cNvSpPr/>
            <p:nvPr/>
          </p:nvSpPr>
          <p:spPr>
            <a:xfrm flipH="1" rot="10800000">
              <a:off x="4166" y="1556"/>
              <a:ext cx="384" cy="298"/>
            </a:xfrm>
            <a:prstGeom prst="triangle">
              <a:avLst>
                <a:gd fmla="val 50000" name="adj"/>
              </a:avLst>
            </a:prstGeom>
            <a:gradFill>
              <a:gsLst>
                <a:gs pos="0">
                  <a:srgbClr val="009900"/>
                </a:gs>
                <a:gs pos="100000">
                  <a:srgbClr val="004700"/>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322" name="Google Shape;322;p24"/>
            <p:cNvSpPr/>
            <p:nvPr/>
          </p:nvSpPr>
          <p:spPr>
            <a:xfrm>
              <a:off x="4331" y="1746"/>
              <a:ext cx="56" cy="56"/>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323" name="Google Shape;323;p24"/>
            <p:cNvSpPr/>
            <p:nvPr/>
          </p:nvSpPr>
          <p:spPr>
            <a:xfrm>
              <a:off x="3974" y="1498"/>
              <a:ext cx="788" cy="56"/>
            </a:xfrm>
            <a:prstGeom prst="rect">
              <a:avLst/>
            </a:prstGeom>
            <a:gradFill>
              <a:gsLst>
                <a:gs pos="0">
                  <a:srgbClr val="009900"/>
                </a:gs>
                <a:gs pos="100000">
                  <a:srgbClr val="004700"/>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grpSp>
        <p:nvGrpSpPr>
          <p:cNvPr id="324" name="Google Shape;324;p24"/>
          <p:cNvGrpSpPr/>
          <p:nvPr/>
        </p:nvGrpSpPr>
        <p:grpSpPr>
          <a:xfrm>
            <a:off x="8686801" y="4010025"/>
            <a:ext cx="496888" cy="835025"/>
            <a:chOff x="998" y="2813"/>
            <a:chExt cx="313" cy="526"/>
          </a:xfrm>
        </p:grpSpPr>
        <p:sp>
          <p:nvSpPr>
            <p:cNvPr id="325" name="Google Shape;325;p24"/>
            <p:cNvSpPr txBox="1"/>
            <p:nvPr/>
          </p:nvSpPr>
          <p:spPr>
            <a:xfrm>
              <a:off x="998" y="3048"/>
              <a:ext cx="31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9900"/>
                  </a:solidFill>
                  <a:latin typeface="Arial"/>
                  <a:ea typeface="Arial"/>
                  <a:cs typeface="Arial"/>
                  <a:sym typeface="Arial"/>
                </a:rPr>
                <a:t>F</a:t>
              </a:r>
              <a:r>
                <a:rPr b="1" baseline="-25000" lang="en-US" sz="2400">
                  <a:solidFill>
                    <a:srgbClr val="009900"/>
                  </a:solidFill>
                  <a:latin typeface="Arial"/>
                  <a:ea typeface="Arial"/>
                  <a:cs typeface="Arial"/>
                  <a:sym typeface="Arial"/>
                </a:rPr>
                <a:t>T</a:t>
              </a:r>
              <a:endParaRPr/>
            </a:p>
          </p:txBody>
        </p:sp>
        <p:cxnSp>
          <p:nvCxnSpPr>
            <p:cNvPr id="326" name="Google Shape;326;p24"/>
            <p:cNvCxnSpPr/>
            <p:nvPr/>
          </p:nvCxnSpPr>
          <p:spPr>
            <a:xfrm>
              <a:off x="1008" y="2813"/>
              <a:ext cx="0" cy="317"/>
            </a:xfrm>
            <a:prstGeom prst="straightConnector1">
              <a:avLst/>
            </a:prstGeom>
            <a:noFill/>
            <a:ln cap="flat" cmpd="sng" w="57150">
              <a:solidFill>
                <a:srgbClr val="009900"/>
              </a:solidFill>
              <a:prstDash val="solid"/>
              <a:round/>
              <a:headEnd len="med" w="med" type="none"/>
              <a:tailEnd len="med" w="med" type="stealth"/>
            </a:ln>
          </p:spPr>
        </p:cxnSp>
      </p:grpSp>
      <p:grpSp>
        <p:nvGrpSpPr>
          <p:cNvPr id="327" name="Google Shape;327;p24"/>
          <p:cNvGrpSpPr/>
          <p:nvPr/>
        </p:nvGrpSpPr>
        <p:grpSpPr>
          <a:xfrm>
            <a:off x="7710488" y="2970213"/>
            <a:ext cx="1243013" cy="2570162"/>
            <a:chOff x="270" y="2332"/>
            <a:chExt cx="783" cy="1619"/>
          </a:xfrm>
        </p:grpSpPr>
        <p:cxnSp>
          <p:nvCxnSpPr>
            <p:cNvPr id="328" name="Google Shape;328;p24"/>
            <p:cNvCxnSpPr/>
            <p:nvPr/>
          </p:nvCxnSpPr>
          <p:spPr>
            <a:xfrm rot="10800000">
              <a:off x="462" y="2332"/>
              <a:ext cx="0" cy="1009"/>
            </a:xfrm>
            <a:prstGeom prst="straightConnector1">
              <a:avLst/>
            </a:prstGeom>
            <a:noFill/>
            <a:ln cap="flat" cmpd="sng" w="9525">
              <a:solidFill>
                <a:schemeClr val="dk1"/>
              </a:solidFill>
              <a:prstDash val="solid"/>
              <a:round/>
              <a:headEnd len="med" w="med" type="none"/>
              <a:tailEnd len="med" w="med" type="none"/>
            </a:ln>
          </p:spPr>
        </p:cxnSp>
        <p:cxnSp>
          <p:nvCxnSpPr>
            <p:cNvPr id="329" name="Google Shape;329;p24"/>
            <p:cNvCxnSpPr/>
            <p:nvPr/>
          </p:nvCxnSpPr>
          <p:spPr>
            <a:xfrm>
              <a:off x="893" y="2332"/>
              <a:ext cx="0" cy="1105"/>
            </a:xfrm>
            <a:prstGeom prst="straightConnector1">
              <a:avLst/>
            </a:prstGeom>
            <a:noFill/>
            <a:ln cap="flat" cmpd="sng" w="9525">
              <a:solidFill>
                <a:schemeClr val="dk1"/>
              </a:solidFill>
              <a:prstDash val="solid"/>
              <a:round/>
              <a:headEnd len="med" w="med" type="none"/>
              <a:tailEnd len="med" w="med" type="none"/>
            </a:ln>
          </p:spPr>
        </p:cxnSp>
        <p:grpSp>
          <p:nvGrpSpPr>
            <p:cNvPr id="330" name="Google Shape;330;p24"/>
            <p:cNvGrpSpPr/>
            <p:nvPr/>
          </p:nvGrpSpPr>
          <p:grpSpPr>
            <a:xfrm>
              <a:off x="788" y="3435"/>
              <a:ext cx="265" cy="516"/>
              <a:chOff x="902" y="2813"/>
              <a:chExt cx="265" cy="516"/>
            </a:xfrm>
          </p:grpSpPr>
          <p:sp>
            <p:nvSpPr>
              <p:cNvPr id="331" name="Google Shape;331;p24"/>
              <p:cNvSpPr txBox="1"/>
              <p:nvPr/>
            </p:nvSpPr>
            <p:spPr>
              <a:xfrm>
                <a:off x="902" y="3096"/>
                <a:ext cx="265"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9900"/>
                  </a:buClr>
                  <a:buSzPts val="1800"/>
                  <a:buFont typeface="Arial"/>
                  <a:buNone/>
                </a:pPr>
                <a:r>
                  <a:rPr b="1" lang="en-US" sz="1800">
                    <a:solidFill>
                      <a:srgbClr val="009900"/>
                    </a:solidFill>
                    <a:latin typeface="Arial"/>
                    <a:ea typeface="Arial"/>
                    <a:cs typeface="Arial"/>
                    <a:sym typeface="Arial"/>
                  </a:rPr>
                  <a:t>F</a:t>
                </a:r>
                <a:r>
                  <a:rPr b="1" baseline="-25000" lang="en-US" sz="1800">
                    <a:solidFill>
                      <a:srgbClr val="009900"/>
                    </a:solidFill>
                    <a:latin typeface="Arial"/>
                    <a:ea typeface="Arial"/>
                    <a:cs typeface="Arial"/>
                    <a:sym typeface="Arial"/>
                  </a:rPr>
                  <a:t>T</a:t>
                </a:r>
                <a:endParaRPr/>
              </a:p>
            </p:txBody>
          </p:sp>
          <p:cxnSp>
            <p:nvCxnSpPr>
              <p:cNvPr id="332" name="Google Shape;332;p24"/>
              <p:cNvCxnSpPr/>
              <p:nvPr/>
            </p:nvCxnSpPr>
            <p:spPr>
              <a:xfrm>
                <a:off x="1008" y="2813"/>
                <a:ext cx="0" cy="317"/>
              </a:xfrm>
              <a:prstGeom prst="straightConnector1">
                <a:avLst/>
              </a:prstGeom>
              <a:noFill/>
              <a:ln cap="flat" cmpd="sng" w="57150">
                <a:solidFill>
                  <a:srgbClr val="009900"/>
                </a:solidFill>
                <a:prstDash val="solid"/>
                <a:round/>
                <a:headEnd len="med" w="med" type="none"/>
                <a:tailEnd len="med" w="med" type="stealth"/>
              </a:ln>
            </p:spPr>
          </p:cxnSp>
        </p:grpSp>
        <p:sp>
          <p:nvSpPr>
            <p:cNvPr descr="Medium wood" id="333" name="Google Shape;333;p24"/>
            <p:cNvSpPr/>
            <p:nvPr/>
          </p:nvSpPr>
          <p:spPr>
            <a:xfrm>
              <a:off x="270" y="3304"/>
              <a:ext cx="384" cy="384"/>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grpSp>
        <p:nvGrpSpPr>
          <p:cNvPr id="334" name="Google Shape;334;p24"/>
          <p:cNvGrpSpPr/>
          <p:nvPr/>
        </p:nvGrpSpPr>
        <p:grpSpPr>
          <a:xfrm>
            <a:off x="7708900" y="2925762"/>
            <a:ext cx="1468438" cy="2884488"/>
            <a:chOff x="1508" y="2342"/>
            <a:chExt cx="925" cy="1817"/>
          </a:xfrm>
        </p:grpSpPr>
        <p:sp>
          <p:nvSpPr>
            <p:cNvPr descr="Medium wood" id="335" name="Google Shape;335;p24"/>
            <p:cNvSpPr/>
            <p:nvPr/>
          </p:nvSpPr>
          <p:spPr>
            <a:xfrm>
              <a:off x="1508" y="3134"/>
              <a:ext cx="384" cy="384"/>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cxnSp>
          <p:nvCxnSpPr>
            <p:cNvPr id="336" name="Google Shape;336;p24"/>
            <p:cNvCxnSpPr/>
            <p:nvPr/>
          </p:nvCxnSpPr>
          <p:spPr>
            <a:xfrm rot="10800000">
              <a:off x="1700" y="2342"/>
              <a:ext cx="0" cy="807"/>
            </a:xfrm>
            <a:prstGeom prst="straightConnector1">
              <a:avLst/>
            </a:prstGeom>
            <a:noFill/>
            <a:ln cap="flat" cmpd="sng" w="9525">
              <a:solidFill>
                <a:schemeClr val="dk1"/>
              </a:solidFill>
              <a:prstDash val="solid"/>
              <a:round/>
              <a:headEnd len="med" w="med" type="none"/>
              <a:tailEnd len="med" w="med" type="none"/>
            </a:ln>
          </p:spPr>
        </p:cxnSp>
        <p:cxnSp>
          <p:nvCxnSpPr>
            <p:cNvPr id="337" name="Google Shape;337;p24"/>
            <p:cNvCxnSpPr/>
            <p:nvPr/>
          </p:nvCxnSpPr>
          <p:spPr>
            <a:xfrm>
              <a:off x="2131" y="2342"/>
              <a:ext cx="0" cy="1287"/>
            </a:xfrm>
            <a:prstGeom prst="straightConnector1">
              <a:avLst/>
            </a:prstGeom>
            <a:noFill/>
            <a:ln cap="flat" cmpd="sng" w="9525">
              <a:solidFill>
                <a:schemeClr val="dk1"/>
              </a:solidFill>
              <a:prstDash val="solid"/>
              <a:round/>
              <a:headEnd len="med" w="med" type="none"/>
              <a:tailEnd len="med" w="med" type="none"/>
            </a:ln>
          </p:spPr>
        </p:cxnSp>
        <p:grpSp>
          <p:nvGrpSpPr>
            <p:cNvPr id="338" name="Google Shape;338;p24"/>
            <p:cNvGrpSpPr/>
            <p:nvPr/>
          </p:nvGrpSpPr>
          <p:grpSpPr>
            <a:xfrm>
              <a:off x="2120" y="3625"/>
              <a:ext cx="313" cy="534"/>
              <a:chOff x="1006" y="2813"/>
              <a:chExt cx="313" cy="534"/>
            </a:xfrm>
          </p:grpSpPr>
          <p:sp>
            <p:nvSpPr>
              <p:cNvPr id="339" name="Google Shape;339;p24"/>
              <p:cNvSpPr txBox="1"/>
              <p:nvPr/>
            </p:nvSpPr>
            <p:spPr>
              <a:xfrm>
                <a:off x="1006" y="3056"/>
                <a:ext cx="31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9900"/>
                  </a:buClr>
                  <a:buSzPts val="2400"/>
                  <a:buFont typeface="Arial"/>
                  <a:buNone/>
                </a:pPr>
                <a:r>
                  <a:rPr b="1" lang="en-US" sz="2400">
                    <a:solidFill>
                      <a:srgbClr val="009900"/>
                    </a:solidFill>
                    <a:latin typeface="Arial"/>
                    <a:ea typeface="Arial"/>
                    <a:cs typeface="Arial"/>
                    <a:sym typeface="Arial"/>
                  </a:rPr>
                  <a:t>F</a:t>
                </a:r>
                <a:r>
                  <a:rPr b="1" baseline="-25000" lang="en-US" sz="2400">
                    <a:solidFill>
                      <a:srgbClr val="009900"/>
                    </a:solidFill>
                    <a:latin typeface="Arial"/>
                    <a:ea typeface="Arial"/>
                    <a:cs typeface="Arial"/>
                    <a:sym typeface="Arial"/>
                  </a:rPr>
                  <a:t>T</a:t>
                </a:r>
                <a:endParaRPr/>
              </a:p>
            </p:txBody>
          </p:sp>
          <p:cxnSp>
            <p:nvCxnSpPr>
              <p:cNvPr id="340" name="Google Shape;340;p24"/>
              <p:cNvCxnSpPr/>
              <p:nvPr/>
            </p:nvCxnSpPr>
            <p:spPr>
              <a:xfrm>
                <a:off x="1008" y="2813"/>
                <a:ext cx="0" cy="317"/>
              </a:xfrm>
              <a:prstGeom prst="straightConnector1">
                <a:avLst/>
              </a:prstGeom>
              <a:noFill/>
              <a:ln cap="flat" cmpd="sng" w="57150">
                <a:solidFill>
                  <a:srgbClr val="009900"/>
                </a:solidFill>
                <a:prstDash val="solid"/>
                <a:round/>
                <a:headEnd len="med" w="med" type="none"/>
                <a:tailEnd len="med" w="med" type="stealth"/>
              </a:ln>
            </p:spPr>
          </p:cxnSp>
        </p:grpSp>
      </p:grpSp>
      <p:grpSp>
        <p:nvGrpSpPr>
          <p:cNvPr id="341" name="Google Shape;341;p24"/>
          <p:cNvGrpSpPr/>
          <p:nvPr/>
        </p:nvGrpSpPr>
        <p:grpSpPr>
          <a:xfrm>
            <a:off x="7681913" y="4770438"/>
            <a:ext cx="471487" cy="960437"/>
            <a:chOff x="2439" y="3101"/>
            <a:chExt cx="297" cy="605"/>
          </a:xfrm>
        </p:grpSpPr>
        <p:cxnSp>
          <p:nvCxnSpPr>
            <p:cNvPr id="342" name="Google Shape;342;p24"/>
            <p:cNvCxnSpPr/>
            <p:nvPr/>
          </p:nvCxnSpPr>
          <p:spPr>
            <a:xfrm>
              <a:off x="2563" y="3101"/>
              <a:ext cx="173" cy="0"/>
            </a:xfrm>
            <a:prstGeom prst="straightConnector1">
              <a:avLst/>
            </a:prstGeom>
            <a:noFill/>
            <a:ln cap="flat" cmpd="sng" w="9525">
              <a:solidFill>
                <a:srgbClr val="B2B2B2"/>
              </a:solidFill>
              <a:prstDash val="solid"/>
              <a:round/>
              <a:headEnd len="med" w="med" type="none"/>
              <a:tailEnd len="med" w="med" type="none"/>
            </a:ln>
          </p:spPr>
        </p:cxnSp>
        <p:cxnSp>
          <p:nvCxnSpPr>
            <p:cNvPr id="343" name="Google Shape;343;p24"/>
            <p:cNvCxnSpPr/>
            <p:nvPr/>
          </p:nvCxnSpPr>
          <p:spPr>
            <a:xfrm>
              <a:off x="2562" y="3706"/>
              <a:ext cx="173" cy="0"/>
            </a:xfrm>
            <a:prstGeom prst="straightConnector1">
              <a:avLst/>
            </a:prstGeom>
            <a:noFill/>
            <a:ln cap="flat" cmpd="sng" w="9525">
              <a:solidFill>
                <a:srgbClr val="B2B2B2"/>
              </a:solidFill>
              <a:prstDash val="solid"/>
              <a:round/>
              <a:headEnd len="med" w="med" type="none"/>
              <a:tailEnd len="med" w="med" type="none"/>
            </a:ln>
          </p:spPr>
        </p:cxnSp>
        <p:cxnSp>
          <p:nvCxnSpPr>
            <p:cNvPr id="344" name="Google Shape;344;p24"/>
            <p:cNvCxnSpPr/>
            <p:nvPr/>
          </p:nvCxnSpPr>
          <p:spPr>
            <a:xfrm>
              <a:off x="2649" y="3101"/>
              <a:ext cx="0" cy="605"/>
            </a:xfrm>
            <a:prstGeom prst="straightConnector1">
              <a:avLst/>
            </a:prstGeom>
            <a:noFill/>
            <a:ln cap="flat" cmpd="sng" w="57150">
              <a:solidFill>
                <a:schemeClr val="accent2"/>
              </a:solidFill>
              <a:prstDash val="solid"/>
              <a:round/>
              <a:headEnd len="med" w="med" type="stealth"/>
              <a:tailEnd len="med" w="med" type="none"/>
            </a:ln>
          </p:spPr>
        </p:cxnSp>
        <p:sp>
          <p:nvSpPr>
            <p:cNvPr id="345" name="Google Shape;345;p24"/>
            <p:cNvSpPr txBox="1"/>
            <p:nvPr/>
          </p:nvSpPr>
          <p:spPr>
            <a:xfrm>
              <a:off x="2439" y="3278"/>
              <a:ext cx="22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2400"/>
                <a:buFont typeface="Arial"/>
                <a:buNone/>
              </a:pPr>
              <a:r>
                <a:rPr b="1" lang="en-US" sz="2400">
                  <a:solidFill>
                    <a:schemeClr val="accent2"/>
                  </a:solidFill>
                  <a:latin typeface="Arial"/>
                  <a:ea typeface="Arial"/>
                  <a:cs typeface="Arial"/>
                  <a:sym typeface="Arial"/>
                </a:rPr>
                <a:t>x</a:t>
              </a:r>
              <a:endParaRPr/>
            </a:p>
          </p:txBody>
        </p:sp>
      </p:grpSp>
      <p:grpSp>
        <p:nvGrpSpPr>
          <p:cNvPr id="346" name="Google Shape;346;p24"/>
          <p:cNvGrpSpPr/>
          <p:nvPr/>
        </p:nvGrpSpPr>
        <p:grpSpPr>
          <a:xfrm>
            <a:off x="8315325" y="4008438"/>
            <a:ext cx="493713" cy="960437"/>
            <a:chOff x="2284" y="3024"/>
            <a:chExt cx="311" cy="605"/>
          </a:xfrm>
        </p:grpSpPr>
        <p:cxnSp>
          <p:nvCxnSpPr>
            <p:cNvPr id="347" name="Google Shape;347;p24"/>
            <p:cNvCxnSpPr/>
            <p:nvPr/>
          </p:nvCxnSpPr>
          <p:spPr>
            <a:xfrm>
              <a:off x="2285" y="3024"/>
              <a:ext cx="173" cy="0"/>
            </a:xfrm>
            <a:prstGeom prst="straightConnector1">
              <a:avLst/>
            </a:prstGeom>
            <a:noFill/>
            <a:ln cap="flat" cmpd="sng" w="9525">
              <a:solidFill>
                <a:srgbClr val="B2B2B2"/>
              </a:solidFill>
              <a:prstDash val="solid"/>
              <a:round/>
              <a:headEnd len="med" w="med" type="none"/>
              <a:tailEnd len="med" w="med" type="none"/>
            </a:ln>
          </p:spPr>
        </p:cxnSp>
        <p:cxnSp>
          <p:nvCxnSpPr>
            <p:cNvPr id="348" name="Google Shape;348;p24"/>
            <p:cNvCxnSpPr/>
            <p:nvPr/>
          </p:nvCxnSpPr>
          <p:spPr>
            <a:xfrm>
              <a:off x="2284" y="3629"/>
              <a:ext cx="173" cy="0"/>
            </a:xfrm>
            <a:prstGeom prst="straightConnector1">
              <a:avLst/>
            </a:prstGeom>
            <a:noFill/>
            <a:ln cap="flat" cmpd="sng" w="9525">
              <a:solidFill>
                <a:srgbClr val="B2B2B2"/>
              </a:solidFill>
              <a:prstDash val="solid"/>
              <a:round/>
              <a:headEnd len="med" w="med" type="none"/>
              <a:tailEnd len="med" w="med" type="none"/>
            </a:ln>
          </p:spPr>
        </p:cxnSp>
        <p:cxnSp>
          <p:nvCxnSpPr>
            <p:cNvPr id="349" name="Google Shape;349;p24"/>
            <p:cNvCxnSpPr/>
            <p:nvPr/>
          </p:nvCxnSpPr>
          <p:spPr>
            <a:xfrm>
              <a:off x="2371" y="3024"/>
              <a:ext cx="0" cy="605"/>
            </a:xfrm>
            <a:prstGeom prst="straightConnector1">
              <a:avLst/>
            </a:prstGeom>
            <a:noFill/>
            <a:ln cap="flat" cmpd="sng" w="57150">
              <a:solidFill>
                <a:schemeClr val="accent2"/>
              </a:solidFill>
              <a:prstDash val="solid"/>
              <a:round/>
              <a:headEnd len="med" w="med" type="none"/>
              <a:tailEnd len="med" w="med" type="stealth"/>
            </a:ln>
          </p:spPr>
        </p:cxnSp>
        <p:sp>
          <p:nvSpPr>
            <p:cNvPr id="350" name="Google Shape;350;p24"/>
            <p:cNvSpPr txBox="1"/>
            <p:nvPr/>
          </p:nvSpPr>
          <p:spPr>
            <a:xfrm>
              <a:off x="2371" y="3201"/>
              <a:ext cx="22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x</a:t>
              </a:r>
              <a:endParaRPr/>
            </a:p>
          </p:txBody>
        </p:sp>
      </p:grpSp>
      <p:grpSp>
        <p:nvGrpSpPr>
          <p:cNvPr id="351" name="Google Shape;351;p24"/>
          <p:cNvGrpSpPr/>
          <p:nvPr/>
        </p:nvGrpSpPr>
        <p:grpSpPr>
          <a:xfrm>
            <a:off x="7570788" y="2239963"/>
            <a:ext cx="1573212" cy="244475"/>
            <a:chOff x="3571" y="1190"/>
            <a:chExt cx="1613" cy="154"/>
          </a:xfrm>
        </p:grpSpPr>
        <p:sp>
          <p:nvSpPr>
            <p:cNvPr descr="Oak" id="352" name="Google Shape;352;p24"/>
            <p:cNvSpPr/>
            <p:nvPr/>
          </p:nvSpPr>
          <p:spPr>
            <a:xfrm>
              <a:off x="3571" y="1190"/>
              <a:ext cx="1613" cy="154"/>
            </a:xfrm>
            <a:prstGeom prst="rect">
              <a:avLst/>
            </a:prstGeom>
            <a:blipFill rotWithShape="1">
              <a:blip r:embed="rId5">
                <a:alphaModFix/>
              </a:blip>
              <a:tile algn="tl" flip="none" tx="0" sx="100000" ty="0" sy="100000"/>
            </a:blip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cxnSp>
          <p:nvCxnSpPr>
            <p:cNvPr descr="Oak" id="353" name="Google Shape;353;p24"/>
            <p:cNvCxnSpPr/>
            <p:nvPr/>
          </p:nvCxnSpPr>
          <p:spPr>
            <a:xfrm>
              <a:off x="3581" y="1344"/>
              <a:ext cx="1593" cy="0"/>
            </a:xfrm>
            <a:prstGeom prst="straightConnector1">
              <a:avLst/>
            </a:prstGeom>
            <a:noFill/>
            <a:ln cap="flat" cmpd="sng" w="9525">
              <a:solidFill>
                <a:schemeClr val="dk1"/>
              </a:solidFill>
              <a:prstDash val="solid"/>
              <a:round/>
              <a:headEnd len="med" w="med" type="none"/>
              <a:tailEnd len="med" w="med" type="none"/>
            </a:ln>
          </p:spPr>
        </p:cxnSp>
      </p:grpSp>
      <p:sp>
        <p:nvSpPr>
          <p:cNvPr id="354" name="Google Shape;354;p24"/>
          <p:cNvSpPr/>
          <p:nvPr/>
        </p:nvSpPr>
        <p:spPr>
          <a:xfrm>
            <a:off x="8337550" y="3937000"/>
            <a:ext cx="649288" cy="17922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355" name="Google Shape;355;p24"/>
          <p:cNvSpPr/>
          <p:nvPr/>
        </p:nvSpPr>
        <p:spPr>
          <a:xfrm>
            <a:off x="696913" y="6003925"/>
            <a:ext cx="7758112" cy="854075"/>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a:t>
            </a:r>
            <a:endParaRPr/>
          </a:p>
          <a:p>
            <a:pPr indent="0" lvl="0" marL="0" marR="0" rtl="0" algn="l">
              <a:spcBef>
                <a:spcPts val="30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Pulleys are used to </a:t>
            </a:r>
            <a:r>
              <a:rPr b="1" lang="en-US" sz="2400">
                <a:solidFill>
                  <a:schemeClr val="dk1"/>
                </a:solidFill>
                <a:latin typeface="Arial"/>
                <a:ea typeface="Arial"/>
                <a:cs typeface="Arial"/>
                <a:sym typeface="Arial"/>
              </a:rPr>
              <a:t>redirect</a:t>
            </a:r>
            <a:r>
              <a:rPr lang="en-US" sz="2400">
                <a:solidFill>
                  <a:schemeClr val="dk1"/>
                </a:solidFill>
                <a:latin typeface="Arial"/>
                <a:ea typeface="Arial"/>
                <a:cs typeface="Arial"/>
                <a:sym typeface="Arial"/>
              </a:rPr>
              <a:t> tension forces.</a:t>
            </a:r>
            <a:endParaRPr sz="2400">
              <a:solidFill>
                <a:schemeClr val="dk1"/>
              </a:solidFill>
              <a:latin typeface="Arial"/>
              <a:ea typeface="Arial"/>
              <a:cs typeface="Arial"/>
              <a:sym typeface="Arial"/>
            </a:endParaRPr>
          </a:p>
        </p:txBody>
      </p:sp>
      <p:grpSp>
        <p:nvGrpSpPr>
          <p:cNvPr id="356" name="Google Shape;356;p24"/>
          <p:cNvGrpSpPr/>
          <p:nvPr/>
        </p:nvGrpSpPr>
        <p:grpSpPr>
          <a:xfrm>
            <a:off x="7556496" y="3311525"/>
            <a:ext cx="496888" cy="862013"/>
            <a:chOff x="578" y="2673"/>
            <a:chExt cx="313" cy="543"/>
          </a:xfrm>
        </p:grpSpPr>
        <p:cxnSp>
          <p:nvCxnSpPr>
            <p:cNvPr id="357" name="Google Shape;357;p24"/>
            <p:cNvCxnSpPr/>
            <p:nvPr/>
          </p:nvCxnSpPr>
          <p:spPr>
            <a:xfrm rot="10800000">
              <a:off x="864" y="2880"/>
              <a:ext cx="0" cy="336"/>
            </a:xfrm>
            <a:prstGeom prst="straightConnector1">
              <a:avLst/>
            </a:prstGeom>
            <a:noFill/>
            <a:ln cap="flat" cmpd="sng" w="57150">
              <a:solidFill>
                <a:srgbClr val="009900"/>
              </a:solidFill>
              <a:prstDash val="solid"/>
              <a:round/>
              <a:headEnd len="med" w="med" type="none"/>
              <a:tailEnd len="med" w="med" type="stealth"/>
            </a:ln>
          </p:spPr>
        </p:cxnSp>
        <p:sp>
          <p:nvSpPr>
            <p:cNvPr id="358" name="Google Shape;358;p24"/>
            <p:cNvSpPr txBox="1"/>
            <p:nvPr/>
          </p:nvSpPr>
          <p:spPr>
            <a:xfrm>
              <a:off x="578" y="2673"/>
              <a:ext cx="31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9900"/>
                </a:buClr>
                <a:buSzPts val="2400"/>
                <a:buFont typeface="Arial"/>
                <a:buNone/>
              </a:pPr>
              <a:r>
                <a:rPr b="1" lang="en-US" sz="2400">
                  <a:solidFill>
                    <a:srgbClr val="009900"/>
                  </a:solidFill>
                  <a:latin typeface="Arial"/>
                  <a:ea typeface="Arial"/>
                  <a:cs typeface="Arial"/>
                  <a:sym typeface="Arial"/>
                </a:rPr>
                <a:t>F</a:t>
              </a:r>
              <a:r>
                <a:rPr b="1" baseline="-25000" lang="en-US" sz="2400">
                  <a:solidFill>
                    <a:srgbClr val="009900"/>
                  </a:solidFill>
                  <a:latin typeface="Arial"/>
                  <a:ea typeface="Arial"/>
                  <a:cs typeface="Arial"/>
                  <a:sym typeface="Arial"/>
                </a:rPr>
                <a:t>T</a:t>
              </a:r>
              <a:endParaRPr/>
            </a:p>
          </p:txBody>
        </p:sp>
      </p:grpSp>
      <p:grpSp>
        <p:nvGrpSpPr>
          <p:cNvPr id="359" name="Google Shape;359;p24"/>
          <p:cNvGrpSpPr/>
          <p:nvPr/>
        </p:nvGrpSpPr>
        <p:grpSpPr>
          <a:xfrm>
            <a:off x="7530542" y="49428"/>
            <a:ext cx="1576387" cy="1912938"/>
            <a:chOff x="4767" y="0"/>
            <a:chExt cx="993" cy="1205"/>
          </a:xfrm>
        </p:grpSpPr>
        <p:sp>
          <p:nvSpPr>
            <p:cNvPr id="360" name="Google Shape;360;p24"/>
            <p:cNvSpPr/>
            <p:nvPr/>
          </p:nvSpPr>
          <p:spPr>
            <a:xfrm>
              <a:off x="4767" y="0"/>
              <a:ext cx="993" cy="1205"/>
            </a:xfrm>
            <a:prstGeom prst="rect">
              <a:avLst/>
            </a:prstGeom>
            <a:solidFill>
              <a:schemeClr val="accent1"/>
            </a:solidFill>
            <a:ln cap="flat" cmpd="sng" w="9525">
              <a:solidFill>
                <a:schemeClr val="dk1"/>
              </a:solidFill>
              <a:prstDash val="solid"/>
              <a:miter lim="800000"/>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361" name="Google Shape;361;p24"/>
            <p:cNvSpPr txBox="1"/>
            <p:nvPr/>
          </p:nvSpPr>
          <p:spPr>
            <a:xfrm>
              <a:off x="4780" y="19"/>
              <a:ext cx="880" cy="252"/>
            </a:xfrm>
            <a:prstGeom prst="rect">
              <a:avLst/>
            </a:prstGeom>
            <a:noFill/>
            <a:ln>
              <a:noFill/>
            </a:ln>
            <a:effectLst>
              <a:outerShdw blurRad="50800" rotWithShape="0" algn="tr" dir="8100000"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FBD Crate</a:t>
              </a:r>
              <a:endParaRPr/>
            </a:p>
          </p:txBody>
        </p:sp>
      </p:grpSp>
      <p:grpSp>
        <p:nvGrpSpPr>
          <p:cNvPr id="362" name="Google Shape;362;p24"/>
          <p:cNvGrpSpPr/>
          <p:nvPr/>
        </p:nvGrpSpPr>
        <p:grpSpPr>
          <a:xfrm>
            <a:off x="8089895" y="363538"/>
            <a:ext cx="506413" cy="773112"/>
            <a:chOff x="545" y="2729"/>
            <a:chExt cx="319" cy="487"/>
          </a:xfrm>
        </p:grpSpPr>
        <p:cxnSp>
          <p:nvCxnSpPr>
            <p:cNvPr id="363" name="Google Shape;363;p24"/>
            <p:cNvCxnSpPr/>
            <p:nvPr/>
          </p:nvCxnSpPr>
          <p:spPr>
            <a:xfrm rot="10800000">
              <a:off x="864" y="2880"/>
              <a:ext cx="0" cy="336"/>
            </a:xfrm>
            <a:prstGeom prst="straightConnector1">
              <a:avLst/>
            </a:prstGeom>
            <a:noFill/>
            <a:ln cap="flat" cmpd="sng" w="57150">
              <a:solidFill>
                <a:srgbClr val="009900"/>
              </a:solidFill>
              <a:prstDash val="solid"/>
              <a:round/>
              <a:headEnd len="med" w="med" type="none"/>
              <a:tailEnd len="med" w="med" type="stealth"/>
            </a:ln>
          </p:spPr>
        </p:cxnSp>
        <p:sp>
          <p:nvSpPr>
            <p:cNvPr id="364" name="Google Shape;364;p24"/>
            <p:cNvSpPr txBox="1"/>
            <p:nvPr/>
          </p:nvSpPr>
          <p:spPr>
            <a:xfrm>
              <a:off x="545" y="2729"/>
              <a:ext cx="31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8000"/>
                  </a:solidFill>
                  <a:latin typeface="Arial"/>
                  <a:ea typeface="Arial"/>
                  <a:cs typeface="Arial"/>
                  <a:sym typeface="Arial"/>
                </a:rPr>
                <a:t>F</a:t>
              </a:r>
              <a:r>
                <a:rPr b="1" baseline="-25000" lang="en-US" sz="2400">
                  <a:solidFill>
                    <a:srgbClr val="008000"/>
                  </a:solidFill>
                  <a:latin typeface="Arial"/>
                  <a:ea typeface="Arial"/>
                  <a:cs typeface="Arial"/>
                  <a:sym typeface="Arial"/>
                </a:rPr>
                <a:t>T</a:t>
              </a:r>
              <a:endParaRPr/>
            </a:p>
          </p:txBody>
        </p:sp>
      </p:grpSp>
      <p:grpSp>
        <p:nvGrpSpPr>
          <p:cNvPr id="365" name="Google Shape;365;p24"/>
          <p:cNvGrpSpPr/>
          <p:nvPr/>
        </p:nvGrpSpPr>
        <p:grpSpPr>
          <a:xfrm>
            <a:off x="8247063" y="1152525"/>
            <a:ext cx="698500" cy="879475"/>
            <a:chOff x="644" y="3226"/>
            <a:chExt cx="440" cy="554"/>
          </a:xfrm>
        </p:grpSpPr>
        <p:cxnSp>
          <p:nvCxnSpPr>
            <p:cNvPr id="366" name="Google Shape;366;p24"/>
            <p:cNvCxnSpPr/>
            <p:nvPr/>
          </p:nvCxnSpPr>
          <p:spPr>
            <a:xfrm>
              <a:off x="864" y="3226"/>
              <a:ext cx="0" cy="316"/>
            </a:xfrm>
            <a:prstGeom prst="straightConnector1">
              <a:avLst/>
            </a:prstGeom>
            <a:noFill/>
            <a:ln cap="flat" cmpd="sng" w="57150">
              <a:solidFill>
                <a:schemeClr val="dk1"/>
              </a:solidFill>
              <a:prstDash val="solid"/>
              <a:round/>
              <a:headEnd len="med" w="med" type="none"/>
              <a:tailEnd len="med" w="med" type="stealth"/>
            </a:ln>
          </p:spPr>
        </p:cxnSp>
        <p:sp>
          <p:nvSpPr>
            <p:cNvPr id="367" name="Google Shape;367;p24"/>
            <p:cNvSpPr txBox="1"/>
            <p:nvPr/>
          </p:nvSpPr>
          <p:spPr>
            <a:xfrm>
              <a:off x="644" y="3489"/>
              <a:ext cx="440"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100</a:t>
              </a:r>
              <a:endParaRPr/>
            </a:p>
          </p:txBody>
        </p:sp>
      </p:grpSp>
      <p:sp>
        <p:nvSpPr>
          <p:cNvPr id="368" name="Google Shape;368;p24"/>
          <p:cNvSpPr txBox="1"/>
          <p:nvPr/>
        </p:nvSpPr>
        <p:spPr>
          <a:xfrm>
            <a:off x="7637463" y="944563"/>
            <a:ext cx="876300"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0</a:t>
            </a:r>
            <a:endParaRPr b="1" sz="2400">
              <a:solidFill>
                <a:schemeClr val="dk1"/>
              </a:solidFill>
              <a:latin typeface="Arial"/>
              <a:ea typeface="Arial"/>
              <a:cs typeface="Arial"/>
              <a:sym typeface="Arial"/>
            </a:endParaRPr>
          </a:p>
        </p:txBody>
      </p:sp>
      <p:sp>
        <p:nvSpPr>
          <p:cNvPr id="369" name="Google Shape;369;p24"/>
          <p:cNvSpPr/>
          <p:nvPr/>
        </p:nvSpPr>
        <p:spPr>
          <a:xfrm>
            <a:off x="8542338" y="1074738"/>
            <a:ext cx="120650" cy="120650"/>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9">
                                            <p:txEl>
                                              <p:pRg end="0" st="0"/>
                                            </p:txEl>
                                          </p:spTgt>
                                        </p:tgtEl>
                                        <p:attrNameLst>
                                          <p:attrName>style.visibility</p:attrName>
                                        </p:attrNameLst>
                                      </p:cBhvr>
                                      <p:to>
                                        <p:strVal val="visible"/>
                                      </p:to>
                                    </p:set>
                                    <p:anim calcmode="lin" valueType="num">
                                      <p:cBhvr additive="base">
                                        <p:cTn dur="500"/>
                                        <p:tgtEl>
                                          <p:spTgt spid="30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9">
                                            <p:txEl>
                                              <p:pRg end="1" st="1"/>
                                            </p:txEl>
                                          </p:spTgt>
                                        </p:tgtEl>
                                        <p:attrNameLst>
                                          <p:attrName>style.visibility</p:attrName>
                                        </p:attrNameLst>
                                      </p:cBhvr>
                                      <p:to>
                                        <p:strVal val="visible"/>
                                      </p:to>
                                    </p:set>
                                    <p:anim calcmode="lin" valueType="num">
                                      <p:cBhvr additive="base">
                                        <p:cTn dur="500"/>
                                        <p:tgtEl>
                                          <p:spTgt spid="30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9">
                                            <p:txEl>
                                              <p:pRg end="2" st="2"/>
                                            </p:txEl>
                                          </p:spTgt>
                                        </p:tgtEl>
                                        <p:attrNameLst>
                                          <p:attrName>style.visibility</p:attrName>
                                        </p:attrNameLst>
                                      </p:cBhvr>
                                      <p:to>
                                        <p:strVal val="visible"/>
                                      </p:to>
                                    </p:set>
                                    <p:anim calcmode="lin" valueType="num">
                                      <p:cBhvr additive="base">
                                        <p:cTn dur="500"/>
                                        <p:tgtEl>
                                          <p:spTgt spid="30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9">
                                            <p:txEl>
                                              <p:pRg end="3" st="3"/>
                                            </p:txEl>
                                          </p:spTgt>
                                        </p:tgtEl>
                                        <p:attrNameLst>
                                          <p:attrName>style.visibility</p:attrName>
                                        </p:attrNameLst>
                                      </p:cBhvr>
                                      <p:to>
                                        <p:strVal val="visible"/>
                                      </p:to>
                                    </p:set>
                                    <p:anim calcmode="lin" valueType="num">
                                      <p:cBhvr additive="base">
                                        <p:cTn dur="500"/>
                                        <p:tgtEl>
                                          <p:spTgt spid="30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9">
                                            <p:txEl>
                                              <p:pRg end="4" st="4"/>
                                            </p:txEl>
                                          </p:spTgt>
                                        </p:tgtEl>
                                        <p:attrNameLst>
                                          <p:attrName>style.visibility</p:attrName>
                                        </p:attrNameLst>
                                      </p:cBhvr>
                                      <p:to>
                                        <p:strVal val="visible"/>
                                      </p:to>
                                    </p:set>
                                    <p:anim calcmode="lin" valueType="num">
                                      <p:cBhvr additive="base">
                                        <p:cTn dur="500"/>
                                        <p:tgtEl>
                                          <p:spTgt spid="30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9">
                                            <p:txEl>
                                              <p:pRg end="5" st="5"/>
                                            </p:txEl>
                                          </p:spTgt>
                                        </p:tgtEl>
                                        <p:attrNameLst>
                                          <p:attrName>style.visibility</p:attrName>
                                        </p:attrNameLst>
                                      </p:cBhvr>
                                      <p:to>
                                        <p:strVal val="visible"/>
                                      </p:to>
                                    </p:set>
                                    <p:anim calcmode="lin" valueType="num">
                                      <p:cBhvr additive="base">
                                        <p:cTn dur="500"/>
                                        <p:tgtEl>
                                          <p:spTgt spid="30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500"/>
                                        <p:tgtEl>
                                          <p:spTgt spid="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
                                        <p:tgtEl>
                                          <p:spTgt spid="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500"/>
                                        <p:tgtEl>
                                          <p:spTgt spid="315"/>
                                        </p:tgtEl>
                                      </p:cBhvr>
                                    </p:animEffect>
                                  </p:childTnLst>
                                </p:cTn>
                              </p:par>
                              <p:par>
                                <p:cTn fill="hold" nodeType="with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2000"/>
                                        <p:tgtEl>
                                          <p:spTgt spid="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11"/>
                                        </p:tgtEl>
                                      </p:cBhvr>
                                    </p:animEffect>
                                    <p:set>
                                      <p:cBhvr>
                                        <p:cTn dur="1" fill="hold">
                                          <p:stCondLst>
                                            <p:cond delay="500"/>
                                          </p:stCondLst>
                                        </p:cTn>
                                        <p:tgtEl>
                                          <p:spTgt spid="31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15"/>
                                        </p:tgtEl>
                                      </p:cBhvr>
                                    </p:animEffect>
                                    <p:set>
                                      <p:cBhvr>
                                        <p:cTn dur="1" fill="hold">
                                          <p:stCondLst>
                                            <p:cond delay="500"/>
                                          </p:stCondLst>
                                        </p:cTn>
                                        <p:tgtEl>
                                          <p:spTgt spid="31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16"/>
                                        </p:tgtEl>
                                      </p:cBhvr>
                                    </p:animEffect>
                                    <p:set>
                                      <p:cBhvr>
                                        <p:cTn dur="1" fill="hold">
                                          <p:stCondLst>
                                            <p:cond delay="500"/>
                                          </p:stCondLst>
                                        </p:cTn>
                                        <p:tgtEl>
                                          <p:spTgt spid="31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24"/>
                                        </p:tgtEl>
                                      </p:cBhvr>
                                    </p:animEffect>
                                    <p:set>
                                      <p:cBhvr>
                                        <p:cTn dur="1" fill="hold">
                                          <p:stCondLst>
                                            <p:cond delay="500"/>
                                          </p:stCondLst>
                                        </p:cTn>
                                        <p:tgtEl>
                                          <p:spTgt spid="32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7"/>
                                        </p:tgtEl>
                                      </p:cBhvr>
                                    </p:animEffect>
                                    <p:set>
                                      <p:cBhvr>
                                        <p:cTn dur="1" fill="hold">
                                          <p:stCondLst>
                                            <p:cond delay="500"/>
                                          </p:stCondLst>
                                        </p:cTn>
                                        <p:tgtEl>
                                          <p:spTgt spid="32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500"/>
                                        <p:tgtEl>
                                          <p:spTgt spid="3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1000"/>
                                        <p:tgtEl>
                                          <p:spTgt spid="341"/>
                                        </p:tgtEl>
                                      </p:cBhvr>
                                    </p:animEffect>
                                  </p:childTnLst>
                                </p:cTn>
                              </p:par>
                              <p:par>
                                <p:cTn fill="hold" nodeType="with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1000"/>
                                        <p:tgtEl>
                                          <p:spTgt spid="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59"/>
                                        </p:tgtEl>
                                        <p:attrNameLst>
                                          <p:attrName>style.visibility</p:attrName>
                                        </p:attrNameLst>
                                      </p:cBhvr>
                                      <p:to>
                                        <p:strVal val="visible"/>
                                      </p:to>
                                    </p:set>
                                    <p:anim calcmode="lin" valueType="num">
                                      <p:cBhvr additive="base">
                                        <p:cTn dur="500"/>
                                        <p:tgtEl>
                                          <p:spTgt spid="359"/>
                                        </p:tgtEl>
                                        <p:attrNameLst>
                                          <p:attrName>ppt_w</p:attrName>
                                        </p:attrNameLst>
                                      </p:cBhvr>
                                      <p:tavLst>
                                        <p:tav fmla="" tm="0">
                                          <p:val>
                                            <p:strVal val="0"/>
                                          </p:val>
                                        </p:tav>
                                        <p:tav fmla="" tm="100000">
                                          <p:val>
                                            <p:strVal val="#ppt_w"/>
                                          </p:val>
                                        </p:tav>
                                      </p:tavLst>
                                    </p:anim>
                                    <p:anim calcmode="lin" valueType="num">
                                      <p:cBhvr additive="base">
                                        <p:cTn dur="500"/>
                                        <p:tgtEl>
                                          <p:spTgt spid="35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69"/>
                                        </p:tgtEl>
                                        <p:attrNameLst>
                                          <p:attrName>style.visibility</p:attrName>
                                        </p:attrNameLst>
                                      </p:cBhvr>
                                      <p:to>
                                        <p:strVal val="visible"/>
                                      </p:to>
                                    </p:set>
                                    <p:anim calcmode="lin" valueType="num">
                                      <p:cBhvr additive="base">
                                        <p:cTn dur="500"/>
                                        <p:tgtEl>
                                          <p:spTgt spid="369"/>
                                        </p:tgtEl>
                                        <p:attrNameLst>
                                          <p:attrName>ppt_w</p:attrName>
                                        </p:attrNameLst>
                                      </p:cBhvr>
                                      <p:tavLst>
                                        <p:tav fmla="" tm="0">
                                          <p:val>
                                            <p:strVal val="0"/>
                                          </p:val>
                                        </p:tav>
                                        <p:tav fmla="" tm="100000">
                                          <p:val>
                                            <p:strVal val="#ppt_w"/>
                                          </p:val>
                                        </p:tav>
                                      </p:tavLst>
                                    </p:anim>
                                    <p:anim calcmode="lin" valueType="num">
                                      <p:cBhvr additive="base">
                                        <p:cTn dur="500"/>
                                        <p:tgtEl>
                                          <p:spTgt spid="36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500"/>
                                        <p:tgtEl>
                                          <p:spTgt spid="3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5"/>
          <p:cNvSpPr/>
          <p:nvPr/>
        </p:nvSpPr>
        <p:spPr>
          <a:xfrm>
            <a:off x="685800" y="1549400"/>
            <a:ext cx="7772400" cy="69945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Determining work done by a force</a:t>
            </a:r>
            <a:endParaRPr sz="2000">
              <a:solidFill>
                <a:srgbClr val="000000"/>
              </a:solidFill>
              <a:latin typeface="Courier New"/>
              <a:ea typeface="Courier New"/>
              <a:cs typeface="Courier New"/>
              <a:sym typeface="Courier New"/>
            </a:endParaRPr>
          </a:p>
        </p:txBody>
      </p:sp>
      <p:sp>
        <p:nvSpPr>
          <p:cNvPr id="376" name="Google Shape;376;p25"/>
          <p:cNvSpPr/>
          <p:nvPr/>
        </p:nvSpPr>
        <p:spPr>
          <a:xfrm>
            <a:off x="674688" y="1973262"/>
            <a:ext cx="6877050" cy="4052251"/>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A pulley system is used to raise a 100-N crate 4 m as shown. Find the work done by the tension force </a:t>
            </a:r>
            <a:r>
              <a:rPr i="1" lang="en-US" sz="2400">
                <a:solidFill>
                  <a:schemeClr val="dk1"/>
                </a:solidFill>
                <a:latin typeface="Arial"/>
                <a:ea typeface="Arial"/>
                <a:cs typeface="Arial"/>
                <a:sym typeface="Arial"/>
              </a:rPr>
              <a:t>F</a:t>
            </a:r>
            <a:r>
              <a:rPr baseline="-25000" i="1" lang="en-US" sz="2400">
                <a:solidFill>
                  <a:schemeClr val="dk1"/>
                </a:solidFill>
                <a:latin typeface="Arial"/>
                <a:ea typeface="Arial"/>
                <a:cs typeface="Arial"/>
                <a:sym typeface="Arial"/>
              </a:rPr>
              <a:t>T</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if the lift occurs at constant speed.</a:t>
            </a:r>
            <a:endParaRPr sz="2400">
              <a:solidFill>
                <a:schemeClr val="dk1"/>
              </a:solidFill>
              <a:latin typeface="Arial"/>
              <a:ea typeface="Arial"/>
              <a:cs typeface="Arial"/>
              <a:sym typeface="Arial"/>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SOLUTION:</a:t>
            </a:r>
            <a:endParaRPr/>
          </a:p>
          <a:p>
            <a:pPr indent="-152400" lvl="0" marL="0" marR="0" rtl="0" algn="l">
              <a:spcBef>
                <a:spcPts val="30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From the FBD 2</a:t>
            </a:r>
            <a:r>
              <a:rPr i="1" lang="en-US" sz="2400">
                <a:solidFill>
                  <a:srgbClr val="008000"/>
                </a:solidFill>
                <a:latin typeface="Arial"/>
                <a:ea typeface="Arial"/>
                <a:cs typeface="Arial"/>
                <a:sym typeface="Arial"/>
              </a:rPr>
              <a:t>F</a:t>
            </a:r>
            <a:r>
              <a:rPr baseline="-25000" i="1" lang="en-US" sz="2400">
                <a:solidFill>
                  <a:srgbClr val="008000"/>
                </a:solidFill>
                <a:latin typeface="Arial"/>
                <a:ea typeface="Arial"/>
                <a:cs typeface="Arial"/>
                <a:sym typeface="Arial"/>
              </a:rPr>
              <a:t>T</a:t>
            </a:r>
            <a:r>
              <a:rPr lang="en-US" sz="2400">
                <a:solidFill>
                  <a:schemeClr val="dk1"/>
                </a:solidFill>
                <a:latin typeface="Arial"/>
                <a:ea typeface="Arial"/>
                <a:cs typeface="Arial"/>
                <a:sym typeface="Arial"/>
              </a:rPr>
              <a:t> = 100 so that </a:t>
            </a:r>
            <a:r>
              <a:rPr i="1" lang="en-US" sz="2400">
                <a:solidFill>
                  <a:srgbClr val="008000"/>
                </a:solidFill>
                <a:latin typeface="Arial"/>
                <a:ea typeface="Arial"/>
                <a:cs typeface="Arial"/>
                <a:sym typeface="Arial"/>
              </a:rPr>
              <a:t>F</a:t>
            </a:r>
            <a:r>
              <a:rPr baseline="-25000" i="1" lang="en-US" sz="2400">
                <a:solidFill>
                  <a:srgbClr val="008000"/>
                </a:solidFill>
                <a:latin typeface="Arial"/>
                <a:ea typeface="Arial"/>
                <a:cs typeface="Arial"/>
                <a:sym typeface="Arial"/>
              </a:rPr>
              <a:t>T</a:t>
            </a:r>
            <a:r>
              <a:rPr lang="en-US" sz="2400">
                <a:solidFill>
                  <a:schemeClr val="dk1"/>
                </a:solidFill>
                <a:latin typeface="Arial"/>
                <a:ea typeface="Arial"/>
                <a:cs typeface="Arial"/>
                <a:sym typeface="Arial"/>
              </a:rPr>
              <a:t> = 50 N.</a:t>
            </a:r>
            <a:endParaRPr/>
          </a:p>
          <a:p>
            <a:pPr indent="-152400" lvl="0" marL="0" marR="0" rtl="0" algn="l">
              <a:spcBef>
                <a:spcPts val="30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From the statement of the problem, </a:t>
            </a:r>
            <a:r>
              <a:rPr i="1" lang="en-US" sz="2400">
                <a:solidFill>
                  <a:schemeClr val="accent2"/>
                </a:solidFill>
                <a:latin typeface="Arial"/>
                <a:ea typeface="Arial"/>
                <a:cs typeface="Arial"/>
                <a:sym typeface="Arial"/>
              </a:rPr>
              <a:t>x</a:t>
            </a:r>
            <a:r>
              <a:rPr lang="en-US" sz="2400">
                <a:solidFill>
                  <a:schemeClr val="dk1"/>
                </a:solidFill>
                <a:latin typeface="Arial"/>
                <a:ea typeface="Arial"/>
                <a:cs typeface="Arial"/>
                <a:sym typeface="Arial"/>
              </a:rPr>
              <a:t> = 4 m.</a:t>
            </a:r>
            <a:endParaRPr/>
          </a:p>
          <a:p>
            <a:pPr indent="-152400" lvl="0" marL="0" marR="0" rtl="0" algn="l">
              <a:spcBef>
                <a:spcPts val="30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Since the displacement and the tension are parallel, θ = 0°.</a:t>
            </a:r>
            <a:endParaRPr/>
          </a:p>
          <a:p>
            <a:pPr indent="-152400" lvl="0" marL="0" marR="0" rtl="0" algn="l">
              <a:spcBef>
                <a:spcPts val="30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So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rgbClr val="008000"/>
                </a:solidFill>
                <a:latin typeface="Arial"/>
                <a:ea typeface="Arial"/>
                <a:cs typeface="Arial"/>
                <a:sym typeface="Arial"/>
              </a:rPr>
              <a:t>F</a:t>
            </a:r>
            <a:r>
              <a:rPr baseline="-25000" i="1" lang="en-US" sz="2400">
                <a:solidFill>
                  <a:srgbClr val="008000"/>
                </a:solidFill>
                <a:latin typeface="Arial"/>
                <a:ea typeface="Arial"/>
                <a:cs typeface="Arial"/>
                <a:sym typeface="Arial"/>
              </a:rPr>
              <a:t>T</a:t>
            </a:r>
            <a:r>
              <a:rPr lang="en-US" sz="2400">
                <a:solidFill>
                  <a:schemeClr val="dk1"/>
                </a:solidFill>
                <a:latin typeface="Arial"/>
                <a:ea typeface="Arial"/>
                <a:cs typeface="Arial"/>
                <a:sym typeface="Arial"/>
              </a:rPr>
              <a:t>(2</a:t>
            </a:r>
            <a:r>
              <a:rPr i="1" lang="en-US" sz="2400">
                <a:solidFill>
                  <a:schemeClr val="accent2"/>
                </a:solidFill>
                <a:latin typeface="Arial"/>
                <a:ea typeface="Arial"/>
                <a:cs typeface="Arial"/>
                <a:sym typeface="Arial"/>
              </a:rPr>
              <a:t>x</a:t>
            </a:r>
            <a:r>
              <a:rPr lang="en-US" sz="2400">
                <a:solidFill>
                  <a:schemeClr val="dk1"/>
                </a:solidFill>
                <a:latin typeface="Arial"/>
                <a:ea typeface="Arial"/>
                <a:cs typeface="Arial"/>
                <a:sym typeface="Arial"/>
              </a:rPr>
              <a:t>)</a:t>
            </a:r>
            <a:r>
              <a:rPr baseline="-25000"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cos</a:t>
            </a:r>
            <a:r>
              <a:rPr baseline="-25000"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θ  </a:t>
            </a:r>
            <a:r>
              <a:rPr lang="en-US" sz="2400">
                <a:solidFill>
                  <a:schemeClr val="dk1"/>
                </a:solidFill>
                <a:latin typeface="Arial"/>
                <a:ea typeface="Arial"/>
                <a:cs typeface="Arial"/>
                <a:sym typeface="Arial"/>
              </a:rPr>
              <a:t>= (50)(2×4)</a:t>
            </a:r>
            <a:r>
              <a:rPr baseline="-25000"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cos</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0°</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400 J.</a:t>
            </a:r>
            <a:endParaRPr/>
          </a:p>
        </p:txBody>
      </p:sp>
      <p:sp>
        <p:nvSpPr>
          <p:cNvPr id="377" name="Google Shape;377;p25"/>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378" name="Google Shape;378;p25"/>
          <p:cNvSpPr/>
          <p:nvPr/>
        </p:nvSpPr>
        <p:spPr>
          <a:xfrm>
            <a:off x="684213" y="6025514"/>
            <a:ext cx="7758112" cy="845185"/>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a:t>
            </a:r>
            <a:endParaRPr/>
          </a:p>
          <a:p>
            <a:pPr indent="0" lvl="0" marL="0" marR="0" rtl="0" algn="l">
              <a:spcBef>
                <a:spcPts val="40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Pulleys are also used gain </a:t>
            </a:r>
            <a:r>
              <a:rPr b="1" lang="en-US" sz="2400">
                <a:solidFill>
                  <a:schemeClr val="dk1"/>
                </a:solidFill>
                <a:latin typeface="Arial"/>
                <a:ea typeface="Arial"/>
                <a:cs typeface="Arial"/>
                <a:sym typeface="Arial"/>
              </a:rPr>
              <a:t>mechanical advantage</a:t>
            </a:r>
            <a:r>
              <a:rPr lang="en-US" sz="2400">
                <a:solidFill>
                  <a:schemeClr val="dk1"/>
                </a:solidFill>
                <a:latin typeface="Arial"/>
                <a:ea typeface="Arial"/>
                <a:cs typeface="Arial"/>
                <a:sym typeface="Arial"/>
              </a:rPr>
              <a:t>.</a:t>
            </a:r>
            <a:endParaRPr/>
          </a:p>
        </p:txBody>
      </p:sp>
      <p:grpSp>
        <p:nvGrpSpPr>
          <p:cNvPr id="379" name="Google Shape;379;p25"/>
          <p:cNvGrpSpPr/>
          <p:nvPr/>
        </p:nvGrpSpPr>
        <p:grpSpPr>
          <a:xfrm>
            <a:off x="7558088" y="2248853"/>
            <a:ext cx="1585912" cy="257175"/>
            <a:chOff x="3571" y="1190"/>
            <a:chExt cx="1613" cy="154"/>
          </a:xfrm>
        </p:grpSpPr>
        <p:sp>
          <p:nvSpPr>
            <p:cNvPr descr="Oak" id="380" name="Google Shape;380;p25"/>
            <p:cNvSpPr/>
            <p:nvPr/>
          </p:nvSpPr>
          <p:spPr>
            <a:xfrm>
              <a:off x="3571" y="1190"/>
              <a:ext cx="1613" cy="154"/>
            </a:xfrm>
            <a:prstGeom prst="rect">
              <a:avLst/>
            </a:prstGeom>
            <a:blipFill rotWithShape="1">
              <a:blip r:embed="rId3">
                <a:alphaModFix/>
              </a:blip>
              <a:tile algn="tl" flip="none" tx="0" sx="100000" ty="0" sy="100000"/>
            </a:blip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cxnSp>
          <p:nvCxnSpPr>
            <p:cNvPr descr="Oak" id="381" name="Google Shape;381;p25"/>
            <p:cNvCxnSpPr/>
            <p:nvPr/>
          </p:nvCxnSpPr>
          <p:spPr>
            <a:xfrm>
              <a:off x="3581" y="1344"/>
              <a:ext cx="1593" cy="0"/>
            </a:xfrm>
            <a:prstGeom prst="straightConnector1">
              <a:avLst/>
            </a:prstGeom>
            <a:noFill/>
            <a:ln cap="flat" cmpd="sng" w="9525">
              <a:solidFill>
                <a:schemeClr val="dk1"/>
              </a:solidFill>
              <a:prstDash val="solid"/>
              <a:round/>
              <a:headEnd len="med" w="med" type="none"/>
              <a:tailEnd len="med" w="med" type="none"/>
            </a:ln>
          </p:spPr>
        </p:cxnSp>
      </p:grpSp>
      <p:grpSp>
        <p:nvGrpSpPr>
          <p:cNvPr id="382" name="Google Shape;382;p25"/>
          <p:cNvGrpSpPr/>
          <p:nvPr/>
        </p:nvGrpSpPr>
        <p:grpSpPr>
          <a:xfrm>
            <a:off x="7558088" y="5768340"/>
            <a:ext cx="1585912" cy="257175"/>
            <a:chOff x="3571" y="3417"/>
            <a:chExt cx="1613" cy="154"/>
          </a:xfrm>
        </p:grpSpPr>
        <p:sp>
          <p:nvSpPr>
            <p:cNvPr descr="Granite" id="383" name="Google Shape;383;p25"/>
            <p:cNvSpPr/>
            <p:nvPr/>
          </p:nvSpPr>
          <p:spPr>
            <a:xfrm>
              <a:off x="3571" y="3417"/>
              <a:ext cx="1613" cy="154"/>
            </a:xfrm>
            <a:prstGeom prst="rect">
              <a:avLst/>
            </a:prstGeom>
            <a:blipFill rotWithShape="1">
              <a:blip r:embed="rId4">
                <a:alphaModFix/>
              </a:blip>
              <a:tile algn="tl" flip="none" tx="0" sx="100000" ty="0" sy="100000"/>
            </a:blip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cxnSp>
          <p:nvCxnSpPr>
            <p:cNvPr descr="Granite" id="384" name="Google Shape;384;p25"/>
            <p:cNvCxnSpPr/>
            <p:nvPr/>
          </p:nvCxnSpPr>
          <p:spPr>
            <a:xfrm>
              <a:off x="3581" y="3417"/>
              <a:ext cx="1593" cy="0"/>
            </a:xfrm>
            <a:prstGeom prst="straightConnector1">
              <a:avLst/>
            </a:prstGeom>
            <a:noFill/>
            <a:ln cap="flat" cmpd="sng" w="9525">
              <a:solidFill>
                <a:schemeClr val="dk1"/>
              </a:solidFill>
              <a:prstDash val="solid"/>
              <a:round/>
              <a:headEnd len="med" w="med" type="none"/>
              <a:tailEnd len="med" w="med" type="none"/>
            </a:ln>
          </p:spPr>
        </p:cxnSp>
      </p:grpSp>
      <p:grpSp>
        <p:nvGrpSpPr>
          <p:cNvPr id="385" name="Google Shape;385;p25"/>
          <p:cNvGrpSpPr/>
          <p:nvPr/>
        </p:nvGrpSpPr>
        <p:grpSpPr>
          <a:xfrm>
            <a:off x="7769225" y="2499678"/>
            <a:ext cx="1250950" cy="774700"/>
            <a:chOff x="3974" y="1498"/>
            <a:chExt cx="788" cy="488"/>
          </a:xfrm>
        </p:grpSpPr>
        <p:grpSp>
          <p:nvGrpSpPr>
            <p:cNvPr id="386" name="Google Shape;386;p25"/>
            <p:cNvGrpSpPr/>
            <p:nvPr/>
          </p:nvGrpSpPr>
          <p:grpSpPr>
            <a:xfrm>
              <a:off x="4135" y="1545"/>
              <a:ext cx="441" cy="441"/>
              <a:chOff x="4205" y="1565"/>
              <a:chExt cx="441" cy="441"/>
            </a:xfrm>
          </p:grpSpPr>
          <p:sp>
            <p:nvSpPr>
              <p:cNvPr id="387" name="Google Shape;387;p25"/>
              <p:cNvSpPr/>
              <p:nvPr/>
            </p:nvSpPr>
            <p:spPr>
              <a:xfrm>
                <a:off x="4205" y="1565"/>
                <a:ext cx="441" cy="441"/>
              </a:xfrm>
              <a:prstGeom prst="ellipse">
                <a:avLst/>
              </a:prstGeom>
              <a:gradFill>
                <a:gsLst>
                  <a:gs pos="0">
                    <a:srgbClr val="525252"/>
                  </a:gs>
                  <a:gs pos="100000">
                    <a:srgbClr val="B2B2B2"/>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388" name="Google Shape;388;p25"/>
              <p:cNvSpPr/>
              <p:nvPr/>
            </p:nvSpPr>
            <p:spPr>
              <a:xfrm>
                <a:off x="4338" y="1699"/>
                <a:ext cx="173" cy="173"/>
              </a:xfrm>
              <a:prstGeom prst="ellipse">
                <a:avLst/>
              </a:prstGeom>
              <a:gradFill>
                <a:gsLst>
                  <a:gs pos="0">
                    <a:schemeClr val="lt2"/>
                  </a:gs>
                  <a:gs pos="100000">
                    <a:srgbClr val="5A5A5A"/>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389" name="Google Shape;389;p25"/>
            <p:cNvSpPr/>
            <p:nvPr/>
          </p:nvSpPr>
          <p:spPr>
            <a:xfrm flipH="1" rot="10800000">
              <a:off x="4166" y="1556"/>
              <a:ext cx="384" cy="298"/>
            </a:xfrm>
            <a:prstGeom prst="triangle">
              <a:avLst>
                <a:gd fmla="val 50000" name="adj"/>
              </a:avLst>
            </a:prstGeom>
            <a:gradFill>
              <a:gsLst>
                <a:gs pos="0">
                  <a:srgbClr val="009900"/>
                </a:gs>
                <a:gs pos="100000">
                  <a:srgbClr val="004700"/>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390" name="Google Shape;390;p25"/>
            <p:cNvSpPr/>
            <p:nvPr/>
          </p:nvSpPr>
          <p:spPr>
            <a:xfrm>
              <a:off x="4331" y="1746"/>
              <a:ext cx="56" cy="56"/>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391" name="Google Shape;391;p25"/>
            <p:cNvSpPr/>
            <p:nvPr/>
          </p:nvSpPr>
          <p:spPr>
            <a:xfrm>
              <a:off x="3974" y="1498"/>
              <a:ext cx="788" cy="56"/>
            </a:xfrm>
            <a:prstGeom prst="rect">
              <a:avLst/>
            </a:prstGeom>
            <a:gradFill>
              <a:gsLst>
                <a:gs pos="0">
                  <a:srgbClr val="009900"/>
                </a:gs>
                <a:gs pos="100000">
                  <a:srgbClr val="004700"/>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grpSp>
        <p:nvGrpSpPr>
          <p:cNvPr id="392" name="Google Shape;392;p25"/>
          <p:cNvGrpSpPr/>
          <p:nvPr/>
        </p:nvGrpSpPr>
        <p:grpSpPr>
          <a:xfrm>
            <a:off x="7854953" y="2904490"/>
            <a:ext cx="1096963" cy="2851150"/>
            <a:chOff x="4028" y="1603"/>
            <a:chExt cx="691" cy="1796"/>
          </a:xfrm>
        </p:grpSpPr>
        <p:cxnSp>
          <p:nvCxnSpPr>
            <p:cNvPr id="393" name="Google Shape;393;p25"/>
            <p:cNvCxnSpPr/>
            <p:nvPr/>
          </p:nvCxnSpPr>
          <p:spPr>
            <a:xfrm>
              <a:off x="4569" y="1622"/>
              <a:ext cx="0" cy="701"/>
            </a:xfrm>
            <a:prstGeom prst="straightConnector1">
              <a:avLst/>
            </a:prstGeom>
            <a:noFill/>
            <a:ln cap="flat" cmpd="sng" w="9525">
              <a:solidFill>
                <a:schemeClr val="dk1"/>
              </a:solidFill>
              <a:prstDash val="solid"/>
              <a:round/>
              <a:headEnd len="med" w="med" type="none"/>
              <a:tailEnd len="med" w="med" type="none"/>
            </a:ln>
          </p:spPr>
        </p:cxnSp>
        <p:grpSp>
          <p:nvGrpSpPr>
            <p:cNvPr id="394" name="Google Shape;394;p25"/>
            <p:cNvGrpSpPr/>
            <p:nvPr/>
          </p:nvGrpSpPr>
          <p:grpSpPr>
            <a:xfrm>
              <a:off x="4454" y="2305"/>
              <a:ext cx="265" cy="516"/>
              <a:chOff x="902" y="2813"/>
              <a:chExt cx="265" cy="516"/>
            </a:xfrm>
          </p:grpSpPr>
          <p:sp>
            <p:nvSpPr>
              <p:cNvPr id="395" name="Google Shape;395;p25"/>
              <p:cNvSpPr txBox="1"/>
              <p:nvPr/>
            </p:nvSpPr>
            <p:spPr>
              <a:xfrm>
                <a:off x="902" y="3096"/>
                <a:ext cx="265"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9900"/>
                  </a:buClr>
                  <a:buSzPts val="1800"/>
                  <a:buFont typeface="Arial"/>
                  <a:buNone/>
                </a:pPr>
                <a:r>
                  <a:rPr b="1" lang="en-US" sz="1800">
                    <a:solidFill>
                      <a:srgbClr val="009900"/>
                    </a:solidFill>
                    <a:latin typeface="Arial"/>
                    <a:ea typeface="Arial"/>
                    <a:cs typeface="Arial"/>
                    <a:sym typeface="Arial"/>
                  </a:rPr>
                  <a:t>F</a:t>
                </a:r>
                <a:r>
                  <a:rPr b="1" baseline="-25000" lang="en-US" sz="1800">
                    <a:solidFill>
                      <a:srgbClr val="009900"/>
                    </a:solidFill>
                    <a:latin typeface="Arial"/>
                    <a:ea typeface="Arial"/>
                    <a:cs typeface="Arial"/>
                    <a:sym typeface="Arial"/>
                  </a:rPr>
                  <a:t>T</a:t>
                </a:r>
                <a:endParaRPr/>
              </a:p>
            </p:txBody>
          </p:sp>
          <p:cxnSp>
            <p:nvCxnSpPr>
              <p:cNvPr id="396" name="Google Shape;396;p25"/>
              <p:cNvCxnSpPr/>
              <p:nvPr/>
            </p:nvCxnSpPr>
            <p:spPr>
              <a:xfrm>
                <a:off x="1008" y="2813"/>
                <a:ext cx="0" cy="317"/>
              </a:xfrm>
              <a:prstGeom prst="straightConnector1">
                <a:avLst/>
              </a:prstGeom>
              <a:noFill/>
              <a:ln cap="flat" cmpd="sng" w="57150">
                <a:solidFill>
                  <a:srgbClr val="009900"/>
                </a:solidFill>
                <a:prstDash val="solid"/>
                <a:round/>
                <a:headEnd len="med" w="med" type="none"/>
                <a:tailEnd len="med" w="med" type="stealth"/>
              </a:ln>
            </p:spPr>
          </p:cxnSp>
        </p:grpSp>
        <p:cxnSp>
          <p:nvCxnSpPr>
            <p:cNvPr id="397" name="Google Shape;397;p25"/>
            <p:cNvCxnSpPr/>
            <p:nvPr/>
          </p:nvCxnSpPr>
          <p:spPr>
            <a:xfrm flipH="1">
              <a:off x="4033" y="1603"/>
              <a:ext cx="115" cy="1047"/>
            </a:xfrm>
            <a:prstGeom prst="straightConnector1">
              <a:avLst/>
            </a:prstGeom>
            <a:noFill/>
            <a:ln cap="flat" cmpd="sng" w="9525">
              <a:solidFill>
                <a:schemeClr val="dk1"/>
              </a:solidFill>
              <a:prstDash val="solid"/>
              <a:round/>
              <a:headEnd len="med" w="med" type="none"/>
              <a:tailEnd len="med" w="med" type="none"/>
            </a:ln>
          </p:spPr>
        </p:cxnSp>
        <p:cxnSp>
          <p:nvCxnSpPr>
            <p:cNvPr id="398" name="Google Shape;398;p25"/>
            <p:cNvCxnSpPr/>
            <p:nvPr/>
          </p:nvCxnSpPr>
          <p:spPr>
            <a:xfrm rot="10800000">
              <a:off x="4359" y="1622"/>
              <a:ext cx="96" cy="1028"/>
            </a:xfrm>
            <a:prstGeom prst="straightConnector1">
              <a:avLst/>
            </a:prstGeom>
            <a:noFill/>
            <a:ln cap="flat" cmpd="sng" w="9525">
              <a:solidFill>
                <a:schemeClr val="dk1"/>
              </a:solidFill>
              <a:prstDash val="solid"/>
              <a:round/>
              <a:headEnd len="med" w="med" type="none"/>
              <a:tailEnd len="med" w="med" type="none"/>
            </a:ln>
          </p:spPr>
        </p:cxnSp>
        <p:grpSp>
          <p:nvGrpSpPr>
            <p:cNvPr id="399" name="Google Shape;399;p25"/>
            <p:cNvGrpSpPr/>
            <p:nvPr/>
          </p:nvGrpSpPr>
          <p:grpSpPr>
            <a:xfrm>
              <a:off x="4028" y="2470"/>
              <a:ext cx="441" cy="929"/>
              <a:chOff x="564" y="2758"/>
              <a:chExt cx="441" cy="929"/>
            </a:xfrm>
          </p:grpSpPr>
          <p:grpSp>
            <p:nvGrpSpPr>
              <p:cNvPr id="400" name="Google Shape;400;p25"/>
              <p:cNvGrpSpPr/>
              <p:nvPr/>
            </p:nvGrpSpPr>
            <p:grpSpPr>
              <a:xfrm>
                <a:off x="564" y="2758"/>
                <a:ext cx="441" cy="441"/>
                <a:chOff x="4205" y="1565"/>
                <a:chExt cx="441" cy="441"/>
              </a:xfrm>
            </p:grpSpPr>
            <p:sp>
              <p:nvSpPr>
                <p:cNvPr id="401" name="Google Shape;401;p25"/>
                <p:cNvSpPr/>
                <p:nvPr/>
              </p:nvSpPr>
              <p:spPr>
                <a:xfrm>
                  <a:off x="4205" y="1565"/>
                  <a:ext cx="441" cy="441"/>
                </a:xfrm>
                <a:prstGeom prst="ellipse">
                  <a:avLst/>
                </a:prstGeom>
                <a:gradFill>
                  <a:gsLst>
                    <a:gs pos="0">
                      <a:srgbClr val="525252"/>
                    </a:gs>
                    <a:gs pos="100000">
                      <a:srgbClr val="B2B2B2"/>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402" name="Google Shape;402;p25"/>
                <p:cNvSpPr/>
                <p:nvPr/>
              </p:nvSpPr>
              <p:spPr>
                <a:xfrm>
                  <a:off x="4338" y="1699"/>
                  <a:ext cx="173" cy="173"/>
                </a:xfrm>
                <a:prstGeom prst="ellipse">
                  <a:avLst/>
                </a:prstGeom>
                <a:gradFill>
                  <a:gsLst>
                    <a:gs pos="0">
                      <a:schemeClr val="lt2"/>
                    </a:gs>
                    <a:gs pos="100000">
                      <a:srgbClr val="5A5A5A"/>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403" name="Google Shape;403;p25"/>
              <p:cNvSpPr/>
              <p:nvPr/>
            </p:nvSpPr>
            <p:spPr>
              <a:xfrm>
                <a:off x="760" y="2959"/>
                <a:ext cx="56" cy="56"/>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cxnSp>
            <p:nvCxnSpPr>
              <p:cNvPr id="404" name="Google Shape;404;p25"/>
              <p:cNvCxnSpPr/>
              <p:nvPr/>
            </p:nvCxnSpPr>
            <p:spPr>
              <a:xfrm>
                <a:off x="787" y="2986"/>
                <a:ext cx="0" cy="355"/>
              </a:xfrm>
              <a:prstGeom prst="straightConnector1">
                <a:avLst/>
              </a:prstGeom>
              <a:noFill/>
              <a:ln cap="flat" cmpd="sng" w="9525">
                <a:solidFill>
                  <a:schemeClr val="dk1"/>
                </a:solidFill>
                <a:prstDash val="solid"/>
                <a:round/>
                <a:headEnd len="med" w="med" type="none"/>
                <a:tailEnd len="med" w="med" type="none"/>
              </a:ln>
            </p:spPr>
          </p:cxnSp>
          <p:sp>
            <p:nvSpPr>
              <p:cNvPr descr="Medium wood" id="405" name="Google Shape;405;p25"/>
              <p:cNvSpPr/>
              <p:nvPr/>
            </p:nvSpPr>
            <p:spPr>
              <a:xfrm>
                <a:off x="585" y="3303"/>
                <a:ext cx="384" cy="384"/>
              </a:xfrm>
              <a:prstGeom prst="rect">
                <a:avLst/>
              </a:prstGeom>
              <a:blipFill rotWithShape="1">
                <a:blip r:embed="rId5">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grpSp>
      <p:grpSp>
        <p:nvGrpSpPr>
          <p:cNvPr id="406" name="Google Shape;406;p25"/>
          <p:cNvGrpSpPr/>
          <p:nvPr/>
        </p:nvGrpSpPr>
        <p:grpSpPr>
          <a:xfrm>
            <a:off x="7853364" y="2891790"/>
            <a:ext cx="1109663" cy="2595563"/>
            <a:chOff x="701" y="2409"/>
            <a:chExt cx="699" cy="1635"/>
          </a:xfrm>
        </p:grpSpPr>
        <p:cxnSp>
          <p:nvCxnSpPr>
            <p:cNvPr id="407" name="Google Shape;407;p25"/>
            <p:cNvCxnSpPr/>
            <p:nvPr/>
          </p:nvCxnSpPr>
          <p:spPr>
            <a:xfrm>
              <a:off x="1242" y="2411"/>
              <a:ext cx="0" cy="1010"/>
            </a:xfrm>
            <a:prstGeom prst="straightConnector1">
              <a:avLst/>
            </a:prstGeom>
            <a:noFill/>
            <a:ln cap="flat" cmpd="sng" w="9525">
              <a:solidFill>
                <a:schemeClr val="dk1"/>
              </a:solidFill>
              <a:prstDash val="solid"/>
              <a:round/>
              <a:headEnd len="med" w="med" type="none"/>
              <a:tailEnd len="med" w="med" type="none"/>
            </a:ln>
          </p:spPr>
        </p:cxnSp>
        <p:grpSp>
          <p:nvGrpSpPr>
            <p:cNvPr id="408" name="Google Shape;408;p25"/>
            <p:cNvGrpSpPr/>
            <p:nvPr/>
          </p:nvGrpSpPr>
          <p:grpSpPr>
            <a:xfrm>
              <a:off x="1135" y="3414"/>
              <a:ext cx="265" cy="516"/>
              <a:chOff x="902" y="2813"/>
              <a:chExt cx="265" cy="516"/>
            </a:xfrm>
          </p:grpSpPr>
          <p:sp>
            <p:nvSpPr>
              <p:cNvPr id="409" name="Google Shape;409;p25"/>
              <p:cNvSpPr txBox="1"/>
              <p:nvPr/>
            </p:nvSpPr>
            <p:spPr>
              <a:xfrm>
                <a:off x="902" y="3096"/>
                <a:ext cx="265"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9900"/>
                  </a:buClr>
                  <a:buSzPts val="1800"/>
                  <a:buFont typeface="Arial"/>
                  <a:buNone/>
                </a:pPr>
                <a:r>
                  <a:rPr b="1" lang="en-US" sz="1800">
                    <a:solidFill>
                      <a:srgbClr val="009900"/>
                    </a:solidFill>
                    <a:latin typeface="Arial"/>
                    <a:ea typeface="Arial"/>
                    <a:cs typeface="Arial"/>
                    <a:sym typeface="Arial"/>
                  </a:rPr>
                  <a:t>F</a:t>
                </a:r>
                <a:r>
                  <a:rPr b="1" baseline="-25000" lang="en-US" sz="1800">
                    <a:solidFill>
                      <a:srgbClr val="009900"/>
                    </a:solidFill>
                    <a:latin typeface="Arial"/>
                    <a:ea typeface="Arial"/>
                    <a:cs typeface="Arial"/>
                    <a:sym typeface="Arial"/>
                  </a:rPr>
                  <a:t>T</a:t>
                </a:r>
                <a:endParaRPr/>
              </a:p>
            </p:txBody>
          </p:sp>
          <p:cxnSp>
            <p:nvCxnSpPr>
              <p:cNvPr id="410" name="Google Shape;410;p25"/>
              <p:cNvCxnSpPr/>
              <p:nvPr/>
            </p:nvCxnSpPr>
            <p:spPr>
              <a:xfrm>
                <a:off x="1008" y="2813"/>
                <a:ext cx="0" cy="317"/>
              </a:xfrm>
              <a:prstGeom prst="straightConnector1">
                <a:avLst/>
              </a:prstGeom>
              <a:noFill/>
              <a:ln cap="flat" cmpd="sng" w="57150">
                <a:solidFill>
                  <a:srgbClr val="009900"/>
                </a:solidFill>
                <a:prstDash val="solid"/>
                <a:round/>
                <a:headEnd len="med" w="med" type="none"/>
                <a:tailEnd len="med" w="med" type="stealth"/>
              </a:ln>
            </p:spPr>
          </p:cxnSp>
        </p:grpSp>
        <p:cxnSp>
          <p:nvCxnSpPr>
            <p:cNvPr id="411" name="Google Shape;411;p25"/>
            <p:cNvCxnSpPr/>
            <p:nvPr/>
          </p:nvCxnSpPr>
          <p:spPr>
            <a:xfrm flipH="1">
              <a:off x="715" y="2409"/>
              <a:ext cx="106" cy="879"/>
            </a:xfrm>
            <a:prstGeom prst="straightConnector1">
              <a:avLst/>
            </a:prstGeom>
            <a:noFill/>
            <a:ln cap="flat" cmpd="sng" w="9525">
              <a:solidFill>
                <a:schemeClr val="dk1"/>
              </a:solidFill>
              <a:prstDash val="solid"/>
              <a:round/>
              <a:headEnd len="med" w="med" type="none"/>
              <a:tailEnd len="med" w="med" type="none"/>
            </a:ln>
          </p:spPr>
        </p:cxnSp>
        <p:cxnSp>
          <p:nvCxnSpPr>
            <p:cNvPr id="412" name="Google Shape;412;p25"/>
            <p:cNvCxnSpPr/>
            <p:nvPr/>
          </p:nvCxnSpPr>
          <p:spPr>
            <a:xfrm rot="10800000">
              <a:off x="1032" y="2411"/>
              <a:ext cx="96" cy="886"/>
            </a:xfrm>
            <a:prstGeom prst="straightConnector1">
              <a:avLst/>
            </a:prstGeom>
            <a:noFill/>
            <a:ln cap="flat" cmpd="sng" w="9525">
              <a:solidFill>
                <a:schemeClr val="dk1"/>
              </a:solidFill>
              <a:prstDash val="solid"/>
              <a:round/>
              <a:headEnd len="med" w="med" type="none"/>
              <a:tailEnd len="med" w="med" type="none"/>
            </a:ln>
          </p:spPr>
        </p:cxnSp>
        <p:grpSp>
          <p:nvGrpSpPr>
            <p:cNvPr id="413" name="Google Shape;413;p25"/>
            <p:cNvGrpSpPr/>
            <p:nvPr/>
          </p:nvGrpSpPr>
          <p:grpSpPr>
            <a:xfrm>
              <a:off x="701" y="3115"/>
              <a:ext cx="441" cy="929"/>
              <a:chOff x="564" y="2758"/>
              <a:chExt cx="441" cy="929"/>
            </a:xfrm>
          </p:grpSpPr>
          <p:grpSp>
            <p:nvGrpSpPr>
              <p:cNvPr id="414" name="Google Shape;414;p25"/>
              <p:cNvGrpSpPr/>
              <p:nvPr/>
            </p:nvGrpSpPr>
            <p:grpSpPr>
              <a:xfrm>
                <a:off x="564" y="2758"/>
                <a:ext cx="441" cy="441"/>
                <a:chOff x="4205" y="1565"/>
                <a:chExt cx="441" cy="441"/>
              </a:xfrm>
            </p:grpSpPr>
            <p:sp>
              <p:nvSpPr>
                <p:cNvPr id="415" name="Google Shape;415;p25"/>
                <p:cNvSpPr/>
                <p:nvPr/>
              </p:nvSpPr>
              <p:spPr>
                <a:xfrm>
                  <a:off x="4205" y="1565"/>
                  <a:ext cx="441" cy="441"/>
                </a:xfrm>
                <a:prstGeom prst="ellipse">
                  <a:avLst/>
                </a:prstGeom>
                <a:gradFill>
                  <a:gsLst>
                    <a:gs pos="0">
                      <a:srgbClr val="525252"/>
                    </a:gs>
                    <a:gs pos="100000">
                      <a:srgbClr val="B2B2B2"/>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416" name="Google Shape;416;p25"/>
                <p:cNvSpPr/>
                <p:nvPr/>
              </p:nvSpPr>
              <p:spPr>
                <a:xfrm>
                  <a:off x="4338" y="1699"/>
                  <a:ext cx="173" cy="173"/>
                </a:xfrm>
                <a:prstGeom prst="ellipse">
                  <a:avLst/>
                </a:prstGeom>
                <a:gradFill>
                  <a:gsLst>
                    <a:gs pos="0">
                      <a:schemeClr val="lt2"/>
                    </a:gs>
                    <a:gs pos="100000">
                      <a:srgbClr val="5A5A5A"/>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417" name="Google Shape;417;p25"/>
              <p:cNvSpPr/>
              <p:nvPr/>
            </p:nvSpPr>
            <p:spPr>
              <a:xfrm>
                <a:off x="760" y="2959"/>
                <a:ext cx="56" cy="56"/>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cxnSp>
            <p:nvCxnSpPr>
              <p:cNvPr id="418" name="Google Shape;418;p25"/>
              <p:cNvCxnSpPr/>
              <p:nvPr/>
            </p:nvCxnSpPr>
            <p:spPr>
              <a:xfrm>
                <a:off x="787" y="2986"/>
                <a:ext cx="0" cy="355"/>
              </a:xfrm>
              <a:prstGeom prst="straightConnector1">
                <a:avLst/>
              </a:prstGeom>
              <a:noFill/>
              <a:ln cap="flat" cmpd="sng" w="9525">
                <a:solidFill>
                  <a:schemeClr val="dk1"/>
                </a:solidFill>
                <a:prstDash val="solid"/>
                <a:round/>
                <a:headEnd len="med" w="med" type="none"/>
                <a:tailEnd len="med" w="med" type="none"/>
              </a:ln>
            </p:spPr>
          </p:cxnSp>
          <p:sp>
            <p:nvSpPr>
              <p:cNvPr descr="Medium wood" id="419" name="Google Shape;419;p25"/>
              <p:cNvSpPr/>
              <p:nvPr/>
            </p:nvSpPr>
            <p:spPr>
              <a:xfrm>
                <a:off x="585" y="3303"/>
                <a:ext cx="384" cy="384"/>
              </a:xfrm>
              <a:prstGeom prst="rect">
                <a:avLst/>
              </a:prstGeom>
              <a:blipFill rotWithShape="1">
                <a:blip r:embed="rId5">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grpSp>
      <p:grpSp>
        <p:nvGrpSpPr>
          <p:cNvPr id="420" name="Google Shape;420;p25"/>
          <p:cNvGrpSpPr/>
          <p:nvPr/>
        </p:nvGrpSpPr>
        <p:grpSpPr>
          <a:xfrm>
            <a:off x="7853364" y="2901315"/>
            <a:ext cx="1350963" cy="2825750"/>
            <a:chOff x="893" y="2384"/>
            <a:chExt cx="851" cy="1780"/>
          </a:xfrm>
        </p:grpSpPr>
        <p:cxnSp>
          <p:nvCxnSpPr>
            <p:cNvPr id="421" name="Google Shape;421;p25"/>
            <p:cNvCxnSpPr/>
            <p:nvPr/>
          </p:nvCxnSpPr>
          <p:spPr>
            <a:xfrm>
              <a:off x="1434" y="2403"/>
              <a:ext cx="0" cy="1286"/>
            </a:xfrm>
            <a:prstGeom prst="straightConnector1">
              <a:avLst/>
            </a:prstGeom>
            <a:noFill/>
            <a:ln cap="flat" cmpd="sng" w="9525">
              <a:solidFill>
                <a:schemeClr val="dk1"/>
              </a:solidFill>
              <a:prstDash val="solid"/>
              <a:round/>
              <a:headEnd len="med" w="med" type="none"/>
              <a:tailEnd len="med" w="med" type="none"/>
            </a:ln>
          </p:spPr>
        </p:cxnSp>
        <p:grpSp>
          <p:nvGrpSpPr>
            <p:cNvPr id="422" name="Google Shape;422;p25"/>
            <p:cNvGrpSpPr/>
            <p:nvPr/>
          </p:nvGrpSpPr>
          <p:grpSpPr>
            <a:xfrm>
              <a:off x="1431" y="3686"/>
              <a:ext cx="313" cy="478"/>
              <a:chOff x="1006" y="2813"/>
              <a:chExt cx="313" cy="478"/>
            </a:xfrm>
          </p:grpSpPr>
          <p:sp>
            <p:nvSpPr>
              <p:cNvPr id="423" name="Google Shape;423;p25"/>
              <p:cNvSpPr txBox="1"/>
              <p:nvPr/>
            </p:nvSpPr>
            <p:spPr>
              <a:xfrm>
                <a:off x="1006" y="3000"/>
                <a:ext cx="31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9900"/>
                  </a:buClr>
                  <a:buSzPts val="2400"/>
                  <a:buFont typeface="Arial"/>
                  <a:buNone/>
                </a:pPr>
                <a:r>
                  <a:rPr b="1" lang="en-US" sz="2400">
                    <a:solidFill>
                      <a:srgbClr val="009900"/>
                    </a:solidFill>
                    <a:latin typeface="Arial"/>
                    <a:ea typeface="Arial"/>
                    <a:cs typeface="Arial"/>
                    <a:sym typeface="Arial"/>
                  </a:rPr>
                  <a:t>F</a:t>
                </a:r>
                <a:r>
                  <a:rPr b="1" baseline="-25000" lang="en-US" sz="2400">
                    <a:solidFill>
                      <a:srgbClr val="009900"/>
                    </a:solidFill>
                    <a:latin typeface="Arial"/>
                    <a:ea typeface="Arial"/>
                    <a:cs typeface="Arial"/>
                    <a:sym typeface="Arial"/>
                  </a:rPr>
                  <a:t>T</a:t>
                </a:r>
                <a:endParaRPr/>
              </a:p>
            </p:txBody>
          </p:sp>
          <p:cxnSp>
            <p:nvCxnSpPr>
              <p:cNvPr id="424" name="Google Shape;424;p25"/>
              <p:cNvCxnSpPr/>
              <p:nvPr/>
            </p:nvCxnSpPr>
            <p:spPr>
              <a:xfrm>
                <a:off x="1008" y="2813"/>
                <a:ext cx="0" cy="317"/>
              </a:xfrm>
              <a:prstGeom prst="straightConnector1">
                <a:avLst/>
              </a:prstGeom>
              <a:noFill/>
              <a:ln cap="flat" cmpd="sng" w="57150">
                <a:solidFill>
                  <a:srgbClr val="009900"/>
                </a:solidFill>
                <a:prstDash val="solid"/>
                <a:round/>
                <a:headEnd len="med" w="med" type="none"/>
                <a:tailEnd len="med" w="med" type="stealth"/>
              </a:ln>
            </p:spPr>
          </p:cxnSp>
        </p:grpSp>
        <p:cxnSp>
          <p:nvCxnSpPr>
            <p:cNvPr id="425" name="Google Shape;425;p25"/>
            <p:cNvCxnSpPr/>
            <p:nvPr/>
          </p:nvCxnSpPr>
          <p:spPr>
            <a:xfrm flipH="1">
              <a:off x="898" y="2384"/>
              <a:ext cx="115" cy="738"/>
            </a:xfrm>
            <a:prstGeom prst="straightConnector1">
              <a:avLst/>
            </a:prstGeom>
            <a:noFill/>
            <a:ln cap="flat" cmpd="sng" w="9525">
              <a:solidFill>
                <a:schemeClr val="dk1"/>
              </a:solidFill>
              <a:prstDash val="solid"/>
              <a:round/>
              <a:headEnd len="med" w="med" type="none"/>
              <a:tailEnd len="med" w="med" type="none"/>
            </a:ln>
          </p:spPr>
        </p:cxnSp>
        <p:cxnSp>
          <p:nvCxnSpPr>
            <p:cNvPr id="426" name="Google Shape;426;p25"/>
            <p:cNvCxnSpPr/>
            <p:nvPr/>
          </p:nvCxnSpPr>
          <p:spPr>
            <a:xfrm rot="10800000">
              <a:off x="1224" y="2403"/>
              <a:ext cx="96" cy="736"/>
            </a:xfrm>
            <a:prstGeom prst="straightConnector1">
              <a:avLst/>
            </a:prstGeom>
            <a:noFill/>
            <a:ln cap="flat" cmpd="sng" w="9525">
              <a:solidFill>
                <a:schemeClr val="dk1"/>
              </a:solidFill>
              <a:prstDash val="solid"/>
              <a:round/>
              <a:headEnd len="med" w="med" type="none"/>
              <a:tailEnd len="med" w="med" type="none"/>
            </a:ln>
          </p:spPr>
        </p:cxnSp>
        <p:grpSp>
          <p:nvGrpSpPr>
            <p:cNvPr id="427" name="Google Shape;427;p25"/>
            <p:cNvGrpSpPr/>
            <p:nvPr/>
          </p:nvGrpSpPr>
          <p:grpSpPr>
            <a:xfrm>
              <a:off x="893" y="2942"/>
              <a:ext cx="441" cy="929"/>
              <a:chOff x="564" y="2758"/>
              <a:chExt cx="441" cy="929"/>
            </a:xfrm>
          </p:grpSpPr>
          <p:grpSp>
            <p:nvGrpSpPr>
              <p:cNvPr id="428" name="Google Shape;428;p25"/>
              <p:cNvGrpSpPr/>
              <p:nvPr/>
            </p:nvGrpSpPr>
            <p:grpSpPr>
              <a:xfrm>
                <a:off x="564" y="2758"/>
                <a:ext cx="441" cy="441"/>
                <a:chOff x="4205" y="1565"/>
                <a:chExt cx="441" cy="441"/>
              </a:xfrm>
            </p:grpSpPr>
            <p:sp>
              <p:nvSpPr>
                <p:cNvPr id="429" name="Google Shape;429;p25"/>
                <p:cNvSpPr/>
                <p:nvPr/>
              </p:nvSpPr>
              <p:spPr>
                <a:xfrm>
                  <a:off x="4205" y="1565"/>
                  <a:ext cx="441" cy="441"/>
                </a:xfrm>
                <a:prstGeom prst="ellipse">
                  <a:avLst/>
                </a:prstGeom>
                <a:gradFill>
                  <a:gsLst>
                    <a:gs pos="0">
                      <a:srgbClr val="525252"/>
                    </a:gs>
                    <a:gs pos="100000">
                      <a:srgbClr val="B2B2B2"/>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430" name="Google Shape;430;p25"/>
                <p:cNvSpPr/>
                <p:nvPr/>
              </p:nvSpPr>
              <p:spPr>
                <a:xfrm>
                  <a:off x="4338" y="1699"/>
                  <a:ext cx="173" cy="173"/>
                </a:xfrm>
                <a:prstGeom prst="ellipse">
                  <a:avLst/>
                </a:prstGeom>
                <a:gradFill>
                  <a:gsLst>
                    <a:gs pos="0">
                      <a:schemeClr val="lt2"/>
                    </a:gs>
                    <a:gs pos="100000">
                      <a:srgbClr val="5A5A5A"/>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431" name="Google Shape;431;p25"/>
              <p:cNvSpPr/>
              <p:nvPr/>
            </p:nvSpPr>
            <p:spPr>
              <a:xfrm>
                <a:off x="760" y="2959"/>
                <a:ext cx="56" cy="56"/>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cxnSp>
            <p:nvCxnSpPr>
              <p:cNvPr id="432" name="Google Shape;432;p25"/>
              <p:cNvCxnSpPr/>
              <p:nvPr/>
            </p:nvCxnSpPr>
            <p:spPr>
              <a:xfrm>
                <a:off x="787" y="2986"/>
                <a:ext cx="0" cy="355"/>
              </a:xfrm>
              <a:prstGeom prst="straightConnector1">
                <a:avLst/>
              </a:prstGeom>
              <a:noFill/>
              <a:ln cap="flat" cmpd="sng" w="9525">
                <a:solidFill>
                  <a:schemeClr val="dk1"/>
                </a:solidFill>
                <a:prstDash val="solid"/>
                <a:round/>
                <a:headEnd len="med" w="med" type="none"/>
                <a:tailEnd len="med" w="med" type="none"/>
              </a:ln>
            </p:spPr>
          </p:cxnSp>
          <p:sp>
            <p:nvSpPr>
              <p:cNvPr descr="Medium wood" id="433" name="Google Shape;433;p25"/>
              <p:cNvSpPr/>
              <p:nvPr/>
            </p:nvSpPr>
            <p:spPr>
              <a:xfrm>
                <a:off x="585" y="3303"/>
                <a:ext cx="384" cy="384"/>
              </a:xfrm>
              <a:prstGeom prst="rect">
                <a:avLst/>
              </a:prstGeom>
              <a:blipFill rotWithShape="1">
                <a:blip r:embed="rId5">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grpSp>
      <p:grpSp>
        <p:nvGrpSpPr>
          <p:cNvPr id="434" name="Google Shape;434;p25"/>
          <p:cNvGrpSpPr/>
          <p:nvPr/>
        </p:nvGrpSpPr>
        <p:grpSpPr>
          <a:xfrm>
            <a:off x="8567738" y="4014153"/>
            <a:ext cx="665162" cy="960437"/>
            <a:chOff x="2284" y="3024"/>
            <a:chExt cx="419" cy="605"/>
          </a:xfrm>
        </p:grpSpPr>
        <p:cxnSp>
          <p:nvCxnSpPr>
            <p:cNvPr id="435" name="Google Shape;435;p25"/>
            <p:cNvCxnSpPr/>
            <p:nvPr/>
          </p:nvCxnSpPr>
          <p:spPr>
            <a:xfrm>
              <a:off x="2285" y="3024"/>
              <a:ext cx="173" cy="0"/>
            </a:xfrm>
            <a:prstGeom prst="straightConnector1">
              <a:avLst/>
            </a:prstGeom>
            <a:noFill/>
            <a:ln cap="flat" cmpd="sng" w="9525">
              <a:solidFill>
                <a:srgbClr val="B2B2B2"/>
              </a:solidFill>
              <a:prstDash val="solid"/>
              <a:round/>
              <a:headEnd len="med" w="med" type="none"/>
              <a:tailEnd len="med" w="med" type="none"/>
            </a:ln>
          </p:spPr>
        </p:cxnSp>
        <p:cxnSp>
          <p:nvCxnSpPr>
            <p:cNvPr id="436" name="Google Shape;436;p25"/>
            <p:cNvCxnSpPr/>
            <p:nvPr/>
          </p:nvCxnSpPr>
          <p:spPr>
            <a:xfrm>
              <a:off x="2284" y="3629"/>
              <a:ext cx="173" cy="0"/>
            </a:xfrm>
            <a:prstGeom prst="straightConnector1">
              <a:avLst/>
            </a:prstGeom>
            <a:noFill/>
            <a:ln cap="flat" cmpd="sng" w="9525">
              <a:solidFill>
                <a:srgbClr val="B2B2B2"/>
              </a:solidFill>
              <a:prstDash val="solid"/>
              <a:round/>
              <a:headEnd len="med" w="med" type="none"/>
              <a:tailEnd len="med" w="med" type="none"/>
            </a:ln>
          </p:spPr>
        </p:cxnSp>
        <p:cxnSp>
          <p:nvCxnSpPr>
            <p:cNvPr id="437" name="Google Shape;437;p25"/>
            <p:cNvCxnSpPr/>
            <p:nvPr/>
          </p:nvCxnSpPr>
          <p:spPr>
            <a:xfrm>
              <a:off x="2371" y="3024"/>
              <a:ext cx="0" cy="605"/>
            </a:xfrm>
            <a:prstGeom prst="straightConnector1">
              <a:avLst/>
            </a:prstGeom>
            <a:noFill/>
            <a:ln cap="flat" cmpd="sng" w="57150">
              <a:solidFill>
                <a:schemeClr val="accent2"/>
              </a:solidFill>
              <a:prstDash val="solid"/>
              <a:round/>
              <a:headEnd len="med" w="med" type="none"/>
              <a:tailEnd len="med" w="med" type="stealth"/>
            </a:ln>
          </p:spPr>
        </p:cxnSp>
        <p:sp>
          <p:nvSpPr>
            <p:cNvPr id="438" name="Google Shape;438;p25"/>
            <p:cNvSpPr txBox="1"/>
            <p:nvPr/>
          </p:nvSpPr>
          <p:spPr>
            <a:xfrm>
              <a:off x="2371" y="3201"/>
              <a:ext cx="332"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2400"/>
                <a:buFont typeface="Arial"/>
                <a:buNone/>
              </a:pPr>
              <a:r>
                <a:rPr b="1" lang="en-US" sz="2400">
                  <a:solidFill>
                    <a:schemeClr val="accent2"/>
                  </a:solidFill>
                  <a:latin typeface="Arial"/>
                  <a:ea typeface="Arial"/>
                  <a:cs typeface="Arial"/>
                  <a:sym typeface="Arial"/>
                </a:rPr>
                <a:t>2x</a:t>
              </a:r>
              <a:endParaRPr/>
            </a:p>
          </p:txBody>
        </p:sp>
      </p:grpSp>
      <p:grpSp>
        <p:nvGrpSpPr>
          <p:cNvPr id="439" name="Google Shape;439;p25"/>
          <p:cNvGrpSpPr/>
          <p:nvPr/>
        </p:nvGrpSpPr>
        <p:grpSpPr>
          <a:xfrm>
            <a:off x="7843838" y="5166678"/>
            <a:ext cx="533400" cy="595312"/>
            <a:chOff x="1567" y="2870"/>
            <a:chExt cx="336" cy="375"/>
          </a:xfrm>
        </p:grpSpPr>
        <p:cxnSp>
          <p:nvCxnSpPr>
            <p:cNvPr id="440" name="Google Shape;440;p25"/>
            <p:cNvCxnSpPr/>
            <p:nvPr/>
          </p:nvCxnSpPr>
          <p:spPr>
            <a:xfrm>
              <a:off x="1730" y="2938"/>
              <a:ext cx="173" cy="0"/>
            </a:xfrm>
            <a:prstGeom prst="straightConnector1">
              <a:avLst/>
            </a:prstGeom>
            <a:noFill/>
            <a:ln cap="flat" cmpd="sng" w="9525">
              <a:solidFill>
                <a:srgbClr val="B2B2B2"/>
              </a:solidFill>
              <a:prstDash val="solid"/>
              <a:round/>
              <a:headEnd len="med" w="med" type="none"/>
              <a:tailEnd len="med" w="med" type="none"/>
            </a:ln>
          </p:spPr>
        </p:cxnSp>
        <p:cxnSp>
          <p:nvCxnSpPr>
            <p:cNvPr id="441" name="Google Shape;441;p25"/>
            <p:cNvCxnSpPr/>
            <p:nvPr/>
          </p:nvCxnSpPr>
          <p:spPr>
            <a:xfrm>
              <a:off x="1729" y="3245"/>
              <a:ext cx="173" cy="0"/>
            </a:xfrm>
            <a:prstGeom prst="straightConnector1">
              <a:avLst/>
            </a:prstGeom>
            <a:noFill/>
            <a:ln cap="flat" cmpd="sng" w="9525">
              <a:solidFill>
                <a:srgbClr val="B2B2B2"/>
              </a:solidFill>
              <a:prstDash val="solid"/>
              <a:round/>
              <a:headEnd len="med" w="med" type="none"/>
              <a:tailEnd len="med" w="med" type="none"/>
            </a:ln>
          </p:spPr>
        </p:cxnSp>
        <p:cxnSp>
          <p:nvCxnSpPr>
            <p:cNvPr id="442" name="Google Shape;442;p25"/>
            <p:cNvCxnSpPr/>
            <p:nvPr/>
          </p:nvCxnSpPr>
          <p:spPr>
            <a:xfrm>
              <a:off x="1816" y="2947"/>
              <a:ext cx="0" cy="298"/>
            </a:xfrm>
            <a:prstGeom prst="straightConnector1">
              <a:avLst/>
            </a:prstGeom>
            <a:noFill/>
            <a:ln cap="flat" cmpd="sng" w="57150">
              <a:solidFill>
                <a:schemeClr val="accent2"/>
              </a:solidFill>
              <a:prstDash val="solid"/>
              <a:round/>
              <a:headEnd len="med" w="med" type="stealth"/>
              <a:tailEnd len="med" w="med" type="none"/>
            </a:ln>
          </p:spPr>
        </p:cxnSp>
        <p:sp>
          <p:nvSpPr>
            <p:cNvPr id="443" name="Google Shape;443;p25"/>
            <p:cNvSpPr txBox="1"/>
            <p:nvPr/>
          </p:nvSpPr>
          <p:spPr>
            <a:xfrm>
              <a:off x="1567" y="2870"/>
              <a:ext cx="22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2400"/>
                <a:buFont typeface="Arial"/>
                <a:buNone/>
              </a:pPr>
              <a:r>
                <a:rPr b="1" lang="en-US" sz="2400">
                  <a:solidFill>
                    <a:schemeClr val="accent2"/>
                  </a:solidFill>
                  <a:latin typeface="Arial"/>
                  <a:ea typeface="Arial"/>
                  <a:cs typeface="Arial"/>
                  <a:sym typeface="Arial"/>
                </a:rPr>
                <a:t>x</a:t>
              </a:r>
              <a:endParaRPr/>
            </a:p>
          </p:txBody>
        </p:sp>
      </p:grpSp>
      <p:grpSp>
        <p:nvGrpSpPr>
          <p:cNvPr id="444" name="Google Shape;444;p25"/>
          <p:cNvGrpSpPr/>
          <p:nvPr/>
        </p:nvGrpSpPr>
        <p:grpSpPr>
          <a:xfrm>
            <a:off x="7602539" y="3055319"/>
            <a:ext cx="496888" cy="911229"/>
            <a:chOff x="690" y="2642"/>
            <a:chExt cx="313" cy="574"/>
          </a:xfrm>
        </p:grpSpPr>
        <p:cxnSp>
          <p:nvCxnSpPr>
            <p:cNvPr id="445" name="Google Shape;445;p25"/>
            <p:cNvCxnSpPr/>
            <p:nvPr/>
          </p:nvCxnSpPr>
          <p:spPr>
            <a:xfrm rot="10800000">
              <a:off x="864" y="2880"/>
              <a:ext cx="0" cy="336"/>
            </a:xfrm>
            <a:prstGeom prst="straightConnector1">
              <a:avLst/>
            </a:prstGeom>
            <a:noFill/>
            <a:ln cap="flat" cmpd="sng" w="57150">
              <a:solidFill>
                <a:srgbClr val="009900"/>
              </a:solidFill>
              <a:prstDash val="solid"/>
              <a:round/>
              <a:headEnd len="med" w="med" type="none"/>
              <a:tailEnd len="med" w="med" type="stealth"/>
            </a:ln>
          </p:spPr>
        </p:cxnSp>
        <p:sp>
          <p:nvSpPr>
            <p:cNvPr id="446" name="Google Shape;446;p25"/>
            <p:cNvSpPr txBox="1"/>
            <p:nvPr/>
          </p:nvSpPr>
          <p:spPr>
            <a:xfrm>
              <a:off x="690" y="2642"/>
              <a:ext cx="31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9900"/>
                </a:buClr>
                <a:buSzPts val="2400"/>
                <a:buFont typeface="Arial"/>
                <a:buNone/>
              </a:pPr>
              <a:r>
                <a:rPr b="1" lang="en-US" sz="2400">
                  <a:solidFill>
                    <a:srgbClr val="009900"/>
                  </a:solidFill>
                  <a:latin typeface="Arial"/>
                  <a:ea typeface="Arial"/>
                  <a:cs typeface="Arial"/>
                  <a:sym typeface="Arial"/>
                </a:rPr>
                <a:t>F</a:t>
              </a:r>
              <a:r>
                <a:rPr b="1" baseline="-25000" lang="en-US" sz="2400">
                  <a:solidFill>
                    <a:srgbClr val="009900"/>
                  </a:solidFill>
                  <a:latin typeface="Arial"/>
                  <a:ea typeface="Arial"/>
                  <a:cs typeface="Arial"/>
                  <a:sym typeface="Arial"/>
                </a:rPr>
                <a:t>T</a:t>
              </a:r>
              <a:endParaRPr/>
            </a:p>
          </p:txBody>
        </p:sp>
      </p:grpSp>
      <p:grpSp>
        <p:nvGrpSpPr>
          <p:cNvPr id="447" name="Google Shape;447;p25"/>
          <p:cNvGrpSpPr/>
          <p:nvPr/>
        </p:nvGrpSpPr>
        <p:grpSpPr>
          <a:xfrm>
            <a:off x="8455030" y="3120390"/>
            <a:ext cx="496888" cy="849313"/>
            <a:chOff x="825" y="2681"/>
            <a:chExt cx="313" cy="535"/>
          </a:xfrm>
        </p:grpSpPr>
        <p:cxnSp>
          <p:nvCxnSpPr>
            <p:cNvPr id="448" name="Google Shape;448;p25"/>
            <p:cNvCxnSpPr/>
            <p:nvPr/>
          </p:nvCxnSpPr>
          <p:spPr>
            <a:xfrm rot="10800000">
              <a:off x="864" y="2880"/>
              <a:ext cx="0" cy="336"/>
            </a:xfrm>
            <a:prstGeom prst="straightConnector1">
              <a:avLst/>
            </a:prstGeom>
            <a:noFill/>
            <a:ln cap="flat" cmpd="sng" w="57150">
              <a:solidFill>
                <a:srgbClr val="009900"/>
              </a:solidFill>
              <a:prstDash val="solid"/>
              <a:round/>
              <a:headEnd len="med" w="med" type="none"/>
              <a:tailEnd len="med" w="med" type="stealth"/>
            </a:ln>
          </p:spPr>
        </p:cxnSp>
        <p:sp>
          <p:nvSpPr>
            <p:cNvPr id="449" name="Google Shape;449;p25"/>
            <p:cNvSpPr txBox="1"/>
            <p:nvPr/>
          </p:nvSpPr>
          <p:spPr>
            <a:xfrm>
              <a:off x="825" y="2681"/>
              <a:ext cx="31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9900"/>
                </a:buClr>
                <a:buSzPts val="2400"/>
                <a:buFont typeface="Arial"/>
                <a:buNone/>
              </a:pPr>
              <a:r>
                <a:rPr b="1" lang="en-US" sz="2400">
                  <a:solidFill>
                    <a:srgbClr val="009900"/>
                  </a:solidFill>
                  <a:latin typeface="Arial"/>
                  <a:ea typeface="Arial"/>
                  <a:cs typeface="Arial"/>
                  <a:sym typeface="Arial"/>
                </a:rPr>
                <a:t>F</a:t>
              </a:r>
              <a:r>
                <a:rPr b="1" baseline="-25000" lang="en-US" sz="2400">
                  <a:solidFill>
                    <a:srgbClr val="009900"/>
                  </a:solidFill>
                  <a:latin typeface="Arial"/>
                  <a:ea typeface="Arial"/>
                  <a:cs typeface="Arial"/>
                  <a:sym typeface="Arial"/>
                </a:rPr>
                <a:t>T</a:t>
              </a:r>
              <a:endParaRPr/>
            </a:p>
          </p:txBody>
        </p:sp>
      </p:grpSp>
      <p:grpSp>
        <p:nvGrpSpPr>
          <p:cNvPr id="450" name="Google Shape;450;p25"/>
          <p:cNvGrpSpPr/>
          <p:nvPr/>
        </p:nvGrpSpPr>
        <p:grpSpPr>
          <a:xfrm>
            <a:off x="7530542" y="49428"/>
            <a:ext cx="1576387" cy="1912938"/>
            <a:chOff x="4767" y="0"/>
            <a:chExt cx="993" cy="1205"/>
          </a:xfrm>
        </p:grpSpPr>
        <p:sp>
          <p:nvSpPr>
            <p:cNvPr id="451" name="Google Shape;451;p25"/>
            <p:cNvSpPr/>
            <p:nvPr/>
          </p:nvSpPr>
          <p:spPr>
            <a:xfrm>
              <a:off x="4767" y="0"/>
              <a:ext cx="993" cy="1205"/>
            </a:xfrm>
            <a:prstGeom prst="rect">
              <a:avLst/>
            </a:prstGeom>
            <a:solidFill>
              <a:schemeClr val="accent1"/>
            </a:solidFill>
            <a:ln cap="flat" cmpd="sng" w="9525">
              <a:solidFill>
                <a:schemeClr val="dk1"/>
              </a:solidFill>
              <a:prstDash val="solid"/>
              <a:miter lim="800000"/>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452" name="Google Shape;452;p25"/>
            <p:cNvSpPr txBox="1"/>
            <p:nvPr/>
          </p:nvSpPr>
          <p:spPr>
            <a:xfrm>
              <a:off x="4780" y="19"/>
              <a:ext cx="880" cy="252"/>
            </a:xfrm>
            <a:prstGeom prst="rect">
              <a:avLst/>
            </a:prstGeom>
            <a:noFill/>
            <a:ln>
              <a:noFill/>
            </a:ln>
            <a:effectLst>
              <a:outerShdw blurRad="50800" rotWithShape="0" algn="tr" dir="8100000"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FBD Crate</a:t>
              </a:r>
              <a:endParaRPr/>
            </a:p>
          </p:txBody>
        </p:sp>
      </p:grpSp>
      <p:grpSp>
        <p:nvGrpSpPr>
          <p:cNvPr id="453" name="Google Shape;453;p25"/>
          <p:cNvGrpSpPr/>
          <p:nvPr/>
        </p:nvGrpSpPr>
        <p:grpSpPr>
          <a:xfrm>
            <a:off x="7972421" y="325438"/>
            <a:ext cx="496888" cy="798512"/>
            <a:chOff x="532" y="2705"/>
            <a:chExt cx="313" cy="503"/>
          </a:xfrm>
        </p:grpSpPr>
        <p:cxnSp>
          <p:nvCxnSpPr>
            <p:cNvPr id="454" name="Google Shape;454;p25"/>
            <p:cNvCxnSpPr/>
            <p:nvPr/>
          </p:nvCxnSpPr>
          <p:spPr>
            <a:xfrm rot="10800000">
              <a:off x="824" y="2872"/>
              <a:ext cx="0" cy="336"/>
            </a:xfrm>
            <a:prstGeom prst="straightConnector1">
              <a:avLst/>
            </a:prstGeom>
            <a:noFill/>
            <a:ln cap="flat" cmpd="sng" w="57150">
              <a:solidFill>
                <a:srgbClr val="009900"/>
              </a:solidFill>
              <a:prstDash val="solid"/>
              <a:round/>
              <a:headEnd len="med" w="med" type="none"/>
              <a:tailEnd len="med" w="med" type="stealth"/>
            </a:ln>
          </p:spPr>
        </p:cxnSp>
        <p:sp>
          <p:nvSpPr>
            <p:cNvPr id="455" name="Google Shape;455;p25"/>
            <p:cNvSpPr txBox="1"/>
            <p:nvPr/>
          </p:nvSpPr>
          <p:spPr>
            <a:xfrm>
              <a:off x="532" y="2705"/>
              <a:ext cx="31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9900"/>
                  </a:solidFill>
                  <a:latin typeface="Arial"/>
                  <a:ea typeface="Arial"/>
                  <a:cs typeface="Arial"/>
                  <a:sym typeface="Arial"/>
                </a:rPr>
                <a:t>F</a:t>
              </a:r>
              <a:r>
                <a:rPr b="1" baseline="-25000" lang="en-US" sz="2400">
                  <a:solidFill>
                    <a:srgbClr val="009900"/>
                  </a:solidFill>
                  <a:latin typeface="Arial"/>
                  <a:ea typeface="Arial"/>
                  <a:cs typeface="Arial"/>
                  <a:sym typeface="Arial"/>
                </a:rPr>
                <a:t>T</a:t>
              </a:r>
              <a:endParaRPr/>
            </a:p>
          </p:txBody>
        </p:sp>
      </p:grpSp>
      <p:grpSp>
        <p:nvGrpSpPr>
          <p:cNvPr id="456" name="Google Shape;456;p25"/>
          <p:cNvGrpSpPr/>
          <p:nvPr/>
        </p:nvGrpSpPr>
        <p:grpSpPr>
          <a:xfrm>
            <a:off x="8234363" y="1152525"/>
            <a:ext cx="698500" cy="879475"/>
            <a:chOff x="636" y="3226"/>
            <a:chExt cx="440" cy="554"/>
          </a:xfrm>
        </p:grpSpPr>
        <p:cxnSp>
          <p:nvCxnSpPr>
            <p:cNvPr id="457" name="Google Shape;457;p25"/>
            <p:cNvCxnSpPr/>
            <p:nvPr/>
          </p:nvCxnSpPr>
          <p:spPr>
            <a:xfrm>
              <a:off x="864" y="3226"/>
              <a:ext cx="0" cy="316"/>
            </a:xfrm>
            <a:prstGeom prst="straightConnector1">
              <a:avLst/>
            </a:prstGeom>
            <a:noFill/>
            <a:ln cap="flat" cmpd="sng" w="57150">
              <a:solidFill>
                <a:schemeClr val="dk1"/>
              </a:solidFill>
              <a:prstDash val="solid"/>
              <a:round/>
              <a:headEnd len="med" w="med" type="none"/>
              <a:tailEnd len="med" w="med" type="stealth"/>
            </a:ln>
          </p:spPr>
        </p:cxnSp>
        <p:sp>
          <p:nvSpPr>
            <p:cNvPr id="458" name="Google Shape;458;p25"/>
            <p:cNvSpPr txBox="1"/>
            <p:nvPr/>
          </p:nvSpPr>
          <p:spPr>
            <a:xfrm>
              <a:off x="636" y="3489"/>
              <a:ext cx="440"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100</a:t>
              </a:r>
              <a:endParaRPr/>
            </a:p>
          </p:txBody>
        </p:sp>
      </p:grpSp>
      <p:sp>
        <p:nvSpPr>
          <p:cNvPr id="459" name="Google Shape;459;p25"/>
          <p:cNvSpPr txBox="1"/>
          <p:nvPr/>
        </p:nvSpPr>
        <p:spPr>
          <a:xfrm>
            <a:off x="7575550" y="944563"/>
            <a:ext cx="876300"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0</a:t>
            </a:r>
            <a:endParaRPr b="1" sz="2400">
              <a:solidFill>
                <a:schemeClr val="dk1"/>
              </a:solidFill>
              <a:latin typeface="Arial"/>
              <a:ea typeface="Arial"/>
              <a:cs typeface="Arial"/>
              <a:sym typeface="Arial"/>
            </a:endParaRPr>
          </a:p>
        </p:txBody>
      </p:sp>
      <p:sp>
        <p:nvSpPr>
          <p:cNvPr id="460" name="Google Shape;460;p25"/>
          <p:cNvSpPr/>
          <p:nvPr/>
        </p:nvSpPr>
        <p:spPr>
          <a:xfrm>
            <a:off x="8542338" y="1074738"/>
            <a:ext cx="120650" cy="120650"/>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461" name="Google Shape;461;p25"/>
          <p:cNvGrpSpPr/>
          <p:nvPr/>
        </p:nvGrpSpPr>
        <p:grpSpPr>
          <a:xfrm>
            <a:off x="8688390" y="328613"/>
            <a:ext cx="496888" cy="798512"/>
            <a:chOff x="823" y="2713"/>
            <a:chExt cx="313" cy="503"/>
          </a:xfrm>
        </p:grpSpPr>
        <p:cxnSp>
          <p:nvCxnSpPr>
            <p:cNvPr id="462" name="Google Shape;462;p25"/>
            <p:cNvCxnSpPr/>
            <p:nvPr/>
          </p:nvCxnSpPr>
          <p:spPr>
            <a:xfrm rot="10800000">
              <a:off x="864" y="2880"/>
              <a:ext cx="0" cy="336"/>
            </a:xfrm>
            <a:prstGeom prst="straightConnector1">
              <a:avLst/>
            </a:prstGeom>
            <a:noFill/>
            <a:ln cap="flat" cmpd="sng" w="57150">
              <a:solidFill>
                <a:srgbClr val="009900"/>
              </a:solidFill>
              <a:prstDash val="solid"/>
              <a:round/>
              <a:headEnd len="med" w="med" type="none"/>
              <a:tailEnd len="med" w="med" type="stealth"/>
            </a:ln>
          </p:spPr>
        </p:cxnSp>
        <p:sp>
          <p:nvSpPr>
            <p:cNvPr id="463" name="Google Shape;463;p25"/>
            <p:cNvSpPr txBox="1"/>
            <p:nvPr/>
          </p:nvSpPr>
          <p:spPr>
            <a:xfrm>
              <a:off x="823" y="2713"/>
              <a:ext cx="31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9900"/>
                  </a:solidFill>
                  <a:latin typeface="Arial"/>
                  <a:ea typeface="Arial"/>
                  <a:cs typeface="Arial"/>
                  <a:sym typeface="Arial"/>
                </a:rPr>
                <a:t>F</a:t>
              </a:r>
              <a:r>
                <a:rPr b="1" baseline="-25000" lang="en-US" sz="2400">
                  <a:solidFill>
                    <a:srgbClr val="009900"/>
                  </a:solidFill>
                  <a:latin typeface="Arial"/>
                  <a:ea typeface="Arial"/>
                  <a:cs typeface="Arial"/>
                  <a:sym typeface="Arial"/>
                </a:rPr>
                <a:t>T</a:t>
              </a:r>
              <a:endParaRPr/>
            </a:p>
          </p:txBody>
        </p:sp>
      </p:grpSp>
      <p:sp>
        <p:nvSpPr>
          <p:cNvPr id="464" name="Google Shape;464;p25"/>
          <p:cNvSpPr txBox="1"/>
          <p:nvPr/>
        </p:nvSpPr>
        <p:spPr>
          <a:xfrm>
            <a:off x="2220278" y="6025515"/>
            <a:ext cx="5623560" cy="46166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400">
                <a:solidFill>
                  <a:schemeClr val="accent2"/>
                </a:solidFill>
                <a:latin typeface="Arial"/>
                <a:ea typeface="Arial"/>
                <a:cs typeface="Arial"/>
                <a:sym typeface="Arial"/>
              </a:rPr>
              <a:t>M.A. = </a:t>
            </a:r>
            <a:r>
              <a:rPr i="1" lang="en-US" sz="2400">
                <a:solidFill>
                  <a:schemeClr val="accent2"/>
                </a:solidFill>
                <a:latin typeface="Arial"/>
                <a:ea typeface="Arial"/>
                <a:cs typeface="Arial"/>
                <a:sym typeface="Arial"/>
              </a:rPr>
              <a:t>F</a:t>
            </a:r>
            <a:r>
              <a:rPr baseline="-25000" lang="en-US" sz="2400">
                <a:solidFill>
                  <a:schemeClr val="accent2"/>
                </a:solidFill>
                <a:latin typeface="Arial"/>
                <a:ea typeface="Arial"/>
                <a:cs typeface="Arial"/>
                <a:sym typeface="Arial"/>
              </a:rPr>
              <a:t>out </a:t>
            </a:r>
            <a:r>
              <a:rPr lang="en-US" sz="2400">
                <a:solidFill>
                  <a:schemeClr val="accent2"/>
                </a:solidFill>
                <a:latin typeface="Arial"/>
                <a:ea typeface="Arial"/>
                <a:cs typeface="Arial"/>
                <a:sym typeface="Arial"/>
              </a:rPr>
              <a:t>/ </a:t>
            </a:r>
            <a:r>
              <a:rPr i="1" lang="en-US" sz="2400">
                <a:solidFill>
                  <a:schemeClr val="accent2"/>
                </a:solidFill>
                <a:latin typeface="Arial"/>
                <a:ea typeface="Arial"/>
                <a:cs typeface="Arial"/>
                <a:sym typeface="Arial"/>
              </a:rPr>
              <a:t>F</a:t>
            </a:r>
            <a:r>
              <a:rPr baseline="-25000" lang="en-US" sz="2400">
                <a:solidFill>
                  <a:schemeClr val="accent2"/>
                </a:solidFill>
                <a:latin typeface="Arial"/>
                <a:ea typeface="Arial"/>
                <a:cs typeface="Arial"/>
                <a:sym typeface="Arial"/>
              </a:rPr>
              <a:t>in</a:t>
            </a:r>
            <a:r>
              <a:rPr lang="en-US" sz="2400">
                <a:solidFill>
                  <a:schemeClr val="accent2"/>
                </a:solidFill>
                <a:latin typeface="Arial"/>
                <a:ea typeface="Arial"/>
                <a:cs typeface="Arial"/>
                <a:sym typeface="Arial"/>
              </a:rPr>
              <a:t> </a:t>
            </a:r>
            <a:r>
              <a:rPr lang="en-US" sz="2400">
                <a:solidFill>
                  <a:schemeClr val="dk1"/>
                </a:solidFill>
                <a:latin typeface="Arial"/>
                <a:ea typeface="Arial"/>
                <a:cs typeface="Arial"/>
                <a:sym typeface="Arial"/>
              </a:rPr>
              <a:t>= 100 / 50 = 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6">
                                            <p:txEl>
                                              <p:pRg end="0" st="0"/>
                                            </p:txEl>
                                          </p:spTgt>
                                        </p:tgtEl>
                                        <p:attrNameLst>
                                          <p:attrName>style.visibility</p:attrName>
                                        </p:attrNameLst>
                                      </p:cBhvr>
                                      <p:to>
                                        <p:strVal val="visible"/>
                                      </p:to>
                                    </p:set>
                                    <p:anim calcmode="lin" valueType="num">
                                      <p:cBhvr additive="base">
                                        <p:cTn dur="500"/>
                                        <p:tgtEl>
                                          <p:spTgt spid="37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6">
                                            <p:txEl>
                                              <p:pRg end="1" st="1"/>
                                            </p:txEl>
                                          </p:spTgt>
                                        </p:tgtEl>
                                        <p:attrNameLst>
                                          <p:attrName>style.visibility</p:attrName>
                                        </p:attrNameLst>
                                      </p:cBhvr>
                                      <p:to>
                                        <p:strVal val="visible"/>
                                      </p:to>
                                    </p:set>
                                    <p:anim calcmode="lin" valueType="num">
                                      <p:cBhvr additive="base">
                                        <p:cTn dur="500"/>
                                        <p:tgtEl>
                                          <p:spTgt spid="37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6">
                                            <p:txEl>
                                              <p:pRg end="2" st="2"/>
                                            </p:txEl>
                                          </p:spTgt>
                                        </p:tgtEl>
                                        <p:attrNameLst>
                                          <p:attrName>style.visibility</p:attrName>
                                        </p:attrNameLst>
                                      </p:cBhvr>
                                      <p:to>
                                        <p:strVal val="visible"/>
                                      </p:to>
                                    </p:set>
                                    <p:anim calcmode="lin" valueType="num">
                                      <p:cBhvr additive="base">
                                        <p:cTn dur="500"/>
                                        <p:tgtEl>
                                          <p:spTgt spid="37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6">
                                            <p:txEl>
                                              <p:pRg end="3" st="3"/>
                                            </p:txEl>
                                          </p:spTgt>
                                        </p:tgtEl>
                                        <p:attrNameLst>
                                          <p:attrName>style.visibility</p:attrName>
                                        </p:attrNameLst>
                                      </p:cBhvr>
                                      <p:to>
                                        <p:strVal val="visible"/>
                                      </p:to>
                                    </p:set>
                                    <p:anim calcmode="lin" valueType="num">
                                      <p:cBhvr additive="base">
                                        <p:cTn dur="500"/>
                                        <p:tgtEl>
                                          <p:spTgt spid="37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6">
                                            <p:txEl>
                                              <p:pRg end="4" st="4"/>
                                            </p:txEl>
                                          </p:spTgt>
                                        </p:tgtEl>
                                        <p:attrNameLst>
                                          <p:attrName>style.visibility</p:attrName>
                                        </p:attrNameLst>
                                      </p:cBhvr>
                                      <p:to>
                                        <p:strVal val="visible"/>
                                      </p:to>
                                    </p:set>
                                    <p:anim calcmode="lin" valueType="num">
                                      <p:cBhvr additive="base">
                                        <p:cTn dur="500"/>
                                        <p:tgtEl>
                                          <p:spTgt spid="37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6">
                                            <p:txEl>
                                              <p:pRg end="5" st="5"/>
                                            </p:txEl>
                                          </p:spTgt>
                                        </p:tgtEl>
                                        <p:attrNameLst>
                                          <p:attrName>style.visibility</p:attrName>
                                        </p:attrNameLst>
                                      </p:cBhvr>
                                      <p:to>
                                        <p:strVal val="visible"/>
                                      </p:to>
                                    </p:set>
                                    <p:anim calcmode="lin" valueType="num">
                                      <p:cBhvr additive="base">
                                        <p:cTn dur="500"/>
                                        <p:tgtEl>
                                          <p:spTgt spid="37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2000"/>
                                        <p:tgtEl>
                                          <p:spTgt spid="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2"/>
                                        </p:tgtEl>
                                      </p:cBhvr>
                                    </p:animEffect>
                                    <p:set>
                                      <p:cBhvr>
                                        <p:cTn dur="1" fill="hold">
                                          <p:stCondLst>
                                            <p:cond delay="500"/>
                                          </p:stCondLst>
                                        </p:cTn>
                                        <p:tgtEl>
                                          <p:spTgt spid="39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06"/>
                                        </p:tgtEl>
                                      </p:cBhvr>
                                    </p:animEffect>
                                    <p:set>
                                      <p:cBhvr>
                                        <p:cTn dur="1" fill="hold">
                                          <p:stCondLst>
                                            <p:cond delay="500"/>
                                          </p:stCondLst>
                                        </p:cTn>
                                        <p:tgtEl>
                                          <p:spTgt spid="40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500"/>
                                        <p:tgtEl>
                                          <p:spTgt spid="434"/>
                                        </p:tgtEl>
                                      </p:cBhvr>
                                    </p:animEffect>
                                  </p:childTnLst>
                                </p:cTn>
                              </p:par>
                              <p:par>
                                <p:cTn fill="hold" nodeType="with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500"/>
                                        <p:tgtEl>
                                          <p:spTgt spid="4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50"/>
                                        </p:tgtEl>
                                        <p:attrNameLst>
                                          <p:attrName>style.visibility</p:attrName>
                                        </p:attrNameLst>
                                      </p:cBhvr>
                                      <p:to>
                                        <p:strVal val="visible"/>
                                      </p:to>
                                    </p:set>
                                    <p:anim calcmode="lin" valueType="num">
                                      <p:cBhvr additive="base">
                                        <p:cTn dur="500"/>
                                        <p:tgtEl>
                                          <p:spTgt spid="450"/>
                                        </p:tgtEl>
                                        <p:attrNameLst>
                                          <p:attrName>ppt_w</p:attrName>
                                        </p:attrNameLst>
                                      </p:cBhvr>
                                      <p:tavLst>
                                        <p:tav fmla="" tm="0">
                                          <p:val>
                                            <p:strVal val="0"/>
                                          </p:val>
                                        </p:tav>
                                        <p:tav fmla="" tm="100000">
                                          <p:val>
                                            <p:strVal val="#ppt_w"/>
                                          </p:val>
                                        </p:tav>
                                      </p:tavLst>
                                    </p:anim>
                                    <p:anim calcmode="lin" valueType="num">
                                      <p:cBhvr additive="base">
                                        <p:cTn dur="500"/>
                                        <p:tgtEl>
                                          <p:spTgt spid="45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60"/>
                                        </p:tgtEl>
                                        <p:attrNameLst>
                                          <p:attrName>style.visibility</p:attrName>
                                        </p:attrNameLst>
                                      </p:cBhvr>
                                      <p:to>
                                        <p:strVal val="visible"/>
                                      </p:to>
                                    </p:set>
                                    <p:anim calcmode="lin" valueType="num">
                                      <p:cBhvr additive="base">
                                        <p:cTn dur="500"/>
                                        <p:tgtEl>
                                          <p:spTgt spid="460"/>
                                        </p:tgtEl>
                                        <p:attrNameLst>
                                          <p:attrName>ppt_w</p:attrName>
                                        </p:attrNameLst>
                                      </p:cBhvr>
                                      <p:tavLst>
                                        <p:tav fmla="" tm="0">
                                          <p:val>
                                            <p:strVal val="0"/>
                                          </p:val>
                                        </p:tav>
                                        <p:tav fmla="" tm="100000">
                                          <p:val>
                                            <p:strVal val="#ppt_w"/>
                                          </p:val>
                                        </p:tav>
                                      </p:tavLst>
                                    </p:anim>
                                    <p:anim calcmode="lin" valueType="num">
                                      <p:cBhvr additive="base">
                                        <p:cTn dur="500"/>
                                        <p:tgtEl>
                                          <p:spTgt spid="46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500"/>
                                        <p:tgtEl>
                                          <p:spTgt spid="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500"/>
                                        <p:tgtEl>
                                          <p:spTgt spid="4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500"/>
                                        <p:tgtEl>
                                          <p:spTgt spid="4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500"/>
                                        <p:tgtEl>
                                          <p:spTgt spid="4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4"/>
                                        </p:tgtEl>
                                        <p:attrNameLst>
                                          <p:attrName>style.visibility</p:attrName>
                                        </p:attrNameLst>
                                      </p:cBhvr>
                                      <p:to>
                                        <p:strVal val="visible"/>
                                      </p:to>
                                    </p:set>
                                    <p:anim calcmode="lin" valueType="num">
                                      <p:cBhvr additive="base">
                                        <p:cTn dur="500"/>
                                        <p:tgtEl>
                                          <p:spTgt spid="46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26"/>
          <p:cNvSpPr/>
          <p:nvPr/>
        </p:nvSpPr>
        <p:spPr>
          <a:xfrm>
            <a:off x="685800" y="1549400"/>
            <a:ext cx="7772400" cy="46228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Sketching and interpreting force – distance graphs </a:t>
            </a:r>
            <a:r>
              <a:rPr lang="en-US" sz="2000">
                <a:solidFill>
                  <a:schemeClr val="dk1"/>
                </a:solidFill>
                <a:latin typeface="Courier New"/>
                <a:ea typeface="Courier New"/>
                <a:cs typeface="Courier New"/>
                <a:sym typeface="Courier New"/>
              </a:rPr>
              <a:t>	</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∙Consider a spring mounted to a wall as shown.</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∙If we pull the spring to the right, it resists in direct proportion to the distance it is stretched.</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∙If we push to the left, it does the same thing.</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∙It turns out that the spring force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is given by</a:t>
            </a:r>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∙The minus sign gives the force the correct direction, namely, opposite the direction of the displacement x.</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∙Since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is in (N) and </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is in (m), the units for the </a:t>
            </a:r>
            <a:r>
              <a:rPr b="1" lang="en-US" sz="2400">
                <a:solidFill>
                  <a:schemeClr val="dk1"/>
                </a:solidFill>
                <a:latin typeface="Arial"/>
                <a:ea typeface="Arial"/>
                <a:cs typeface="Arial"/>
                <a:sym typeface="Arial"/>
              </a:rPr>
              <a:t>spring constant</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are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m</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a:p>
        </p:txBody>
      </p:sp>
      <p:sp>
        <p:nvSpPr>
          <p:cNvPr id="471" name="Google Shape;471;p26"/>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472" name="Google Shape;472;p26"/>
          <p:cNvSpPr/>
          <p:nvPr/>
        </p:nvSpPr>
        <p:spPr>
          <a:xfrm>
            <a:off x="5443538" y="246063"/>
            <a:ext cx="1676400" cy="533400"/>
          </a:xfrm>
          <a:custGeom>
            <a:rect b="b" l="l" r="r" t="t"/>
            <a:pathLst>
              <a:path extrusionOk="0" h="336" w="1056">
                <a:moveTo>
                  <a:pt x="0" y="168"/>
                </a:moveTo>
                <a:cubicBezTo>
                  <a:pt x="32" y="180"/>
                  <a:pt x="64" y="192"/>
                  <a:pt x="96" y="168"/>
                </a:cubicBezTo>
                <a:cubicBezTo>
                  <a:pt x="128" y="144"/>
                  <a:pt x="160" y="0"/>
                  <a:pt x="192" y="24"/>
                </a:cubicBezTo>
                <a:cubicBezTo>
                  <a:pt x="224" y="48"/>
                  <a:pt x="256" y="312"/>
                  <a:pt x="288" y="312"/>
                </a:cubicBezTo>
                <a:cubicBezTo>
                  <a:pt x="320" y="312"/>
                  <a:pt x="352" y="24"/>
                  <a:pt x="384" y="24"/>
                </a:cubicBezTo>
                <a:cubicBezTo>
                  <a:pt x="416" y="24"/>
                  <a:pt x="448" y="312"/>
                  <a:pt x="480" y="312"/>
                </a:cubicBezTo>
                <a:cubicBezTo>
                  <a:pt x="512" y="312"/>
                  <a:pt x="544" y="24"/>
                  <a:pt x="576" y="24"/>
                </a:cubicBezTo>
                <a:cubicBezTo>
                  <a:pt x="608" y="24"/>
                  <a:pt x="640" y="312"/>
                  <a:pt x="672" y="312"/>
                </a:cubicBezTo>
                <a:cubicBezTo>
                  <a:pt x="704" y="312"/>
                  <a:pt x="736" y="24"/>
                  <a:pt x="768" y="24"/>
                </a:cubicBezTo>
                <a:cubicBezTo>
                  <a:pt x="800" y="24"/>
                  <a:pt x="832" y="288"/>
                  <a:pt x="864" y="312"/>
                </a:cubicBezTo>
                <a:cubicBezTo>
                  <a:pt x="896" y="336"/>
                  <a:pt x="928" y="192"/>
                  <a:pt x="960" y="168"/>
                </a:cubicBezTo>
                <a:cubicBezTo>
                  <a:pt x="992" y="144"/>
                  <a:pt x="1024" y="156"/>
                  <a:pt x="1056" y="168"/>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473" name="Google Shape;473;p26"/>
          <p:cNvGrpSpPr/>
          <p:nvPr/>
        </p:nvGrpSpPr>
        <p:grpSpPr>
          <a:xfrm flipH="1">
            <a:off x="5291138" y="246063"/>
            <a:ext cx="3124200" cy="685800"/>
            <a:chOff x="1056" y="2400"/>
            <a:chExt cx="1968" cy="432"/>
          </a:xfrm>
        </p:grpSpPr>
        <p:sp>
          <p:nvSpPr>
            <p:cNvPr descr="Light upward diagonal" id="474" name="Google Shape;474;p26"/>
            <p:cNvSpPr/>
            <p:nvPr/>
          </p:nvSpPr>
          <p:spPr>
            <a:xfrm>
              <a:off x="1056" y="2400"/>
              <a:ext cx="1968" cy="432"/>
            </a:xfrm>
            <a:custGeom>
              <a:rect b="b" l="l" r="r" t="t"/>
              <a:pathLst>
                <a:path extrusionOk="0" h="432" w="1968">
                  <a:moveTo>
                    <a:pt x="0" y="432"/>
                  </a:moveTo>
                  <a:lnTo>
                    <a:pt x="0" y="336"/>
                  </a:lnTo>
                  <a:lnTo>
                    <a:pt x="1872" y="336"/>
                  </a:lnTo>
                  <a:lnTo>
                    <a:pt x="1872" y="0"/>
                  </a:lnTo>
                  <a:lnTo>
                    <a:pt x="1968" y="0"/>
                  </a:lnTo>
                  <a:lnTo>
                    <a:pt x="1968" y="432"/>
                  </a:lnTo>
                  <a:lnTo>
                    <a:pt x="0" y="432"/>
                  </a:lnTo>
                  <a:close/>
                </a:path>
              </a:pathLst>
            </a:custGeom>
            <a:solidFill>
              <a:srgbClr val="FFCC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75" name="Google Shape;475;p26"/>
            <p:cNvSpPr/>
            <p:nvPr/>
          </p:nvSpPr>
          <p:spPr>
            <a:xfrm>
              <a:off x="1056" y="2400"/>
              <a:ext cx="1872" cy="336"/>
            </a:xfrm>
            <a:custGeom>
              <a:rect b="b" l="l" r="r" t="t"/>
              <a:pathLst>
                <a:path extrusionOk="0" h="336" w="1872">
                  <a:moveTo>
                    <a:pt x="0" y="336"/>
                  </a:moveTo>
                  <a:lnTo>
                    <a:pt x="1872" y="336"/>
                  </a:lnTo>
                  <a:lnTo>
                    <a:pt x="1872"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476" name="Google Shape;476;p26"/>
          <p:cNvSpPr/>
          <p:nvPr/>
        </p:nvSpPr>
        <p:spPr>
          <a:xfrm>
            <a:off x="7119938" y="246063"/>
            <a:ext cx="609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pic>
        <p:nvPicPr>
          <p:cNvPr descr="bd05378_[1]" id="477" name="Google Shape;477;p26"/>
          <p:cNvPicPr preferRelativeResize="0"/>
          <p:nvPr/>
        </p:nvPicPr>
        <p:blipFill rotWithShape="1">
          <a:blip r:embed="rId3">
            <a:alphaModFix/>
          </a:blip>
          <a:srcRect b="0" l="0" r="0" t="0"/>
          <a:stretch/>
        </p:blipFill>
        <p:spPr>
          <a:xfrm>
            <a:off x="7308850" y="220663"/>
            <a:ext cx="839788" cy="509587"/>
          </a:xfrm>
          <a:prstGeom prst="rect">
            <a:avLst/>
          </a:prstGeom>
          <a:noFill/>
          <a:ln>
            <a:noFill/>
          </a:ln>
        </p:spPr>
      </p:pic>
      <p:grpSp>
        <p:nvGrpSpPr>
          <p:cNvPr id="478" name="Google Shape;478;p26"/>
          <p:cNvGrpSpPr/>
          <p:nvPr/>
        </p:nvGrpSpPr>
        <p:grpSpPr>
          <a:xfrm>
            <a:off x="5443538" y="222250"/>
            <a:ext cx="3009900" cy="558800"/>
            <a:chOff x="1944" y="3456"/>
            <a:chExt cx="1896" cy="352"/>
          </a:xfrm>
        </p:grpSpPr>
        <p:sp>
          <p:nvSpPr>
            <p:cNvPr id="479" name="Google Shape;479;p26"/>
            <p:cNvSpPr/>
            <p:nvPr/>
          </p:nvSpPr>
          <p:spPr>
            <a:xfrm>
              <a:off x="1944" y="3472"/>
              <a:ext cx="1248" cy="336"/>
            </a:xfrm>
            <a:custGeom>
              <a:rect b="b" l="l" r="r" t="t"/>
              <a:pathLst>
                <a:path extrusionOk="0" h="336" w="1056">
                  <a:moveTo>
                    <a:pt x="0" y="168"/>
                  </a:moveTo>
                  <a:cubicBezTo>
                    <a:pt x="32" y="180"/>
                    <a:pt x="64" y="192"/>
                    <a:pt x="96" y="168"/>
                  </a:cubicBezTo>
                  <a:cubicBezTo>
                    <a:pt x="128" y="144"/>
                    <a:pt x="160" y="0"/>
                    <a:pt x="192" y="24"/>
                  </a:cubicBezTo>
                  <a:cubicBezTo>
                    <a:pt x="224" y="48"/>
                    <a:pt x="256" y="312"/>
                    <a:pt x="288" y="312"/>
                  </a:cubicBezTo>
                  <a:cubicBezTo>
                    <a:pt x="320" y="312"/>
                    <a:pt x="352" y="24"/>
                    <a:pt x="384" y="24"/>
                  </a:cubicBezTo>
                  <a:cubicBezTo>
                    <a:pt x="416" y="24"/>
                    <a:pt x="448" y="312"/>
                    <a:pt x="480" y="312"/>
                  </a:cubicBezTo>
                  <a:cubicBezTo>
                    <a:pt x="512" y="312"/>
                    <a:pt x="544" y="24"/>
                    <a:pt x="576" y="24"/>
                  </a:cubicBezTo>
                  <a:cubicBezTo>
                    <a:pt x="608" y="24"/>
                    <a:pt x="640" y="312"/>
                    <a:pt x="672" y="312"/>
                  </a:cubicBezTo>
                  <a:cubicBezTo>
                    <a:pt x="704" y="312"/>
                    <a:pt x="736" y="24"/>
                    <a:pt x="768" y="24"/>
                  </a:cubicBezTo>
                  <a:cubicBezTo>
                    <a:pt x="800" y="24"/>
                    <a:pt x="832" y="288"/>
                    <a:pt x="864" y="312"/>
                  </a:cubicBezTo>
                  <a:cubicBezTo>
                    <a:pt x="896" y="336"/>
                    <a:pt x="928" y="192"/>
                    <a:pt x="960" y="168"/>
                  </a:cubicBezTo>
                  <a:cubicBezTo>
                    <a:pt x="992" y="144"/>
                    <a:pt x="1024" y="156"/>
                    <a:pt x="1056" y="168"/>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80" name="Google Shape;480;p26"/>
            <p:cNvSpPr/>
            <p:nvPr/>
          </p:nvSpPr>
          <p:spPr>
            <a:xfrm>
              <a:off x="3192" y="3472"/>
              <a:ext cx="384" cy="33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pic>
          <p:nvPicPr>
            <p:cNvPr descr="bd05378_[1]" id="481" name="Google Shape;481;p26"/>
            <p:cNvPicPr preferRelativeResize="0"/>
            <p:nvPr/>
          </p:nvPicPr>
          <p:blipFill rotWithShape="1">
            <a:blip r:embed="rId3">
              <a:alphaModFix/>
            </a:blip>
            <a:srcRect b="0" l="0" r="0" t="0"/>
            <a:stretch/>
          </p:blipFill>
          <p:spPr>
            <a:xfrm>
              <a:off x="3311" y="3456"/>
              <a:ext cx="529" cy="321"/>
            </a:xfrm>
            <a:prstGeom prst="rect">
              <a:avLst/>
            </a:prstGeom>
            <a:noFill/>
            <a:ln>
              <a:noFill/>
            </a:ln>
          </p:spPr>
        </p:pic>
      </p:grpSp>
      <p:grpSp>
        <p:nvGrpSpPr>
          <p:cNvPr id="482" name="Google Shape;482;p26"/>
          <p:cNvGrpSpPr/>
          <p:nvPr/>
        </p:nvGrpSpPr>
        <p:grpSpPr>
          <a:xfrm>
            <a:off x="6494463" y="246063"/>
            <a:ext cx="914400" cy="366712"/>
            <a:chOff x="3648" y="220"/>
            <a:chExt cx="576" cy="231"/>
          </a:xfrm>
        </p:grpSpPr>
        <p:cxnSp>
          <p:nvCxnSpPr>
            <p:cNvPr id="483" name="Google Shape;483;p26"/>
            <p:cNvCxnSpPr/>
            <p:nvPr/>
          </p:nvCxnSpPr>
          <p:spPr>
            <a:xfrm rot="10800000">
              <a:off x="3840" y="336"/>
              <a:ext cx="384" cy="0"/>
            </a:xfrm>
            <a:prstGeom prst="straightConnector1">
              <a:avLst/>
            </a:prstGeom>
            <a:noFill/>
            <a:ln cap="flat" cmpd="sng" w="57150">
              <a:solidFill>
                <a:schemeClr val="folHlink"/>
              </a:solidFill>
              <a:prstDash val="solid"/>
              <a:round/>
              <a:headEnd len="med" w="med" type="none"/>
              <a:tailEnd len="med" w="med" type="stealth"/>
            </a:ln>
          </p:spPr>
        </p:cxnSp>
        <p:sp>
          <p:nvSpPr>
            <p:cNvPr id="484" name="Google Shape;484;p26"/>
            <p:cNvSpPr txBox="1"/>
            <p:nvPr/>
          </p:nvSpPr>
          <p:spPr>
            <a:xfrm>
              <a:off x="3648" y="220"/>
              <a:ext cx="204"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folHlink"/>
                </a:buClr>
                <a:buSzPts val="1800"/>
                <a:buFont typeface="Arial"/>
                <a:buNone/>
              </a:pPr>
              <a:r>
                <a:rPr b="1" lang="en-US" sz="1800">
                  <a:solidFill>
                    <a:schemeClr val="folHlink"/>
                  </a:solidFill>
                  <a:latin typeface="Arial"/>
                  <a:ea typeface="Arial"/>
                  <a:cs typeface="Arial"/>
                  <a:sym typeface="Arial"/>
                </a:rPr>
                <a:t>F</a:t>
              </a:r>
              <a:endParaRPr/>
            </a:p>
          </p:txBody>
        </p:sp>
      </p:grpSp>
      <p:grpSp>
        <p:nvGrpSpPr>
          <p:cNvPr id="485" name="Google Shape;485;p26"/>
          <p:cNvGrpSpPr/>
          <p:nvPr/>
        </p:nvGrpSpPr>
        <p:grpSpPr>
          <a:xfrm>
            <a:off x="5443538" y="246063"/>
            <a:ext cx="2286000" cy="533400"/>
            <a:chOff x="864" y="3568"/>
            <a:chExt cx="1440" cy="336"/>
          </a:xfrm>
        </p:grpSpPr>
        <p:sp>
          <p:nvSpPr>
            <p:cNvPr id="486" name="Google Shape;486;p26"/>
            <p:cNvSpPr/>
            <p:nvPr/>
          </p:nvSpPr>
          <p:spPr>
            <a:xfrm>
              <a:off x="864" y="3568"/>
              <a:ext cx="1056" cy="336"/>
            </a:xfrm>
            <a:custGeom>
              <a:rect b="b" l="l" r="r" t="t"/>
              <a:pathLst>
                <a:path extrusionOk="0" h="336" w="1056">
                  <a:moveTo>
                    <a:pt x="0" y="168"/>
                  </a:moveTo>
                  <a:cubicBezTo>
                    <a:pt x="32" y="180"/>
                    <a:pt x="64" y="192"/>
                    <a:pt x="96" y="168"/>
                  </a:cubicBezTo>
                  <a:cubicBezTo>
                    <a:pt x="128" y="144"/>
                    <a:pt x="160" y="0"/>
                    <a:pt x="192" y="24"/>
                  </a:cubicBezTo>
                  <a:cubicBezTo>
                    <a:pt x="224" y="48"/>
                    <a:pt x="256" y="312"/>
                    <a:pt x="288" y="312"/>
                  </a:cubicBezTo>
                  <a:cubicBezTo>
                    <a:pt x="320" y="312"/>
                    <a:pt x="352" y="24"/>
                    <a:pt x="384" y="24"/>
                  </a:cubicBezTo>
                  <a:cubicBezTo>
                    <a:pt x="416" y="24"/>
                    <a:pt x="448" y="312"/>
                    <a:pt x="480" y="312"/>
                  </a:cubicBezTo>
                  <a:cubicBezTo>
                    <a:pt x="512" y="312"/>
                    <a:pt x="544" y="24"/>
                    <a:pt x="576" y="24"/>
                  </a:cubicBezTo>
                  <a:cubicBezTo>
                    <a:pt x="608" y="24"/>
                    <a:pt x="640" y="312"/>
                    <a:pt x="672" y="312"/>
                  </a:cubicBezTo>
                  <a:cubicBezTo>
                    <a:pt x="704" y="312"/>
                    <a:pt x="736" y="24"/>
                    <a:pt x="768" y="24"/>
                  </a:cubicBezTo>
                  <a:cubicBezTo>
                    <a:pt x="800" y="24"/>
                    <a:pt x="832" y="288"/>
                    <a:pt x="864" y="312"/>
                  </a:cubicBezTo>
                  <a:cubicBezTo>
                    <a:pt x="896" y="336"/>
                    <a:pt x="928" y="192"/>
                    <a:pt x="960" y="168"/>
                  </a:cubicBezTo>
                  <a:cubicBezTo>
                    <a:pt x="992" y="144"/>
                    <a:pt x="1024" y="156"/>
                    <a:pt x="1056" y="168"/>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87" name="Google Shape;487;p26"/>
            <p:cNvSpPr/>
            <p:nvPr/>
          </p:nvSpPr>
          <p:spPr>
            <a:xfrm>
              <a:off x="1920" y="3568"/>
              <a:ext cx="384" cy="33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grpSp>
        <p:nvGrpSpPr>
          <p:cNvPr id="488" name="Google Shape;488;p26"/>
          <p:cNvGrpSpPr/>
          <p:nvPr/>
        </p:nvGrpSpPr>
        <p:grpSpPr>
          <a:xfrm>
            <a:off x="5443538" y="246063"/>
            <a:ext cx="2209800" cy="533400"/>
            <a:chOff x="432" y="3568"/>
            <a:chExt cx="1392" cy="336"/>
          </a:xfrm>
        </p:grpSpPr>
        <p:sp>
          <p:nvSpPr>
            <p:cNvPr id="489" name="Google Shape;489;p26"/>
            <p:cNvSpPr/>
            <p:nvPr/>
          </p:nvSpPr>
          <p:spPr>
            <a:xfrm>
              <a:off x="432" y="3568"/>
              <a:ext cx="863" cy="336"/>
            </a:xfrm>
            <a:custGeom>
              <a:rect b="b" l="l" r="r" t="t"/>
              <a:pathLst>
                <a:path extrusionOk="0" h="336" w="1056">
                  <a:moveTo>
                    <a:pt x="0" y="168"/>
                  </a:moveTo>
                  <a:cubicBezTo>
                    <a:pt x="32" y="180"/>
                    <a:pt x="64" y="192"/>
                    <a:pt x="96" y="168"/>
                  </a:cubicBezTo>
                  <a:cubicBezTo>
                    <a:pt x="128" y="144"/>
                    <a:pt x="160" y="0"/>
                    <a:pt x="192" y="24"/>
                  </a:cubicBezTo>
                  <a:cubicBezTo>
                    <a:pt x="224" y="48"/>
                    <a:pt x="256" y="312"/>
                    <a:pt x="288" y="312"/>
                  </a:cubicBezTo>
                  <a:cubicBezTo>
                    <a:pt x="320" y="312"/>
                    <a:pt x="352" y="24"/>
                    <a:pt x="384" y="24"/>
                  </a:cubicBezTo>
                  <a:cubicBezTo>
                    <a:pt x="416" y="24"/>
                    <a:pt x="448" y="312"/>
                    <a:pt x="480" y="312"/>
                  </a:cubicBezTo>
                  <a:cubicBezTo>
                    <a:pt x="512" y="312"/>
                    <a:pt x="544" y="24"/>
                    <a:pt x="576" y="24"/>
                  </a:cubicBezTo>
                  <a:cubicBezTo>
                    <a:pt x="608" y="24"/>
                    <a:pt x="640" y="312"/>
                    <a:pt x="672" y="312"/>
                  </a:cubicBezTo>
                  <a:cubicBezTo>
                    <a:pt x="704" y="312"/>
                    <a:pt x="736" y="24"/>
                    <a:pt x="768" y="24"/>
                  </a:cubicBezTo>
                  <a:cubicBezTo>
                    <a:pt x="800" y="24"/>
                    <a:pt x="832" y="288"/>
                    <a:pt x="864" y="312"/>
                  </a:cubicBezTo>
                  <a:cubicBezTo>
                    <a:pt x="896" y="336"/>
                    <a:pt x="928" y="192"/>
                    <a:pt x="960" y="168"/>
                  </a:cubicBezTo>
                  <a:cubicBezTo>
                    <a:pt x="992" y="144"/>
                    <a:pt x="1024" y="156"/>
                    <a:pt x="1056" y="168"/>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90" name="Google Shape;490;p26"/>
            <p:cNvSpPr/>
            <p:nvPr/>
          </p:nvSpPr>
          <p:spPr>
            <a:xfrm>
              <a:off x="1295" y="3568"/>
              <a:ext cx="384" cy="33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pic>
          <p:nvPicPr>
            <p:cNvPr descr="bd05378_[1]" id="491" name="Google Shape;491;p26"/>
            <p:cNvPicPr preferRelativeResize="0"/>
            <p:nvPr/>
          </p:nvPicPr>
          <p:blipFill rotWithShape="1">
            <a:blip r:embed="rId3">
              <a:alphaModFix/>
            </a:blip>
            <a:srcRect b="0" l="0" r="0" t="0"/>
            <a:stretch/>
          </p:blipFill>
          <p:spPr>
            <a:xfrm flipH="1">
              <a:off x="1295" y="3583"/>
              <a:ext cx="529" cy="321"/>
            </a:xfrm>
            <a:prstGeom prst="rect">
              <a:avLst/>
            </a:prstGeom>
            <a:noFill/>
            <a:ln>
              <a:noFill/>
            </a:ln>
          </p:spPr>
        </p:pic>
      </p:grpSp>
      <p:grpSp>
        <p:nvGrpSpPr>
          <p:cNvPr id="492" name="Google Shape;492;p26"/>
          <p:cNvGrpSpPr/>
          <p:nvPr/>
        </p:nvGrpSpPr>
        <p:grpSpPr>
          <a:xfrm>
            <a:off x="5748338" y="246063"/>
            <a:ext cx="3270250" cy="1346200"/>
            <a:chOff x="2688" y="1584"/>
            <a:chExt cx="2060" cy="848"/>
          </a:xfrm>
        </p:grpSpPr>
        <p:cxnSp>
          <p:nvCxnSpPr>
            <p:cNvPr id="493" name="Google Shape;493;p26"/>
            <p:cNvCxnSpPr/>
            <p:nvPr/>
          </p:nvCxnSpPr>
          <p:spPr>
            <a:xfrm>
              <a:off x="3552" y="1584"/>
              <a:ext cx="0" cy="624"/>
            </a:xfrm>
            <a:prstGeom prst="straightConnector1">
              <a:avLst/>
            </a:prstGeom>
            <a:noFill/>
            <a:ln cap="flat" cmpd="sng" w="9525">
              <a:solidFill>
                <a:schemeClr val="dk1"/>
              </a:solidFill>
              <a:prstDash val="dash"/>
              <a:round/>
              <a:headEnd len="med" w="med" type="none"/>
              <a:tailEnd len="med" w="med" type="none"/>
            </a:ln>
          </p:spPr>
        </p:cxnSp>
        <p:cxnSp>
          <p:nvCxnSpPr>
            <p:cNvPr id="494" name="Google Shape;494;p26"/>
            <p:cNvCxnSpPr/>
            <p:nvPr/>
          </p:nvCxnSpPr>
          <p:spPr>
            <a:xfrm>
              <a:off x="2688" y="2112"/>
              <a:ext cx="1868" cy="0"/>
            </a:xfrm>
            <a:prstGeom prst="straightConnector1">
              <a:avLst/>
            </a:prstGeom>
            <a:noFill/>
            <a:ln cap="flat" cmpd="sng" w="9525">
              <a:solidFill>
                <a:schemeClr val="dk1"/>
              </a:solidFill>
              <a:prstDash val="solid"/>
              <a:round/>
              <a:headEnd len="med" w="med" type="none"/>
              <a:tailEnd len="med" w="med" type="triangle"/>
            </a:ln>
          </p:spPr>
        </p:cxnSp>
        <p:sp>
          <p:nvSpPr>
            <p:cNvPr id="495" name="Google Shape;495;p26"/>
            <p:cNvSpPr txBox="1"/>
            <p:nvPr/>
          </p:nvSpPr>
          <p:spPr>
            <a:xfrm>
              <a:off x="4560" y="2016"/>
              <a:ext cx="188"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i="1" lang="en-US" sz="1800">
                  <a:solidFill>
                    <a:schemeClr val="dk1"/>
                  </a:solidFill>
                  <a:latin typeface="Arial"/>
                  <a:ea typeface="Arial"/>
                  <a:cs typeface="Arial"/>
                  <a:sym typeface="Arial"/>
                </a:rPr>
                <a:t>x</a:t>
              </a:r>
              <a:endParaRPr/>
            </a:p>
          </p:txBody>
        </p:sp>
        <p:sp>
          <p:nvSpPr>
            <p:cNvPr id="496" name="Google Shape;496;p26"/>
            <p:cNvSpPr txBox="1"/>
            <p:nvPr/>
          </p:nvSpPr>
          <p:spPr>
            <a:xfrm>
              <a:off x="3454" y="2240"/>
              <a:ext cx="178"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0</a:t>
              </a:r>
              <a:endParaRPr/>
            </a:p>
          </p:txBody>
        </p:sp>
        <p:cxnSp>
          <p:nvCxnSpPr>
            <p:cNvPr id="497" name="Google Shape;497;p26"/>
            <p:cNvCxnSpPr/>
            <p:nvPr/>
          </p:nvCxnSpPr>
          <p:spPr>
            <a:xfrm>
              <a:off x="3744"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498" name="Google Shape;498;p26"/>
            <p:cNvCxnSpPr/>
            <p:nvPr/>
          </p:nvCxnSpPr>
          <p:spPr>
            <a:xfrm>
              <a:off x="3936"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499" name="Google Shape;499;p26"/>
            <p:cNvCxnSpPr/>
            <p:nvPr/>
          </p:nvCxnSpPr>
          <p:spPr>
            <a:xfrm>
              <a:off x="4128"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500" name="Google Shape;500;p26"/>
            <p:cNvCxnSpPr/>
            <p:nvPr/>
          </p:nvCxnSpPr>
          <p:spPr>
            <a:xfrm>
              <a:off x="4320"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501" name="Google Shape;501;p26"/>
            <p:cNvCxnSpPr/>
            <p:nvPr/>
          </p:nvCxnSpPr>
          <p:spPr>
            <a:xfrm>
              <a:off x="3360"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502" name="Google Shape;502;p26"/>
            <p:cNvCxnSpPr/>
            <p:nvPr/>
          </p:nvCxnSpPr>
          <p:spPr>
            <a:xfrm>
              <a:off x="3168"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503" name="Google Shape;503;p26"/>
            <p:cNvCxnSpPr/>
            <p:nvPr/>
          </p:nvCxnSpPr>
          <p:spPr>
            <a:xfrm>
              <a:off x="2976"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504" name="Google Shape;504;p26"/>
            <p:cNvCxnSpPr/>
            <p:nvPr/>
          </p:nvCxnSpPr>
          <p:spPr>
            <a:xfrm>
              <a:off x="2784" y="1920"/>
              <a:ext cx="0" cy="192"/>
            </a:xfrm>
            <a:prstGeom prst="straightConnector1">
              <a:avLst/>
            </a:prstGeom>
            <a:noFill/>
            <a:ln cap="flat" cmpd="sng" w="9525">
              <a:solidFill>
                <a:schemeClr val="dk1"/>
              </a:solidFill>
              <a:prstDash val="dash"/>
              <a:round/>
              <a:headEnd len="med" w="med" type="none"/>
              <a:tailEnd len="med" w="med" type="none"/>
            </a:ln>
          </p:spPr>
        </p:cxnSp>
      </p:grpSp>
      <p:grpSp>
        <p:nvGrpSpPr>
          <p:cNvPr id="505" name="Google Shape;505;p26"/>
          <p:cNvGrpSpPr/>
          <p:nvPr/>
        </p:nvGrpSpPr>
        <p:grpSpPr>
          <a:xfrm>
            <a:off x="6196013" y="315913"/>
            <a:ext cx="933450" cy="366712"/>
            <a:chOff x="3397" y="3568"/>
            <a:chExt cx="588" cy="231"/>
          </a:xfrm>
        </p:grpSpPr>
        <p:cxnSp>
          <p:nvCxnSpPr>
            <p:cNvPr id="506" name="Google Shape;506;p26"/>
            <p:cNvCxnSpPr/>
            <p:nvPr/>
          </p:nvCxnSpPr>
          <p:spPr>
            <a:xfrm rot="10800000">
              <a:off x="3397" y="3684"/>
              <a:ext cx="384" cy="0"/>
            </a:xfrm>
            <a:prstGeom prst="straightConnector1">
              <a:avLst/>
            </a:prstGeom>
            <a:noFill/>
            <a:ln cap="flat" cmpd="sng" w="57150">
              <a:solidFill>
                <a:schemeClr val="folHlink"/>
              </a:solidFill>
              <a:prstDash val="solid"/>
              <a:round/>
              <a:headEnd len="med" w="med" type="stealth"/>
              <a:tailEnd len="med" w="med" type="none"/>
            </a:ln>
          </p:spPr>
        </p:cxnSp>
        <p:sp>
          <p:nvSpPr>
            <p:cNvPr id="507" name="Google Shape;507;p26"/>
            <p:cNvSpPr txBox="1"/>
            <p:nvPr/>
          </p:nvSpPr>
          <p:spPr>
            <a:xfrm>
              <a:off x="3781" y="3568"/>
              <a:ext cx="204"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folHlink"/>
                </a:buClr>
                <a:buSzPts val="1800"/>
                <a:buFont typeface="Arial"/>
                <a:buNone/>
              </a:pPr>
              <a:r>
                <a:rPr b="1" lang="en-US" sz="1800">
                  <a:solidFill>
                    <a:schemeClr val="folHlink"/>
                  </a:solidFill>
                  <a:latin typeface="Arial"/>
                  <a:ea typeface="Arial"/>
                  <a:cs typeface="Arial"/>
                  <a:sym typeface="Arial"/>
                </a:rPr>
                <a:t>F</a:t>
              </a:r>
              <a:endParaRPr/>
            </a:p>
          </p:txBody>
        </p:sp>
      </p:grpSp>
      <p:grpSp>
        <p:nvGrpSpPr>
          <p:cNvPr id="508" name="Google Shape;508;p26"/>
          <p:cNvGrpSpPr/>
          <p:nvPr/>
        </p:nvGrpSpPr>
        <p:grpSpPr>
          <a:xfrm>
            <a:off x="828675" y="4141788"/>
            <a:ext cx="7464425" cy="461962"/>
            <a:chOff x="828675" y="4080730"/>
            <a:chExt cx="7464426" cy="461665"/>
          </a:xfrm>
        </p:grpSpPr>
        <p:sp>
          <p:nvSpPr>
            <p:cNvPr id="509" name="Google Shape;509;p26"/>
            <p:cNvSpPr/>
            <p:nvPr/>
          </p:nvSpPr>
          <p:spPr>
            <a:xfrm>
              <a:off x="965200" y="4090249"/>
              <a:ext cx="1358900" cy="32046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 kx</a:t>
              </a:r>
              <a:endParaRPr i="1" sz="2400">
                <a:solidFill>
                  <a:schemeClr val="dk1"/>
                </a:solidFill>
                <a:latin typeface="Arial"/>
                <a:ea typeface="Arial"/>
                <a:cs typeface="Arial"/>
                <a:sym typeface="Arial"/>
              </a:endParaRPr>
            </a:p>
          </p:txBody>
        </p:sp>
        <p:sp>
          <p:nvSpPr>
            <p:cNvPr id="510" name="Google Shape;510;p26"/>
            <p:cNvSpPr txBox="1"/>
            <p:nvPr/>
          </p:nvSpPr>
          <p:spPr>
            <a:xfrm>
              <a:off x="3497263" y="4080730"/>
              <a:ext cx="4795838"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Hooke’s Law (the spring force)</a:t>
              </a:r>
              <a:endParaRPr/>
            </a:p>
          </p:txBody>
        </p:sp>
        <p:sp>
          <p:nvSpPr>
            <p:cNvPr id="511" name="Google Shape;511;p26"/>
            <p:cNvSpPr/>
            <p:nvPr/>
          </p:nvSpPr>
          <p:spPr>
            <a:xfrm>
              <a:off x="828675" y="4083903"/>
              <a:ext cx="7462839"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512" name="Google Shape;512;p26"/>
          <p:cNvSpPr/>
          <p:nvPr/>
        </p:nvSpPr>
        <p:spPr>
          <a:xfrm>
            <a:off x="1541463" y="4251325"/>
            <a:ext cx="206375" cy="180975"/>
          </a:xfrm>
          <a:prstGeom prst="rect">
            <a:avLst/>
          </a:prstGeom>
          <a:solidFill>
            <a:srgbClr val="FF9900">
              <a:alpha val="38431"/>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70">
                                            <p:txEl>
                                              <p:pRg end="0" st="0"/>
                                            </p:txEl>
                                          </p:spTgt>
                                        </p:tgtEl>
                                        <p:attrNameLst>
                                          <p:attrName>style.visibility</p:attrName>
                                        </p:attrNameLst>
                                      </p:cBhvr>
                                      <p:to>
                                        <p:strVal val="visible"/>
                                      </p:to>
                                    </p:set>
                                    <p:anim calcmode="lin" valueType="num">
                                      <p:cBhvr additive="base">
                                        <p:cTn dur="500"/>
                                        <p:tgtEl>
                                          <p:spTgt spid="47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70">
                                            <p:txEl>
                                              <p:pRg end="1" st="1"/>
                                            </p:txEl>
                                          </p:spTgt>
                                        </p:tgtEl>
                                        <p:attrNameLst>
                                          <p:attrName>style.visibility</p:attrName>
                                        </p:attrNameLst>
                                      </p:cBhvr>
                                      <p:to>
                                        <p:strVal val="visible"/>
                                      </p:to>
                                    </p:set>
                                    <p:anim calcmode="lin" valueType="num">
                                      <p:cBhvr additive="base">
                                        <p:cTn dur="500"/>
                                        <p:tgtEl>
                                          <p:spTgt spid="47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70">
                                            <p:txEl>
                                              <p:pRg end="2" st="2"/>
                                            </p:txEl>
                                          </p:spTgt>
                                        </p:tgtEl>
                                        <p:attrNameLst>
                                          <p:attrName>style.visibility</p:attrName>
                                        </p:attrNameLst>
                                      </p:cBhvr>
                                      <p:to>
                                        <p:strVal val="visible"/>
                                      </p:to>
                                    </p:set>
                                    <p:anim calcmode="lin" valueType="num">
                                      <p:cBhvr additive="base">
                                        <p:cTn dur="500"/>
                                        <p:tgtEl>
                                          <p:spTgt spid="47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70">
                                            <p:txEl>
                                              <p:pRg end="3" st="3"/>
                                            </p:txEl>
                                          </p:spTgt>
                                        </p:tgtEl>
                                        <p:attrNameLst>
                                          <p:attrName>style.visibility</p:attrName>
                                        </p:attrNameLst>
                                      </p:cBhvr>
                                      <p:to>
                                        <p:strVal val="visible"/>
                                      </p:to>
                                    </p:set>
                                    <p:anim calcmode="lin" valueType="num">
                                      <p:cBhvr additive="base">
                                        <p:cTn dur="500"/>
                                        <p:tgtEl>
                                          <p:spTgt spid="47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70">
                                            <p:txEl>
                                              <p:pRg end="4" st="4"/>
                                            </p:txEl>
                                          </p:spTgt>
                                        </p:tgtEl>
                                        <p:attrNameLst>
                                          <p:attrName>style.visibility</p:attrName>
                                        </p:attrNameLst>
                                      </p:cBhvr>
                                      <p:to>
                                        <p:strVal val="visible"/>
                                      </p:to>
                                    </p:set>
                                    <p:anim calcmode="lin" valueType="num">
                                      <p:cBhvr additive="base">
                                        <p:cTn dur="500"/>
                                        <p:tgtEl>
                                          <p:spTgt spid="47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70">
                                            <p:txEl>
                                              <p:pRg end="5" st="5"/>
                                            </p:txEl>
                                          </p:spTgt>
                                        </p:tgtEl>
                                        <p:attrNameLst>
                                          <p:attrName>style.visibility</p:attrName>
                                        </p:attrNameLst>
                                      </p:cBhvr>
                                      <p:to>
                                        <p:strVal val="visible"/>
                                      </p:to>
                                    </p:set>
                                    <p:anim calcmode="lin" valueType="num">
                                      <p:cBhvr additive="base">
                                        <p:cTn dur="500"/>
                                        <p:tgtEl>
                                          <p:spTgt spid="47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70">
                                            <p:txEl>
                                              <p:pRg end="6" st="6"/>
                                            </p:txEl>
                                          </p:spTgt>
                                        </p:tgtEl>
                                        <p:attrNameLst>
                                          <p:attrName>style.visibility</p:attrName>
                                        </p:attrNameLst>
                                      </p:cBhvr>
                                      <p:to>
                                        <p:strVal val="visible"/>
                                      </p:to>
                                    </p:set>
                                    <p:anim calcmode="lin" valueType="num">
                                      <p:cBhvr additive="base">
                                        <p:cTn dur="500"/>
                                        <p:tgtEl>
                                          <p:spTgt spid="47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70">
                                            <p:txEl>
                                              <p:pRg end="7" st="7"/>
                                            </p:txEl>
                                          </p:spTgt>
                                        </p:tgtEl>
                                        <p:attrNameLst>
                                          <p:attrName>style.visibility</p:attrName>
                                        </p:attrNameLst>
                                      </p:cBhvr>
                                      <p:to>
                                        <p:strVal val="visible"/>
                                      </p:to>
                                    </p:set>
                                    <p:anim calcmode="lin" valueType="num">
                                      <p:cBhvr additive="base">
                                        <p:cTn dur="500"/>
                                        <p:tgtEl>
                                          <p:spTgt spid="47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000"/>
                                        <p:tgtEl>
                                          <p:spTgt spid="4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1000"/>
                                        <p:tgtEl>
                                          <p:spTgt spid="4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1000"/>
                                        <p:tgtEl>
                                          <p:spTgt spid="4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1000"/>
                                        <p:tgtEl>
                                          <p:spTgt spid="4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500"/>
                                        <p:tgtEl>
                                          <p:spTgt spid="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500"/>
                                        <p:tgtEl>
                                          <p:spTgt spid="478"/>
                                        </p:tgtEl>
                                      </p:cBhvr>
                                    </p:animEffect>
                                  </p:childTnLst>
                                </p:cTn>
                              </p:par>
                              <p:par>
                                <p:cTn fill="hold" nodeType="withEffect" presetClass="exit" presetID="10" presetSubtype="0">
                                  <p:stCondLst>
                                    <p:cond delay="0"/>
                                  </p:stCondLst>
                                  <p:childTnLst>
                                    <p:animEffect filter="fade" transition="out">
                                      <p:cBhvr>
                                        <p:cTn dur="500"/>
                                        <p:tgtEl>
                                          <p:spTgt spid="476"/>
                                        </p:tgtEl>
                                      </p:cBhvr>
                                    </p:animEffect>
                                    <p:set>
                                      <p:cBhvr>
                                        <p:cTn dur="1" fill="hold">
                                          <p:stCondLst>
                                            <p:cond delay="500"/>
                                          </p:stCondLst>
                                        </p:cTn>
                                        <p:tgtEl>
                                          <p:spTgt spid="47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72"/>
                                        </p:tgtEl>
                                      </p:cBhvr>
                                    </p:animEffect>
                                    <p:set>
                                      <p:cBhvr>
                                        <p:cTn dur="1" fill="hold">
                                          <p:stCondLst>
                                            <p:cond delay="500"/>
                                          </p:stCondLst>
                                        </p:cTn>
                                        <p:tgtEl>
                                          <p:spTgt spid="47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77"/>
                                        </p:tgtEl>
                                      </p:cBhvr>
                                    </p:animEffect>
                                    <p:set>
                                      <p:cBhvr>
                                        <p:cTn dur="1" fill="hold">
                                          <p:stCondLst>
                                            <p:cond delay="500"/>
                                          </p:stCondLst>
                                        </p:cTn>
                                        <p:tgtEl>
                                          <p:spTgt spid="4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par>
                                <p:cTn fill="hold" nodeType="withEffect" presetClass="exit" presetID="10" presetSubtype="0">
                                  <p:stCondLst>
                                    <p:cond delay="0"/>
                                  </p:stCondLst>
                                  <p:childTnLst>
                                    <p:animEffect filter="fade" transition="out">
                                      <p:cBhvr>
                                        <p:cTn dur="500"/>
                                        <p:tgtEl>
                                          <p:spTgt spid="478"/>
                                        </p:tgtEl>
                                      </p:cBhvr>
                                    </p:animEffect>
                                    <p:set>
                                      <p:cBhvr>
                                        <p:cTn dur="1" fill="hold">
                                          <p:stCondLst>
                                            <p:cond delay="500"/>
                                          </p:stCondLst>
                                        </p:cTn>
                                        <p:tgtEl>
                                          <p:spTgt spid="47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82"/>
                                        </p:tgtEl>
                                      </p:cBhvr>
                                    </p:animEffect>
                                    <p:set>
                                      <p:cBhvr>
                                        <p:cTn dur="1" fill="hold">
                                          <p:stCondLst>
                                            <p:cond delay="500"/>
                                          </p:stCondLst>
                                        </p:cTn>
                                        <p:tgtEl>
                                          <p:spTgt spid="48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500"/>
                                        <p:tgtEl>
                                          <p:spTgt spid="488"/>
                                        </p:tgtEl>
                                      </p:cBhvr>
                                    </p:animEffect>
                                  </p:childTnLst>
                                </p:cTn>
                              </p:par>
                              <p:par>
                                <p:cTn fill="hold" nodeType="withEffect" presetClass="exit" presetID="10" presetSubtype="0">
                                  <p:stCondLst>
                                    <p:cond delay="0"/>
                                  </p:stCondLst>
                                  <p:childTnLst>
                                    <p:animEffect filter="fade" transition="out">
                                      <p:cBhvr>
                                        <p:cTn dur="500"/>
                                        <p:tgtEl>
                                          <p:spTgt spid="485"/>
                                        </p:tgtEl>
                                      </p:cBhvr>
                                    </p:animEffect>
                                    <p:set>
                                      <p:cBhvr>
                                        <p:cTn dur="1" fill="hold">
                                          <p:stCondLst>
                                            <p:cond delay="500"/>
                                          </p:stCondLst>
                                        </p:cTn>
                                        <p:tgtEl>
                                          <p:spTgt spid="48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500"/>
                                        <p:tgtEl>
                                          <p:spTgt spid="5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08"/>
                                        </p:tgtEl>
                                        <p:attrNameLst>
                                          <p:attrName>style.visibility</p:attrName>
                                        </p:attrNameLst>
                                      </p:cBhvr>
                                      <p:to>
                                        <p:strVal val="visible"/>
                                      </p:to>
                                    </p:set>
                                    <p:anim calcmode="lin" valueType="num">
                                      <p:cBhvr additive="base">
                                        <p:cTn dur="500"/>
                                        <p:tgtEl>
                                          <p:spTgt spid="508"/>
                                        </p:tgtEl>
                                        <p:attrNameLst>
                                          <p:attrName>ppt_w</p:attrName>
                                        </p:attrNameLst>
                                      </p:cBhvr>
                                      <p:tavLst>
                                        <p:tav fmla="" tm="0">
                                          <p:val>
                                            <p:strVal val="0"/>
                                          </p:val>
                                        </p:tav>
                                        <p:tav fmla="" tm="100000">
                                          <p:val>
                                            <p:strVal val="#ppt_w"/>
                                          </p:val>
                                        </p:tav>
                                      </p:tavLst>
                                    </p:anim>
                                    <p:anim calcmode="lin" valueType="num">
                                      <p:cBhvr additive="base">
                                        <p:cTn dur="500"/>
                                        <p:tgtEl>
                                          <p:spTgt spid="50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12"/>
                                        </p:tgtEl>
                                        <p:attrNameLst>
                                          <p:attrName>style.visibility</p:attrName>
                                        </p:attrNameLst>
                                      </p:cBhvr>
                                      <p:to>
                                        <p:strVal val="visible"/>
                                      </p:to>
                                    </p:set>
                                    <p:anim calcmode="lin" valueType="num">
                                      <p:cBhvr additive="base">
                                        <p:cTn dur="500"/>
                                        <p:tgtEl>
                                          <p:spTgt spid="512"/>
                                        </p:tgtEl>
                                        <p:attrNameLst>
                                          <p:attrName>ppt_w</p:attrName>
                                        </p:attrNameLst>
                                      </p:cBhvr>
                                      <p:tavLst>
                                        <p:tav fmla="" tm="0">
                                          <p:val>
                                            <p:strVal val="0"/>
                                          </p:val>
                                        </p:tav>
                                        <p:tav fmla="" tm="100000">
                                          <p:val>
                                            <p:strVal val="#ppt_w"/>
                                          </p:val>
                                        </p:tav>
                                      </p:tavLst>
                                    </p:anim>
                                    <p:anim calcmode="lin" valueType="num">
                                      <p:cBhvr additive="base">
                                        <p:cTn dur="500"/>
                                        <p:tgtEl>
                                          <p:spTgt spid="51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27"/>
          <p:cNvSpPr/>
          <p:nvPr/>
        </p:nvSpPr>
        <p:spPr>
          <a:xfrm>
            <a:off x="685800" y="1549400"/>
            <a:ext cx="7772400" cy="11080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Sketching and interpreting force – distance graphs </a:t>
            </a:r>
            <a:r>
              <a:rPr lang="en-US" sz="2000">
                <a:solidFill>
                  <a:schemeClr val="dk1"/>
                </a:solidFill>
                <a:latin typeface="Courier New"/>
                <a:ea typeface="Courier New"/>
                <a:cs typeface="Courier New"/>
                <a:sym typeface="Courier New"/>
              </a:rPr>
              <a:t>	</a:t>
            </a:r>
            <a:endParaRPr/>
          </a:p>
        </p:txBody>
      </p:sp>
      <p:sp>
        <p:nvSpPr>
          <p:cNvPr id="519" name="Google Shape;519;p2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520" name="Google Shape;520;p27"/>
          <p:cNvSpPr/>
          <p:nvPr/>
        </p:nvSpPr>
        <p:spPr>
          <a:xfrm>
            <a:off x="674688" y="2551113"/>
            <a:ext cx="7781925" cy="4214812"/>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A force vs. displacement plot for a spring is shown. Find the value of the spring constant, and find the spring force if the displacement is -65 mm.</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Pick any convenient point. </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For this point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-15 N and                                                                     </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30 mm = 0.030 m so that</a:t>
            </a:r>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-kx</a:t>
            </a:r>
            <a:r>
              <a:rPr lang="en-US" sz="2400">
                <a:solidFill>
                  <a:schemeClr val="dk1"/>
                </a:solidFill>
                <a:latin typeface="Arial"/>
                <a:ea typeface="Arial"/>
                <a:cs typeface="Arial"/>
                <a:sym typeface="Arial"/>
              </a:rPr>
              <a:t> or -15 = -</a:t>
            </a:r>
            <a:r>
              <a:rPr i="1"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(0.030) </a:t>
            </a:r>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k</a:t>
            </a:r>
            <a:r>
              <a:rPr lang="en-US" sz="2400">
                <a:solidFill>
                  <a:schemeClr val="dk1"/>
                </a:solidFill>
                <a:latin typeface="Arial"/>
                <a:ea typeface="Arial"/>
                <a:cs typeface="Arial"/>
                <a:sym typeface="Arial"/>
              </a:rPr>
              <a:t> = 500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m</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a:p>
            <a:pPr indent="-152400" lvl="0" marL="0" marR="0" rtl="0" algn="l">
              <a:spcBef>
                <a:spcPts val="480"/>
              </a:spcBef>
              <a:spcAft>
                <a:spcPts val="0"/>
              </a:spcAft>
              <a:buClr>
                <a:schemeClr val="dk1"/>
              </a:buClr>
              <a:buSzPts val="2400"/>
              <a:buFont typeface="Noto Sans Symbols"/>
              <a:buChar char="∙"/>
            </a:pP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-kx </a:t>
            </a:r>
            <a:r>
              <a:rPr lang="en-US" sz="2400">
                <a:solidFill>
                  <a:schemeClr val="dk1"/>
                </a:solidFill>
                <a:latin typeface="Arial"/>
                <a:ea typeface="Arial"/>
                <a:cs typeface="Arial"/>
                <a:sym typeface="Arial"/>
              </a:rPr>
              <a:t>= -(500)(-65×10</a:t>
            </a:r>
            <a:r>
              <a:rPr baseline="30000" lang="en-US" sz="2400">
                <a:solidFill>
                  <a:schemeClr val="dk1"/>
                </a:solidFill>
                <a:latin typeface="Arial"/>
                <a:ea typeface="Arial"/>
                <a:cs typeface="Arial"/>
                <a:sym typeface="Arial"/>
              </a:rPr>
              <a:t>-3</a:t>
            </a:r>
            <a:r>
              <a:rPr lang="en-US" sz="2400">
                <a:solidFill>
                  <a:schemeClr val="dk1"/>
                </a:solidFill>
                <a:latin typeface="Arial"/>
                <a:ea typeface="Arial"/>
                <a:cs typeface="Arial"/>
                <a:sym typeface="Arial"/>
              </a:rPr>
              <a:t>) = +32.5 N.</a:t>
            </a:r>
            <a:endParaRPr/>
          </a:p>
        </p:txBody>
      </p:sp>
      <p:grpSp>
        <p:nvGrpSpPr>
          <p:cNvPr id="521" name="Google Shape;521;p27"/>
          <p:cNvGrpSpPr/>
          <p:nvPr/>
        </p:nvGrpSpPr>
        <p:grpSpPr>
          <a:xfrm>
            <a:off x="5453063" y="4083050"/>
            <a:ext cx="2659062" cy="1773238"/>
            <a:chOff x="3648" y="1295"/>
            <a:chExt cx="1152" cy="768"/>
          </a:xfrm>
        </p:grpSpPr>
        <p:sp>
          <p:nvSpPr>
            <p:cNvPr id="522" name="Google Shape;522;p27"/>
            <p:cNvSpPr/>
            <p:nvPr/>
          </p:nvSpPr>
          <p:spPr>
            <a:xfrm>
              <a:off x="3648"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23" name="Google Shape;523;p27"/>
            <p:cNvSpPr/>
            <p:nvPr/>
          </p:nvSpPr>
          <p:spPr>
            <a:xfrm>
              <a:off x="3792"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24" name="Google Shape;524;p27"/>
            <p:cNvSpPr/>
            <p:nvPr/>
          </p:nvSpPr>
          <p:spPr>
            <a:xfrm>
              <a:off x="3936"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25" name="Google Shape;525;p27"/>
            <p:cNvSpPr/>
            <p:nvPr/>
          </p:nvSpPr>
          <p:spPr>
            <a:xfrm>
              <a:off x="4080"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26" name="Google Shape;526;p27"/>
            <p:cNvSpPr/>
            <p:nvPr/>
          </p:nvSpPr>
          <p:spPr>
            <a:xfrm>
              <a:off x="4224"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27" name="Google Shape;527;p27"/>
            <p:cNvSpPr/>
            <p:nvPr/>
          </p:nvSpPr>
          <p:spPr>
            <a:xfrm>
              <a:off x="4368"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28" name="Google Shape;528;p27"/>
            <p:cNvSpPr/>
            <p:nvPr/>
          </p:nvSpPr>
          <p:spPr>
            <a:xfrm>
              <a:off x="4512"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29" name="Google Shape;529;p27"/>
            <p:cNvSpPr/>
            <p:nvPr/>
          </p:nvSpPr>
          <p:spPr>
            <a:xfrm>
              <a:off x="4656"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30" name="Google Shape;530;p27"/>
            <p:cNvSpPr/>
            <p:nvPr/>
          </p:nvSpPr>
          <p:spPr>
            <a:xfrm>
              <a:off x="3648"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31" name="Google Shape;531;p27"/>
            <p:cNvSpPr/>
            <p:nvPr/>
          </p:nvSpPr>
          <p:spPr>
            <a:xfrm>
              <a:off x="3792"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32" name="Google Shape;532;p27"/>
            <p:cNvSpPr/>
            <p:nvPr/>
          </p:nvSpPr>
          <p:spPr>
            <a:xfrm>
              <a:off x="3936"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33" name="Google Shape;533;p27"/>
            <p:cNvSpPr/>
            <p:nvPr/>
          </p:nvSpPr>
          <p:spPr>
            <a:xfrm>
              <a:off x="4080"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34" name="Google Shape;534;p27"/>
            <p:cNvSpPr/>
            <p:nvPr/>
          </p:nvSpPr>
          <p:spPr>
            <a:xfrm>
              <a:off x="4224"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35" name="Google Shape;535;p27"/>
            <p:cNvSpPr/>
            <p:nvPr/>
          </p:nvSpPr>
          <p:spPr>
            <a:xfrm>
              <a:off x="4368"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36" name="Google Shape;536;p27"/>
            <p:cNvSpPr/>
            <p:nvPr/>
          </p:nvSpPr>
          <p:spPr>
            <a:xfrm>
              <a:off x="4512"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37" name="Google Shape;537;p27"/>
            <p:cNvSpPr/>
            <p:nvPr/>
          </p:nvSpPr>
          <p:spPr>
            <a:xfrm>
              <a:off x="4656"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38" name="Google Shape;538;p27"/>
            <p:cNvSpPr/>
            <p:nvPr/>
          </p:nvSpPr>
          <p:spPr>
            <a:xfrm>
              <a:off x="3648"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39" name="Google Shape;539;p27"/>
            <p:cNvSpPr/>
            <p:nvPr/>
          </p:nvSpPr>
          <p:spPr>
            <a:xfrm>
              <a:off x="3792"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40" name="Google Shape;540;p27"/>
            <p:cNvSpPr/>
            <p:nvPr/>
          </p:nvSpPr>
          <p:spPr>
            <a:xfrm>
              <a:off x="3936"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41" name="Google Shape;541;p27"/>
            <p:cNvSpPr/>
            <p:nvPr/>
          </p:nvSpPr>
          <p:spPr>
            <a:xfrm>
              <a:off x="4080"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42" name="Google Shape;542;p27"/>
            <p:cNvSpPr/>
            <p:nvPr/>
          </p:nvSpPr>
          <p:spPr>
            <a:xfrm>
              <a:off x="4224"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43" name="Google Shape;543;p27"/>
            <p:cNvSpPr/>
            <p:nvPr/>
          </p:nvSpPr>
          <p:spPr>
            <a:xfrm>
              <a:off x="4368"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44" name="Google Shape;544;p27"/>
            <p:cNvSpPr/>
            <p:nvPr/>
          </p:nvSpPr>
          <p:spPr>
            <a:xfrm>
              <a:off x="4512"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45" name="Google Shape;545;p27"/>
            <p:cNvSpPr/>
            <p:nvPr/>
          </p:nvSpPr>
          <p:spPr>
            <a:xfrm>
              <a:off x="4656"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46" name="Google Shape;546;p27"/>
            <p:cNvSpPr/>
            <p:nvPr/>
          </p:nvSpPr>
          <p:spPr>
            <a:xfrm>
              <a:off x="3648"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47" name="Google Shape;547;p27"/>
            <p:cNvSpPr/>
            <p:nvPr/>
          </p:nvSpPr>
          <p:spPr>
            <a:xfrm>
              <a:off x="3792"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48" name="Google Shape;548;p27"/>
            <p:cNvSpPr/>
            <p:nvPr/>
          </p:nvSpPr>
          <p:spPr>
            <a:xfrm>
              <a:off x="3936"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49" name="Google Shape;549;p27"/>
            <p:cNvSpPr/>
            <p:nvPr/>
          </p:nvSpPr>
          <p:spPr>
            <a:xfrm>
              <a:off x="4080"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50" name="Google Shape;550;p27"/>
            <p:cNvSpPr/>
            <p:nvPr/>
          </p:nvSpPr>
          <p:spPr>
            <a:xfrm>
              <a:off x="4224"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51" name="Google Shape;551;p27"/>
            <p:cNvSpPr/>
            <p:nvPr/>
          </p:nvSpPr>
          <p:spPr>
            <a:xfrm>
              <a:off x="4368"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52" name="Google Shape;552;p27"/>
            <p:cNvSpPr/>
            <p:nvPr/>
          </p:nvSpPr>
          <p:spPr>
            <a:xfrm>
              <a:off x="4512"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53" name="Google Shape;553;p27"/>
            <p:cNvSpPr/>
            <p:nvPr/>
          </p:nvSpPr>
          <p:spPr>
            <a:xfrm>
              <a:off x="4656"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54" name="Google Shape;554;p27"/>
            <p:cNvSpPr/>
            <p:nvPr/>
          </p:nvSpPr>
          <p:spPr>
            <a:xfrm>
              <a:off x="3648"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55" name="Google Shape;555;p27"/>
            <p:cNvSpPr/>
            <p:nvPr/>
          </p:nvSpPr>
          <p:spPr>
            <a:xfrm>
              <a:off x="3792"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56" name="Google Shape;556;p27"/>
            <p:cNvSpPr/>
            <p:nvPr/>
          </p:nvSpPr>
          <p:spPr>
            <a:xfrm>
              <a:off x="3936"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57" name="Google Shape;557;p27"/>
            <p:cNvSpPr/>
            <p:nvPr/>
          </p:nvSpPr>
          <p:spPr>
            <a:xfrm>
              <a:off x="4080"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58" name="Google Shape;558;p27"/>
            <p:cNvSpPr/>
            <p:nvPr/>
          </p:nvSpPr>
          <p:spPr>
            <a:xfrm>
              <a:off x="4224"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59" name="Google Shape;559;p27"/>
            <p:cNvSpPr/>
            <p:nvPr/>
          </p:nvSpPr>
          <p:spPr>
            <a:xfrm>
              <a:off x="4368"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60" name="Google Shape;560;p27"/>
            <p:cNvSpPr/>
            <p:nvPr/>
          </p:nvSpPr>
          <p:spPr>
            <a:xfrm>
              <a:off x="4512"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61" name="Google Shape;561;p27"/>
            <p:cNvSpPr/>
            <p:nvPr/>
          </p:nvSpPr>
          <p:spPr>
            <a:xfrm>
              <a:off x="4656"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62" name="Google Shape;562;p27"/>
            <p:cNvSpPr/>
            <p:nvPr/>
          </p:nvSpPr>
          <p:spPr>
            <a:xfrm>
              <a:off x="3648"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63" name="Google Shape;563;p27"/>
            <p:cNvSpPr/>
            <p:nvPr/>
          </p:nvSpPr>
          <p:spPr>
            <a:xfrm>
              <a:off x="3792"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64" name="Google Shape;564;p27"/>
            <p:cNvSpPr/>
            <p:nvPr/>
          </p:nvSpPr>
          <p:spPr>
            <a:xfrm>
              <a:off x="3936"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65" name="Google Shape;565;p27"/>
            <p:cNvSpPr/>
            <p:nvPr/>
          </p:nvSpPr>
          <p:spPr>
            <a:xfrm>
              <a:off x="4080"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66" name="Google Shape;566;p27"/>
            <p:cNvSpPr/>
            <p:nvPr/>
          </p:nvSpPr>
          <p:spPr>
            <a:xfrm>
              <a:off x="4224"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67" name="Google Shape;567;p27"/>
            <p:cNvSpPr/>
            <p:nvPr/>
          </p:nvSpPr>
          <p:spPr>
            <a:xfrm>
              <a:off x="4368"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68" name="Google Shape;568;p27"/>
            <p:cNvSpPr/>
            <p:nvPr/>
          </p:nvSpPr>
          <p:spPr>
            <a:xfrm>
              <a:off x="4512"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69" name="Google Shape;569;p27"/>
            <p:cNvSpPr/>
            <p:nvPr/>
          </p:nvSpPr>
          <p:spPr>
            <a:xfrm>
              <a:off x="4656"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70" name="Google Shape;570;p27"/>
            <p:cNvSpPr/>
            <p:nvPr/>
          </p:nvSpPr>
          <p:spPr>
            <a:xfrm>
              <a:off x="3648"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71" name="Google Shape;571;p27"/>
            <p:cNvSpPr/>
            <p:nvPr/>
          </p:nvSpPr>
          <p:spPr>
            <a:xfrm>
              <a:off x="3792"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72" name="Google Shape;572;p27"/>
            <p:cNvSpPr/>
            <p:nvPr/>
          </p:nvSpPr>
          <p:spPr>
            <a:xfrm>
              <a:off x="3936"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73" name="Google Shape;573;p27"/>
            <p:cNvSpPr/>
            <p:nvPr/>
          </p:nvSpPr>
          <p:spPr>
            <a:xfrm>
              <a:off x="4080"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74" name="Google Shape;574;p27"/>
            <p:cNvSpPr/>
            <p:nvPr/>
          </p:nvSpPr>
          <p:spPr>
            <a:xfrm>
              <a:off x="4224"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75" name="Google Shape;575;p27"/>
            <p:cNvSpPr/>
            <p:nvPr/>
          </p:nvSpPr>
          <p:spPr>
            <a:xfrm>
              <a:off x="4368"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76" name="Google Shape;576;p27"/>
            <p:cNvSpPr/>
            <p:nvPr/>
          </p:nvSpPr>
          <p:spPr>
            <a:xfrm>
              <a:off x="4512"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77" name="Google Shape;577;p27"/>
            <p:cNvSpPr/>
            <p:nvPr/>
          </p:nvSpPr>
          <p:spPr>
            <a:xfrm>
              <a:off x="4656"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78" name="Google Shape;578;p27"/>
            <p:cNvSpPr/>
            <p:nvPr/>
          </p:nvSpPr>
          <p:spPr>
            <a:xfrm>
              <a:off x="3648"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79" name="Google Shape;579;p27"/>
            <p:cNvSpPr/>
            <p:nvPr/>
          </p:nvSpPr>
          <p:spPr>
            <a:xfrm>
              <a:off x="3792"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80" name="Google Shape;580;p27"/>
            <p:cNvSpPr/>
            <p:nvPr/>
          </p:nvSpPr>
          <p:spPr>
            <a:xfrm>
              <a:off x="3936"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81" name="Google Shape;581;p27"/>
            <p:cNvSpPr/>
            <p:nvPr/>
          </p:nvSpPr>
          <p:spPr>
            <a:xfrm>
              <a:off x="4080"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82" name="Google Shape;582;p27"/>
            <p:cNvSpPr/>
            <p:nvPr/>
          </p:nvSpPr>
          <p:spPr>
            <a:xfrm>
              <a:off x="4224"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83" name="Google Shape;583;p27"/>
            <p:cNvSpPr/>
            <p:nvPr/>
          </p:nvSpPr>
          <p:spPr>
            <a:xfrm>
              <a:off x="4368"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84" name="Google Shape;584;p27"/>
            <p:cNvSpPr/>
            <p:nvPr/>
          </p:nvSpPr>
          <p:spPr>
            <a:xfrm>
              <a:off x="4512"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85" name="Google Shape;585;p27"/>
            <p:cNvSpPr/>
            <p:nvPr/>
          </p:nvSpPr>
          <p:spPr>
            <a:xfrm>
              <a:off x="4656"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cxnSp>
        <p:nvCxnSpPr>
          <p:cNvPr id="586" name="Google Shape;586;p27"/>
          <p:cNvCxnSpPr/>
          <p:nvPr/>
        </p:nvCxnSpPr>
        <p:spPr>
          <a:xfrm>
            <a:off x="5453063" y="4083050"/>
            <a:ext cx="2659062" cy="1773238"/>
          </a:xfrm>
          <a:prstGeom prst="straightConnector1">
            <a:avLst/>
          </a:prstGeom>
          <a:noFill/>
          <a:ln cap="flat" cmpd="sng" w="38100">
            <a:solidFill>
              <a:srgbClr val="00CC00"/>
            </a:solidFill>
            <a:prstDash val="solid"/>
            <a:round/>
            <a:headEnd len="med" w="med" type="none"/>
            <a:tailEnd len="med" w="med" type="none"/>
          </a:ln>
        </p:spPr>
      </p:cxnSp>
      <p:grpSp>
        <p:nvGrpSpPr>
          <p:cNvPr id="587" name="Google Shape;587;p27"/>
          <p:cNvGrpSpPr/>
          <p:nvPr/>
        </p:nvGrpSpPr>
        <p:grpSpPr>
          <a:xfrm>
            <a:off x="6780213" y="3698875"/>
            <a:ext cx="884237" cy="2154238"/>
            <a:chOff x="4144" y="2252"/>
            <a:chExt cx="557" cy="1357"/>
          </a:xfrm>
        </p:grpSpPr>
        <p:cxnSp>
          <p:nvCxnSpPr>
            <p:cNvPr id="588" name="Google Shape;588;p27"/>
            <p:cNvCxnSpPr/>
            <p:nvPr/>
          </p:nvCxnSpPr>
          <p:spPr>
            <a:xfrm rot="10800000">
              <a:off x="4144" y="2352"/>
              <a:ext cx="0" cy="1257"/>
            </a:xfrm>
            <a:prstGeom prst="straightConnector1">
              <a:avLst/>
            </a:prstGeom>
            <a:noFill/>
            <a:ln cap="flat" cmpd="sng" w="28575">
              <a:solidFill>
                <a:schemeClr val="dk1"/>
              </a:solidFill>
              <a:prstDash val="solid"/>
              <a:round/>
              <a:headEnd len="med" w="med" type="none"/>
              <a:tailEnd len="med" w="med" type="triangle"/>
            </a:ln>
          </p:spPr>
        </p:cxnSp>
        <p:sp>
          <p:nvSpPr>
            <p:cNvPr id="589" name="Google Shape;589;p27"/>
            <p:cNvSpPr txBox="1"/>
            <p:nvPr/>
          </p:nvSpPr>
          <p:spPr>
            <a:xfrm>
              <a:off x="4169" y="2252"/>
              <a:ext cx="532"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F </a:t>
              </a:r>
              <a:r>
                <a:rPr lang="en-US" sz="2400">
                  <a:solidFill>
                    <a:schemeClr val="dk1"/>
                  </a:solidFill>
                  <a:latin typeface="Arial"/>
                  <a:ea typeface="Arial"/>
                  <a:cs typeface="Arial"/>
                  <a:sym typeface="Arial"/>
                </a:rPr>
                <a:t>/ N</a:t>
              </a:r>
              <a:endParaRPr i="1" sz="2400">
                <a:solidFill>
                  <a:schemeClr val="dk1"/>
                </a:solidFill>
                <a:latin typeface="Arial"/>
                <a:ea typeface="Arial"/>
                <a:cs typeface="Arial"/>
                <a:sym typeface="Arial"/>
              </a:endParaRPr>
            </a:p>
          </p:txBody>
        </p:sp>
      </p:grpSp>
      <p:sp>
        <p:nvSpPr>
          <p:cNvPr id="590" name="Google Shape;590;p27"/>
          <p:cNvSpPr txBox="1"/>
          <p:nvPr/>
        </p:nvSpPr>
        <p:spPr>
          <a:xfrm>
            <a:off x="4991100" y="3905250"/>
            <a:ext cx="438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20</a:t>
            </a:r>
            <a:endParaRPr/>
          </a:p>
        </p:txBody>
      </p:sp>
      <p:sp>
        <p:nvSpPr>
          <p:cNvPr id="591" name="Google Shape;591;p27"/>
          <p:cNvSpPr txBox="1"/>
          <p:nvPr/>
        </p:nvSpPr>
        <p:spPr>
          <a:xfrm>
            <a:off x="5024438" y="4799013"/>
            <a:ext cx="3746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0</a:t>
            </a:r>
            <a:endParaRPr/>
          </a:p>
        </p:txBody>
      </p:sp>
      <p:sp>
        <p:nvSpPr>
          <p:cNvPr id="592" name="Google Shape;592;p27"/>
          <p:cNvSpPr txBox="1"/>
          <p:nvPr/>
        </p:nvSpPr>
        <p:spPr>
          <a:xfrm>
            <a:off x="4924425" y="5676900"/>
            <a:ext cx="4889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aseline="30000" lang="en-US" sz="1800">
                <a:solidFill>
                  <a:schemeClr val="dk1"/>
                </a:solidFill>
                <a:latin typeface="Arial"/>
                <a:ea typeface="Arial"/>
                <a:cs typeface="Arial"/>
                <a:sym typeface="Arial"/>
              </a:rPr>
              <a:t>-</a:t>
            </a:r>
            <a:r>
              <a:rPr lang="en-US" sz="1800">
                <a:solidFill>
                  <a:schemeClr val="dk1"/>
                </a:solidFill>
                <a:latin typeface="Arial"/>
                <a:ea typeface="Arial"/>
                <a:cs typeface="Arial"/>
                <a:sym typeface="Arial"/>
              </a:rPr>
              <a:t>20</a:t>
            </a:r>
            <a:endParaRPr/>
          </a:p>
        </p:txBody>
      </p:sp>
      <p:sp>
        <p:nvSpPr>
          <p:cNvPr id="593" name="Google Shape;593;p27"/>
          <p:cNvSpPr txBox="1"/>
          <p:nvPr/>
        </p:nvSpPr>
        <p:spPr>
          <a:xfrm>
            <a:off x="5829300" y="5857875"/>
            <a:ext cx="52228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baseline="30000" lang="en-US" sz="2000">
                <a:solidFill>
                  <a:schemeClr val="dk1"/>
                </a:solidFill>
                <a:latin typeface="Arial"/>
                <a:ea typeface="Arial"/>
                <a:cs typeface="Arial"/>
                <a:sym typeface="Arial"/>
              </a:rPr>
              <a:t>-</a:t>
            </a:r>
            <a:r>
              <a:rPr lang="en-US" sz="2000">
                <a:solidFill>
                  <a:schemeClr val="dk1"/>
                </a:solidFill>
                <a:latin typeface="Arial"/>
                <a:ea typeface="Arial"/>
                <a:cs typeface="Arial"/>
                <a:sym typeface="Arial"/>
              </a:rPr>
              <a:t>20</a:t>
            </a:r>
            <a:endParaRPr/>
          </a:p>
        </p:txBody>
      </p:sp>
      <p:sp>
        <p:nvSpPr>
          <p:cNvPr id="594" name="Google Shape;594;p27"/>
          <p:cNvSpPr txBox="1"/>
          <p:nvPr/>
        </p:nvSpPr>
        <p:spPr>
          <a:xfrm>
            <a:off x="7194550" y="5856288"/>
            <a:ext cx="46672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20</a:t>
            </a:r>
            <a:endParaRPr/>
          </a:p>
        </p:txBody>
      </p:sp>
      <p:sp>
        <p:nvSpPr>
          <p:cNvPr id="595" name="Google Shape;595;p27"/>
          <p:cNvSpPr txBox="1"/>
          <p:nvPr/>
        </p:nvSpPr>
        <p:spPr>
          <a:xfrm>
            <a:off x="5191125" y="5854700"/>
            <a:ext cx="52228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baseline="30000" lang="en-US" sz="2000">
                <a:solidFill>
                  <a:schemeClr val="dk1"/>
                </a:solidFill>
                <a:latin typeface="Arial"/>
                <a:ea typeface="Arial"/>
                <a:cs typeface="Arial"/>
                <a:sym typeface="Arial"/>
              </a:rPr>
              <a:t>-</a:t>
            </a:r>
            <a:r>
              <a:rPr lang="en-US" sz="2000">
                <a:solidFill>
                  <a:schemeClr val="dk1"/>
                </a:solidFill>
                <a:latin typeface="Arial"/>
                <a:ea typeface="Arial"/>
                <a:cs typeface="Arial"/>
                <a:sym typeface="Arial"/>
              </a:rPr>
              <a:t>40</a:t>
            </a:r>
            <a:endParaRPr/>
          </a:p>
        </p:txBody>
      </p:sp>
      <p:sp>
        <p:nvSpPr>
          <p:cNvPr id="596" name="Google Shape;596;p27"/>
          <p:cNvSpPr txBox="1"/>
          <p:nvPr/>
        </p:nvSpPr>
        <p:spPr>
          <a:xfrm>
            <a:off x="7870825" y="5861050"/>
            <a:ext cx="46672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40</a:t>
            </a:r>
            <a:endParaRPr/>
          </a:p>
        </p:txBody>
      </p:sp>
      <p:sp>
        <p:nvSpPr>
          <p:cNvPr id="597" name="Google Shape;597;p27"/>
          <p:cNvSpPr txBox="1"/>
          <p:nvPr/>
        </p:nvSpPr>
        <p:spPr>
          <a:xfrm>
            <a:off x="6618288" y="5857875"/>
            <a:ext cx="325437"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0</a:t>
            </a:r>
            <a:endParaRPr/>
          </a:p>
        </p:txBody>
      </p:sp>
      <p:sp>
        <p:nvSpPr>
          <p:cNvPr id="598" name="Google Shape;598;p27"/>
          <p:cNvSpPr/>
          <p:nvPr/>
        </p:nvSpPr>
        <p:spPr>
          <a:xfrm>
            <a:off x="7742238" y="5578475"/>
            <a:ext cx="112712" cy="112713"/>
          </a:xfrm>
          <a:prstGeom prst="ellipse">
            <a:avLst/>
          </a:prstGeom>
          <a:solidFill>
            <a:srgbClr val="FF33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nvGrpSpPr>
          <p:cNvPr id="599" name="Google Shape;599;p27"/>
          <p:cNvGrpSpPr/>
          <p:nvPr/>
        </p:nvGrpSpPr>
        <p:grpSpPr>
          <a:xfrm>
            <a:off x="5449890" y="4543425"/>
            <a:ext cx="3563938" cy="461963"/>
            <a:chOff x="3306" y="2784"/>
            <a:chExt cx="2245" cy="291"/>
          </a:xfrm>
        </p:grpSpPr>
        <p:sp>
          <p:nvSpPr>
            <p:cNvPr id="600" name="Google Shape;600;p27"/>
            <p:cNvSpPr txBox="1"/>
            <p:nvPr/>
          </p:nvSpPr>
          <p:spPr>
            <a:xfrm>
              <a:off x="4961" y="2784"/>
              <a:ext cx="590"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x/mm</a:t>
              </a:r>
              <a:endParaRPr i="1" sz="2400">
                <a:solidFill>
                  <a:schemeClr val="dk1"/>
                </a:solidFill>
                <a:latin typeface="Arial"/>
                <a:ea typeface="Arial"/>
                <a:cs typeface="Arial"/>
                <a:sym typeface="Arial"/>
              </a:endParaRPr>
            </a:p>
          </p:txBody>
        </p:sp>
        <p:cxnSp>
          <p:nvCxnSpPr>
            <p:cNvPr id="601" name="Google Shape;601;p27"/>
            <p:cNvCxnSpPr/>
            <p:nvPr/>
          </p:nvCxnSpPr>
          <p:spPr>
            <a:xfrm>
              <a:off x="3306" y="3051"/>
              <a:ext cx="1814" cy="0"/>
            </a:xfrm>
            <a:prstGeom prst="straightConnector1">
              <a:avLst/>
            </a:prstGeom>
            <a:noFill/>
            <a:ln cap="flat" cmpd="sng" w="31750">
              <a:solidFill>
                <a:schemeClr val="dk1"/>
              </a:solidFill>
              <a:prstDash val="solid"/>
              <a:round/>
              <a:headEnd len="med" w="med" type="none"/>
              <a:tailEnd len="med" w="med" type="triangle"/>
            </a:ln>
          </p:spPr>
        </p:cxnSp>
      </p:grpSp>
      <p:grpSp>
        <p:nvGrpSpPr>
          <p:cNvPr id="602" name="Google Shape;602;p27"/>
          <p:cNvGrpSpPr/>
          <p:nvPr/>
        </p:nvGrpSpPr>
        <p:grpSpPr>
          <a:xfrm>
            <a:off x="828675" y="2008188"/>
            <a:ext cx="7464425" cy="461962"/>
            <a:chOff x="828675" y="4080730"/>
            <a:chExt cx="7464426" cy="461665"/>
          </a:xfrm>
        </p:grpSpPr>
        <p:sp>
          <p:nvSpPr>
            <p:cNvPr id="603" name="Google Shape;603;p27"/>
            <p:cNvSpPr/>
            <p:nvPr/>
          </p:nvSpPr>
          <p:spPr>
            <a:xfrm>
              <a:off x="965200" y="4090249"/>
              <a:ext cx="1358900" cy="32046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 kx</a:t>
              </a:r>
              <a:endParaRPr i="1" sz="2400">
                <a:solidFill>
                  <a:schemeClr val="dk1"/>
                </a:solidFill>
                <a:latin typeface="Arial"/>
                <a:ea typeface="Arial"/>
                <a:cs typeface="Arial"/>
                <a:sym typeface="Arial"/>
              </a:endParaRPr>
            </a:p>
          </p:txBody>
        </p:sp>
        <p:sp>
          <p:nvSpPr>
            <p:cNvPr id="604" name="Google Shape;604;p27"/>
            <p:cNvSpPr txBox="1"/>
            <p:nvPr/>
          </p:nvSpPr>
          <p:spPr>
            <a:xfrm>
              <a:off x="3497263" y="4080730"/>
              <a:ext cx="4795838"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Hooke’s Law (the spring force)</a:t>
              </a:r>
              <a:endParaRPr/>
            </a:p>
          </p:txBody>
        </p:sp>
        <p:sp>
          <p:nvSpPr>
            <p:cNvPr id="605" name="Google Shape;605;p27"/>
            <p:cNvSpPr/>
            <p:nvPr/>
          </p:nvSpPr>
          <p:spPr>
            <a:xfrm>
              <a:off x="828675" y="4083903"/>
              <a:ext cx="7462839"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02"/>
                                        </p:tgtEl>
                                        <p:attrNameLst>
                                          <p:attrName>style.visibility</p:attrName>
                                        </p:attrNameLst>
                                      </p:cBhvr>
                                      <p:to>
                                        <p:strVal val="visible"/>
                                      </p:to>
                                    </p:set>
                                    <p:anim calcmode="lin" valueType="num">
                                      <p:cBhvr additive="base">
                                        <p:cTn dur="500"/>
                                        <p:tgtEl>
                                          <p:spTgt spid="602"/>
                                        </p:tgtEl>
                                        <p:attrNameLst>
                                          <p:attrName>ppt_w</p:attrName>
                                        </p:attrNameLst>
                                      </p:cBhvr>
                                      <p:tavLst>
                                        <p:tav fmla="" tm="0">
                                          <p:val>
                                            <p:strVal val="0"/>
                                          </p:val>
                                        </p:tav>
                                        <p:tav fmla="" tm="100000">
                                          <p:val>
                                            <p:strVal val="#ppt_w"/>
                                          </p:val>
                                        </p:tav>
                                      </p:tavLst>
                                    </p:anim>
                                    <p:anim calcmode="lin" valueType="num">
                                      <p:cBhvr additive="base">
                                        <p:cTn dur="500"/>
                                        <p:tgtEl>
                                          <p:spTgt spid="60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20">
                                            <p:txEl>
                                              <p:pRg end="0" st="0"/>
                                            </p:txEl>
                                          </p:spTgt>
                                        </p:tgtEl>
                                        <p:attrNameLst>
                                          <p:attrName>style.visibility</p:attrName>
                                        </p:attrNameLst>
                                      </p:cBhvr>
                                      <p:to>
                                        <p:strVal val="visible"/>
                                      </p:to>
                                    </p:set>
                                    <p:anim calcmode="lin" valueType="num">
                                      <p:cBhvr additive="base">
                                        <p:cTn dur="500"/>
                                        <p:tgtEl>
                                          <p:spTgt spid="52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20">
                                            <p:txEl>
                                              <p:pRg end="1" st="1"/>
                                            </p:txEl>
                                          </p:spTgt>
                                        </p:tgtEl>
                                        <p:attrNameLst>
                                          <p:attrName>style.visibility</p:attrName>
                                        </p:attrNameLst>
                                      </p:cBhvr>
                                      <p:to>
                                        <p:strVal val="visible"/>
                                      </p:to>
                                    </p:set>
                                    <p:anim calcmode="lin" valueType="num">
                                      <p:cBhvr additive="base">
                                        <p:cTn dur="500"/>
                                        <p:tgtEl>
                                          <p:spTgt spid="52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20">
                                            <p:txEl>
                                              <p:pRg end="2" st="2"/>
                                            </p:txEl>
                                          </p:spTgt>
                                        </p:tgtEl>
                                        <p:attrNameLst>
                                          <p:attrName>style.visibility</p:attrName>
                                        </p:attrNameLst>
                                      </p:cBhvr>
                                      <p:to>
                                        <p:strVal val="visible"/>
                                      </p:to>
                                    </p:set>
                                    <p:anim calcmode="lin" valueType="num">
                                      <p:cBhvr additive="base">
                                        <p:cTn dur="500"/>
                                        <p:tgtEl>
                                          <p:spTgt spid="52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20">
                                            <p:txEl>
                                              <p:pRg end="3" st="3"/>
                                            </p:txEl>
                                          </p:spTgt>
                                        </p:tgtEl>
                                        <p:attrNameLst>
                                          <p:attrName>style.visibility</p:attrName>
                                        </p:attrNameLst>
                                      </p:cBhvr>
                                      <p:to>
                                        <p:strVal val="visible"/>
                                      </p:to>
                                    </p:set>
                                    <p:anim calcmode="lin" valueType="num">
                                      <p:cBhvr additive="base">
                                        <p:cTn dur="500"/>
                                        <p:tgtEl>
                                          <p:spTgt spid="52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20">
                                            <p:txEl>
                                              <p:pRg end="4" st="4"/>
                                            </p:txEl>
                                          </p:spTgt>
                                        </p:tgtEl>
                                        <p:attrNameLst>
                                          <p:attrName>style.visibility</p:attrName>
                                        </p:attrNameLst>
                                      </p:cBhvr>
                                      <p:to>
                                        <p:strVal val="visible"/>
                                      </p:to>
                                    </p:set>
                                    <p:anim calcmode="lin" valueType="num">
                                      <p:cBhvr additive="base">
                                        <p:cTn dur="500"/>
                                        <p:tgtEl>
                                          <p:spTgt spid="52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20">
                                            <p:txEl>
                                              <p:pRg end="5" st="5"/>
                                            </p:txEl>
                                          </p:spTgt>
                                        </p:tgtEl>
                                        <p:attrNameLst>
                                          <p:attrName>style.visibility</p:attrName>
                                        </p:attrNameLst>
                                      </p:cBhvr>
                                      <p:to>
                                        <p:strVal val="visible"/>
                                      </p:to>
                                    </p:set>
                                    <p:anim calcmode="lin" valueType="num">
                                      <p:cBhvr additive="base">
                                        <p:cTn dur="500"/>
                                        <p:tgtEl>
                                          <p:spTgt spid="52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20">
                                            <p:txEl>
                                              <p:pRg end="6" st="6"/>
                                            </p:txEl>
                                          </p:spTgt>
                                        </p:tgtEl>
                                        <p:attrNameLst>
                                          <p:attrName>style.visibility</p:attrName>
                                        </p:attrNameLst>
                                      </p:cBhvr>
                                      <p:to>
                                        <p:strVal val="visible"/>
                                      </p:to>
                                    </p:set>
                                    <p:anim calcmode="lin" valueType="num">
                                      <p:cBhvr additive="base">
                                        <p:cTn dur="500"/>
                                        <p:tgtEl>
                                          <p:spTgt spid="52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500"/>
                                        <p:tgtEl>
                                          <p:spTgt spid="5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9"/>
                                        </p:tgtEl>
                                        <p:attrNameLst>
                                          <p:attrName>style.visibility</p:attrName>
                                        </p:attrNameLst>
                                      </p:cBhvr>
                                      <p:to>
                                        <p:strVal val="visible"/>
                                      </p:to>
                                    </p:set>
                                    <p:animEffect filter="fade" transition="in">
                                      <p:cBhvr>
                                        <p:cTn dur="500"/>
                                        <p:tgtEl>
                                          <p:spTgt spid="5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500"/>
                                        <p:tgtEl>
                                          <p:spTgt spid="5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90"/>
                                        </p:tgtEl>
                                        <p:attrNameLst>
                                          <p:attrName>style.visibility</p:attrName>
                                        </p:attrNameLst>
                                      </p:cBhvr>
                                      <p:to>
                                        <p:strVal val="visible"/>
                                      </p:to>
                                    </p:set>
                                    <p:anim calcmode="lin" valueType="num">
                                      <p:cBhvr additive="base">
                                        <p:cTn dur="2000"/>
                                        <p:tgtEl>
                                          <p:spTgt spid="59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8">
                                  <p:stCondLst>
                                    <p:cond delay="0"/>
                                  </p:stCondLst>
                                  <p:childTnLst>
                                    <p:set>
                                      <p:cBhvr>
                                        <p:cTn dur="1" fill="hold">
                                          <p:stCondLst>
                                            <p:cond delay="0"/>
                                          </p:stCondLst>
                                        </p:cTn>
                                        <p:tgtEl>
                                          <p:spTgt spid="591"/>
                                        </p:tgtEl>
                                        <p:attrNameLst>
                                          <p:attrName>style.visibility</p:attrName>
                                        </p:attrNameLst>
                                      </p:cBhvr>
                                      <p:to>
                                        <p:strVal val="visible"/>
                                      </p:to>
                                    </p:set>
                                    <p:anim calcmode="lin" valueType="num">
                                      <p:cBhvr additive="base">
                                        <p:cTn dur="2000"/>
                                        <p:tgtEl>
                                          <p:spTgt spid="59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592"/>
                                        </p:tgtEl>
                                        <p:attrNameLst>
                                          <p:attrName>style.visibility</p:attrName>
                                        </p:attrNameLst>
                                      </p:cBhvr>
                                      <p:to>
                                        <p:strVal val="visible"/>
                                      </p:to>
                                    </p:set>
                                    <p:anim calcmode="lin" valueType="num">
                                      <p:cBhvr additive="base">
                                        <p:cTn dur="2000"/>
                                        <p:tgtEl>
                                          <p:spTgt spid="5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8">
                                  <p:stCondLst>
                                    <p:cond delay="0"/>
                                  </p:stCondLst>
                                  <p:childTnLst>
                                    <p:set>
                                      <p:cBhvr>
                                        <p:cTn dur="1" fill="hold">
                                          <p:stCondLst>
                                            <p:cond delay="0"/>
                                          </p:stCondLst>
                                        </p:cTn>
                                        <p:tgtEl>
                                          <p:spTgt spid="593"/>
                                        </p:tgtEl>
                                        <p:attrNameLst>
                                          <p:attrName>style.visibility</p:attrName>
                                        </p:attrNameLst>
                                      </p:cBhvr>
                                      <p:to>
                                        <p:strVal val="visible"/>
                                      </p:to>
                                    </p:set>
                                    <p:anim calcmode="lin" valueType="num">
                                      <p:cBhvr additive="base">
                                        <p:cTn dur="2000"/>
                                        <p:tgtEl>
                                          <p:spTgt spid="59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594"/>
                                        </p:tgtEl>
                                        <p:attrNameLst>
                                          <p:attrName>style.visibility</p:attrName>
                                        </p:attrNameLst>
                                      </p:cBhvr>
                                      <p:to>
                                        <p:strVal val="visible"/>
                                      </p:to>
                                    </p:set>
                                    <p:anim calcmode="lin" valueType="num">
                                      <p:cBhvr additive="base">
                                        <p:cTn dur="2000"/>
                                        <p:tgtEl>
                                          <p:spTgt spid="59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595"/>
                                        </p:tgtEl>
                                        <p:attrNameLst>
                                          <p:attrName>style.visibility</p:attrName>
                                        </p:attrNameLst>
                                      </p:cBhvr>
                                      <p:to>
                                        <p:strVal val="visible"/>
                                      </p:to>
                                    </p:set>
                                    <p:anim calcmode="lin" valueType="num">
                                      <p:cBhvr additive="base">
                                        <p:cTn dur="2000"/>
                                        <p:tgtEl>
                                          <p:spTgt spid="59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596"/>
                                        </p:tgtEl>
                                        <p:attrNameLst>
                                          <p:attrName>style.visibility</p:attrName>
                                        </p:attrNameLst>
                                      </p:cBhvr>
                                      <p:to>
                                        <p:strVal val="visible"/>
                                      </p:to>
                                    </p:set>
                                    <p:anim calcmode="lin" valueType="num">
                                      <p:cBhvr additive="base">
                                        <p:cTn dur="2000"/>
                                        <p:tgtEl>
                                          <p:spTgt spid="59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597"/>
                                        </p:tgtEl>
                                        <p:attrNameLst>
                                          <p:attrName>style.visibility</p:attrName>
                                        </p:attrNameLst>
                                      </p:cBhvr>
                                      <p:to>
                                        <p:strVal val="visible"/>
                                      </p:to>
                                    </p:set>
                                    <p:anim calcmode="lin" valueType="num">
                                      <p:cBhvr additive="base">
                                        <p:cTn dur="2000"/>
                                        <p:tgtEl>
                                          <p:spTgt spid="59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1000"/>
                                        <p:tgtEl>
                                          <p:spTgt spid="5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8"/>
                                        </p:tgtEl>
                                        <p:attrNameLst>
                                          <p:attrName>style.visibility</p:attrName>
                                        </p:attrNameLst>
                                      </p:cBhvr>
                                      <p:to>
                                        <p:strVal val="visible"/>
                                      </p:to>
                                    </p:set>
                                    <p:anim calcmode="lin" valueType="num">
                                      <p:cBhvr additive="base">
                                        <p:cTn dur="500"/>
                                        <p:tgtEl>
                                          <p:spTgt spid="59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28"/>
          <p:cNvSpPr/>
          <p:nvPr/>
        </p:nvSpPr>
        <p:spPr>
          <a:xfrm>
            <a:off x="685800" y="1549400"/>
            <a:ext cx="7772400" cy="11080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Sketching and interpreting force – distance graphs </a:t>
            </a:r>
            <a:r>
              <a:rPr lang="en-US" sz="2000">
                <a:solidFill>
                  <a:schemeClr val="dk1"/>
                </a:solidFill>
                <a:latin typeface="Courier New"/>
                <a:ea typeface="Courier New"/>
                <a:cs typeface="Courier New"/>
                <a:sym typeface="Courier New"/>
              </a:rPr>
              <a:t>	</a:t>
            </a:r>
            <a:endParaRPr/>
          </a:p>
        </p:txBody>
      </p:sp>
      <p:sp>
        <p:nvSpPr>
          <p:cNvPr id="612" name="Google Shape;612;p28"/>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613" name="Google Shape;613;p28"/>
          <p:cNvSpPr/>
          <p:nvPr/>
        </p:nvSpPr>
        <p:spPr>
          <a:xfrm>
            <a:off x="674688" y="2551113"/>
            <a:ext cx="7781925" cy="430688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A force vs. displacement plot for a spring is shown. Find the work done by you if you displace the spring from 0 to 40 mm.</a:t>
            </a:r>
            <a:endParaRPr/>
          </a:p>
          <a:p>
            <a:pPr indent="0" lvl="0" marL="0" marR="0" rtl="0" algn="l">
              <a:spcBef>
                <a:spcPts val="400"/>
              </a:spcBef>
              <a:spcAft>
                <a:spcPts val="0"/>
              </a:spcAft>
              <a:buNone/>
            </a:pPr>
            <a:r>
              <a:rPr lang="en-US" sz="2400">
                <a:solidFill>
                  <a:schemeClr val="dk1"/>
                </a:solidFill>
                <a:latin typeface="Arial"/>
                <a:ea typeface="Arial"/>
                <a:cs typeface="Arial"/>
                <a:sym typeface="Arial"/>
              </a:rPr>
              <a:t>SOLUTION:</a:t>
            </a:r>
            <a:endParaRPr/>
          </a:p>
          <a:p>
            <a:pPr indent="-152400" lvl="0" marL="0" marR="0" rtl="0" algn="l">
              <a:spcBef>
                <a:spcPts val="40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The graph shows the force </a:t>
            </a:r>
            <a:r>
              <a:rPr i="1" lang="en-US" sz="2400">
                <a:solidFill>
                  <a:srgbClr val="008000"/>
                </a:solidFill>
                <a:latin typeface="Arial"/>
                <a:ea typeface="Arial"/>
                <a:cs typeface="Arial"/>
                <a:sym typeface="Arial"/>
              </a:rPr>
              <a:t>F</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of the spring, not </a:t>
            </a:r>
            <a:r>
              <a:rPr i="1" lang="en-US" sz="2400">
                <a:solidFill>
                  <a:schemeClr val="dk1"/>
                </a:solidFill>
                <a:latin typeface="Arial"/>
                <a:ea typeface="Arial"/>
                <a:cs typeface="Arial"/>
                <a:sym typeface="Arial"/>
              </a:rPr>
              <a:t>your</a:t>
            </a:r>
            <a:r>
              <a:rPr lang="en-US" sz="2400">
                <a:solidFill>
                  <a:schemeClr val="dk1"/>
                </a:solidFill>
                <a:latin typeface="Arial"/>
                <a:ea typeface="Arial"/>
                <a:cs typeface="Arial"/>
                <a:sym typeface="Arial"/>
              </a:rPr>
              <a:t> force.</a:t>
            </a:r>
            <a:endParaRPr sz="2400">
              <a:solidFill>
                <a:schemeClr val="dk1"/>
              </a:solidFill>
              <a:latin typeface="Arial"/>
              <a:ea typeface="Arial"/>
              <a:cs typeface="Arial"/>
              <a:sym typeface="Arial"/>
            </a:endParaRPr>
          </a:p>
          <a:p>
            <a:pPr indent="-152400" lvl="0" marL="0" marR="0" rtl="0" algn="l">
              <a:spcBef>
                <a:spcPts val="40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The force </a:t>
            </a:r>
            <a:r>
              <a:rPr i="1" lang="en-US" sz="2400">
                <a:solidFill>
                  <a:schemeClr val="dk1"/>
                </a:solidFill>
                <a:latin typeface="Arial"/>
                <a:ea typeface="Arial"/>
                <a:cs typeface="Arial"/>
                <a:sym typeface="Arial"/>
              </a:rPr>
              <a:t>you</a:t>
            </a:r>
            <a:r>
              <a:rPr lang="en-US" sz="2400">
                <a:solidFill>
                  <a:schemeClr val="dk1"/>
                </a:solidFill>
                <a:latin typeface="Arial"/>
                <a:ea typeface="Arial"/>
                <a:cs typeface="Arial"/>
                <a:sym typeface="Arial"/>
              </a:rPr>
              <a:t> apply will be                                                 opposite to the spring’s force                                           according to </a:t>
            </a:r>
            <a:r>
              <a:rPr i="1" lang="en-US" sz="2400">
                <a:solidFill>
                  <a:srgbClr val="FF0000"/>
                </a:solidFill>
                <a:latin typeface="Arial"/>
                <a:ea typeface="Arial"/>
                <a:cs typeface="Arial"/>
                <a:sym typeface="Arial"/>
              </a:rPr>
              <a:t>F</a:t>
            </a:r>
            <a:r>
              <a:rPr lang="en-US" sz="2400">
                <a:solidFill>
                  <a:schemeClr val="dk1"/>
                </a:solidFill>
                <a:latin typeface="Arial"/>
                <a:ea typeface="Arial"/>
                <a:cs typeface="Arial"/>
                <a:sym typeface="Arial"/>
              </a:rPr>
              <a:t> = </a:t>
            </a:r>
            <a:r>
              <a:rPr baseline="30000"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kx</a:t>
            </a:r>
            <a:r>
              <a:rPr lang="en-US" sz="2400">
                <a:solidFill>
                  <a:schemeClr val="dk1"/>
                </a:solidFill>
                <a:latin typeface="Arial"/>
                <a:ea typeface="Arial"/>
                <a:cs typeface="Arial"/>
                <a:sym typeface="Arial"/>
              </a:rPr>
              <a:t>.</a:t>
            </a:r>
            <a:endParaRPr/>
          </a:p>
          <a:p>
            <a:pPr indent="-152400" lvl="0" marL="0" marR="0" rtl="0" algn="l">
              <a:spcBef>
                <a:spcPts val="400"/>
              </a:spcBef>
              <a:spcAft>
                <a:spcPts val="0"/>
              </a:spcAft>
              <a:buClr>
                <a:schemeClr val="dk1"/>
              </a:buClr>
              <a:buSzPts val="2400"/>
              <a:buFont typeface="Noto Sans Symbols"/>
              <a:buChar char="∙"/>
            </a:pP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baseline="30000"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kx</a:t>
            </a:r>
            <a:r>
              <a:rPr lang="en-US" sz="2400">
                <a:solidFill>
                  <a:schemeClr val="dk1"/>
                </a:solidFill>
                <a:latin typeface="Arial"/>
                <a:ea typeface="Arial"/>
                <a:cs typeface="Arial"/>
                <a:sym typeface="Arial"/>
              </a:rPr>
              <a:t> is plotted in </a:t>
            </a:r>
            <a:r>
              <a:rPr lang="en-US" sz="2400">
                <a:solidFill>
                  <a:srgbClr val="FF0000"/>
                </a:solidFill>
                <a:latin typeface="Arial"/>
                <a:ea typeface="Arial"/>
                <a:cs typeface="Arial"/>
                <a:sym typeface="Arial"/>
              </a:rPr>
              <a:t>red</a:t>
            </a:r>
            <a:r>
              <a:rPr lang="en-US" sz="2400">
                <a:solidFill>
                  <a:schemeClr val="dk1"/>
                </a:solidFill>
                <a:latin typeface="Arial"/>
                <a:ea typeface="Arial"/>
                <a:cs typeface="Arial"/>
                <a:sym typeface="Arial"/>
              </a:rPr>
              <a:t>.</a:t>
            </a:r>
            <a:endParaRPr/>
          </a:p>
        </p:txBody>
      </p:sp>
      <p:grpSp>
        <p:nvGrpSpPr>
          <p:cNvPr id="614" name="Google Shape;614;p28"/>
          <p:cNvGrpSpPr/>
          <p:nvPr/>
        </p:nvGrpSpPr>
        <p:grpSpPr>
          <a:xfrm>
            <a:off x="828675" y="2008188"/>
            <a:ext cx="7464425" cy="461962"/>
            <a:chOff x="828675" y="4080730"/>
            <a:chExt cx="7464426" cy="461665"/>
          </a:xfrm>
        </p:grpSpPr>
        <p:sp>
          <p:nvSpPr>
            <p:cNvPr id="615" name="Google Shape;615;p28"/>
            <p:cNvSpPr/>
            <p:nvPr/>
          </p:nvSpPr>
          <p:spPr>
            <a:xfrm>
              <a:off x="965200" y="4090249"/>
              <a:ext cx="1358900" cy="32046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 kx</a:t>
              </a:r>
              <a:endParaRPr i="1" sz="2400">
                <a:solidFill>
                  <a:schemeClr val="dk1"/>
                </a:solidFill>
                <a:latin typeface="Arial"/>
                <a:ea typeface="Arial"/>
                <a:cs typeface="Arial"/>
                <a:sym typeface="Arial"/>
              </a:endParaRPr>
            </a:p>
          </p:txBody>
        </p:sp>
        <p:sp>
          <p:nvSpPr>
            <p:cNvPr id="616" name="Google Shape;616;p28"/>
            <p:cNvSpPr txBox="1"/>
            <p:nvPr/>
          </p:nvSpPr>
          <p:spPr>
            <a:xfrm>
              <a:off x="3497263" y="4080730"/>
              <a:ext cx="4795838"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Hooke’s Law (the spring force)</a:t>
              </a:r>
              <a:endParaRPr/>
            </a:p>
          </p:txBody>
        </p:sp>
        <p:sp>
          <p:nvSpPr>
            <p:cNvPr id="617" name="Google Shape;617;p28"/>
            <p:cNvSpPr/>
            <p:nvPr/>
          </p:nvSpPr>
          <p:spPr>
            <a:xfrm>
              <a:off x="828675" y="4083903"/>
              <a:ext cx="7462839"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grpSp>
        <p:nvGrpSpPr>
          <p:cNvPr id="618" name="Google Shape;618;p28"/>
          <p:cNvGrpSpPr/>
          <p:nvPr/>
        </p:nvGrpSpPr>
        <p:grpSpPr>
          <a:xfrm>
            <a:off x="4924425" y="3699193"/>
            <a:ext cx="4089400" cy="2559050"/>
            <a:chOff x="5076091" y="3211572"/>
            <a:chExt cx="4089401" cy="2559110"/>
          </a:xfrm>
        </p:grpSpPr>
        <p:grpSp>
          <p:nvGrpSpPr>
            <p:cNvPr id="619" name="Google Shape;619;p28"/>
            <p:cNvGrpSpPr/>
            <p:nvPr/>
          </p:nvGrpSpPr>
          <p:grpSpPr>
            <a:xfrm>
              <a:off x="5604728" y="3595747"/>
              <a:ext cx="2659063" cy="1773238"/>
              <a:chOff x="3648" y="1295"/>
              <a:chExt cx="1152" cy="768"/>
            </a:xfrm>
          </p:grpSpPr>
          <p:sp>
            <p:nvSpPr>
              <p:cNvPr id="620" name="Google Shape;620;p28"/>
              <p:cNvSpPr/>
              <p:nvPr/>
            </p:nvSpPr>
            <p:spPr>
              <a:xfrm>
                <a:off x="3648"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21" name="Google Shape;621;p28"/>
              <p:cNvSpPr/>
              <p:nvPr/>
            </p:nvSpPr>
            <p:spPr>
              <a:xfrm>
                <a:off x="3792"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22" name="Google Shape;622;p28"/>
              <p:cNvSpPr/>
              <p:nvPr/>
            </p:nvSpPr>
            <p:spPr>
              <a:xfrm>
                <a:off x="3936"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23" name="Google Shape;623;p28"/>
              <p:cNvSpPr/>
              <p:nvPr/>
            </p:nvSpPr>
            <p:spPr>
              <a:xfrm>
                <a:off x="4080"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24" name="Google Shape;624;p28"/>
              <p:cNvSpPr/>
              <p:nvPr/>
            </p:nvSpPr>
            <p:spPr>
              <a:xfrm>
                <a:off x="4224"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25" name="Google Shape;625;p28"/>
              <p:cNvSpPr/>
              <p:nvPr/>
            </p:nvSpPr>
            <p:spPr>
              <a:xfrm>
                <a:off x="4368"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26" name="Google Shape;626;p28"/>
              <p:cNvSpPr/>
              <p:nvPr/>
            </p:nvSpPr>
            <p:spPr>
              <a:xfrm>
                <a:off x="4512"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27" name="Google Shape;627;p28"/>
              <p:cNvSpPr/>
              <p:nvPr/>
            </p:nvSpPr>
            <p:spPr>
              <a:xfrm>
                <a:off x="4656"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28" name="Google Shape;628;p28"/>
              <p:cNvSpPr/>
              <p:nvPr/>
            </p:nvSpPr>
            <p:spPr>
              <a:xfrm>
                <a:off x="3648"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29" name="Google Shape;629;p28"/>
              <p:cNvSpPr/>
              <p:nvPr/>
            </p:nvSpPr>
            <p:spPr>
              <a:xfrm>
                <a:off x="3792"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30" name="Google Shape;630;p28"/>
              <p:cNvSpPr/>
              <p:nvPr/>
            </p:nvSpPr>
            <p:spPr>
              <a:xfrm>
                <a:off x="3936"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31" name="Google Shape;631;p28"/>
              <p:cNvSpPr/>
              <p:nvPr/>
            </p:nvSpPr>
            <p:spPr>
              <a:xfrm>
                <a:off x="4080"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32" name="Google Shape;632;p28"/>
              <p:cNvSpPr/>
              <p:nvPr/>
            </p:nvSpPr>
            <p:spPr>
              <a:xfrm>
                <a:off x="4224"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33" name="Google Shape;633;p28"/>
              <p:cNvSpPr/>
              <p:nvPr/>
            </p:nvSpPr>
            <p:spPr>
              <a:xfrm>
                <a:off x="4368"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34" name="Google Shape;634;p28"/>
              <p:cNvSpPr/>
              <p:nvPr/>
            </p:nvSpPr>
            <p:spPr>
              <a:xfrm>
                <a:off x="4512"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35" name="Google Shape;635;p28"/>
              <p:cNvSpPr/>
              <p:nvPr/>
            </p:nvSpPr>
            <p:spPr>
              <a:xfrm>
                <a:off x="4656"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36" name="Google Shape;636;p28"/>
              <p:cNvSpPr/>
              <p:nvPr/>
            </p:nvSpPr>
            <p:spPr>
              <a:xfrm>
                <a:off x="3648"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37" name="Google Shape;637;p28"/>
              <p:cNvSpPr/>
              <p:nvPr/>
            </p:nvSpPr>
            <p:spPr>
              <a:xfrm>
                <a:off x="3792"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38" name="Google Shape;638;p28"/>
              <p:cNvSpPr/>
              <p:nvPr/>
            </p:nvSpPr>
            <p:spPr>
              <a:xfrm>
                <a:off x="3936"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39" name="Google Shape;639;p28"/>
              <p:cNvSpPr/>
              <p:nvPr/>
            </p:nvSpPr>
            <p:spPr>
              <a:xfrm>
                <a:off x="4080"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40" name="Google Shape;640;p28"/>
              <p:cNvSpPr/>
              <p:nvPr/>
            </p:nvSpPr>
            <p:spPr>
              <a:xfrm>
                <a:off x="4224"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41" name="Google Shape;641;p28"/>
              <p:cNvSpPr/>
              <p:nvPr/>
            </p:nvSpPr>
            <p:spPr>
              <a:xfrm>
                <a:off x="4368"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42" name="Google Shape;642;p28"/>
              <p:cNvSpPr/>
              <p:nvPr/>
            </p:nvSpPr>
            <p:spPr>
              <a:xfrm>
                <a:off x="4512"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43" name="Google Shape;643;p28"/>
              <p:cNvSpPr/>
              <p:nvPr/>
            </p:nvSpPr>
            <p:spPr>
              <a:xfrm>
                <a:off x="4656"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44" name="Google Shape;644;p28"/>
              <p:cNvSpPr/>
              <p:nvPr/>
            </p:nvSpPr>
            <p:spPr>
              <a:xfrm>
                <a:off x="3648"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45" name="Google Shape;645;p28"/>
              <p:cNvSpPr/>
              <p:nvPr/>
            </p:nvSpPr>
            <p:spPr>
              <a:xfrm>
                <a:off x="3792"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46" name="Google Shape;646;p28"/>
              <p:cNvSpPr/>
              <p:nvPr/>
            </p:nvSpPr>
            <p:spPr>
              <a:xfrm>
                <a:off x="3936"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47" name="Google Shape;647;p28"/>
              <p:cNvSpPr/>
              <p:nvPr/>
            </p:nvSpPr>
            <p:spPr>
              <a:xfrm>
                <a:off x="4080"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48" name="Google Shape;648;p28"/>
              <p:cNvSpPr/>
              <p:nvPr/>
            </p:nvSpPr>
            <p:spPr>
              <a:xfrm>
                <a:off x="4224"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49" name="Google Shape;649;p28"/>
              <p:cNvSpPr/>
              <p:nvPr/>
            </p:nvSpPr>
            <p:spPr>
              <a:xfrm>
                <a:off x="4368"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50" name="Google Shape;650;p28"/>
              <p:cNvSpPr/>
              <p:nvPr/>
            </p:nvSpPr>
            <p:spPr>
              <a:xfrm>
                <a:off x="4512"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51" name="Google Shape;651;p28"/>
              <p:cNvSpPr/>
              <p:nvPr/>
            </p:nvSpPr>
            <p:spPr>
              <a:xfrm>
                <a:off x="4656"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52" name="Google Shape;652;p28"/>
              <p:cNvSpPr/>
              <p:nvPr/>
            </p:nvSpPr>
            <p:spPr>
              <a:xfrm>
                <a:off x="3648"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53" name="Google Shape;653;p28"/>
              <p:cNvSpPr/>
              <p:nvPr/>
            </p:nvSpPr>
            <p:spPr>
              <a:xfrm>
                <a:off x="3792"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54" name="Google Shape;654;p28"/>
              <p:cNvSpPr/>
              <p:nvPr/>
            </p:nvSpPr>
            <p:spPr>
              <a:xfrm>
                <a:off x="3936"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55" name="Google Shape;655;p28"/>
              <p:cNvSpPr/>
              <p:nvPr/>
            </p:nvSpPr>
            <p:spPr>
              <a:xfrm>
                <a:off x="4080"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56" name="Google Shape;656;p28"/>
              <p:cNvSpPr/>
              <p:nvPr/>
            </p:nvSpPr>
            <p:spPr>
              <a:xfrm>
                <a:off x="4224"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57" name="Google Shape;657;p28"/>
              <p:cNvSpPr/>
              <p:nvPr/>
            </p:nvSpPr>
            <p:spPr>
              <a:xfrm>
                <a:off x="4368"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58" name="Google Shape;658;p28"/>
              <p:cNvSpPr/>
              <p:nvPr/>
            </p:nvSpPr>
            <p:spPr>
              <a:xfrm>
                <a:off x="4512"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59" name="Google Shape;659;p28"/>
              <p:cNvSpPr/>
              <p:nvPr/>
            </p:nvSpPr>
            <p:spPr>
              <a:xfrm>
                <a:off x="4656"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60" name="Google Shape;660;p28"/>
              <p:cNvSpPr/>
              <p:nvPr/>
            </p:nvSpPr>
            <p:spPr>
              <a:xfrm>
                <a:off x="3648"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61" name="Google Shape;661;p28"/>
              <p:cNvSpPr/>
              <p:nvPr/>
            </p:nvSpPr>
            <p:spPr>
              <a:xfrm>
                <a:off x="3792"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62" name="Google Shape;662;p28"/>
              <p:cNvSpPr/>
              <p:nvPr/>
            </p:nvSpPr>
            <p:spPr>
              <a:xfrm>
                <a:off x="3936"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63" name="Google Shape;663;p28"/>
              <p:cNvSpPr/>
              <p:nvPr/>
            </p:nvSpPr>
            <p:spPr>
              <a:xfrm>
                <a:off x="4080"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64" name="Google Shape;664;p28"/>
              <p:cNvSpPr/>
              <p:nvPr/>
            </p:nvSpPr>
            <p:spPr>
              <a:xfrm>
                <a:off x="4224"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65" name="Google Shape;665;p28"/>
              <p:cNvSpPr/>
              <p:nvPr/>
            </p:nvSpPr>
            <p:spPr>
              <a:xfrm>
                <a:off x="4368"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66" name="Google Shape;666;p28"/>
              <p:cNvSpPr/>
              <p:nvPr/>
            </p:nvSpPr>
            <p:spPr>
              <a:xfrm>
                <a:off x="4512"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67" name="Google Shape;667;p28"/>
              <p:cNvSpPr/>
              <p:nvPr/>
            </p:nvSpPr>
            <p:spPr>
              <a:xfrm>
                <a:off x="4656"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68" name="Google Shape;668;p28"/>
              <p:cNvSpPr/>
              <p:nvPr/>
            </p:nvSpPr>
            <p:spPr>
              <a:xfrm>
                <a:off x="3648"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69" name="Google Shape;669;p28"/>
              <p:cNvSpPr/>
              <p:nvPr/>
            </p:nvSpPr>
            <p:spPr>
              <a:xfrm>
                <a:off x="3792"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70" name="Google Shape;670;p28"/>
              <p:cNvSpPr/>
              <p:nvPr/>
            </p:nvSpPr>
            <p:spPr>
              <a:xfrm>
                <a:off x="3936"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71" name="Google Shape;671;p28"/>
              <p:cNvSpPr/>
              <p:nvPr/>
            </p:nvSpPr>
            <p:spPr>
              <a:xfrm>
                <a:off x="4080"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72" name="Google Shape;672;p28"/>
              <p:cNvSpPr/>
              <p:nvPr/>
            </p:nvSpPr>
            <p:spPr>
              <a:xfrm>
                <a:off x="4224"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73" name="Google Shape;673;p28"/>
              <p:cNvSpPr/>
              <p:nvPr/>
            </p:nvSpPr>
            <p:spPr>
              <a:xfrm>
                <a:off x="4368"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74" name="Google Shape;674;p28"/>
              <p:cNvSpPr/>
              <p:nvPr/>
            </p:nvSpPr>
            <p:spPr>
              <a:xfrm>
                <a:off x="4512"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75" name="Google Shape;675;p28"/>
              <p:cNvSpPr/>
              <p:nvPr/>
            </p:nvSpPr>
            <p:spPr>
              <a:xfrm>
                <a:off x="4656"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76" name="Google Shape;676;p28"/>
              <p:cNvSpPr/>
              <p:nvPr/>
            </p:nvSpPr>
            <p:spPr>
              <a:xfrm>
                <a:off x="3648"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77" name="Google Shape;677;p28"/>
              <p:cNvSpPr/>
              <p:nvPr/>
            </p:nvSpPr>
            <p:spPr>
              <a:xfrm>
                <a:off x="3792"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78" name="Google Shape;678;p28"/>
              <p:cNvSpPr/>
              <p:nvPr/>
            </p:nvSpPr>
            <p:spPr>
              <a:xfrm>
                <a:off x="3936"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79" name="Google Shape;679;p28"/>
              <p:cNvSpPr/>
              <p:nvPr/>
            </p:nvSpPr>
            <p:spPr>
              <a:xfrm>
                <a:off x="4080"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80" name="Google Shape;680;p28"/>
              <p:cNvSpPr/>
              <p:nvPr/>
            </p:nvSpPr>
            <p:spPr>
              <a:xfrm>
                <a:off x="4224"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81" name="Google Shape;681;p28"/>
              <p:cNvSpPr/>
              <p:nvPr/>
            </p:nvSpPr>
            <p:spPr>
              <a:xfrm>
                <a:off x="4368"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82" name="Google Shape;682;p28"/>
              <p:cNvSpPr/>
              <p:nvPr/>
            </p:nvSpPr>
            <p:spPr>
              <a:xfrm>
                <a:off x="4512"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683" name="Google Shape;683;p28"/>
              <p:cNvSpPr/>
              <p:nvPr/>
            </p:nvSpPr>
            <p:spPr>
              <a:xfrm>
                <a:off x="4656"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cxnSp>
          <p:nvCxnSpPr>
            <p:cNvPr id="684" name="Google Shape;684;p28"/>
            <p:cNvCxnSpPr/>
            <p:nvPr/>
          </p:nvCxnSpPr>
          <p:spPr>
            <a:xfrm>
              <a:off x="5604728" y="3595747"/>
              <a:ext cx="2659063" cy="1773238"/>
            </a:xfrm>
            <a:prstGeom prst="straightConnector1">
              <a:avLst/>
            </a:prstGeom>
            <a:noFill/>
            <a:ln cap="flat" cmpd="sng" w="38100">
              <a:solidFill>
                <a:srgbClr val="00CC00"/>
              </a:solidFill>
              <a:prstDash val="solid"/>
              <a:round/>
              <a:headEnd len="med" w="med" type="none"/>
              <a:tailEnd len="med" w="med" type="none"/>
            </a:ln>
          </p:spPr>
        </p:cxnSp>
        <p:grpSp>
          <p:nvGrpSpPr>
            <p:cNvPr id="685" name="Google Shape;685;p28"/>
            <p:cNvGrpSpPr/>
            <p:nvPr/>
          </p:nvGrpSpPr>
          <p:grpSpPr>
            <a:xfrm>
              <a:off x="6931881" y="3211572"/>
              <a:ext cx="884238" cy="2154238"/>
              <a:chOff x="4144" y="2252"/>
              <a:chExt cx="557" cy="1357"/>
            </a:xfrm>
          </p:grpSpPr>
          <p:cxnSp>
            <p:nvCxnSpPr>
              <p:cNvPr id="686" name="Google Shape;686;p28"/>
              <p:cNvCxnSpPr/>
              <p:nvPr/>
            </p:nvCxnSpPr>
            <p:spPr>
              <a:xfrm rot="10800000">
                <a:off x="4144" y="2352"/>
                <a:ext cx="0" cy="1257"/>
              </a:xfrm>
              <a:prstGeom prst="straightConnector1">
                <a:avLst/>
              </a:prstGeom>
              <a:noFill/>
              <a:ln cap="flat" cmpd="sng" w="28575">
                <a:solidFill>
                  <a:schemeClr val="dk1"/>
                </a:solidFill>
                <a:prstDash val="solid"/>
                <a:round/>
                <a:headEnd len="med" w="med" type="none"/>
                <a:tailEnd len="med" w="med" type="triangle"/>
              </a:ln>
            </p:spPr>
          </p:cxnSp>
          <p:sp>
            <p:nvSpPr>
              <p:cNvPr id="687" name="Google Shape;687;p28"/>
              <p:cNvSpPr txBox="1"/>
              <p:nvPr/>
            </p:nvSpPr>
            <p:spPr>
              <a:xfrm>
                <a:off x="4169" y="2252"/>
                <a:ext cx="532"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F </a:t>
                </a:r>
                <a:r>
                  <a:rPr lang="en-US" sz="2400">
                    <a:solidFill>
                      <a:schemeClr val="dk1"/>
                    </a:solidFill>
                    <a:latin typeface="Arial"/>
                    <a:ea typeface="Arial"/>
                    <a:cs typeface="Arial"/>
                    <a:sym typeface="Arial"/>
                  </a:rPr>
                  <a:t>/ N</a:t>
                </a:r>
                <a:endParaRPr i="1" sz="2400">
                  <a:solidFill>
                    <a:schemeClr val="dk1"/>
                  </a:solidFill>
                  <a:latin typeface="Arial"/>
                  <a:ea typeface="Arial"/>
                  <a:cs typeface="Arial"/>
                  <a:sym typeface="Arial"/>
                </a:endParaRPr>
              </a:p>
            </p:txBody>
          </p:sp>
        </p:grpSp>
        <p:sp>
          <p:nvSpPr>
            <p:cNvPr id="688" name="Google Shape;688;p28"/>
            <p:cNvSpPr txBox="1"/>
            <p:nvPr/>
          </p:nvSpPr>
          <p:spPr>
            <a:xfrm>
              <a:off x="5142766" y="3417947"/>
              <a:ext cx="438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20</a:t>
              </a:r>
              <a:endParaRPr/>
            </a:p>
          </p:txBody>
        </p:sp>
        <p:sp>
          <p:nvSpPr>
            <p:cNvPr id="689" name="Google Shape;689;p28"/>
            <p:cNvSpPr txBox="1"/>
            <p:nvPr/>
          </p:nvSpPr>
          <p:spPr>
            <a:xfrm>
              <a:off x="5176103" y="4311710"/>
              <a:ext cx="3746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0</a:t>
              </a:r>
              <a:endParaRPr/>
            </a:p>
          </p:txBody>
        </p:sp>
        <p:sp>
          <p:nvSpPr>
            <p:cNvPr id="690" name="Google Shape;690;p28"/>
            <p:cNvSpPr txBox="1"/>
            <p:nvPr/>
          </p:nvSpPr>
          <p:spPr>
            <a:xfrm>
              <a:off x="5076091" y="5189597"/>
              <a:ext cx="4889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aseline="30000" lang="en-US" sz="1800">
                  <a:solidFill>
                    <a:schemeClr val="dk1"/>
                  </a:solidFill>
                  <a:latin typeface="Arial"/>
                  <a:ea typeface="Arial"/>
                  <a:cs typeface="Arial"/>
                  <a:sym typeface="Arial"/>
                </a:rPr>
                <a:t>-</a:t>
              </a:r>
              <a:r>
                <a:rPr lang="en-US" sz="1800">
                  <a:solidFill>
                    <a:schemeClr val="dk1"/>
                  </a:solidFill>
                  <a:latin typeface="Arial"/>
                  <a:ea typeface="Arial"/>
                  <a:cs typeface="Arial"/>
                  <a:sym typeface="Arial"/>
                </a:rPr>
                <a:t>20</a:t>
              </a:r>
              <a:endParaRPr/>
            </a:p>
          </p:txBody>
        </p:sp>
        <p:sp>
          <p:nvSpPr>
            <p:cNvPr id="691" name="Google Shape;691;p28"/>
            <p:cNvSpPr txBox="1"/>
            <p:nvPr/>
          </p:nvSpPr>
          <p:spPr>
            <a:xfrm>
              <a:off x="5980966" y="5370572"/>
              <a:ext cx="52770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baseline="30000" lang="en-US" sz="2000">
                  <a:solidFill>
                    <a:schemeClr val="dk1"/>
                  </a:solidFill>
                  <a:latin typeface="Arial"/>
                  <a:ea typeface="Arial"/>
                  <a:cs typeface="Arial"/>
                  <a:sym typeface="Arial"/>
                </a:rPr>
                <a:t>-</a:t>
              </a:r>
              <a:r>
                <a:rPr lang="en-US" sz="2000">
                  <a:solidFill>
                    <a:schemeClr val="dk1"/>
                  </a:solidFill>
                  <a:latin typeface="Arial"/>
                  <a:ea typeface="Arial"/>
                  <a:cs typeface="Arial"/>
                  <a:sym typeface="Arial"/>
                </a:rPr>
                <a:t>20</a:t>
              </a:r>
              <a:endParaRPr/>
            </a:p>
          </p:txBody>
        </p:sp>
        <p:sp>
          <p:nvSpPr>
            <p:cNvPr id="692" name="Google Shape;692;p28"/>
            <p:cNvSpPr txBox="1"/>
            <p:nvPr/>
          </p:nvSpPr>
          <p:spPr>
            <a:xfrm>
              <a:off x="7346216" y="5368985"/>
              <a:ext cx="46672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20</a:t>
              </a:r>
              <a:endParaRPr/>
            </a:p>
          </p:txBody>
        </p:sp>
        <p:sp>
          <p:nvSpPr>
            <p:cNvPr id="693" name="Google Shape;693;p28"/>
            <p:cNvSpPr txBox="1"/>
            <p:nvPr/>
          </p:nvSpPr>
          <p:spPr>
            <a:xfrm>
              <a:off x="5342791" y="5367397"/>
              <a:ext cx="52770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baseline="30000" lang="en-US" sz="2000">
                  <a:solidFill>
                    <a:schemeClr val="dk1"/>
                  </a:solidFill>
                  <a:latin typeface="Arial"/>
                  <a:ea typeface="Arial"/>
                  <a:cs typeface="Arial"/>
                  <a:sym typeface="Arial"/>
                </a:rPr>
                <a:t>-</a:t>
              </a:r>
              <a:r>
                <a:rPr lang="en-US" sz="2000">
                  <a:solidFill>
                    <a:schemeClr val="dk1"/>
                  </a:solidFill>
                  <a:latin typeface="Arial"/>
                  <a:ea typeface="Arial"/>
                  <a:cs typeface="Arial"/>
                  <a:sym typeface="Arial"/>
                </a:rPr>
                <a:t>40</a:t>
              </a:r>
              <a:endParaRPr/>
            </a:p>
          </p:txBody>
        </p:sp>
        <p:sp>
          <p:nvSpPr>
            <p:cNvPr id="694" name="Google Shape;694;p28"/>
            <p:cNvSpPr txBox="1"/>
            <p:nvPr/>
          </p:nvSpPr>
          <p:spPr>
            <a:xfrm>
              <a:off x="8022491" y="5373747"/>
              <a:ext cx="46672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40</a:t>
              </a:r>
              <a:endParaRPr/>
            </a:p>
          </p:txBody>
        </p:sp>
        <p:sp>
          <p:nvSpPr>
            <p:cNvPr id="695" name="Google Shape;695;p28"/>
            <p:cNvSpPr txBox="1"/>
            <p:nvPr/>
          </p:nvSpPr>
          <p:spPr>
            <a:xfrm>
              <a:off x="6769953" y="5370572"/>
              <a:ext cx="32543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0</a:t>
              </a:r>
              <a:endParaRPr/>
            </a:p>
          </p:txBody>
        </p:sp>
        <p:grpSp>
          <p:nvGrpSpPr>
            <p:cNvPr id="696" name="Google Shape;696;p28"/>
            <p:cNvGrpSpPr/>
            <p:nvPr/>
          </p:nvGrpSpPr>
          <p:grpSpPr>
            <a:xfrm>
              <a:off x="5601554" y="4056122"/>
              <a:ext cx="3563938" cy="461963"/>
              <a:chOff x="3306" y="2784"/>
              <a:chExt cx="2245" cy="291"/>
            </a:xfrm>
          </p:grpSpPr>
          <p:sp>
            <p:nvSpPr>
              <p:cNvPr id="697" name="Google Shape;697;p28"/>
              <p:cNvSpPr txBox="1"/>
              <p:nvPr/>
            </p:nvSpPr>
            <p:spPr>
              <a:xfrm>
                <a:off x="4961" y="2784"/>
                <a:ext cx="590"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/mm</a:t>
                </a:r>
                <a:endParaRPr i="1" sz="2400">
                  <a:solidFill>
                    <a:schemeClr val="dk1"/>
                  </a:solidFill>
                  <a:latin typeface="Arial"/>
                  <a:ea typeface="Arial"/>
                  <a:cs typeface="Arial"/>
                  <a:sym typeface="Arial"/>
                </a:endParaRPr>
              </a:p>
            </p:txBody>
          </p:sp>
          <p:cxnSp>
            <p:nvCxnSpPr>
              <p:cNvPr id="698" name="Google Shape;698;p28"/>
              <p:cNvCxnSpPr/>
              <p:nvPr/>
            </p:nvCxnSpPr>
            <p:spPr>
              <a:xfrm>
                <a:off x="3306" y="3051"/>
                <a:ext cx="1814" cy="0"/>
              </a:xfrm>
              <a:prstGeom prst="straightConnector1">
                <a:avLst/>
              </a:prstGeom>
              <a:noFill/>
              <a:ln cap="flat" cmpd="sng" w="31750">
                <a:solidFill>
                  <a:schemeClr val="dk1"/>
                </a:solidFill>
                <a:prstDash val="solid"/>
                <a:round/>
                <a:headEnd len="med" w="med" type="none"/>
                <a:tailEnd len="med" w="med" type="triangle"/>
              </a:ln>
            </p:spPr>
          </p:cxnSp>
        </p:grpSp>
      </p:grpSp>
      <p:cxnSp>
        <p:nvCxnSpPr>
          <p:cNvPr id="699" name="Google Shape;699;p28"/>
          <p:cNvCxnSpPr/>
          <p:nvPr/>
        </p:nvCxnSpPr>
        <p:spPr>
          <a:xfrm flipH="1" rot="10800000">
            <a:off x="5453063" y="4080193"/>
            <a:ext cx="2671762" cy="1768475"/>
          </a:xfrm>
          <a:prstGeom prst="straightConnector1">
            <a:avLst/>
          </a:prstGeom>
          <a:noFill/>
          <a:ln cap="flat" cmpd="sng" w="38100">
            <a:solidFill>
              <a:srgbClr val="FF33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3">
                                            <p:txEl>
                                              <p:pRg end="0" st="0"/>
                                            </p:txEl>
                                          </p:spTgt>
                                        </p:tgtEl>
                                        <p:attrNameLst>
                                          <p:attrName>style.visibility</p:attrName>
                                        </p:attrNameLst>
                                      </p:cBhvr>
                                      <p:to>
                                        <p:strVal val="visible"/>
                                      </p:to>
                                    </p:set>
                                    <p:anim calcmode="lin" valueType="num">
                                      <p:cBhvr additive="base">
                                        <p:cTn dur="500"/>
                                        <p:tgtEl>
                                          <p:spTgt spid="61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3">
                                            <p:txEl>
                                              <p:pRg end="1" st="1"/>
                                            </p:txEl>
                                          </p:spTgt>
                                        </p:tgtEl>
                                        <p:attrNameLst>
                                          <p:attrName>style.visibility</p:attrName>
                                        </p:attrNameLst>
                                      </p:cBhvr>
                                      <p:to>
                                        <p:strVal val="visible"/>
                                      </p:to>
                                    </p:set>
                                    <p:anim calcmode="lin" valueType="num">
                                      <p:cBhvr additive="base">
                                        <p:cTn dur="500"/>
                                        <p:tgtEl>
                                          <p:spTgt spid="61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3">
                                            <p:txEl>
                                              <p:pRg end="2" st="2"/>
                                            </p:txEl>
                                          </p:spTgt>
                                        </p:tgtEl>
                                        <p:attrNameLst>
                                          <p:attrName>style.visibility</p:attrName>
                                        </p:attrNameLst>
                                      </p:cBhvr>
                                      <p:to>
                                        <p:strVal val="visible"/>
                                      </p:to>
                                    </p:set>
                                    <p:anim calcmode="lin" valueType="num">
                                      <p:cBhvr additive="base">
                                        <p:cTn dur="500"/>
                                        <p:tgtEl>
                                          <p:spTgt spid="61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3">
                                            <p:txEl>
                                              <p:pRg end="3" st="3"/>
                                            </p:txEl>
                                          </p:spTgt>
                                        </p:tgtEl>
                                        <p:attrNameLst>
                                          <p:attrName>style.visibility</p:attrName>
                                        </p:attrNameLst>
                                      </p:cBhvr>
                                      <p:to>
                                        <p:strVal val="visible"/>
                                      </p:to>
                                    </p:set>
                                    <p:anim calcmode="lin" valueType="num">
                                      <p:cBhvr additive="base">
                                        <p:cTn dur="500"/>
                                        <p:tgtEl>
                                          <p:spTgt spid="61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3">
                                            <p:txEl>
                                              <p:pRg end="4" st="4"/>
                                            </p:txEl>
                                          </p:spTgt>
                                        </p:tgtEl>
                                        <p:attrNameLst>
                                          <p:attrName>style.visibility</p:attrName>
                                        </p:attrNameLst>
                                      </p:cBhvr>
                                      <p:to>
                                        <p:strVal val="visible"/>
                                      </p:to>
                                    </p:set>
                                    <p:anim calcmode="lin" valueType="num">
                                      <p:cBhvr additive="base">
                                        <p:cTn dur="500"/>
                                        <p:tgtEl>
                                          <p:spTgt spid="61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9"/>
                                        </p:tgtEl>
                                        <p:attrNameLst>
                                          <p:attrName>style.visibility</p:attrName>
                                        </p:attrNameLst>
                                      </p:cBhvr>
                                      <p:to>
                                        <p:strVal val="visible"/>
                                      </p:to>
                                    </p:set>
                                    <p:animEffect filter="fade" transition="in">
                                      <p:cBhvr>
                                        <p:cTn dur="1000"/>
                                        <p:tgtEl>
                                          <p:spTgt spid="6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29"/>
          <p:cNvSpPr/>
          <p:nvPr/>
        </p:nvSpPr>
        <p:spPr>
          <a:xfrm>
            <a:off x="685800" y="1549400"/>
            <a:ext cx="7772400" cy="11080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Sketching and interpreting force – distance graphs</a:t>
            </a:r>
            <a:endParaRPr sz="2000">
              <a:solidFill>
                <a:schemeClr val="dk1"/>
              </a:solidFill>
              <a:latin typeface="Courier New"/>
              <a:ea typeface="Courier New"/>
              <a:cs typeface="Courier New"/>
              <a:sym typeface="Courier New"/>
            </a:endParaRPr>
          </a:p>
        </p:txBody>
      </p:sp>
      <p:sp>
        <p:nvSpPr>
          <p:cNvPr id="706" name="Google Shape;706;p2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707" name="Google Shape;707;p29"/>
          <p:cNvSpPr/>
          <p:nvPr/>
        </p:nvSpPr>
        <p:spPr>
          <a:xfrm>
            <a:off x="674688" y="2551113"/>
            <a:ext cx="7781925" cy="430688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A force vs. displacement plot for a spring is shown. Find the work done by you if you displace the spring from 0 to 40 mm.</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The </a:t>
            </a:r>
            <a:r>
              <a:rPr b="1" lang="en-US" sz="2400">
                <a:solidFill>
                  <a:schemeClr val="dk1"/>
                </a:solidFill>
                <a:latin typeface="Arial"/>
                <a:ea typeface="Arial"/>
                <a:cs typeface="Arial"/>
                <a:sym typeface="Arial"/>
              </a:rPr>
              <a:t>area under the </a:t>
            </a:r>
            <a:r>
              <a:rPr b="1" i="1" lang="en-US" sz="2400">
                <a:solidFill>
                  <a:schemeClr val="dk1"/>
                </a:solidFill>
                <a:latin typeface="Arial"/>
                <a:ea typeface="Arial"/>
                <a:cs typeface="Arial"/>
                <a:sym typeface="Arial"/>
              </a:rPr>
              <a:t>F</a:t>
            </a:r>
            <a:r>
              <a:rPr b="1" lang="en-US" sz="2400">
                <a:solidFill>
                  <a:schemeClr val="dk1"/>
                </a:solidFill>
                <a:latin typeface="Arial"/>
                <a:ea typeface="Arial"/>
                <a:cs typeface="Arial"/>
                <a:sym typeface="Arial"/>
              </a:rPr>
              <a:t> vs. </a:t>
            </a:r>
            <a:r>
              <a:rPr b="1" i="1" lang="en-US" sz="2400">
                <a:solidFill>
                  <a:schemeClr val="dk1"/>
                </a:solidFill>
                <a:latin typeface="Arial"/>
                <a:ea typeface="Arial"/>
                <a:cs typeface="Arial"/>
                <a:sym typeface="Arial"/>
              </a:rPr>
              <a:t>x</a:t>
            </a:r>
            <a:r>
              <a:rPr b="1" lang="en-US" sz="2400">
                <a:solidFill>
                  <a:schemeClr val="dk1"/>
                </a:solidFill>
                <a:latin typeface="Arial"/>
                <a:ea typeface="Arial"/>
                <a:cs typeface="Arial"/>
                <a:sym typeface="Arial"/>
              </a:rPr>
              <a:t>                                                   graph represents the work                                                             done by that force</a:t>
            </a:r>
            <a:r>
              <a:rPr lang="en-US" sz="2400">
                <a:solidFill>
                  <a:schemeClr val="dk1"/>
                </a:solidFill>
                <a:latin typeface="Arial"/>
                <a:ea typeface="Arial"/>
                <a:cs typeface="Arial"/>
                <a:sym typeface="Arial"/>
              </a:rPr>
              <a:t>.</a:t>
            </a:r>
            <a:endParaRPr b="1" i="1" sz="2400">
              <a:solidFill>
                <a:schemeClr val="dk1"/>
              </a:solidFill>
              <a:latin typeface="Arial"/>
              <a:ea typeface="Arial"/>
              <a:cs typeface="Arial"/>
              <a:sym typeface="Arial"/>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The area desired is from 0 mm                                          to 40 mm, shown here:</a:t>
            </a:r>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A</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bh</a:t>
            </a:r>
            <a:r>
              <a:rPr lang="en-US" sz="2400">
                <a:solidFill>
                  <a:schemeClr val="dk1"/>
                </a:solidFill>
                <a:latin typeface="Arial"/>
                <a:ea typeface="Arial"/>
                <a:cs typeface="Arial"/>
                <a:sym typeface="Arial"/>
              </a:rPr>
              <a:t>  = (1/2)(40×10</a:t>
            </a:r>
            <a:r>
              <a:rPr baseline="30000" lang="en-US" sz="2400">
                <a:solidFill>
                  <a:schemeClr val="dk1"/>
                </a:solidFill>
                <a:latin typeface="Arial"/>
                <a:ea typeface="Arial"/>
                <a:cs typeface="Arial"/>
                <a:sym typeface="Arial"/>
              </a:rPr>
              <a:t>-3 </a:t>
            </a:r>
            <a:r>
              <a:rPr lang="en-US" sz="2400">
                <a:solidFill>
                  <a:schemeClr val="dk1"/>
                </a:solidFill>
                <a:latin typeface="Arial"/>
                <a:ea typeface="Arial"/>
                <a:cs typeface="Arial"/>
                <a:sym typeface="Arial"/>
              </a:rPr>
              <a:t>m)(20 N) = 0.4 J.</a:t>
            </a:r>
            <a:endParaRPr/>
          </a:p>
        </p:txBody>
      </p:sp>
      <p:grpSp>
        <p:nvGrpSpPr>
          <p:cNvPr id="708" name="Google Shape;708;p29"/>
          <p:cNvGrpSpPr/>
          <p:nvPr/>
        </p:nvGrpSpPr>
        <p:grpSpPr>
          <a:xfrm>
            <a:off x="828675" y="2008188"/>
            <a:ext cx="7464425" cy="461962"/>
            <a:chOff x="828675" y="4080730"/>
            <a:chExt cx="7464426" cy="461665"/>
          </a:xfrm>
        </p:grpSpPr>
        <p:sp>
          <p:nvSpPr>
            <p:cNvPr id="709" name="Google Shape;709;p29"/>
            <p:cNvSpPr/>
            <p:nvPr/>
          </p:nvSpPr>
          <p:spPr>
            <a:xfrm>
              <a:off x="965200" y="4090249"/>
              <a:ext cx="1358900" cy="32046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 kx</a:t>
              </a:r>
              <a:endParaRPr i="1" sz="2400">
                <a:solidFill>
                  <a:schemeClr val="dk1"/>
                </a:solidFill>
                <a:latin typeface="Arial"/>
                <a:ea typeface="Arial"/>
                <a:cs typeface="Arial"/>
                <a:sym typeface="Arial"/>
              </a:endParaRPr>
            </a:p>
          </p:txBody>
        </p:sp>
        <p:sp>
          <p:nvSpPr>
            <p:cNvPr id="710" name="Google Shape;710;p29"/>
            <p:cNvSpPr txBox="1"/>
            <p:nvPr/>
          </p:nvSpPr>
          <p:spPr>
            <a:xfrm>
              <a:off x="3497263" y="4080730"/>
              <a:ext cx="4795838"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Hooke’s Law (the spring force)</a:t>
              </a:r>
              <a:endParaRPr/>
            </a:p>
          </p:txBody>
        </p:sp>
        <p:sp>
          <p:nvSpPr>
            <p:cNvPr id="711" name="Google Shape;711;p29"/>
            <p:cNvSpPr/>
            <p:nvPr/>
          </p:nvSpPr>
          <p:spPr>
            <a:xfrm>
              <a:off x="828675" y="4083903"/>
              <a:ext cx="7462839"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grpSp>
        <p:nvGrpSpPr>
          <p:cNvPr id="712" name="Google Shape;712;p29"/>
          <p:cNvGrpSpPr/>
          <p:nvPr/>
        </p:nvGrpSpPr>
        <p:grpSpPr>
          <a:xfrm>
            <a:off x="4924425" y="3699193"/>
            <a:ext cx="4089400" cy="2559050"/>
            <a:chOff x="5076091" y="3211572"/>
            <a:chExt cx="4089401" cy="2559110"/>
          </a:xfrm>
        </p:grpSpPr>
        <p:grpSp>
          <p:nvGrpSpPr>
            <p:cNvPr id="713" name="Google Shape;713;p29"/>
            <p:cNvGrpSpPr/>
            <p:nvPr/>
          </p:nvGrpSpPr>
          <p:grpSpPr>
            <a:xfrm>
              <a:off x="5604728" y="3595747"/>
              <a:ext cx="2659063" cy="1773238"/>
              <a:chOff x="3648" y="1295"/>
              <a:chExt cx="1152" cy="768"/>
            </a:xfrm>
          </p:grpSpPr>
          <p:sp>
            <p:nvSpPr>
              <p:cNvPr id="714" name="Google Shape;714;p29"/>
              <p:cNvSpPr/>
              <p:nvPr/>
            </p:nvSpPr>
            <p:spPr>
              <a:xfrm>
                <a:off x="3648"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15" name="Google Shape;715;p29"/>
              <p:cNvSpPr/>
              <p:nvPr/>
            </p:nvSpPr>
            <p:spPr>
              <a:xfrm>
                <a:off x="3792"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16" name="Google Shape;716;p29"/>
              <p:cNvSpPr/>
              <p:nvPr/>
            </p:nvSpPr>
            <p:spPr>
              <a:xfrm>
                <a:off x="3936"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17" name="Google Shape;717;p29"/>
              <p:cNvSpPr/>
              <p:nvPr/>
            </p:nvSpPr>
            <p:spPr>
              <a:xfrm>
                <a:off x="4080"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18" name="Google Shape;718;p29"/>
              <p:cNvSpPr/>
              <p:nvPr/>
            </p:nvSpPr>
            <p:spPr>
              <a:xfrm>
                <a:off x="4224"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19" name="Google Shape;719;p29"/>
              <p:cNvSpPr/>
              <p:nvPr/>
            </p:nvSpPr>
            <p:spPr>
              <a:xfrm>
                <a:off x="4368"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20" name="Google Shape;720;p29"/>
              <p:cNvSpPr/>
              <p:nvPr/>
            </p:nvSpPr>
            <p:spPr>
              <a:xfrm>
                <a:off x="4512"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21" name="Google Shape;721;p29"/>
              <p:cNvSpPr/>
              <p:nvPr/>
            </p:nvSpPr>
            <p:spPr>
              <a:xfrm>
                <a:off x="4656"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22" name="Google Shape;722;p29"/>
              <p:cNvSpPr/>
              <p:nvPr/>
            </p:nvSpPr>
            <p:spPr>
              <a:xfrm>
                <a:off x="3648"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23" name="Google Shape;723;p29"/>
              <p:cNvSpPr/>
              <p:nvPr/>
            </p:nvSpPr>
            <p:spPr>
              <a:xfrm>
                <a:off x="3792"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24" name="Google Shape;724;p29"/>
              <p:cNvSpPr/>
              <p:nvPr/>
            </p:nvSpPr>
            <p:spPr>
              <a:xfrm>
                <a:off x="3936"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25" name="Google Shape;725;p29"/>
              <p:cNvSpPr/>
              <p:nvPr/>
            </p:nvSpPr>
            <p:spPr>
              <a:xfrm>
                <a:off x="4080"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26" name="Google Shape;726;p29"/>
              <p:cNvSpPr/>
              <p:nvPr/>
            </p:nvSpPr>
            <p:spPr>
              <a:xfrm>
                <a:off x="4224"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27" name="Google Shape;727;p29"/>
              <p:cNvSpPr/>
              <p:nvPr/>
            </p:nvSpPr>
            <p:spPr>
              <a:xfrm>
                <a:off x="4368"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28" name="Google Shape;728;p29"/>
              <p:cNvSpPr/>
              <p:nvPr/>
            </p:nvSpPr>
            <p:spPr>
              <a:xfrm>
                <a:off x="4512"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29" name="Google Shape;729;p29"/>
              <p:cNvSpPr/>
              <p:nvPr/>
            </p:nvSpPr>
            <p:spPr>
              <a:xfrm>
                <a:off x="4656"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30" name="Google Shape;730;p29"/>
              <p:cNvSpPr/>
              <p:nvPr/>
            </p:nvSpPr>
            <p:spPr>
              <a:xfrm>
                <a:off x="3648"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31" name="Google Shape;731;p29"/>
              <p:cNvSpPr/>
              <p:nvPr/>
            </p:nvSpPr>
            <p:spPr>
              <a:xfrm>
                <a:off x="3792"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32" name="Google Shape;732;p29"/>
              <p:cNvSpPr/>
              <p:nvPr/>
            </p:nvSpPr>
            <p:spPr>
              <a:xfrm>
                <a:off x="3936"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33" name="Google Shape;733;p29"/>
              <p:cNvSpPr/>
              <p:nvPr/>
            </p:nvSpPr>
            <p:spPr>
              <a:xfrm>
                <a:off x="4080"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34" name="Google Shape;734;p29"/>
              <p:cNvSpPr/>
              <p:nvPr/>
            </p:nvSpPr>
            <p:spPr>
              <a:xfrm>
                <a:off x="4224"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35" name="Google Shape;735;p29"/>
              <p:cNvSpPr/>
              <p:nvPr/>
            </p:nvSpPr>
            <p:spPr>
              <a:xfrm>
                <a:off x="4368"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36" name="Google Shape;736;p29"/>
              <p:cNvSpPr/>
              <p:nvPr/>
            </p:nvSpPr>
            <p:spPr>
              <a:xfrm>
                <a:off x="4512"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37" name="Google Shape;737;p29"/>
              <p:cNvSpPr/>
              <p:nvPr/>
            </p:nvSpPr>
            <p:spPr>
              <a:xfrm>
                <a:off x="4656"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38" name="Google Shape;738;p29"/>
              <p:cNvSpPr/>
              <p:nvPr/>
            </p:nvSpPr>
            <p:spPr>
              <a:xfrm>
                <a:off x="3648"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39" name="Google Shape;739;p29"/>
              <p:cNvSpPr/>
              <p:nvPr/>
            </p:nvSpPr>
            <p:spPr>
              <a:xfrm>
                <a:off x="3792"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40" name="Google Shape;740;p29"/>
              <p:cNvSpPr/>
              <p:nvPr/>
            </p:nvSpPr>
            <p:spPr>
              <a:xfrm>
                <a:off x="3936"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41" name="Google Shape;741;p29"/>
              <p:cNvSpPr/>
              <p:nvPr/>
            </p:nvSpPr>
            <p:spPr>
              <a:xfrm>
                <a:off x="4080"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42" name="Google Shape;742;p29"/>
              <p:cNvSpPr/>
              <p:nvPr/>
            </p:nvSpPr>
            <p:spPr>
              <a:xfrm>
                <a:off x="4224"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43" name="Google Shape;743;p29"/>
              <p:cNvSpPr/>
              <p:nvPr/>
            </p:nvSpPr>
            <p:spPr>
              <a:xfrm>
                <a:off x="4368"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44" name="Google Shape;744;p29"/>
              <p:cNvSpPr/>
              <p:nvPr/>
            </p:nvSpPr>
            <p:spPr>
              <a:xfrm>
                <a:off x="4512"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45" name="Google Shape;745;p29"/>
              <p:cNvSpPr/>
              <p:nvPr/>
            </p:nvSpPr>
            <p:spPr>
              <a:xfrm>
                <a:off x="4656"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46" name="Google Shape;746;p29"/>
              <p:cNvSpPr/>
              <p:nvPr/>
            </p:nvSpPr>
            <p:spPr>
              <a:xfrm>
                <a:off x="3648"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47" name="Google Shape;747;p29"/>
              <p:cNvSpPr/>
              <p:nvPr/>
            </p:nvSpPr>
            <p:spPr>
              <a:xfrm>
                <a:off x="3792"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48" name="Google Shape;748;p29"/>
              <p:cNvSpPr/>
              <p:nvPr/>
            </p:nvSpPr>
            <p:spPr>
              <a:xfrm>
                <a:off x="3936"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49" name="Google Shape;749;p29"/>
              <p:cNvSpPr/>
              <p:nvPr/>
            </p:nvSpPr>
            <p:spPr>
              <a:xfrm>
                <a:off x="4080"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50" name="Google Shape;750;p29"/>
              <p:cNvSpPr/>
              <p:nvPr/>
            </p:nvSpPr>
            <p:spPr>
              <a:xfrm>
                <a:off x="4224"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51" name="Google Shape;751;p29"/>
              <p:cNvSpPr/>
              <p:nvPr/>
            </p:nvSpPr>
            <p:spPr>
              <a:xfrm>
                <a:off x="4368"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52" name="Google Shape;752;p29"/>
              <p:cNvSpPr/>
              <p:nvPr/>
            </p:nvSpPr>
            <p:spPr>
              <a:xfrm>
                <a:off x="4512"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53" name="Google Shape;753;p29"/>
              <p:cNvSpPr/>
              <p:nvPr/>
            </p:nvSpPr>
            <p:spPr>
              <a:xfrm>
                <a:off x="4656"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54" name="Google Shape;754;p29"/>
              <p:cNvSpPr/>
              <p:nvPr/>
            </p:nvSpPr>
            <p:spPr>
              <a:xfrm>
                <a:off x="3648"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55" name="Google Shape;755;p29"/>
              <p:cNvSpPr/>
              <p:nvPr/>
            </p:nvSpPr>
            <p:spPr>
              <a:xfrm>
                <a:off x="3792"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56" name="Google Shape;756;p29"/>
              <p:cNvSpPr/>
              <p:nvPr/>
            </p:nvSpPr>
            <p:spPr>
              <a:xfrm>
                <a:off x="3936"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57" name="Google Shape;757;p29"/>
              <p:cNvSpPr/>
              <p:nvPr/>
            </p:nvSpPr>
            <p:spPr>
              <a:xfrm>
                <a:off x="4080"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58" name="Google Shape;758;p29"/>
              <p:cNvSpPr/>
              <p:nvPr/>
            </p:nvSpPr>
            <p:spPr>
              <a:xfrm>
                <a:off x="4224"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59" name="Google Shape;759;p29"/>
              <p:cNvSpPr/>
              <p:nvPr/>
            </p:nvSpPr>
            <p:spPr>
              <a:xfrm>
                <a:off x="4368"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60" name="Google Shape;760;p29"/>
              <p:cNvSpPr/>
              <p:nvPr/>
            </p:nvSpPr>
            <p:spPr>
              <a:xfrm>
                <a:off x="4512"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61" name="Google Shape;761;p29"/>
              <p:cNvSpPr/>
              <p:nvPr/>
            </p:nvSpPr>
            <p:spPr>
              <a:xfrm>
                <a:off x="4656"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62" name="Google Shape;762;p29"/>
              <p:cNvSpPr/>
              <p:nvPr/>
            </p:nvSpPr>
            <p:spPr>
              <a:xfrm>
                <a:off x="3648"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63" name="Google Shape;763;p29"/>
              <p:cNvSpPr/>
              <p:nvPr/>
            </p:nvSpPr>
            <p:spPr>
              <a:xfrm>
                <a:off x="3792"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64" name="Google Shape;764;p29"/>
              <p:cNvSpPr/>
              <p:nvPr/>
            </p:nvSpPr>
            <p:spPr>
              <a:xfrm>
                <a:off x="3936"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65" name="Google Shape;765;p29"/>
              <p:cNvSpPr/>
              <p:nvPr/>
            </p:nvSpPr>
            <p:spPr>
              <a:xfrm>
                <a:off x="4080"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66" name="Google Shape;766;p29"/>
              <p:cNvSpPr/>
              <p:nvPr/>
            </p:nvSpPr>
            <p:spPr>
              <a:xfrm>
                <a:off x="4224"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67" name="Google Shape;767;p29"/>
              <p:cNvSpPr/>
              <p:nvPr/>
            </p:nvSpPr>
            <p:spPr>
              <a:xfrm>
                <a:off x="4368"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68" name="Google Shape;768;p29"/>
              <p:cNvSpPr/>
              <p:nvPr/>
            </p:nvSpPr>
            <p:spPr>
              <a:xfrm>
                <a:off x="4512"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69" name="Google Shape;769;p29"/>
              <p:cNvSpPr/>
              <p:nvPr/>
            </p:nvSpPr>
            <p:spPr>
              <a:xfrm>
                <a:off x="4656"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70" name="Google Shape;770;p29"/>
              <p:cNvSpPr/>
              <p:nvPr/>
            </p:nvSpPr>
            <p:spPr>
              <a:xfrm>
                <a:off x="3648"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71" name="Google Shape;771;p29"/>
              <p:cNvSpPr/>
              <p:nvPr/>
            </p:nvSpPr>
            <p:spPr>
              <a:xfrm>
                <a:off x="3792"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72" name="Google Shape;772;p29"/>
              <p:cNvSpPr/>
              <p:nvPr/>
            </p:nvSpPr>
            <p:spPr>
              <a:xfrm>
                <a:off x="3936"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73" name="Google Shape;773;p29"/>
              <p:cNvSpPr/>
              <p:nvPr/>
            </p:nvSpPr>
            <p:spPr>
              <a:xfrm>
                <a:off x="4080"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74" name="Google Shape;774;p29"/>
              <p:cNvSpPr/>
              <p:nvPr/>
            </p:nvSpPr>
            <p:spPr>
              <a:xfrm>
                <a:off x="4224"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75" name="Google Shape;775;p29"/>
              <p:cNvSpPr/>
              <p:nvPr/>
            </p:nvSpPr>
            <p:spPr>
              <a:xfrm>
                <a:off x="4368"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76" name="Google Shape;776;p29"/>
              <p:cNvSpPr/>
              <p:nvPr/>
            </p:nvSpPr>
            <p:spPr>
              <a:xfrm>
                <a:off x="4512"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777" name="Google Shape;777;p29"/>
              <p:cNvSpPr/>
              <p:nvPr/>
            </p:nvSpPr>
            <p:spPr>
              <a:xfrm>
                <a:off x="4656"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cxnSp>
          <p:nvCxnSpPr>
            <p:cNvPr id="778" name="Google Shape;778;p29"/>
            <p:cNvCxnSpPr/>
            <p:nvPr/>
          </p:nvCxnSpPr>
          <p:spPr>
            <a:xfrm>
              <a:off x="5604728" y="3595747"/>
              <a:ext cx="2659063" cy="1773238"/>
            </a:xfrm>
            <a:prstGeom prst="straightConnector1">
              <a:avLst/>
            </a:prstGeom>
            <a:noFill/>
            <a:ln cap="flat" cmpd="sng" w="38100">
              <a:solidFill>
                <a:srgbClr val="00CC00"/>
              </a:solidFill>
              <a:prstDash val="solid"/>
              <a:round/>
              <a:headEnd len="med" w="med" type="none"/>
              <a:tailEnd len="med" w="med" type="none"/>
            </a:ln>
          </p:spPr>
        </p:cxnSp>
        <p:grpSp>
          <p:nvGrpSpPr>
            <p:cNvPr id="779" name="Google Shape;779;p29"/>
            <p:cNvGrpSpPr/>
            <p:nvPr/>
          </p:nvGrpSpPr>
          <p:grpSpPr>
            <a:xfrm>
              <a:off x="6931881" y="3211572"/>
              <a:ext cx="884238" cy="2154238"/>
              <a:chOff x="4144" y="2252"/>
              <a:chExt cx="557" cy="1357"/>
            </a:xfrm>
          </p:grpSpPr>
          <p:cxnSp>
            <p:nvCxnSpPr>
              <p:cNvPr id="780" name="Google Shape;780;p29"/>
              <p:cNvCxnSpPr/>
              <p:nvPr/>
            </p:nvCxnSpPr>
            <p:spPr>
              <a:xfrm rot="10800000">
                <a:off x="4144" y="2352"/>
                <a:ext cx="0" cy="1257"/>
              </a:xfrm>
              <a:prstGeom prst="straightConnector1">
                <a:avLst/>
              </a:prstGeom>
              <a:noFill/>
              <a:ln cap="flat" cmpd="sng" w="28575">
                <a:solidFill>
                  <a:schemeClr val="dk1"/>
                </a:solidFill>
                <a:prstDash val="solid"/>
                <a:round/>
                <a:headEnd len="med" w="med" type="none"/>
                <a:tailEnd len="med" w="med" type="triangle"/>
              </a:ln>
            </p:spPr>
          </p:cxnSp>
          <p:sp>
            <p:nvSpPr>
              <p:cNvPr id="781" name="Google Shape;781;p29"/>
              <p:cNvSpPr txBox="1"/>
              <p:nvPr/>
            </p:nvSpPr>
            <p:spPr>
              <a:xfrm>
                <a:off x="4169" y="2252"/>
                <a:ext cx="532"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F </a:t>
                </a:r>
                <a:r>
                  <a:rPr lang="en-US" sz="2400">
                    <a:solidFill>
                      <a:schemeClr val="dk1"/>
                    </a:solidFill>
                    <a:latin typeface="Arial"/>
                    <a:ea typeface="Arial"/>
                    <a:cs typeface="Arial"/>
                    <a:sym typeface="Arial"/>
                  </a:rPr>
                  <a:t>/ N</a:t>
                </a:r>
                <a:endParaRPr i="1" sz="2400">
                  <a:solidFill>
                    <a:schemeClr val="dk1"/>
                  </a:solidFill>
                  <a:latin typeface="Arial"/>
                  <a:ea typeface="Arial"/>
                  <a:cs typeface="Arial"/>
                  <a:sym typeface="Arial"/>
                </a:endParaRPr>
              </a:p>
            </p:txBody>
          </p:sp>
        </p:grpSp>
        <p:sp>
          <p:nvSpPr>
            <p:cNvPr id="782" name="Google Shape;782;p29"/>
            <p:cNvSpPr txBox="1"/>
            <p:nvPr/>
          </p:nvSpPr>
          <p:spPr>
            <a:xfrm>
              <a:off x="5142766" y="3417947"/>
              <a:ext cx="438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20</a:t>
              </a:r>
              <a:endParaRPr/>
            </a:p>
          </p:txBody>
        </p:sp>
        <p:sp>
          <p:nvSpPr>
            <p:cNvPr id="783" name="Google Shape;783;p29"/>
            <p:cNvSpPr txBox="1"/>
            <p:nvPr/>
          </p:nvSpPr>
          <p:spPr>
            <a:xfrm>
              <a:off x="5176103" y="4311710"/>
              <a:ext cx="3746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0</a:t>
              </a:r>
              <a:endParaRPr/>
            </a:p>
          </p:txBody>
        </p:sp>
        <p:sp>
          <p:nvSpPr>
            <p:cNvPr id="784" name="Google Shape;784;p29"/>
            <p:cNvSpPr txBox="1"/>
            <p:nvPr/>
          </p:nvSpPr>
          <p:spPr>
            <a:xfrm>
              <a:off x="5076091" y="5189597"/>
              <a:ext cx="4889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baseline="30000" lang="en-US" sz="1800">
                  <a:solidFill>
                    <a:schemeClr val="dk1"/>
                  </a:solidFill>
                  <a:latin typeface="Arial"/>
                  <a:ea typeface="Arial"/>
                  <a:cs typeface="Arial"/>
                  <a:sym typeface="Arial"/>
                </a:rPr>
                <a:t>-</a:t>
              </a:r>
              <a:r>
                <a:rPr lang="en-US" sz="1800">
                  <a:solidFill>
                    <a:schemeClr val="dk1"/>
                  </a:solidFill>
                  <a:latin typeface="Arial"/>
                  <a:ea typeface="Arial"/>
                  <a:cs typeface="Arial"/>
                  <a:sym typeface="Arial"/>
                </a:rPr>
                <a:t>20</a:t>
              </a:r>
              <a:endParaRPr/>
            </a:p>
          </p:txBody>
        </p:sp>
        <p:sp>
          <p:nvSpPr>
            <p:cNvPr id="785" name="Google Shape;785;p29"/>
            <p:cNvSpPr txBox="1"/>
            <p:nvPr/>
          </p:nvSpPr>
          <p:spPr>
            <a:xfrm>
              <a:off x="5980966" y="5370572"/>
              <a:ext cx="52770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baseline="30000" lang="en-US" sz="2000">
                  <a:solidFill>
                    <a:schemeClr val="dk1"/>
                  </a:solidFill>
                  <a:latin typeface="Arial"/>
                  <a:ea typeface="Arial"/>
                  <a:cs typeface="Arial"/>
                  <a:sym typeface="Arial"/>
                </a:rPr>
                <a:t>-</a:t>
              </a:r>
              <a:r>
                <a:rPr lang="en-US" sz="2000">
                  <a:solidFill>
                    <a:schemeClr val="dk1"/>
                  </a:solidFill>
                  <a:latin typeface="Arial"/>
                  <a:ea typeface="Arial"/>
                  <a:cs typeface="Arial"/>
                  <a:sym typeface="Arial"/>
                </a:rPr>
                <a:t>20</a:t>
              </a:r>
              <a:endParaRPr/>
            </a:p>
          </p:txBody>
        </p:sp>
        <p:sp>
          <p:nvSpPr>
            <p:cNvPr id="786" name="Google Shape;786;p29"/>
            <p:cNvSpPr txBox="1"/>
            <p:nvPr/>
          </p:nvSpPr>
          <p:spPr>
            <a:xfrm>
              <a:off x="7346216" y="5368985"/>
              <a:ext cx="46672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20</a:t>
              </a:r>
              <a:endParaRPr/>
            </a:p>
          </p:txBody>
        </p:sp>
        <p:sp>
          <p:nvSpPr>
            <p:cNvPr id="787" name="Google Shape;787;p29"/>
            <p:cNvSpPr txBox="1"/>
            <p:nvPr/>
          </p:nvSpPr>
          <p:spPr>
            <a:xfrm>
              <a:off x="5342791" y="5367397"/>
              <a:ext cx="52770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baseline="30000" lang="en-US" sz="2000">
                  <a:solidFill>
                    <a:schemeClr val="dk1"/>
                  </a:solidFill>
                  <a:latin typeface="Arial"/>
                  <a:ea typeface="Arial"/>
                  <a:cs typeface="Arial"/>
                  <a:sym typeface="Arial"/>
                </a:rPr>
                <a:t>-</a:t>
              </a:r>
              <a:r>
                <a:rPr lang="en-US" sz="2000">
                  <a:solidFill>
                    <a:schemeClr val="dk1"/>
                  </a:solidFill>
                  <a:latin typeface="Arial"/>
                  <a:ea typeface="Arial"/>
                  <a:cs typeface="Arial"/>
                  <a:sym typeface="Arial"/>
                </a:rPr>
                <a:t>40</a:t>
              </a:r>
              <a:endParaRPr/>
            </a:p>
          </p:txBody>
        </p:sp>
        <p:sp>
          <p:nvSpPr>
            <p:cNvPr id="788" name="Google Shape;788;p29"/>
            <p:cNvSpPr txBox="1"/>
            <p:nvPr/>
          </p:nvSpPr>
          <p:spPr>
            <a:xfrm>
              <a:off x="8022491" y="5373747"/>
              <a:ext cx="46672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40</a:t>
              </a:r>
              <a:endParaRPr/>
            </a:p>
          </p:txBody>
        </p:sp>
        <p:sp>
          <p:nvSpPr>
            <p:cNvPr id="789" name="Google Shape;789;p29"/>
            <p:cNvSpPr txBox="1"/>
            <p:nvPr/>
          </p:nvSpPr>
          <p:spPr>
            <a:xfrm>
              <a:off x="6769953" y="5370572"/>
              <a:ext cx="32543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0</a:t>
              </a:r>
              <a:endParaRPr/>
            </a:p>
          </p:txBody>
        </p:sp>
        <p:grpSp>
          <p:nvGrpSpPr>
            <p:cNvPr id="790" name="Google Shape;790;p29"/>
            <p:cNvGrpSpPr/>
            <p:nvPr/>
          </p:nvGrpSpPr>
          <p:grpSpPr>
            <a:xfrm>
              <a:off x="5601554" y="4056122"/>
              <a:ext cx="3563938" cy="461963"/>
              <a:chOff x="3306" y="2784"/>
              <a:chExt cx="2245" cy="291"/>
            </a:xfrm>
          </p:grpSpPr>
          <p:sp>
            <p:nvSpPr>
              <p:cNvPr id="791" name="Google Shape;791;p29"/>
              <p:cNvSpPr txBox="1"/>
              <p:nvPr/>
            </p:nvSpPr>
            <p:spPr>
              <a:xfrm>
                <a:off x="4961" y="2784"/>
                <a:ext cx="590"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/mm</a:t>
                </a:r>
                <a:endParaRPr i="1" sz="2400">
                  <a:solidFill>
                    <a:schemeClr val="dk1"/>
                  </a:solidFill>
                  <a:latin typeface="Arial"/>
                  <a:ea typeface="Arial"/>
                  <a:cs typeface="Arial"/>
                  <a:sym typeface="Arial"/>
                </a:endParaRPr>
              </a:p>
            </p:txBody>
          </p:sp>
          <p:cxnSp>
            <p:nvCxnSpPr>
              <p:cNvPr id="792" name="Google Shape;792;p29"/>
              <p:cNvCxnSpPr/>
              <p:nvPr/>
            </p:nvCxnSpPr>
            <p:spPr>
              <a:xfrm>
                <a:off x="3306" y="3051"/>
                <a:ext cx="1814" cy="0"/>
              </a:xfrm>
              <a:prstGeom prst="straightConnector1">
                <a:avLst/>
              </a:prstGeom>
              <a:noFill/>
              <a:ln cap="flat" cmpd="sng" w="31750">
                <a:solidFill>
                  <a:schemeClr val="dk1"/>
                </a:solidFill>
                <a:prstDash val="solid"/>
                <a:round/>
                <a:headEnd len="med" w="med" type="none"/>
                <a:tailEnd len="med" w="med" type="triangle"/>
              </a:ln>
            </p:spPr>
          </p:cxnSp>
        </p:grpSp>
      </p:grpSp>
      <p:cxnSp>
        <p:nvCxnSpPr>
          <p:cNvPr id="793" name="Google Shape;793;p29"/>
          <p:cNvCxnSpPr/>
          <p:nvPr/>
        </p:nvCxnSpPr>
        <p:spPr>
          <a:xfrm flipH="1" rot="10800000">
            <a:off x="5453063" y="4080193"/>
            <a:ext cx="2671762" cy="1768475"/>
          </a:xfrm>
          <a:prstGeom prst="straightConnector1">
            <a:avLst/>
          </a:prstGeom>
          <a:noFill/>
          <a:ln cap="flat" cmpd="sng" w="38100">
            <a:solidFill>
              <a:srgbClr val="FF3300"/>
            </a:solidFill>
            <a:prstDash val="solid"/>
            <a:round/>
            <a:headEnd len="med" w="med" type="none"/>
            <a:tailEnd len="med" w="med" type="none"/>
          </a:ln>
        </p:spPr>
      </p:cxnSp>
      <p:sp>
        <p:nvSpPr>
          <p:cNvPr id="794" name="Google Shape;794;p29"/>
          <p:cNvSpPr/>
          <p:nvPr/>
        </p:nvSpPr>
        <p:spPr>
          <a:xfrm flipH="1">
            <a:off x="6772910" y="4080351"/>
            <a:ext cx="1336675" cy="884237"/>
          </a:xfrm>
          <a:prstGeom prst="rtTriangle">
            <a:avLst/>
          </a:prstGeom>
          <a:solidFill>
            <a:srgbClr val="FF3300">
              <a:alpha val="55686"/>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4"/>
                                        </p:tgtEl>
                                        <p:attrNameLst>
                                          <p:attrName>style.visibility</p:attrName>
                                        </p:attrNameLst>
                                      </p:cBhvr>
                                      <p:to>
                                        <p:strVal val="visible"/>
                                      </p:to>
                                    </p:set>
                                    <p:animEffect filter="fade" transition="in">
                                      <p:cBhvr>
                                        <p:cTn dur="2000"/>
                                        <p:tgtEl>
                                          <p:spTgt spid="7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30"/>
          <p:cNvSpPr/>
          <p:nvPr/>
        </p:nvSpPr>
        <p:spPr>
          <a:xfrm>
            <a:off x="685800" y="1549400"/>
            <a:ext cx="7772400" cy="11080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Elastic potential energy</a:t>
            </a:r>
            <a:endParaRPr i="1" sz="2000">
              <a:solidFill>
                <a:schemeClr val="dk1"/>
              </a:solidFill>
              <a:latin typeface="Courier New"/>
              <a:ea typeface="Courier New"/>
              <a:cs typeface="Courier New"/>
              <a:sym typeface="Courier New"/>
            </a:endParaRPr>
          </a:p>
        </p:txBody>
      </p:sp>
      <p:sp>
        <p:nvSpPr>
          <p:cNvPr id="801" name="Google Shape;801;p3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802" name="Google Shape;802;p30"/>
          <p:cNvSpPr/>
          <p:nvPr/>
        </p:nvSpPr>
        <p:spPr>
          <a:xfrm>
            <a:off x="674688" y="2551113"/>
            <a:ext cx="7852720" cy="406082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Show that the energy                                      “stored” in a stretched or compressed                                       spring is given by the above formula.</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We equate the work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done in                                       deforming a spring (having a spring constant </a:t>
            </a:r>
            <a:r>
              <a:rPr i="1" lang="en-US" sz="2400">
                <a:solidFill>
                  <a:schemeClr val="dk1"/>
                </a:solidFill>
                <a:latin typeface="Arial"/>
                <a:ea typeface="Arial"/>
                <a:cs typeface="Arial"/>
                <a:sym typeface="Arial"/>
              </a:rPr>
              <a:t>k </a:t>
            </a:r>
            <a:r>
              <a:rPr lang="en-US" sz="2400">
                <a:solidFill>
                  <a:schemeClr val="dk1"/>
                </a:solidFill>
                <a:latin typeface="Arial"/>
                <a:ea typeface="Arial"/>
                <a:cs typeface="Arial"/>
                <a:sym typeface="Arial"/>
              </a:rPr>
              <a:t>by a displacement </a:t>
            </a:r>
            <a:r>
              <a:rPr lang="en-US" sz="2400">
                <a:solidFill>
                  <a:srgbClr val="000000"/>
                </a:solidFill>
                <a:latin typeface="Arial"/>
                <a:ea typeface="Arial"/>
                <a:cs typeface="Arial"/>
                <a:sym typeface="Arial"/>
              </a:rPr>
              <a:t>Δ</a:t>
            </a:r>
            <a:r>
              <a:rPr i="1" lang="en-US" sz="2400">
                <a:solidFill>
                  <a:srgbClr val="000000"/>
                </a:solidFill>
                <a:latin typeface="Arial"/>
                <a:ea typeface="Arial"/>
                <a:cs typeface="Arial"/>
                <a:sym typeface="Arial"/>
              </a:rPr>
              <a:t>x</a:t>
            </a:r>
            <a:r>
              <a:rPr lang="en-US" sz="2400">
                <a:solidFill>
                  <a:schemeClr val="dk1"/>
                </a:solidFill>
                <a:latin typeface="Arial"/>
                <a:ea typeface="Arial"/>
                <a:cs typeface="Arial"/>
                <a:sym typeface="Arial"/>
              </a:rPr>
              <a:t>) to the energy </a:t>
            </a:r>
            <a:r>
              <a:rPr i="1" lang="en-US" sz="2400">
                <a:solidFill>
                  <a:srgbClr val="000000"/>
                </a:solidFill>
                <a:latin typeface="Arial"/>
                <a:ea typeface="Arial"/>
                <a:cs typeface="Arial"/>
                <a:sym typeface="Arial"/>
              </a:rPr>
              <a:t>E</a:t>
            </a:r>
            <a:r>
              <a:rPr baseline="-25000" lang="en-US" sz="2400">
                <a:solidFill>
                  <a:srgbClr val="000000"/>
                </a:solidFill>
                <a:latin typeface="Arial"/>
                <a:ea typeface="Arial"/>
                <a:cs typeface="Arial"/>
                <a:sym typeface="Arial"/>
              </a:rPr>
              <a:t>H</a:t>
            </a:r>
            <a:r>
              <a:rPr lang="en-US" sz="2400">
                <a:solidFill>
                  <a:schemeClr val="dk1"/>
                </a:solidFill>
                <a:latin typeface="Arial"/>
                <a:ea typeface="Arial"/>
                <a:cs typeface="Arial"/>
                <a:sym typeface="Arial"/>
              </a:rPr>
              <a:t> “stored” in the spring.</a:t>
            </a:r>
            <a:endParaRPr b="1" i="1" sz="2400">
              <a:solidFill>
                <a:schemeClr val="dk1"/>
              </a:solidFill>
              <a:latin typeface="Arial"/>
              <a:ea typeface="Arial"/>
              <a:cs typeface="Arial"/>
              <a:sym typeface="Arial"/>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If the deformed spring is released, it will go back to its “relaxed” dimension, releasing all of its stored-up energy. This is why </a:t>
            </a:r>
            <a:r>
              <a:rPr i="1" lang="en-US" sz="2400">
                <a:solidFill>
                  <a:srgbClr val="000000"/>
                </a:solidFill>
                <a:latin typeface="Arial"/>
                <a:ea typeface="Arial"/>
                <a:cs typeface="Arial"/>
                <a:sym typeface="Arial"/>
              </a:rPr>
              <a:t>E</a:t>
            </a:r>
            <a:r>
              <a:rPr baseline="-25000" lang="en-US" sz="2400">
                <a:solidFill>
                  <a:srgbClr val="000000"/>
                </a:solidFill>
                <a:latin typeface="Arial"/>
                <a:ea typeface="Arial"/>
                <a:cs typeface="Arial"/>
                <a:sym typeface="Arial"/>
              </a:rPr>
              <a:t>H</a:t>
            </a:r>
            <a:r>
              <a:rPr lang="en-US" sz="2400">
                <a:solidFill>
                  <a:srgbClr val="000000"/>
                </a:solidFill>
                <a:latin typeface="Arial"/>
                <a:ea typeface="Arial"/>
                <a:cs typeface="Arial"/>
                <a:sym typeface="Arial"/>
              </a:rPr>
              <a:t> is called </a:t>
            </a:r>
            <a:r>
              <a:rPr b="1" lang="en-US" sz="2400">
                <a:solidFill>
                  <a:srgbClr val="000000"/>
                </a:solidFill>
                <a:latin typeface="Arial"/>
                <a:ea typeface="Arial"/>
                <a:cs typeface="Arial"/>
                <a:sym typeface="Arial"/>
              </a:rPr>
              <a:t>elastic potential energy</a:t>
            </a:r>
            <a:r>
              <a:rPr lang="en-US" sz="2400">
                <a:solidFill>
                  <a:srgbClr val="000000"/>
                </a:solidFill>
                <a:latin typeface="Arial"/>
                <a:ea typeface="Arial"/>
                <a:cs typeface="Arial"/>
                <a:sym typeface="Arial"/>
              </a:rPr>
              <a:t>.</a:t>
            </a:r>
            <a:endParaRPr baseline="-25000" sz="2400">
              <a:solidFill>
                <a:schemeClr val="dk1"/>
              </a:solidFill>
              <a:latin typeface="Arial"/>
              <a:ea typeface="Arial"/>
              <a:cs typeface="Arial"/>
              <a:sym typeface="Arial"/>
            </a:endParaRPr>
          </a:p>
        </p:txBody>
      </p:sp>
      <p:grpSp>
        <p:nvGrpSpPr>
          <p:cNvPr id="803" name="Google Shape;803;p30"/>
          <p:cNvGrpSpPr/>
          <p:nvPr/>
        </p:nvGrpSpPr>
        <p:grpSpPr>
          <a:xfrm>
            <a:off x="828675" y="2008188"/>
            <a:ext cx="7464425" cy="461962"/>
            <a:chOff x="828675" y="2008188"/>
            <a:chExt cx="7464425" cy="461962"/>
          </a:xfrm>
        </p:grpSpPr>
        <p:sp>
          <p:nvSpPr>
            <p:cNvPr id="804" name="Google Shape;804;p30"/>
            <p:cNvSpPr/>
            <p:nvPr/>
          </p:nvSpPr>
          <p:spPr>
            <a:xfrm>
              <a:off x="965200" y="2011363"/>
              <a:ext cx="2495550" cy="355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E</a:t>
              </a:r>
              <a:r>
                <a:rPr baseline="-25000" i="1" lang="en-US" sz="2400">
                  <a:solidFill>
                    <a:schemeClr val="dk1"/>
                  </a:solidFill>
                  <a:latin typeface="Arial"/>
                  <a:ea typeface="Arial"/>
                  <a:cs typeface="Arial"/>
                  <a:sym typeface="Arial"/>
                </a:rPr>
                <a:t>H</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Δ</a:t>
              </a:r>
              <a:r>
                <a:rPr i="1" lang="en-US" sz="2400">
                  <a:solidFill>
                    <a:schemeClr val="dk1"/>
                  </a:solidFill>
                  <a:latin typeface="Arial"/>
                  <a:ea typeface="Arial"/>
                  <a:cs typeface="Arial"/>
                  <a:sym typeface="Arial"/>
                </a:rPr>
                <a:t>x</a:t>
              </a:r>
              <a:r>
                <a:rPr baseline="30000" lang="en-US" sz="2400">
                  <a:solidFill>
                    <a:schemeClr val="dk1"/>
                  </a:solidFill>
                  <a:latin typeface="Arial"/>
                  <a:ea typeface="Arial"/>
                  <a:cs typeface="Arial"/>
                  <a:sym typeface="Arial"/>
                </a:rPr>
                <a:t> 2</a:t>
              </a:r>
              <a:endParaRPr sz="2400">
                <a:solidFill>
                  <a:schemeClr val="dk1"/>
                </a:solidFill>
                <a:latin typeface="Arial"/>
                <a:ea typeface="Arial"/>
                <a:cs typeface="Arial"/>
                <a:sym typeface="Arial"/>
              </a:endParaRPr>
            </a:p>
          </p:txBody>
        </p:sp>
        <p:sp>
          <p:nvSpPr>
            <p:cNvPr id="805" name="Google Shape;805;p30"/>
            <p:cNvSpPr txBox="1"/>
            <p:nvPr/>
          </p:nvSpPr>
          <p:spPr>
            <a:xfrm>
              <a:off x="4614863" y="2008188"/>
              <a:ext cx="3678237" cy="461962"/>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Elastic potential energy</a:t>
              </a:r>
              <a:endParaRPr/>
            </a:p>
          </p:txBody>
        </p:sp>
        <p:sp>
          <p:nvSpPr>
            <p:cNvPr id="806" name="Google Shape;806;p30"/>
            <p:cNvSpPr/>
            <p:nvPr/>
          </p:nvSpPr>
          <p:spPr>
            <a:xfrm>
              <a:off x="828675" y="2011363"/>
              <a:ext cx="7462838" cy="458787"/>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grpSp>
        <p:nvGrpSpPr>
          <p:cNvPr id="807" name="Google Shape;807;p30"/>
          <p:cNvGrpSpPr/>
          <p:nvPr/>
        </p:nvGrpSpPr>
        <p:grpSpPr>
          <a:xfrm>
            <a:off x="5494338" y="2460625"/>
            <a:ext cx="3649662" cy="2155825"/>
            <a:chOff x="5494315" y="2461282"/>
            <a:chExt cx="3649685" cy="2154463"/>
          </a:xfrm>
        </p:grpSpPr>
        <p:cxnSp>
          <p:nvCxnSpPr>
            <p:cNvPr id="808" name="Google Shape;808;p30"/>
            <p:cNvCxnSpPr/>
            <p:nvPr/>
          </p:nvCxnSpPr>
          <p:spPr>
            <a:xfrm rot="10800000">
              <a:off x="5957097" y="2540270"/>
              <a:ext cx="0" cy="1876985"/>
            </a:xfrm>
            <a:prstGeom prst="straightConnector1">
              <a:avLst/>
            </a:prstGeom>
            <a:noFill/>
            <a:ln cap="flat" cmpd="sng" w="28575">
              <a:solidFill>
                <a:schemeClr val="dk1"/>
              </a:solidFill>
              <a:prstDash val="solid"/>
              <a:round/>
              <a:headEnd len="med" w="med" type="none"/>
              <a:tailEnd len="med" w="med" type="triangle"/>
            </a:ln>
          </p:spPr>
        </p:cxnSp>
        <p:grpSp>
          <p:nvGrpSpPr>
            <p:cNvPr id="809" name="Google Shape;809;p30"/>
            <p:cNvGrpSpPr/>
            <p:nvPr/>
          </p:nvGrpSpPr>
          <p:grpSpPr>
            <a:xfrm>
              <a:off x="5956280" y="2639085"/>
              <a:ext cx="2659063" cy="1773240"/>
              <a:chOff x="3648" y="1295"/>
              <a:chExt cx="1152" cy="768"/>
            </a:xfrm>
          </p:grpSpPr>
          <p:sp>
            <p:nvSpPr>
              <p:cNvPr id="810" name="Google Shape;810;p30"/>
              <p:cNvSpPr/>
              <p:nvPr/>
            </p:nvSpPr>
            <p:spPr>
              <a:xfrm>
                <a:off x="3648"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11" name="Google Shape;811;p30"/>
              <p:cNvSpPr/>
              <p:nvPr/>
            </p:nvSpPr>
            <p:spPr>
              <a:xfrm>
                <a:off x="3792"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12" name="Google Shape;812;p30"/>
              <p:cNvSpPr/>
              <p:nvPr/>
            </p:nvSpPr>
            <p:spPr>
              <a:xfrm>
                <a:off x="3936"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13" name="Google Shape;813;p30"/>
              <p:cNvSpPr/>
              <p:nvPr/>
            </p:nvSpPr>
            <p:spPr>
              <a:xfrm>
                <a:off x="4080"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14" name="Google Shape;814;p30"/>
              <p:cNvSpPr/>
              <p:nvPr/>
            </p:nvSpPr>
            <p:spPr>
              <a:xfrm>
                <a:off x="4224"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15" name="Google Shape;815;p30"/>
              <p:cNvSpPr/>
              <p:nvPr/>
            </p:nvSpPr>
            <p:spPr>
              <a:xfrm>
                <a:off x="4368"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16" name="Google Shape;816;p30"/>
              <p:cNvSpPr/>
              <p:nvPr/>
            </p:nvSpPr>
            <p:spPr>
              <a:xfrm>
                <a:off x="4512"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17" name="Google Shape;817;p30"/>
              <p:cNvSpPr/>
              <p:nvPr/>
            </p:nvSpPr>
            <p:spPr>
              <a:xfrm>
                <a:off x="4656"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18" name="Google Shape;818;p30"/>
              <p:cNvSpPr/>
              <p:nvPr/>
            </p:nvSpPr>
            <p:spPr>
              <a:xfrm>
                <a:off x="3648"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19" name="Google Shape;819;p30"/>
              <p:cNvSpPr/>
              <p:nvPr/>
            </p:nvSpPr>
            <p:spPr>
              <a:xfrm>
                <a:off x="3792"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20" name="Google Shape;820;p30"/>
              <p:cNvSpPr/>
              <p:nvPr/>
            </p:nvSpPr>
            <p:spPr>
              <a:xfrm>
                <a:off x="3936"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21" name="Google Shape;821;p30"/>
              <p:cNvSpPr/>
              <p:nvPr/>
            </p:nvSpPr>
            <p:spPr>
              <a:xfrm>
                <a:off x="4080"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22" name="Google Shape;822;p30"/>
              <p:cNvSpPr/>
              <p:nvPr/>
            </p:nvSpPr>
            <p:spPr>
              <a:xfrm>
                <a:off x="4224"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23" name="Google Shape;823;p30"/>
              <p:cNvSpPr/>
              <p:nvPr/>
            </p:nvSpPr>
            <p:spPr>
              <a:xfrm>
                <a:off x="4368"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24" name="Google Shape;824;p30"/>
              <p:cNvSpPr/>
              <p:nvPr/>
            </p:nvSpPr>
            <p:spPr>
              <a:xfrm>
                <a:off x="4512"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25" name="Google Shape;825;p30"/>
              <p:cNvSpPr/>
              <p:nvPr/>
            </p:nvSpPr>
            <p:spPr>
              <a:xfrm>
                <a:off x="4656"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26" name="Google Shape;826;p30"/>
              <p:cNvSpPr/>
              <p:nvPr/>
            </p:nvSpPr>
            <p:spPr>
              <a:xfrm>
                <a:off x="3648"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27" name="Google Shape;827;p30"/>
              <p:cNvSpPr/>
              <p:nvPr/>
            </p:nvSpPr>
            <p:spPr>
              <a:xfrm>
                <a:off x="3792"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28" name="Google Shape;828;p30"/>
              <p:cNvSpPr/>
              <p:nvPr/>
            </p:nvSpPr>
            <p:spPr>
              <a:xfrm>
                <a:off x="3936"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29" name="Google Shape;829;p30"/>
              <p:cNvSpPr/>
              <p:nvPr/>
            </p:nvSpPr>
            <p:spPr>
              <a:xfrm>
                <a:off x="4080"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30" name="Google Shape;830;p30"/>
              <p:cNvSpPr/>
              <p:nvPr/>
            </p:nvSpPr>
            <p:spPr>
              <a:xfrm>
                <a:off x="4224"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31" name="Google Shape;831;p30"/>
              <p:cNvSpPr/>
              <p:nvPr/>
            </p:nvSpPr>
            <p:spPr>
              <a:xfrm>
                <a:off x="4368"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32" name="Google Shape;832;p30"/>
              <p:cNvSpPr/>
              <p:nvPr/>
            </p:nvSpPr>
            <p:spPr>
              <a:xfrm>
                <a:off x="4512"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33" name="Google Shape;833;p30"/>
              <p:cNvSpPr/>
              <p:nvPr/>
            </p:nvSpPr>
            <p:spPr>
              <a:xfrm>
                <a:off x="4656"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34" name="Google Shape;834;p30"/>
              <p:cNvSpPr/>
              <p:nvPr/>
            </p:nvSpPr>
            <p:spPr>
              <a:xfrm>
                <a:off x="3648"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35" name="Google Shape;835;p30"/>
              <p:cNvSpPr/>
              <p:nvPr/>
            </p:nvSpPr>
            <p:spPr>
              <a:xfrm>
                <a:off x="3792"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36" name="Google Shape;836;p30"/>
              <p:cNvSpPr/>
              <p:nvPr/>
            </p:nvSpPr>
            <p:spPr>
              <a:xfrm>
                <a:off x="3936"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37" name="Google Shape;837;p30"/>
              <p:cNvSpPr/>
              <p:nvPr/>
            </p:nvSpPr>
            <p:spPr>
              <a:xfrm>
                <a:off x="4080"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38" name="Google Shape;838;p30"/>
              <p:cNvSpPr/>
              <p:nvPr/>
            </p:nvSpPr>
            <p:spPr>
              <a:xfrm>
                <a:off x="4224"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39" name="Google Shape;839;p30"/>
              <p:cNvSpPr/>
              <p:nvPr/>
            </p:nvSpPr>
            <p:spPr>
              <a:xfrm>
                <a:off x="4368"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40" name="Google Shape;840;p30"/>
              <p:cNvSpPr/>
              <p:nvPr/>
            </p:nvSpPr>
            <p:spPr>
              <a:xfrm>
                <a:off x="4512"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41" name="Google Shape;841;p30"/>
              <p:cNvSpPr/>
              <p:nvPr/>
            </p:nvSpPr>
            <p:spPr>
              <a:xfrm>
                <a:off x="4656"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42" name="Google Shape;842;p30"/>
              <p:cNvSpPr/>
              <p:nvPr/>
            </p:nvSpPr>
            <p:spPr>
              <a:xfrm>
                <a:off x="3648"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43" name="Google Shape;843;p30"/>
              <p:cNvSpPr/>
              <p:nvPr/>
            </p:nvSpPr>
            <p:spPr>
              <a:xfrm>
                <a:off x="3792"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44" name="Google Shape;844;p30"/>
              <p:cNvSpPr/>
              <p:nvPr/>
            </p:nvSpPr>
            <p:spPr>
              <a:xfrm>
                <a:off x="3936"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45" name="Google Shape;845;p30"/>
              <p:cNvSpPr/>
              <p:nvPr/>
            </p:nvSpPr>
            <p:spPr>
              <a:xfrm>
                <a:off x="4080"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46" name="Google Shape;846;p30"/>
              <p:cNvSpPr/>
              <p:nvPr/>
            </p:nvSpPr>
            <p:spPr>
              <a:xfrm>
                <a:off x="4224"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47" name="Google Shape;847;p30"/>
              <p:cNvSpPr/>
              <p:nvPr/>
            </p:nvSpPr>
            <p:spPr>
              <a:xfrm>
                <a:off x="4368"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48" name="Google Shape;848;p30"/>
              <p:cNvSpPr/>
              <p:nvPr/>
            </p:nvSpPr>
            <p:spPr>
              <a:xfrm>
                <a:off x="4512"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49" name="Google Shape;849;p30"/>
              <p:cNvSpPr/>
              <p:nvPr/>
            </p:nvSpPr>
            <p:spPr>
              <a:xfrm>
                <a:off x="4656"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50" name="Google Shape;850;p30"/>
              <p:cNvSpPr/>
              <p:nvPr/>
            </p:nvSpPr>
            <p:spPr>
              <a:xfrm>
                <a:off x="3648"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51" name="Google Shape;851;p30"/>
              <p:cNvSpPr/>
              <p:nvPr/>
            </p:nvSpPr>
            <p:spPr>
              <a:xfrm>
                <a:off x="3792"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52" name="Google Shape;852;p30"/>
              <p:cNvSpPr/>
              <p:nvPr/>
            </p:nvSpPr>
            <p:spPr>
              <a:xfrm>
                <a:off x="3936"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53" name="Google Shape;853;p30"/>
              <p:cNvSpPr/>
              <p:nvPr/>
            </p:nvSpPr>
            <p:spPr>
              <a:xfrm>
                <a:off x="4080"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54" name="Google Shape;854;p30"/>
              <p:cNvSpPr/>
              <p:nvPr/>
            </p:nvSpPr>
            <p:spPr>
              <a:xfrm>
                <a:off x="4224"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55" name="Google Shape;855;p30"/>
              <p:cNvSpPr/>
              <p:nvPr/>
            </p:nvSpPr>
            <p:spPr>
              <a:xfrm>
                <a:off x="4368"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56" name="Google Shape;856;p30"/>
              <p:cNvSpPr/>
              <p:nvPr/>
            </p:nvSpPr>
            <p:spPr>
              <a:xfrm>
                <a:off x="4512"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57" name="Google Shape;857;p30"/>
              <p:cNvSpPr/>
              <p:nvPr/>
            </p:nvSpPr>
            <p:spPr>
              <a:xfrm>
                <a:off x="4656"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58" name="Google Shape;858;p30"/>
              <p:cNvSpPr/>
              <p:nvPr/>
            </p:nvSpPr>
            <p:spPr>
              <a:xfrm>
                <a:off x="3648"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59" name="Google Shape;859;p30"/>
              <p:cNvSpPr/>
              <p:nvPr/>
            </p:nvSpPr>
            <p:spPr>
              <a:xfrm>
                <a:off x="3792"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60" name="Google Shape;860;p30"/>
              <p:cNvSpPr/>
              <p:nvPr/>
            </p:nvSpPr>
            <p:spPr>
              <a:xfrm>
                <a:off x="3936"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61" name="Google Shape;861;p30"/>
              <p:cNvSpPr/>
              <p:nvPr/>
            </p:nvSpPr>
            <p:spPr>
              <a:xfrm>
                <a:off x="4080"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62" name="Google Shape;862;p30"/>
              <p:cNvSpPr/>
              <p:nvPr/>
            </p:nvSpPr>
            <p:spPr>
              <a:xfrm>
                <a:off x="4224"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63" name="Google Shape;863;p30"/>
              <p:cNvSpPr/>
              <p:nvPr/>
            </p:nvSpPr>
            <p:spPr>
              <a:xfrm>
                <a:off x="4368"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64" name="Google Shape;864;p30"/>
              <p:cNvSpPr/>
              <p:nvPr/>
            </p:nvSpPr>
            <p:spPr>
              <a:xfrm>
                <a:off x="4512"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65" name="Google Shape;865;p30"/>
              <p:cNvSpPr/>
              <p:nvPr/>
            </p:nvSpPr>
            <p:spPr>
              <a:xfrm>
                <a:off x="4656"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66" name="Google Shape;866;p30"/>
              <p:cNvSpPr/>
              <p:nvPr/>
            </p:nvSpPr>
            <p:spPr>
              <a:xfrm>
                <a:off x="3648"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67" name="Google Shape;867;p30"/>
              <p:cNvSpPr/>
              <p:nvPr/>
            </p:nvSpPr>
            <p:spPr>
              <a:xfrm>
                <a:off x="3792"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68" name="Google Shape;868;p30"/>
              <p:cNvSpPr/>
              <p:nvPr/>
            </p:nvSpPr>
            <p:spPr>
              <a:xfrm>
                <a:off x="3936"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69" name="Google Shape;869;p30"/>
              <p:cNvSpPr/>
              <p:nvPr/>
            </p:nvSpPr>
            <p:spPr>
              <a:xfrm>
                <a:off x="4080"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70" name="Google Shape;870;p30"/>
              <p:cNvSpPr/>
              <p:nvPr/>
            </p:nvSpPr>
            <p:spPr>
              <a:xfrm>
                <a:off x="4224"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71" name="Google Shape;871;p30"/>
              <p:cNvSpPr/>
              <p:nvPr/>
            </p:nvSpPr>
            <p:spPr>
              <a:xfrm>
                <a:off x="4368"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72" name="Google Shape;872;p30"/>
              <p:cNvSpPr/>
              <p:nvPr/>
            </p:nvSpPr>
            <p:spPr>
              <a:xfrm>
                <a:off x="4512"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73" name="Google Shape;873;p30"/>
              <p:cNvSpPr/>
              <p:nvPr/>
            </p:nvSpPr>
            <p:spPr>
              <a:xfrm>
                <a:off x="4656"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cxnSp>
          <p:nvCxnSpPr>
            <p:cNvPr id="874" name="Google Shape;874;p30"/>
            <p:cNvCxnSpPr/>
            <p:nvPr/>
          </p:nvCxnSpPr>
          <p:spPr>
            <a:xfrm flipH="1" rot="10800000">
              <a:off x="5963823" y="2658790"/>
              <a:ext cx="2644727" cy="1758461"/>
            </a:xfrm>
            <a:prstGeom prst="straightConnector1">
              <a:avLst/>
            </a:prstGeom>
            <a:noFill/>
            <a:ln cap="flat" cmpd="sng" w="38100">
              <a:solidFill>
                <a:srgbClr val="FF0000"/>
              </a:solidFill>
              <a:prstDash val="solid"/>
              <a:round/>
              <a:headEnd len="med" w="med" type="none"/>
              <a:tailEnd len="med" w="med" type="none"/>
            </a:ln>
          </p:spPr>
        </p:cxnSp>
        <p:sp>
          <p:nvSpPr>
            <p:cNvPr id="875" name="Google Shape;875;p30"/>
            <p:cNvSpPr txBox="1"/>
            <p:nvPr/>
          </p:nvSpPr>
          <p:spPr>
            <a:xfrm>
              <a:off x="5494315" y="2461282"/>
              <a:ext cx="37221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F</a:t>
              </a:r>
              <a:endParaRPr/>
            </a:p>
          </p:txBody>
        </p:sp>
        <p:grpSp>
          <p:nvGrpSpPr>
            <p:cNvPr id="876" name="Google Shape;876;p30"/>
            <p:cNvGrpSpPr/>
            <p:nvPr/>
          </p:nvGrpSpPr>
          <p:grpSpPr>
            <a:xfrm>
              <a:off x="5953118" y="4153782"/>
              <a:ext cx="3190882" cy="461963"/>
              <a:chOff x="3306" y="2881"/>
              <a:chExt cx="2010" cy="291"/>
            </a:xfrm>
          </p:grpSpPr>
          <p:sp>
            <p:nvSpPr>
              <p:cNvPr id="877" name="Google Shape;877;p30"/>
              <p:cNvSpPr txBox="1"/>
              <p:nvPr/>
            </p:nvSpPr>
            <p:spPr>
              <a:xfrm>
                <a:off x="5103" y="2881"/>
                <a:ext cx="21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x</a:t>
                </a:r>
                <a:endParaRPr/>
              </a:p>
            </p:txBody>
          </p:sp>
          <p:cxnSp>
            <p:nvCxnSpPr>
              <p:cNvPr id="878" name="Google Shape;878;p30"/>
              <p:cNvCxnSpPr/>
              <p:nvPr/>
            </p:nvCxnSpPr>
            <p:spPr>
              <a:xfrm>
                <a:off x="3306" y="3051"/>
                <a:ext cx="1814" cy="0"/>
              </a:xfrm>
              <a:prstGeom prst="straightConnector1">
                <a:avLst/>
              </a:prstGeom>
              <a:noFill/>
              <a:ln cap="flat" cmpd="sng" w="31750">
                <a:solidFill>
                  <a:schemeClr val="dk1"/>
                </a:solidFill>
                <a:prstDash val="solid"/>
                <a:round/>
                <a:headEnd len="med" w="med" type="none"/>
                <a:tailEnd len="med" w="med" type="triangl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0">
                                            <p:txEl>
                                              <p:pRg end="0" st="0"/>
                                            </p:txEl>
                                          </p:spTgt>
                                        </p:tgtEl>
                                        <p:attrNameLst>
                                          <p:attrName>style.visibility</p:attrName>
                                        </p:attrNameLst>
                                      </p:cBhvr>
                                      <p:to>
                                        <p:strVal val="visible"/>
                                      </p:to>
                                    </p:set>
                                    <p:anim calcmode="lin" valueType="num">
                                      <p:cBhvr additive="base">
                                        <p:cTn dur="500"/>
                                        <p:tgtEl>
                                          <p:spTgt spid="80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3"/>
                                        </p:tgtEl>
                                        <p:attrNameLst>
                                          <p:attrName>style.visibility</p:attrName>
                                        </p:attrNameLst>
                                      </p:cBhvr>
                                      <p:to>
                                        <p:strVal val="visible"/>
                                      </p:to>
                                    </p:set>
                                    <p:anim calcmode="lin" valueType="num">
                                      <p:cBhvr additive="base">
                                        <p:cTn dur="500"/>
                                        <p:tgtEl>
                                          <p:spTgt spid="80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2">
                                            <p:txEl>
                                              <p:pRg end="0" st="0"/>
                                            </p:txEl>
                                          </p:spTgt>
                                        </p:tgtEl>
                                        <p:attrNameLst>
                                          <p:attrName>style.visibility</p:attrName>
                                        </p:attrNameLst>
                                      </p:cBhvr>
                                      <p:to>
                                        <p:strVal val="visible"/>
                                      </p:to>
                                    </p:set>
                                    <p:anim calcmode="lin" valueType="num">
                                      <p:cBhvr additive="base">
                                        <p:cTn dur="500"/>
                                        <p:tgtEl>
                                          <p:spTgt spid="80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2">
                                            <p:txEl>
                                              <p:pRg end="1" st="1"/>
                                            </p:txEl>
                                          </p:spTgt>
                                        </p:tgtEl>
                                        <p:attrNameLst>
                                          <p:attrName>style.visibility</p:attrName>
                                        </p:attrNameLst>
                                      </p:cBhvr>
                                      <p:to>
                                        <p:strVal val="visible"/>
                                      </p:to>
                                    </p:set>
                                    <p:anim calcmode="lin" valueType="num">
                                      <p:cBhvr additive="base">
                                        <p:cTn dur="500"/>
                                        <p:tgtEl>
                                          <p:spTgt spid="80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2">
                                            <p:txEl>
                                              <p:pRg end="2" st="2"/>
                                            </p:txEl>
                                          </p:spTgt>
                                        </p:tgtEl>
                                        <p:attrNameLst>
                                          <p:attrName>style.visibility</p:attrName>
                                        </p:attrNameLst>
                                      </p:cBhvr>
                                      <p:to>
                                        <p:strVal val="visible"/>
                                      </p:to>
                                    </p:set>
                                    <p:anim calcmode="lin" valueType="num">
                                      <p:cBhvr additive="base">
                                        <p:cTn dur="500"/>
                                        <p:tgtEl>
                                          <p:spTgt spid="80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2">
                                            <p:txEl>
                                              <p:pRg end="3" st="3"/>
                                            </p:txEl>
                                          </p:spTgt>
                                        </p:tgtEl>
                                        <p:attrNameLst>
                                          <p:attrName>style.visibility</p:attrName>
                                        </p:attrNameLst>
                                      </p:cBhvr>
                                      <p:to>
                                        <p:strVal val="visible"/>
                                      </p:to>
                                    </p:set>
                                    <p:anim calcmode="lin" valueType="num">
                                      <p:cBhvr additive="base">
                                        <p:cTn dur="500"/>
                                        <p:tgtEl>
                                          <p:spTgt spid="80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07"/>
                                        </p:tgtEl>
                                        <p:attrNameLst>
                                          <p:attrName>style.visibility</p:attrName>
                                        </p:attrNameLst>
                                      </p:cBhvr>
                                      <p:to>
                                        <p:strVal val="visible"/>
                                      </p:to>
                                    </p:set>
                                    <p:anim calcmode="lin" valueType="num">
                                      <p:cBhvr additive="base">
                                        <p:cTn dur="500"/>
                                        <p:tgtEl>
                                          <p:spTgt spid="807"/>
                                        </p:tgtEl>
                                        <p:attrNameLst>
                                          <p:attrName>ppt_w</p:attrName>
                                        </p:attrNameLst>
                                      </p:cBhvr>
                                      <p:tavLst>
                                        <p:tav fmla="" tm="0">
                                          <p:val>
                                            <p:strVal val="0"/>
                                          </p:val>
                                        </p:tav>
                                        <p:tav fmla="" tm="100000">
                                          <p:val>
                                            <p:strVal val="#ppt_w"/>
                                          </p:val>
                                        </p:tav>
                                      </p:tavLst>
                                    </p:anim>
                                    <p:anim calcmode="lin" valueType="num">
                                      <p:cBhvr additive="base">
                                        <p:cTn dur="500"/>
                                        <p:tgtEl>
                                          <p:spTgt spid="80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31"/>
          <p:cNvSpPr/>
          <p:nvPr/>
        </p:nvSpPr>
        <p:spPr>
          <a:xfrm>
            <a:off x="685800" y="1549400"/>
            <a:ext cx="7772400" cy="11080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Elastic potential energy</a:t>
            </a:r>
            <a:endParaRPr i="1" sz="2000">
              <a:solidFill>
                <a:schemeClr val="dk1"/>
              </a:solidFill>
              <a:latin typeface="Courier New"/>
              <a:ea typeface="Courier New"/>
              <a:cs typeface="Courier New"/>
              <a:sym typeface="Courier New"/>
            </a:endParaRPr>
          </a:p>
        </p:txBody>
      </p:sp>
      <p:sp>
        <p:nvSpPr>
          <p:cNvPr id="885" name="Google Shape;885;p31"/>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886" name="Google Shape;886;p31"/>
          <p:cNvSpPr/>
          <p:nvPr/>
        </p:nvSpPr>
        <p:spPr>
          <a:xfrm>
            <a:off x="674688" y="2551113"/>
            <a:ext cx="7781925" cy="406082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Show that the energy                                      “stored” in a stretched or compressed                                       spring is given by the above formula.</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As we learned, the area under the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vs. </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graph gives the work done by the force during that displacement.</a:t>
            </a:r>
            <a:endParaRPr b="1" i="1" sz="2400">
              <a:solidFill>
                <a:schemeClr val="dk1"/>
              </a:solidFill>
              <a:latin typeface="Arial"/>
              <a:ea typeface="Arial"/>
              <a:cs typeface="Arial"/>
              <a:sym typeface="Arial"/>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From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kx</a:t>
            </a:r>
            <a:r>
              <a:rPr lang="en-US" sz="2400">
                <a:solidFill>
                  <a:schemeClr val="dk1"/>
                </a:solidFill>
                <a:latin typeface="Arial"/>
                <a:ea typeface="Arial"/>
                <a:cs typeface="Arial"/>
                <a:sym typeface="Arial"/>
              </a:rPr>
              <a:t> and from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bh</a:t>
            </a:r>
            <a:r>
              <a:rPr lang="en-US" sz="2400">
                <a:solidFill>
                  <a:schemeClr val="dk1"/>
                </a:solidFill>
                <a:latin typeface="Arial"/>
                <a:ea typeface="Arial"/>
                <a:cs typeface="Arial"/>
                <a:sym typeface="Arial"/>
              </a:rPr>
              <a:t> we obtain</a:t>
            </a:r>
            <a:endParaRPr/>
          </a:p>
          <a:p>
            <a:pPr indent="0" lvl="0" marL="0" marR="0" rtl="0" algn="l">
              <a:spcBef>
                <a:spcPts val="480"/>
              </a:spcBef>
              <a:spcAft>
                <a:spcPts val="0"/>
              </a:spcAft>
              <a:buNone/>
            </a:pPr>
            <a:r>
              <a:rPr i="1" lang="en-US" sz="2400">
                <a:solidFill>
                  <a:srgbClr val="000000"/>
                </a:solidFill>
                <a:latin typeface="Arial"/>
                <a:ea typeface="Arial"/>
                <a:cs typeface="Arial"/>
                <a:sym typeface="Arial"/>
              </a:rPr>
              <a:t>       E</a:t>
            </a:r>
            <a:r>
              <a:rPr baseline="-25000" lang="en-US" sz="2400">
                <a:solidFill>
                  <a:srgbClr val="000000"/>
                </a:solidFill>
                <a:latin typeface="Arial"/>
                <a:ea typeface="Arial"/>
                <a:cs typeface="Arial"/>
                <a:sym typeface="Arial"/>
              </a:rPr>
              <a:t>H</a:t>
            </a:r>
            <a:r>
              <a:rPr lang="en-US" sz="2400">
                <a:solidFill>
                  <a:srgbClr val="000000"/>
                </a:solidFill>
                <a:latin typeface="Arial"/>
                <a:ea typeface="Arial"/>
                <a:cs typeface="Arial"/>
                <a:sym typeface="Arial"/>
              </a:rPr>
              <a:t> = </a:t>
            </a:r>
            <a:r>
              <a:rPr i="1" lang="en-US" sz="2400">
                <a:solidFill>
                  <a:srgbClr val="000000"/>
                </a:solidFill>
                <a:latin typeface="Arial"/>
                <a:ea typeface="Arial"/>
                <a:cs typeface="Arial"/>
                <a:sym typeface="Arial"/>
              </a:rPr>
              <a:t>W</a:t>
            </a:r>
            <a:r>
              <a:rPr lang="en-US" sz="2400">
                <a:solidFill>
                  <a:srgbClr val="000000"/>
                </a:solidFill>
                <a:latin typeface="Arial"/>
                <a:ea typeface="Arial"/>
                <a:cs typeface="Arial"/>
                <a:sym typeface="Arial"/>
              </a:rPr>
              <a:t> = </a:t>
            </a:r>
            <a:r>
              <a:rPr i="1" lang="en-US" sz="2400">
                <a:solidFill>
                  <a:srgbClr val="000000"/>
                </a:solidFill>
                <a:latin typeface="Arial"/>
                <a:ea typeface="Arial"/>
                <a:cs typeface="Arial"/>
                <a:sym typeface="Arial"/>
              </a:rPr>
              <a:t>A</a:t>
            </a:r>
            <a:r>
              <a:rPr lang="en-US" sz="2400">
                <a:solidFill>
                  <a:srgbClr val="000000"/>
                </a:solidFill>
                <a:latin typeface="Arial"/>
                <a:ea typeface="Arial"/>
                <a:cs typeface="Arial"/>
                <a:sym typeface="Arial"/>
              </a:rPr>
              <a:t> = (1/2)</a:t>
            </a:r>
            <a:r>
              <a:rPr i="1" lang="en-US" sz="2400">
                <a:solidFill>
                  <a:srgbClr val="000000"/>
                </a:solidFill>
                <a:latin typeface="Arial"/>
                <a:ea typeface="Arial"/>
                <a:cs typeface="Arial"/>
                <a:sym typeface="Arial"/>
              </a:rPr>
              <a:t>xF</a:t>
            </a:r>
            <a:r>
              <a:rPr lang="en-US" sz="2400">
                <a:solidFill>
                  <a:srgbClr val="000000"/>
                </a:solidFill>
                <a:latin typeface="Arial"/>
                <a:ea typeface="Arial"/>
                <a:cs typeface="Arial"/>
                <a:sym typeface="Arial"/>
              </a:rPr>
              <a:t> = (1/2)</a:t>
            </a:r>
            <a:r>
              <a:rPr i="1" lang="en-US" sz="2400">
                <a:solidFill>
                  <a:srgbClr val="000000"/>
                </a:solidFill>
                <a:latin typeface="Arial"/>
                <a:ea typeface="Arial"/>
                <a:cs typeface="Arial"/>
                <a:sym typeface="Arial"/>
              </a:rPr>
              <a:t>x</a:t>
            </a:r>
            <a:r>
              <a:rPr lang="en-US" sz="2400">
                <a:solidFill>
                  <a:srgbClr val="000000"/>
                </a:solidFill>
                <a:latin typeface="Arial"/>
                <a:ea typeface="Arial"/>
                <a:cs typeface="Arial"/>
                <a:sym typeface="Arial"/>
              </a:rPr>
              <a:t>×</a:t>
            </a:r>
            <a:r>
              <a:rPr i="1" lang="en-US" sz="2400">
                <a:solidFill>
                  <a:srgbClr val="000000"/>
                </a:solidFill>
                <a:latin typeface="Arial"/>
                <a:ea typeface="Arial"/>
                <a:cs typeface="Arial"/>
                <a:sym typeface="Arial"/>
              </a:rPr>
              <a:t>kx</a:t>
            </a:r>
            <a:r>
              <a:rPr lang="en-US" sz="2400">
                <a:solidFill>
                  <a:srgbClr val="000000"/>
                </a:solidFill>
                <a:latin typeface="Arial"/>
                <a:ea typeface="Arial"/>
                <a:cs typeface="Arial"/>
                <a:sym typeface="Arial"/>
              </a:rPr>
              <a:t> = (1/2)</a:t>
            </a:r>
            <a:r>
              <a:rPr i="1" lang="en-US" sz="2400">
                <a:solidFill>
                  <a:srgbClr val="000000"/>
                </a:solidFill>
                <a:latin typeface="Arial"/>
                <a:ea typeface="Arial"/>
                <a:cs typeface="Arial"/>
                <a:sym typeface="Arial"/>
              </a:rPr>
              <a:t>kx</a:t>
            </a:r>
            <a:r>
              <a:rPr baseline="30000" lang="en-US" sz="2400">
                <a:solidFill>
                  <a:srgbClr val="000000"/>
                </a:solidFill>
                <a:latin typeface="Arial"/>
                <a:ea typeface="Arial"/>
                <a:cs typeface="Arial"/>
                <a:sym typeface="Arial"/>
              </a:rPr>
              <a:t>2</a:t>
            </a:r>
            <a:r>
              <a:rPr lang="en-US" sz="2400">
                <a:solidFill>
                  <a:srgbClr val="000000"/>
                </a:solidFill>
                <a:latin typeface="Arial"/>
                <a:ea typeface="Arial"/>
                <a:cs typeface="Arial"/>
                <a:sym typeface="Arial"/>
              </a:rPr>
              <a:t>.</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∙Finally, since </a:t>
            </a:r>
            <a:r>
              <a:rPr i="1" lang="en-US" sz="2400">
                <a:solidFill>
                  <a:srgbClr val="000000"/>
                </a:solidFill>
                <a:latin typeface="Arial"/>
                <a:ea typeface="Arial"/>
                <a:cs typeface="Arial"/>
                <a:sym typeface="Arial"/>
              </a:rPr>
              <a:t>x </a:t>
            </a:r>
            <a:r>
              <a:rPr lang="en-US" sz="2400">
                <a:solidFill>
                  <a:srgbClr val="000000"/>
                </a:solidFill>
                <a:latin typeface="Arial"/>
                <a:ea typeface="Arial"/>
                <a:cs typeface="Arial"/>
                <a:sym typeface="Arial"/>
              </a:rPr>
              <a:t>=</a:t>
            </a:r>
            <a:r>
              <a:rPr i="1"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Δ</a:t>
            </a:r>
            <a:r>
              <a:rPr i="1" lang="en-US" sz="2400">
                <a:solidFill>
                  <a:srgbClr val="000000"/>
                </a:solidFill>
                <a:latin typeface="Arial"/>
                <a:ea typeface="Arial"/>
                <a:cs typeface="Arial"/>
                <a:sym typeface="Arial"/>
              </a:rPr>
              <a:t>x</a:t>
            </a:r>
            <a:r>
              <a:rPr lang="en-US" sz="2400">
                <a:solidFill>
                  <a:srgbClr val="000000"/>
                </a:solidFill>
                <a:latin typeface="Arial"/>
                <a:ea typeface="Arial"/>
                <a:cs typeface="Arial"/>
                <a:sym typeface="Arial"/>
              </a:rPr>
              <a:t>, </a:t>
            </a:r>
            <a:r>
              <a:rPr i="1" lang="en-US" sz="2400">
                <a:solidFill>
                  <a:srgbClr val="000000"/>
                </a:solidFill>
                <a:latin typeface="Arial"/>
                <a:ea typeface="Arial"/>
                <a:cs typeface="Arial"/>
                <a:sym typeface="Arial"/>
              </a:rPr>
              <a:t>E</a:t>
            </a:r>
            <a:r>
              <a:rPr baseline="-25000" lang="en-US" sz="2400">
                <a:solidFill>
                  <a:srgbClr val="000000"/>
                </a:solidFill>
                <a:latin typeface="Arial"/>
                <a:ea typeface="Arial"/>
                <a:cs typeface="Arial"/>
                <a:sym typeface="Arial"/>
              </a:rPr>
              <a:t>H</a:t>
            </a:r>
            <a:r>
              <a:rPr lang="en-US" sz="2400">
                <a:solidFill>
                  <a:srgbClr val="000000"/>
                </a:solidFill>
                <a:latin typeface="Arial"/>
                <a:ea typeface="Arial"/>
                <a:cs typeface="Arial"/>
                <a:sym typeface="Arial"/>
              </a:rPr>
              <a:t> = (1/2)</a:t>
            </a:r>
            <a:r>
              <a:rPr i="1" lang="en-US" sz="2400">
                <a:solidFill>
                  <a:srgbClr val="000000"/>
                </a:solidFill>
                <a:latin typeface="Arial"/>
                <a:ea typeface="Arial"/>
                <a:cs typeface="Arial"/>
                <a:sym typeface="Arial"/>
              </a:rPr>
              <a:t>k</a:t>
            </a:r>
            <a:r>
              <a:rPr lang="en-US" sz="2400">
                <a:solidFill>
                  <a:srgbClr val="000000"/>
                </a:solidFill>
                <a:latin typeface="Arial"/>
                <a:ea typeface="Arial"/>
                <a:cs typeface="Arial"/>
                <a:sym typeface="Arial"/>
              </a:rPr>
              <a:t>Δ</a:t>
            </a:r>
            <a:r>
              <a:rPr i="1" lang="en-US" sz="2400">
                <a:solidFill>
                  <a:srgbClr val="000000"/>
                </a:solidFill>
                <a:latin typeface="Arial"/>
                <a:ea typeface="Arial"/>
                <a:cs typeface="Arial"/>
                <a:sym typeface="Arial"/>
              </a:rPr>
              <a:t>x</a:t>
            </a:r>
            <a:r>
              <a:rPr baseline="30000" lang="en-US" sz="2400">
                <a:solidFill>
                  <a:srgbClr val="000000"/>
                </a:solidFill>
                <a:latin typeface="Arial"/>
                <a:ea typeface="Arial"/>
                <a:cs typeface="Arial"/>
                <a:sym typeface="Arial"/>
              </a:rPr>
              <a:t>2</a:t>
            </a:r>
            <a:r>
              <a:rPr lang="en-US" sz="2400">
                <a:solidFill>
                  <a:srgbClr val="000000"/>
                </a:solidFill>
                <a:latin typeface="Arial"/>
                <a:ea typeface="Arial"/>
                <a:cs typeface="Arial"/>
                <a:sym typeface="Arial"/>
              </a:rPr>
              <a:t>.</a:t>
            </a:r>
            <a:endParaRPr/>
          </a:p>
          <a:p>
            <a:pPr indent="0" lvl="0" marL="0" marR="0" rtl="0" algn="l">
              <a:spcBef>
                <a:spcPts val="480"/>
              </a:spcBef>
              <a:spcAft>
                <a:spcPts val="0"/>
              </a:spcAft>
              <a:buNone/>
            </a:pPr>
            <a:r>
              <a:t/>
            </a:r>
            <a:endParaRPr i="1" sz="2400">
              <a:solidFill>
                <a:schemeClr val="dk1"/>
              </a:solidFill>
              <a:latin typeface="Arial"/>
              <a:ea typeface="Arial"/>
              <a:cs typeface="Arial"/>
              <a:sym typeface="Arial"/>
            </a:endParaRPr>
          </a:p>
        </p:txBody>
      </p:sp>
      <p:grpSp>
        <p:nvGrpSpPr>
          <p:cNvPr id="887" name="Google Shape;887;p31"/>
          <p:cNvGrpSpPr/>
          <p:nvPr/>
        </p:nvGrpSpPr>
        <p:grpSpPr>
          <a:xfrm>
            <a:off x="828675" y="2008188"/>
            <a:ext cx="7464425" cy="461962"/>
            <a:chOff x="828675" y="2008188"/>
            <a:chExt cx="7464425" cy="461962"/>
          </a:xfrm>
        </p:grpSpPr>
        <p:sp>
          <p:nvSpPr>
            <p:cNvPr id="888" name="Google Shape;888;p31"/>
            <p:cNvSpPr/>
            <p:nvPr/>
          </p:nvSpPr>
          <p:spPr>
            <a:xfrm>
              <a:off x="965200" y="2011363"/>
              <a:ext cx="2495550" cy="355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E</a:t>
              </a:r>
              <a:r>
                <a:rPr baseline="-25000" i="1" lang="en-US" sz="2400">
                  <a:solidFill>
                    <a:schemeClr val="dk1"/>
                  </a:solidFill>
                  <a:latin typeface="Arial"/>
                  <a:ea typeface="Arial"/>
                  <a:cs typeface="Arial"/>
                  <a:sym typeface="Arial"/>
                </a:rPr>
                <a:t>H</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Δ</a:t>
              </a:r>
              <a:r>
                <a:rPr i="1" lang="en-US" sz="2400">
                  <a:solidFill>
                    <a:schemeClr val="dk1"/>
                  </a:solidFill>
                  <a:latin typeface="Arial"/>
                  <a:ea typeface="Arial"/>
                  <a:cs typeface="Arial"/>
                  <a:sym typeface="Arial"/>
                </a:rPr>
                <a:t>x</a:t>
              </a:r>
              <a:r>
                <a:rPr baseline="30000" lang="en-US" sz="2400">
                  <a:solidFill>
                    <a:schemeClr val="dk1"/>
                  </a:solidFill>
                  <a:latin typeface="Arial"/>
                  <a:ea typeface="Arial"/>
                  <a:cs typeface="Arial"/>
                  <a:sym typeface="Arial"/>
                </a:rPr>
                <a:t> 2</a:t>
              </a:r>
              <a:endParaRPr sz="2400">
                <a:solidFill>
                  <a:schemeClr val="dk1"/>
                </a:solidFill>
                <a:latin typeface="Arial"/>
                <a:ea typeface="Arial"/>
                <a:cs typeface="Arial"/>
                <a:sym typeface="Arial"/>
              </a:endParaRPr>
            </a:p>
          </p:txBody>
        </p:sp>
        <p:sp>
          <p:nvSpPr>
            <p:cNvPr id="889" name="Google Shape;889;p31"/>
            <p:cNvSpPr txBox="1"/>
            <p:nvPr/>
          </p:nvSpPr>
          <p:spPr>
            <a:xfrm>
              <a:off x="4614863" y="2008188"/>
              <a:ext cx="3678237" cy="461962"/>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Elastic potential energy</a:t>
              </a:r>
              <a:endParaRPr/>
            </a:p>
          </p:txBody>
        </p:sp>
        <p:sp>
          <p:nvSpPr>
            <p:cNvPr id="890" name="Google Shape;890;p31"/>
            <p:cNvSpPr/>
            <p:nvPr/>
          </p:nvSpPr>
          <p:spPr>
            <a:xfrm>
              <a:off x="828675" y="2011363"/>
              <a:ext cx="7462838" cy="458787"/>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grpSp>
        <p:nvGrpSpPr>
          <p:cNvPr id="891" name="Google Shape;891;p31"/>
          <p:cNvGrpSpPr/>
          <p:nvPr/>
        </p:nvGrpSpPr>
        <p:grpSpPr>
          <a:xfrm>
            <a:off x="5494338" y="2460625"/>
            <a:ext cx="3649662" cy="2155825"/>
            <a:chOff x="5494315" y="2461282"/>
            <a:chExt cx="3649685" cy="2154463"/>
          </a:xfrm>
        </p:grpSpPr>
        <p:cxnSp>
          <p:nvCxnSpPr>
            <p:cNvPr id="892" name="Google Shape;892;p31"/>
            <p:cNvCxnSpPr/>
            <p:nvPr/>
          </p:nvCxnSpPr>
          <p:spPr>
            <a:xfrm rot="10800000">
              <a:off x="5957097" y="2540270"/>
              <a:ext cx="0" cy="1876985"/>
            </a:xfrm>
            <a:prstGeom prst="straightConnector1">
              <a:avLst/>
            </a:prstGeom>
            <a:noFill/>
            <a:ln cap="flat" cmpd="sng" w="28575">
              <a:solidFill>
                <a:schemeClr val="dk1"/>
              </a:solidFill>
              <a:prstDash val="solid"/>
              <a:round/>
              <a:headEnd len="med" w="med" type="none"/>
              <a:tailEnd len="med" w="med" type="triangle"/>
            </a:ln>
          </p:spPr>
        </p:cxnSp>
        <p:grpSp>
          <p:nvGrpSpPr>
            <p:cNvPr id="893" name="Google Shape;893;p31"/>
            <p:cNvGrpSpPr/>
            <p:nvPr/>
          </p:nvGrpSpPr>
          <p:grpSpPr>
            <a:xfrm>
              <a:off x="5956280" y="2639085"/>
              <a:ext cx="2659063" cy="1773240"/>
              <a:chOff x="3648" y="1295"/>
              <a:chExt cx="1152" cy="768"/>
            </a:xfrm>
          </p:grpSpPr>
          <p:sp>
            <p:nvSpPr>
              <p:cNvPr id="894" name="Google Shape;894;p31"/>
              <p:cNvSpPr/>
              <p:nvPr/>
            </p:nvSpPr>
            <p:spPr>
              <a:xfrm>
                <a:off x="3648"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95" name="Google Shape;895;p31"/>
              <p:cNvSpPr/>
              <p:nvPr/>
            </p:nvSpPr>
            <p:spPr>
              <a:xfrm>
                <a:off x="3792"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96" name="Google Shape;896;p31"/>
              <p:cNvSpPr/>
              <p:nvPr/>
            </p:nvSpPr>
            <p:spPr>
              <a:xfrm>
                <a:off x="3936"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97" name="Google Shape;897;p31"/>
              <p:cNvSpPr/>
              <p:nvPr/>
            </p:nvSpPr>
            <p:spPr>
              <a:xfrm>
                <a:off x="4080"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98" name="Google Shape;898;p31"/>
              <p:cNvSpPr/>
              <p:nvPr/>
            </p:nvSpPr>
            <p:spPr>
              <a:xfrm>
                <a:off x="4224"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899" name="Google Shape;899;p31"/>
              <p:cNvSpPr/>
              <p:nvPr/>
            </p:nvSpPr>
            <p:spPr>
              <a:xfrm>
                <a:off x="4368"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00" name="Google Shape;900;p31"/>
              <p:cNvSpPr/>
              <p:nvPr/>
            </p:nvSpPr>
            <p:spPr>
              <a:xfrm>
                <a:off x="4512"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01" name="Google Shape;901;p31"/>
              <p:cNvSpPr/>
              <p:nvPr/>
            </p:nvSpPr>
            <p:spPr>
              <a:xfrm>
                <a:off x="4656" y="129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02" name="Google Shape;902;p31"/>
              <p:cNvSpPr/>
              <p:nvPr/>
            </p:nvSpPr>
            <p:spPr>
              <a:xfrm>
                <a:off x="3648"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03" name="Google Shape;903;p31"/>
              <p:cNvSpPr/>
              <p:nvPr/>
            </p:nvSpPr>
            <p:spPr>
              <a:xfrm>
                <a:off x="3792"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04" name="Google Shape;904;p31"/>
              <p:cNvSpPr/>
              <p:nvPr/>
            </p:nvSpPr>
            <p:spPr>
              <a:xfrm>
                <a:off x="3936"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05" name="Google Shape;905;p31"/>
              <p:cNvSpPr/>
              <p:nvPr/>
            </p:nvSpPr>
            <p:spPr>
              <a:xfrm>
                <a:off x="4080"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06" name="Google Shape;906;p31"/>
              <p:cNvSpPr/>
              <p:nvPr/>
            </p:nvSpPr>
            <p:spPr>
              <a:xfrm>
                <a:off x="4224"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07" name="Google Shape;907;p31"/>
              <p:cNvSpPr/>
              <p:nvPr/>
            </p:nvSpPr>
            <p:spPr>
              <a:xfrm>
                <a:off x="4368"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08" name="Google Shape;908;p31"/>
              <p:cNvSpPr/>
              <p:nvPr/>
            </p:nvSpPr>
            <p:spPr>
              <a:xfrm>
                <a:off x="4512"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09" name="Google Shape;909;p31"/>
              <p:cNvSpPr/>
              <p:nvPr/>
            </p:nvSpPr>
            <p:spPr>
              <a:xfrm>
                <a:off x="4656" y="139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10" name="Google Shape;910;p31"/>
              <p:cNvSpPr/>
              <p:nvPr/>
            </p:nvSpPr>
            <p:spPr>
              <a:xfrm>
                <a:off x="3648"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11" name="Google Shape;911;p31"/>
              <p:cNvSpPr/>
              <p:nvPr/>
            </p:nvSpPr>
            <p:spPr>
              <a:xfrm>
                <a:off x="3792"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12" name="Google Shape;912;p31"/>
              <p:cNvSpPr/>
              <p:nvPr/>
            </p:nvSpPr>
            <p:spPr>
              <a:xfrm>
                <a:off x="3936"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13" name="Google Shape;913;p31"/>
              <p:cNvSpPr/>
              <p:nvPr/>
            </p:nvSpPr>
            <p:spPr>
              <a:xfrm>
                <a:off x="4080"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14" name="Google Shape;914;p31"/>
              <p:cNvSpPr/>
              <p:nvPr/>
            </p:nvSpPr>
            <p:spPr>
              <a:xfrm>
                <a:off x="4224"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15" name="Google Shape;915;p31"/>
              <p:cNvSpPr/>
              <p:nvPr/>
            </p:nvSpPr>
            <p:spPr>
              <a:xfrm>
                <a:off x="4368"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16" name="Google Shape;916;p31"/>
              <p:cNvSpPr/>
              <p:nvPr/>
            </p:nvSpPr>
            <p:spPr>
              <a:xfrm>
                <a:off x="4512"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17" name="Google Shape;917;p31"/>
              <p:cNvSpPr/>
              <p:nvPr/>
            </p:nvSpPr>
            <p:spPr>
              <a:xfrm>
                <a:off x="4656" y="148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18" name="Google Shape;918;p31"/>
              <p:cNvSpPr/>
              <p:nvPr/>
            </p:nvSpPr>
            <p:spPr>
              <a:xfrm>
                <a:off x="3648"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19" name="Google Shape;919;p31"/>
              <p:cNvSpPr/>
              <p:nvPr/>
            </p:nvSpPr>
            <p:spPr>
              <a:xfrm>
                <a:off x="3792"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20" name="Google Shape;920;p31"/>
              <p:cNvSpPr/>
              <p:nvPr/>
            </p:nvSpPr>
            <p:spPr>
              <a:xfrm>
                <a:off x="3936"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21" name="Google Shape;921;p31"/>
              <p:cNvSpPr/>
              <p:nvPr/>
            </p:nvSpPr>
            <p:spPr>
              <a:xfrm>
                <a:off x="4080"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22" name="Google Shape;922;p31"/>
              <p:cNvSpPr/>
              <p:nvPr/>
            </p:nvSpPr>
            <p:spPr>
              <a:xfrm>
                <a:off x="4224"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23" name="Google Shape;923;p31"/>
              <p:cNvSpPr/>
              <p:nvPr/>
            </p:nvSpPr>
            <p:spPr>
              <a:xfrm>
                <a:off x="4368"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24" name="Google Shape;924;p31"/>
              <p:cNvSpPr/>
              <p:nvPr/>
            </p:nvSpPr>
            <p:spPr>
              <a:xfrm>
                <a:off x="4512"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25" name="Google Shape;925;p31"/>
              <p:cNvSpPr/>
              <p:nvPr/>
            </p:nvSpPr>
            <p:spPr>
              <a:xfrm>
                <a:off x="4656" y="1583"/>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26" name="Google Shape;926;p31"/>
              <p:cNvSpPr/>
              <p:nvPr/>
            </p:nvSpPr>
            <p:spPr>
              <a:xfrm>
                <a:off x="3648"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27" name="Google Shape;927;p31"/>
              <p:cNvSpPr/>
              <p:nvPr/>
            </p:nvSpPr>
            <p:spPr>
              <a:xfrm>
                <a:off x="3792"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28" name="Google Shape;928;p31"/>
              <p:cNvSpPr/>
              <p:nvPr/>
            </p:nvSpPr>
            <p:spPr>
              <a:xfrm>
                <a:off x="3936"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29" name="Google Shape;929;p31"/>
              <p:cNvSpPr/>
              <p:nvPr/>
            </p:nvSpPr>
            <p:spPr>
              <a:xfrm>
                <a:off x="4080"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30" name="Google Shape;930;p31"/>
              <p:cNvSpPr/>
              <p:nvPr/>
            </p:nvSpPr>
            <p:spPr>
              <a:xfrm>
                <a:off x="4224"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31" name="Google Shape;931;p31"/>
              <p:cNvSpPr/>
              <p:nvPr/>
            </p:nvSpPr>
            <p:spPr>
              <a:xfrm>
                <a:off x="4368"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32" name="Google Shape;932;p31"/>
              <p:cNvSpPr/>
              <p:nvPr/>
            </p:nvSpPr>
            <p:spPr>
              <a:xfrm>
                <a:off x="4512"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33" name="Google Shape;933;p31"/>
              <p:cNvSpPr/>
              <p:nvPr/>
            </p:nvSpPr>
            <p:spPr>
              <a:xfrm>
                <a:off x="4656" y="1679"/>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34" name="Google Shape;934;p31"/>
              <p:cNvSpPr/>
              <p:nvPr/>
            </p:nvSpPr>
            <p:spPr>
              <a:xfrm>
                <a:off x="3648"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35" name="Google Shape;935;p31"/>
              <p:cNvSpPr/>
              <p:nvPr/>
            </p:nvSpPr>
            <p:spPr>
              <a:xfrm>
                <a:off x="3792"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36" name="Google Shape;936;p31"/>
              <p:cNvSpPr/>
              <p:nvPr/>
            </p:nvSpPr>
            <p:spPr>
              <a:xfrm>
                <a:off x="3936"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37" name="Google Shape;937;p31"/>
              <p:cNvSpPr/>
              <p:nvPr/>
            </p:nvSpPr>
            <p:spPr>
              <a:xfrm>
                <a:off x="4080"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38" name="Google Shape;938;p31"/>
              <p:cNvSpPr/>
              <p:nvPr/>
            </p:nvSpPr>
            <p:spPr>
              <a:xfrm>
                <a:off x="4224"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39" name="Google Shape;939;p31"/>
              <p:cNvSpPr/>
              <p:nvPr/>
            </p:nvSpPr>
            <p:spPr>
              <a:xfrm>
                <a:off x="4368"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40" name="Google Shape;940;p31"/>
              <p:cNvSpPr/>
              <p:nvPr/>
            </p:nvSpPr>
            <p:spPr>
              <a:xfrm>
                <a:off x="4512"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41" name="Google Shape;941;p31"/>
              <p:cNvSpPr/>
              <p:nvPr/>
            </p:nvSpPr>
            <p:spPr>
              <a:xfrm>
                <a:off x="4656" y="1775"/>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42" name="Google Shape;942;p31"/>
              <p:cNvSpPr/>
              <p:nvPr/>
            </p:nvSpPr>
            <p:spPr>
              <a:xfrm>
                <a:off x="3648"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43" name="Google Shape;943;p31"/>
              <p:cNvSpPr/>
              <p:nvPr/>
            </p:nvSpPr>
            <p:spPr>
              <a:xfrm>
                <a:off x="3792"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44" name="Google Shape;944;p31"/>
              <p:cNvSpPr/>
              <p:nvPr/>
            </p:nvSpPr>
            <p:spPr>
              <a:xfrm>
                <a:off x="3936"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45" name="Google Shape;945;p31"/>
              <p:cNvSpPr/>
              <p:nvPr/>
            </p:nvSpPr>
            <p:spPr>
              <a:xfrm>
                <a:off x="4080"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46" name="Google Shape;946;p31"/>
              <p:cNvSpPr/>
              <p:nvPr/>
            </p:nvSpPr>
            <p:spPr>
              <a:xfrm>
                <a:off x="4224"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47" name="Google Shape;947;p31"/>
              <p:cNvSpPr/>
              <p:nvPr/>
            </p:nvSpPr>
            <p:spPr>
              <a:xfrm>
                <a:off x="4368"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48" name="Google Shape;948;p31"/>
              <p:cNvSpPr/>
              <p:nvPr/>
            </p:nvSpPr>
            <p:spPr>
              <a:xfrm>
                <a:off x="4512"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49" name="Google Shape;949;p31"/>
              <p:cNvSpPr/>
              <p:nvPr/>
            </p:nvSpPr>
            <p:spPr>
              <a:xfrm>
                <a:off x="4656" y="1871"/>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50" name="Google Shape;950;p31"/>
              <p:cNvSpPr/>
              <p:nvPr/>
            </p:nvSpPr>
            <p:spPr>
              <a:xfrm>
                <a:off x="3648"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51" name="Google Shape;951;p31"/>
              <p:cNvSpPr/>
              <p:nvPr/>
            </p:nvSpPr>
            <p:spPr>
              <a:xfrm>
                <a:off x="3792"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52" name="Google Shape;952;p31"/>
              <p:cNvSpPr/>
              <p:nvPr/>
            </p:nvSpPr>
            <p:spPr>
              <a:xfrm>
                <a:off x="3936"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53" name="Google Shape;953;p31"/>
              <p:cNvSpPr/>
              <p:nvPr/>
            </p:nvSpPr>
            <p:spPr>
              <a:xfrm>
                <a:off x="4080"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54" name="Google Shape;954;p31"/>
              <p:cNvSpPr/>
              <p:nvPr/>
            </p:nvSpPr>
            <p:spPr>
              <a:xfrm>
                <a:off x="4224"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55" name="Google Shape;955;p31"/>
              <p:cNvSpPr/>
              <p:nvPr/>
            </p:nvSpPr>
            <p:spPr>
              <a:xfrm>
                <a:off x="4368"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56" name="Google Shape;956;p31"/>
              <p:cNvSpPr/>
              <p:nvPr/>
            </p:nvSpPr>
            <p:spPr>
              <a:xfrm>
                <a:off x="4512"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57" name="Google Shape;957;p31"/>
              <p:cNvSpPr/>
              <p:nvPr/>
            </p:nvSpPr>
            <p:spPr>
              <a:xfrm>
                <a:off x="4656" y="1967"/>
                <a:ext cx="144" cy="96"/>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cxnSp>
          <p:nvCxnSpPr>
            <p:cNvPr id="958" name="Google Shape;958;p31"/>
            <p:cNvCxnSpPr/>
            <p:nvPr/>
          </p:nvCxnSpPr>
          <p:spPr>
            <a:xfrm flipH="1" rot="10800000">
              <a:off x="5963823" y="2658790"/>
              <a:ext cx="2644727" cy="1758461"/>
            </a:xfrm>
            <a:prstGeom prst="straightConnector1">
              <a:avLst/>
            </a:prstGeom>
            <a:noFill/>
            <a:ln cap="flat" cmpd="sng" w="38100">
              <a:solidFill>
                <a:srgbClr val="FF0000"/>
              </a:solidFill>
              <a:prstDash val="solid"/>
              <a:round/>
              <a:headEnd len="med" w="med" type="none"/>
              <a:tailEnd len="med" w="med" type="none"/>
            </a:ln>
          </p:spPr>
        </p:cxnSp>
        <p:sp>
          <p:nvSpPr>
            <p:cNvPr id="959" name="Google Shape;959;p31"/>
            <p:cNvSpPr txBox="1"/>
            <p:nvPr/>
          </p:nvSpPr>
          <p:spPr>
            <a:xfrm>
              <a:off x="5494315" y="2461282"/>
              <a:ext cx="37221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F</a:t>
              </a:r>
              <a:endParaRPr/>
            </a:p>
          </p:txBody>
        </p:sp>
        <p:grpSp>
          <p:nvGrpSpPr>
            <p:cNvPr id="960" name="Google Shape;960;p31"/>
            <p:cNvGrpSpPr/>
            <p:nvPr/>
          </p:nvGrpSpPr>
          <p:grpSpPr>
            <a:xfrm>
              <a:off x="5953118" y="4153782"/>
              <a:ext cx="3190882" cy="461963"/>
              <a:chOff x="3306" y="2881"/>
              <a:chExt cx="2010" cy="291"/>
            </a:xfrm>
          </p:grpSpPr>
          <p:sp>
            <p:nvSpPr>
              <p:cNvPr id="961" name="Google Shape;961;p31"/>
              <p:cNvSpPr txBox="1"/>
              <p:nvPr/>
            </p:nvSpPr>
            <p:spPr>
              <a:xfrm>
                <a:off x="5103" y="2881"/>
                <a:ext cx="21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x</a:t>
                </a:r>
                <a:endParaRPr/>
              </a:p>
            </p:txBody>
          </p:sp>
          <p:cxnSp>
            <p:nvCxnSpPr>
              <p:cNvPr id="962" name="Google Shape;962;p31"/>
              <p:cNvCxnSpPr/>
              <p:nvPr/>
            </p:nvCxnSpPr>
            <p:spPr>
              <a:xfrm>
                <a:off x="3306" y="3051"/>
                <a:ext cx="1814" cy="0"/>
              </a:xfrm>
              <a:prstGeom prst="straightConnector1">
                <a:avLst/>
              </a:prstGeom>
              <a:noFill/>
              <a:ln cap="flat" cmpd="sng" w="31750">
                <a:solidFill>
                  <a:schemeClr val="dk1"/>
                </a:solidFill>
                <a:prstDash val="solid"/>
                <a:round/>
                <a:headEnd len="med" w="med" type="none"/>
                <a:tailEnd len="med" w="med" type="triangle"/>
              </a:ln>
            </p:spPr>
          </p:cxnSp>
        </p:grpSp>
      </p:grpSp>
      <p:sp>
        <p:nvSpPr>
          <p:cNvPr id="963" name="Google Shape;963;p31"/>
          <p:cNvSpPr/>
          <p:nvPr/>
        </p:nvSpPr>
        <p:spPr>
          <a:xfrm flipH="1">
            <a:off x="5970588" y="2674938"/>
            <a:ext cx="2638425" cy="1746250"/>
          </a:xfrm>
          <a:prstGeom prst="rtTriangle">
            <a:avLst/>
          </a:prstGeom>
          <a:solidFill>
            <a:srgbClr val="FF3300">
              <a:alpha val="55686"/>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3"/>
                                        </p:tgtEl>
                                        <p:attrNameLst>
                                          <p:attrName>style.visibility</p:attrName>
                                        </p:attrNameLst>
                                      </p:cBhvr>
                                      <p:to>
                                        <p:strVal val="visible"/>
                                      </p:to>
                                    </p:set>
                                    <p:animEffect filter="fade" transition="in">
                                      <p:cBhvr>
                                        <p:cTn dur="2000"/>
                                        <p:tgtEl>
                                          <p:spTgt spid="9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32"/>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Kinetic energy </a:t>
            </a:r>
            <a:r>
              <a:rPr lang="en-US" sz="2000">
                <a:solidFill>
                  <a:schemeClr val="dk1"/>
                </a:solidFill>
                <a:latin typeface="Courier New"/>
                <a:ea typeface="Courier New"/>
                <a:cs typeface="Courier New"/>
                <a:sym typeface="Courier New"/>
              </a:rPr>
              <a:t>	</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a:t>
            </a:r>
            <a:r>
              <a:rPr b="1" lang="en-US" sz="2400">
                <a:solidFill>
                  <a:schemeClr val="dk1"/>
                </a:solidFill>
                <a:latin typeface="Arial"/>
                <a:ea typeface="Arial"/>
                <a:cs typeface="Arial"/>
                <a:sym typeface="Arial"/>
              </a:rPr>
              <a:t>Kinetic energy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b="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is the</a:t>
            </a:r>
            <a:r>
              <a:rPr b="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energy of motion.	</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∙The bigger the speed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the bigger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∙The bigger the mass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the bigger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∙The formula for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justified later, is</a:t>
            </a:r>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∙Looking at the units for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we have</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             kg(m/s)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kg</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m</a:t>
            </a:r>
            <a:r>
              <a:rPr baseline="30000" lang="en-US" sz="2400">
                <a:solidFill>
                  <a:schemeClr val="dk1"/>
                </a:solidFill>
                <a:latin typeface="Arial"/>
                <a:ea typeface="Arial"/>
                <a:cs typeface="Arial"/>
                <a:sym typeface="Arial"/>
              </a:rPr>
              <a:t>2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(kg</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m</a:t>
            </a:r>
            <a:r>
              <a:rPr baseline="30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)m.</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∙In the parentheses we have a mass times an acceleration which is a Newton.</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∙Thus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is measured in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m), which are (J).</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∙Many books use </a:t>
            </a:r>
            <a:r>
              <a:rPr i="1"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instead of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for kinetic energy.</a:t>
            </a:r>
            <a:endParaRPr sz="2400">
              <a:solidFill>
                <a:schemeClr val="dk1"/>
              </a:solidFill>
              <a:latin typeface="Arial"/>
              <a:ea typeface="Arial"/>
              <a:cs typeface="Arial"/>
              <a:sym typeface="Arial"/>
            </a:endParaRPr>
          </a:p>
        </p:txBody>
      </p:sp>
      <p:sp>
        <p:nvSpPr>
          <p:cNvPr id="970" name="Google Shape;970;p32"/>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grpSp>
        <p:nvGrpSpPr>
          <p:cNvPr id="971" name="Google Shape;971;p32"/>
          <p:cNvGrpSpPr/>
          <p:nvPr/>
        </p:nvGrpSpPr>
        <p:grpSpPr>
          <a:xfrm>
            <a:off x="828675" y="3762375"/>
            <a:ext cx="7464425" cy="461963"/>
            <a:chOff x="828675" y="3808729"/>
            <a:chExt cx="7464426" cy="461665"/>
          </a:xfrm>
        </p:grpSpPr>
        <p:sp>
          <p:nvSpPr>
            <p:cNvPr id="972" name="Google Shape;972;p32"/>
            <p:cNvSpPr/>
            <p:nvPr/>
          </p:nvSpPr>
          <p:spPr>
            <a:xfrm>
              <a:off x="965200" y="3818248"/>
              <a:ext cx="2368550" cy="32046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mv </a:t>
              </a:r>
              <a:r>
                <a:rPr baseline="30000" lang="en-US" sz="2400">
                  <a:solidFill>
                    <a:schemeClr val="dk1"/>
                  </a:solidFill>
                  <a:latin typeface="Arial"/>
                  <a:ea typeface="Arial"/>
                  <a:cs typeface="Arial"/>
                  <a:sym typeface="Arial"/>
                </a:rPr>
                <a:t>2</a:t>
              </a:r>
              <a:endParaRPr i="1" sz="2400">
                <a:solidFill>
                  <a:schemeClr val="dk1"/>
                </a:solidFill>
                <a:latin typeface="Arial"/>
                <a:ea typeface="Arial"/>
                <a:cs typeface="Arial"/>
                <a:sym typeface="Arial"/>
              </a:endParaRPr>
            </a:p>
          </p:txBody>
        </p:sp>
        <p:sp>
          <p:nvSpPr>
            <p:cNvPr id="973" name="Google Shape;973;p32"/>
            <p:cNvSpPr txBox="1"/>
            <p:nvPr/>
          </p:nvSpPr>
          <p:spPr>
            <a:xfrm>
              <a:off x="5867401" y="3808729"/>
              <a:ext cx="2425700"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kinetic energy</a:t>
              </a:r>
              <a:endParaRPr/>
            </a:p>
          </p:txBody>
        </p:sp>
        <p:sp>
          <p:nvSpPr>
            <p:cNvPr id="974" name="Google Shape;974;p32"/>
            <p:cNvSpPr/>
            <p:nvPr/>
          </p:nvSpPr>
          <p:spPr>
            <a:xfrm>
              <a:off x="828675" y="3811902"/>
              <a:ext cx="7462839"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975" name="Google Shape;975;p32"/>
          <p:cNvSpPr/>
          <p:nvPr/>
        </p:nvSpPr>
        <p:spPr>
          <a:xfrm>
            <a:off x="5008563" y="4648200"/>
            <a:ext cx="1035050" cy="415925"/>
          </a:xfrm>
          <a:prstGeom prst="rect">
            <a:avLst/>
          </a:prstGeom>
          <a:solidFill>
            <a:srgbClr val="FF9900">
              <a:alpha val="4352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76" name="Google Shape;976;p32"/>
          <p:cNvSpPr/>
          <p:nvPr/>
        </p:nvSpPr>
        <p:spPr>
          <a:xfrm>
            <a:off x="3943350" y="5470525"/>
            <a:ext cx="1035050" cy="417513"/>
          </a:xfrm>
          <a:prstGeom prst="rect">
            <a:avLst/>
          </a:prstGeom>
          <a:solidFill>
            <a:srgbClr val="FF9900">
              <a:alpha val="4352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9">
                                            <p:txEl>
                                              <p:pRg end="0" st="0"/>
                                            </p:txEl>
                                          </p:spTgt>
                                        </p:tgtEl>
                                        <p:attrNameLst>
                                          <p:attrName>style.visibility</p:attrName>
                                        </p:attrNameLst>
                                      </p:cBhvr>
                                      <p:to>
                                        <p:strVal val="visible"/>
                                      </p:to>
                                    </p:set>
                                    <p:anim calcmode="lin" valueType="num">
                                      <p:cBhvr additive="base">
                                        <p:cTn dur="500"/>
                                        <p:tgtEl>
                                          <p:spTgt spid="96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9">
                                            <p:txEl>
                                              <p:pRg end="1" st="1"/>
                                            </p:txEl>
                                          </p:spTgt>
                                        </p:tgtEl>
                                        <p:attrNameLst>
                                          <p:attrName>style.visibility</p:attrName>
                                        </p:attrNameLst>
                                      </p:cBhvr>
                                      <p:to>
                                        <p:strVal val="visible"/>
                                      </p:to>
                                    </p:set>
                                    <p:anim calcmode="lin" valueType="num">
                                      <p:cBhvr additive="base">
                                        <p:cTn dur="500"/>
                                        <p:tgtEl>
                                          <p:spTgt spid="96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9">
                                            <p:txEl>
                                              <p:pRg end="2" st="2"/>
                                            </p:txEl>
                                          </p:spTgt>
                                        </p:tgtEl>
                                        <p:attrNameLst>
                                          <p:attrName>style.visibility</p:attrName>
                                        </p:attrNameLst>
                                      </p:cBhvr>
                                      <p:to>
                                        <p:strVal val="visible"/>
                                      </p:to>
                                    </p:set>
                                    <p:anim calcmode="lin" valueType="num">
                                      <p:cBhvr additive="base">
                                        <p:cTn dur="500"/>
                                        <p:tgtEl>
                                          <p:spTgt spid="96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9">
                                            <p:txEl>
                                              <p:pRg end="3" st="3"/>
                                            </p:txEl>
                                          </p:spTgt>
                                        </p:tgtEl>
                                        <p:attrNameLst>
                                          <p:attrName>style.visibility</p:attrName>
                                        </p:attrNameLst>
                                      </p:cBhvr>
                                      <p:to>
                                        <p:strVal val="visible"/>
                                      </p:to>
                                    </p:set>
                                    <p:anim calcmode="lin" valueType="num">
                                      <p:cBhvr additive="base">
                                        <p:cTn dur="500"/>
                                        <p:tgtEl>
                                          <p:spTgt spid="96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9">
                                            <p:txEl>
                                              <p:pRg end="4" st="4"/>
                                            </p:txEl>
                                          </p:spTgt>
                                        </p:tgtEl>
                                        <p:attrNameLst>
                                          <p:attrName>style.visibility</p:attrName>
                                        </p:attrNameLst>
                                      </p:cBhvr>
                                      <p:to>
                                        <p:strVal val="visible"/>
                                      </p:to>
                                    </p:set>
                                    <p:anim calcmode="lin" valueType="num">
                                      <p:cBhvr additive="base">
                                        <p:cTn dur="500"/>
                                        <p:tgtEl>
                                          <p:spTgt spid="96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9">
                                            <p:txEl>
                                              <p:pRg end="5" st="5"/>
                                            </p:txEl>
                                          </p:spTgt>
                                        </p:tgtEl>
                                        <p:attrNameLst>
                                          <p:attrName>style.visibility</p:attrName>
                                        </p:attrNameLst>
                                      </p:cBhvr>
                                      <p:to>
                                        <p:strVal val="visible"/>
                                      </p:to>
                                    </p:set>
                                    <p:anim calcmode="lin" valueType="num">
                                      <p:cBhvr additive="base">
                                        <p:cTn dur="500"/>
                                        <p:tgtEl>
                                          <p:spTgt spid="96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9">
                                            <p:txEl>
                                              <p:pRg end="6" st="6"/>
                                            </p:txEl>
                                          </p:spTgt>
                                        </p:tgtEl>
                                        <p:attrNameLst>
                                          <p:attrName>style.visibility</p:attrName>
                                        </p:attrNameLst>
                                      </p:cBhvr>
                                      <p:to>
                                        <p:strVal val="visible"/>
                                      </p:to>
                                    </p:set>
                                    <p:anim calcmode="lin" valueType="num">
                                      <p:cBhvr additive="base">
                                        <p:cTn dur="500"/>
                                        <p:tgtEl>
                                          <p:spTgt spid="96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9">
                                            <p:txEl>
                                              <p:pRg end="7" st="7"/>
                                            </p:txEl>
                                          </p:spTgt>
                                        </p:tgtEl>
                                        <p:attrNameLst>
                                          <p:attrName>style.visibility</p:attrName>
                                        </p:attrNameLst>
                                      </p:cBhvr>
                                      <p:to>
                                        <p:strVal val="visible"/>
                                      </p:to>
                                    </p:set>
                                    <p:anim calcmode="lin" valueType="num">
                                      <p:cBhvr additive="base">
                                        <p:cTn dur="500"/>
                                        <p:tgtEl>
                                          <p:spTgt spid="96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9">
                                            <p:txEl>
                                              <p:pRg end="8" st="8"/>
                                            </p:txEl>
                                          </p:spTgt>
                                        </p:tgtEl>
                                        <p:attrNameLst>
                                          <p:attrName>style.visibility</p:attrName>
                                        </p:attrNameLst>
                                      </p:cBhvr>
                                      <p:to>
                                        <p:strVal val="visible"/>
                                      </p:to>
                                    </p:set>
                                    <p:anim calcmode="lin" valueType="num">
                                      <p:cBhvr additive="base">
                                        <p:cTn dur="500"/>
                                        <p:tgtEl>
                                          <p:spTgt spid="969">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9">
                                            <p:txEl>
                                              <p:pRg end="9" st="9"/>
                                            </p:txEl>
                                          </p:spTgt>
                                        </p:tgtEl>
                                        <p:attrNameLst>
                                          <p:attrName>style.visibility</p:attrName>
                                        </p:attrNameLst>
                                      </p:cBhvr>
                                      <p:to>
                                        <p:strVal val="visible"/>
                                      </p:to>
                                    </p:set>
                                    <p:anim calcmode="lin" valueType="num">
                                      <p:cBhvr additive="base">
                                        <p:cTn dur="500"/>
                                        <p:tgtEl>
                                          <p:spTgt spid="969">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9">
                                            <p:txEl>
                                              <p:pRg end="10" st="10"/>
                                            </p:txEl>
                                          </p:spTgt>
                                        </p:tgtEl>
                                        <p:attrNameLst>
                                          <p:attrName>style.visibility</p:attrName>
                                        </p:attrNameLst>
                                      </p:cBhvr>
                                      <p:to>
                                        <p:strVal val="visible"/>
                                      </p:to>
                                    </p:set>
                                    <p:anim calcmode="lin" valueType="num">
                                      <p:cBhvr additive="base">
                                        <p:cTn dur="500"/>
                                        <p:tgtEl>
                                          <p:spTgt spid="969">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71"/>
                                        </p:tgtEl>
                                        <p:attrNameLst>
                                          <p:attrName>style.visibility</p:attrName>
                                        </p:attrNameLst>
                                      </p:cBhvr>
                                      <p:to>
                                        <p:strVal val="visible"/>
                                      </p:to>
                                    </p:set>
                                    <p:anim calcmode="lin" valueType="num">
                                      <p:cBhvr additive="base">
                                        <p:cTn dur="500"/>
                                        <p:tgtEl>
                                          <p:spTgt spid="971"/>
                                        </p:tgtEl>
                                        <p:attrNameLst>
                                          <p:attrName>ppt_w</p:attrName>
                                        </p:attrNameLst>
                                      </p:cBhvr>
                                      <p:tavLst>
                                        <p:tav fmla="" tm="0">
                                          <p:val>
                                            <p:strVal val="0"/>
                                          </p:val>
                                        </p:tav>
                                        <p:tav fmla="" tm="100000">
                                          <p:val>
                                            <p:strVal val="#ppt_w"/>
                                          </p:val>
                                        </p:tav>
                                      </p:tavLst>
                                    </p:anim>
                                    <p:anim calcmode="lin" valueType="num">
                                      <p:cBhvr additive="base">
                                        <p:cTn dur="500"/>
                                        <p:tgtEl>
                                          <p:spTgt spid="97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5"/>
                                        </p:tgtEl>
                                        <p:attrNameLst>
                                          <p:attrName>style.visibility</p:attrName>
                                        </p:attrNameLst>
                                      </p:cBhvr>
                                      <p:to>
                                        <p:strVal val="visible"/>
                                      </p:to>
                                    </p:set>
                                    <p:animEffect filter="fade" transition="in">
                                      <p:cBhvr>
                                        <p:cTn dur="1000"/>
                                        <p:tgtEl>
                                          <p:spTgt spid="975"/>
                                        </p:tgtEl>
                                      </p:cBhvr>
                                    </p:animEffect>
                                  </p:childTnLst>
                                </p:cTn>
                              </p:par>
                              <p:par>
                                <p:cTn fill="hold" nodeType="withEffect" presetClass="entr" presetID="10" presetSubtype="0">
                                  <p:stCondLst>
                                    <p:cond delay="0"/>
                                  </p:stCondLst>
                                  <p:childTnLst>
                                    <p:set>
                                      <p:cBhvr>
                                        <p:cTn dur="1" fill="hold">
                                          <p:stCondLst>
                                            <p:cond delay="0"/>
                                          </p:stCondLst>
                                        </p:cTn>
                                        <p:tgtEl>
                                          <p:spTgt spid="976"/>
                                        </p:tgtEl>
                                        <p:attrNameLst>
                                          <p:attrName>style.visibility</p:attrName>
                                        </p:attrNameLst>
                                      </p:cBhvr>
                                      <p:to>
                                        <p:strVal val="visible"/>
                                      </p:to>
                                    </p:set>
                                    <p:animEffect filter="fade" transition="in">
                                      <p:cBhvr>
                                        <p:cTn dur="1000"/>
                                        <p:tgtEl>
                                          <p:spTgt spid="9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33"/>
          <p:cNvSpPr/>
          <p:nvPr/>
        </p:nvSpPr>
        <p:spPr>
          <a:xfrm>
            <a:off x="685800" y="1549400"/>
            <a:ext cx="7772400" cy="9493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Kinetic energy</a:t>
            </a:r>
            <a:endParaRPr sz="2000">
              <a:solidFill>
                <a:schemeClr val="dk1"/>
              </a:solidFill>
              <a:latin typeface="Courier New"/>
              <a:ea typeface="Courier New"/>
              <a:cs typeface="Courier New"/>
              <a:sym typeface="Courier New"/>
            </a:endParaRPr>
          </a:p>
        </p:txBody>
      </p:sp>
      <p:sp>
        <p:nvSpPr>
          <p:cNvPr id="983" name="Google Shape;983;p3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984" name="Google Shape;984;p33"/>
          <p:cNvSpPr/>
          <p:nvPr/>
        </p:nvSpPr>
        <p:spPr>
          <a:xfrm>
            <a:off x="698500" y="2498725"/>
            <a:ext cx="4730750" cy="4359275"/>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What is the kinetic energy of a 4.0-gram NATO SS 109 bullet traveling at 950 m/s?</a:t>
            </a:r>
            <a:endParaRPr sz="2400">
              <a:solidFill>
                <a:schemeClr val="dk1"/>
              </a:solidFill>
              <a:latin typeface="Arial"/>
              <a:ea typeface="Arial"/>
              <a:cs typeface="Arial"/>
              <a:sym typeface="Arial"/>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 			</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Convert grams to kg (jump 3 decimal places to the left) to get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 0.004 kg. </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Then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mv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 (1/2)(.004)(950)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 1800 J.</a:t>
            </a:r>
            <a:endParaRPr/>
          </a:p>
        </p:txBody>
      </p:sp>
      <p:pic>
        <p:nvPicPr>
          <p:cNvPr descr="bullet-apple collision" id="985" name="Google Shape;985;p33"/>
          <p:cNvPicPr preferRelativeResize="0"/>
          <p:nvPr/>
        </p:nvPicPr>
        <p:blipFill rotWithShape="1">
          <a:blip r:embed="rId3">
            <a:alphaModFix/>
          </a:blip>
          <a:srcRect b="0" l="0" r="0" t="0"/>
          <a:stretch/>
        </p:blipFill>
        <p:spPr>
          <a:xfrm>
            <a:off x="5276850" y="2933700"/>
            <a:ext cx="3546475" cy="3436938"/>
          </a:xfrm>
          <a:prstGeom prst="rect">
            <a:avLst/>
          </a:prstGeom>
          <a:noFill/>
          <a:ln>
            <a:noFill/>
          </a:ln>
          <a:effectLst>
            <a:outerShdw blurRad="292100" rotWithShape="0" algn="tl" dir="2700000" dist="139700">
              <a:srgbClr val="333333">
                <a:alpha val="64705"/>
              </a:srgbClr>
            </a:outerShdw>
          </a:effectLst>
        </p:spPr>
      </p:pic>
      <p:grpSp>
        <p:nvGrpSpPr>
          <p:cNvPr id="986" name="Google Shape;986;p33"/>
          <p:cNvGrpSpPr/>
          <p:nvPr/>
        </p:nvGrpSpPr>
        <p:grpSpPr>
          <a:xfrm>
            <a:off x="828675" y="1979613"/>
            <a:ext cx="7464425" cy="461962"/>
            <a:chOff x="828675" y="3808729"/>
            <a:chExt cx="7464426" cy="461665"/>
          </a:xfrm>
        </p:grpSpPr>
        <p:sp>
          <p:nvSpPr>
            <p:cNvPr id="987" name="Google Shape;987;p33"/>
            <p:cNvSpPr/>
            <p:nvPr/>
          </p:nvSpPr>
          <p:spPr>
            <a:xfrm>
              <a:off x="965200" y="3818248"/>
              <a:ext cx="2368550" cy="32046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mv </a:t>
              </a:r>
              <a:r>
                <a:rPr baseline="30000" lang="en-US" sz="2400">
                  <a:solidFill>
                    <a:schemeClr val="dk1"/>
                  </a:solidFill>
                  <a:latin typeface="Arial"/>
                  <a:ea typeface="Arial"/>
                  <a:cs typeface="Arial"/>
                  <a:sym typeface="Arial"/>
                </a:rPr>
                <a:t>2</a:t>
              </a:r>
              <a:endParaRPr i="1" sz="2400">
                <a:solidFill>
                  <a:schemeClr val="dk1"/>
                </a:solidFill>
                <a:latin typeface="Arial"/>
                <a:ea typeface="Arial"/>
                <a:cs typeface="Arial"/>
                <a:sym typeface="Arial"/>
              </a:endParaRPr>
            </a:p>
          </p:txBody>
        </p:sp>
        <p:sp>
          <p:nvSpPr>
            <p:cNvPr id="988" name="Google Shape;988;p33"/>
            <p:cNvSpPr txBox="1"/>
            <p:nvPr/>
          </p:nvSpPr>
          <p:spPr>
            <a:xfrm>
              <a:off x="5867401" y="3808729"/>
              <a:ext cx="2425700"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kinetic energy</a:t>
              </a:r>
              <a:endParaRPr/>
            </a:p>
          </p:txBody>
        </p:sp>
        <p:sp>
          <p:nvSpPr>
            <p:cNvPr id="989" name="Google Shape;989;p33"/>
            <p:cNvSpPr/>
            <p:nvPr/>
          </p:nvSpPr>
          <p:spPr>
            <a:xfrm>
              <a:off x="828675" y="3811902"/>
              <a:ext cx="7462839"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86"/>
                                        </p:tgtEl>
                                        <p:attrNameLst>
                                          <p:attrName>style.visibility</p:attrName>
                                        </p:attrNameLst>
                                      </p:cBhvr>
                                      <p:to>
                                        <p:strVal val="visible"/>
                                      </p:to>
                                    </p:set>
                                    <p:anim calcmode="lin" valueType="num">
                                      <p:cBhvr additive="base">
                                        <p:cTn dur="500"/>
                                        <p:tgtEl>
                                          <p:spTgt spid="986"/>
                                        </p:tgtEl>
                                        <p:attrNameLst>
                                          <p:attrName>ppt_w</p:attrName>
                                        </p:attrNameLst>
                                      </p:cBhvr>
                                      <p:tavLst>
                                        <p:tav fmla="" tm="0">
                                          <p:val>
                                            <p:strVal val="0"/>
                                          </p:val>
                                        </p:tav>
                                        <p:tav fmla="" tm="100000">
                                          <p:val>
                                            <p:strVal val="#ppt_w"/>
                                          </p:val>
                                        </p:tav>
                                      </p:tavLst>
                                    </p:anim>
                                    <p:anim calcmode="lin" valueType="num">
                                      <p:cBhvr additive="base">
                                        <p:cTn dur="500"/>
                                        <p:tgtEl>
                                          <p:spTgt spid="98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4">
                                            <p:txEl>
                                              <p:pRg end="0" st="0"/>
                                            </p:txEl>
                                          </p:spTgt>
                                        </p:tgtEl>
                                        <p:attrNameLst>
                                          <p:attrName>style.visibility</p:attrName>
                                        </p:attrNameLst>
                                      </p:cBhvr>
                                      <p:to>
                                        <p:strVal val="visible"/>
                                      </p:to>
                                    </p:set>
                                    <p:anim calcmode="lin" valueType="num">
                                      <p:cBhvr additive="base">
                                        <p:cTn dur="500"/>
                                        <p:tgtEl>
                                          <p:spTgt spid="98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4">
                                            <p:txEl>
                                              <p:pRg end="1" st="1"/>
                                            </p:txEl>
                                          </p:spTgt>
                                        </p:tgtEl>
                                        <p:attrNameLst>
                                          <p:attrName>style.visibility</p:attrName>
                                        </p:attrNameLst>
                                      </p:cBhvr>
                                      <p:to>
                                        <p:strVal val="visible"/>
                                      </p:to>
                                    </p:set>
                                    <p:anim calcmode="lin" valueType="num">
                                      <p:cBhvr additive="base">
                                        <p:cTn dur="500"/>
                                        <p:tgtEl>
                                          <p:spTgt spid="98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4">
                                            <p:txEl>
                                              <p:pRg end="2" st="2"/>
                                            </p:txEl>
                                          </p:spTgt>
                                        </p:tgtEl>
                                        <p:attrNameLst>
                                          <p:attrName>style.visibility</p:attrName>
                                        </p:attrNameLst>
                                      </p:cBhvr>
                                      <p:to>
                                        <p:strVal val="visible"/>
                                      </p:to>
                                    </p:set>
                                    <p:anim calcmode="lin" valueType="num">
                                      <p:cBhvr additive="base">
                                        <p:cTn dur="500"/>
                                        <p:tgtEl>
                                          <p:spTgt spid="98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4">
                                            <p:txEl>
                                              <p:pRg end="3" st="3"/>
                                            </p:txEl>
                                          </p:spTgt>
                                        </p:tgtEl>
                                        <p:attrNameLst>
                                          <p:attrName>style.visibility</p:attrName>
                                        </p:attrNameLst>
                                      </p:cBhvr>
                                      <p:to>
                                        <p:strVal val="visible"/>
                                      </p:to>
                                    </p:set>
                                    <p:anim calcmode="lin" valueType="num">
                                      <p:cBhvr additive="base">
                                        <p:cTn dur="500"/>
                                        <p:tgtEl>
                                          <p:spTgt spid="98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4">
                                            <p:txEl>
                                              <p:pRg end="4" st="4"/>
                                            </p:txEl>
                                          </p:spTgt>
                                        </p:tgtEl>
                                        <p:attrNameLst>
                                          <p:attrName>style.visibility</p:attrName>
                                        </p:attrNameLst>
                                      </p:cBhvr>
                                      <p:to>
                                        <p:strVal val="visible"/>
                                      </p:to>
                                    </p:set>
                                    <p:anim calcmode="lin" valueType="num">
                                      <p:cBhvr additive="base">
                                        <p:cTn dur="500"/>
                                        <p:tgtEl>
                                          <p:spTgt spid="98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4">
                                            <p:txEl>
                                              <p:pRg end="5" st="5"/>
                                            </p:txEl>
                                          </p:spTgt>
                                        </p:tgtEl>
                                        <p:attrNameLst>
                                          <p:attrName>style.visibility</p:attrName>
                                        </p:attrNameLst>
                                      </p:cBhvr>
                                      <p:to>
                                        <p:strVal val="visible"/>
                                      </p:to>
                                    </p:set>
                                    <p:anim calcmode="lin" valueType="num">
                                      <p:cBhvr additive="base">
                                        <p:cTn dur="500"/>
                                        <p:tgtEl>
                                          <p:spTgt spid="984">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985"/>
                                        </p:tgtEl>
                                        <p:attrNameLst>
                                          <p:attrName>style.visibility</p:attrName>
                                        </p:attrNameLst>
                                      </p:cBhvr>
                                      <p:to>
                                        <p:strVal val="visible"/>
                                      </p:to>
                                    </p:set>
                                    <p:anim calcmode="lin" valueType="num">
                                      <p:cBhvr additive="base">
                                        <p:cTn dur="500"/>
                                        <p:tgtEl>
                                          <p:spTgt spid="985"/>
                                        </p:tgtEl>
                                        <p:attrNameLst>
                                          <p:attrName>ppt_w</p:attrName>
                                        </p:attrNameLst>
                                      </p:cBhvr>
                                      <p:tavLst>
                                        <p:tav fmla="" tm="0">
                                          <p:val>
                                            <p:strVal val="0"/>
                                          </p:val>
                                        </p:tav>
                                        <p:tav fmla="" tm="100000">
                                          <p:val>
                                            <p:strVal val="#ppt_w"/>
                                          </p:val>
                                        </p:tav>
                                      </p:tavLst>
                                    </p:anim>
                                    <p:anim calcmode="lin" valueType="num">
                                      <p:cBhvr additive="base">
                                        <p:cTn dur="500"/>
                                        <p:tgtEl>
                                          <p:spTgt spid="98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34"/>
          <p:cNvSpPr/>
          <p:nvPr/>
        </p:nvSpPr>
        <p:spPr>
          <a:xfrm>
            <a:off x="685800" y="1549400"/>
            <a:ext cx="7772400" cy="9493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Kinetic energy</a:t>
            </a:r>
            <a:endParaRPr sz="2000">
              <a:solidFill>
                <a:schemeClr val="dk1"/>
              </a:solidFill>
              <a:latin typeface="Courier New"/>
              <a:ea typeface="Courier New"/>
              <a:cs typeface="Courier New"/>
              <a:sym typeface="Courier New"/>
            </a:endParaRPr>
          </a:p>
        </p:txBody>
      </p:sp>
      <p:grpSp>
        <p:nvGrpSpPr>
          <p:cNvPr id="996" name="Google Shape;996;p34"/>
          <p:cNvGrpSpPr/>
          <p:nvPr/>
        </p:nvGrpSpPr>
        <p:grpSpPr>
          <a:xfrm>
            <a:off x="828675" y="1979613"/>
            <a:ext cx="7464425" cy="461962"/>
            <a:chOff x="828675" y="3808729"/>
            <a:chExt cx="7464426" cy="461665"/>
          </a:xfrm>
        </p:grpSpPr>
        <p:sp>
          <p:nvSpPr>
            <p:cNvPr id="997" name="Google Shape;997;p34"/>
            <p:cNvSpPr/>
            <p:nvPr/>
          </p:nvSpPr>
          <p:spPr>
            <a:xfrm>
              <a:off x="965200" y="3818248"/>
              <a:ext cx="2368550" cy="32046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mv </a:t>
              </a:r>
              <a:r>
                <a:rPr baseline="30000" lang="en-US" sz="2400">
                  <a:solidFill>
                    <a:schemeClr val="dk1"/>
                  </a:solidFill>
                  <a:latin typeface="Arial"/>
                  <a:ea typeface="Arial"/>
                  <a:cs typeface="Arial"/>
                  <a:sym typeface="Arial"/>
                </a:rPr>
                <a:t>2</a:t>
              </a:r>
              <a:endParaRPr i="1" sz="2400">
                <a:solidFill>
                  <a:schemeClr val="dk1"/>
                </a:solidFill>
                <a:latin typeface="Arial"/>
                <a:ea typeface="Arial"/>
                <a:cs typeface="Arial"/>
                <a:sym typeface="Arial"/>
              </a:endParaRPr>
            </a:p>
          </p:txBody>
        </p:sp>
        <p:sp>
          <p:nvSpPr>
            <p:cNvPr id="998" name="Google Shape;998;p34"/>
            <p:cNvSpPr txBox="1"/>
            <p:nvPr/>
          </p:nvSpPr>
          <p:spPr>
            <a:xfrm>
              <a:off x="5867401" y="3808729"/>
              <a:ext cx="2425700"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kinetic energy</a:t>
              </a:r>
              <a:endParaRPr/>
            </a:p>
          </p:txBody>
        </p:sp>
        <p:sp>
          <p:nvSpPr>
            <p:cNvPr id="999" name="Google Shape;999;p34"/>
            <p:cNvSpPr/>
            <p:nvPr/>
          </p:nvSpPr>
          <p:spPr>
            <a:xfrm>
              <a:off x="828675" y="3811902"/>
              <a:ext cx="7462839"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1000" name="Google Shape;1000;p3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1001" name="Google Shape;1001;p34"/>
          <p:cNvSpPr/>
          <p:nvPr/>
        </p:nvSpPr>
        <p:spPr>
          <a:xfrm>
            <a:off x="698500" y="2493963"/>
            <a:ext cx="4610100" cy="3630612"/>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What is the kinetic energy of a 220-pound NATO soldier running at 6 m/s?</a:t>
            </a:r>
            <a:endParaRPr sz="2400">
              <a:solidFill>
                <a:schemeClr val="dk1"/>
              </a:solidFill>
              <a:latin typeface="Arial"/>
              <a:ea typeface="Arial"/>
              <a:cs typeface="Arial"/>
              <a:sym typeface="Arial"/>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 			</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First convert pounds to kg: </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(220 lb)(1 kg / 2.2 lb) = 100 kg. </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Then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mv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 (1/2)(100)(6)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1800 J.</a:t>
            </a:r>
            <a:endParaRPr/>
          </a:p>
        </p:txBody>
      </p:sp>
      <p:sp>
        <p:nvSpPr>
          <p:cNvPr id="1002" name="Google Shape;1002;p34"/>
          <p:cNvSpPr/>
          <p:nvPr/>
        </p:nvSpPr>
        <p:spPr>
          <a:xfrm>
            <a:off x="684213" y="5961063"/>
            <a:ext cx="7758112" cy="896937"/>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a:t>
            </a:r>
            <a:endParaRPr/>
          </a:p>
          <a:p>
            <a:pPr indent="0" lvl="0" marL="0" marR="0" rtl="0" algn="l">
              <a:spcBef>
                <a:spcPts val="48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Small and large objects can have the same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a:t>
            </a:r>
            <a:endParaRPr/>
          </a:p>
        </p:txBody>
      </p:sp>
      <p:pic>
        <p:nvPicPr>
          <p:cNvPr descr="Nato soldier running" id="1003" name="Google Shape;1003;p34"/>
          <p:cNvPicPr preferRelativeResize="0"/>
          <p:nvPr/>
        </p:nvPicPr>
        <p:blipFill rotWithShape="1">
          <a:blip r:embed="rId3">
            <a:alphaModFix/>
          </a:blip>
          <a:srcRect b="2876" l="24820" r="13191" t="10333"/>
          <a:stretch/>
        </p:blipFill>
        <p:spPr>
          <a:xfrm>
            <a:off x="5197475" y="2554288"/>
            <a:ext cx="3521075" cy="3336925"/>
          </a:xfrm>
          <a:prstGeom prst="rect">
            <a:avLst/>
          </a:prstGeom>
          <a:noFill/>
          <a:ln>
            <a:noFill/>
          </a:ln>
          <a:effectLst>
            <a:outerShdw blurRad="292100" rotWithShape="0" algn="tl" dir="2700000" dist="139700">
              <a:srgbClr val="333333">
                <a:alpha val="6470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1">
                                            <p:txEl>
                                              <p:pRg end="0" st="0"/>
                                            </p:txEl>
                                          </p:spTgt>
                                        </p:tgtEl>
                                        <p:attrNameLst>
                                          <p:attrName>style.visibility</p:attrName>
                                        </p:attrNameLst>
                                      </p:cBhvr>
                                      <p:to>
                                        <p:strVal val="visible"/>
                                      </p:to>
                                    </p:set>
                                    <p:anim calcmode="lin" valueType="num">
                                      <p:cBhvr additive="base">
                                        <p:cTn dur="500"/>
                                        <p:tgtEl>
                                          <p:spTgt spid="100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1">
                                            <p:txEl>
                                              <p:pRg end="1" st="1"/>
                                            </p:txEl>
                                          </p:spTgt>
                                        </p:tgtEl>
                                        <p:attrNameLst>
                                          <p:attrName>style.visibility</p:attrName>
                                        </p:attrNameLst>
                                      </p:cBhvr>
                                      <p:to>
                                        <p:strVal val="visible"/>
                                      </p:to>
                                    </p:set>
                                    <p:anim calcmode="lin" valueType="num">
                                      <p:cBhvr additive="base">
                                        <p:cTn dur="500"/>
                                        <p:tgtEl>
                                          <p:spTgt spid="100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1">
                                            <p:txEl>
                                              <p:pRg end="2" st="2"/>
                                            </p:txEl>
                                          </p:spTgt>
                                        </p:tgtEl>
                                        <p:attrNameLst>
                                          <p:attrName>style.visibility</p:attrName>
                                        </p:attrNameLst>
                                      </p:cBhvr>
                                      <p:to>
                                        <p:strVal val="visible"/>
                                      </p:to>
                                    </p:set>
                                    <p:anim calcmode="lin" valueType="num">
                                      <p:cBhvr additive="base">
                                        <p:cTn dur="500"/>
                                        <p:tgtEl>
                                          <p:spTgt spid="100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1">
                                            <p:txEl>
                                              <p:pRg end="3" st="3"/>
                                            </p:txEl>
                                          </p:spTgt>
                                        </p:tgtEl>
                                        <p:attrNameLst>
                                          <p:attrName>style.visibility</p:attrName>
                                        </p:attrNameLst>
                                      </p:cBhvr>
                                      <p:to>
                                        <p:strVal val="visible"/>
                                      </p:to>
                                    </p:set>
                                    <p:anim calcmode="lin" valueType="num">
                                      <p:cBhvr additive="base">
                                        <p:cTn dur="500"/>
                                        <p:tgtEl>
                                          <p:spTgt spid="100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1">
                                            <p:txEl>
                                              <p:pRg end="4" st="4"/>
                                            </p:txEl>
                                          </p:spTgt>
                                        </p:tgtEl>
                                        <p:attrNameLst>
                                          <p:attrName>style.visibility</p:attrName>
                                        </p:attrNameLst>
                                      </p:cBhvr>
                                      <p:to>
                                        <p:strVal val="visible"/>
                                      </p:to>
                                    </p:set>
                                    <p:anim calcmode="lin" valueType="num">
                                      <p:cBhvr additive="base">
                                        <p:cTn dur="500"/>
                                        <p:tgtEl>
                                          <p:spTgt spid="100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1">
                                            <p:txEl>
                                              <p:pRg end="5" st="5"/>
                                            </p:txEl>
                                          </p:spTgt>
                                        </p:tgtEl>
                                        <p:attrNameLst>
                                          <p:attrName>style.visibility</p:attrName>
                                        </p:attrNameLst>
                                      </p:cBhvr>
                                      <p:to>
                                        <p:strVal val="visible"/>
                                      </p:to>
                                    </p:set>
                                    <p:anim calcmode="lin" valueType="num">
                                      <p:cBhvr additive="base">
                                        <p:cTn dur="500"/>
                                        <p:tgtEl>
                                          <p:spTgt spid="1001">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1003"/>
                                        </p:tgtEl>
                                        <p:attrNameLst>
                                          <p:attrName>style.visibility</p:attrName>
                                        </p:attrNameLst>
                                      </p:cBhvr>
                                      <p:to>
                                        <p:strVal val="visible"/>
                                      </p:to>
                                    </p:set>
                                    <p:anim calcmode="lin" valueType="num">
                                      <p:cBhvr additive="base">
                                        <p:cTn dur="500"/>
                                        <p:tgtEl>
                                          <p:spTgt spid="1003"/>
                                        </p:tgtEl>
                                        <p:attrNameLst>
                                          <p:attrName>ppt_w</p:attrName>
                                        </p:attrNameLst>
                                      </p:cBhvr>
                                      <p:tavLst>
                                        <p:tav fmla="" tm="0">
                                          <p:val>
                                            <p:strVal val="0"/>
                                          </p:val>
                                        </p:tav>
                                        <p:tav fmla="" tm="100000">
                                          <p:val>
                                            <p:strVal val="#ppt_w"/>
                                          </p:val>
                                        </p:tav>
                                      </p:tavLst>
                                    </p:anim>
                                    <p:anim calcmode="lin" valueType="num">
                                      <p:cBhvr additive="base">
                                        <p:cTn dur="500"/>
                                        <p:tgtEl>
                                          <p:spTgt spid="100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35"/>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Work done as energy transfer</a:t>
            </a:r>
            <a:endParaRPr i="1" sz="2000">
              <a:solidFill>
                <a:schemeClr val="dk1"/>
              </a:solidFill>
              <a:latin typeface="Courier New"/>
              <a:ea typeface="Courier New"/>
              <a:cs typeface="Courier New"/>
              <a:sym typeface="Courier New"/>
            </a:endParaRPr>
          </a:p>
          <a:p>
            <a:pPr indent="0" lvl="0" marL="0" marR="0" rtl="0" algn="l">
              <a:spcBef>
                <a:spcPts val="400"/>
              </a:spcBef>
              <a:spcAft>
                <a:spcPts val="0"/>
              </a:spcAft>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None/>
            </a:pPr>
            <a:r>
              <a:t/>
            </a:r>
            <a:endParaRPr sz="2000">
              <a:solidFill>
                <a:schemeClr val="dk1"/>
              </a:solidFill>
              <a:latin typeface="Courier New"/>
              <a:ea typeface="Courier New"/>
              <a:cs typeface="Courier New"/>
              <a:sym typeface="Courier New"/>
            </a:endParaRPr>
          </a:p>
          <a:p>
            <a:pPr indent="0" lvl="0" marL="0" marR="0" rtl="0" algn="l">
              <a:spcBef>
                <a:spcPts val="2400"/>
              </a:spcBef>
              <a:spcAft>
                <a:spcPts val="0"/>
              </a:spcAft>
              <a:buNone/>
            </a:pPr>
            <a:r>
              <a:rPr lang="en-US" sz="2400">
                <a:solidFill>
                  <a:schemeClr val="dk1"/>
                </a:solidFill>
                <a:latin typeface="Arial"/>
                <a:ea typeface="Arial"/>
                <a:cs typeface="Arial"/>
                <a:sym typeface="Arial"/>
              </a:rPr>
              <a:t>∙It is no coincidence that work and kinetic energy have the same units. Observe the following derivation.</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as</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as</a:t>
            </a:r>
            <a:r>
              <a:rPr lang="en-US" sz="2400">
                <a:solidFill>
                  <a:schemeClr val="dk1"/>
                </a:solidFill>
                <a:latin typeface="Arial"/>
                <a:ea typeface="Arial"/>
                <a:cs typeface="Arial"/>
                <a:sym typeface="Arial"/>
              </a:rPr>
              <a:t>)</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mu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mas</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          </a:t>
            </a:r>
            <a:r>
              <a:rPr baseline="-25000"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mu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Fs</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  </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(1/2)</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(1/2)</a:t>
            </a:r>
            <a:r>
              <a:rPr i="1" lang="en-US" sz="2400">
                <a:solidFill>
                  <a:schemeClr val="dk1"/>
                </a:solidFill>
                <a:latin typeface="Arial"/>
                <a:ea typeface="Arial"/>
                <a:cs typeface="Arial"/>
                <a:sym typeface="Arial"/>
              </a:rPr>
              <a:t>mu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Fs</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          </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K,f</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K,0</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W</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  </a:t>
            </a:r>
            <a:r>
              <a:rPr baseline="-25000"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K,f</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K,0</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W</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W</a:t>
            </a:r>
            <a:endParaRPr/>
          </a:p>
        </p:txBody>
      </p:sp>
      <p:sp>
        <p:nvSpPr>
          <p:cNvPr id="1010" name="Google Shape;1010;p35"/>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grpSp>
        <p:nvGrpSpPr>
          <p:cNvPr id="1011" name="Google Shape;1011;p35"/>
          <p:cNvGrpSpPr/>
          <p:nvPr/>
        </p:nvGrpSpPr>
        <p:grpSpPr>
          <a:xfrm>
            <a:off x="828675" y="1978025"/>
            <a:ext cx="7464425" cy="461963"/>
            <a:chOff x="828675" y="4773612"/>
            <a:chExt cx="7464426" cy="461665"/>
          </a:xfrm>
        </p:grpSpPr>
        <p:sp>
          <p:nvSpPr>
            <p:cNvPr id="1012" name="Google Shape;1012;p35"/>
            <p:cNvSpPr/>
            <p:nvPr/>
          </p:nvSpPr>
          <p:spPr>
            <a:xfrm>
              <a:off x="965200" y="4783131"/>
              <a:ext cx="1358900" cy="32046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Fs</a:t>
              </a:r>
              <a:endParaRPr i="1" sz="2400">
                <a:solidFill>
                  <a:schemeClr val="dk1"/>
                </a:solidFill>
                <a:latin typeface="Arial"/>
                <a:ea typeface="Arial"/>
                <a:cs typeface="Arial"/>
                <a:sym typeface="Arial"/>
              </a:endParaRPr>
            </a:p>
          </p:txBody>
        </p:sp>
        <p:sp>
          <p:nvSpPr>
            <p:cNvPr id="1013" name="Google Shape;1013;p35"/>
            <p:cNvSpPr txBox="1"/>
            <p:nvPr/>
          </p:nvSpPr>
          <p:spPr>
            <a:xfrm>
              <a:off x="3822700" y="4773612"/>
              <a:ext cx="4470401"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work done by a constant force</a:t>
              </a:r>
              <a:endParaRPr/>
            </a:p>
          </p:txBody>
        </p:sp>
        <p:sp>
          <p:nvSpPr>
            <p:cNvPr id="1014" name="Google Shape;1014;p35"/>
            <p:cNvSpPr/>
            <p:nvPr/>
          </p:nvSpPr>
          <p:spPr>
            <a:xfrm>
              <a:off x="828675" y="4776785"/>
              <a:ext cx="7462839"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grpSp>
        <p:nvGrpSpPr>
          <p:cNvPr id="1015" name="Google Shape;1015;p35"/>
          <p:cNvGrpSpPr/>
          <p:nvPr/>
        </p:nvGrpSpPr>
        <p:grpSpPr>
          <a:xfrm>
            <a:off x="828675" y="2498725"/>
            <a:ext cx="7464425" cy="460375"/>
            <a:chOff x="828675" y="3808729"/>
            <a:chExt cx="7464426" cy="461665"/>
          </a:xfrm>
        </p:grpSpPr>
        <p:sp>
          <p:nvSpPr>
            <p:cNvPr id="1016" name="Google Shape;1016;p35"/>
            <p:cNvSpPr/>
            <p:nvPr/>
          </p:nvSpPr>
          <p:spPr>
            <a:xfrm>
              <a:off x="965200" y="3818281"/>
              <a:ext cx="2368550" cy="31998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mv </a:t>
              </a:r>
              <a:r>
                <a:rPr baseline="30000" lang="en-US" sz="2400">
                  <a:solidFill>
                    <a:schemeClr val="dk1"/>
                  </a:solidFill>
                  <a:latin typeface="Arial"/>
                  <a:ea typeface="Arial"/>
                  <a:cs typeface="Arial"/>
                  <a:sym typeface="Arial"/>
                </a:rPr>
                <a:t>2</a:t>
              </a:r>
              <a:endParaRPr i="1" sz="2400">
                <a:solidFill>
                  <a:schemeClr val="dk1"/>
                </a:solidFill>
                <a:latin typeface="Arial"/>
                <a:ea typeface="Arial"/>
                <a:cs typeface="Arial"/>
                <a:sym typeface="Arial"/>
              </a:endParaRPr>
            </a:p>
          </p:txBody>
        </p:sp>
        <p:sp>
          <p:nvSpPr>
            <p:cNvPr id="1017" name="Google Shape;1017;p35"/>
            <p:cNvSpPr txBox="1"/>
            <p:nvPr/>
          </p:nvSpPr>
          <p:spPr>
            <a:xfrm>
              <a:off x="5867401" y="3808729"/>
              <a:ext cx="2425700"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kinetic energy</a:t>
              </a:r>
              <a:endParaRPr/>
            </a:p>
          </p:txBody>
        </p:sp>
        <p:sp>
          <p:nvSpPr>
            <p:cNvPr id="1018" name="Google Shape;1018;p35"/>
            <p:cNvSpPr/>
            <p:nvPr/>
          </p:nvSpPr>
          <p:spPr>
            <a:xfrm>
              <a:off x="828675" y="3811913"/>
              <a:ext cx="7462839" cy="458481"/>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1019" name="Google Shape;1019;p35"/>
          <p:cNvSpPr/>
          <p:nvPr/>
        </p:nvSpPr>
        <p:spPr>
          <a:xfrm>
            <a:off x="4770438" y="3825875"/>
            <a:ext cx="3671887" cy="3032125"/>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a:t>
            </a:r>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This is called the </a:t>
            </a:r>
            <a:r>
              <a:rPr b="1" lang="en-US" sz="2400">
                <a:solidFill>
                  <a:schemeClr val="dk1"/>
                </a:solidFill>
                <a:latin typeface="Arial"/>
                <a:ea typeface="Arial"/>
                <a:cs typeface="Arial"/>
                <a:sym typeface="Arial"/>
              </a:rPr>
              <a:t>Work-Kinetic Energy theorem</a:t>
            </a:r>
            <a:r>
              <a:rPr lang="en-US" sz="2400">
                <a:solidFill>
                  <a:schemeClr val="dk1"/>
                </a:solidFill>
                <a:latin typeface="Arial"/>
                <a:ea typeface="Arial"/>
                <a:cs typeface="Arial"/>
                <a:sym typeface="Arial"/>
              </a:rPr>
              <a:t>.</a:t>
            </a:r>
            <a:endParaRPr/>
          </a:p>
          <a:p>
            <a:pPr indent="0" lvl="0" marL="0" marR="0" rtl="0" algn="l">
              <a:spcBef>
                <a:spcPts val="0"/>
              </a:spcBef>
              <a:spcAft>
                <a:spcPts val="0"/>
              </a:spcAft>
              <a:buNone/>
            </a:pPr>
            <a:r>
              <a:rPr b="1" lang="en-US" sz="2400">
                <a:solidFill>
                  <a:srgbClr val="000000"/>
                </a:solidFill>
                <a:latin typeface="Arial"/>
                <a:ea typeface="Arial"/>
                <a:cs typeface="Arial"/>
                <a:sym typeface="Arial"/>
              </a:rPr>
              <a:t>∙</a:t>
            </a:r>
            <a:r>
              <a:rPr lang="en-US" sz="2400">
                <a:solidFill>
                  <a:srgbClr val="000000"/>
                </a:solidFill>
                <a:latin typeface="Arial"/>
                <a:ea typeface="Arial"/>
                <a:cs typeface="Arial"/>
                <a:sym typeface="Arial"/>
              </a:rPr>
              <a:t>It is </a:t>
            </a:r>
            <a:r>
              <a:rPr i="1" lang="en-US" sz="2400">
                <a:solidFill>
                  <a:srgbClr val="000000"/>
                </a:solidFill>
                <a:latin typeface="Arial"/>
                <a:ea typeface="Arial"/>
                <a:cs typeface="Arial"/>
                <a:sym typeface="Arial"/>
              </a:rPr>
              <a:t>not</a:t>
            </a:r>
            <a:r>
              <a:rPr lang="en-US" sz="2400">
                <a:solidFill>
                  <a:srgbClr val="000000"/>
                </a:solidFill>
                <a:latin typeface="Arial"/>
                <a:ea typeface="Arial"/>
                <a:cs typeface="Arial"/>
                <a:sym typeface="Arial"/>
              </a:rPr>
              <a:t> in the Physics Data Booklet, and I would recommend that you memorize it!</a:t>
            </a:r>
            <a:endParaRPr sz="2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9">
                                            <p:txEl>
                                              <p:pRg end="0" st="0"/>
                                            </p:txEl>
                                          </p:spTgt>
                                        </p:tgtEl>
                                        <p:attrNameLst>
                                          <p:attrName>style.visibility</p:attrName>
                                        </p:attrNameLst>
                                      </p:cBhvr>
                                      <p:to>
                                        <p:strVal val="visible"/>
                                      </p:to>
                                    </p:set>
                                    <p:anim calcmode="lin" valueType="num">
                                      <p:cBhvr additive="base">
                                        <p:cTn dur="500"/>
                                        <p:tgtEl>
                                          <p:spTgt spid="100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9">
                                            <p:txEl>
                                              <p:pRg end="1" st="1"/>
                                            </p:txEl>
                                          </p:spTgt>
                                        </p:tgtEl>
                                        <p:attrNameLst>
                                          <p:attrName>style.visibility</p:attrName>
                                        </p:attrNameLst>
                                      </p:cBhvr>
                                      <p:to>
                                        <p:strVal val="visible"/>
                                      </p:to>
                                    </p:set>
                                    <p:anim calcmode="lin" valueType="num">
                                      <p:cBhvr additive="base">
                                        <p:cTn dur="500"/>
                                        <p:tgtEl>
                                          <p:spTgt spid="100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9">
                                            <p:txEl>
                                              <p:pRg end="2" st="2"/>
                                            </p:txEl>
                                          </p:spTgt>
                                        </p:tgtEl>
                                        <p:attrNameLst>
                                          <p:attrName>style.visibility</p:attrName>
                                        </p:attrNameLst>
                                      </p:cBhvr>
                                      <p:to>
                                        <p:strVal val="visible"/>
                                      </p:to>
                                    </p:set>
                                    <p:anim calcmode="lin" valueType="num">
                                      <p:cBhvr additive="base">
                                        <p:cTn dur="500"/>
                                        <p:tgtEl>
                                          <p:spTgt spid="100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9">
                                            <p:txEl>
                                              <p:pRg end="3" st="3"/>
                                            </p:txEl>
                                          </p:spTgt>
                                        </p:tgtEl>
                                        <p:attrNameLst>
                                          <p:attrName>style.visibility</p:attrName>
                                        </p:attrNameLst>
                                      </p:cBhvr>
                                      <p:to>
                                        <p:strVal val="visible"/>
                                      </p:to>
                                    </p:set>
                                    <p:anim calcmode="lin" valueType="num">
                                      <p:cBhvr additive="base">
                                        <p:cTn dur="500"/>
                                        <p:tgtEl>
                                          <p:spTgt spid="100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9">
                                            <p:txEl>
                                              <p:pRg end="4" st="4"/>
                                            </p:txEl>
                                          </p:spTgt>
                                        </p:tgtEl>
                                        <p:attrNameLst>
                                          <p:attrName>style.visibility</p:attrName>
                                        </p:attrNameLst>
                                      </p:cBhvr>
                                      <p:to>
                                        <p:strVal val="visible"/>
                                      </p:to>
                                    </p:set>
                                    <p:anim calcmode="lin" valueType="num">
                                      <p:cBhvr additive="base">
                                        <p:cTn dur="500"/>
                                        <p:tgtEl>
                                          <p:spTgt spid="100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9">
                                            <p:txEl>
                                              <p:pRg end="5" st="5"/>
                                            </p:txEl>
                                          </p:spTgt>
                                        </p:tgtEl>
                                        <p:attrNameLst>
                                          <p:attrName>style.visibility</p:attrName>
                                        </p:attrNameLst>
                                      </p:cBhvr>
                                      <p:to>
                                        <p:strVal val="visible"/>
                                      </p:to>
                                    </p:set>
                                    <p:anim calcmode="lin" valueType="num">
                                      <p:cBhvr additive="base">
                                        <p:cTn dur="500"/>
                                        <p:tgtEl>
                                          <p:spTgt spid="100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9">
                                            <p:txEl>
                                              <p:pRg end="6" st="6"/>
                                            </p:txEl>
                                          </p:spTgt>
                                        </p:tgtEl>
                                        <p:attrNameLst>
                                          <p:attrName>style.visibility</p:attrName>
                                        </p:attrNameLst>
                                      </p:cBhvr>
                                      <p:to>
                                        <p:strVal val="visible"/>
                                      </p:to>
                                    </p:set>
                                    <p:anim calcmode="lin" valueType="num">
                                      <p:cBhvr additive="base">
                                        <p:cTn dur="500"/>
                                        <p:tgtEl>
                                          <p:spTgt spid="100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9">
                                            <p:txEl>
                                              <p:pRg end="7" st="7"/>
                                            </p:txEl>
                                          </p:spTgt>
                                        </p:tgtEl>
                                        <p:attrNameLst>
                                          <p:attrName>style.visibility</p:attrName>
                                        </p:attrNameLst>
                                      </p:cBhvr>
                                      <p:to>
                                        <p:strVal val="visible"/>
                                      </p:to>
                                    </p:set>
                                    <p:anim calcmode="lin" valueType="num">
                                      <p:cBhvr additive="base">
                                        <p:cTn dur="500"/>
                                        <p:tgtEl>
                                          <p:spTgt spid="100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9">
                                            <p:txEl>
                                              <p:pRg end="8" st="8"/>
                                            </p:txEl>
                                          </p:spTgt>
                                        </p:tgtEl>
                                        <p:attrNameLst>
                                          <p:attrName>style.visibility</p:attrName>
                                        </p:attrNameLst>
                                      </p:cBhvr>
                                      <p:to>
                                        <p:strVal val="visible"/>
                                      </p:to>
                                    </p:set>
                                    <p:anim calcmode="lin" valueType="num">
                                      <p:cBhvr additive="base">
                                        <p:cTn dur="500"/>
                                        <p:tgtEl>
                                          <p:spTgt spid="1009">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9">
                                            <p:txEl>
                                              <p:pRg end="9" st="9"/>
                                            </p:txEl>
                                          </p:spTgt>
                                        </p:tgtEl>
                                        <p:attrNameLst>
                                          <p:attrName>style.visibility</p:attrName>
                                        </p:attrNameLst>
                                      </p:cBhvr>
                                      <p:to>
                                        <p:strVal val="visible"/>
                                      </p:to>
                                    </p:set>
                                    <p:anim calcmode="lin" valueType="num">
                                      <p:cBhvr additive="base">
                                        <p:cTn dur="500"/>
                                        <p:tgtEl>
                                          <p:spTgt spid="1009">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9">
                                            <p:txEl>
                                              <p:pRg end="10" st="10"/>
                                            </p:txEl>
                                          </p:spTgt>
                                        </p:tgtEl>
                                        <p:attrNameLst>
                                          <p:attrName>style.visibility</p:attrName>
                                        </p:attrNameLst>
                                      </p:cBhvr>
                                      <p:to>
                                        <p:strVal val="visible"/>
                                      </p:to>
                                    </p:set>
                                    <p:anim calcmode="lin" valueType="num">
                                      <p:cBhvr additive="base">
                                        <p:cTn dur="500"/>
                                        <p:tgtEl>
                                          <p:spTgt spid="1009">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9">
                                            <p:txEl>
                                              <p:pRg end="11" st="11"/>
                                            </p:txEl>
                                          </p:spTgt>
                                        </p:tgtEl>
                                        <p:attrNameLst>
                                          <p:attrName>style.visibility</p:attrName>
                                        </p:attrNameLst>
                                      </p:cBhvr>
                                      <p:to>
                                        <p:strVal val="visible"/>
                                      </p:to>
                                    </p:set>
                                    <p:anim calcmode="lin" valueType="num">
                                      <p:cBhvr additive="base">
                                        <p:cTn dur="500"/>
                                        <p:tgtEl>
                                          <p:spTgt spid="1009">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11"/>
                                        </p:tgtEl>
                                        <p:attrNameLst>
                                          <p:attrName>style.visibility</p:attrName>
                                        </p:attrNameLst>
                                      </p:cBhvr>
                                      <p:to>
                                        <p:strVal val="visible"/>
                                      </p:to>
                                    </p:set>
                                    <p:anim calcmode="lin" valueType="num">
                                      <p:cBhvr additive="base">
                                        <p:cTn dur="500"/>
                                        <p:tgtEl>
                                          <p:spTgt spid="1011"/>
                                        </p:tgtEl>
                                        <p:attrNameLst>
                                          <p:attrName>ppt_w</p:attrName>
                                        </p:attrNameLst>
                                      </p:cBhvr>
                                      <p:tavLst>
                                        <p:tav fmla="" tm="0">
                                          <p:val>
                                            <p:strVal val="0"/>
                                          </p:val>
                                        </p:tav>
                                        <p:tav fmla="" tm="100000">
                                          <p:val>
                                            <p:strVal val="#ppt_w"/>
                                          </p:val>
                                        </p:tav>
                                      </p:tavLst>
                                    </p:anim>
                                    <p:anim calcmode="lin" valueType="num">
                                      <p:cBhvr additive="base">
                                        <p:cTn dur="500"/>
                                        <p:tgtEl>
                                          <p:spTgt spid="101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15"/>
                                        </p:tgtEl>
                                        <p:attrNameLst>
                                          <p:attrName>style.visibility</p:attrName>
                                        </p:attrNameLst>
                                      </p:cBhvr>
                                      <p:to>
                                        <p:strVal val="visible"/>
                                      </p:to>
                                    </p:set>
                                    <p:anim calcmode="lin" valueType="num">
                                      <p:cBhvr additive="base">
                                        <p:cTn dur="500"/>
                                        <p:tgtEl>
                                          <p:spTgt spid="1015"/>
                                        </p:tgtEl>
                                        <p:attrNameLst>
                                          <p:attrName>ppt_w</p:attrName>
                                        </p:attrNameLst>
                                      </p:cBhvr>
                                      <p:tavLst>
                                        <p:tav fmla="" tm="0">
                                          <p:val>
                                            <p:strVal val="0"/>
                                          </p:val>
                                        </p:tav>
                                        <p:tav fmla="" tm="100000">
                                          <p:val>
                                            <p:strVal val="#ppt_w"/>
                                          </p:val>
                                        </p:tav>
                                      </p:tavLst>
                                    </p:anim>
                                    <p:anim calcmode="lin" valueType="num">
                                      <p:cBhvr additive="base">
                                        <p:cTn dur="500"/>
                                        <p:tgtEl>
                                          <p:spTgt spid="101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36"/>
          <p:cNvSpPr/>
          <p:nvPr/>
        </p:nvSpPr>
        <p:spPr>
          <a:xfrm>
            <a:off x="685800" y="1549400"/>
            <a:ext cx="7772400" cy="10414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Work done as energy transfer</a:t>
            </a:r>
            <a:endParaRPr i="1" sz="2000">
              <a:solidFill>
                <a:srgbClr val="000000"/>
              </a:solidFill>
              <a:latin typeface="Courier New"/>
              <a:ea typeface="Courier New"/>
              <a:cs typeface="Courier New"/>
              <a:sym typeface="Courier New"/>
            </a:endParaRPr>
          </a:p>
        </p:txBody>
      </p:sp>
      <p:sp>
        <p:nvSpPr>
          <p:cNvPr id="1026" name="Google Shape;1026;p36"/>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grpSp>
        <p:nvGrpSpPr>
          <p:cNvPr id="1027" name="Google Shape;1027;p36"/>
          <p:cNvGrpSpPr/>
          <p:nvPr/>
        </p:nvGrpSpPr>
        <p:grpSpPr>
          <a:xfrm>
            <a:off x="828675" y="2000250"/>
            <a:ext cx="7464425" cy="460375"/>
            <a:chOff x="828675" y="1969136"/>
            <a:chExt cx="7464426" cy="461665"/>
          </a:xfrm>
        </p:grpSpPr>
        <p:sp>
          <p:nvSpPr>
            <p:cNvPr id="1028" name="Google Shape;1028;p36"/>
            <p:cNvSpPr/>
            <p:nvPr/>
          </p:nvSpPr>
          <p:spPr>
            <a:xfrm>
              <a:off x="965200" y="1978688"/>
              <a:ext cx="2584450" cy="31998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endParaRPr i="1" sz="2400">
                <a:solidFill>
                  <a:schemeClr val="dk1"/>
                </a:solidFill>
                <a:latin typeface="Arial"/>
                <a:ea typeface="Arial"/>
                <a:cs typeface="Arial"/>
                <a:sym typeface="Arial"/>
              </a:endParaRPr>
            </a:p>
          </p:txBody>
        </p:sp>
        <p:sp>
          <p:nvSpPr>
            <p:cNvPr id="1029" name="Google Shape;1029;p36"/>
            <p:cNvSpPr txBox="1"/>
            <p:nvPr/>
          </p:nvSpPr>
          <p:spPr>
            <a:xfrm>
              <a:off x="4114800" y="1969136"/>
              <a:ext cx="4178301"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work-kinetic energy theorem</a:t>
              </a:r>
              <a:endParaRPr/>
            </a:p>
          </p:txBody>
        </p:sp>
        <p:sp>
          <p:nvSpPr>
            <p:cNvPr id="1030" name="Google Shape;1030;p36"/>
            <p:cNvSpPr/>
            <p:nvPr/>
          </p:nvSpPr>
          <p:spPr>
            <a:xfrm>
              <a:off x="828675" y="1972320"/>
              <a:ext cx="7462839" cy="458481"/>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1031" name="Google Shape;1031;p36"/>
          <p:cNvSpPr/>
          <p:nvPr/>
        </p:nvSpPr>
        <p:spPr>
          <a:xfrm>
            <a:off x="674688" y="2560638"/>
            <a:ext cx="7781925" cy="4297362"/>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Use energy to find the work done by the brakes in bringing a 730-kg Smart Car to a rest in 80. meters if its starting speed is 32 m/s.</a:t>
            </a:r>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dk1"/>
                </a:solidFill>
                <a:latin typeface="Arial"/>
                <a:ea typeface="Arial"/>
                <a:cs typeface="Arial"/>
                <a:sym typeface="Arial"/>
              </a:rPr>
              <a:t>SOLUTION:</a:t>
            </a:r>
            <a:endParaRPr/>
          </a:p>
          <a:p>
            <a:pPr indent="0" lvl="0" marL="0" marR="0" rtl="0" algn="l">
              <a:spcBef>
                <a:spcPts val="0"/>
              </a:spcBef>
              <a:spcAft>
                <a:spcPts val="0"/>
              </a:spcAft>
              <a:buNone/>
            </a:pPr>
            <a:r>
              <a:rPr i="1" lang="en-US" sz="2400">
                <a:solidFill>
                  <a:schemeClr val="dk1"/>
                </a:solidFill>
                <a:latin typeface="Arial"/>
                <a:ea typeface="Arial"/>
                <a:cs typeface="Arial"/>
                <a:sym typeface="Arial"/>
              </a:rPr>
              <a:t>        E</a:t>
            </a:r>
            <a:r>
              <a:rPr baseline="-25000" lang="en-US" sz="2400">
                <a:solidFill>
                  <a:schemeClr val="dk1"/>
                </a:solidFill>
                <a:latin typeface="Arial"/>
                <a:ea typeface="Arial"/>
                <a:cs typeface="Arial"/>
                <a:sym typeface="Arial"/>
              </a:rPr>
              <a:t>K,f </a:t>
            </a:r>
            <a:r>
              <a:rPr baseline="-25000"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(1/2)</a:t>
            </a:r>
            <a:r>
              <a:rPr i="1" lang="en-US" sz="2400">
                <a:solidFill>
                  <a:schemeClr val="dk1"/>
                </a:solidFill>
                <a:latin typeface="Arial"/>
                <a:ea typeface="Arial"/>
                <a:cs typeface="Arial"/>
                <a:sym typeface="Arial"/>
              </a:rPr>
              <a:t>mv </a:t>
            </a:r>
            <a:r>
              <a:rPr baseline="30000" lang="en-US" sz="2400">
                <a:solidFill>
                  <a:schemeClr val="dk1"/>
                </a:solidFill>
                <a:latin typeface="Arial"/>
                <a:ea typeface="Arial"/>
                <a:cs typeface="Arial"/>
                <a:sym typeface="Arial"/>
              </a:rPr>
              <a:t>2 </a:t>
            </a:r>
            <a:r>
              <a:rPr lang="en-US" sz="2400">
                <a:solidFill>
                  <a:schemeClr val="dk1"/>
                </a:solidFill>
                <a:latin typeface="Arial"/>
                <a:ea typeface="Arial"/>
                <a:cs typeface="Arial"/>
                <a:sym typeface="Arial"/>
              </a:rPr>
              <a:t>= (1/2)(730)(0</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0 J.</a:t>
            </a:r>
            <a:endParaRPr sz="2400">
              <a:solidFill>
                <a:schemeClr val="dk1"/>
              </a:solidFill>
              <a:latin typeface="Arial"/>
              <a:ea typeface="Arial"/>
              <a:cs typeface="Arial"/>
              <a:sym typeface="Arial"/>
            </a:endParaRPr>
          </a:p>
          <a:p>
            <a:pPr indent="0" lvl="0" marL="0" marR="0" rtl="0" algn="l">
              <a:spcBef>
                <a:spcPts val="200"/>
              </a:spcBef>
              <a:spcAft>
                <a:spcPts val="0"/>
              </a:spcAft>
              <a:buNone/>
            </a:pPr>
            <a:r>
              <a:rPr i="1" lang="en-US" sz="2400">
                <a:solidFill>
                  <a:schemeClr val="dk1"/>
                </a:solidFill>
                <a:latin typeface="Arial"/>
                <a:ea typeface="Arial"/>
                <a:cs typeface="Arial"/>
                <a:sym typeface="Arial"/>
              </a:rPr>
              <a:t>        E</a:t>
            </a:r>
            <a:r>
              <a:rPr baseline="-25000" lang="en-US" sz="2400">
                <a:solidFill>
                  <a:schemeClr val="dk1"/>
                </a:solidFill>
                <a:latin typeface="Arial"/>
                <a:ea typeface="Arial"/>
                <a:cs typeface="Arial"/>
                <a:sym typeface="Arial"/>
              </a:rPr>
              <a:t>K,0</a:t>
            </a:r>
            <a:r>
              <a:rPr baseline="-25000"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(1/2)</a:t>
            </a:r>
            <a:r>
              <a:rPr i="1" lang="en-US" sz="2400">
                <a:solidFill>
                  <a:schemeClr val="dk1"/>
                </a:solidFill>
                <a:latin typeface="Arial"/>
                <a:ea typeface="Arial"/>
                <a:cs typeface="Arial"/>
                <a:sym typeface="Arial"/>
              </a:rPr>
              <a:t>mu </a:t>
            </a:r>
            <a:r>
              <a:rPr baseline="30000" lang="en-US" sz="2400">
                <a:solidFill>
                  <a:schemeClr val="dk1"/>
                </a:solidFill>
                <a:latin typeface="Arial"/>
                <a:ea typeface="Arial"/>
                <a:cs typeface="Arial"/>
                <a:sym typeface="Arial"/>
              </a:rPr>
              <a:t>2 </a:t>
            </a:r>
            <a:r>
              <a:rPr lang="en-US" sz="2400">
                <a:solidFill>
                  <a:schemeClr val="dk1"/>
                </a:solidFill>
                <a:latin typeface="Arial"/>
                <a:ea typeface="Arial"/>
                <a:cs typeface="Arial"/>
                <a:sym typeface="Arial"/>
              </a:rPr>
              <a:t>= (1/2)(730)(32</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370000 J.</a:t>
            </a:r>
            <a:endParaRPr/>
          </a:p>
          <a:p>
            <a:pPr indent="0" lvl="0" marL="0" marR="0" rtl="0" algn="l">
              <a:spcBef>
                <a:spcPts val="200"/>
              </a:spcBef>
              <a:spcAft>
                <a:spcPts val="0"/>
              </a:spcAft>
              <a:buNone/>
            </a:pPr>
            <a:r>
              <a:rPr lang="en-US" sz="2400">
                <a:solidFill>
                  <a:schemeClr val="dk1"/>
                </a:solidFill>
                <a:latin typeface="Arial"/>
                <a:ea typeface="Arial"/>
                <a:cs typeface="Arial"/>
                <a:sym typeface="Arial"/>
              </a:rPr>
              <a:t>      </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K,f</a:t>
            </a:r>
            <a:r>
              <a:rPr baseline="-25000"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K,0</a:t>
            </a:r>
            <a:r>
              <a:rPr baseline="-25000"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0 – 370000 = - 370000 J.</a:t>
            </a:r>
            <a:endParaRPr/>
          </a:p>
          <a:p>
            <a:pPr indent="0" lvl="0" marL="0" marR="0" rtl="0" algn="l">
              <a:spcBef>
                <a:spcPts val="200"/>
              </a:spcBef>
              <a:spcAft>
                <a:spcPts val="0"/>
              </a:spcAft>
              <a:buNone/>
            </a:pPr>
            <a:r>
              <a:rPr i="1" lang="en-US" sz="2400">
                <a:solidFill>
                  <a:schemeClr val="dk1"/>
                </a:solidFill>
                <a:latin typeface="Arial"/>
                <a:ea typeface="Arial"/>
                <a:cs typeface="Arial"/>
                <a:sym typeface="Arial"/>
              </a:rPr>
              <a:t>         </a:t>
            </a:r>
            <a:r>
              <a:rPr baseline="-25000" i="1"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-370000 J (same as before, easier!)</a:t>
            </a:r>
            <a:endParaRPr/>
          </a:p>
        </p:txBody>
      </p:sp>
      <p:grpSp>
        <p:nvGrpSpPr>
          <p:cNvPr id="1032" name="Google Shape;1032;p36"/>
          <p:cNvGrpSpPr/>
          <p:nvPr/>
        </p:nvGrpSpPr>
        <p:grpSpPr>
          <a:xfrm>
            <a:off x="2400300" y="4541838"/>
            <a:ext cx="5691188" cy="457200"/>
            <a:chOff x="1144" y="2967"/>
            <a:chExt cx="3585" cy="288"/>
          </a:xfrm>
        </p:grpSpPr>
        <p:cxnSp>
          <p:nvCxnSpPr>
            <p:cNvPr id="1033" name="Google Shape;1033;p36"/>
            <p:cNvCxnSpPr/>
            <p:nvPr/>
          </p:nvCxnSpPr>
          <p:spPr>
            <a:xfrm>
              <a:off x="1144" y="3024"/>
              <a:ext cx="3585" cy="0"/>
            </a:xfrm>
            <a:prstGeom prst="straightConnector1">
              <a:avLst/>
            </a:prstGeom>
            <a:noFill/>
            <a:ln cap="flat" cmpd="sng" w="57150">
              <a:solidFill>
                <a:schemeClr val="accent2"/>
              </a:solidFill>
              <a:prstDash val="solid"/>
              <a:round/>
              <a:headEnd len="med" w="med" type="none"/>
              <a:tailEnd len="med" w="med" type="stealth"/>
            </a:ln>
          </p:spPr>
        </p:cxnSp>
        <p:sp>
          <p:nvSpPr>
            <p:cNvPr id="1034" name="Google Shape;1034;p36"/>
            <p:cNvSpPr txBox="1"/>
            <p:nvPr/>
          </p:nvSpPr>
          <p:spPr>
            <a:xfrm>
              <a:off x="2696" y="2967"/>
              <a:ext cx="23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s</a:t>
              </a:r>
              <a:endParaRPr/>
            </a:p>
          </p:txBody>
        </p:sp>
      </p:grpSp>
      <p:pic>
        <p:nvPicPr>
          <p:cNvPr descr="ANd9GcTptwVuvDpYUoZG8_CTp3wMdEU7KykY2d4OJkfcG7LawlZCfHWsTQ" id="1035" name="Google Shape;1035;p36"/>
          <p:cNvPicPr preferRelativeResize="0"/>
          <p:nvPr/>
        </p:nvPicPr>
        <p:blipFill rotWithShape="1">
          <a:blip r:embed="rId3">
            <a:alphaModFix/>
          </a:blip>
          <a:srcRect b="0" l="0" r="0" t="0"/>
          <a:stretch/>
        </p:blipFill>
        <p:spPr>
          <a:xfrm>
            <a:off x="1266825" y="3746500"/>
            <a:ext cx="1249363" cy="777875"/>
          </a:xfrm>
          <a:prstGeom prst="rect">
            <a:avLst/>
          </a:prstGeom>
          <a:noFill/>
          <a:ln>
            <a:noFill/>
          </a:ln>
        </p:spPr>
      </p:pic>
      <p:cxnSp>
        <p:nvCxnSpPr>
          <p:cNvPr id="1036" name="Google Shape;1036;p36"/>
          <p:cNvCxnSpPr/>
          <p:nvPr/>
        </p:nvCxnSpPr>
        <p:spPr>
          <a:xfrm>
            <a:off x="666750" y="4502150"/>
            <a:ext cx="7772400" cy="0"/>
          </a:xfrm>
          <a:prstGeom prst="straightConnector1">
            <a:avLst/>
          </a:prstGeom>
          <a:noFill/>
          <a:ln cap="flat" cmpd="sng" w="57150">
            <a:solidFill>
              <a:srgbClr val="4D4D4D"/>
            </a:solidFill>
            <a:prstDash val="solid"/>
            <a:round/>
            <a:headEnd len="med" w="med" type="none"/>
            <a:tailEnd len="med" w="med" type="none"/>
          </a:ln>
        </p:spPr>
      </p:cxnSp>
      <p:grpSp>
        <p:nvGrpSpPr>
          <p:cNvPr id="1037" name="Google Shape;1037;p36"/>
          <p:cNvGrpSpPr/>
          <p:nvPr/>
        </p:nvGrpSpPr>
        <p:grpSpPr>
          <a:xfrm>
            <a:off x="830263" y="3749675"/>
            <a:ext cx="1692275" cy="1235075"/>
            <a:chOff x="3388" y="3218"/>
            <a:chExt cx="1066" cy="778"/>
          </a:xfrm>
        </p:grpSpPr>
        <p:cxnSp>
          <p:nvCxnSpPr>
            <p:cNvPr id="1038" name="Google Shape;1038;p36"/>
            <p:cNvCxnSpPr/>
            <p:nvPr/>
          </p:nvCxnSpPr>
          <p:spPr>
            <a:xfrm rot="10800000">
              <a:off x="3388" y="3732"/>
              <a:ext cx="993" cy="0"/>
            </a:xfrm>
            <a:prstGeom prst="straightConnector1">
              <a:avLst/>
            </a:prstGeom>
            <a:noFill/>
            <a:ln cap="flat" cmpd="sng" w="57150">
              <a:solidFill>
                <a:srgbClr val="FF3300"/>
              </a:solidFill>
              <a:prstDash val="solid"/>
              <a:round/>
              <a:headEnd len="med" w="med" type="none"/>
              <a:tailEnd len="med" w="med" type="stealth"/>
            </a:ln>
          </p:spPr>
        </p:cxnSp>
        <p:sp>
          <p:nvSpPr>
            <p:cNvPr id="1039" name="Google Shape;1039;p36"/>
            <p:cNvSpPr txBox="1"/>
            <p:nvPr/>
          </p:nvSpPr>
          <p:spPr>
            <a:xfrm>
              <a:off x="3826" y="3705"/>
              <a:ext cx="23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F3300"/>
                  </a:solidFill>
                  <a:latin typeface="Arial"/>
                  <a:ea typeface="Arial"/>
                  <a:cs typeface="Arial"/>
                  <a:sym typeface="Arial"/>
                </a:rPr>
                <a:t>F</a:t>
              </a:r>
              <a:endParaRPr/>
            </a:p>
          </p:txBody>
        </p:sp>
        <p:pic>
          <p:nvPicPr>
            <p:cNvPr descr="ANd9GcTptwVuvDpYUoZG8_CTp3wMdEU7KykY2d4OJkfcG7LawlZCfHWsTQ" id="1040" name="Google Shape;1040;p36"/>
            <p:cNvPicPr preferRelativeResize="0"/>
            <p:nvPr/>
          </p:nvPicPr>
          <p:blipFill rotWithShape="1">
            <a:blip r:embed="rId3">
              <a:alphaModFix/>
            </a:blip>
            <a:srcRect b="0" l="0" r="0" t="0"/>
            <a:stretch/>
          </p:blipFill>
          <p:spPr>
            <a:xfrm>
              <a:off x="3667" y="3218"/>
              <a:ext cx="787" cy="49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27"/>
                                        </p:tgtEl>
                                        <p:attrNameLst>
                                          <p:attrName>style.visibility</p:attrName>
                                        </p:attrNameLst>
                                      </p:cBhvr>
                                      <p:to>
                                        <p:strVal val="visible"/>
                                      </p:to>
                                    </p:set>
                                    <p:anim calcmode="lin" valueType="num">
                                      <p:cBhvr additive="base">
                                        <p:cTn dur="500"/>
                                        <p:tgtEl>
                                          <p:spTgt spid="1027"/>
                                        </p:tgtEl>
                                        <p:attrNameLst>
                                          <p:attrName>ppt_w</p:attrName>
                                        </p:attrNameLst>
                                      </p:cBhvr>
                                      <p:tavLst>
                                        <p:tav fmla="" tm="0">
                                          <p:val>
                                            <p:strVal val="0"/>
                                          </p:val>
                                        </p:tav>
                                        <p:tav fmla="" tm="100000">
                                          <p:val>
                                            <p:strVal val="#ppt_w"/>
                                          </p:val>
                                        </p:tav>
                                      </p:tavLst>
                                    </p:anim>
                                    <p:anim calcmode="lin" valueType="num">
                                      <p:cBhvr additive="base">
                                        <p:cTn dur="500"/>
                                        <p:tgtEl>
                                          <p:spTgt spid="102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1">
                                            <p:txEl>
                                              <p:pRg end="0" st="0"/>
                                            </p:txEl>
                                          </p:spTgt>
                                        </p:tgtEl>
                                        <p:attrNameLst>
                                          <p:attrName>style.visibility</p:attrName>
                                        </p:attrNameLst>
                                      </p:cBhvr>
                                      <p:to>
                                        <p:strVal val="visible"/>
                                      </p:to>
                                    </p:set>
                                    <p:anim calcmode="lin" valueType="num">
                                      <p:cBhvr additive="base">
                                        <p:cTn dur="500"/>
                                        <p:tgtEl>
                                          <p:spTgt spid="103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1">
                                            <p:txEl>
                                              <p:pRg end="1" st="1"/>
                                            </p:txEl>
                                          </p:spTgt>
                                        </p:tgtEl>
                                        <p:attrNameLst>
                                          <p:attrName>style.visibility</p:attrName>
                                        </p:attrNameLst>
                                      </p:cBhvr>
                                      <p:to>
                                        <p:strVal val="visible"/>
                                      </p:to>
                                    </p:set>
                                    <p:anim calcmode="lin" valueType="num">
                                      <p:cBhvr additive="base">
                                        <p:cTn dur="500"/>
                                        <p:tgtEl>
                                          <p:spTgt spid="103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1">
                                            <p:txEl>
                                              <p:pRg end="2" st="2"/>
                                            </p:txEl>
                                          </p:spTgt>
                                        </p:tgtEl>
                                        <p:attrNameLst>
                                          <p:attrName>style.visibility</p:attrName>
                                        </p:attrNameLst>
                                      </p:cBhvr>
                                      <p:to>
                                        <p:strVal val="visible"/>
                                      </p:to>
                                    </p:set>
                                    <p:anim calcmode="lin" valueType="num">
                                      <p:cBhvr additive="base">
                                        <p:cTn dur="500"/>
                                        <p:tgtEl>
                                          <p:spTgt spid="103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1">
                                            <p:txEl>
                                              <p:pRg end="3" st="3"/>
                                            </p:txEl>
                                          </p:spTgt>
                                        </p:tgtEl>
                                        <p:attrNameLst>
                                          <p:attrName>style.visibility</p:attrName>
                                        </p:attrNameLst>
                                      </p:cBhvr>
                                      <p:to>
                                        <p:strVal val="visible"/>
                                      </p:to>
                                    </p:set>
                                    <p:anim calcmode="lin" valueType="num">
                                      <p:cBhvr additive="base">
                                        <p:cTn dur="500"/>
                                        <p:tgtEl>
                                          <p:spTgt spid="103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1">
                                            <p:txEl>
                                              <p:pRg end="4" st="4"/>
                                            </p:txEl>
                                          </p:spTgt>
                                        </p:tgtEl>
                                        <p:attrNameLst>
                                          <p:attrName>style.visibility</p:attrName>
                                        </p:attrNameLst>
                                      </p:cBhvr>
                                      <p:to>
                                        <p:strVal val="visible"/>
                                      </p:to>
                                    </p:set>
                                    <p:anim calcmode="lin" valueType="num">
                                      <p:cBhvr additive="base">
                                        <p:cTn dur="500"/>
                                        <p:tgtEl>
                                          <p:spTgt spid="103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1">
                                            <p:txEl>
                                              <p:pRg end="5" st="5"/>
                                            </p:txEl>
                                          </p:spTgt>
                                        </p:tgtEl>
                                        <p:attrNameLst>
                                          <p:attrName>style.visibility</p:attrName>
                                        </p:attrNameLst>
                                      </p:cBhvr>
                                      <p:to>
                                        <p:strVal val="visible"/>
                                      </p:to>
                                    </p:set>
                                    <p:anim calcmode="lin" valueType="num">
                                      <p:cBhvr additive="base">
                                        <p:cTn dur="500"/>
                                        <p:tgtEl>
                                          <p:spTgt spid="103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1">
                                            <p:txEl>
                                              <p:pRg end="6" st="6"/>
                                            </p:txEl>
                                          </p:spTgt>
                                        </p:tgtEl>
                                        <p:attrNameLst>
                                          <p:attrName>style.visibility</p:attrName>
                                        </p:attrNameLst>
                                      </p:cBhvr>
                                      <p:to>
                                        <p:strVal val="visible"/>
                                      </p:to>
                                    </p:set>
                                    <p:anim calcmode="lin" valueType="num">
                                      <p:cBhvr additive="base">
                                        <p:cTn dur="500"/>
                                        <p:tgtEl>
                                          <p:spTgt spid="103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1">
                                            <p:txEl>
                                              <p:pRg end="7" st="7"/>
                                            </p:txEl>
                                          </p:spTgt>
                                        </p:tgtEl>
                                        <p:attrNameLst>
                                          <p:attrName>style.visibility</p:attrName>
                                        </p:attrNameLst>
                                      </p:cBhvr>
                                      <p:to>
                                        <p:strVal val="visible"/>
                                      </p:to>
                                    </p:set>
                                    <p:anim calcmode="lin" valueType="num">
                                      <p:cBhvr additive="base">
                                        <p:cTn dur="500"/>
                                        <p:tgtEl>
                                          <p:spTgt spid="1031">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1">
                                            <p:txEl>
                                              <p:pRg end="8" st="8"/>
                                            </p:txEl>
                                          </p:spTgt>
                                        </p:tgtEl>
                                        <p:attrNameLst>
                                          <p:attrName>style.visibility</p:attrName>
                                        </p:attrNameLst>
                                      </p:cBhvr>
                                      <p:to>
                                        <p:strVal val="visible"/>
                                      </p:to>
                                    </p:set>
                                    <p:anim calcmode="lin" valueType="num">
                                      <p:cBhvr additive="base">
                                        <p:cTn dur="500"/>
                                        <p:tgtEl>
                                          <p:spTgt spid="1031">
                                            <p:txEl>
                                              <p:pRg end="8" st="8"/>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1035"/>
                                        </p:tgtEl>
                                        <p:attrNameLst>
                                          <p:attrName>style.visibility</p:attrName>
                                        </p:attrNameLst>
                                      </p:cBhvr>
                                      <p:to>
                                        <p:strVal val="visible"/>
                                      </p:to>
                                    </p:set>
                                    <p:anim calcmode="lin" valueType="num">
                                      <p:cBhvr additive="base">
                                        <p:cTn dur="500"/>
                                        <p:tgtEl>
                                          <p:spTgt spid="1035"/>
                                        </p:tgtEl>
                                        <p:attrNameLst>
                                          <p:attrName>ppt_w</p:attrName>
                                        </p:attrNameLst>
                                      </p:cBhvr>
                                      <p:tavLst>
                                        <p:tav fmla="" tm="0">
                                          <p:val>
                                            <p:strVal val="0"/>
                                          </p:val>
                                        </p:tav>
                                        <p:tav fmla="" tm="100000">
                                          <p:val>
                                            <p:strVal val="#ppt_w"/>
                                          </p:val>
                                        </p:tav>
                                      </p:tavLst>
                                    </p:anim>
                                    <p:anim calcmode="lin" valueType="num">
                                      <p:cBhvr additive="base">
                                        <p:cTn dur="500"/>
                                        <p:tgtEl>
                                          <p:spTgt spid="103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1036"/>
                                        </p:tgtEl>
                                        <p:attrNameLst>
                                          <p:attrName>style.visibility</p:attrName>
                                        </p:attrNameLst>
                                      </p:cBhvr>
                                      <p:to>
                                        <p:strVal val="visible"/>
                                      </p:to>
                                    </p:set>
                                    <p:animEffect filter="fade" transition="in">
                                      <p:cBhvr>
                                        <p:cTn dur="500"/>
                                        <p:tgtEl>
                                          <p:spTgt spid="10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7"/>
                                        </p:tgtEl>
                                        <p:attrNameLst>
                                          <p:attrName>style.visibility</p:attrName>
                                        </p:attrNameLst>
                                      </p:cBhvr>
                                      <p:to>
                                        <p:strVal val="visible"/>
                                      </p:to>
                                    </p:set>
                                    <p:animEffect filter="fade" transition="in">
                                      <p:cBhvr>
                                        <p:cTn dur="500"/>
                                        <p:tgtEl>
                                          <p:spTgt spid="1037"/>
                                        </p:tgtEl>
                                      </p:cBhvr>
                                    </p:animEffect>
                                  </p:childTnLst>
                                </p:cTn>
                              </p:par>
                              <p:par>
                                <p:cTn fill="hold" nodeType="withEffect" presetClass="exit" presetID="10" presetSubtype="0">
                                  <p:stCondLst>
                                    <p:cond delay="0"/>
                                  </p:stCondLst>
                                  <p:childTnLst>
                                    <p:animEffect filter="fade" transition="out">
                                      <p:cBhvr>
                                        <p:cTn dur="500"/>
                                        <p:tgtEl>
                                          <p:spTgt spid="1035"/>
                                        </p:tgtEl>
                                      </p:cBhvr>
                                    </p:animEffect>
                                    <p:set>
                                      <p:cBhvr>
                                        <p:cTn dur="1" fill="hold">
                                          <p:stCondLst>
                                            <p:cond delay="500"/>
                                          </p:stCondLst>
                                        </p:cTn>
                                        <p:tgtEl>
                                          <p:spTgt spid="103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032"/>
                                        </p:tgtEl>
                                        <p:attrNameLst>
                                          <p:attrName>style.visibility</p:attrName>
                                        </p:attrNameLst>
                                      </p:cBhvr>
                                      <p:to>
                                        <p:strVal val="visible"/>
                                      </p:to>
                                    </p:set>
                                    <p:animEffect filter="fade" transition="in">
                                      <p:cBhvr>
                                        <p:cTn dur="3000"/>
                                        <p:tgtEl>
                                          <p:spTgt spid="10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37"/>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Gravitational potential energy </a:t>
            </a:r>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∙Consider a bowling ball resting on the floor: If we let go of it, it just stays put.</a:t>
            </a:r>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∙If on the other hand we raise it to a height ∆</a:t>
            </a:r>
            <a:r>
              <a:rPr i="1" lang="en-US" sz="2400">
                <a:solidFill>
                  <a:schemeClr val="dk1"/>
                </a:solidFill>
                <a:latin typeface="Arial"/>
                <a:ea typeface="Arial"/>
                <a:cs typeface="Arial"/>
                <a:sym typeface="Arial"/>
              </a:rPr>
              <a:t>h </a:t>
            </a:r>
            <a:r>
              <a:rPr lang="en-US" sz="2400">
                <a:solidFill>
                  <a:schemeClr val="dk1"/>
                </a:solidFill>
                <a:latin typeface="Arial"/>
                <a:ea typeface="Arial"/>
                <a:cs typeface="Arial"/>
                <a:sym typeface="Arial"/>
              </a:rPr>
              <a:t>and    </a:t>
            </a:r>
            <a:r>
              <a:rPr i="1" lang="en-US" sz="2400">
                <a:solidFill>
                  <a:schemeClr val="dk1"/>
                </a:solidFill>
                <a:latin typeface="Arial"/>
                <a:ea typeface="Arial"/>
                <a:cs typeface="Arial"/>
                <a:sym typeface="Arial"/>
              </a:rPr>
              <a:t>then</a:t>
            </a:r>
            <a:r>
              <a:rPr lang="en-US" sz="2400">
                <a:solidFill>
                  <a:schemeClr val="dk1"/>
                </a:solidFill>
                <a:latin typeface="Arial"/>
                <a:ea typeface="Arial"/>
                <a:cs typeface="Arial"/>
                <a:sym typeface="Arial"/>
              </a:rPr>
              <a:t> let it go, it will fall and speed up, gaining                    kinetic energy as it falls.</a:t>
            </a:r>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∙Since the lift constitutes work against gravity (the weight of the ball) we have</a:t>
            </a:r>
            <a:endParaRPr/>
          </a:p>
          <a:p>
            <a:pPr indent="0" lvl="0" marL="0" marR="0" rtl="0" algn="l">
              <a:spcBef>
                <a:spcPts val="300"/>
              </a:spcBef>
              <a:spcAft>
                <a:spcPts val="0"/>
              </a:spcAft>
              <a:buNone/>
            </a:pPr>
            <a:r>
              <a:rPr i="1" lang="en-US" sz="2400">
                <a:solidFill>
                  <a:schemeClr val="dk1"/>
                </a:solidFill>
                <a:latin typeface="Arial"/>
                <a:ea typeface="Arial"/>
                <a:cs typeface="Arial"/>
                <a:sym typeface="Arial"/>
              </a:rPr>
              <a:t>                 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Fs</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cos</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θ</a:t>
            </a:r>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h</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cos</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0°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h</a:t>
            </a:r>
            <a:r>
              <a:rPr lang="en-US" sz="2400">
                <a:solidFill>
                  <a:schemeClr val="dk1"/>
                </a:solidFill>
                <a:latin typeface="Arial"/>
                <a:ea typeface="Arial"/>
                <a:cs typeface="Arial"/>
                <a:sym typeface="Arial"/>
              </a:rPr>
              <a:t>.</a:t>
            </a:r>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∙We call the energy due to the position of a weight </a:t>
            </a:r>
            <a:r>
              <a:rPr b="1" lang="en-US" sz="2400">
                <a:solidFill>
                  <a:schemeClr val="dk1"/>
                </a:solidFill>
                <a:latin typeface="Arial"/>
                <a:ea typeface="Arial"/>
                <a:cs typeface="Arial"/>
                <a:sym typeface="Arial"/>
              </a:rPr>
              <a:t>gravitational potential energy</a:t>
            </a:r>
            <a:r>
              <a:rPr lang="en-US" sz="2400">
                <a:solidFill>
                  <a:schemeClr val="dk1"/>
                </a:solidFill>
                <a:latin typeface="Arial"/>
                <a:ea typeface="Arial"/>
                <a:cs typeface="Arial"/>
                <a:sym typeface="Arial"/>
              </a:rPr>
              <a:t>.</a:t>
            </a:r>
            <a:endParaRPr i="1" sz="2400">
              <a:solidFill>
                <a:schemeClr val="dk1"/>
              </a:solidFill>
              <a:latin typeface="Arial"/>
              <a:ea typeface="Arial"/>
              <a:cs typeface="Arial"/>
              <a:sym typeface="Arial"/>
            </a:endParaRPr>
          </a:p>
        </p:txBody>
      </p:sp>
      <p:sp>
        <p:nvSpPr>
          <p:cNvPr id="1047" name="Google Shape;1047;p3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pic>
        <p:nvPicPr>
          <p:cNvPr descr="MC900437067[1]" id="1048" name="Google Shape;1048;p37"/>
          <p:cNvPicPr preferRelativeResize="0"/>
          <p:nvPr/>
        </p:nvPicPr>
        <p:blipFill rotWithShape="1">
          <a:blip r:embed="rId3">
            <a:alphaModFix/>
          </a:blip>
          <a:srcRect b="0" l="0" r="0" t="0"/>
          <a:stretch/>
        </p:blipFill>
        <p:spPr>
          <a:xfrm>
            <a:off x="7540625" y="5070475"/>
            <a:ext cx="1714500" cy="1714500"/>
          </a:xfrm>
          <a:prstGeom prst="rect">
            <a:avLst/>
          </a:prstGeom>
          <a:noFill/>
          <a:ln>
            <a:noFill/>
          </a:ln>
        </p:spPr>
      </p:pic>
      <p:sp>
        <p:nvSpPr>
          <p:cNvPr descr="Medium wood" id="1049" name="Google Shape;1049;p37"/>
          <p:cNvSpPr/>
          <p:nvPr/>
        </p:nvSpPr>
        <p:spPr>
          <a:xfrm>
            <a:off x="7631113" y="6605588"/>
            <a:ext cx="1512887" cy="252412"/>
          </a:xfrm>
          <a:prstGeom prst="rect">
            <a:avLst/>
          </a:prstGeom>
          <a:blipFill rotWithShape="1">
            <a:blip r:embed="rId4">
              <a:alphaModFix/>
            </a:blip>
            <a:tile algn="tl" flip="none" tx="0" sx="100000" ty="0" sy="100000"/>
          </a:blip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pic>
        <p:nvPicPr>
          <p:cNvPr descr="MC900437067[1]" id="1050" name="Google Shape;1050;p37"/>
          <p:cNvPicPr preferRelativeResize="0"/>
          <p:nvPr/>
        </p:nvPicPr>
        <p:blipFill rotWithShape="1">
          <a:blip r:embed="rId3">
            <a:alphaModFix/>
          </a:blip>
          <a:srcRect b="0" l="0" r="0" t="0"/>
          <a:stretch/>
        </p:blipFill>
        <p:spPr>
          <a:xfrm>
            <a:off x="7545388" y="2774950"/>
            <a:ext cx="1714500" cy="1714500"/>
          </a:xfrm>
          <a:prstGeom prst="rect">
            <a:avLst/>
          </a:prstGeom>
          <a:noFill/>
          <a:ln>
            <a:noFill/>
          </a:ln>
        </p:spPr>
      </p:pic>
      <p:grpSp>
        <p:nvGrpSpPr>
          <p:cNvPr id="1051" name="Google Shape;1051;p37"/>
          <p:cNvGrpSpPr/>
          <p:nvPr/>
        </p:nvGrpSpPr>
        <p:grpSpPr>
          <a:xfrm>
            <a:off x="839788" y="6267450"/>
            <a:ext cx="7464425" cy="460375"/>
            <a:chOff x="839787" y="6266774"/>
            <a:chExt cx="7464426" cy="461665"/>
          </a:xfrm>
        </p:grpSpPr>
        <p:sp>
          <p:nvSpPr>
            <p:cNvPr id="1052" name="Google Shape;1052;p37"/>
            <p:cNvSpPr/>
            <p:nvPr/>
          </p:nvSpPr>
          <p:spPr>
            <a:xfrm>
              <a:off x="946149" y="6276326"/>
              <a:ext cx="2368550" cy="39639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h</a:t>
              </a:r>
              <a:endParaRPr i="1" sz="2400">
                <a:solidFill>
                  <a:schemeClr val="dk1"/>
                </a:solidFill>
                <a:latin typeface="Arial"/>
                <a:ea typeface="Arial"/>
                <a:cs typeface="Arial"/>
                <a:sym typeface="Arial"/>
              </a:endParaRPr>
            </a:p>
          </p:txBody>
        </p:sp>
        <p:sp>
          <p:nvSpPr>
            <p:cNvPr id="1053" name="Google Shape;1053;p37"/>
            <p:cNvSpPr txBox="1"/>
            <p:nvPr/>
          </p:nvSpPr>
          <p:spPr>
            <a:xfrm>
              <a:off x="3078162" y="6266774"/>
              <a:ext cx="5226051"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gravitational potential energy </a:t>
              </a:r>
              <a:r>
                <a:rPr lang="en-US" sz="2400">
                  <a:solidFill>
                    <a:srgbClr val="FFFFFF"/>
                  </a:solidFill>
                  <a:latin typeface="Arial"/>
                  <a:ea typeface="Arial"/>
                  <a:cs typeface="Arial"/>
                  <a:sym typeface="Arial"/>
                </a:rPr>
                <a:t>change</a:t>
              </a:r>
              <a:endParaRPr sz="2400">
                <a:solidFill>
                  <a:schemeClr val="lt1"/>
                </a:solidFill>
                <a:latin typeface="Arial"/>
                <a:ea typeface="Arial"/>
                <a:cs typeface="Arial"/>
                <a:sym typeface="Arial"/>
              </a:endParaRPr>
            </a:p>
          </p:txBody>
        </p:sp>
        <p:sp>
          <p:nvSpPr>
            <p:cNvPr id="1054" name="Google Shape;1054;p37"/>
            <p:cNvSpPr/>
            <p:nvPr/>
          </p:nvSpPr>
          <p:spPr>
            <a:xfrm>
              <a:off x="839787" y="6269958"/>
              <a:ext cx="7462838" cy="458481"/>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grpSp>
        <p:nvGrpSpPr>
          <p:cNvPr id="1055" name="Google Shape;1055;p37"/>
          <p:cNvGrpSpPr/>
          <p:nvPr/>
        </p:nvGrpSpPr>
        <p:grpSpPr>
          <a:xfrm>
            <a:off x="7384733" y="76200"/>
            <a:ext cx="1576387" cy="1912938"/>
            <a:chOff x="4767" y="0"/>
            <a:chExt cx="993" cy="1205"/>
          </a:xfrm>
        </p:grpSpPr>
        <p:sp>
          <p:nvSpPr>
            <p:cNvPr id="1056" name="Google Shape;1056;p37"/>
            <p:cNvSpPr/>
            <p:nvPr/>
          </p:nvSpPr>
          <p:spPr>
            <a:xfrm>
              <a:off x="4767" y="0"/>
              <a:ext cx="993" cy="1205"/>
            </a:xfrm>
            <a:prstGeom prst="rect">
              <a:avLst/>
            </a:prstGeom>
            <a:solidFill>
              <a:schemeClr val="accent1"/>
            </a:solidFill>
            <a:ln cap="flat" cmpd="sng" w="9525">
              <a:solidFill>
                <a:schemeClr val="dk1"/>
              </a:solidFill>
              <a:prstDash val="solid"/>
              <a:miter lim="800000"/>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57" name="Google Shape;1057;p37"/>
            <p:cNvSpPr txBox="1"/>
            <p:nvPr/>
          </p:nvSpPr>
          <p:spPr>
            <a:xfrm>
              <a:off x="4884" y="19"/>
              <a:ext cx="756" cy="252"/>
            </a:xfrm>
            <a:prstGeom prst="rect">
              <a:avLst/>
            </a:prstGeom>
            <a:noFill/>
            <a:ln>
              <a:noFill/>
            </a:ln>
            <a:effectLst>
              <a:outerShdw blurRad="50800" rotWithShape="0" algn="tr" dir="8100000"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FBD Ball</a:t>
              </a:r>
              <a:endParaRPr/>
            </a:p>
          </p:txBody>
        </p:sp>
      </p:grpSp>
      <p:grpSp>
        <p:nvGrpSpPr>
          <p:cNvPr id="1058" name="Google Shape;1058;p37"/>
          <p:cNvGrpSpPr/>
          <p:nvPr/>
        </p:nvGrpSpPr>
        <p:grpSpPr>
          <a:xfrm>
            <a:off x="8256588" y="441325"/>
            <a:ext cx="371475" cy="760413"/>
            <a:chOff x="638" y="2737"/>
            <a:chExt cx="234" cy="479"/>
          </a:xfrm>
        </p:grpSpPr>
        <p:cxnSp>
          <p:nvCxnSpPr>
            <p:cNvPr id="1059" name="Google Shape;1059;p37"/>
            <p:cNvCxnSpPr/>
            <p:nvPr/>
          </p:nvCxnSpPr>
          <p:spPr>
            <a:xfrm rot="10800000">
              <a:off x="864" y="2880"/>
              <a:ext cx="0" cy="336"/>
            </a:xfrm>
            <a:prstGeom prst="straightConnector1">
              <a:avLst/>
            </a:prstGeom>
            <a:noFill/>
            <a:ln cap="flat" cmpd="sng" w="57150">
              <a:solidFill>
                <a:srgbClr val="009900"/>
              </a:solidFill>
              <a:prstDash val="solid"/>
              <a:round/>
              <a:headEnd len="med" w="med" type="none"/>
              <a:tailEnd len="med" w="med" type="stealth"/>
            </a:ln>
          </p:spPr>
        </p:cxnSp>
        <p:sp>
          <p:nvSpPr>
            <p:cNvPr id="1060" name="Google Shape;1060;p37"/>
            <p:cNvSpPr txBox="1"/>
            <p:nvPr/>
          </p:nvSpPr>
          <p:spPr>
            <a:xfrm>
              <a:off x="638" y="2737"/>
              <a:ext cx="234"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9900"/>
                  </a:solidFill>
                  <a:latin typeface="Arial"/>
                  <a:ea typeface="Arial"/>
                  <a:cs typeface="Arial"/>
                  <a:sym typeface="Arial"/>
                </a:rPr>
                <a:t>F</a:t>
              </a:r>
              <a:endParaRPr/>
            </a:p>
          </p:txBody>
        </p:sp>
      </p:grpSp>
      <p:grpSp>
        <p:nvGrpSpPr>
          <p:cNvPr id="1061" name="Google Shape;1061;p37"/>
          <p:cNvGrpSpPr/>
          <p:nvPr/>
        </p:nvGrpSpPr>
        <p:grpSpPr>
          <a:xfrm>
            <a:off x="8142290" y="1217616"/>
            <a:ext cx="485776" cy="747713"/>
            <a:chOff x="566" y="3226"/>
            <a:chExt cx="306" cy="471"/>
          </a:xfrm>
        </p:grpSpPr>
        <p:cxnSp>
          <p:nvCxnSpPr>
            <p:cNvPr id="1062" name="Google Shape;1062;p37"/>
            <p:cNvCxnSpPr/>
            <p:nvPr/>
          </p:nvCxnSpPr>
          <p:spPr>
            <a:xfrm>
              <a:off x="864" y="3226"/>
              <a:ext cx="0" cy="316"/>
            </a:xfrm>
            <a:prstGeom prst="straightConnector1">
              <a:avLst/>
            </a:prstGeom>
            <a:noFill/>
            <a:ln cap="flat" cmpd="sng" w="57150">
              <a:solidFill>
                <a:schemeClr val="dk1"/>
              </a:solidFill>
              <a:prstDash val="solid"/>
              <a:round/>
              <a:headEnd len="med" w="med" type="none"/>
              <a:tailEnd len="med" w="med" type="stealth"/>
            </a:ln>
          </p:spPr>
        </p:cxnSp>
        <p:sp>
          <p:nvSpPr>
            <p:cNvPr id="1063" name="Google Shape;1063;p37"/>
            <p:cNvSpPr txBox="1"/>
            <p:nvPr/>
          </p:nvSpPr>
          <p:spPr>
            <a:xfrm>
              <a:off x="566" y="3406"/>
              <a:ext cx="306"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F</a:t>
              </a:r>
              <a:r>
                <a:rPr baseline="-25000" i="1" lang="en-US" sz="2400">
                  <a:solidFill>
                    <a:schemeClr val="dk1"/>
                  </a:solidFill>
                  <a:latin typeface="Arial"/>
                  <a:ea typeface="Arial"/>
                  <a:cs typeface="Arial"/>
                  <a:sym typeface="Arial"/>
                </a:rPr>
                <a:t>g</a:t>
              </a:r>
              <a:endParaRPr baseline="-25000" i="1" sz="2400">
                <a:solidFill>
                  <a:schemeClr val="dk1"/>
                </a:solidFill>
                <a:latin typeface="Arial"/>
                <a:ea typeface="Arial"/>
                <a:cs typeface="Arial"/>
                <a:sym typeface="Arial"/>
              </a:endParaRPr>
            </a:p>
          </p:txBody>
        </p:sp>
      </p:grpSp>
      <p:sp>
        <p:nvSpPr>
          <p:cNvPr id="1064" name="Google Shape;1064;p37"/>
          <p:cNvSpPr txBox="1"/>
          <p:nvPr/>
        </p:nvSpPr>
        <p:spPr>
          <a:xfrm>
            <a:off x="7532688" y="984250"/>
            <a:ext cx="877887"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0</a:t>
            </a:r>
            <a:endParaRPr b="1" sz="2400">
              <a:solidFill>
                <a:schemeClr val="dk1"/>
              </a:solidFill>
              <a:latin typeface="Arial"/>
              <a:ea typeface="Arial"/>
              <a:cs typeface="Arial"/>
              <a:sym typeface="Arial"/>
            </a:endParaRPr>
          </a:p>
        </p:txBody>
      </p:sp>
      <p:sp>
        <p:nvSpPr>
          <p:cNvPr id="1065" name="Google Shape;1065;p37"/>
          <p:cNvSpPr/>
          <p:nvPr/>
        </p:nvSpPr>
        <p:spPr>
          <a:xfrm>
            <a:off x="8561388" y="1139825"/>
            <a:ext cx="120650" cy="120650"/>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6">
                                            <p:txEl>
                                              <p:pRg end="0" st="0"/>
                                            </p:txEl>
                                          </p:spTgt>
                                        </p:tgtEl>
                                        <p:attrNameLst>
                                          <p:attrName>style.visibility</p:attrName>
                                        </p:attrNameLst>
                                      </p:cBhvr>
                                      <p:to>
                                        <p:strVal val="visible"/>
                                      </p:to>
                                    </p:set>
                                    <p:anim calcmode="lin" valueType="num">
                                      <p:cBhvr additive="base">
                                        <p:cTn dur="500"/>
                                        <p:tgtEl>
                                          <p:spTgt spid="104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6">
                                            <p:txEl>
                                              <p:pRg end="1" st="1"/>
                                            </p:txEl>
                                          </p:spTgt>
                                        </p:tgtEl>
                                        <p:attrNameLst>
                                          <p:attrName>style.visibility</p:attrName>
                                        </p:attrNameLst>
                                      </p:cBhvr>
                                      <p:to>
                                        <p:strVal val="visible"/>
                                      </p:to>
                                    </p:set>
                                    <p:anim calcmode="lin" valueType="num">
                                      <p:cBhvr additive="base">
                                        <p:cTn dur="500"/>
                                        <p:tgtEl>
                                          <p:spTgt spid="104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6">
                                            <p:txEl>
                                              <p:pRg end="2" st="2"/>
                                            </p:txEl>
                                          </p:spTgt>
                                        </p:tgtEl>
                                        <p:attrNameLst>
                                          <p:attrName>style.visibility</p:attrName>
                                        </p:attrNameLst>
                                      </p:cBhvr>
                                      <p:to>
                                        <p:strVal val="visible"/>
                                      </p:to>
                                    </p:set>
                                    <p:anim calcmode="lin" valueType="num">
                                      <p:cBhvr additive="base">
                                        <p:cTn dur="500"/>
                                        <p:tgtEl>
                                          <p:spTgt spid="104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6">
                                            <p:txEl>
                                              <p:pRg end="3" st="3"/>
                                            </p:txEl>
                                          </p:spTgt>
                                        </p:tgtEl>
                                        <p:attrNameLst>
                                          <p:attrName>style.visibility</p:attrName>
                                        </p:attrNameLst>
                                      </p:cBhvr>
                                      <p:to>
                                        <p:strVal val="visible"/>
                                      </p:to>
                                    </p:set>
                                    <p:anim calcmode="lin" valueType="num">
                                      <p:cBhvr additive="base">
                                        <p:cTn dur="500"/>
                                        <p:tgtEl>
                                          <p:spTgt spid="104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6">
                                            <p:txEl>
                                              <p:pRg end="4" st="4"/>
                                            </p:txEl>
                                          </p:spTgt>
                                        </p:tgtEl>
                                        <p:attrNameLst>
                                          <p:attrName>style.visibility</p:attrName>
                                        </p:attrNameLst>
                                      </p:cBhvr>
                                      <p:to>
                                        <p:strVal val="visible"/>
                                      </p:to>
                                    </p:set>
                                    <p:anim calcmode="lin" valueType="num">
                                      <p:cBhvr additive="base">
                                        <p:cTn dur="500"/>
                                        <p:tgtEl>
                                          <p:spTgt spid="104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6">
                                            <p:txEl>
                                              <p:pRg end="5" st="5"/>
                                            </p:txEl>
                                          </p:spTgt>
                                        </p:tgtEl>
                                        <p:attrNameLst>
                                          <p:attrName>style.visibility</p:attrName>
                                        </p:attrNameLst>
                                      </p:cBhvr>
                                      <p:to>
                                        <p:strVal val="visible"/>
                                      </p:to>
                                    </p:set>
                                    <p:anim calcmode="lin" valueType="num">
                                      <p:cBhvr additive="base">
                                        <p:cTn dur="500"/>
                                        <p:tgtEl>
                                          <p:spTgt spid="104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6">
                                            <p:txEl>
                                              <p:pRg end="6" st="6"/>
                                            </p:txEl>
                                          </p:spTgt>
                                        </p:tgtEl>
                                        <p:attrNameLst>
                                          <p:attrName>style.visibility</p:attrName>
                                        </p:attrNameLst>
                                      </p:cBhvr>
                                      <p:to>
                                        <p:strVal val="visible"/>
                                      </p:to>
                                    </p:set>
                                    <p:anim calcmode="lin" valueType="num">
                                      <p:cBhvr additive="base">
                                        <p:cTn dur="500"/>
                                        <p:tgtEl>
                                          <p:spTgt spid="104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
                                        </p:tgtEl>
                                        <p:attrNameLst>
                                          <p:attrName>style.visibility</p:attrName>
                                        </p:attrNameLst>
                                      </p:cBhvr>
                                      <p:to>
                                        <p:strVal val="visible"/>
                                      </p:to>
                                    </p:set>
                                    <p:animEffect filter="fade" transition="in">
                                      <p:cBhvr>
                                        <p:cTn dur="500"/>
                                        <p:tgtEl>
                                          <p:spTgt spid="1048"/>
                                        </p:tgtEl>
                                      </p:cBhvr>
                                    </p:animEffect>
                                  </p:childTnLst>
                                </p:cTn>
                              </p:par>
                              <p:par>
                                <p:cTn fill="hold" nodeType="withEffect" presetClass="entr" presetID="10" presetSubtype="0">
                                  <p:stCondLst>
                                    <p:cond delay="0"/>
                                  </p:stCondLst>
                                  <p:childTnLst>
                                    <p:set>
                                      <p:cBhvr>
                                        <p:cTn dur="1" fill="hold">
                                          <p:stCondLst>
                                            <p:cond delay="0"/>
                                          </p:stCondLst>
                                        </p:cTn>
                                        <p:tgtEl>
                                          <p:spTgt spid="1049"/>
                                        </p:tgtEl>
                                        <p:attrNameLst>
                                          <p:attrName>style.visibility</p:attrName>
                                        </p:attrNameLst>
                                      </p:cBhvr>
                                      <p:to>
                                        <p:strVal val="visible"/>
                                      </p:to>
                                    </p:set>
                                    <p:animEffect filter="fade" transition="in">
                                      <p:cBhvr>
                                        <p:cTn dur="500"/>
                                        <p:tgtEl>
                                          <p:spTgt spid="104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50"/>
                                        </p:tgtEl>
                                        <p:attrNameLst>
                                          <p:attrName>style.visibility</p:attrName>
                                        </p:attrNameLst>
                                      </p:cBhvr>
                                      <p:to>
                                        <p:strVal val="visible"/>
                                      </p:to>
                                    </p:set>
                                    <p:animEffect filter="fade" transition="in">
                                      <p:cBhvr>
                                        <p:cTn dur="500"/>
                                        <p:tgtEl>
                                          <p:spTgt spid="1050"/>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1048"/>
                                        </p:tgtEl>
                                      </p:cBhvr>
                                    </p:animEffect>
                                    <p:set>
                                      <p:cBhvr>
                                        <p:cTn dur="1" fill="hold">
                                          <p:stCondLst>
                                            <p:cond delay="500"/>
                                          </p:stCondLst>
                                        </p:cTn>
                                        <p:tgtEl>
                                          <p:spTgt spid="104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55"/>
                                        </p:tgtEl>
                                        <p:attrNameLst>
                                          <p:attrName>style.visibility</p:attrName>
                                        </p:attrNameLst>
                                      </p:cBhvr>
                                      <p:to>
                                        <p:strVal val="visible"/>
                                      </p:to>
                                    </p:set>
                                    <p:anim calcmode="lin" valueType="num">
                                      <p:cBhvr additive="base">
                                        <p:cTn dur="500"/>
                                        <p:tgtEl>
                                          <p:spTgt spid="1055"/>
                                        </p:tgtEl>
                                        <p:attrNameLst>
                                          <p:attrName>ppt_w</p:attrName>
                                        </p:attrNameLst>
                                      </p:cBhvr>
                                      <p:tavLst>
                                        <p:tav fmla="" tm="0">
                                          <p:val>
                                            <p:strVal val="0"/>
                                          </p:val>
                                        </p:tav>
                                        <p:tav fmla="" tm="100000">
                                          <p:val>
                                            <p:strVal val="#ppt_w"/>
                                          </p:val>
                                        </p:tav>
                                      </p:tavLst>
                                    </p:anim>
                                    <p:anim calcmode="lin" valueType="num">
                                      <p:cBhvr additive="base">
                                        <p:cTn dur="500"/>
                                        <p:tgtEl>
                                          <p:spTgt spid="105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65"/>
                                        </p:tgtEl>
                                        <p:attrNameLst>
                                          <p:attrName>style.visibility</p:attrName>
                                        </p:attrNameLst>
                                      </p:cBhvr>
                                      <p:to>
                                        <p:strVal val="visible"/>
                                      </p:to>
                                    </p:set>
                                    <p:anim calcmode="lin" valueType="num">
                                      <p:cBhvr additive="base">
                                        <p:cTn dur="500"/>
                                        <p:tgtEl>
                                          <p:spTgt spid="1065"/>
                                        </p:tgtEl>
                                        <p:attrNameLst>
                                          <p:attrName>ppt_w</p:attrName>
                                        </p:attrNameLst>
                                      </p:cBhvr>
                                      <p:tavLst>
                                        <p:tav fmla="" tm="0">
                                          <p:val>
                                            <p:strVal val="0"/>
                                          </p:val>
                                        </p:tav>
                                        <p:tav fmla="" tm="100000">
                                          <p:val>
                                            <p:strVal val="#ppt_w"/>
                                          </p:val>
                                        </p:tav>
                                      </p:tavLst>
                                    </p:anim>
                                    <p:anim calcmode="lin" valueType="num">
                                      <p:cBhvr additive="base">
                                        <p:cTn dur="500"/>
                                        <p:tgtEl>
                                          <p:spTgt spid="106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1"/>
                                        </p:tgtEl>
                                        <p:attrNameLst>
                                          <p:attrName>style.visibility</p:attrName>
                                        </p:attrNameLst>
                                      </p:cBhvr>
                                      <p:to>
                                        <p:strVal val="visible"/>
                                      </p:to>
                                    </p:set>
                                    <p:animEffect filter="fade" transition="in">
                                      <p:cBhvr>
                                        <p:cTn dur="500"/>
                                        <p:tgtEl>
                                          <p:spTgt spid="10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gtEl>
                                        <p:attrNameLst>
                                          <p:attrName>style.visibility</p:attrName>
                                        </p:attrNameLst>
                                      </p:cBhvr>
                                      <p:to>
                                        <p:strVal val="visible"/>
                                      </p:to>
                                    </p:set>
                                    <p:animEffect filter="fade" transition="in">
                                      <p:cBhvr>
                                        <p:cTn dur="500"/>
                                        <p:tgtEl>
                                          <p:spTgt spid="10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4"/>
                                        </p:tgtEl>
                                        <p:attrNameLst>
                                          <p:attrName>style.visibility</p:attrName>
                                        </p:attrNameLst>
                                      </p:cBhvr>
                                      <p:to>
                                        <p:strVal val="visible"/>
                                      </p:to>
                                    </p:set>
                                    <p:animEffect filter="fade" transition="in">
                                      <p:cBhvr>
                                        <p:cTn dur="500"/>
                                        <p:tgtEl>
                                          <p:spTgt spid="10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51"/>
                                        </p:tgtEl>
                                        <p:attrNameLst>
                                          <p:attrName>style.visibility</p:attrName>
                                        </p:attrNameLst>
                                      </p:cBhvr>
                                      <p:to>
                                        <p:strVal val="visible"/>
                                      </p:to>
                                    </p:set>
                                    <p:anim calcmode="lin" valueType="num">
                                      <p:cBhvr additive="base">
                                        <p:cTn dur="500"/>
                                        <p:tgtEl>
                                          <p:spTgt spid="1051"/>
                                        </p:tgtEl>
                                        <p:attrNameLst>
                                          <p:attrName>ppt_w</p:attrName>
                                        </p:attrNameLst>
                                      </p:cBhvr>
                                      <p:tavLst>
                                        <p:tav fmla="" tm="0">
                                          <p:val>
                                            <p:strVal val="0"/>
                                          </p:val>
                                        </p:tav>
                                        <p:tav fmla="" tm="100000">
                                          <p:val>
                                            <p:strVal val="#ppt_w"/>
                                          </p:val>
                                        </p:tav>
                                      </p:tavLst>
                                    </p:anim>
                                    <p:anim calcmode="lin" valueType="num">
                                      <p:cBhvr additive="base">
                                        <p:cTn dur="500"/>
                                        <p:tgtEl>
                                          <p:spTgt spid="105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38"/>
          <p:cNvSpPr/>
          <p:nvPr/>
        </p:nvSpPr>
        <p:spPr>
          <a:xfrm>
            <a:off x="674688" y="2606675"/>
            <a:ext cx="6097587" cy="4251325"/>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Consider a crane which lifts a 2000-kg weight 18 m above its original resting place. What is the change in gravitational potential energy of the weight?</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The change in gravitational potential energy is just</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h</a:t>
            </a:r>
            <a:r>
              <a:rPr lang="en-US" sz="2400">
                <a:solidFill>
                  <a:schemeClr val="dk1"/>
                </a:solidFill>
                <a:latin typeface="Arial"/>
                <a:ea typeface="Arial"/>
                <a:cs typeface="Arial"/>
                <a:sym typeface="Arial"/>
              </a:rPr>
              <a:t> = 2000(10)(18) = 360000 J.</a:t>
            </a:r>
            <a:endParaRPr sz="2400">
              <a:solidFill>
                <a:schemeClr val="dk1"/>
              </a:solidFill>
              <a:latin typeface="Arial"/>
              <a:ea typeface="Arial"/>
              <a:cs typeface="Arial"/>
              <a:sym typeface="Arial"/>
            </a:endParaRPr>
          </a:p>
        </p:txBody>
      </p:sp>
      <p:sp>
        <p:nvSpPr>
          <p:cNvPr id="1072" name="Google Shape;1072;p38"/>
          <p:cNvSpPr/>
          <p:nvPr/>
        </p:nvSpPr>
        <p:spPr>
          <a:xfrm>
            <a:off x="685800" y="5973763"/>
            <a:ext cx="6086475" cy="884237"/>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Note that the units for </a:t>
            </a:r>
            <a:r>
              <a:rPr lang="en-US" sz="2400">
                <a:solidFill>
                  <a:srgbClr val="000000"/>
                </a:solidFill>
                <a:latin typeface="Arial"/>
                <a:ea typeface="Arial"/>
                <a:cs typeface="Arial"/>
                <a:sym typeface="Arial"/>
              </a:rPr>
              <a:t>∆</a:t>
            </a:r>
            <a:r>
              <a:rPr i="1" lang="en-US" sz="2400">
                <a:solidFill>
                  <a:srgbClr val="000000"/>
                </a:solidFill>
                <a:latin typeface="Arial"/>
                <a:ea typeface="Arial"/>
                <a:cs typeface="Arial"/>
                <a:sym typeface="Arial"/>
              </a:rPr>
              <a:t>E</a:t>
            </a:r>
            <a:r>
              <a:rPr baseline="-25000" lang="en-US" sz="2400">
                <a:solidFill>
                  <a:srgbClr val="000000"/>
                </a:solidFill>
                <a:latin typeface="Arial"/>
                <a:ea typeface="Arial"/>
                <a:cs typeface="Arial"/>
                <a:sym typeface="Arial"/>
              </a:rPr>
              <a:t>P</a:t>
            </a:r>
            <a:r>
              <a:rPr lang="en-US" sz="2400">
                <a:solidFill>
                  <a:srgbClr val="000000"/>
                </a:solidFill>
                <a:latin typeface="Arial"/>
                <a:ea typeface="Arial"/>
                <a:cs typeface="Arial"/>
                <a:sym typeface="Arial"/>
              </a:rPr>
              <a:t> are those of both </a:t>
            </a:r>
            <a:r>
              <a:rPr i="1" lang="en-US" sz="2400">
                <a:solidFill>
                  <a:srgbClr val="000000"/>
                </a:solidFill>
                <a:latin typeface="Arial"/>
                <a:ea typeface="Arial"/>
                <a:cs typeface="Arial"/>
                <a:sym typeface="Arial"/>
              </a:rPr>
              <a:t>work</a:t>
            </a:r>
            <a:r>
              <a:rPr lang="en-US" sz="2400">
                <a:solidFill>
                  <a:srgbClr val="000000"/>
                </a:solidFill>
                <a:latin typeface="Arial"/>
                <a:ea typeface="Arial"/>
                <a:cs typeface="Arial"/>
                <a:sym typeface="Arial"/>
              </a:rPr>
              <a:t> and </a:t>
            </a:r>
            <a:r>
              <a:rPr i="1" lang="en-US" sz="2400">
                <a:solidFill>
                  <a:srgbClr val="000000"/>
                </a:solidFill>
                <a:latin typeface="Arial"/>
                <a:ea typeface="Arial"/>
                <a:cs typeface="Arial"/>
                <a:sym typeface="Arial"/>
              </a:rPr>
              <a:t>kinetic energy</a:t>
            </a:r>
            <a:r>
              <a:rPr lang="en-US" sz="2400">
                <a:solidFill>
                  <a:srgbClr val="000000"/>
                </a:solidFill>
                <a:latin typeface="Arial"/>
                <a:ea typeface="Arial"/>
                <a:cs typeface="Arial"/>
                <a:sym typeface="Arial"/>
              </a:rPr>
              <a:t>.</a:t>
            </a:r>
            <a:r>
              <a:rPr lang="en-US" sz="2400">
                <a:solidFill>
                  <a:schemeClr val="dk1"/>
                </a:solidFill>
                <a:latin typeface="Arial"/>
                <a:ea typeface="Arial"/>
                <a:cs typeface="Arial"/>
                <a:sym typeface="Arial"/>
              </a:rPr>
              <a:t> </a:t>
            </a:r>
            <a:endParaRPr/>
          </a:p>
        </p:txBody>
      </p:sp>
      <p:sp>
        <p:nvSpPr>
          <p:cNvPr id="1073" name="Google Shape;1073;p38"/>
          <p:cNvSpPr/>
          <p:nvPr/>
        </p:nvSpPr>
        <p:spPr>
          <a:xfrm>
            <a:off x="685800" y="1549400"/>
            <a:ext cx="7772400" cy="10572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Gravitational potential energy </a:t>
            </a:r>
            <a:endParaRPr/>
          </a:p>
          <a:p>
            <a:pPr indent="0" lvl="0" marL="0" marR="0" rtl="0" algn="l">
              <a:spcBef>
                <a:spcPts val="400"/>
              </a:spcBef>
              <a:spcAft>
                <a:spcPts val="0"/>
              </a:spcAft>
              <a:buClr>
                <a:schemeClr val="dk1"/>
              </a:buClr>
              <a:buSzPts val="2000"/>
              <a:buFont typeface="Courier New"/>
              <a:buNone/>
            </a:pPr>
            <a:r>
              <a:rPr lang="en-US" sz="2000">
                <a:solidFill>
                  <a:schemeClr val="dk1"/>
                </a:solidFill>
                <a:latin typeface="Courier New"/>
                <a:ea typeface="Courier New"/>
                <a:cs typeface="Courier New"/>
                <a:sym typeface="Courier New"/>
              </a:rPr>
              <a:t>	</a:t>
            </a:r>
            <a:endParaRPr/>
          </a:p>
        </p:txBody>
      </p:sp>
      <p:sp>
        <p:nvSpPr>
          <p:cNvPr id="1074" name="Google Shape;1074;p38"/>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grpSp>
        <p:nvGrpSpPr>
          <p:cNvPr id="1075" name="Google Shape;1075;p38"/>
          <p:cNvGrpSpPr/>
          <p:nvPr/>
        </p:nvGrpSpPr>
        <p:grpSpPr>
          <a:xfrm>
            <a:off x="839788" y="2003425"/>
            <a:ext cx="7464425" cy="461963"/>
            <a:chOff x="839787" y="6266774"/>
            <a:chExt cx="7464426" cy="461665"/>
          </a:xfrm>
        </p:grpSpPr>
        <p:sp>
          <p:nvSpPr>
            <p:cNvPr id="1076" name="Google Shape;1076;p38"/>
            <p:cNvSpPr/>
            <p:nvPr/>
          </p:nvSpPr>
          <p:spPr>
            <a:xfrm>
              <a:off x="946149" y="6276293"/>
              <a:ext cx="2368550" cy="39661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h</a:t>
              </a:r>
              <a:endParaRPr i="1" sz="2400">
                <a:solidFill>
                  <a:schemeClr val="dk1"/>
                </a:solidFill>
                <a:latin typeface="Arial"/>
                <a:ea typeface="Arial"/>
                <a:cs typeface="Arial"/>
                <a:sym typeface="Arial"/>
              </a:endParaRPr>
            </a:p>
          </p:txBody>
        </p:sp>
        <p:sp>
          <p:nvSpPr>
            <p:cNvPr id="1077" name="Google Shape;1077;p38"/>
            <p:cNvSpPr txBox="1"/>
            <p:nvPr/>
          </p:nvSpPr>
          <p:spPr>
            <a:xfrm>
              <a:off x="3078162" y="6266774"/>
              <a:ext cx="5226051"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gravitational potential energy </a:t>
              </a:r>
              <a:r>
                <a:rPr lang="en-US" sz="2400">
                  <a:solidFill>
                    <a:srgbClr val="FFFFFF"/>
                  </a:solidFill>
                  <a:latin typeface="Arial"/>
                  <a:ea typeface="Arial"/>
                  <a:cs typeface="Arial"/>
                  <a:sym typeface="Arial"/>
                </a:rPr>
                <a:t>change</a:t>
              </a:r>
              <a:endParaRPr sz="2400">
                <a:solidFill>
                  <a:schemeClr val="lt1"/>
                </a:solidFill>
                <a:latin typeface="Arial"/>
                <a:ea typeface="Arial"/>
                <a:cs typeface="Arial"/>
                <a:sym typeface="Arial"/>
              </a:endParaRPr>
            </a:p>
          </p:txBody>
        </p:sp>
        <p:sp>
          <p:nvSpPr>
            <p:cNvPr id="1078" name="Google Shape;1078;p38"/>
            <p:cNvSpPr/>
            <p:nvPr/>
          </p:nvSpPr>
          <p:spPr>
            <a:xfrm>
              <a:off x="839787" y="6269947"/>
              <a:ext cx="7462838"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pic>
        <p:nvPicPr>
          <p:cNvPr id="1079" name="Google Shape;1079;p38"/>
          <p:cNvPicPr preferRelativeResize="0"/>
          <p:nvPr/>
        </p:nvPicPr>
        <p:blipFill rotWithShape="1">
          <a:blip r:embed="rId3">
            <a:alphaModFix/>
          </a:blip>
          <a:srcRect b="0" l="0" r="0" t="0"/>
          <a:stretch/>
        </p:blipFill>
        <p:spPr>
          <a:xfrm>
            <a:off x="6611938" y="3057525"/>
            <a:ext cx="2619375" cy="3800475"/>
          </a:xfrm>
          <a:prstGeom prst="rect">
            <a:avLst/>
          </a:prstGeom>
          <a:noFill/>
          <a:ln>
            <a:noFill/>
          </a:ln>
          <a:effectLst>
            <a:outerShdw blurRad="292100" rotWithShape="0" algn="tl" dir="2700000" dist="139700">
              <a:srgbClr val="333333">
                <a:alpha val="64705"/>
              </a:srgbClr>
            </a:outerShdw>
          </a:effectLst>
        </p:spPr>
      </p:pic>
      <p:cxnSp>
        <p:nvCxnSpPr>
          <p:cNvPr id="1080" name="Google Shape;1080;p38"/>
          <p:cNvCxnSpPr/>
          <p:nvPr/>
        </p:nvCxnSpPr>
        <p:spPr>
          <a:xfrm rot="10800000">
            <a:off x="6924675" y="3200400"/>
            <a:ext cx="0" cy="3001963"/>
          </a:xfrm>
          <a:prstGeom prst="straightConnector1">
            <a:avLst/>
          </a:prstGeom>
          <a:noFill/>
          <a:ln cap="flat" cmpd="sng" w="15875">
            <a:solidFill>
              <a:schemeClr val="dk1"/>
            </a:solidFill>
            <a:prstDash val="solid"/>
            <a:round/>
            <a:headEnd len="sm" w="sm" type="none"/>
            <a:tailEnd len="sm" w="sm" type="none"/>
          </a:ln>
        </p:spPr>
      </p:cxnSp>
      <p:grpSp>
        <p:nvGrpSpPr>
          <p:cNvPr id="1081" name="Google Shape;1081;p38"/>
          <p:cNvGrpSpPr/>
          <p:nvPr/>
        </p:nvGrpSpPr>
        <p:grpSpPr>
          <a:xfrm>
            <a:off x="6599238" y="6202363"/>
            <a:ext cx="666750" cy="1928812"/>
            <a:chOff x="6599663" y="6203092"/>
            <a:chExt cx="666493" cy="1927675"/>
          </a:xfrm>
        </p:grpSpPr>
        <p:sp>
          <p:nvSpPr>
            <p:cNvPr id="1082" name="Google Shape;1082;p38"/>
            <p:cNvSpPr/>
            <p:nvPr/>
          </p:nvSpPr>
          <p:spPr>
            <a:xfrm>
              <a:off x="6845630" y="6506125"/>
              <a:ext cx="209469" cy="162464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Courier New"/>
                <a:ea typeface="Courier New"/>
                <a:cs typeface="Courier New"/>
                <a:sym typeface="Courier New"/>
              </a:endParaRPr>
            </a:p>
          </p:txBody>
        </p:sp>
        <p:pic>
          <p:nvPicPr>
            <p:cNvPr descr="https://encrypted-tbn1.gstatic.com/images?q=tbn:ANd9GcRtI-woN69bwo7Ngjzou62oItyv6Yn09ifWwmb9QM8t1D50s4njNuZ6yAKo" id="1083" name="Google Shape;1083;p38">
              <a:hlinkClick r:id="rId4"/>
            </p:cNvPr>
            <p:cNvPicPr preferRelativeResize="0"/>
            <p:nvPr/>
          </p:nvPicPr>
          <p:blipFill rotWithShape="1">
            <a:blip r:embed="rId5">
              <a:alphaModFix/>
            </a:blip>
            <a:srcRect b="0" l="0" r="0" t="0"/>
            <a:stretch/>
          </p:blipFill>
          <p:spPr>
            <a:xfrm>
              <a:off x="6599663" y="6320498"/>
              <a:ext cx="666493" cy="636212"/>
            </a:xfrm>
            <a:prstGeom prst="rect">
              <a:avLst/>
            </a:prstGeom>
            <a:noFill/>
            <a:ln>
              <a:noFill/>
            </a:ln>
            <a:effectLst>
              <a:outerShdw blurRad="292100" rotWithShape="0" algn="tl" dir="2700000" dist="139700">
                <a:srgbClr val="333333">
                  <a:alpha val="64705"/>
                </a:srgbClr>
              </a:outerShdw>
            </a:effectLst>
          </p:spPr>
        </p:pic>
        <p:cxnSp>
          <p:nvCxnSpPr>
            <p:cNvPr id="1084" name="Google Shape;1084;p38"/>
            <p:cNvCxnSpPr/>
            <p:nvPr/>
          </p:nvCxnSpPr>
          <p:spPr>
            <a:xfrm rot="10800000">
              <a:off x="6920214" y="6203092"/>
              <a:ext cx="0" cy="303033"/>
            </a:xfrm>
            <a:prstGeom prst="straightConnector1">
              <a:avLst/>
            </a:prstGeom>
            <a:noFill/>
            <a:ln cap="flat" cmpd="sng" w="15875">
              <a:solidFill>
                <a:schemeClr val="dk1"/>
              </a:solidFill>
              <a:prstDash val="solid"/>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075"/>
                                        </p:tgtEl>
                                        <p:attrNameLst>
                                          <p:attrName>style.visibility</p:attrName>
                                        </p:attrNameLst>
                                      </p:cBhvr>
                                      <p:to>
                                        <p:strVal val="visible"/>
                                      </p:to>
                                    </p:set>
                                    <p:anim calcmode="lin" valueType="num">
                                      <p:cBhvr additive="base">
                                        <p:cTn dur="500"/>
                                        <p:tgtEl>
                                          <p:spTgt spid="1075"/>
                                        </p:tgtEl>
                                        <p:attrNameLst>
                                          <p:attrName>ppt_w</p:attrName>
                                        </p:attrNameLst>
                                      </p:cBhvr>
                                      <p:tavLst>
                                        <p:tav fmla="" tm="0">
                                          <p:val>
                                            <p:strVal val="0"/>
                                          </p:val>
                                        </p:tav>
                                        <p:tav fmla="" tm="100000">
                                          <p:val>
                                            <p:strVal val="#ppt_w"/>
                                          </p:val>
                                        </p:tav>
                                      </p:tavLst>
                                    </p:anim>
                                    <p:anim calcmode="lin" valueType="num">
                                      <p:cBhvr additive="base">
                                        <p:cTn dur="500"/>
                                        <p:tgtEl>
                                          <p:spTgt spid="107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1">
                                            <p:txEl>
                                              <p:pRg end="0" st="0"/>
                                            </p:txEl>
                                          </p:spTgt>
                                        </p:tgtEl>
                                        <p:attrNameLst>
                                          <p:attrName>style.visibility</p:attrName>
                                        </p:attrNameLst>
                                      </p:cBhvr>
                                      <p:to>
                                        <p:strVal val="visible"/>
                                      </p:to>
                                    </p:set>
                                    <p:anim calcmode="lin" valueType="num">
                                      <p:cBhvr additive="base">
                                        <p:cTn dur="500"/>
                                        <p:tgtEl>
                                          <p:spTgt spid="107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1">
                                            <p:txEl>
                                              <p:pRg end="1" st="1"/>
                                            </p:txEl>
                                          </p:spTgt>
                                        </p:tgtEl>
                                        <p:attrNameLst>
                                          <p:attrName>style.visibility</p:attrName>
                                        </p:attrNameLst>
                                      </p:cBhvr>
                                      <p:to>
                                        <p:strVal val="visible"/>
                                      </p:to>
                                    </p:set>
                                    <p:anim calcmode="lin" valueType="num">
                                      <p:cBhvr additive="base">
                                        <p:cTn dur="500"/>
                                        <p:tgtEl>
                                          <p:spTgt spid="107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1">
                                            <p:txEl>
                                              <p:pRg end="2" st="2"/>
                                            </p:txEl>
                                          </p:spTgt>
                                        </p:tgtEl>
                                        <p:attrNameLst>
                                          <p:attrName>style.visibility</p:attrName>
                                        </p:attrNameLst>
                                      </p:cBhvr>
                                      <p:to>
                                        <p:strVal val="visible"/>
                                      </p:to>
                                    </p:set>
                                    <p:anim calcmode="lin" valueType="num">
                                      <p:cBhvr additive="base">
                                        <p:cTn dur="500"/>
                                        <p:tgtEl>
                                          <p:spTgt spid="107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1">
                                            <p:txEl>
                                              <p:pRg end="3" st="3"/>
                                            </p:txEl>
                                          </p:spTgt>
                                        </p:tgtEl>
                                        <p:attrNameLst>
                                          <p:attrName>style.visibility</p:attrName>
                                        </p:attrNameLst>
                                      </p:cBhvr>
                                      <p:to>
                                        <p:strVal val="visible"/>
                                      </p:to>
                                    </p:set>
                                    <p:anim calcmode="lin" valueType="num">
                                      <p:cBhvr additive="base">
                                        <p:cTn dur="500"/>
                                        <p:tgtEl>
                                          <p:spTgt spid="1071">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079"/>
                                        </p:tgtEl>
                                        <p:attrNameLst>
                                          <p:attrName>style.visibility</p:attrName>
                                        </p:attrNameLst>
                                      </p:cBhvr>
                                      <p:to>
                                        <p:strVal val="visible"/>
                                      </p:to>
                                    </p:set>
                                    <p:animEffect filter="fade" transition="in">
                                      <p:cBhvr>
                                        <p:cTn dur="2000"/>
                                        <p:tgtEl>
                                          <p:spTgt spid="1079"/>
                                        </p:tgtEl>
                                      </p:cBhvr>
                                    </p:animEffect>
                                  </p:childTnLst>
                                </p:cTn>
                              </p:par>
                              <p:par>
                                <p:cTn fill="hold" nodeType="withEffect" presetClass="entr" presetID="10" presetSubtype="0">
                                  <p:stCondLst>
                                    <p:cond delay="0"/>
                                  </p:stCondLst>
                                  <p:childTnLst>
                                    <p:set>
                                      <p:cBhvr>
                                        <p:cTn dur="1" fill="hold">
                                          <p:stCondLst>
                                            <p:cond delay="0"/>
                                          </p:stCondLst>
                                        </p:cTn>
                                        <p:tgtEl>
                                          <p:spTgt spid="1081"/>
                                        </p:tgtEl>
                                        <p:attrNameLst>
                                          <p:attrName>style.visibility</p:attrName>
                                        </p:attrNameLst>
                                      </p:cBhvr>
                                      <p:to>
                                        <p:strVal val="visible"/>
                                      </p:to>
                                    </p:set>
                                    <p:animEffect filter="fade" transition="in">
                                      <p:cBhvr>
                                        <p:cTn dur="2000"/>
                                        <p:tgtEl>
                                          <p:spTgt spid="1081"/>
                                        </p:tgtEl>
                                      </p:cBhvr>
                                    </p:animEffect>
                                  </p:childTnLst>
                                </p:cTn>
                              </p:par>
                              <p:par>
                                <p:cTn fill="hold" nodeType="withEffect" presetClass="entr" presetID="10" presetSubtype="0">
                                  <p:stCondLst>
                                    <p:cond delay="0"/>
                                  </p:stCondLst>
                                  <p:childTnLst>
                                    <p:set>
                                      <p:cBhvr>
                                        <p:cTn dur="1" fill="hold">
                                          <p:stCondLst>
                                            <p:cond delay="0"/>
                                          </p:stCondLst>
                                        </p:cTn>
                                        <p:tgtEl>
                                          <p:spTgt spid="1080"/>
                                        </p:tgtEl>
                                        <p:attrNameLst>
                                          <p:attrName>style.visibility</p:attrName>
                                        </p:attrNameLst>
                                      </p:cBhvr>
                                      <p:to>
                                        <p:strVal val="visible"/>
                                      </p:to>
                                    </p:set>
                                    <p:animEffect filter="fade" transition="in">
                                      <p:cBhvr>
                                        <p:cTn dur="2000"/>
                                        <p:tgtEl>
                                          <p:spTgt spid="10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2">
                                            <p:txEl>
                                              <p:pRg end="0" st="0"/>
                                            </p:txEl>
                                          </p:spTgt>
                                        </p:tgtEl>
                                        <p:attrNameLst>
                                          <p:attrName>style.visibility</p:attrName>
                                        </p:attrNameLst>
                                      </p:cBhvr>
                                      <p:to>
                                        <p:strVal val="visible"/>
                                      </p:to>
                                    </p:set>
                                    <p:anim calcmode="lin" valueType="num">
                                      <p:cBhvr additive="base">
                                        <p:cTn dur="500"/>
                                        <p:tgtEl>
                                          <p:spTgt spid="107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39"/>
          <p:cNvSpPr/>
          <p:nvPr/>
        </p:nvSpPr>
        <p:spPr>
          <a:xfrm>
            <a:off x="674688" y="2606675"/>
            <a:ext cx="6097587" cy="4251325"/>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Consider a crane which lifts a 2000-kg weight 18 m above its original resting place. How much work does the crane do?</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The force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 = 2000(10) = 20000 N ↑.</a:t>
            </a:r>
            <a:endParaRPr sz="2400">
              <a:solidFill>
                <a:schemeClr val="dk1"/>
              </a:solidFill>
              <a:latin typeface="Arial"/>
              <a:ea typeface="Arial"/>
              <a:cs typeface="Arial"/>
              <a:sym typeface="Arial"/>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The displacement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18 m </a:t>
            </a:r>
            <a:r>
              <a:rPr lang="en-US" sz="2400">
                <a:solidFill>
                  <a:schemeClr val="dk1"/>
                </a:solidFill>
                <a:latin typeface="Courier New"/>
                <a:ea typeface="Courier New"/>
                <a:cs typeface="Courier New"/>
                <a:sym typeface="Courier New"/>
              </a:rPr>
              <a:t>↑</a:t>
            </a:r>
            <a:r>
              <a:rPr lang="en-US" sz="2400">
                <a:solidFill>
                  <a:schemeClr val="dk1"/>
                </a:solidFill>
                <a:latin typeface="Arial"/>
                <a:ea typeface="Arial"/>
                <a:cs typeface="Arial"/>
                <a:sym typeface="Arial"/>
              </a:rPr>
              <a:t>.</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Then </a:t>
            </a:r>
            <a:r>
              <a:rPr i="1" lang="en-US" sz="2400">
                <a:solidFill>
                  <a:srgbClr val="000000"/>
                </a:solidFill>
                <a:latin typeface="Arial"/>
                <a:ea typeface="Arial"/>
                <a:cs typeface="Arial"/>
                <a:sym typeface="Arial"/>
              </a:rPr>
              <a:t>W</a:t>
            </a:r>
            <a:r>
              <a:rPr lang="en-US" sz="2400">
                <a:solidFill>
                  <a:srgbClr val="000000"/>
                </a:solidFill>
                <a:latin typeface="Arial"/>
                <a:ea typeface="Arial"/>
                <a:cs typeface="Arial"/>
                <a:sym typeface="Arial"/>
              </a:rPr>
              <a:t> = </a:t>
            </a:r>
            <a:r>
              <a:rPr i="1" lang="en-US" sz="2400">
                <a:solidFill>
                  <a:srgbClr val="000000"/>
                </a:solidFill>
                <a:latin typeface="Arial"/>
                <a:ea typeface="Arial"/>
                <a:cs typeface="Arial"/>
                <a:sym typeface="Arial"/>
              </a:rPr>
              <a:t>Fs</a:t>
            </a:r>
            <a:r>
              <a:rPr lang="en-US" sz="2400">
                <a:solidFill>
                  <a:srgbClr val="000000"/>
                </a:solidFill>
                <a:latin typeface="Arial"/>
                <a:ea typeface="Arial"/>
                <a:cs typeface="Arial"/>
                <a:sym typeface="Arial"/>
              </a:rPr>
              <a:t> = 20000(18) = 360000 J.</a:t>
            </a:r>
            <a:endParaRPr i="1" sz="2400">
              <a:solidFill>
                <a:srgbClr val="000000"/>
              </a:solidFill>
              <a:latin typeface="Arial"/>
              <a:ea typeface="Arial"/>
              <a:cs typeface="Arial"/>
              <a:sym typeface="Arial"/>
            </a:endParaRPr>
          </a:p>
          <a:p>
            <a:pPr indent="0" lvl="0" marL="0" marR="0" rtl="0" algn="l">
              <a:spcBef>
                <a:spcPts val="48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091" name="Google Shape;1091;p39"/>
          <p:cNvSpPr/>
          <p:nvPr/>
        </p:nvSpPr>
        <p:spPr>
          <a:xfrm>
            <a:off x="685800" y="5973763"/>
            <a:ext cx="6086475" cy="884237"/>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Note that the </a:t>
            </a:r>
            <a:r>
              <a:rPr i="1" lang="en-US" sz="2400">
                <a:solidFill>
                  <a:schemeClr val="dk1"/>
                </a:solidFill>
                <a:latin typeface="Arial"/>
                <a:ea typeface="Arial"/>
                <a:cs typeface="Arial"/>
                <a:sym typeface="Arial"/>
              </a:rPr>
              <a:t>work done </a:t>
            </a:r>
            <a:r>
              <a:rPr lang="en-US" sz="2400">
                <a:solidFill>
                  <a:schemeClr val="dk1"/>
                </a:solidFill>
                <a:latin typeface="Arial"/>
                <a:ea typeface="Arial"/>
                <a:cs typeface="Arial"/>
                <a:sym typeface="Arial"/>
              </a:rPr>
              <a:t>by the crane is equal to the </a:t>
            </a:r>
            <a:r>
              <a:rPr i="1" lang="en-US" sz="2400">
                <a:solidFill>
                  <a:schemeClr val="dk1"/>
                </a:solidFill>
                <a:latin typeface="Arial"/>
                <a:ea typeface="Arial"/>
                <a:cs typeface="Arial"/>
                <a:sym typeface="Arial"/>
              </a:rPr>
              <a:t>change in potential energy</a:t>
            </a:r>
            <a:r>
              <a:rPr lang="en-US" sz="2400">
                <a:solidFill>
                  <a:schemeClr val="dk1"/>
                </a:solidFill>
                <a:latin typeface="Arial"/>
                <a:ea typeface="Arial"/>
                <a:cs typeface="Arial"/>
                <a:sym typeface="Arial"/>
              </a:rPr>
              <a:t>.</a:t>
            </a:r>
            <a:r>
              <a:rPr lang="en-US" sz="2400">
                <a:solidFill>
                  <a:srgbClr val="000000"/>
                </a:solidFill>
                <a:latin typeface="Arial"/>
                <a:ea typeface="Arial"/>
                <a:cs typeface="Arial"/>
                <a:sym typeface="Arial"/>
              </a:rPr>
              <a:t>.</a:t>
            </a:r>
            <a:r>
              <a:rPr lang="en-US" sz="2400">
                <a:solidFill>
                  <a:schemeClr val="dk1"/>
                </a:solidFill>
                <a:latin typeface="Arial"/>
                <a:ea typeface="Arial"/>
                <a:cs typeface="Arial"/>
                <a:sym typeface="Arial"/>
              </a:rPr>
              <a:t> </a:t>
            </a:r>
            <a:endParaRPr/>
          </a:p>
        </p:txBody>
      </p:sp>
      <p:sp>
        <p:nvSpPr>
          <p:cNvPr id="1092" name="Google Shape;1092;p39"/>
          <p:cNvSpPr/>
          <p:nvPr/>
        </p:nvSpPr>
        <p:spPr>
          <a:xfrm>
            <a:off x="685800" y="1549400"/>
            <a:ext cx="7772400" cy="10572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Work done as energy transfer</a:t>
            </a:r>
            <a:endParaRPr i="1" sz="2400">
              <a:solidFill>
                <a:srgbClr val="000000"/>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Courier New"/>
              <a:buNone/>
            </a:pPr>
            <a:r>
              <a:rPr lang="en-US" sz="2000">
                <a:solidFill>
                  <a:schemeClr val="dk1"/>
                </a:solidFill>
                <a:latin typeface="Courier New"/>
                <a:ea typeface="Courier New"/>
                <a:cs typeface="Courier New"/>
                <a:sym typeface="Courier New"/>
              </a:rPr>
              <a:t>	</a:t>
            </a:r>
            <a:endParaRPr/>
          </a:p>
        </p:txBody>
      </p:sp>
      <p:sp>
        <p:nvSpPr>
          <p:cNvPr id="1093" name="Google Shape;1093;p3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pic>
        <p:nvPicPr>
          <p:cNvPr id="1094" name="Google Shape;1094;p39"/>
          <p:cNvPicPr preferRelativeResize="0"/>
          <p:nvPr/>
        </p:nvPicPr>
        <p:blipFill rotWithShape="1">
          <a:blip r:embed="rId3">
            <a:alphaModFix/>
          </a:blip>
          <a:srcRect b="0" l="0" r="0" t="0"/>
          <a:stretch/>
        </p:blipFill>
        <p:spPr>
          <a:xfrm>
            <a:off x="6611938" y="3057525"/>
            <a:ext cx="2619375" cy="3800475"/>
          </a:xfrm>
          <a:prstGeom prst="rect">
            <a:avLst/>
          </a:prstGeom>
          <a:noFill/>
          <a:ln>
            <a:noFill/>
          </a:ln>
          <a:effectLst>
            <a:outerShdw blurRad="292100" rotWithShape="0" algn="tl" dir="2700000" dist="139700">
              <a:srgbClr val="333333">
                <a:alpha val="64705"/>
              </a:srgbClr>
            </a:outerShdw>
          </a:effectLst>
        </p:spPr>
      </p:pic>
      <p:cxnSp>
        <p:nvCxnSpPr>
          <p:cNvPr id="1095" name="Google Shape;1095;p39"/>
          <p:cNvCxnSpPr/>
          <p:nvPr/>
        </p:nvCxnSpPr>
        <p:spPr>
          <a:xfrm rot="10800000">
            <a:off x="6924675" y="3200400"/>
            <a:ext cx="0" cy="3001963"/>
          </a:xfrm>
          <a:prstGeom prst="straightConnector1">
            <a:avLst/>
          </a:prstGeom>
          <a:noFill/>
          <a:ln cap="flat" cmpd="sng" w="15875">
            <a:solidFill>
              <a:schemeClr val="dk1"/>
            </a:solidFill>
            <a:prstDash val="solid"/>
            <a:round/>
            <a:headEnd len="sm" w="sm" type="none"/>
            <a:tailEnd len="sm" w="sm" type="none"/>
          </a:ln>
        </p:spPr>
      </p:cxnSp>
      <p:grpSp>
        <p:nvGrpSpPr>
          <p:cNvPr id="1096" name="Google Shape;1096;p39"/>
          <p:cNvGrpSpPr/>
          <p:nvPr/>
        </p:nvGrpSpPr>
        <p:grpSpPr>
          <a:xfrm>
            <a:off x="6599238" y="6202363"/>
            <a:ext cx="666750" cy="1928812"/>
            <a:chOff x="6599663" y="6203092"/>
            <a:chExt cx="666493" cy="1927675"/>
          </a:xfrm>
        </p:grpSpPr>
        <p:sp>
          <p:nvSpPr>
            <p:cNvPr id="1097" name="Google Shape;1097;p39"/>
            <p:cNvSpPr/>
            <p:nvPr/>
          </p:nvSpPr>
          <p:spPr>
            <a:xfrm>
              <a:off x="6845630" y="6506125"/>
              <a:ext cx="209469" cy="162464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Courier New"/>
                <a:ea typeface="Courier New"/>
                <a:cs typeface="Courier New"/>
                <a:sym typeface="Courier New"/>
              </a:endParaRPr>
            </a:p>
          </p:txBody>
        </p:sp>
        <p:pic>
          <p:nvPicPr>
            <p:cNvPr descr="https://encrypted-tbn1.gstatic.com/images?q=tbn:ANd9GcRtI-woN69bwo7Ngjzou62oItyv6Yn09ifWwmb9QM8t1D50s4njNuZ6yAKo" id="1098" name="Google Shape;1098;p39">
              <a:hlinkClick r:id="rId4"/>
            </p:cNvPr>
            <p:cNvPicPr preferRelativeResize="0"/>
            <p:nvPr/>
          </p:nvPicPr>
          <p:blipFill rotWithShape="1">
            <a:blip r:embed="rId5">
              <a:alphaModFix/>
            </a:blip>
            <a:srcRect b="0" l="0" r="0" t="0"/>
            <a:stretch/>
          </p:blipFill>
          <p:spPr>
            <a:xfrm>
              <a:off x="6599663" y="6320498"/>
              <a:ext cx="666493" cy="636212"/>
            </a:xfrm>
            <a:prstGeom prst="rect">
              <a:avLst/>
            </a:prstGeom>
            <a:noFill/>
            <a:ln>
              <a:noFill/>
            </a:ln>
            <a:effectLst>
              <a:outerShdw blurRad="292100" rotWithShape="0" algn="tl" dir="2700000" dist="139700">
                <a:srgbClr val="333333">
                  <a:alpha val="64705"/>
                </a:srgbClr>
              </a:outerShdw>
            </a:effectLst>
          </p:spPr>
        </p:pic>
        <p:cxnSp>
          <p:nvCxnSpPr>
            <p:cNvPr id="1099" name="Google Shape;1099;p39"/>
            <p:cNvCxnSpPr/>
            <p:nvPr/>
          </p:nvCxnSpPr>
          <p:spPr>
            <a:xfrm rot="10800000">
              <a:off x="6920214" y="6203092"/>
              <a:ext cx="0" cy="303033"/>
            </a:xfrm>
            <a:prstGeom prst="straightConnector1">
              <a:avLst/>
            </a:prstGeom>
            <a:noFill/>
            <a:ln cap="flat" cmpd="sng" w="15875">
              <a:solidFill>
                <a:schemeClr val="dk1"/>
              </a:solidFill>
              <a:prstDash val="solid"/>
              <a:round/>
              <a:headEnd len="sm" w="sm" type="none"/>
              <a:tailEnd len="sm" w="sm" type="none"/>
            </a:ln>
          </p:spPr>
        </p:cxnSp>
      </p:grpSp>
      <p:grpSp>
        <p:nvGrpSpPr>
          <p:cNvPr id="1100" name="Google Shape;1100;p39"/>
          <p:cNvGrpSpPr/>
          <p:nvPr/>
        </p:nvGrpSpPr>
        <p:grpSpPr>
          <a:xfrm>
            <a:off x="828675" y="1978025"/>
            <a:ext cx="7464425" cy="461963"/>
            <a:chOff x="828675" y="4773612"/>
            <a:chExt cx="7464426" cy="461665"/>
          </a:xfrm>
        </p:grpSpPr>
        <p:sp>
          <p:nvSpPr>
            <p:cNvPr id="1101" name="Google Shape;1101;p39"/>
            <p:cNvSpPr/>
            <p:nvPr/>
          </p:nvSpPr>
          <p:spPr>
            <a:xfrm>
              <a:off x="965200" y="4783131"/>
              <a:ext cx="1358900" cy="32046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Fs</a:t>
              </a:r>
              <a:endParaRPr i="1" sz="2400">
                <a:solidFill>
                  <a:schemeClr val="dk1"/>
                </a:solidFill>
                <a:latin typeface="Arial"/>
                <a:ea typeface="Arial"/>
                <a:cs typeface="Arial"/>
                <a:sym typeface="Arial"/>
              </a:endParaRPr>
            </a:p>
          </p:txBody>
        </p:sp>
        <p:sp>
          <p:nvSpPr>
            <p:cNvPr id="1102" name="Google Shape;1102;p39"/>
            <p:cNvSpPr txBox="1"/>
            <p:nvPr/>
          </p:nvSpPr>
          <p:spPr>
            <a:xfrm>
              <a:off x="3822700" y="4773612"/>
              <a:ext cx="4470401"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work done by a constant force</a:t>
              </a:r>
              <a:endParaRPr/>
            </a:p>
          </p:txBody>
        </p:sp>
        <p:sp>
          <p:nvSpPr>
            <p:cNvPr id="1103" name="Google Shape;1103;p39"/>
            <p:cNvSpPr/>
            <p:nvPr/>
          </p:nvSpPr>
          <p:spPr>
            <a:xfrm>
              <a:off x="828675" y="4776785"/>
              <a:ext cx="7462839"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2">
                                            <p:txEl>
                                              <p:pRg end="0" st="0"/>
                                            </p:txEl>
                                          </p:spTgt>
                                        </p:tgtEl>
                                        <p:attrNameLst>
                                          <p:attrName>style.visibility</p:attrName>
                                        </p:attrNameLst>
                                      </p:cBhvr>
                                      <p:to>
                                        <p:strVal val="visible"/>
                                      </p:to>
                                    </p:set>
                                    <p:anim calcmode="lin" valueType="num">
                                      <p:cBhvr additive="base">
                                        <p:cTn dur="500"/>
                                        <p:tgtEl>
                                          <p:spTgt spid="109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2">
                                            <p:txEl>
                                              <p:pRg end="1" st="1"/>
                                            </p:txEl>
                                          </p:spTgt>
                                        </p:tgtEl>
                                        <p:attrNameLst>
                                          <p:attrName>style.visibility</p:attrName>
                                        </p:attrNameLst>
                                      </p:cBhvr>
                                      <p:to>
                                        <p:strVal val="visible"/>
                                      </p:to>
                                    </p:set>
                                    <p:anim calcmode="lin" valueType="num">
                                      <p:cBhvr additive="base">
                                        <p:cTn dur="500"/>
                                        <p:tgtEl>
                                          <p:spTgt spid="109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00"/>
                                        </p:tgtEl>
                                        <p:attrNameLst>
                                          <p:attrName>style.visibility</p:attrName>
                                        </p:attrNameLst>
                                      </p:cBhvr>
                                      <p:to>
                                        <p:strVal val="visible"/>
                                      </p:to>
                                    </p:set>
                                    <p:anim calcmode="lin" valueType="num">
                                      <p:cBhvr additive="base">
                                        <p:cTn dur="500"/>
                                        <p:tgtEl>
                                          <p:spTgt spid="1100"/>
                                        </p:tgtEl>
                                        <p:attrNameLst>
                                          <p:attrName>ppt_w</p:attrName>
                                        </p:attrNameLst>
                                      </p:cBhvr>
                                      <p:tavLst>
                                        <p:tav fmla="" tm="0">
                                          <p:val>
                                            <p:strVal val="0"/>
                                          </p:val>
                                        </p:tav>
                                        <p:tav fmla="" tm="100000">
                                          <p:val>
                                            <p:strVal val="#ppt_w"/>
                                          </p:val>
                                        </p:tav>
                                      </p:tavLst>
                                    </p:anim>
                                    <p:anim calcmode="lin" valueType="num">
                                      <p:cBhvr additive="base">
                                        <p:cTn dur="500"/>
                                        <p:tgtEl>
                                          <p:spTgt spid="1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0">
                                            <p:txEl>
                                              <p:pRg end="0" st="0"/>
                                            </p:txEl>
                                          </p:spTgt>
                                        </p:tgtEl>
                                        <p:attrNameLst>
                                          <p:attrName>style.visibility</p:attrName>
                                        </p:attrNameLst>
                                      </p:cBhvr>
                                      <p:to>
                                        <p:strVal val="visible"/>
                                      </p:to>
                                    </p:set>
                                    <p:anim calcmode="lin" valueType="num">
                                      <p:cBhvr additive="base">
                                        <p:cTn dur="500"/>
                                        <p:tgtEl>
                                          <p:spTgt spid="109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0">
                                            <p:txEl>
                                              <p:pRg end="1" st="1"/>
                                            </p:txEl>
                                          </p:spTgt>
                                        </p:tgtEl>
                                        <p:attrNameLst>
                                          <p:attrName>style.visibility</p:attrName>
                                        </p:attrNameLst>
                                      </p:cBhvr>
                                      <p:to>
                                        <p:strVal val="visible"/>
                                      </p:to>
                                    </p:set>
                                    <p:anim calcmode="lin" valueType="num">
                                      <p:cBhvr additive="base">
                                        <p:cTn dur="500"/>
                                        <p:tgtEl>
                                          <p:spTgt spid="109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0">
                                            <p:txEl>
                                              <p:pRg end="2" st="2"/>
                                            </p:txEl>
                                          </p:spTgt>
                                        </p:tgtEl>
                                        <p:attrNameLst>
                                          <p:attrName>style.visibility</p:attrName>
                                        </p:attrNameLst>
                                      </p:cBhvr>
                                      <p:to>
                                        <p:strVal val="visible"/>
                                      </p:to>
                                    </p:set>
                                    <p:anim calcmode="lin" valueType="num">
                                      <p:cBhvr additive="base">
                                        <p:cTn dur="500"/>
                                        <p:tgtEl>
                                          <p:spTgt spid="109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0">
                                            <p:txEl>
                                              <p:pRg end="3" st="3"/>
                                            </p:txEl>
                                          </p:spTgt>
                                        </p:tgtEl>
                                        <p:attrNameLst>
                                          <p:attrName>style.visibility</p:attrName>
                                        </p:attrNameLst>
                                      </p:cBhvr>
                                      <p:to>
                                        <p:strVal val="visible"/>
                                      </p:to>
                                    </p:set>
                                    <p:anim calcmode="lin" valueType="num">
                                      <p:cBhvr additive="base">
                                        <p:cTn dur="500"/>
                                        <p:tgtEl>
                                          <p:spTgt spid="109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0">
                                            <p:txEl>
                                              <p:pRg end="4" st="4"/>
                                            </p:txEl>
                                          </p:spTgt>
                                        </p:tgtEl>
                                        <p:attrNameLst>
                                          <p:attrName>style.visibility</p:attrName>
                                        </p:attrNameLst>
                                      </p:cBhvr>
                                      <p:to>
                                        <p:strVal val="visible"/>
                                      </p:to>
                                    </p:set>
                                    <p:anim calcmode="lin" valueType="num">
                                      <p:cBhvr additive="base">
                                        <p:cTn dur="500"/>
                                        <p:tgtEl>
                                          <p:spTgt spid="109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0">
                                            <p:txEl>
                                              <p:pRg end="5" st="5"/>
                                            </p:txEl>
                                          </p:spTgt>
                                        </p:tgtEl>
                                        <p:attrNameLst>
                                          <p:attrName>style.visibility</p:attrName>
                                        </p:attrNameLst>
                                      </p:cBhvr>
                                      <p:to>
                                        <p:strVal val="visible"/>
                                      </p:to>
                                    </p:set>
                                    <p:anim calcmode="lin" valueType="num">
                                      <p:cBhvr additive="base">
                                        <p:cTn dur="500"/>
                                        <p:tgtEl>
                                          <p:spTgt spid="109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1">
                                            <p:txEl>
                                              <p:pRg end="0" st="0"/>
                                            </p:txEl>
                                          </p:spTgt>
                                        </p:tgtEl>
                                        <p:attrNameLst>
                                          <p:attrName>style.visibility</p:attrName>
                                        </p:attrNameLst>
                                      </p:cBhvr>
                                      <p:to>
                                        <p:strVal val="visible"/>
                                      </p:to>
                                    </p:set>
                                    <p:anim calcmode="lin" valueType="num">
                                      <p:cBhvr additive="base">
                                        <p:cTn dur="500"/>
                                        <p:tgtEl>
                                          <p:spTgt spid="109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40"/>
          <p:cNvSpPr/>
          <p:nvPr/>
        </p:nvSpPr>
        <p:spPr>
          <a:xfrm>
            <a:off x="685800" y="1549400"/>
            <a:ext cx="7772400" cy="101123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Principle of conservation of energy</a:t>
            </a:r>
            <a:endParaRPr i="1" sz="2000">
              <a:solidFill>
                <a:schemeClr val="dk1"/>
              </a:solidFill>
              <a:latin typeface="Courier New"/>
              <a:ea typeface="Courier New"/>
              <a:cs typeface="Courier New"/>
              <a:sym typeface="Courier New"/>
            </a:endParaRPr>
          </a:p>
        </p:txBody>
      </p:sp>
      <p:sp>
        <p:nvSpPr>
          <p:cNvPr id="1110" name="Google Shape;1110;p40"/>
          <p:cNvSpPr/>
          <p:nvPr/>
        </p:nvSpPr>
        <p:spPr>
          <a:xfrm>
            <a:off x="674688" y="2560638"/>
            <a:ext cx="6097587" cy="432752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Consider a crane which lifts a 2000-kg weight 18 m above its original resting place. If the cable breaks at the top, find the speed and kinetic energy of the mass at the instant it reaches the ground.</a:t>
            </a:r>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SOLUTION: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because it is freefalling.</a:t>
            </a:r>
            <a:endParaRPr/>
          </a:p>
          <a:p>
            <a:pPr indent="0" lvl="0" marL="0" marR="0" rtl="0" algn="l">
              <a:spcBef>
                <a:spcPts val="300"/>
              </a:spcBef>
              <a:spcAft>
                <a:spcPts val="0"/>
              </a:spcAft>
              <a:buNone/>
            </a:pPr>
            <a:r>
              <a:rPr i="1" lang="en-US" sz="2400">
                <a:solidFill>
                  <a:schemeClr val="dk1"/>
                </a:solidFill>
                <a:latin typeface="Arial"/>
                <a:ea typeface="Arial"/>
                <a:cs typeface="Arial"/>
                <a:sym typeface="Arial"/>
              </a:rPr>
              <a:t>             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as</a:t>
            </a:r>
            <a:endParaRPr/>
          </a:p>
          <a:p>
            <a:pPr indent="0" lvl="0" marL="0" marR="0" rtl="0" algn="l">
              <a:spcBef>
                <a:spcPts val="300"/>
              </a:spcBef>
              <a:spcAft>
                <a:spcPts val="0"/>
              </a:spcAft>
              <a:buNone/>
            </a:pPr>
            <a:r>
              <a:rPr i="1" lang="en-US" sz="2400">
                <a:solidFill>
                  <a:schemeClr val="dk1"/>
                </a:solidFill>
                <a:latin typeface="Arial"/>
                <a:ea typeface="Arial"/>
                <a:cs typeface="Arial"/>
                <a:sym typeface="Arial"/>
              </a:rPr>
              <a:t>             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0</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+ 2(-10)(-18) = 360</a:t>
            </a:r>
            <a:endParaRPr sz="2400">
              <a:solidFill>
                <a:schemeClr val="dk1"/>
              </a:solidFill>
              <a:latin typeface="Arial"/>
              <a:ea typeface="Arial"/>
              <a:cs typeface="Arial"/>
              <a:sym typeface="Arial"/>
            </a:endParaRPr>
          </a:p>
          <a:p>
            <a:pPr indent="0" lvl="0" marL="0" marR="0" rtl="0" algn="l">
              <a:spcBef>
                <a:spcPts val="300"/>
              </a:spcBef>
              <a:spcAft>
                <a:spcPts val="0"/>
              </a:spcAft>
              <a:buNone/>
            </a:pPr>
            <a:r>
              <a:rPr i="1" lang="en-US" sz="2400">
                <a:solidFill>
                  <a:schemeClr val="dk1"/>
                </a:solidFill>
                <a:latin typeface="Arial"/>
                <a:ea typeface="Arial"/>
                <a:cs typeface="Arial"/>
                <a:sym typeface="Arial"/>
              </a:rPr>
              <a:t>              </a:t>
            </a:r>
            <a:r>
              <a:rPr baseline="-25000" i="1"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18.97366596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 </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a:p>
          <a:p>
            <a:pPr indent="0" lvl="0" marL="0" marR="0" rtl="0" algn="l">
              <a:spcBef>
                <a:spcPts val="300"/>
              </a:spcBef>
              <a:spcAft>
                <a:spcPts val="0"/>
              </a:spcAft>
              <a:buNone/>
            </a:pPr>
            <a:r>
              <a:rPr i="1" lang="en-US" sz="2400">
                <a:solidFill>
                  <a:schemeClr val="dk1"/>
                </a:solidFill>
                <a:latin typeface="Arial"/>
                <a:ea typeface="Arial"/>
                <a:cs typeface="Arial"/>
                <a:sym typeface="Arial"/>
              </a:rPr>
              <a:t>  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mv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t>
            </a:r>
            <a:endParaRPr/>
          </a:p>
          <a:p>
            <a:pPr indent="0" lvl="0" marL="0" marR="0" rtl="0" algn="l">
              <a:spcBef>
                <a:spcPts val="30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a:t>
            </a:r>
            <a:r>
              <a:rPr baseline="-25000" lang="en-US" sz="2400">
                <a:solidFill>
                  <a:schemeClr val="dk1"/>
                </a:solidFill>
                <a:latin typeface="Arial"/>
                <a:ea typeface="Arial"/>
                <a:cs typeface="Arial"/>
                <a:sym typeface="Arial"/>
              </a:rPr>
              <a:t>     </a:t>
            </a:r>
            <a:r>
              <a:rPr lang="en-US" sz="2000">
                <a:solidFill>
                  <a:schemeClr val="dk1"/>
                </a:solidFill>
                <a:latin typeface="Courier New"/>
                <a:ea typeface="Courier New"/>
                <a:cs typeface="Courier New"/>
                <a:sym typeface="Courier New"/>
              </a:rPr>
              <a:t> </a:t>
            </a:r>
            <a:r>
              <a:rPr lang="en-US" sz="2400">
                <a:solidFill>
                  <a:schemeClr val="dk1"/>
                </a:solidFill>
                <a:latin typeface="Arial"/>
                <a:ea typeface="Arial"/>
                <a:cs typeface="Arial"/>
                <a:sym typeface="Arial"/>
              </a:rPr>
              <a:t>= (1/2)(2000)(18.97367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360000 J.</a:t>
            </a:r>
            <a:endParaRPr i="1" sz="2400">
              <a:solidFill>
                <a:schemeClr val="dk1"/>
              </a:solidFill>
              <a:latin typeface="Arial"/>
              <a:ea typeface="Arial"/>
              <a:cs typeface="Arial"/>
              <a:sym typeface="Arial"/>
            </a:endParaRPr>
          </a:p>
        </p:txBody>
      </p:sp>
      <p:sp>
        <p:nvSpPr>
          <p:cNvPr id="1111" name="Google Shape;1111;p4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pic>
        <p:nvPicPr>
          <p:cNvPr id="1112" name="Google Shape;1112;p40"/>
          <p:cNvPicPr preferRelativeResize="0"/>
          <p:nvPr/>
        </p:nvPicPr>
        <p:blipFill rotWithShape="1">
          <a:blip r:embed="rId3">
            <a:alphaModFix/>
          </a:blip>
          <a:srcRect b="0" l="0" r="0" t="0"/>
          <a:stretch/>
        </p:blipFill>
        <p:spPr>
          <a:xfrm>
            <a:off x="6611938" y="3057525"/>
            <a:ext cx="2619375" cy="3800475"/>
          </a:xfrm>
          <a:prstGeom prst="rect">
            <a:avLst/>
          </a:prstGeom>
          <a:noFill/>
          <a:ln>
            <a:noFill/>
          </a:ln>
          <a:effectLst>
            <a:outerShdw blurRad="292100" rotWithShape="0" algn="tl" dir="2700000" dist="139700">
              <a:srgbClr val="333333">
                <a:alpha val="64705"/>
              </a:srgbClr>
            </a:outerShdw>
          </a:effectLst>
        </p:spPr>
      </p:pic>
      <p:pic>
        <p:nvPicPr>
          <p:cNvPr descr="https://encrypted-tbn1.gstatic.com/images?q=tbn:ANd9GcRtI-woN69bwo7Ngjzou62oItyv6Yn09ifWwmb9QM8t1D50s4njNuZ6yAKo" id="1113" name="Google Shape;1113;p40">
            <a:hlinkClick r:id="rId4"/>
          </p:cNvPr>
          <p:cNvPicPr preferRelativeResize="0"/>
          <p:nvPr/>
        </p:nvPicPr>
        <p:blipFill rotWithShape="1">
          <a:blip r:embed="rId5">
            <a:alphaModFix/>
          </a:blip>
          <a:srcRect b="0" l="0" r="0" t="0"/>
          <a:stretch/>
        </p:blipFill>
        <p:spPr>
          <a:xfrm>
            <a:off x="6599238" y="4597400"/>
            <a:ext cx="666750" cy="636588"/>
          </a:xfrm>
          <a:prstGeom prst="rect">
            <a:avLst/>
          </a:prstGeom>
          <a:noFill/>
          <a:ln>
            <a:noFill/>
          </a:ln>
          <a:effectLst>
            <a:outerShdw blurRad="292100" rotWithShape="0" algn="tl" dir="2700000" dist="139700">
              <a:srgbClr val="333333">
                <a:alpha val="64705"/>
              </a:srgbClr>
            </a:outerShdw>
          </a:effectLst>
        </p:spPr>
      </p:pic>
      <p:grpSp>
        <p:nvGrpSpPr>
          <p:cNvPr id="1114" name="Google Shape;1114;p40"/>
          <p:cNvGrpSpPr/>
          <p:nvPr/>
        </p:nvGrpSpPr>
        <p:grpSpPr>
          <a:xfrm>
            <a:off x="828675" y="1995488"/>
            <a:ext cx="7464425" cy="461962"/>
            <a:chOff x="828675" y="3808729"/>
            <a:chExt cx="7464426" cy="461665"/>
          </a:xfrm>
        </p:grpSpPr>
        <p:sp>
          <p:nvSpPr>
            <p:cNvPr id="1115" name="Google Shape;1115;p40"/>
            <p:cNvSpPr/>
            <p:nvPr/>
          </p:nvSpPr>
          <p:spPr>
            <a:xfrm>
              <a:off x="965200" y="3818248"/>
              <a:ext cx="2368550" cy="32046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mv </a:t>
              </a:r>
              <a:r>
                <a:rPr baseline="30000" lang="en-US" sz="2400">
                  <a:solidFill>
                    <a:schemeClr val="dk1"/>
                  </a:solidFill>
                  <a:latin typeface="Arial"/>
                  <a:ea typeface="Arial"/>
                  <a:cs typeface="Arial"/>
                  <a:sym typeface="Arial"/>
                </a:rPr>
                <a:t>2</a:t>
              </a:r>
              <a:endParaRPr i="1" sz="2400">
                <a:solidFill>
                  <a:schemeClr val="dk1"/>
                </a:solidFill>
                <a:latin typeface="Arial"/>
                <a:ea typeface="Arial"/>
                <a:cs typeface="Arial"/>
                <a:sym typeface="Arial"/>
              </a:endParaRPr>
            </a:p>
          </p:txBody>
        </p:sp>
        <p:sp>
          <p:nvSpPr>
            <p:cNvPr id="1116" name="Google Shape;1116;p40"/>
            <p:cNvSpPr txBox="1"/>
            <p:nvPr/>
          </p:nvSpPr>
          <p:spPr>
            <a:xfrm>
              <a:off x="5867401" y="3808729"/>
              <a:ext cx="2425700"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kinetic energy</a:t>
              </a:r>
              <a:endParaRPr/>
            </a:p>
          </p:txBody>
        </p:sp>
        <p:sp>
          <p:nvSpPr>
            <p:cNvPr id="1117" name="Google Shape;1117;p40"/>
            <p:cNvSpPr/>
            <p:nvPr/>
          </p:nvSpPr>
          <p:spPr>
            <a:xfrm>
              <a:off x="828675" y="3811902"/>
              <a:ext cx="7462839"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cxnSp>
        <p:nvCxnSpPr>
          <p:cNvPr id="1118" name="Google Shape;1118;p40"/>
          <p:cNvCxnSpPr/>
          <p:nvPr/>
        </p:nvCxnSpPr>
        <p:spPr>
          <a:xfrm rot="10800000">
            <a:off x="6924675" y="3268663"/>
            <a:ext cx="0" cy="1501775"/>
          </a:xfrm>
          <a:prstGeom prst="straightConnector1">
            <a:avLst/>
          </a:prstGeom>
          <a:noFill/>
          <a:ln cap="flat" cmpd="sng" w="15875">
            <a:solidFill>
              <a:schemeClr val="dk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9">
                                            <p:txEl>
                                              <p:pRg end="0" st="0"/>
                                            </p:txEl>
                                          </p:spTgt>
                                        </p:tgtEl>
                                        <p:attrNameLst>
                                          <p:attrName>style.visibility</p:attrName>
                                        </p:attrNameLst>
                                      </p:cBhvr>
                                      <p:to>
                                        <p:strVal val="visible"/>
                                      </p:to>
                                    </p:set>
                                    <p:anim calcmode="lin" valueType="num">
                                      <p:cBhvr additive="base">
                                        <p:cTn dur="500"/>
                                        <p:tgtEl>
                                          <p:spTgt spid="110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14"/>
                                        </p:tgtEl>
                                        <p:attrNameLst>
                                          <p:attrName>style.visibility</p:attrName>
                                        </p:attrNameLst>
                                      </p:cBhvr>
                                      <p:to>
                                        <p:strVal val="visible"/>
                                      </p:to>
                                    </p:set>
                                    <p:anim calcmode="lin" valueType="num">
                                      <p:cBhvr additive="base">
                                        <p:cTn dur="500"/>
                                        <p:tgtEl>
                                          <p:spTgt spid="1114"/>
                                        </p:tgtEl>
                                        <p:attrNameLst>
                                          <p:attrName>ppt_w</p:attrName>
                                        </p:attrNameLst>
                                      </p:cBhvr>
                                      <p:tavLst>
                                        <p:tav fmla="" tm="0">
                                          <p:val>
                                            <p:strVal val="0"/>
                                          </p:val>
                                        </p:tav>
                                        <p:tav fmla="" tm="100000">
                                          <p:val>
                                            <p:strVal val="#ppt_w"/>
                                          </p:val>
                                        </p:tav>
                                      </p:tavLst>
                                    </p:anim>
                                    <p:anim calcmode="lin" valueType="num">
                                      <p:cBhvr additive="base">
                                        <p:cTn dur="500"/>
                                        <p:tgtEl>
                                          <p:spTgt spid="111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10">
                                            <p:txEl>
                                              <p:pRg end="0" st="0"/>
                                            </p:txEl>
                                          </p:spTgt>
                                        </p:tgtEl>
                                        <p:attrNameLst>
                                          <p:attrName>style.visibility</p:attrName>
                                        </p:attrNameLst>
                                      </p:cBhvr>
                                      <p:to>
                                        <p:strVal val="visible"/>
                                      </p:to>
                                    </p:set>
                                    <p:anim calcmode="lin" valueType="num">
                                      <p:cBhvr additive="base">
                                        <p:cTn dur="500"/>
                                        <p:tgtEl>
                                          <p:spTgt spid="11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10">
                                            <p:txEl>
                                              <p:pRg end="1" st="1"/>
                                            </p:txEl>
                                          </p:spTgt>
                                        </p:tgtEl>
                                        <p:attrNameLst>
                                          <p:attrName>style.visibility</p:attrName>
                                        </p:attrNameLst>
                                      </p:cBhvr>
                                      <p:to>
                                        <p:strVal val="visible"/>
                                      </p:to>
                                    </p:set>
                                    <p:anim calcmode="lin" valueType="num">
                                      <p:cBhvr additive="base">
                                        <p:cTn dur="500"/>
                                        <p:tgtEl>
                                          <p:spTgt spid="11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10">
                                            <p:txEl>
                                              <p:pRg end="2" st="2"/>
                                            </p:txEl>
                                          </p:spTgt>
                                        </p:tgtEl>
                                        <p:attrNameLst>
                                          <p:attrName>style.visibility</p:attrName>
                                        </p:attrNameLst>
                                      </p:cBhvr>
                                      <p:to>
                                        <p:strVal val="visible"/>
                                      </p:to>
                                    </p:set>
                                    <p:anim calcmode="lin" valueType="num">
                                      <p:cBhvr additive="base">
                                        <p:cTn dur="500"/>
                                        <p:tgtEl>
                                          <p:spTgt spid="111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10">
                                            <p:txEl>
                                              <p:pRg end="3" st="3"/>
                                            </p:txEl>
                                          </p:spTgt>
                                        </p:tgtEl>
                                        <p:attrNameLst>
                                          <p:attrName>style.visibility</p:attrName>
                                        </p:attrNameLst>
                                      </p:cBhvr>
                                      <p:to>
                                        <p:strVal val="visible"/>
                                      </p:to>
                                    </p:set>
                                    <p:anim calcmode="lin" valueType="num">
                                      <p:cBhvr additive="base">
                                        <p:cTn dur="500"/>
                                        <p:tgtEl>
                                          <p:spTgt spid="111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10">
                                            <p:txEl>
                                              <p:pRg end="4" st="4"/>
                                            </p:txEl>
                                          </p:spTgt>
                                        </p:tgtEl>
                                        <p:attrNameLst>
                                          <p:attrName>style.visibility</p:attrName>
                                        </p:attrNameLst>
                                      </p:cBhvr>
                                      <p:to>
                                        <p:strVal val="visible"/>
                                      </p:to>
                                    </p:set>
                                    <p:anim calcmode="lin" valueType="num">
                                      <p:cBhvr additive="base">
                                        <p:cTn dur="500"/>
                                        <p:tgtEl>
                                          <p:spTgt spid="111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10">
                                            <p:txEl>
                                              <p:pRg end="5" st="5"/>
                                            </p:txEl>
                                          </p:spTgt>
                                        </p:tgtEl>
                                        <p:attrNameLst>
                                          <p:attrName>style.visibility</p:attrName>
                                        </p:attrNameLst>
                                      </p:cBhvr>
                                      <p:to>
                                        <p:strVal val="visible"/>
                                      </p:to>
                                    </p:set>
                                    <p:anim calcmode="lin" valueType="num">
                                      <p:cBhvr additive="base">
                                        <p:cTn dur="500"/>
                                        <p:tgtEl>
                                          <p:spTgt spid="111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10">
                                            <p:txEl>
                                              <p:pRg end="6" st="6"/>
                                            </p:txEl>
                                          </p:spTgt>
                                        </p:tgtEl>
                                        <p:attrNameLst>
                                          <p:attrName>style.visibility</p:attrName>
                                        </p:attrNameLst>
                                      </p:cBhvr>
                                      <p:to>
                                        <p:strVal val="visible"/>
                                      </p:to>
                                    </p:set>
                                    <p:anim calcmode="lin" valueType="num">
                                      <p:cBhvr additive="base">
                                        <p:cTn dur="500"/>
                                        <p:tgtEl>
                                          <p:spTgt spid="111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41"/>
          <p:cNvSpPr/>
          <p:nvPr/>
        </p:nvSpPr>
        <p:spPr>
          <a:xfrm>
            <a:off x="685800" y="1549400"/>
            <a:ext cx="7772400" cy="101123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Principle of conservation of energy</a:t>
            </a:r>
            <a:endParaRPr i="1" sz="2000">
              <a:solidFill>
                <a:schemeClr val="dk1"/>
              </a:solidFill>
              <a:latin typeface="Courier New"/>
              <a:ea typeface="Courier New"/>
              <a:cs typeface="Courier New"/>
              <a:sym typeface="Courier New"/>
            </a:endParaRPr>
          </a:p>
        </p:txBody>
      </p:sp>
      <p:sp>
        <p:nvSpPr>
          <p:cNvPr id="1125" name="Google Shape;1125;p41"/>
          <p:cNvSpPr/>
          <p:nvPr/>
        </p:nvSpPr>
        <p:spPr>
          <a:xfrm>
            <a:off x="674688" y="2560638"/>
            <a:ext cx="6097587" cy="432752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Consider a crane which lifts a 2000-kg weight 18 m above its original resting place. </a:t>
            </a:r>
            <a:r>
              <a:rPr lang="en-US" sz="2400">
                <a:solidFill>
                  <a:srgbClr val="000000"/>
                </a:solidFill>
                <a:latin typeface="Arial"/>
                <a:ea typeface="Arial"/>
                <a:cs typeface="Arial"/>
                <a:sym typeface="Arial"/>
              </a:rPr>
              <a:t>If the cable breaks at the top find its change in kinetic energy and change in potential energy the instant it reaches the ground.</a:t>
            </a:r>
            <a:endParaRPr sz="2400">
              <a:solidFill>
                <a:schemeClr val="dk1"/>
              </a:solidFill>
              <a:latin typeface="Arial"/>
              <a:ea typeface="Arial"/>
              <a:cs typeface="Arial"/>
              <a:sym typeface="Arial"/>
            </a:endParaRPr>
          </a:p>
          <a:p>
            <a:pPr indent="0" lvl="0" marL="0" marR="0" rtl="0" algn="l">
              <a:spcBef>
                <a:spcPts val="400"/>
              </a:spcBef>
              <a:spcAft>
                <a:spcPts val="0"/>
              </a:spcAft>
              <a:buNone/>
            </a:pPr>
            <a:r>
              <a:rPr lang="en-US" sz="2400">
                <a:solidFill>
                  <a:schemeClr val="dk1"/>
                </a:solidFill>
                <a:latin typeface="Arial"/>
                <a:ea typeface="Arial"/>
                <a:cs typeface="Arial"/>
                <a:sym typeface="Arial"/>
              </a:rPr>
              <a:t>SOLUTION: </a:t>
            </a:r>
            <a:r>
              <a:rPr i="1" lang="en-US" sz="2400">
                <a:solidFill>
                  <a:srgbClr val="000000"/>
                </a:solidFill>
                <a:latin typeface="Arial"/>
                <a:ea typeface="Arial"/>
                <a:cs typeface="Arial"/>
                <a:sym typeface="Arial"/>
              </a:rPr>
              <a:t>E</a:t>
            </a:r>
            <a:r>
              <a:rPr baseline="-25000" lang="en-US" sz="2400">
                <a:solidFill>
                  <a:srgbClr val="000000"/>
                </a:solidFill>
                <a:latin typeface="Arial"/>
                <a:ea typeface="Arial"/>
                <a:cs typeface="Arial"/>
                <a:sym typeface="Arial"/>
              </a:rPr>
              <a:t>K,0</a:t>
            </a:r>
            <a:r>
              <a:rPr lang="en-US" sz="2400">
                <a:solidFill>
                  <a:srgbClr val="000000"/>
                </a:solidFill>
                <a:latin typeface="Arial"/>
                <a:ea typeface="Arial"/>
                <a:cs typeface="Arial"/>
                <a:sym typeface="Arial"/>
              </a:rPr>
              <a:t> = (1/2)(2000)(0</a:t>
            </a:r>
            <a:r>
              <a:rPr baseline="30000" lang="en-US" sz="2400">
                <a:solidFill>
                  <a:srgbClr val="000000"/>
                </a:solidFill>
                <a:latin typeface="Arial"/>
                <a:ea typeface="Arial"/>
                <a:cs typeface="Arial"/>
                <a:sym typeface="Arial"/>
              </a:rPr>
              <a:t>2</a:t>
            </a:r>
            <a:r>
              <a:rPr lang="en-US" sz="2400">
                <a:solidFill>
                  <a:srgbClr val="000000"/>
                </a:solidFill>
                <a:latin typeface="Arial"/>
                <a:ea typeface="Arial"/>
                <a:cs typeface="Arial"/>
                <a:sym typeface="Arial"/>
              </a:rPr>
              <a:t>) = 0 J.</a:t>
            </a:r>
            <a:endParaRPr sz="2400">
              <a:solidFill>
                <a:schemeClr val="dk1"/>
              </a:solidFill>
              <a:latin typeface="Arial"/>
              <a:ea typeface="Arial"/>
              <a:cs typeface="Arial"/>
              <a:sym typeface="Arial"/>
            </a:endParaRPr>
          </a:p>
          <a:p>
            <a:pPr indent="0" lvl="0" marL="0" marR="0" rtl="0" algn="l">
              <a:spcBef>
                <a:spcPts val="400"/>
              </a:spcBef>
              <a:spcAft>
                <a:spcPts val="0"/>
              </a:spcAft>
              <a:buNone/>
            </a:pPr>
            <a:r>
              <a:rPr lang="en-US" sz="2400">
                <a:solidFill>
                  <a:schemeClr val="dk1"/>
                </a:solidFill>
                <a:latin typeface="Courier New"/>
                <a:ea typeface="Courier New"/>
                <a:cs typeface="Courier New"/>
                <a:sym typeface="Courier New"/>
              </a:rPr>
              <a:t>∙</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K,f</a:t>
            </a:r>
            <a:r>
              <a:rPr lang="en-US" sz="2400">
                <a:solidFill>
                  <a:schemeClr val="dk1"/>
                </a:solidFill>
                <a:latin typeface="Arial"/>
                <a:ea typeface="Arial"/>
                <a:cs typeface="Arial"/>
                <a:sym typeface="Arial"/>
              </a:rPr>
              <a:t> = 360000 J (from last slide).</a:t>
            </a:r>
            <a:endParaRPr/>
          </a:p>
          <a:p>
            <a:pPr indent="0" lvl="0" marL="0" marR="0" rtl="0" algn="l">
              <a:spcBef>
                <a:spcPts val="40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360000 – 0 = 360000 J.</a:t>
            </a:r>
            <a:endParaRPr/>
          </a:p>
          <a:p>
            <a:pPr indent="0" lvl="0" marL="0" marR="0" rtl="0" algn="l">
              <a:spcBef>
                <a:spcPts val="40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h</a:t>
            </a:r>
            <a:r>
              <a:rPr lang="en-US" sz="2400">
                <a:solidFill>
                  <a:schemeClr val="dk1"/>
                </a:solidFill>
                <a:latin typeface="Arial"/>
                <a:ea typeface="Arial"/>
                <a:cs typeface="Arial"/>
                <a:sym typeface="Arial"/>
              </a:rPr>
              <a:t> </a:t>
            </a:r>
            <a:endParaRPr/>
          </a:p>
          <a:p>
            <a:pPr indent="0" lvl="0" marL="0" marR="0" rtl="0" algn="l">
              <a:spcBef>
                <a:spcPts val="400"/>
              </a:spcBef>
              <a:spcAft>
                <a:spcPts val="0"/>
              </a:spcAft>
              <a:buNone/>
            </a:pPr>
            <a:r>
              <a:rPr lang="en-US" sz="2400">
                <a:solidFill>
                  <a:schemeClr val="dk1"/>
                </a:solidFill>
                <a:latin typeface="Arial"/>
                <a:ea typeface="Arial"/>
                <a:cs typeface="Arial"/>
                <a:sym typeface="Arial"/>
              </a:rPr>
              <a:t>         = (2000)(10)(-18) = -360000 J.</a:t>
            </a:r>
            <a:endParaRPr/>
          </a:p>
        </p:txBody>
      </p:sp>
      <p:sp>
        <p:nvSpPr>
          <p:cNvPr id="1126" name="Google Shape;1126;p41"/>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pic>
        <p:nvPicPr>
          <p:cNvPr id="1127" name="Google Shape;1127;p41"/>
          <p:cNvPicPr preferRelativeResize="0"/>
          <p:nvPr/>
        </p:nvPicPr>
        <p:blipFill rotWithShape="1">
          <a:blip r:embed="rId3">
            <a:alphaModFix/>
          </a:blip>
          <a:srcRect b="0" l="0" r="0" t="0"/>
          <a:stretch/>
        </p:blipFill>
        <p:spPr>
          <a:xfrm>
            <a:off x="6611938" y="3057525"/>
            <a:ext cx="2619375" cy="3800475"/>
          </a:xfrm>
          <a:prstGeom prst="rect">
            <a:avLst/>
          </a:prstGeom>
          <a:noFill/>
          <a:ln>
            <a:noFill/>
          </a:ln>
          <a:effectLst>
            <a:outerShdw blurRad="292100" rotWithShape="0" algn="tl" dir="2700000" dist="139700">
              <a:srgbClr val="333333">
                <a:alpha val="64705"/>
              </a:srgbClr>
            </a:outerShdw>
          </a:effectLst>
        </p:spPr>
      </p:pic>
      <p:pic>
        <p:nvPicPr>
          <p:cNvPr descr="https://encrypted-tbn1.gstatic.com/images?q=tbn:ANd9GcRtI-woN69bwo7Ngjzou62oItyv6Yn09ifWwmb9QM8t1D50s4njNuZ6yAKo" id="1128" name="Google Shape;1128;p41">
            <a:hlinkClick r:id="rId4"/>
          </p:cNvPr>
          <p:cNvPicPr preferRelativeResize="0"/>
          <p:nvPr/>
        </p:nvPicPr>
        <p:blipFill rotWithShape="1">
          <a:blip r:embed="rId5">
            <a:alphaModFix/>
          </a:blip>
          <a:srcRect b="0" l="0" r="0" t="0"/>
          <a:stretch/>
        </p:blipFill>
        <p:spPr>
          <a:xfrm>
            <a:off x="6599238" y="4597400"/>
            <a:ext cx="666750" cy="636588"/>
          </a:xfrm>
          <a:prstGeom prst="rect">
            <a:avLst/>
          </a:prstGeom>
          <a:noFill/>
          <a:ln>
            <a:noFill/>
          </a:ln>
          <a:effectLst>
            <a:outerShdw blurRad="292100" rotWithShape="0" algn="tl" dir="2700000" dist="139700">
              <a:srgbClr val="333333">
                <a:alpha val="64705"/>
              </a:srgbClr>
            </a:outerShdw>
          </a:effectLst>
        </p:spPr>
      </p:pic>
      <p:cxnSp>
        <p:nvCxnSpPr>
          <p:cNvPr id="1129" name="Google Shape;1129;p41"/>
          <p:cNvCxnSpPr/>
          <p:nvPr/>
        </p:nvCxnSpPr>
        <p:spPr>
          <a:xfrm rot="10800000">
            <a:off x="6924675" y="3268663"/>
            <a:ext cx="0" cy="1501775"/>
          </a:xfrm>
          <a:prstGeom prst="straightConnector1">
            <a:avLst/>
          </a:prstGeom>
          <a:noFill/>
          <a:ln cap="flat" cmpd="sng" w="15875">
            <a:solidFill>
              <a:schemeClr val="dk1"/>
            </a:solidFill>
            <a:prstDash val="solid"/>
            <a:round/>
            <a:headEnd len="sm" w="sm" type="none"/>
            <a:tailEnd len="sm" w="sm" type="none"/>
          </a:ln>
        </p:spPr>
      </p:cxnSp>
      <p:grpSp>
        <p:nvGrpSpPr>
          <p:cNvPr id="1130" name="Google Shape;1130;p41"/>
          <p:cNvGrpSpPr/>
          <p:nvPr/>
        </p:nvGrpSpPr>
        <p:grpSpPr>
          <a:xfrm>
            <a:off x="839788" y="2003425"/>
            <a:ext cx="7464425" cy="461963"/>
            <a:chOff x="839787" y="6266774"/>
            <a:chExt cx="7464426" cy="461665"/>
          </a:xfrm>
        </p:grpSpPr>
        <p:sp>
          <p:nvSpPr>
            <p:cNvPr id="1131" name="Google Shape;1131;p41"/>
            <p:cNvSpPr/>
            <p:nvPr/>
          </p:nvSpPr>
          <p:spPr>
            <a:xfrm>
              <a:off x="946149" y="6276293"/>
              <a:ext cx="2368550" cy="39661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h</a:t>
              </a:r>
              <a:endParaRPr i="1" sz="2400">
                <a:solidFill>
                  <a:schemeClr val="dk1"/>
                </a:solidFill>
                <a:latin typeface="Arial"/>
                <a:ea typeface="Arial"/>
                <a:cs typeface="Arial"/>
                <a:sym typeface="Arial"/>
              </a:endParaRPr>
            </a:p>
          </p:txBody>
        </p:sp>
        <p:sp>
          <p:nvSpPr>
            <p:cNvPr id="1132" name="Google Shape;1132;p41"/>
            <p:cNvSpPr txBox="1"/>
            <p:nvPr/>
          </p:nvSpPr>
          <p:spPr>
            <a:xfrm>
              <a:off x="3078162" y="6266774"/>
              <a:ext cx="5226051"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gravitational potential energy </a:t>
              </a:r>
              <a:r>
                <a:rPr lang="en-US" sz="2400">
                  <a:solidFill>
                    <a:srgbClr val="FFFFFF"/>
                  </a:solidFill>
                  <a:latin typeface="Arial"/>
                  <a:ea typeface="Arial"/>
                  <a:cs typeface="Arial"/>
                  <a:sym typeface="Arial"/>
                </a:rPr>
                <a:t>change</a:t>
              </a:r>
              <a:endParaRPr sz="2400">
                <a:solidFill>
                  <a:schemeClr val="lt1"/>
                </a:solidFill>
                <a:latin typeface="Arial"/>
                <a:ea typeface="Arial"/>
                <a:cs typeface="Arial"/>
                <a:sym typeface="Arial"/>
              </a:endParaRPr>
            </a:p>
          </p:txBody>
        </p:sp>
        <p:sp>
          <p:nvSpPr>
            <p:cNvPr id="1133" name="Google Shape;1133;p41"/>
            <p:cNvSpPr/>
            <p:nvPr/>
          </p:nvSpPr>
          <p:spPr>
            <a:xfrm>
              <a:off x="839787" y="6269947"/>
              <a:ext cx="7462838"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30"/>
                                        </p:tgtEl>
                                        <p:attrNameLst>
                                          <p:attrName>style.visibility</p:attrName>
                                        </p:attrNameLst>
                                      </p:cBhvr>
                                      <p:to>
                                        <p:strVal val="visible"/>
                                      </p:to>
                                    </p:set>
                                    <p:anim calcmode="lin" valueType="num">
                                      <p:cBhvr additive="base">
                                        <p:cTn dur="500"/>
                                        <p:tgtEl>
                                          <p:spTgt spid="1130"/>
                                        </p:tgtEl>
                                        <p:attrNameLst>
                                          <p:attrName>ppt_w</p:attrName>
                                        </p:attrNameLst>
                                      </p:cBhvr>
                                      <p:tavLst>
                                        <p:tav fmla="" tm="0">
                                          <p:val>
                                            <p:strVal val="0"/>
                                          </p:val>
                                        </p:tav>
                                        <p:tav fmla="" tm="100000">
                                          <p:val>
                                            <p:strVal val="#ppt_w"/>
                                          </p:val>
                                        </p:tav>
                                      </p:tavLst>
                                    </p:anim>
                                    <p:anim calcmode="lin" valueType="num">
                                      <p:cBhvr additive="base">
                                        <p:cTn dur="500"/>
                                        <p:tgtEl>
                                          <p:spTgt spid="113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25">
                                            <p:txEl>
                                              <p:pRg end="0" st="0"/>
                                            </p:txEl>
                                          </p:spTgt>
                                        </p:tgtEl>
                                        <p:attrNameLst>
                                          <p:attrName>style.visibility</p:attrName>
                                        </p:attrNameLst>
                                      </p:cBhvr>
                                      <p:to>
                                        <p:strVal val="visible"/>
                                      </p:to>
                                    </p:set>
                                    <p:anim calcmode="lin" valueType="num">
                                      <p:cBhvr additive="base">
                                        <p:cTn dur="500"/>
                                        <p:tgtEl>
                                          <p:spTgt spid="112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25">
                                            <p:txEl>
                                              <p:pRg end="1" st="1"/>
                                            </p:txEl>
                                          </p:spTgt>
                                        </p:tgtEl>
                                        <p:attrNameLst>
                                          <p:attrName>style.visibility</p:attrName>
                                        </p:attrNameLst>
                                      </p:cBhvr>
                                      <p:to>
                                        <p:strVal val="visible"/>
                                      </p:to>
                                    </p:set>
                                    <p:anim calcmode="lin" valueType="num">
                                      <p:cBhvr additive="base">
                                        <p:cTn dur="500"/>
                                        <p:tgtEl>
                                          <p:spTgt spid="112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25">
                                            <p:txEl>
                                              <p:pRg end="2" st="2"/>
                                            </p:txEl>
                                          </p:spTgt>
                                        </p:tgtEl>
                                        <p:attrNameLst>
                                          <p:attrName>style.visibility</p:attrName>
                                        </p:attrNameLst>
                                      </p:cBhvr>
                                      <p:to>
                                        <p:strVal val="visible"/>
                                      </p:to>
                                    </p:set>
                                    <p:anim calcmode="lin" valueType="num">
                                      <p:cBhvr additive="base">
                                        <p:cTn dur="500"/>
                                        <p:tgtEl>
                                          <p:spTgt spid="112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25">
                                            <p:txEl>
                                              <p:pRg end="3" st="3"/>
                                            </p:txEl>
                                          </p:spTgt>
                                        </p:tgtEl>
                                        <p:attrNameLst>
                                          <p:attrName>style.visibility</p:attrName>
                                        </p:attrNameLst>
                                      </p:cBhvr>
                                      <p:to>
                                        <p:strVal val="visible"/>
                                      </p:to>
                                    </p:set>
                                    <p:anim calcmode="lin" valueType="num">
                                      <p:cBhvr additive="base">
                                        <p:cTn dur="500"/>
                                        <p:tgtEl>
                                          <p:spTgt spid="112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25">
                                            <p:txEl>
                                              <p:pRg end="4" st="4"/>
                                            </p:txEl>
                                          </p:spTgt>
                                        </p:tgtEl>
                                        <p:attrNameLst>
                                          <p:attrName>style.visibility</p:attrName>
                                        </p:attrNameLst>
                                      </p:cBhvr>
                                      <p:to>
                                        <p:strVal val="visible"/>
                                      </p:to>
                                    </p:set>
                                    <p:anim calcmode="lin" valueType="num">
                                      <p:cBhvr additive="base">
                                        <p:cTn dur="500"/>
                                        <p:tgtEl>
                                          <p:spTgt spid="112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25">
                                            <p:txEl>
                                              <p:pRg end="5" st="5"/>
                                            </p:txEl>
                                          </p:spTgt>
                                        </p:tgtEl>
                                        <p:attrNameLst>
                                          <p:attrName>style.visibility</p:attrName>
                                        </p:attrNameLst>
                                      </p:cBhvr>
                                      <p:to>
                                        <p:strVal val="visible"/>
                                      </p:to>
                                    </p:set>
                                    <p:anim calcmode="lin" valueType="num">
                                      <p:cBhvr additive="base">
                                        <p:cTn dur="500"/>
                                        <p:tgtEl>
                                          <p:spTgt spid="112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42"/>
          <p:cNvSpPr/>
          <p:nvPr/>
        </p:nvSpPr>
        <p:spPr>
          <a:xfrm>
            <a:off x="685800" y="1549400"/>
            <a:ext cx="7772400" cy="101123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Principle of conservation of energy</a:t>
            </a:r>
            <a:endParaRPr i="1" sz="2000">
              <a:solidFill>
                <a:schemeClr val="dk1"/>
              </a:solidFill>
              <a:latin typeface="Courier New"/>
              <a:ea typeface="Courier New"/>
              <a:cs typeface="Courier New"/>
              <a:sym typeface="Courier New"/>
            </a:endParaRPr>
          </a:p>
        </p:txBody>
      </p:sp>
      <p:sp>
        <p:nvSpPr>
          <p:cNvPr id="1140" name="Google Shape;1140;p42"/>
          <p:cNvSpPr/>
          <p:nvPr/>
        </p:nvSpPr>
        <p:spPr>
          <a:xfrm>
            <a:off x="674688" y="2560638"/>
            <a:ext cx="6097587" cy="4297362"/>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Consider a crane which lifts a 2000-kg weight 18 m above its original resting place. </a:t>
            </a:r>
            <a:r>
              <a:rPr lang="en-US" sz="2400">
                <a:solidFill>
                  <a:srgbClr val="000000"/>
                </a:solidFill>
                <a:latin typeface="Arial"/>
                <a:ea typeface="Arial"/>
                <a:cs typeface="Arial"/>
                <a:sym typeface="Arial"/>
              </a:rPr>
              <a:t>If the cable breaks at the top find the sum of the change in kinetic and the change in potential energies the instant it reaches the ground. </a:t>
            </a:r>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SOLUTION: From the previous slide</a:t>
            </a:r>
            <a:endParaRPr/>
          </a:p>
          <a:p>
            <a:pPr indent="0" lvl="0" marL="0" marR="0" rtl="0" algn="l">
              <a:spcBef>
                <a:spcPts val="300"/>
              </a:spcBef>
              <a:spcAft>
                <a:spcPts val="0"/>
              </a:spcAft>
              <a:buClr>
                <a:schemeClr val="dk1"/>
              </a:buClr>
              <a:buSzPts val="2400"/>
              <a:buFont typeface="Noto Sans Symbols"/>
              <a:buNone/>
            </a:pPr>
            <a:r>
              <a:rPr lang="en-US" sz="2400">
                <a:solidFill>
                  <a:schemeClr val="dk1"/>
                </a:solidFill>
                <a:latin typeface="Courier New"/>
                <a:ea typeface="Courier New"/>
                <a:cs typeface="Courier New"/>
                <a:sym typeface="Courier New"/>
              </a:rPr>
              <a:t>∙</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360000 J   and</a:t>
            </a:r>
            <a:endParaRPr/>
          </a:p>
          <a:p>
            <a:pPr indent="0" lvl="0" marL="0" marR="0" rtl="0" algn="l">
              <a:spcBef>
                <a:spcPts val="300"/>
              </a:spcBef>
              <a:spcAft>
                <a:spcPts val="0"/>
              </a:spcAft>
              <a:buClr>
                <a:schemeClr val="dk1"/>
              </a:buClr>
              <a:buSzPts val="2400"/>
              <a:buFont typeface="Noto Sans Symbols"/>
              <a:buNone/>
            </a:pPr>
            <a:r>
              <a:rPr lang="en-US" sz="2400">
                <a:solidFill>
                  <a:schemeClr val="dk1"/>
                </a:solidFill>
                <a:latin typeface="Courier New"/>
                <a:ea typeface="Courier New"/>
                <a:cs typeface="Courier New"/>
                <a:sym typeface="Courier New"/>
              </a:rPr>
              <a:t>∙</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-360000 J   so that</a:t>
            </a:r>
            <a:endParaRPr/>
          </a:p>
          <a:p>
            <a:pPr indent="0" lvl="0" marL="0" marR="0" rtl="0" algn="l">
              <a:spcBef>
                <a:spcPts val="30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360000 + </a:t>
            </a:r>
            <a:r>
              <a:rPr baseline="30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360000 = 0.</a:t>
            </a:r>
            <a:endParaRPr/>
          </a:p>
          <a:p>
            <a:pPr indent="0" lvl="0" marL="0" marR="0" rtl="0" algn="l">
              <a:spcBef>
                <a:spcPts val="300"/>
              </a:spcBef>
              <a:spcAft>
                <a:spcPts val="0"/>
              </a:spcAft>
              <a:buClr>
                <a:schemeClr val="dk1"/>
              </a:buClr>
              <a:buSzPts val="2400"/>
              <a:buFont typeface="Noto Sans Symbols"/>
              <a:buNone/>
            </a:pPr>
            <a:r>
              <a:rPr lang="en-US" sz="2400">
                <a:solidFill>
                  <a:schemeClr val="dk1"/>
                </a:solidFill>
                <a:latin typeface="Courier New"/>
                <a:ea typeface="Courier New"/>
                <a:cs typeface="Courier New"/>
                <a:sym typeface="Courier New"/>
              </a:rPr>
              <a:t>∙</a:t>
            </a:r>
            <a:r>
              <a:rPr lang="en-US" sz="2400">
                <a:solidFill>
                  <a:schemeClr val="dk1"/>
                </a:solidFill>
                <a:latin typeface="Arial"/>
                <a:ea typeface="Arial"/>
                <a:cs typeface="Arial"/>
                <a:sym typeface="Arial"/>
              </a:rPr>
              <a:t>Hence   </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0 J.</a:t>
            </a:r>
            <a:endParaRPr/>
          </a:p>
        </p:txBody>
      </p:sp>
      <p:sp>
        <p:nvSpPr>
          <p:cNvPr id="1141" name="Google Shape;1141;p42"/>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pic>
        <p:nvPicPr>
          <p:cNvPr id="1142" name="Google Shape;1142;p42"/>
          <p:cNvPicPr preferRelativeResize="0"/>
          <p:nvPr/>
        </p:nvPicPr>
        <p:blipFill rotWithShape="1">
          <a:blip r:embed="rId3">
            <a:alphaModFix/>
          </a:blip>
          <a:srcRect b="0" l="0" r="0" t="0"/>
          <a:stretch/>
        </p:blipFill>
        <p:spPr>
          <a:xfrm>
            <a:off x="6611938" y="3057525"/>
            <a:ext cx="2619375" cy="3800475"/>
          </a:xfrm>
          <a:prstGeom prst="rect">
            <a:avLst/>
          </a:prstGeom>
          <a:noFill/>
          <a:ln>
            <a:noFill/>
          </a:ln>
          <a:effectLst>
            <a:outerShdw blurRad="292100" rotWithShape="0" algn="tl" dir="2700000" dist="139700">
              <a:srgbClr val="333333">
                <a:alpha val="64705"/>
              </a:srgbClr>
            </a:outerShdw>
          </a:effectLst>
        </p:spPr>
      </p:pic>
      <p:pic>
        <p:nvPicPr>
          <p:cNvPr descr="https://encrypted-tbn1.gstatic.com/images?q=tbn:ANd9GcRtI-woN69bwo7Ngjzou62oItyv6Yn09ifWwmb9QM8t1D50s4njNuZ6yAKo" id="1143" name="Google Shape;1143;p42">
            <a:hlinkClick r:id="rId4"/>
          </p:cNvPr>
          <p:cNvPicPr preferRelativeResize="0"/>
          <p:nvPr/>
        </p:nvPicPr>
        <p:blipFill rotWithShape="1">
          <a:blip r:embed="rId5">
            <a:alphaModFix/>
          </a:blip>
          <a:srcRect b="0" l="0" r="0" t="0"/>
          <a:stretch/>
        </p:blipFill>
        <p:spPr>
          <a:xfrm>
            <a:off x="6599238" y="4597400"/>
            <a:ext cx="666750" cy="636588"/>
          </a:xfrm>
          <a:prstGeom prst="rect">
            <a:avLst/>
          </a:prstGeom>
          <a:noFill/>
          <a:ln>
            <a:noFill/>
          </a:ln>
          <a:effectLst>
            <a:outerShdw blurRad="292100" rotWithShape="0" algn="tl" dir="2700000" dist="139700">
              <a:srgbClr val="333333">
                <a:alpha val="64705"/>
              </a:srgbClr>
            </a:outerShdw>
          </a:effectLst>
        </p:spPr>
      </p:pic>
      <p:cxnSp>
        <p:nvCxnSpPr>
          <p:cNvPr id="1144" name="Google Shape;1144;p42"/>
          <p:cNvCxnSpPr/>
          <p:nvPr/>
        </p:nvCxnSpPr>
        <p:spPr>
          <a:xfrm rot="10800000">
            <a:off x="6924675" y="3268663"/>
            <a:ext cx="0" cy="1501775"/>
          </a:xfrm>
          <a:prstGeom prst="straightConnector1">
            <a:avLst/>
          </a:prstGeom>
          <a:noFill/>
          <a:ln cap="flat" cmpd="sng" w="15875">
            <a:solidFill>
              <a:schemeClr val="dk1"/>
            </a:solidFill>
            <a:prstDash val="solid"/>
            <a:round/>
            <a:headEnd len="sm" w="sm" type="none"/>
            <a:tailEnd len="sm" w="sm" type="none"/>
          </a:ln>
        </p:spPr>
      </p:cxnSp>
      <p:grpSp>
        <p:nvGrpSpPr>
          <p:cNvPr id="1145" name="Google Shape;1145;p42"/>
          <p:cNvGrpSpPr/>
          <p:nvPr/>
        </p:nvGrpSpPr>
        <p:grpSpPr>
          <a:xfrm>
            <a:off x="839788" y="2003425"/>
            <a:ext cx="7464425" cy="461963"/>
            <a:chOff x="839787" y="6266774"/>
            <a:chExt cx="7464426" cy="461665"/>
          </a:xfrm>
        </p:grpSpPr>
        <p:sp>
          <p:nvSpPr>
            <p:cNvPr id="1146" name="Google Shape;1146;p42"/>
            <p:cNvSpPr/>
            <p:nvPr/>
          </p:nvSpPr>
          <p:spPr>
            <a:xfrm>
              <a:off x="946149" y="6276293"/>
              <a:ext cx="2368550" cy="39661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h</a:t>
              </a:r>
              <a:endParaRPr i="1" sz="2400">
                <a:solidFill>
                  <a:schemeClr val="dk1"/>
                </a:solidFill>
                <a:latin typeface="Arial"/>
                <a:ea typeface="Arial"/>
                <a:cs typeface="Arial"/>
                <a:sym typeface="Arial"/>
              </a:endParaRPr>
            </a:p>
          </p:txBody>
        </p:sp>
        <p:sp>
          <p:nvSpPr>
            <p:cNvPr id="1147" name="Google Shape;1147;p42"/>
            <p:cNvSpPr txBox="1"/>
            <p:nvPr/>
          </p:nvSpPr>
          <p:spPr>
            <a:xfrm>
              <a:off x="3078162" y="6266774"/>
              <a:ext cx="5226051"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gravitational potential energy </a:t>
              </a:r>
              <a:r>
                <a:rPr lang="en-US" sz="2400">
                  <a:solidFill>
                    <a:srgbClr val="FFFFFF"/>
                  </a:solidFill>
                  <a:latin typeface="Arial"/>
                  <a:ea typeface="Arial"/>
                  <a:cs typeface="Arial"/>
                  <a:sym typeface="Arial"/>
                </a:rPr>
                <a:t>change</a:t>
              </a:r>
              <a:endParaRPr sz="2400">
                <a:solidFill>
                  <a:schemeClr val="lt1"/>
                </a:solidFill>
                <a:latin typeface="Arial"/>
                <a:ea typeface="Arial"/>
                <a:cs typeface="Arial"/>
                <a:sym typeface="Arial"/>
              </a:endParaRPr>
            </a:p>
          </p:txBody>
        </p:sp>
        <p:sp>
          <p:nvSpPr>
            <p:cNvPr id="1148" name="Google Shape;1148;p42"/>
            <p:cNvSpPr/>
            <p:nvPr/>
          </p:nvSpPr>
          <p:spPr>
            <a:xfrm>
              <a:off x="839787" y="6269947"/>
              <a:ext cx="7462838" cy="45849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40">
                                            <p:txEl>
                                              <p:pRg end="0" st="0"/>
                                            </p:txEl>
                                          </p:spTgt>
                                        </p:tgtEl>
                                        <p:attrNameLst>
                                          <p:attrName>style.visibility</p:attrName>
                                        </p:attrNameLst>
                                      </p:cBhvr>
                                      <p:to>
                                        <p:strVal val="visible"/>
                                      </p:to>
                                    </p:set>
                                    <p:anim calcmode="lin" valueType="num">
                                      <p:cBhvr additive="base">
                                        <p:cTn dur="500"/>
                                        <p:tgtEl>
                                          <p:spTgt spid="114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40">
                                            <p:txEl>
                                              <p:pRg end="1" st="1"/>
                                            </p:txEl>
                                          </p:spTgt>
                                        </p:tgtEl>
                                        <p:attrNameLst>
                                          <p:attrName>style.visibility</p:attrName>
                                        </p:attrNameLst>
                                      </p:cBhvr>
                                      <p:to>
                                        <p:strVal val="visible"/>
                                      </p:to>
                                    </p:set>
                                    <p:anim calcmode="lin" valueType="num">
                                      <p:cBhvr additive="base">
                                        <p:cTn dur="500"/>
                                        <p:tgtEl>
                                          <p:spTgt spid="114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40">
                                            <p:txEl>
                                              <p:pRg end="2" st="2"/>
                                            </p:txEl>
                                          </p:spTgt>
                                        </p:tgtEl>
                                        <p:attrNameLst>
                                          <p:attrName>style.visibility</p:attrName>
                                        </p:attrNameLst>
                                      </p:cBhvr>
                                      <p:to>
                                        <p:strVal val="visible"/>
                                      </p:to>
                                    </p:set>
                                    <p:anim calcmode="lin" valueType="num">
                                      <p:cBhvr additive="base">
                                        <p:cTn dur="500"/>
                                        <p:tgtEl>
                                          <p:spTgt spid="114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40">
                                            <p:txEl>
                                              <p:pRg end="3" st="3"/>
                                            </p:txEl>
                                          </p:spTgt>
                                        </p:tgtEl>
                                        <p:attrNameLst>
                                          <p:attrName>style.visibility</p:attrName>
                                        </p:attrNameLst>
                                      </p:cBhvr>
                                      <p:to>
                                        <p:strVal val="visible"/>
                                      </p:to>
                                    </p:set>
                                    <p:anim calcmode="lin" valueType="num">
                                      <p:cBhvr additive="base">
                                        <p:cTn dur="500"/>
                                        <p:tgtEl>
                                          <p:spTgt spid="114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40">
                                            <p:txEl>
                                              <p:pRg end="4" st="4"/>
                                            </p:txEl>
                                          </p:spTgt>
                                        </p:tgtEl>
                                        <p:attrNameLst>
                                          <p:attrName>style.visibility</p:attrName>
                                        </p:attrNameLst>
                                      </p:cBhvr>
                                      <p:to>
                                        <p:strVal val="visible"/>
                                      </p:to>
                                    </p:set>
                                    <p:anim calcmode="lin" valueType="num">
                                      <p:cBhvr additive="base">
                                        <p:cTn dur="500"/>
                                        <p:tgtEl>
                                          <p:spTgt spid="114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40">
                                            <p:txEl>
                                              <p:pRg end="5" st="5"/>
                                            </p:txEl>
                                          </p:spTgt>
                                        </p:tgtEl>
                                        <p:attrNameLst>
                                          <p:attrName>style.visibility</p:attrName>
                                        </p:attrNameLst>
                                      </p:cBhvr>
                                      <p:to>
                                        <p:strVal val="visible"/>
                                      </p:to>
                                    </p:set>
                                    <p:anim calcmode="lin" valueType="num">
                                      <p:cBhvr additive="base">
                                        <p:cTn dur="500"/>
                                        <p:tgtEl>
                                          <p:spTgt spid="114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43"/>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Discussing the conservation of total energy </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∙As demonstrated on the previous slide, if there is no friction or drag to remove energy from a system</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∙The above formula is known as the statement of </a:t>
            </a:r>
            <a:r>
              <a:rPr b="1" lang="en-US" sz="2400">
                <a:solidFill>
                  <a:schemeClr val="dk1"/>
                </a:solidFill>
                <a:latin typeface="Arial"/>
                <a:ea typeface="Arial"/>
                <a:cs typeface="Arial"/>
                <a:sym typeface="Arial"/>
              </a:rPr>
              <a:t>the conservation of mechanical energy</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∙Essentially, what it means is that if the kinetic energy changes (say it increases), then the potential energy changes (it will decrease) in such a way that the total energy change is zero!</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∙Another way to put it is </a:t>
            </a:r>
            <a:r>
              <a:rPr i="1" lang="en-US" sz="2400">
                <a:solidFill>
                  <a:schemeClr val="hlink"/>
                </a:solidFill>
                <a:latin typeface="Arial"/>
                <a:ea typeface="Arial"/>
                <a:cs typeface="Arial"/>
                <a:sym typeface="Arial"/>
              </a:rPr>
              <a:t>“the total energy of a system never changes.”</a:t>
            </a:r>
            <a:endParaRPr/>
          </a:p>
        </p:txBody>
      </p:sp>
      <p:sp>
        <p:nvSpPr>
          <p:cNvPr id="1155" name="Google Shape;1155;p4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grpSp>
        <p:nvGrpSpPr>
          <p:cNvPr id="1156" name="Google Shape;1156;p43"/>
          <p:cNvGrpSpPr/>
          <p:nvPr/>
        </p:nvGrpSpPr>
        <p:grpSpPr>
          <a:xfrm>
            <a:off x="828675" y="2819400"/>
            <a:ext cx="7464425" cy="823913"/>
            <a:chOff x="828675" y="3258822"/>
            <a:chExt cx="7464426" cy="824865"/>
          </a:xfrm>
        </p:grpSpPr>
        <p:sp>
          <p:nvSpPr>
            <p:cNvPr id="1157" name="Google Shape;1157;p43"/>
            <p:cNvSpPr/>
            <p:nvPr/>
          </p:nvSpPr>
          <p:spPr>
            <a:xfrm>
              <a:off x="965200" y="3289020"/>
              <a:ext cx="2368550" cy="32104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0</a:t>
              </a:r>
              <a:endParaRPr/>
            </a:p>
          </p:txBody>
        </p:sp>
        <p:sp>
          <p:nvSpPr>
            <p:cNvPr id="1158" name="Google Shape;1158;p43"/>
            <p:cNvSpPr txBox="1"/>
            <p:nvPr/>
          </p:nvSpPr>
          <p:spPr>
            <a:xfrm>
              <a:off x="4678364" y="3279484"/>
              <a:ext cx="3614737" cy="462496"/>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conservation of energy</a:t>
              </a:r>
              <a:endParaRPr/>
            </a:p>
          </p:txBody>
        </p:sp>
        <p:sp>
          <p:nvSpPr>
            <p:cNvPr id="1159" name="Google Shape;1159;p43"/>
            <p:cNvSpPr/>
            <p:nvPr/>
          </p:nvSpPr>
          <p:spPr>
            <a:xfrm>
              <a:off x="828675" y="3258822"/>
              <a:ext cx="7462839" cy="824865"/>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160" name="Google Shape;1160;p43"/>
            <p:cNvSpPr/>
            <p:nvPr/>
          </p:nvSpPr>
          <p:spPr>
            <a:xfrm>
              <a:off x="2254250" y="3732444"/>
              <a:ext cx="6002339" cy="321046"/>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None/>
              </a:pPr>
              <a:r>
                <a:rPr i="1" lang="en-US" sz="2400">
                  <a:solidFill>
                    <a:schemeClr val="dk1"/>
                  </a:solidFill>
                  <a:latin typeface="Arial"/>
                  <a:ea typeface="Arial"/>
                  <a:cs typeface="Arial"/>
                  <a:sym typeface="Arial"/>
                </a:rPr>
                <a:t>In the absence of friction and drag</a:t>
              </a:r>
              <a:endParaRPr i="1" sz="2400">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4">
                                            <p:txEl>
                                              <p:pRg end="0" st="0"/>
                                            </p:txEl>
                                          </p:spTgt>
                                        </p:tgtEl>
                                        <p:attrNameLst>
                                          <p:attrName>style.visibility</p:attrName>
                                        </p:attrNameLst>
                                      </p:cBhvr>
                                      <p:to>
                                        <p:strVal val="visible"/>
                                      </p:to>
                                    </p:set>
                                    <p:anim calcmode="lin" valueType="num">
                                      <p:cBhvr additive="base">
                                        <p:cTn dur="500"/>
                                        <p:tgtEl>
                                          <p:spTgt spid="115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4">
                                            <p:txEl>
                                              <p:pRg end="1" st="1"/>
                                            </p:txEl>
                                          </p:spTgt>
                                        </p:tgtEl>
                                        <p:attrNameLst>
                                          <p:attrName>style.visibility</p:attrName>
                                        </p:attrNameLst>
                                      </p:cBhvr>
                                      <p:to>
                                        <p:strVal val="visible"/>
                                      </p:to>
                                    </p:set>
                                    <p:anim calcmode="lin" valueType="num">
                                      <p:cBhvr additive="base">
                                        <p:cTn dur="500"/>
                                        <p:tgtEl>
                                          <p:spTgt spid="115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4">
                                            <p:txEl>
                                              <p:pRg end="2" st="2"/>
                                            </p:txEl>
                                          </p:spTgt>
                                        </p:tgtEl>
                                        <p:attrNameLst>
                                          <p:attrName>style.visibility</p:attrName>
                                        </p:attrNameLst>
                                      </p:cBhvr>
                                      <p:to>
                                        <p:strVal val="visible"/>
                                      </p:to>
                                    </p:set>
                                    <p:anim calcmode="lin" valueType="num">
                                      <p:cBhvr additive="base">
                                        <p:cTn dur="500"/>
                                        <p:tgtEl>
                                          <p:spTgt spid="115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4">
                                            <p:txEl>
                                              <p:pRg end="3" st="3"/>
                                            </p:txEl>
                                          </p:spTgt>
                                        </p:tgtEl>
                                        <p:attrNameLst>
                                          <p:attrName>style.visibility</p:attrName>
                                        </p:attrNameLst>
                                      </p:cBhvr>
                                      <p:to>
                                        <p:strVal val="visible"/>
                                      </p:to>
                                    </p:set>
                                    <p:anim calcmode="lin" valueType="num">
                                      <p:cBhvr additive="base">
                                        <p:cTn dur="500"/>
                                        <p:tgtEl>
                                          <p:spTgt spid="115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4">
                                            <p:txEl>
                                              <p:pRg end="4" st="4"/>
                                            </p:txEl>
                                          </p:spTgt>
                                        </p:tgtEl>
                                        <p:attrNameLst>
                                          <p:attrName>style.visibility</p:attrName>
                                        </p:attrNameLst>
                                      </p:cBhvr>
                                      <p:to>
                                        <p:strVal val="visible"/>
                                      </p:to>
                                    </p:set>
                                    <p:anim calcmode="lin" valueType="num">
                                      <p:cBhvr additive="base">
                                        <p:cTn dur="500"/>
                                        <p:tgtEl>
                                          <p:spTgt spid="115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4">
                                            <p:txEl>
                                              <p:pRg end="5" st="5"/>
                                            </p:txEl>
                                          </p:spTgt>
                                        </p:tgtEl>
                                        <p:attrNameLst>
                                          <p:attrName>style.visibility</p:attrName>
                                        </p:attrNameLst>
                                      </p:cBhvr>
                                      <p:to>
                                        <p:strVal val="visible"/>
                                      </p:to>
                                    </p:set>
                                    <p:anim calcmode="lin" valueType="num">
                                      <p:cBhvr additive="base">
                                        <p:cTn dur="500"/>
                                        <p:tgtEl>
                                          <p:spTgt spid="115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4">
                                            <p:txEl>
                                              <p:pRg end="6" st="6"/>
                                            </p:txEl>
                                          </p:spTgt>
                                        </p:tgtEl>
                                        <p:attrNameLst>
                                          <p:attrName>style.visibility</p:attrName>
                                        </p:attrNameLst>
                                      </p:cBhvr>
                                      <p:to>
                                        <p:strVal val="visible"/>
                                      </p:to>
                                    </p:set>
                                    <p:anim calcmode="lin" valueType="num">
                                      <p:cBhvr additive="base">
                                        <p:cTn dur="500"/>
                                        <p:tgtEl>
                                          <p:spTgt spid="115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56"/>
                                        </p:tgtEl>
                                        <p:attrNameLst>
                                          <p:attrName>style.visibility</p:attrName>
                                        </p:attrNameLst>
                                      </p:cBhvr>
                                      <p:to>
                                        <p:strVal val="visible"/>
                                      </p:to>
                                    </p:set>
                                    <p:anim calcmode="lin" valueType="num">
                                      <p:cBhvr additive="base">
                                        <p:cTn dur="500"/>
                                        <p:tgtEl>
                                          <p:spTgt spid="1156"/>
                                        </p:tgtEl>
                                        <p:attrNameLst>
                                          <p:attrName>ppt_w</p:attrName>
                                        </p:attrNameLst>
                                      </p:cBhvr>
                                      <p:tavLst>
                                        <p:tav fmla="" tm="0">
                                          <p:val>
                                            <p:strVal val="0"/>
                                          </p:val>
                                        </p:tav>
                                        <p:tav fmla="" tm="100000">
                                          <p:val>
                                            <p:strVal val="#ppt_w"/>
                                          </p:val>
                                        </p:tav>
                                      </p:tavLst>
                                    </p:anim>
                                    <p:anim calcmode="lin" valueType="num">
                                      <p:cBhvr additive="base">
                                        <p:cTn dur="500"/>
                                        <p:tgtEl>
                                          <p:spTgt spid="115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44"/>
          <p:cNvSpPr/>
          <p:nvPr/>
        </p:nvSpPr>
        <p:spPr>
          <a:xfrm>
            <a:off x="685800" y="1549400"/>
            <a:ext cx="7772400" cy="133508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Discussing the conservation of total energy </a:t>
            </a:r>
            <a:endParaRPr/>
          </a:p>
          <a:p>
            <a:pPr indent="0" lvl="0" marL="0" marR="0" rtl="0" algn="l">
              <a:spcBef>
                <a:spcPts val="400"/>
              </a:spcBef>
              <a:spcAft>
                <a:spcPts val="0"/>
              </a:spcAft>
              <a:buClr>
                <a:schemeClr val="dk1"/>
              </a:buClr>
              <a:buSzPts val="2000"/>
              <a:buFont typeface="Courier New"/>
              <a:buNone/>
            </a:pPr>
            <a:r>
              <a:rPr lang="en-US" sz="2000">
                <a:solidFill>
                  <a:schemeClr val="dk1"/>
                </a:solidFill>
                <a:latin typeface="Courier New"/>
                <a:ea typeface="Courier New"/>
                <a:cs typeface="Courier New"/>
                <a:sym typeface="Courier New"/>
              </a:rPr>
              <a:t>	</a:t>
            </a:r>
            <a:endParaRPr/>
          </a:p>
        </p:txBody>
      </p:sp>
      <p:sp>
        <p:nvSpPr>
          <p:cNvPr id="1167" name="Google Shape;1167;p4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1168" name="Google Shape;1168;p44"/>
          <p:cNvSpPr/>
          <p:nvPr/>
        </p:nvSpPr>
        <p:spPr>
          <a:xfrm>
            <a:off x="658813" y="2884488"/>
            <a:ext cx="7781925" cy="3973512"/>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Find the speed of the 2-kg ball when it reaches the bottom of the 20-m tall frictionless track.</a:t>
            </a:r>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2400"/>
              </a:spcBef>
              <a:spcAft>
                <a:spcPts val="0"/>
              </a:spcAft>
              <a:buNone/>
            </a:pPr>
            <a:r>
              <a:rPr lang="en-US" sz="2400">
                <a:solidFill>
                  <a:schemeClr val="dk1"/>
                </a:solidFill>
                <a:latin typeface="Arial"/>
                <a:ea typeface="Arial"/>
                <a:cs typeface="Arial"/>
                <a:sym typeface="Arial"/>
              </a:rPr>
              <a:t>SOLUTION: Use energy conservation to find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K,f</a:t>
            </a:r>
            <a:r>
              <a:rPr lang="en-US" sz="2400">
                <a:solidFill>
                  <a:schemeClr val="dk1"/>
                </a:solidFill>
                <a:latin typeface="Arial"/>
                <a:ea typeface="Arial"/>
                <a:cs typeface="Arial"/>
                <a:sym typeface="Arial"/>
              </a:rPr>
              <a:t> and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endParaRPr/>
          </a:p>
          <a:p>
            <a:pPr indent="0" lvl="0" marL="0" marR="0" rtl="0" algn="l">
              <a:spcBef>
                <a:spcPts val="40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0</a:t>
            </a:r>
            <a:endParaRPr sz="2400">
              <a:solidFill>
                <a:schemeClr val="dk1"/>
              </a:solidFill>
              <a:latin typeface="Arial"/>
              <a:ea typeface="Arial"/>
              <a:cs typeface="Arial"/>
              <a:sym typeface="Arial"/>
            </a:endParaRPr>
          </a:p>
          <a:p>
            <a:pPr indent="0" lvl="0" marL="0" marR="0" rtl="0" algn="l">
              <a:spcBef>
                <a:spcPts val="40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(1/2)</a:t>
            </a:r>
            <a:r>
              <a:rPr i="1" lang="en-US" sz="2400">
                <a:solidFill>
                  <a:schemeClr val="dk1"/>
                </a:solidFill>
                <a:latin typeface="Arial"/>
                <a:ea typeface="Arial"/>
                <a:cs typeface="Arial"/>
                <a:sym typeface="Arial"/>
              </a:rPr>
              <a:t>mv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mu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h</a:t>
            </a:r>
            <a:r>
              <a:rPr lang="en-US" sz="2400">
                <a:solidFill>
                  <a:schemeClr val="dk1"/>
                </a:solidFill>
                <a:latin typeface="Arial"/>
                <a:ea typeface="Arial"/>
                <a:cs typeface="Arial"/>
                <a:sym typeface="Arial"/>
              </a:rPr>
              <a:t> = 0</a:t>
            </a:r>
            <a:endParaRPr/>
          </a:p>
          <a:p>
            <a:pPr indent="0" lvl="0" marL="0" marR="0" rtl="0" algn="l">
              <a:spcBef>
                <a:spcPts val="40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(1/2)(2)</a:t>
            </a: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(1/2)(2)0</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+ 2(10)(-20) = 0</a:t>
            </a:r>
            <a:endParaRPr/>
          </a:p>
          <a:p>
            <a:pPr indent="0" lvl="0" marL="0" marR="0" rtl="0" algn="l">
              <a:spcBef>
                <a:spcPts val="400"/>
              </a:spcBef>
              <a:spcAft>
                <a:spcPts val="0"/>
              </a:spcAft>
              <a:buClr>
                <a:schemeClr val="dk1"/>
              </a:buClr>
              <a:buSzPts val="2400"/>
              <a:buFont typeface="Noto Sans Symbols"/>
              <a:buNone/>
            </a:pPr>
            <a:r>
              <a:rPr i="1" lang="en-US" sz="2400">
                <a:solidFill>
                  <a:schemeClr val="dk1"/>
                </a:solidFill>
                <a:latin typeface="Arial"/>
                <a:ea typeface="Arial"/>
                <a:cs typeface="Arial"/>
                <a:sym typeface="Arial"/>
              </a:rPr>
              <a:t>                            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400  →  </a:t>
            </a: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 20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a:p>
        </p:txBody>
      </p:sp>
      <p:sp>
        <p:nvSpPr>
          <p:cNvPr id="1169" name="Google Shape;1169;p44"/>
          <p:cNvSpPr/>
          <p:nvPr/>
        </p:nvSpPr>
        <p:spPr>
          <a:xfrm>
            <a:off x="974725" y="3762375"/>
            <a:ext cx="7064375" cy="1022350"/>
          </a:xfrm>
          <a:custGeom>
            <a:rect b="b" l="l" r="r" t="t"/>
            <a:pathLst>
              <a:path extrusionOk="0" h="727" w="4450">
                <a:moveTo>
                  <a:pt x="0" y="17"/>
                </a:moveTo>
                <a:cubicBezTo>
                  <a:pt x="90" y="29"/>
                  <a:pt x="394" y="0"/>
                  <a:pt x="551" y="92"/>
                </a:cubicBezTo>
                <a:cubicBezTo>
                  <a:pt x="708" y="184"/>
                  <a:pt x="791" y="467"/>
                  <a:pt x="944" y="568"/>
                </a:cubicBezTo>
                <a:cubicBezTo>
                  <a:pt x="1097" y="669"/>
                  <a:pt x="1306" y="727"/>
                  <a:pt x="1469" y="701"/>
                </a:cubicBezTo>
                <a:cubicBezTo>
                  <a:pt x="1632" y="675"/>
                  <a:pt x="1788" y="473"/>
                  <a:pt x="1920" y="409"/>
                </a:cubicBezTo>
                <a:cubicBezTo>
                  <a:pt x="2052" y="345"/>
                  <a:pt x="2155" y="309"/>
                  <a:pt x="2263" y="317"/>
                </a:cubicBezTo>
                <a:cubicBezTo>
                  <a:pt x="2371" y="325"/>
                  <a:pt x="2486" y="406"/>
                  <a:pt x="2571" y="459"/>
                </a:cubicBezTo>
                <a:cubicBezTo>
                  <a:pt x="2656" y="512"/>
                  <a:pt x="2674" y="592"/>
                  <a:pt x="2772" y="634"/>
                </a:cubicBezTo>
                <a:cubicBezTo>
                  <a:pt x="2870" y="676"/>
                  <a:pt x="2876" y="696"/>
                  <a:pt x="3156" y="710"/>
                </a:cubicBezTo>
                <a:cubicBezTo>
                  <a:pt x="3436" y="724"/>
                  <a:pt x="3943" y="721"/>
                  <a:pt x="4450" y="718"/>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70" name="Google Shape;1170;p44"/>
          <p:cNvSpPr/>
          <p:nvPr/>
        </p:nvSpPr>
        <p:spPr>
          <a:xfrm>
            <a:off x="949325" y="3616325"/>
            <a:ext cx="171450" cy="171450"/>
          </a:xfrm>
          <a:prstGeom prst="ellipse">
            <a:avLst/>
          </a:prstGeom>
          <a:gradFill>
            <a:gsLst>
              <a:gs pos="0">
                <a:schemeClr val="accent1"/>
              </a:gs>
              <a:gs pos="100000">
                <a:srgbClr val="839D9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descr="Oak" id="1171" name="Google Shape;1171;p44"/>
          <p:cNvSpPr/>
          <p:nvPr/>
        </p:nvSpPr>
        <p:spPr>
          <a:xfrm>
            <a:off x="7648575" y="4470400"/>
            <a:ext cx="546100" cy="338138"/>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cxnSp>
        <p:nvCxnSpPr>
          <p:cNvPr id="1172" name="Google Shape;1172;p44"/>
          <p:cNvCxnSpPr/>
          <p:nvPr/>
        </p:nvCxnSpPr>
        <p:spPr>
          <a:xfrm rot="10800000">
            <a:off x="854075" y="4821238"/>
            <a:ext cx="7459663" cy="0"/>
          </a:xfrm>
          <a:prstGeom prst="straightConnector1">
            <a:avLst/>
          </a:prstGeom>
          <a:noFill/>
          <a:ln cap="flat" cmpd="sng" w="9525">
            <a:solidFill>
              <a:schemeClr val="dk1"/>
            </a:solidFill>
            <a:prstDash val="dash"/>
            <a:round/>
            <a:headEnd len="med" w="med" type="none"/>
            <a:tailEnd len="med" w="med" type="none"/>
          </a:ln>
        </p:spPr>
      </p:cxnSp>
      <p:grpSp>
        <p:nvGrpSpPr>
          <p:cNvPr id="1173" name="Google Shape;1173;p44"/>
          <p:cNvGrpSpPr/>
          <p:nvPr/>
        </p:nvGrpSpPr>
        <p:grpSpPr>
          <a:xfrm>
            <a:off x="1001713" y="3760788"/>
            <a:ext cx="544512" cy="1058862"/>
            <a:chOff x="631" y="2107"/>
            <a:chExt cx="343" cy="720"/>
          </a:xfrm>
        </p:grpSpPr>
        <p:cxnSp>
          <p:nvCxnSpPr>
            <p:cNvPr id="1174" name="Google Shape;1174;p44"/>
            <p:cNvCxnSpPr/>
            <p:nvPr/>
          </p:nvCxnSpPr>
          <p:spPr>
            <a:xfrm rot="10800000">
              <a:off x="652" y="2107"/>
              <a:ext cx="0" cy="720"/>
            </a:xfrm>
            <a:prstGeom prst="straightConnector1">
              <a:avLst/>
            </a:prstGeom>
            <a:noFill/>
            <a:ln cap="flat" cmpd="sng" w="28575">
              <a:solidFill>
                <a:schemeClr val="dk1"/>
              </a:solidFill>
              <a:prstDash val="solid"/>
              <a:round/>
              <a:headEnd len="med" w="med" type="stealth"/>
              <a:tailEnd len="med" w="med" type="none"/>
            </a:ln>
          </p:spPr>
        </p:cxnSp>
        <p:sp>
          <p:nvSpPr>
            <p:cNvPr id="1175" name="Google Shape;1175;p44"/>
            <p:cNvSpPr txBox="1"/>
            <p:nvPr/>
          </p:nvSpPr>
          <p:spPr>
            <a:xfrm>
              <a:off x="631" y="2324"/>
              <a:ext cx="343" cy="3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h</a:t>
              </a:r>
              <a:endParaRPr sz="2400">
                <a:solidFill>
                  <a:schemeClr val="dk1"/>
                </a:solidFill>
                <a:latin typeface="Arial"/>
                <a:ea typeface="Arial"/>
                <a:cs typeface="Arial"/>
                <a:sym typeface="Arial"/>
              </a:endParaRPr>
            </a:p>
          </p:txBody>
        </p:sp>
      </p:grpSp>
      <p:grpSp>
        <p:nvGrpSpPr>
          <p:cNvPr id="1176" name="Google Shape;1176;p44"/>
          <p:cNvGrpSpPr/>
          <p:nvPr/>
        </p:nvGrpSpPr>
        <p:grpSpPr>
          <a:xfrm>
            <a:off x="828675" y="1995488"/>
            <a:ext cx="7464425" cy="825500"/>
            <a:chOff x="828675" y="3258822"/>
            <a:chExt cx="7464426" cy="824865"/>
          </a:xfrm>
        </p:grpSpPr>
        <p:sp>
          <p:nvSpPr>
            <p:cNvPr id="1177" name="Google Shape;1177;p44"/>
            <p:cNvSpPr/>
            <p:nvPr/>
          </p:nvSpPr>
          <p:spPr>
            <a:xfrm>
              <a:off x="965200" y="3288961"/>
              <a:ext cx="2368550" cy="32042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0</a:t>
              </a:r>
              <a:endParaRPr/>
            </a:p>
          </p:txBody>
        </p:sp>
        <p:sp>
          <p:nvSpPr>
            <p:cNvPr id="1178" name="Google Shape;1178;p44"/>
            <p:cNvSpPr txBox="1"/>
            <p:nvPr/>
          </p:nvSpPr>
          <p:spPr>
            <a:xfrm>
              <a:off x="4678364" y="3279443"/>
              <a:ext cx="3614737" cy="46160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conservation of energy</a:t>
              </a:r>
              <a:endParaRPr/>
            </a:p>
          </p:txBody>
        </p:sp>
        <p:sp>
          <p:nvSpPr>
            <p:cNvPr id="1179" name="Google Shape;1179;p44"/>
            <p:cNvSpPr/>
            <p:nvPr/>
          </p:nvSpPr>
          <p:spPr>
            <a:xfrm>
              <a:off x="828675" y="3258822"/>
              <a:ext cx="7462839" cy="824865"/>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180" name="Google Shape;1180;p44"/>
            <p:cNvSpPr/>
            <p:nvPr/>
          </p:nvSpPr>
          <p:spPr>
            <a:xfrm>
              <a:off x="2254250" y="3733119"/>
              <a:ext cx="6002339" cy="320428"/>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None/>
              </a:pPr>
              <a:r>
                <a:rPr i="1" lang="en-US" sz="2400">
                  <a:solidFill>
                    <a:schemeClr val="dk1"/>
                  </a:solidFill>
                  <a:latin typeface="Arial"/>
                  <a:ea typeface="Arial"/>
                  <a:cs typeface="Arial"/>
                  <a:sym typeface="Arial"/>
                </a:rPr>
                <a:t>In the absence of friction and drag</a:t>
              </a:r>
              <a:endParaRPr i="1" sz="2400">
                <a:solidFill>
                  <a:schemeClr val="dk1"/>
                </a:solidFill>
                <a:latin typeface="Arial"/>
                <a:ea typeface="Arial"/>
                <a:cs typeface="Arial"/>
                <a:sym typeface="Arial"/>
              </a:endParaRPr>
            </a:p>
          </p:txBody>
        </p:sp>
      </p:grpSp>
      <p:cxnSp>
        <p:nvCxnSpPr>
          <p:cNvPr id="1181" name="Google Shape;1181;p44"/>
          <p:cNvCxnSpPr/>
          <p:nvPr/>
        </p:nvCxnSpPr>
        <p:spPr>
          <a:xfrm flipH="1" rot="10800000">
            <a:off x="1546225" y="6153150"/>
            <a:ext cx="241300" cy="300038"/>
          </a:xfrm>
          <a:prstGeom prst="straightConnector1">
            <a:avLst/>
          </a:prstGeom>
          <a:noFill/>
          <a:ln cap="flat" cmpd="sng" w="28575">
            <a:solidFill>
              <a:srgbClr val="FF3300"/>
            </a:solidFill>
            <a:prstDash val="solid"/>
            <a:round/>
            <a:headEnd len="med" w="med" type="none"/>
            <a:tailEnd len="med" w="med" type="none"/>
          </a:ln>
        </p:spPr>
      </p:cxnSp>
      <p:cxnSp>
        <p:nvCxnSpPr>
          <p:cNvPr id="1182" name="Google Shape;1182;p44"/>
          <p:cNvCxnSpPr/>
          <p:nvPr/>
        </p:nvCxnSpPr>
        <p:spPr>
          <a:xfrm flipH="1" rot="10800000">
            <a:off x="3092450" y="6153150"/>
            <a:ext cx="120650" cy="300038"/>
          </a:xfrm>
          <a:prstGeom prst="straightConnector1">
            <a:avLst/>
          </a:prstGeom>
          <a:noFill/>
          <a:ln cap="flat" cmpd="sng" w="28575">
            <a:solidFill>
              <a:srgbClr val="FF3300"/>
            </a:solidFill>
            <a:prstDash val="solid"/>
            <a:round/>
            <a:headEnd len="med" w="med" type="none"/>
            <a:tailEnd len="med" w="med" type="none"/>
          </a:ln>
        </p:spPr>
      </p:cxnSp>
      <p:cxnSp>
        <p:nvCxnSpPr>
          <p:cNvPr id="1183" name="Google Shape;1183;p44"/>
          <p:cNvCxnSpPr/>
          <p:nvPr/>
        </p:nvCxnSpPr>
        <p:spPr>
          <a:xfrm flipH="1" rot="10800000">
            <a:off x="3937000" y="6153150"/>
            <a:ext cx="241300" cy="276225"/>
          </a:xfrm>
          <a:prstGeom prst="straightConnector1">
            <a:avLst/>
          </a:prstGeom>
          <a:noFill/>
          <a:ln cap="flat" cmpd="sng" w="28575">
            <a:solidFill>
              <a:srgbClr val="FF3300"/>
            </a:solidFill>
            <a:prstDash val="solid"/>
            <a:round/>
            <a:headEnd len="med" w="med" type="none"/>
            <a:tailEnd len="med" w="med" type="none"/>
          </a:ln>
        </p:spPr>
      </p:cxnSp>
      <p:sp>
        <p:nvSpPr>
          <p:cNvPr id="1184" name="Google Shape;1184;p44"/>
          <p:cNvSpPr/>
          <p:nvPr/>
        </p:nvSpPr>
        <p:spPr>
          <a:xfrm>
            <a:off x="5930900" y="5287963"/>
            <a:ext cx="2527300" cy="1165225"/>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If friction is zero,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always cancels…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76"/>
                                        </p:tgtEl>
                                        <p:attrNameLst>
                                          <p:attrName>style.visibility</p:attrName>
                                        </p:attrNameLst>
                                      </p:cBhvr>
                                      <p:to>
                                        <p:strVal val="visible"/>
                                      </p:to>
                                    </p:set>
                                    <p:anim calcmode="lin" valueType="num">
                                      <p:cBhvr additive="base">
                                        <p:cTn dur="500"/>
                                        <p:tgtEl>
                                          <p:spTgt spid="1176"/>
                                        </p:tgtEl>
                                        <p:attrNameLst>
                                          <p:attrName>ppt_w</p:attrName>
                                        </p:attrNameLst>
                                      </p:cBhvr>
                                      <p:tavLst>
                                        <p:tav fmla="" tm="0">
                                          <p:val>
                                            <p:strVal val="0"/>
                                          </p:val>
                                        </p:tav>
                                        <p:tav fmla="" tm="100000">
                                          <p:val>
                                            <p:strVal val="#ppt_w"/>
                                          </p:val>
                                        </p:tav>
                                      </p:tavLst>
                                    </p:anim>
                                    <p:anim calcmode="lin" valueType="num">
                                      <p:cBhvr additive="base">
                                        <p:cTn dur="500"/>
                                        <p:tgtEl>
                                          <p:spTgt spid="117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8">
                                            <p:txEl>
                                              <p:pRg end="0" st="0"/>
                                            </p:txEl>
                                          </p:spTgt>
                                        </p:tgtEl>
                                        <p:attrNameLst>
                                          <p:attrName>style.visibility</p:attrName>
                                        </p:attrNameLst>
                                      </p:cBhvr>
                                      <p:to>
                                        <p:strVal val="visible"/>
                                      </p:to>
                                    </p:set>
                                    <p:anim calcmode="lin" valueType="num">
                                      <p:cBhvr additive="base">
                                        <p:cTn dur="500"/>
                                        <p:tgtEl>
                                          <p:spTgt spid="116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8">
                                            <p:txEl>
                                              <p:pRg end="1" st="1"/>
                                            </p:txEl>
                                          </p:spTgt>
                                        </p:tgtEl>
                                        <p:attrNameLst>
                                          <p:attrName>style.visibility</p:attrName>
                                        </p:attrNameLst>
                                      </p:cBhvr>
                                      <p:to>
                                        <p:strVal val="visible"/>
                                      </p:to>
                                    </p:set>
                                    <p:anim calcmode="lin" valueType="num">
                                      <p:cBhvr additive="base">
                                        <p:cTn dur="500"/>
                                        <p:tgtEl>
                                          <p:spTgt spid="116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8">
                                            <p:txEl>
                                              <p:pRg end="2" st="2"/>
                                            </p:txEl>
                                          </p:spTgt>
                                        </p:tgtEl>
                                        <p:attrNameLst>
                                          <p:attrName>style.visibility</p:attrName>
                                        </p:attrNameLst>
                                      </p:cBhvr>
                                      <p:to>
                                        <p:strVal val="visible"/>
                                      </p:to>
                                    </p:set>
                                    <p:anim calcmode="lin" valueType="num">
                                      <p:cBhvr additive="base">
                                        <p:cTn dur="500"/>
                                        <p:tgtEl>
                                          <p:spTgt spid="116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8">
                                            <p:txEl>
                                              <p:pRg end="3" st="3"/>
                                            </p:txEl>
                                          </p:spTgt>
                                        </p:tgtEl>
                                        <p:attrNameLst>
                                          <p:attrName>style.visibility</p:attrName>
                                        </p:attrNameLst>
                                      </p:cBhvr>
                                      <p:to>
                                        <p:strVal val="visible"/>
                                      </p:to>
                                    </p:set>
                                    <p:anim calcmode="lin" valueType="num">
                                      <p:cBhvr additive="base">
                                        <p:cTn dur="500"/>
                                        <p:tgtEl>
                                          <p:spTgt spid="116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8">
                                            <p:txEl>
                                              <p:pRg end="4" st="4"/>
                                            </p:txEl>
                                          </p:spTgt>
                                        </p:tgtEl>
                                        <p:attrNameLst>
                                          <p:attrName>style.visibility</p:attrName>
                                        </p:attrNameLst>
                                      </p:cBhvr>
                                      <p:to>
                                        <p:strVal val="visible"/>
                                      </p:to>
                                    </p:set>
                                    <p:anim calcmode="lin" valueType="num">
                                      <p:cBhvr additive="base">
                                        <p:cTn dur="500"/>
                                        <p:tgtEl>
                                          <p:spTgt spid="116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8">
                                            <p:txEl>
                                              <p:pRg end="5" st="5"/>
                                            </p:txEl>
                                          </p:spTgt>
                                        </p:tgtEl>
                                        <p:attrNameLst>
                                          <p:attrName>style.visibility</p:attrName>
                                        </p:attrNameLst>
                                      </p:cBhvr>
                                      <p:to>
                                        <p:strVal val="visible"/>
                                      </p:to>
                                    </p:set>
                                    <p:anim calcmode="lin" valueType="num">
                                      <p:cBhvr additive="base">
                                        <p:cTn dur="500"/>
                                        <p:tgtEl>
                                          <p:spTgt spid="116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8">
                                            <p:txEl>
                                              <p:pRg end="6" st="6"/>
                                            </p:txEl>
                                          </p:spTgt>
                                        </p:tgtEl>
                                        <p:attrNameLst>
                                          <p:attrName>style.visibility</p:attrName>
                                        </p:attrNameLst>
                                      </p:cBhvr>
                                      <p:to>
                                        <p:strVal val="visible"/>
                                      </p:to>
                                    </p:set>
                                    <p:anim calcmode="lin" valueType="num">
                                      <p:cBhvr additive="base">
                                        <p:cTn dur="500"/>
                                        <p:tgtEl>
                                          <p:spTgt spid="116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8">
                                            <p:txEl>
                                              <p:pRg end="7" st="7"/>
                                            </p:txEl>
                                          </p:spTgt>
                                        </p:tgtEl>
                                        <p:attrNameLst>
                                          <p:attrName>style.visibility</p:attrName>
                                        </p:attrNameLst>
                                      </p:cBhvr>
                                      <p:to>
                                        <p:strVal val="visible"/>
                                      </p:to>
                                    </p:set>
                                    <p:anim calcmode="lin" valueType="num">
                                      <p:cBhvr additive="base">
                                        <p:cTn dur="500"/>
                                        <p:tgtEl>
                                          <p:spTgt spid="1168">
                                            <p:txEl>
                                              <p:pRg end="7" st="7"/>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69"/>
                                        </p:tgtEl>
                                        <p:attrNameLst>
                                          <p:attrName>style.visibility</p:attrName>
                                        </p:attrNameLst>
                                      </p:cBhvr>
                                      <p:to>
                                        <p:strVal val="visible"/>
                                      </p:to>
                                    </p:set>
                                    <p:animEffect filter="fade" transition="in">
                                      <p:cBhvr>
                                        <p:cTn dur="2000"/>
                                        <p:tgtEl>
                                          <p:spTgt spid="1169"/>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171"/>
                                        </p:tgtEl>
                                        <p:attrNameLst>
                                          <p:attrName>style.visibility</p:attrName>
                                        </p:attrNameLst>
                                      </p:cBhvr>
                                      <p:to>
                                        <p:strVal val="visible"/>
                                      </p:to>
                                    </p:set>
                                    <p:animEffect filter="fade" transition="in">
                                      <p:cBhvr>
                                        <p:cTn dur="500"/>
                                        <p:tgtEl>
                                          <p:spTgt spid="117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170"/>
                                        </p:tgtEl>
                                        <p:attrNameLst>
                                          <p:attrName>style.visibility</p:attrName>
                                        </p:attrNameLst>
                                      </p:cBhvr>
                                      <p:to>
                                        <p:strVal val="visible"/>
                                      </p:to>
                                    </p:set>
                                    <p:animEffect filter="fade" transition="in">
                                      <p:cBhvr>
                                        <p:cTn dur="500"/>
                                        <p:tgtEl>
                                          <p:spTgt spid="1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2"/>
                                        </p:tgtEl>
                                        <p:attrNameLst>
                                          <p:attrName>style.visibility</p:attrName>
                                        </p:attrNameLst>
                                      </p:cBhvr>
                                      <p:to>
                                        <p:strVal val="visible"/>
                                      </p:to>
                                    </p:set>
                                    <p:animEffect filter="fade" transition="in">
                                      <p:cBhvr>
                                        <p:cTn dur="1000"/>
                                        <p:tgtEl>
                                          <p:spTgt spid="1172"/>
                                        </p:tgtEl>
                                      </p:cBhvr>
                                    </p:animEffect>
                                  </p:childTnLst>
                                </p:cTn>
                              </p:par>
                              <p:par>
                                <p:cTn fill="hold" nodeType="withEffect" presetClass="entr" presetID="10" presetSubtype="0">
                                  <p:stCondLst>
                                    <p:cond delay="0"/>
                                  </p:stCondLst>
                                  <p:childTnLst>
                                    <p:set>
                                      <p:cBhvr>
                                        <p:cTn dur="1" fill="hold">
                                          <p:stCondLst>
                                            <p:cond delay="0"/>
                                          </p:stCondLst>
                                        </p:cTn>
                                        <p:tgtEl>
                                          <p:spTgt spid="1173"/>
                                        </p:tgtEl>
                                        <p:attrNameLst>
                                          <p:attrName>style.visibility</p:attrName>
                                        </p:attrNameLst>
                                      </p:cBhvr>
                                      <p:to>
                                        <p:strVal val="visible"/>
                                      </p:to>
                                    </p:set>
                                    <p:animEffect filter="fade" transition="in">
                                      <p:cBhvr>
                                        <p:cTn dur="500"/>
                                        <p:tgtEl>
                                          <p:spTgt spid="1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1"/>
                                        </p:tgtEl>
                                        <p:attrNameLst>
                                          <p:attrName>style.visibility</p:attrName>
                                        </p:attrNameLst>
                                      </p:cBhvr>
                                      <p:to>
                                        <p:strVal val="visible"/>
                                      </p:to>
                                    </p:set>
                                    <p:animEffect filter="fade" transition="in">
                                      <p:cBhvr>
                                        <p:cTn dur="500"/>
                                        <p:tgtEl>
                                          <p:spTgt spid="11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2"/>
                                        </p:tgtEl>
                                        <p:attrNameLst>
                                          <p:attrName>style.visibility</p:attrName>
                                        </p:attrNameLst>
                                      </p:cBhvr>
                                      <p:to>
                                        <p:strVal val="visible"/>
                                      </p:to>
                                    </p:set>
                                    <p:animEffect filter="fade" transition="in">
                                      <p:cBhvr>
                                        <p:cTn dur="500"/>
                                        <p:tgtEl>
                                          <p:spTgt spid="1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3"/>
                                        </p:tgtEl>
                                        <p:attrNameLst>
                                          <p:attrName>style.visibility</p:attrName>
                                        </p:attrNameLst>
                                      </p:cBhvr>
                                      <p:to>
                                        <p:strVal val="visible"/>
                                      </p:to>
                                    </p:set>
                                    <p:animEffect filter="fade" transition="in">
                                      <p:cBhvr>
                                        <p:cTn dur="500"/>
                                        <p:tgtEl>
                                          <p:spTgt spid="1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4">
                                            <p:txEl>
                                              <p:pRg end="0" st="0"/>
                                            </p:txEl>
                                          </p:spTgt>
                                        </p:tgtEl>
                                        <p:attrNameLst>
                                          <p:attrName>style.visibility</p:attrName>
                                        </p:attrNameLst>
                                      </p:cBhvr>
                                      <p:to>
                                        <p:strVal val="visible"/>
                                      </p:to>
                                    </p:set>
                                    <p:anim calcmode="lin" valueType="num">
                                      <p:cBhvr additive="base">
                                        <p:cTn dur="500"/>
                                        <p:tgtEl>
                                          <p:spTgt spid="118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45"/>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1191" name="Google Shape;1191;p45"/>
          <p:cNvSpPr/>
          <p:nvPr/>
        </p:nvSpPr>
        <p:spPr>
          <a:xfrm>
            <a:off x="685800" y="1549400"/>
            <a:ext cx="7772400" cy="5080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Discussing the conservation of total energy </a:t>
            </a:r>
            <a:endParaRPr/>
          </a:p>
        </p:txBody>
      </p:sp>
      <p:sp>
        <p:nvSpPr>
          <p:cNvPr id="1192" name="Google Shape;1192;p45"/>
          <p:cNvSpPr/>
          <p:nvPr/>
        </p:nvSpPr>
        <p:spPr>
          <a:xfrm>
            <a:off x="671513" y="2057400"/>
            <a:ext cx="7761287" cy="4800600"/>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A 25-kg object resting                                              on a frictionless incline is                                                 released, as shown. What is its                                           speed at the bottom?</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   We solved this one                                             long ago using Newton’s second law. It was difficult!</a:t>
            </a:r>
            <a:endParaRPr/>
          </a:p>
          <a:p>
            <a:pPr indent="0" lvl="0" marL="0" marR="0" rtl="0" algn="l">
              <a:spcBef>
                <a:spcPts val="400"/>
              </a:spcBef>
              <a:spcAft>
                <a:spcPts val="0"/>
              </a:spcAft>
              <a:buNone/>
            </a:pPr>
            <a:r>
              <a:rPr lang="en-US" sz="2400">
                <a:solidFill>
                  <a:schemeClr val="dk1"/>
                </a:solidFill>
                <a:latin typeface="Arial"/>
                <a:ea typeface="Arial"/>
                <a:cs typeface="Arial"/>
                <a:sym typeface="Arial"/>
              </a:rPr>
              <a:t>∙We will now use energy to solve it.</a:t>
            </a:r>
            <a:endParaRPr/>
          </a:p>
          <a:p>
            <a:pPr indent="0" lvl="0" marL="0" marR="0" rtl="0" algn="l">
              <a:spcBef>
                <a:spcPts val="400"/>
              </a:spcBef>
              <a:spcAft>
                <a:spcPts val="0"/>
              </a:spcAft>
              <a:buNone/>
            </a:pPr>
            <a:r>
              <a:rPr lang="en-US" sz="2400">
                <a:solidFill>
                  <a:schemeClr val="dk1"/>
                </a:solidFill>
                <a:latin typeface="Arial"/>
                <a:ea typeface="Arial"/>
                <a:cs typeface="Arial"/>
                <a:sym typeface="Arial"/>
              </a:rPr>
              <a:t>                                           </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0</a:t>
            </a:r>
            <a:endParaRPr sz="2400">
              <a:solidFill>
                <a:schemeClr val="dk1"/>
              </a:solidFill>
              <a:latin typeface="Arial"/>
              <a:ea typeface="Arial"/>
              <a:cs typeface="Arial"/>
              <a:sym typeface="Arial"/>
            </a:endParaRPr>
          </a:p>
          <a:p>
            <a:pPr indent="0" lvl="0" marL="0" marR="0" rtl="0" algn="l">
              <a:spcBef>
                <a:spcPts val="400"/>
              </a:spcBef>
              <a:spcAft>
                <a:spcPts val="0"/>
              </a:spcAft>
              <a:buNone/>
            </a:pPr>
            <a:r>
              <a:rPr lang="en-US" sz="2400">
                <a:solidFill>
                  <a:schemeClr val="dk1"/>
                </a:solidFill>
                <a:latin typeface="Arial"/>
                <a:ea typeface="Arial"/>
                <a:cs typeface="Arial"/>
                <a:sym typeface="Arial"/>
              </a:rPr>
              <a:t>                      (1/2)</a:t>
            </a:r>
            <a:r>
              <a:rPr i="1" lang="en-US" sz="2400">
                <a:solidFill>
                  <a:schemeClr val="dk1"/>
                </a:solidFill>
                <a:latin typeface="Arial"/>
                <a:ea typeface="Arial"/>
                <a:cs typeface="Arial"/>
                <a:sym typeface="Arial"/>
              </a:rPr>
              <a:t>mv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mu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h</a:t>
            </a:r>
            <a:r>
              <a:rPr lang="en-US" sz="2400">
                <a:solidFill>
                  <a:schemeClr val="dk1"/>
                </a:solidFill>
                <a:latin typeface="Arial"/>
                <a:ea typeface="Arial"/>
                <a:cs typeface="Arial"/>
                <a:sym typeface="Arial"/>
              </a:rPr>
              <a:t> = 0</a:t>
            </a:r>
            <a:endParaRPr sz="2400">
              <a:solidFill>
                <a:schemeClr val="dk1"/>
              </a:solidFill>
              <a:latin typeface="Arial"/>
              <a:ea typeface="Arial"/>
              <a:cs typeface="Arial"/>
              <a:sym typeface="Arial"/>
            </a:endParaRPr>
          </a:p>
          <a:p>
            <a:pPr indent="0" lvl="0" marL="0" marR="0" rtl="0" algn="l">
              <a:spcBef>
                <a:spcPts val="400"/>
              </a:spcBef>
              <a:spcAft>
                <a:spcPts val="0"/>
              </a:spcAft>
              <a:buNone/>
            </a:pPr>
            <a:r>
              <a:rPr lang="en-US" sz="2400">
                <a:solidFill>
                  <a:schemeClr val="dk1"/>
                </a:solidFill>
                <a:latin typeface="Arial"/>
                <a:ea typeface="Arial"/>
                <a:cs typeface="Arial"/>
                <a:sym typeface="Arial"/>
              </a:rPr>
              <a:t>      (1/2)(25)</a:t>
            </a:r>
            <a:r>
              <a:rPr i="1" lang="en-US" sz="2400">
                <a:solidFill>
                  <a:schemeClr val="dk1"/>
                </a:solidFill>
                <a:latin typeface="Arial"/>
                <a:ea typeface="Arial"/>
                <a:cs typeface="Arial"/>
                <a:sym typeface="Arial"/>
              </a:rPr>
              <a:t>v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(1/2)(25)0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(25)(10)(-6) = 0</a:t>
            </a:r>
            <a:endParaRPr sz="2400">
              <a:solidFill>
                <a:schemeClr val="dk1"/>
              </a:solidFill>
              <a:latin typeface="Arial"/>
              <a:ea typeface="Arial"/>
              <a:cs typeface="Arial"/>
              <a:sym typeface="Arial"/>
            </a:endParaRPr>
          </a:p>
          <a:p>
            <a:pPr indent="0" lvl="0" marL="0" marR="0" rtl="0" algn="l">
              <a:spcBef>
                <a:spcPts val="400"/>
              </a:spcBef>
              <a:spcAft>
                <a:spcPts val="0"/>
              </a:spcAft>
              <a:buNone/>
            </a:pPr>
            <a:r>
              <a:rPr i="1" lang="en-US" sz="2400">
                <a:solidFill>
                  <a:schemeClr val="dk1"/>
                </a:solidFill>
                <a:latin typeface="Arial"/>
                <a:ea typeface="Arial"/>
                <a:cs typeface="Arial"/>
                <a:sym typeface="Arial"/>
              </a:rPr>
              <a:t>                                                     </a:t>
            </a:r>
            <a:r>
              <a:rPr baseline="-25000" i="1"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 </a:t>
            </a:r>
            <a:r>
              <a:rPr baseline="-25000" i="1"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 </a:t>
            </a:r>
            <a:r>
              <a:rPr baseline="-25000"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12.5</a:t>
            </a:r>
            <a:r>
              <a:rPr i="1" lang="en-US" sz="2400">
                <a:solidFill>
                  <a:schemeClr val="dk1"/>
                </a:solidFill>
                <a:latin typeface="Arial"/>
                <a:ea typeface="Arial"/>
                <a:cs typeface="Arial"/>
                <a:sym typeface="Arial"/>
              </a:rPr>
              <a:t>v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1500</a:t>
            </a:r>
            <a:endParaRPr/>
          </a:p>
          <a:p>
            <a:pPr indent="0" lvl="0" marL="0" marR="0" rtl="0" algn="l">
              <a:spcBef>
                <a:spcPts val="400"/>
              </a:spcBef>
              <a:spcAft>
                <a:spcPts val="0"/>
              </a:spcAft>
              <a:buNone/>
            </a:pPr>
            <a:r>
              <a:rPr i="1" lang="en-US" sz="2400">
                <a:solidFill>
                  <a:schemeClr val="dk1"/>
                </a:solidFill>
                <a:latin typeface="Arial"/>
                <a:ea typeface="Arial"/>
                <a:cs typeface="Arial"/>
                <a:sym typeface="Arial"/>
              </a:rPr>
              <a:t>                                                                  v</a:t>
            </a:r>
            <a:r>
              <a:rPr lang="en-US" sz="2400">
                <a:solidFill>
                  <a:schemeClr val="dk1"/>
                </a:solidFill>
                <a:latin typeface="Arial"/>
                <a:ea typeface="Arial"/>
                <a:cs typeface="Arial"/>
                <a:sym typeface="Arial"/>
              </a:rPr>
              <a:t> = 11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i="1" sz="2400">
              <a:solidFill>
                <a:schemeClr val="dk1"/>
              </a:solidFill>
              <a:latin typeface="Arial"/>
              <a:ea typeface="Arial"/>
              <a:cs typeface="Arial"/>
              <a:sym typeface="Arial"/>
            </a:endParaRPr>
          </a:p>
        </p:txBody>
      </p:sp>
      <p:sp>
        <p:nvSpPr>
          <p:cNvPr descr="Oak" id="1193" name="Google Shape;1193;p45"/>
          <p:cNvSpPr/>
          <p:nvPr/>
        </p:nvSpPr>
        <p:spPr>
          <a:xfrm rot="1686735">
            <a:off x="5738813" y="2433638"/>
            <a:ext cx="217487" cy="217487"/>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1194" name="Google Shape;1194;p45"/>
          <p:cNvGrpSpPr/>
          <p:nvPr/>
        </p:nvGrpSpPr>
        <p:grpSpPr>
          <a:xfrm>
            <a:off x="5773738" y="2638425"/>
            <a:ext cx="2576512" cy="1381125"/>
            <a:chOff x="3637" y="1614"/>
            <a:chExt cx="1623" cy="870"/>
          </a:xfrm>
        </p:grpSpPr>
        <p:sp>
          <p:nvSpPr>
            <p:cNvPr id="1195" name="Google Shape;1195;p45"/>
            <p:cNvSpPr/>
            <p:nvPr/>
          </p:nvSpPr>
          <p:spPr>
            <a:xfrm>
              <a:off x="3637" y="1614"/>
              <a:ext cx="1623" cy="803"/>
            </a:xfrm>
            <a:prstGeom prst="rtTriangl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196" name="Google Shape;1196;p45"/>
            <p:cNvSpPr txBox="1"/>
            <p:nvPr/>
          </p:nvSpPr>
          <p:spPr>
            <a:xfrm>
              <a:off x="4515" y="2193"/>
              <a:ext cx="449"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30°</a:t>
              </a:r>
              <a:endParaRPr/>
            </a:p>
          </p:txBody>
        </p:sp>
        <p:sp>
          <p:nvSpPr>
            <p:cNvPr id="1197" name="Google Shape;1197;p45"/>
            <p:cNvSpPr txBox="1"/>
            <p:nvPr/>
          </p:nvSpPr>
          <p:spPr>
            <a:xfrm rot="5400000">
              <a:off x="3503" y="1861"/>
              <a:ext cx="601"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6.0 m</a:t>
              </a:r>
              <a:endParaRPr/>
            </a:p>
          </p:txBody>
        </p:sp>
      </p:grpSp>
      <p:sp>
        <p:nvSpPr>
          <p:cNvPr descr="Oak" id="1198" name="Google Shape;1198;p45"/>
          <p:cNvSpPr/>
          <p:nvPr/>
        </p:nvSpPr>
        <p:spPr>
          <a:xfrm rot="1686735">
            <a:off x="5729288" y="2436813"/>
            <a:ext cx="217487" cy="217487"/>
          </a:xfrm>
          <a:prstGeom prst="rect">
            <a:avLst/>
          </a:prstGeom>
          <a:blipFill rotWithShape="1">
            <a:blip r:embed="rId3">
              <a:alphaModFix amt="13000"/>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descr="Oak" id="1199" name="Google Shape;1199;p45"/>
          <p:cNvSpPr/>
          <p:nvPr/>
        </p:nvSpPr>
        <p:spPr>
          <a:xfrm rot="1686735">
            <a:off x="8269288" y="3702050"/>
            <a:ext cx="217487" cy="217488"/>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200" name="Google Shape;1200;p45"/>
          <p:cNvSpPr txBox="1"/>
          <p:nvPr/>
        </p:nvSpPr>
        <p:spPr>
          <a:xfrm>
            <a:off x="5924550" y="2244725"/>
            <a:ext cx="87788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u </a:t>
            </a:r>
            <a:r>
              <a:rPr lang="en-US" sz="2400">
                <a:solidFill>
                  <a:schemeClr val="dk1"/>
                </a:solidFill>
                <a:latin typeface="Arial"/>
                <a:ea typeface="Arial"/>
                <a:cs typeface="Arial"/>
                <a:sym typeface="Arial"/>
              </a:rPr>
              <a:t>= 0</a:t>
            </a:r>
            <a:endParaRPr i="1" sz="2400">
              <a:solidFill>
                <a:schemeClr val="dk1"/>
              </a:solidFill>
              <a:latin typeface="Arial"/>
              <a:ea typeface="Arial"/>
              <a:cs typeface="Arial"/>
              <a:sym typeface="Arial"/>
            </a:endParaRPr>
          </a:p>
        </p:txBody>
      </p:sp>
      <p:sp>
        <p:nvSpPr>
          <p:cNvPr id="1201" name="Google Shape;1201;p45"/>
          <p:cNvSpPr txBox="1"/>
          <p:nvPr/>
        </p:nvSpPr>
        <p:spPr>
          <a:xfrm>
            <a:off x="8197850" y="3257550"/>
            <a:ext cx="85883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v </a:t>
            </a:r>
            <a:r>
              <a:rPr lang="en-US" sz="2400">
                <a:solidFill>
                  <a:schemeClr val="dk1"/>
                </a:solidFill>
                <a:latin typeface="Arial"/>
                <a:ea typeface="Arial"/>
                <a:cs typeface="Arial"/>
                <a:sym typeface="Arial"/>
              </a:rPr>
              <a:t>= ?</a:t>
            </a:r>
            <a:endParaRPr i="1" sz="2400">
              <a:solidFill>
                <a:schemeClr val="dk1"/>
              </a:solidFill>
              <a:latin typeface="Arial"/>
              <a:ea typeface="Arial"/>
              <a:cs typeface="Arial"/>
              <a:sym typeface="Arial"/>
            </a:endParaRPr>
          </a:p>
        </p:txBody>
      </p:sp>
      <p:grpSp>
        <p:nvGrpSpPr>
          <p:cNvPr id="1202" name="Google Shape;1202;p45"/>
          <p:cNvGrpSpPr/>
          <p:nvPr/>
        </p:nvGrpSpPr>
        <p:grpSpPr>
          <a:xfrm>
            <a:off x="5203825" y="2659063"/>
            <a:ext cx="571500" cy="1263650"/>
            <a:chOff x="3278" y="1675"/>
            <a:chExt cx="360" cy="796"/>
          </a:xfrm>
        </p:grpSpPr>
        <p:cxnSp>
          <p:nvCxnSpPr>
            <p:cNvPr id="1203" name="Google Shape;1203;p45"/>
            <p:cNvCxnSpPr/>
            <p:nvPr/>
          </p:nvCxnSpPr>
          <p:spPr>
            <a:xfrm>
              <a:off x="3638" y="1675"/>
              <a:ext cx="0" cy="796"/>
            </a:xfrm>
            <a:prstGeom prst="straightConnector1">
              <a:avLst/>
            </a:prstGeom>
            <a:noFill/>
            <a:ln cap="flat" cmpd="sng" w="57150">
              <a:solidFill>
                <a:schemeClr val="accent2"/>
              </a:solidFill>
              <a:prstDash val="solid"/>
              <a:round/>
              <a:headEnd len="med" w="med" type="none"/>
              <a:tailEnd len="med" w="med" type="stealth"/>
            </a:ln>
          </p:spPr>
        </p:cxnSp>
        <p:sp>
          <p:nvSpPr>
            <p:cNvPr id="1204" name="Google Shape;1204;p45"/>
            <p:cNvSpPr txBox="1"/>
            <p:nvPr/>
          </p:nvSpPr>
          <p:spPr>
            <a:xfrm>
              <a:off x="3278" y="1901"/>
              <a:ext cx="34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h</a:t>
              </a:r>
              <a:endParaRPr sz="2400">
                <a:solidFill>
                  <a:schemeClr val="dk1"/>
                </a:solidFill>
                <a:latin typeface="Arial"/>
                <a:ea typeface="Arial"/>
                <a:cs typeface="Arial"/>
                <a:sym typeface="Arial"/>
              </a:endParaRPr>
            </a:p>
          </p:txBody>
        </p:sp>
      </p:grpSp>
      <p:cxnSp>
        <p:nvCxnSpPr>
          <p:cNvPr id="1205" name="Google Shape;1205;p45"/>
          <p:cNvCxnSpPr/>
          <p:nvPr/>
        </p:nvCxnSpPr>
        <p:spPr>
          <a:xfrm flipH="1" rot="10800000">
            <a:off x="2041525" y="5721350"/>
            <a:ext cx="241300" cy="300038"/>
          </a:xfrm>
          <a:prstGeom prst="straightConnector1">
            <a:avLst/>
          </a:prstGeom>
          <a:noFill/>
          <a:ln cap="flat" cmpd="sng" w="28575">
            <a:solidFill>
              <a:srgbClr val="FF3300"/>
            </a:solidFill>
            <a:prstDash val="solid"/>
            <a:round/>
            <a:headEnd len="med" w="med" type="none"/>
            <a:tailEnd len="med" w="med" type="none"/>
          </a:ln>
        </p:spPr>
      </p:cxnSp>
      <p:cxnSp>
        <p:nvCxnSpPr>
          <p:cNvPr id="1206" name="Google Shape;1206;p45"/>
          <p:cNvCxnSpPr/>
          <p:nvPr/>
        </p:nvCxnSpPr>
        <p:spPr>
          <a:xfrm flipH="1" rot="10800000">
            <a:off x="3917950" y="5700713"/>
            <a:ext cx="120650" cy="300037"/>
          </a:xfrm>
          <a:prstGeom prst="straightConnector1">
            <a:avLst/>
          </a:prstGeom>
          <a:noFill/>
          <a:ln cap="flat" cmpd="sng" w="28575">
            <a:solidFill>
              <a:srgbClr val="FF3300"/>
            </a:solidFill>
            <a:prstDash val="solid"/>
            <a:round/>
            <a:headEnd len="med" w="med" type="none"/>
            <a:tailEnd len="med" w="med" type="none"/>
          </a:ln>
        </p:spPr>
      </p:cxnSp>
      <p:cxnSp>
        <p:nvCxnSpPr>
          <p:cNvPr id="1207" name="Google Shape;1207;p45"/>
          <p:cNvCxnSpPr/>
          <p:nvPr/>
        </p:nvCxnSpPr>
        <p:spPr>
          <a:xfrm flipH="1" rot="10800000">
            <a:off x="5143500" y="5726113"/>
            <a:ext cx="241300" cy="276225"/>
          </a:xfrm>
          <a:prstGeom prst="straightConnector1">
            <a:avLst/>
          </a:prstGeom>
          <a:noFill/>
          <a:ln cap="flat" cmpd="sng" w="28575">
            <a:solidFill>
              <a:srgbClr val="FF3300"/>
            </a:solidFill>
            <a:prstDash val="solid"/>
            <a:round/>
            <a:headEnd len="med" w="med" type="none"/>
            <a:tailEnd len="med" w="med" type="none"/>
          </a:ln>
        </p:spPr>
      </p:cxnSp>
      <p:sp>
        <p:nvSpPr>
          <p:cNvPr id="1208" name="Google Shape;1208;p45"/>
          <p:cNvSpPr/>
          <p:nvPr/>
        </p:nvSpPr>
        <p:spPr>
          <a:xfrm>
            <a:off x="671513" y="6070600"/>
            <a:ext cx="4052887" cy="787400"/>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If friction and drag are zero,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always cancels…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2">
                                            <p:txEl>
                                              <p:pRg end="0" st="0"/>
                                            </p:txEl>
                                          </p:spTgt>
                                        </p:tgtEl>
                                        <p:attrNameLst>
                                          <p:attrName>style.visibility</p:attrName>
                                        </p:attrNameLst>
                                      </p:cBhvr>
                                      <p:to>
                                        <p:strVal val="visible"/>
                                      </p:to>
                                    </p:set>
                                    <p:anim calcmode="lin" valueType="num">
                                      <p:cBhvr additive="base">
                                        <p:cTn dur="500"/>
                                        <p:tgtEl>
                                          <p:spTgt spid="119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2">
                                            <p:txEl>
                                              <p:pRg end="1" st="1"/>
                                            </p:txEl>
                                          </p:spTgt>
                                        </p:tgtEl>
                                        <p:attrNameLst>
                                          <p:attrName>style.visibility</p:attrName>
                                        </p:attrNameLst>
                                      </p:cBhvr>
                                      <p:to>
                                        <p:strVal val="visible"/>
                                      </p:to>
                                    </p:set>
                                    <p:anim calcmode="lin" valueType="num">
                                      <p:cBhvr additive="base">
                                        <p:cTn dur="500"/>
                                        <p:tgtEl>
                                          <p:spTgt spid="119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2">
                                            <p:txEl>
                                              <p:pRg end="2" st="2"/>
                                            </p:txEl>
                                          </p:spTgt>
                                        </p:tgtEl>
                                        <p:attrNameLst>
                                          <p:attrName>style.visibility</p:attrName>
                                        </p:attrNameLst>
                                      </p:cBhvr>
                                      <p:to>
                                        <p:strVal val="visible"/>
                                      </p:to>
                                    </p:set>
                                    <p:anim calcmode="lin" valueType="num">
                                      <p:cBhvr additive="base">
                                        <p:cTn dur="500"/>
                                        <p:tgtEl>
                                          <p:spTgt spid="119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2">
                                            <p:txEl>
                                              <p:pRg end="3" st="3"/>
                                            </p:txEl>
                                          </p:spTgt>
                                        </p:tgtEl>
                                        <p:attrNameLst>
                                          <p:attrName>style.visibility</p:attrName>
                                        </p:attrNameLst>
                                      </p:cBhvr>
                                      <p:to>
                                        <p:strVal val="visible"/>
                                      </p:to>
                                    </p:set>
                                    <p:anim calcmode="lin" valueType="num">
                                      <p:cBhvr additive="base">
                                        <p:cTn dur="500"/>
                                        <p:tgtEl>
                                          <p:spTgt spid="119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2">
                                            <p:txEl>
                                              <p:pRg end="4" st="4"/>
                                            </p:txEl>
                                          </p:spTgt>
                                        </p:tgtEl>
                                        <p:attrNameLst>
                                          <p:attrName>style.visibility</p:attrName>
                                        </p:attrNameLst>
                                      </p:cBhvr>
                                      <p:to>
                                        <p:strVal val="visible"/>
                                      </p:to>
                                    </p:set>
                                    <p:anim calcmode="lin" valueType="num">
                                      <p:cBhvr additive="base">
                                        <p:cTn dur="500"/>
                                        <p:tgtEl>
                                          <p:spTgt spid="119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2">
                                            <p:txEl>
                                              <p:pRg end="5" st="5"/>
                                            </p:txEl>
                                          </p:spTgt>
                                        </p:tgtEl>
                                        <p:attrNameLst>
                                          <p:attrName>style.visibility</p:attrName>
                                        </p:attrNameLst>
                                      </p:cBhvr>
                                      <p:to>
                                        <p:strVal val="visible"/>
                                      </p:to>
                                    </p:set>
                                    <p:anim calcmode="lin" valueType="num">
                                      <p:cBhvr additive="base">
                                        <p:cTn dur="500"/>
                                        <p:tgtEl>
                                          <p:spTgt spid="119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2">
                                            <p:txEl>
                                              <p:pRg end="6" st="6"/>
                                            </p:txEl>
                                          </p:spTgt>
                                        </p:tgtEl>
                                        <p:attrNameLst>
                                          <p:attrName>style.visibility</p:attrName>
                                        </p:attrNameLst>
                                      </p:cBhvr>
                                      <p:to>
                                        <p:strVal val="visible"/>
                                      </p:to>
                                    </p:set>
                                    <p:anim calcmode="lin" valueType="num">
                                      <p:cBhvr additive="base">
                                        <p:cTn dur="500"/>
                                        <p:tgtEl>
                                          <p:spTgt spid="119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2">
                                            <p:txEl>
                                              <p:pRg end="7" st="7"/>
                                            </p:txEl>
                                          </p:spTgt>
                                        </p:tgtEl>
                                        <p:attrNameLst>
                                          <p:attrName>style.visibility</p:attrName>
                                        </p:attrNameLst>
                                      </p:cBhvr>
                                      <p:to>
                                        <p:strVal val="visible"/>
                                      </p:to>
                                    </p:set>
                                    <p:anim calcmode="lin" valueType="num">
                                      <p:cBhvr additive="base">
                                        <p:cTn dur="500"/>
                                        <p:tgtEl>
                                          <p:spTgt spid="1192">
                                            <p:txEl>
                                              <p:pRg end="7" st="7"/>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94"/>
                                        </p:tgtEl>
                                        <p:attrNameLst>
                                          <p:attrName>style.visibility</p:attrName>
                                        </p:attrNameLst>
                                      </p:cBhvr>
                                      <p:to>
                                        <p:strVal val="visible"/>
                                      </p:to>
                                    </p:set>
                                    <p:animEffect filter="fade" transition="in">
                                      <p:cBhvr>
                                        <p:cTn dur="500"/>
                                        <p:tgtEl>
                                          <p:spTgt spid="11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93"/>
                                        </p:tgtEl>
                                        <p:attrNameLst>
                                          <p:attrName>style.visibility</p:attrName>
                                        </p:attrNameLst>
                                      </p:cBhvr>
                                      <p:to>
                                        <p:strVal val="visible"/>
                                      </p:to>
                                    </p:set>
                                    <p:animEffect filter="fade" transition="in">
                                      <p:cBhvr>
                                        <p:cTn dur="500"/>
                                        <p:tgtEl>
                                          <p:spTgt spid="1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8"/>
                                        </p:tgtEl>
                                        <p:attrNameLst>
                                          <p:attrName>style.visibility</p:attrName>
                                        </p:attrNameLst>
                                      </p:cBhvr>
                                      <p:to>
                                        <p:strVal val="visible"/>
                                      </p:to>
                                    </p:set>
                                    <p:animEffect filter="fade" transition="in">
                                      <p:cBhvr>
                                        <p:cTn dur="500"/>
                                        <p:tgtEl>
                                          <p:spTgt spid="1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gtEl>
                                        <p:attrNameLst>
                                          <p:attrName>style.visibility</p:attrName>
                                        </p:attrNameLst>
                                      </p:cBhvr>
                                      <p:to>
                                        <p:strVal val="visible"/>
                                      </p:to>
                                    </p:set>
                                    <p:animEffect filter="fade" transition="in">
                                      <p:cBhvr>
                                        <p:cTn dur="500"/>
                                        <p:tgtEl>
                                          <p:spTgt spid="1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00"/>
                                        </p:tgtEl>
                                        <p:attrNameLst>
                                          <p:attrName>style.visibility</p:attrName>
                                        </p:attrNameLst>
                                      </p:cBhvr>
                                      <p:to>
                                        <p:strVal val="visible"/>
                                      </p:to>
                                    </p:set>
                                    <p:anim calcmode="lin" valueType="num">
                                      <p:cBhvr additive="base">
                                        <p:cTn dur="500"/>
                                        <p:tgtEl>
                                          <p:spTgt spid="1200"/>
                                        </p:tgtEl>
                                        <p:attrNameLst>
                                          <p:attrName>ppt_w</p:attrName>
                                        </p:attrNameLst>
                                      </p:cBhvr>
                                      <p:tavLst>
                                        <p:tav fmla="" tm="0">
                                          <p:val>
                                            <p:strVal val="0"/>
                                          </p:val>
                                        </p:tav>
                                        <p:tav fmla="" tm="100000">
                                          <p:val>
                                            <p:strVal val="#ppt_w"/>
                                          </p:val>
                                        </p:tav>
                                      </p:tavLst>
                                    </p:anim>
                                    <p:anim calcmode="lin" valueType="num">
                                      <p:cBhvr additive="base">
                                        <p:cTn dur="500"/>
                                        <p:tgtEl>
                                          <p:spTgt spid="12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01"/>
                                        </p:tgtEl>
                                        <p:attrNameLst>
                                          <p:attrName>style.visibility</p:attrName>
                                        </p:attrNameLst>
                                      </p:cBhvr>
                                      <p:to>
                                        <p:strVal val="visible"/>
                                      </p:to>
                                    </p:set>
                                    <p:anim calcmode="lin" valueType="num">
                                      <p:cBhvr additive="base">
                                        <p:cTn dur="500"/>
                                        <p:tgtEl>
                                          <p:spTgt spid="1201"/>
                                        </p:tgtEl>
                                        <p:attrNameLst>
                                          <p:attrName>ppt_w</p:attrName>
                                        </p:attrNameLst>
                                      </p:cBhvr>
                                      <p:tavLst>
                                        <p:tav fmla="" tm="0">
                                          <p:val>
                                            <p:strVal val="0"/>
                                          </p:val>
                                        </p:tav>
                                        <p:tav fmla="" tm="100000">
                                          <p:val>
                                            <p:strVal val="#ppt_w"/>
                                          </p:val>
                                        </p:tav>
                                      </p:tavLst>
                                    </p:anim>
                                    <p:anim calcmode="lin" valueType="num">
                                      <p:cBhvr additive="base">
                                        <p:cTn dur="500"/>
                                        <p:tgtEl>
                                          <p:spTgt spid="120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2"/>
                                        </p:tgtEl>
                                        <p:attrNameLst>
                                          <p:attrName>style.visibility</p:attrName>
                                        </p:attrNameLst>
                                      </p:cBhvr>
                                      <p:to>
                                        <p:strVal val="visible"/>
                                      </p:to>
                                    </p:set>
                                    <p:animEffect filter="fade" transition="in">
                                      <p:cBhvr>
                                        <p:cTn dur="500"/>
                                        <p:tgtEl>
                                          <p:spTgt spid="1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gtEl>
                                        <p:attrNameLst>
                                          <p:attrName>style.visibility</p:attrName>
                                        </p:attrNameLst>
                                      </p:cBhvr>
                                      <p:to>
                                        <p:strVal val="visible"/>
                                      </p:to>
                                    </p:set>
                                    <p:animEffect filter="fade" transition="in">
                                      <p:cBhvr>
                                        <p:cTn dur="500"/>
                                        <p:tgtEl>
                                          <p:spTgt spid="12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6"/>
                                        </p:tgtEl>
                                        <p:attrNameLst>
                                          <p:attrName>style.visibility</p:attrName>
                                        </p:attrNameLst>
                                      </p:cBhvr>
                                      <p:to>
                                        <p:strVal val="visible"/>
                                      </p:to>
                                    </p:set>
                                    <p:animEffect filter="fade" transition="in">
                                      <p:cBhvr>
                                        <p:cTn dur="500"/>
                                        <p:tgtEl>
                                          <p:spTgt spid="1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7"/>
                                        </p:tgtEl>
                                        <p:attrNameLst>
                                          <p:attrName>style.visibility</p:attrName>
                                        </p:attrNameLst>
                                      </p:cBhvr>
                                      <p:to>
                                        <p:strVal val="visible"/>
                                      </p:to>
                                    </p:set>
                                    <p:animEffect filter="fade" transition="in">
                                      <p:cBhvr>
                                        <p:cTn dur="500"/>
                                        <p:tgtEl>
                                          <p:spTgt spid="1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8">
                                            <p:txEl>
                                              <p:pRg end="0" st="0"/>
                                            </p:txEl>
                                          </p:spTgt>
                                        </p:tgtEl>
                                        <p:attrNameLst>
                                          <p:attrName>style.visibility</p:attrName>
                                        </p:attrNameLst>
                                      </p:cBhvr>
                                      <p:to>
                                        <p:strVal val="visible"/>
                                      </p:to>
                                    </p:set>
                                    <p:anim calcmode="lin" valueType="num">
                                      <p:cBhvr additive="base">
                                        <p:cTn dur="500"/>
                                        <p:tgtEl>
                                          <p:spTgt spid="120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46"/>
          <p:cNvSpPr/>
          <p:nvPr/>
        </p:nvSpPr>
        <p:spPr>
          <a:xfrm>
            <a:off x="685800" y="1401763"/>
            <a:ext cx="7772400" cy="4222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1214" name="Google Shape;1214;p46"/>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800">
              <a:solidFill>
                <a:schemeClr val="dk1"/>
              </a:solidFill>
            </a:endParaRPr>
          </a:p>
        </p:txBody>
      </p:sp>
      <p:sp>
        <p:nvSpPr>
          <p:cNvPr id="1215" name="Google Shape;1215;p46"/>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1216" name="Google Shape;1216;p46"/>
          <p:cNvPicPr preferRelativeResize="0"/>
          <p:nvPr/>
        </p:nvPicPr>
        <p:blipFill rotWithShape="1">
          <a:blip r:embed="rId3">
            <a:alphaModFix/>
          </a:blip>
          <a:srcRect b="0" l="0" r="0" t="0"/>
          <a:stretch/>
        </p:blipFill>
        <p:spPr>
          <a:xfrm>
            <a:off x="684213" y="1798638"/>
            <a:ext cx="6186487" cy="3111500"/>
          </a:xfrm>
          <a:prstGeom prst="rect">
            <a:avLst/>
          </a:prstGeom>
          <a:noFill/>
          <a:ln>
            <a:noFill/>
          </a:ln>
        </p:spPr>
      </p:pic>
      <p:pic>
        <p:nvPicPr>
          <p:cNvPr id="1217" name="Google Shape;1217;p46"/>
          <p:cNvPicPr preferRelativeResize="0"/>
          <p:nvPr/>
        </p:nvPicPr>
        <p:blipFill rotWithShape="1">
          <a:blip r:embed="rId4">
            <a:alphaModFix/>
          </a:blip>
          <a:srcRect b="0" l="0" r="0" t="0"/>
          <a:stretch/>
        </p:blipFill>
        <p:spPr>
          <a:xfrm>
            <a:off x="682625" y="4910138"/>
            <a:ext cx="7754938" cy="1887537"/>
          </a:xfrm>
          <a:prstGeom prst="rect">
            <a:avLst/>
          </a:prstGeom>
          <a:noFill/>
          <a:ln>
            <a:noFill/>
          </a:ln>
        </p:spPr>
      </p:pic>
      <p:sp>
        <p:nvSpPr>
          <p:cNvPr id="1218" name="Google Shape;1218;p46"/>
          <p:cNvSpPr txBox="1"/>
          <p:nvPr/>
        </p:nvSpPr>
        <p:spPr>
          <a:xfrm>
            <a:off x="4779963" y="2859088"/>
            <a:ext cx="2789237"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K</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P</a:t>
            </a:r>
            <a:r>
              <a:rPr baseline="30000"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 0 </a:t>
            </a:r>
            <a:endParaRPr/>
          </a:p>
        </p:txBody>
      </p:sp>
      <p:sp>
        <p:nvSpPr>
          <p:cNvPr id="1219" name="Google Shape;1219;p46"/>
          <p:cNvSpPr/>
          <p:nvPr/>
        </p:nvSpPr>
        <p:spPr>
          <a:xfrm>
            <a:off x="3114675" y="5268913"/>
            <a:ext cx="3021013" cy="336550"/>
          </a:xfrm>
          <a:prstGeom prst="rect">
            <a:avLst/>
          </a:prstGeom>
          <a:solidFill>
            <a:srgbClr val="FF6600">
              <a:alpha val="32941"/>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220" name="Google Shape;1220;p46"/>
          <p:cNvSpPr txBox="1"/>
          <p:nvPr/>
        </p:nvSpPr>
        <p:spPr>
          <a:xfrm>
            <a:off x="5859463" y="3233738"/>
            <a:ext cx="24447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K</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P</a:t>
            </a:r>
            <a:endParaRPr sz="2400">
              <a:solidFill>
                <a:schemeClr val="hlink"/>
              </a:solidFill>
              <a:latin typeface="Arial"/>
              <a:ea typeface="Arial"/>
              <a:cs typeface="Arial"/>
              <a:sym typeface="Arial"/>
            </a:endParaRPr>
          </a:p>
        </p:txBody>
      </p:sp>
      <p:sp>
        <p:nvSpPr>
          <p:cNvPr id="1221" name="Google Shape;1221;p46"/>
          <p:cNvSpPr txBox="1"/>
          <p:nvPr/>
        </p:nvSpPr>
        <p:spPr>
          <a:xfrm>
            <a:off x="5853113" y="3617913"/>
            <a:ext cx="25177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K</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mg</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h</a:t>
            </a:r>
            <a:endParaRPr/>
          </a:p>
        </p:txBody>
      </p:sp>
      <p:sp>
        <p:nvSpPr>
          <p:cNvPr id="1222" name="Google Shape;1222;p46"/>
          <p:cNvSpPr txBox="1"/>
          <p:nvPr/>
        </p:nvSpPr>
        <p:spPr>
          <a:xfrm>
            <a:off x="1460500" y="5700713"/>
            <a:ext cx="70881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K</a:t>
            </a:r>
            <a:r>
              <a:rPr lang="en-US" sz="2400">
                <a:solidFill>
                  <a:schemeClr val="hlink"/>
                </a:solidFill>
                <a:latin typeface="Arial"/>
                <a:ea typeface="Arial"/>
                <a:cs typeface="Arial"/>
                <a:sym typeface="Arial"/>
              </a:rPr>
              <a:t> = -(0.44)(9.8)(-32) = </a:t>
            </a:r>
            <a:r>
              <a:rPr baseline="30000" lang="en-US" sz="2400">
                <a:solidFill>
                  <a:schemeClr val="hlink"/>
                </a:solidFill>
                <a:latin typeface="Arial"/>
                <a:ea typeface="Arial"/>
                <a:cs typeface="Arial"/>
                <a:sym typeface="Arial"/>
              </a:rPr>
              <a:t>+</a:t>
            </a:r>
            <a:r>
              <a:rPr lang="en-US" sz="2400">
                <a:solidFill>
                  <a:schemeClr val="hlink"/>
                </a:solidFill>
                <a:latin typeface="Arial"/>
                <a:ea typeface="Arial"/>
                <a:cs typeface="Arial"/>
                <a:sym typeface="Arial"/>
              </a:rPr>
              <a:t>138 J = </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K</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Ko</a:t>
            </a:r>
            <a:endParaRPr sz="2400">
              <a:solidFill>
                <a:schemeClr val="hlink"/>
              </a:solidFill>
              <a:latin typeface="Arial"/>
              <a:ea typeface="Arial"/>
              <a:cs typeface="Arial"/>
              <a:sym typeface="Arial"/>
            </a:endParaRPr>
          </a:p>
        </p:txBody>
      </p:sp>
      <p:sp>
        <p:nvSpPr>
          <p:cNvPr id="1223" name="Google Shape;1223;p46"/>
          <p:cNvSpPr txBox="1"/>
          <p:nvPr/>
        </p:nvSpPr>
        <p:spPr>
          <a:xfrm>
            <a:off x="1450975" y="6281738"/>
            <a:ext cx="63531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K</a:t>
            </a:r>
            <a:r>
              <a:rPr lang="en-US" sz="2400">
                <a:solidFill>
                  <a:schemeClr val="hlink"/>
                </a:solidFill>
                <a:latin typeface="Arial"/>
                <a:ea typeface="Arial"/>
                <a:cs typeface="Arial"/>
                <a:sym typeface="Arial"/>
              </a:rPr>
              <a:t> = </a:t>
            </a:r>
            <a:r>
              <a:rPr baseline="30000" lang="en-US" sz="2400">
                <a:solidFill>
                  <a:schemeClr val="hlink"/>
                </a:solidFill>
                <a:latin typeface="Arial"/>
                <a:ea typeface="Arial"/>
                <a:cs typeface="Arial"/>
                <a:sym typeface="Arial"/>
              </a:rPr>
              <a:t>+</a:t>
            </a:r>
            <a:r>
              <a:rPr lang="en-US" sz="2400">
                <a:solidFill>
                  <a:schemeClr val="hlink"/>
                </a:solidFill>
                <a:latin typeface="Arial"/>
                <a:ea typeface="Arial"/>
                <a:cs typeface="Arial"/>
                <a:sym typeface="Arial"/>
              </a:rPr>
              <a:t>138 + </a:t>
            </a:r>
            <a:r>
              <a:rPr lang="en-US" sz="2400">
                <a:solidFill>
                  <a:srgbClr val="FF3300"/>
                </a:solidFill>
                <a:latin typeface="Arial"/>
                <a:ea typeface="Arial"/>
                <a:cs typeface="Arial"/>
                <a:sym typeface="Arial"/>
              </a:rPr>
              <a:t>(1/2)(0.44)(22</a:t>
            </a:r>
            <a:r>
              <a:rPr baseline="30000" lang="en-US" sz="2400">
                <a:solidFill>
                  <a:srgbClr val="FF3300"/>
                </a:solidFill>
                <a:latin typeface="Arial"/>
                <a:ea typeface="Arial"/>
                <a:cs typeface="Arial"/>
                <a:sym typeface="Arial"/>
              </a:rPr>
              <a:t>2</a:t>
            </a:r>
            <a:r>
              <a:rPr lang="en-US" sz="2400">
                <a:solidFill>
                  <a:srgbClr val="FF3300"/>
                </a:solidFill>
                <a:latin typeface="Arial"/>
                <a:ea typeface="Arial"/>
                <a:cs typeface="Arial"/>
                <a:sym typeface="Arial"/>
              </a:rPr>
              <a:t>)</a:t>
            </a:r>
            <a:r>
              <a:rPr lang="en-US" sz="2400">
                <a:solidFill>
                  <a:schemeClr val="hlink"/>
                </a:solidFill>
                <a:latin typeface="Arial"/>
                <a:ea typeface="Arial"/>
                <a:cs typeface="Arial"/>
                <a:sym typeface="Arial"/>
              </a:rPr>
              <a:t> = 240 J.</a:t>
            </a:r>
            <a:endParaRPr baseline="30000" sz="2400">
              <a:solidFill>
                <a:schemeClr val="hlink"/>
              </a:solidFill>
              <a:latin typeface="Arial"/>
              <a:ea typeface="Arial"/>
              <a:cs typeface="Arial"/>
              <a:sym typeface="Arial"/>
            </a:endParaRPr>
          </a:p>
        </p:txBody>
      </p:sp>
      <p:sp>
        <p:nvSpPr>
          <p:cNvPr id="1224" name="Google Shape;1224;p46"/>
          <p:cNvSpPr txBox="1"/>
          <p:nvPr/>
        </p:nvSpPr>
        <p:spPr>
          <a:xfrm>
            <a:off x="5930900" y="3990975"/>
            <a:ext cx="25479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3300"/>
                </a:solidFill>
                <a:latin typeface="Arial"/>
                <a:ea typeface="Arial"/>
                <a:cs typeface="Arial"/>
                <a:sym typeface="Arial"/>
              </a:rPr>
              <a:t>E</a:t>
            </a:r>
            <a:r>
              <a:rPr baseline="-25000" lang="en-US" sz="2400">
                <a:solidFill>
                  <a:srgbClr val="FF3300"/>
                </a:solidFill>
                <a:latin typeface="Arial"/>
                <a:ea typeface="Arial"/>
                <a:cs typeface="Arial"/>
                <a:sym typeface="Arial"/>
              </a:rPr>
              <a:t>Ko</a:t>
            </a:r>
            <a:r>
              <a:rPr lang="en-US" sz="2400">
                <a:solidFill>
                  <a:srgbClr val="FF3300"/>
                </a:solidFill>
                <a:latin typeface="Arial"/>
                <a:ea typeface="Arial"/>
                <a:cs typeface="Arial"/>
                <a:sym typeface="Arial"/>
              </a:rPr>
              <a:t> = (1/2)</a:t>
            </a:r>
            <a:r>
              <a:rPr i="1" lang="en-US" sz="2400">
                <a:solidFill>
                  <a:srgbClr val="FF3300"/>
                </a:solidFill>
                <a:latin typeface="Arial"/>
                <a:ea typeface="Arial"/>
                <a:cs typeface="Arial"/>
                <a:sym typeface="Arial"/>
              </a:rPr>
              <a:t>mu</a:t>
            </a:r>
            <a:r>
              <a:rPr baseline="30000" lang="en-US" sz="2400">
                <a:solidFill>
                  <a:srgbClr val="FF3300"/>
                </a:solidFill>
                <a:latin typeface="Arial"/>
                <a:ea typeface="Arial"/>
                <a:cs typeface="Arial"/>
                <a:sym typeface="Arial"/>
              </a:rPr>
              <a:t>2</a:t>
            </a:r>
            <a:endParaRPr sz="2400">
              <a:solidFill>
                <a:srgbClr val="FF33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216"/>
                                        </p:tgtEl>
                                        <p:attrNameLst>
                                          <p:attrName>style.visibility</p:attrName>
                                        </p:attrNameLst>
                                      </p:cBhvr>
                                      <p:to>
                                        <p:strVal val="visible"/>
                                      </p:to>
                                    </p:set>
                                    <p:anim calcmode="lin" valueType="num">
                                      <p:cBhvr additive="base">
                                        <p:cTn dur="500"/>
                                        <p:tgtEl>
                                          <p:spTgt spid="1216"/>
                                        </p:tgtEl>
                                        <p:attrNameLst>
                                          <p:attrName>ppt_w</p:attrName>
                                        </p:attrNameLst>
                                      </p:cBhvr>
                                      <p:tavLst>
                                        <p:tav fmla="" tm="0">
                                          <p:val>
                                            <p:strVal val="0"/>
                                          </p:val>
                                        </p:tav>
                                        <p:tav fmla="" tm="100000">
                                          <p:val>
                                            <p:strVal val="#ppt_w"/>
                                          </p:val>
                                        </p:tav>
                                      </p:tavLst>
                                    </p:anim>
                                    <p:anim calcmode="lin" valueType="num">
                                      <p:cBhvr additive="base">
                                        <p:cTn dur="500"/>
                                        <p:tgtEl>
                                          <p:spTgt spid="121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17"/>
                                        </p:tgtEl>
                                        <p:attrNameLst>
                                          <p:attrName>style.visibility</p:attrName>
                                        </p:attrNameLst>
                                      </p:cBhvr>
                                      <p:to>
                                        <p:strVal val="visible"/>
                                      </p:to>
                                    </p:set>
                                    <p:anim calcmode="lin" valueType="num">
                                      <p:cBhvr additive="base">
                                        <p:cTn dur="500"/>
                                        <p:tgtEl>
                                          <p:spTgt spid="1217"/>
                                        </p:tgtEl>
                                        <p:attrNameLst>
                                          <p:attrName>ppt_w</p:attrName>
                                        </p:attrNameLst>
                                      </p:cBhvr>
                                      <p:tavLst>
                                        <p:tav fmla="" tm="0">
                                          <p:val>
                                            <p:strVal val="0"/>
                                          </p:val>
                                        </p:tav>
                                        <p:tav fmla="" tm="100000">
                                          <p:val>
                                            <p:strVal val="#ppt_w"/>
                                          </p:val>
                                        </p:tav>
                                      </p:tavLst>
                                    </p:anim>
                                    <p:anim calcmode="lin" valueType="num">
                                      <p:cBhvr additive="base">
                                        <p:cTn dur="500"/>
                                        <p:tgtEl>
                                          <p:spTgt spid="121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18">
                                            <p:txEl>
                                              <p:pRg end="0" st="0"/>
                                            </p:txEl>
                                          </p:spTgt>
                                        </p:tgtEl>
                                        <p:attrNameLst>
                                          <p:attrName>style.visibility</p:attrName>
                                        </p:attrNameLst>
                                      </p:cBhvr>
                                      <p:to>
                                        <p:strVal val="visible"/>
                                      </p:to>
                                    </p:set>
                                    <p:anim calcmode="lin" valueType="num">
                                      <p:cBhvr additive="base">
                                        <p:cTn dur="500"/>
                                        <p:tgtEl>
                                          <p:spTgt spid="1218">
                                            <p:txEl>
                                              <p:pRg end="0" st="0"/>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219"/>
                                        </p:tgtEl>
                                        <p:attrNameLst>
                                          <p:attrName>style.visibility</p:attrName>
                                        </p:attrNameLst>
                                      </p:cBhvr>
                                      <p:to>
                                        <p:strVal val="visible"/>
                                      </p:to>
                                    </p:set>
                                    <p:animEffect filter="fade" transition="in">
                                      <p:cBhvr>
                                        <p:cTn dur="500"/>
                                        <p:tgtEl>
                                          <p:spTgt spid="1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20">
                                            <p:txEl>
                                              <p:pRg end="0" st="0"/>
                                            </p:txEl>
                                          </p:spTgt>
                                        </p:tgtEl>
                                        <p:attrNameLst>
                                          <p:attrName>style.visibility</p:attrName>
                                        </p:attrNameLst>
                                      </p:cBhvr>
                                      <p:to>
                                        <p:strVal val="visible"/>
                                      </p:to>
                                    </p:set>
                                    <p:anim calcmode="lin" valueType="num">
                                      <p:cBhvr additive="base">
                                        <p:cTn dur="500"/>
                                        <p:tgtEl>
                                          <p:spTgt spid="122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21">
                                            <p:txEl>
                                              <p:pRg end="0" st="0"/>
                                            </p:txEl>
                                          </p:spTgt>
                                        </p:tgtEl>
                                        <p:attrNameLst>
                                          <p:attrName>style.visibility</p:attrName>
                                        </p:attrNameLst>
                                      </p:cBhvr>
                                      <p:to>
                                        <p:strVal val="visible"/>
                                      </p:to>
                                    </p:set>
                                    <p:anim calcmode="lin" valueType="num">
                                      <p:cBhvr additive="base">
                                        <p:cTn dur="500"/>
                                        <p:tgtEl>
                                          <p:spTgt spid="122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22">
                                            <p:txEl>
                                              <p:pRg end="0" st="0"/>
                                            </p:txEl>
                                          </p:spTgt>
                                        </p:tgtEl>
                                        <p:attrNameLst>
                                          <p:attrName>style.visibility</p:attrName>
                                        </p:attrNameLst>
                                      </p:cBhvr>
                                      <p:to>
                                        <p:strVal val="visible"/>
                                      </p:to>
                                    </p:set>
                                    <p:anim calcmode="lin" valueType="num">
                                      <p:cBhvr additive="base">
                                        <p:cTn dur="500"/>
                                        <p:tgtEl>
                                          <p:spTgt spid="122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24">
                                            <p:txEl>
                                              <p:pRg end="0" st="0"/>
                                            </p:txEl>
                                          </p:spTgt>
                                        </p:tgtEl>
                                        <p:attrNameLst>
                                          <p:attrName>style.visibility</p:attrName>
                                        </p:attrNameLst>
                                      </p:cBhvr>
                                      <p:to>
                                        <p:strVal val="visible"/>
                                      </p:to>
                                    </p:set>
                                    <p:anim calcmode="lin" valueType="num">
                                      <p:cBhvr additive="base">
                                        <p:cTn dur="500"/>
                                        <p:tgtEl>
                                          <p:spTgt spid="122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23">
                                            <p:txEl>
                                              <p:pRg end="0" st="0"/>
                                            </p:txEl>
                                          </p:spTgt>
                                        </p:tgtEl>
                                        <p:attrNameLst>
                                          <p:attrName>style.visibility</p:attrName>
                                        </p:attrNameLst>
                                      </p:cBhvr>
                                      <p:to>
                                        <p:strVal val="visible"/>
                                      </p:to>
                                    </p:set>
                                    <p:anim calcmode="lin" valueType="num">
                                      <p:cBhvr additive="base">
                                        <p:cTn dur="500"/>
                                        <p:tgtEl>
                                          <p:spTgt spid="122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47"/>
          <p:cNvSpPr/>
          <p:nvPr/>
        </p:nvSpPr>
        <p:spPr>
          <a:xfrm>
            <a:off x="685800" y="1401763"/>
            <a:ext cx="7772400" cy="4222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1230" name="Google Shape;1230;p47"/>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800">
              <a:solidFill>
                <a:schemeClr val="dk1"/>
              </a:solidFill>
            </a:endParaRPr>
          </a:p>
        </p:txBody>
      </p:sp>
      <p:sp>
        <p:nvSpPr>
          <p:cNvPr id="1231" name="Google Shape;1231;p47"/>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1232" name="Google Shape;1232;p47"/>
          <p:cNvPicPr preferRelativeResize="0"/>
          <p:nvPr/>
        </p:nvPicPr>
        <p:blipFill rotWithShape="1">
          <a:blip r:embed="rId3">
            <a:alphaModFix/>
          </a:blip>
          <a:srcRect b="0" l="0" r="0" t="0"/>
          <a:stretch/>
        </p:blipFill>
        <p:spPr>
          <a:xfrm>
            <a:off x="684213" y="1798638"/>
            <a:ext cx="6186487" cy="3111500"/>
          </a:xfrm>
          <a:prstGeom prst="rect">
            <a:avLst/>
          </a:prstGeom>
          <a:noFill/>
          <a:ln>
            <a:noFill/>
          </a:ln>
        </p:spPr>
      </p:pic>
      <p:pic>
        <p:nvPicPr>
          <p:cNvPr id="1233" name="Google Shape;1233;p47"/>
          <p:cNvPicPr preferRelativeResize="0"/>
          <p:nvPr/>
        </p:nvPicPr>
        <p:blipFill rotWithShape="1">
          <a:blip r:embed="rId4">
            <a:alphaModFix/>
          </a:blip>
          <a:srcRect b="0" l="0" r="0" t="0"/>
          <a:stretch/>
        </p:blipFill>
        <p:spPr>
          <a:xfrm>
            <a:off x="679450" y="4887913"/>
            <a:ext cx="7794625" cy="1992312"/>
          </a:xfrm>
          <a:prstGeom prst="rect">
            <a:avLst/>
          </a:prstGeom>
          <a:noFill/>
          <a:ln>
            <a:noFill/>
          </a:ln>
        </p:spPr>
      </p:pic>
      <p:sp>
        <p:nvSpPr>
          <p:cNvPr id="1234" name="Google Shape;1234;p47"/>
          <p:cNvSpPr txBox="1"/>
          <p:nvPr/>
        </p:nvSpPr>
        <p:spPr>
          <a:xfrm>
            <a:off x="4298950" y="2779713"/>
            <a:ext cx="4608513" cy="822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∙If 34% of the energy is consumed, 76% remains. </a:t>
            </a:r>
            <a:endParaRPr/>
          </a:p>
        </p:txBody>
      </p:sp>
      <p:sp>
        <p:nvSpPr>
          <p:cNvPr id="1235" name="Google Shape;1235;p47"/>
          <p:cNvSpPr txBox="1"/>
          <p:nvPr/>
        </p:nvSpPr>
        <p:spPr>
          <a:xfrm>
            <a:off x="5226050" y="3502025"/>
            <a:ext cx="33448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 0.76(240) = 180 J</a:t>
            </a:r>
            <a:endParaRPr/>
          </a:p>
        </p:txBody>
      </p:sp>
      <p:sp>
        <p:nvSpPr>
          <p:cNvPr id="1236" name="Google Shape;1236;p47"/>
          <p:cNvSpPr txBox="1"/>
          <p:nvPr/>
        </p:nvSpPr>
        <p:spPr>
          <a:xfrm>
            <a:off x="4854575" y="3835400"/>
            <a:ext cx="33289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 (1/2)(0.44)</a:t>
            </a:r>
            <a:r>
              <a:rPr i="1" lang="en-US" sz="2400">
                <a:solidFill>
                  <a:schemeClr val="hlink"/>
                </a:solidFill>
                <a:latin typeface="Arial"/>
                <a:ea typeface="Arial"/>
                <a:cs typeface="Arial"/>
                <a:sym typeface="Arial"/>
              </a:rPr>
              <a:t>v</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180 J</a:t>
            </a:r>
            <a:endParaRPr/>
          </a:p>
        </p:txBody>
      </p:sp>
      <p:sp>
        <p:nvSpPr>
          <p:cNvPr id="1237" name="Google Shape;1237;p47"/>
          <p:cNvSpPr txBox="1"/>
          <p:nvPr/>
        </p:nvSpPr>
        <p:spPr>
          <a:xfrm>
            <a:off x="1401763" y="6359525"/>
            <a:ext cx="7086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v</a:t>
            </a:r>
            <a:r>
              <a:rPr lang="en-US" sz="2400">
                <a:solidFill>
                  <a:schemeClr val="hlink"/>
                </a:solidFill>
                <a:latin typeface="Arial"/>
                <a:ea typeface="Arial"/>
                <a:cs typeface="Arial"/>
                <a:sym typeface="Arial"/>
              </a:rPr>
              <a:t> = 29 ms</a:t>
            </a:r>
            <a:r>
              <a:rPr baseline="30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33"/>
                                        </p:tgtEl>
                                        <p:attrNameLst>
                                          <p:attrName>style.visibility</p:attrName>
                                        </p:attrNameLst>
                                      </p:cBhvr>
                                      <p:to>
                                        <p:strVal val="visible"/>
                                      </p:to>
                                    </p:set>
                                    <p:anim calcmode="lin" valueType="num">
                                      <p:cBhvr additive="base">
                                        <p:cTn dur="500"/>
                                        <p:tgtEl>
                                          <p:spTgt spid="1233"/>
                                        </p:tgtEl>
                                        <p:attrNameLst>
                                          <p:attrName>ppt_w</p:attrName>
                                        </p:attrNameLst>
                                      </p:cBhvr>
                                      <p:tavLst>
                                        <p:tav fmla="" tm="0">
                                          <p:val>
                                            <p:strVal val="0"/>
                                          </p:val>
                                        </p:tav>
                                        <p:tav fmla="" tm="100000">
                                          <p:val>
                                            <p:strVal val="#ppt_w"/>
                                          </p:val>
                                        </p:tav>
                                      </p:tavLst>
                                    </p:anim>
                                    <p:anim calcmode="lin" valueType="num">
                                      <p:cBhvr additive="base">
                                        <p:cTn dur="500"/>
                                        <p:tgtEl>
                                          <p:spTgt spid="123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34">
                                            <p:txEl>
                                              <p:pRg end="0" st="0"/>
                                            </p:txEl>
                                          </p:spTgt>
                                        </p:tgtEl>
                                        <p:attrNameLst>
                                          <p:attrName>style.visibility</p:attrName>
                                        </p:attrNameLst>
                                      </p:cBhvr>
                                      <p:to>
                                        <p:strVal val="visible"/>
                                      </p:to>
                                    </p:set>
                                    <p:anim calcmode="lin" valueType="num">
                                      <p:cBhvr additive="base">
                                        <p:cTn dur="500"/>
                                        <p:tgtEl>
                                          <p:spTgt spid="123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35">
                                            <p:txEl>
                                              <p:pRg end="0" st="0"/>
                                            </p:txEl>
                                          </p:spTgt>
                                        </p:tgtEl>
                                        <p:attrNameLst>
                                          <p:attrName>style.visibility</p:attrName>
                                        </p:attrNameLst>
                                      </p:cBhvr>
                                      <p:to>
                                        <p:strVal val="visible"/>
                                      </p:to>
                                    </p:set>
                                    <p:anim calcmode="lin" valueType="num">
                                      <p:cBhvr additive="base">
                                        <p:cTn dur="500"/>
                                        <p:tgtEl>
                                          <p:spTgt spid="123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36">
                                            <p:txEl>
                                              <p:pRg end="0" st="0"/>
                                            </p:txEl>
                                          </p:spTgt>
                                        </p:tgtEl>
                                        <p:attrNameLst>
                                          <p:attrName>style.visibility</p:attrName>
                                        </p:attrNameLst>
                                      </p:cBhvr>
                                      <p:to>
                                        <p:strVal val="visible"/>
                                      </p:to>
                                    </p:set>
                                    <p:anim calcmode="lin" valueType="num">
                                      <p:cBhvr additive="base">
                                        <p:cTn dur="500"/>
                                        <p:tgtEl>
                                          <p:spTgt spid="123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37">
                                            <p:txEl>
                                              <p:pRg end="0" st="0"/>
                                            </p:txEl>
                                          </p:spTgt>
                                        </p:tgtEl>
                                        <p:attrNameLst>
                                          <p:attrName>style.visibility</p:attrName>
                                        </p:attrNameLst>
                                      </p:cBhvr>
                                      <p:to>
                                        <p:strVal val="visible"/>
                                      </p:to>
                                    </p:set>
                                    <p:anim calcmode="lin" valueType="num">
                                      <p:cBhvr additive="base">
                                        <p:cTn dur="500"/>
                                        <p:tgtEl>
                                          <p:spTgt spid="123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48"/>
          <p:cNvSpPr/>
          <p:nvPr/>
        </p:nvSpPr>
        <p:spPr>
          <a:xfrm>
            <a:off x="685800" y="1401763"/>
            <a:ext cx="7772400" cy="430212"/>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endParaRPr/>
          </a:p>
        </p:txBody>
      </p:sp>
      <p:sp>
        <p:nvSpPr>
          <p:cNvPr id="1243" name="Google Shape;1243;p48"/>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800">
              <a:solidFill>
                <a:schemeClr val="dk1"/>
              </a:solidFill>
            </a:endParaRPr>
          </a:p>
        </p:txBody>
      </p:sp>
      <p:sp>
        <p:nvSpPr>
          <p:cNvPr id="1244" name="Google Shape;1244;p48"/>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1245" name="Google Shape;1245;p48"/>
          <p:cNvPicPr preferRelativeResize="0"/>
          <p:nvPr/>
        </p:nvPicPr>
        <p:blipFill rotWithShape="1">
          <a:blip r:embed="rId3">
            <a:alphaModFix/>
          </a:blip>
          <a:srcRect b="0" l="0" r="0" t="0"/>
          <a:stretch/>
        </p:blipFill>
        <p:spPr>
          <a:xfrm>
            <a:off x="696913" y="1784350"/>
            <a:ext cx="6918325" cy="5045075"/>
          </a:xfrm>
          <a:prstGeom prst="rect">
            <a:avLst/>
          </a:prstGeom>
          <a:noFill/>
          <a:ln>
            <a:noFill/>
          </a:ln>
        </p:spPr>
      </p:pic>
      <p:sp>
        <p:nvSpPr>
          <p:cNvPr id="1246" name="Google Shape;1246;p48"/>
          <p:cNvSpPr txBox="1"/>
          <p:nvPr/>
        </p:nvSpPr>
        <p:spPr>
          <a:xfrm>
            <a:off x="4367213" y="4295775"/>
            <a:ext cx="39354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3300"/>
                </a:solidFill>
                <a:latin typeface="Arial"/>
                <a:ea typeface="Arial"/>
                <a:cs typeface="Arial"/>
                <a:sym typeface="Arial"/>
              </a:rPr>
              <a:t>∙Use ∆</a:t>
            </a:r>
            <a:r>
              <a:rPr i="1" lang="en-US" sz="2400">
                <a:solidFill>
                  <a:srgbClr val="FF3300"/>
                </a:solidFill>
                <a:latin typeface="Arial"/>
                <a:ea typeface="Arial"/>
                <a:cs typeface="Arial"/>
                <a:sym typeface="Arial"/>
              </a:rPr>
              <a:t>E</a:t>
            </a:r>
            <a:r>
              <a:rPr baseline="-25000" lang="en-US" sz="2400">
                <a:solidFill>
                  <a:srgbClr val="FF3300"/>
                </a:solidFill>
                <a:latin typeface="Arial"/>
                <a:ea typeface="Arial"/>
                <a:cs typeface="Arial"/>
                <a:sym typeface="Arial"/>
              </a:rPr>
              <a:t>K</a:t>
            </a:r>
            <a:r>
              <a:rPr lang="en-US" sz="2400">
                <a:solidFill>
                  <a:srgbClr val="FF3300"/>
                </a:solidFill>
                <a:latin typeface="Arial"/>
                <a:ea typeface="Arial"/>
                <a:cs typeface="Arial"/>
                <a:sym typeface="Arial"/>
              </a:rPr>
              <a:t> + ∆</a:t>
            </a:r>
            <a:r>
              <a:rPr i="1" lang="en-US" sz="2400">
                <a:solidFill>
                  <a:srgbClr val="FF3300"/>
                </a:solidFill>
                <a:latin typeface="Arial"/>
                <a:ea typeface="Arial"/>
                <a:cs typeface="Arial"/>
                <a:sym typeface="Arial"/>
              </a:rPr>
              <a:t>E</a:t>
            </a:r>
            <a:r>
              <a:rPr baseline="-25000" lang="en-US" sz="2400">
                <a:solidFill>
                  <a:srgbClr val="FF3300"/>
                </a:solidFill>
                <a:latin typeface="Arial"/>
                <a:ea typeface="Arial"/>
                <a:cs typeface="Arial"/>
                <a:sym typeface="Arial"/>
              </a:rPr>
              <a:t>P</a:t>
            </a:r>
            <a:r>
              <a:rPr baseline="30000" lang="en-US" sz="2400">
                <a:solidFill>
                  <a:srgbClr val="FF3300"/>
                </a:solidFill>
                <a:latin typeface="Arial"/>
                <a:ea typeface="Arial"/>
                <a:cs typeface="Arial"/>
                <a:sym typeface="Arial"/>
              </a:rPr>
              <a:t> </a:t>
            </a:r>
            <a:r>
              <a:rPr lang="en-US" sz="2400">
                <a:solidFill>
                  <a:srgbClr val="FF3300"/>
                </a:solidFill>
                <a:latin typeface="Arial"/>
                <a:ea typeface="Arial"/>
                <a:cs typeface="Arial"/>
                <a:sym typeface="Arial"/>
              </a:rPr>
              <a:t>= 0. </a:t>
            </a:r>
            <a:endParaRPr/>
          </a:p>
        </p:txBody>
      </p:sp>
      <p:sp>
        <p:nvSpPr>
          <p:cNvPr id="1247" name="Google Shape;1247;p48"/>
          <p:cNvSpPr txBox="1"/>
          <p:nvPr/>
        </p:nvSpPr>
        <p:spPr>
          <a:xfrm>
            <a:off x="3670300" y="147638"/>
            <a:ext cx="41846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(1/2)</a:t>
            </a:r>
            <a:r>
              <a:rPr i="1" lang="en-US" sz="2400">
                <a:solidFill>
                  <a:schemeClr val="hlink"/>
                </a:solidFill>
                <a:latin typeface="Arial"/>
                <a:ea typeface="Arial"/>
                <a:cs typeface="Arial"/>
                <a:sym typeface="Arial"/>
              </a:rPr>
              <a:t>mv</a:t>
            </a:r>
            <a:r>
              <a:rPr baseline="-25000" lang="en-US" sz="2400">
                <a:solidFill>
                  <a:schemeClr val="hlink"/>
                </a:solidFill>
                <a:latin typeface="Arial"/>
                <a:ea typeface="Arial"/>
                <a:cs typeface="Arial"/>
                <a:sym typeface="Arial"/>
              </a:rPr>
              <a:t>f</a:t>
            </a:r>
            <a:r>
              <a:rPr baseline="30000" lang="en-US" sz="2400">
                <a:solidFill>
                  <a:schemeClr val="hlink"/>
                </a:solidFill>
                <a:latin typeface="Arial"/>
                <a:ea typeface="Arial"/>
                <a:cs typeface="Arial"/>
                <a:sym typeface="Arial"/>
              </a:rPr>
              <a:t>2 </a:t>
            </a:r>
            <a:r>
              <a:rPr lang="en-US" sz="2400">
                <a:solidFill>
                  <a:schemeClr val="hlink"/>
                </a:solidFill>
                <a:latin typeface="Arial"/>
                <a:ea typeface="Arial"/>
                <a:cs typeface="Arial"/>
                <a:sym typeface="Arial"/>
              </a:rPr>
              <a:t>- (1/2)</a:t>
            </a:r>
            <a:r>
              <a:rPr i="1" lang="en-US" sz="2400">
                <a:solidFill>
                  <a:schemeClr val="hlink"/>
                </a:solidFill>
                <a:latin typeface="Arial"/>
                <a:ea typeface="Arial"/>
                <a:cs typeface="Arial"/>
                <a:sym typeface="Arial"/>
              </a:rPr>
              <a:t>mv</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-∆E</a:t>
            </a:r>
            <a:r>
              <a:rPr baseline="-25000" lang="en-US" sz="2400">
                <a:solidFill>
                  <a:schemeClr val="hlink"/>
                </a:solidFill>
                <a:latin typeface="Arial"/>
                <a:ea typeface="Arial"/>
                <a:cs typeface="Arial"/>
                <a:sym typeface="Arial"/>
              </a:rPr>
              <a:t>P</a:t>
            </a:r>
            <a:r>
              <a:rPr lang="en-US" sz="2400">
                <a:solidFill>
                  <a:schemeClr val="hlink"/>
                </a:solidFill>
                <a:latin typeface="Arial"/>
                <a:ea typeface="Arial"/>
                <a:cs typeface="Arial"/>
                <a:sym typeface="Arial"/>
              </a:rPr>
              <a:t> </a:t>
            </a:r>
            <a:endParaRPr/>
          </a:p>
        </p:txBody>
      </p:sp>
      <p:sp>
        <p:nvSpPr>
          <p:cNvPr id="1248" name="Google Shape;1248;p48"/>
          <p:cNvSpPr txBox="1"/>
          <p:nvPr/>
        </p:nvSpPr>
        <p:spPr>
          <a:xfrm>
            <a:off x="5702300" y="493713"/>
            <a:ext cx="33543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mv</a:t>
            </a:r>
            <a:r>
              <a:rPr baseline="-25000" lang="en-US" sz="2400">
                <a:solidFill>
                  <a:schemeClr val="hlink"/>
                </a:solidFill>
                <a:latin typeface="Arial"/>
                <a:ea typeface="Arial"/>
                <a:cs typeface="Arial"/>
                <a:sym typeface="Arial"/>
              </a:rPr>
              <a:t>f</a:t>
            </a:r>
            <a:r>
              <a:rPr baseline="30000" lang="en-US" sz="2400">
                <a:solidFill>
                  <a:schemeClr val="hlink"/>
                </a:solidFill>
                <a:latin typeface="Arial"/>
                <a:ea typeface="Arial"/>
                <a:cs typeface="Arial"/>
                <a:sym typeface="Arial"/>
              </a:rPr>
              <a:t>2 </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mv</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-2</a:t>
            </a:r>
            <a:r>
              <a:rPr i="1" lang="en-US" sz="2400">
                <a:solidFill>
                  <a:schemeClr val="hlink"/>
                </a:solidFill>
                <a:latin typeface="Arial"/>
                <a:ea typeface="Arial"/>
                <a:cs typeface="Arial"/>
                <a:sym typeface="Arial"/>
              </a:rPr>
              <a:t>mg</a:t>
            </a:r>
            <a:r>
              <a:rPr lang="en-US" sz="2400">
                <a:solidFill>
                  <a:schemeClr val="hlink"/>
                </a:solidFill>
                <a:latin typeface="Arial"/>
                <a:ea typeface="Arial"/>
                <a:cs typeface="Arial"/>
                <a:sym typeface="Arial"/>
              </a:rPr>
              <a:t>(0-</a:t>
            </a:r>
            <a:r>
              <a:rPr i="1" lang="en-US" sz="2400">
                <a:solidFill>
                  <a:schemeClr val="hlink"/>
                </a:solidFill>
                <a:latin typeface="Arial"/>
                <a:ea typeface="Arial"/>
                <a:cs typeface="Arial"/>
                <a:sym typeface="Arial"/>
              </a:rPr>
              <a:t>H</a:t>
            </a:r>
            <a:r>
              <a:rPr lang="en-US" sz="2400">
                <a:solidFill>
                  <a:schemeClr val="hlink"/>
                </a:solidFill>
                <a:latin typeface="Arial"/>
                <a:ea typeface="Arial"/>
                <a:cs typeface="Arial"/>
                <a:sym typeface="Arial"/>
              </a:rPr>
              <a:t>) </a:t>
            </a:r>
            <a:endParaRPr/>
          </a:p>
        </p:txBody>
      </p:sp>
      <p:cxnSp>
        <p:nvCxnSpPr>
          <p:cNvPr id="1249" name="Google Shape;1249;p48"/>
          <p:cNvCxnSpPr/>
          <p:nvPr/>
        </p:nvCxnSpPr>
        <p:spPr>
          <a:xfrm flipH="1" rot="10800000">
            <a:off x="5859463" y="615950"/>
            <a:ext cx="180975" cy="215900"/>
          </a:xfrm>
          <a:prstGeom prst="straightConnector1">
            <a:avLst/>
          </a:prstGeom>
          <a:noFill/>
          <a:ln cap="flat" cmpd="sng" w="9525">
            <a:solidFill>
              <a:srgbClr val="FF0000"/>
            </a:solidFill>
            <a:prstDash val="solid"/>
            <a:round/>
            <a:headEnd len="med" w="med" type="none"/>
            <a:tailEnd len="med" w="med" type="none"/>
          </a:ln>
        </p:spPr>
      </p:cxnSp>
      <p:cxnSp>
        <p:nvCxnSpPr>
          <p:cNvPr id="1250" name="Google Shape;1250;p48"/>
          <p:cNvCxnSpPr/>
          <p:nvPr/>
        </p:nvCxnSpPr>
        <p:spPr>
          <a:xfrm flipH="1" rot="10800000">
            <a:off x="6751638" y="617538"/>
            <a:ext cx="180975" cy="215900"/>
          </a:xfrm>
          <a:prstGeom prst="straightConnector1">
            <a:avLst/>
          </a:prstGeom>
          <a:noFill/>
          <a:ln cap="flat" cmpd="sng" w="9525">
            <a:solidFill>
              <a:srgbClr val="FF0000"/>
            </a:solidFill>
            <a:prstDash val="solid"/>
            <a:round/>
            <a:headEnd len="med" w="med" type="none"/>
            <a:tailEnd len="med" w="med" type="none"/>
          </a:ln>
        </p:spPr>
      </p:cxnSp>
      <p:cxnSp>
        <p:nvCxnSpPr>
          <p:cNvPr id="1251" name="Google Shape;1251;p48"/>
          <p:cNvCxnSpPr/>
          <p:nvPr/>
        </p:nvCxnSpPr>
        <p:spPr>
          <a:xfrm flipH="1" rot="10800000">
            <a:off x="7894638" y="617538"/>
            <a:ext cx="180975" cy="215900"/>
          </a:xfrm>
          <a:prstGeom prst="straightConnector1">
            <a:avLst/>
          </a:prstGeom>
          <a:noFill/>
          <a:ln cap="flat" cmpd="sng" w="9525">
            <a:solidFill>
              <a:srgbClr val="FF0000"/>
            </a:solidFill>
            <a:prstDash val="solid"/>
            <a:round/>
            <a:headEnd len="med" w="med" type="none"/>
            <a:tailEnd len="med" w="med" type="none"/>
          </a:ln>
        </p:spPr>
      </p:cxnSp>
      <p:sp>
        <p:nvSpPr>
          <p:cNvPr id="1252" name="Google Shape;1252;p48"/>
          <p:cNvSpPr txBox="1"/>
          <p:nvPr/>
        </p:nvSpPr>
        <p:spPr>
          <a:xfrm>
            <a:off x="5956300" y="858838"/>
            <a:ext cx="22304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v</a:t>
            </a:r>
            <a:r>
              <a:rPr baseline="-25000" lang="en-US" sz="2400">
                <a:solidFill>
                  <a:schemeClr val="hlink"/>
                </a:solidFill>
                <a:latin typeface="Arial"/>
                <a:ea typeface="Arial"/>
                <a:cs typeface="Arial"/>
                <a:sym typeface="Arial"/>
              </a:rPr>
              <a:t>f</a:t>
            </a:r>
            <a:r>
              <a:rPr baseline="30000" lang="en-US" sz="2400">
                <a:solidFill>
                  <a:schemeClr val="hlink"/>
                </a:solidFill>
                <a:latin typeface="Arial"/>
                <a:ea typeface="Arial"/>
                <a:cs typeface="Arial"/>
                <a:sym typeface="Arial"/>
              </a:rPr>
              <a:t>2 </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v</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+ 2</a:t>
            </a:r>
            <a:r>
              <a:rPr i="1" lang="en-US" sz="2400">
                <a:solidFill>
                  <a:schemeClr val="hlink"/>
                </a:solidFill>
                <a:latin typeface="Arial"/>
                <a:ea typeface="Arial"/>
                <a:cs typeface="Arial"/>
                <a:sym typeface="Arial"/>
              </a:rPr>
              <a:t>gH</a:t>
            </a:r>
            <a:r>
              <a:rPr lang="en-US" sz="2400">
                <a:solidFill>
                  <a:schemeClr val="hlink"/>
                </a:solidFill>
                <a:latin typeface="Arial"/>
                <a:ea typeface="Arial"/>
                <a:cs typeface="Arial"/>
                <a:sym typeface="Arial"/>
              </a:rPr>
              <a:t> </a:t>
            </a:r>
            <a:endParaRPr/>
          </a:p>
        </p:txBody>
      </p:sp>
      <p:sp>
        <p:nvSpPr>
          <p:cNvPr id="1253" name="Google Shape;1253;p48"/>
          <p:cNvSpPr/>
          <p:nvPr/>
        </p:nvSpPr>
        <p:spPr>
          <a:xfrm>
            <a:off x="5713413" y="6397625"/>
            <a:ext cx="422275" cy="422275"/>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245"/>
                                        </p:tgtEl>
                                        <p:attrNameLst>
                                          <p:attrName>style.visibility</p:attrName>
                                        </p:attrNameLst>
                                      </p:cBhvr>
                                      <p:to>
                                        <p:strVal val="visible"/>
                                      </p:to>
                                    </p:set>
                                    <p:anim calcmode="lin" valueType="num">
                                      <p:cBhvr additive="base">
                                        <p:cTn dur="500"/>
                                        <p:tgtEl>
                                          <p:spTgt spid="1245"/>
                                        </p:tgtEl>
                                        <p:attrNameLst>
                                          <p:attrName>ppt_w</p:attrName>
                                        </p:attrNameLst>
                                      </p:cBhvr>
                                      <p:tavLst>
                                        <p:tav fmla="" tm="0">
                                          <p:val>
                                            <p:strVal val="0"/>
                                          </p:val>
                                        </p:tav>
                                        <p:tav fmla="" tm="100000">
                                          <p:val>
                                            <p:strVal val="#ppt_w"/>
                                          </p:val>
                                        </p:tav>
                                      </p:tavLst>
                                    </p:anim>
                                    <p:anim calcmode="lin" valueType="num">
                                      <p:cBhvr additive="base">
                                        <p:cTn dur="500"/>
                                        <p:tgtEl>
                                          <p:spTgt spid="124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46">
                                            <p:txEl>
                                              <p:pRg end="0" st="0"/>
                                            </p:txEl>
                                          </p:spTgt>
                                        </p:tgtEl>
                                        <p:attrNameLst>
                                          <p:attrName>style.visibility</p:attrName>
                                        </p:attrNameLst>
                                      </p:cBhvr>
                                      <p:to>
                                        <p:strVal val="visible"/>
                                      </p:to>
                                    </p:set>
                                    <p:anim calcmode="lin" valueType="num">
                                      <p:cBhvr additive="base">
                                        <p:cTn dur="500"/>
                                        <p:tgtEl>
                                          <p:spTgt spid="124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47">
                                            <p:txEl>
                                              <p:pRg end="0" st="0"/>
                                            </p:txEl>
                                          </p:spTgt>
                                        </p:tgtEl>
                                        <p:attrNameLst>
                                          <p:attrName>style.visibility</p:attrName>
                                        </p:attrNameLst>
                                      </p:cBhvr>
                                      <p:to>
                                        <p:strVal val="visible"/>
                                      </p:to>
                                    </p:set>
                                    <p:anim calcmode="lin" valueType="num">
                                      <p:cBhvr additive="base">
                                        <p:cTn dur="500"/>
                                        <p:tgtEl>
                                          <p:spTgt spid="124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48">
                                            <p:txEl>
                                              <p:pRg end="0" st="0"/>
                                            </p:txEl>
                                          </p:spTgt>
                                        </p:tgtEl>
                                        <p:attrNameLst>
                                          <p:attrName>style.visibility</p:attrName>
                                        </p:attrNameLst>
                                      </p:cBhvr>
                                      <p:to>
                                        <p:strVal val="visible"/>
                                      </p:to>
                                    </p:set>
                                    <p:anim calcmode="lin" valueType="num">
                                      <p:cBhvr additive="base">
                                        <p:cTn dur="500"/>
                                        <p:tgtEl>
                                          <p:spTgt spid="124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9"/>
                                        </p:tgtEl>
                                        <p:attrNameLst>
                                          <p:attrName>style.visibility</p:attrName>
                                        </p:attrNameLst>
                                      </p:cBhvr>
                                      <p:to>
                                        <p:strVal val="visible"/>
                                      </p:to>
                                    </p:set>
                                    <p:animEffect filter="fade" transition="in">
                                      <p:cBhvr>
                                        <p:cTn dur="500"/>
                                        <p:tgtEl>
                                          <p:spTgt spid="1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gtEl>
                                        <p:attrNameLst>
                                          <p:attrName>style.visibility</p:attrName>
                                        </p:attrNameLst>
                                      </p:cBhvr>
                                      <p:to>
                                        <p:strVal val="visible"/>
                                      </p:to>
                                    </p:set>
                                    <p:animEffect filter="fade" transition="in">
                                      <p:cBhvr>
                                        <p:cTn dur="500"/>
                                        <p:tgtEl>
                                          <p:spTgt spid="1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1"/>
                                        </p:tgtEl>
                                        <p:attrNameLst>
                                          <p:attrName>style.visibility</p:attrName>
                                        </p:attrNameLst>
                                      </p:cBhvr>
                                      <p:to>
                                        <p:strVal val="visible"/>
                                      </p:to>
                                    </p:set>
                                    <p:animEffect filter="fade" transition="in">
                                      <p:cBhvr>
                                        <p:cTn dur="500"/>
                                        <p:tgtEl>
                                          <p:spTgt spid="1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52">
                                            <p:txEl>
                                              <p:pRg end="0" st="0"/>
                                            </p:txEl>
                                          </p:spTgt>
                                        </p:tgtEl>
                                        <p:attrNameLst>
                                          <p:attrName>style.visibility</p:attrName>
                                        </p:attrNameLst>
                                      </p:cBhvr>
                                      <p:to>
                                        <p:strVal val="visible"/>
                                      </p:to>
                                    </p:set>
                                    <p:anim calcmode="lin" valueType="num">
                                      <p:cBhvr additive="base">
                                        <p:cTn dur="500"/>
                                        <p:tgtEl>
                                          <p:spTgt spid="125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53"/>
                                        </p:tgtEl>
                                        <p:attrNameLst>
                                          <p:attrName>style.visibility</p:attrName>
                                        </p:attrNameLst>
                                      </p:cBhvr>
                                      <p:to>
                                        <p:strVal val="visible"/>
                                      </p:to>
                                    </p:set>
                                    <p:anim calcmode="lin" valueType="num">
                                      <p:cBhvr additive="base">
                                        <p:cTn dur="500"/>
                                        <p:tgtEl>
                                          <p:spTgt spid="1253"/>
                                        </p:tgtEl>
                                        <p:attrNameLst>
                                          <p:attrName>ppt_w</p:attrName>
                                        </p:attrNameLst>
                                      </p:cBhvr>
                                      <p:tavLst>
                                        <p:tav fmla="" tm="0">
                                          <p:val>
                                            <p:strVal val="0"/>
                                          </p:val>
                                        </p:tav>
                                        <p:tav fmla="" tm="100000">
                                          <p:val>
                                            <p:strVal val="#ppt_w"/>
                                          </p:val>
                                        </p:tav>
                                      </p:tavLst>
                                    </p:anim>
                                    <p:anim calcmode="lin" valueType="num">
                                      <p:cBhvr additive="base">
                                        <p:cTn dur="500"/>
                                        <p:tgtEl>
                                          <p:spTgt spid="125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49"/>
          <p:cNvSpPr/>
          <p:nvPr/>
        </p:nvSpPr>
        <p:spPr>
          <a:xfrm>
            <a:off x="685800" y="1549400"/>
            <a:ext cx="7772400" cy="50800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Discussing the conservation of total energy within energy transformations </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∙We have talked about kinetic energy (of motion).</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∙We have talked about potential energy (of position).</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∙We have chemical energy and nuclear energy.</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∙We have electrical energy and magnetic energy.</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∙We have sound energy and light energy.</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∙And we also have heat energy.</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∙In mechanics we only have to worry about the highlighted energy forms. </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∙And we only worry about heat if there is friction or drag.</a:t>
            </a:r>
            <a:endParaRPr sz="2400">
              <a:solidFill>
                <a:schemeClr val="dk1"/>
              </a:solidFill>
              <a:latin typeface="Arial"/>
              <a:ea typeface="Arial"/>
              <a:cs typeface="Arial"/>
              <a:sym typeface="Arial"/>
            </a:endParaRPr>
          </a:p>
        </p:txBody>
      </p:sp>
      <p:sp>
        <p:nvSpPr>
          <p:cNvPr id="1260" name="Google Shape;1260;p4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1261" name="Google Shape;1261;p49"/>
          <p:cNvSpPr/>
          <p:nvPr/>
        </p:nvSpPr>
        <p:spPr>
          <a:xfrm>
            <a:off x="3849688" y="2436813"/>
            <a:ext cx="2047875" cy="323850"/>
          </a:xfrm>
          <a:prstGeom prst="rect">
            <a:avLst/>
          </a:prstGeom>
          <a:solidFill>
            <a:srgbClr val="FF9900">
              <a:alpha val="41568"/>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262" name="Google Shape;1262;p49"/>
          <p:cNvSpPr/>
          <p:nvPr/>
        </p:nvSpPr>
        <p:spPr>
          <a:xfrm>
            <a:off x="3895725" y="2876550"/>
            <a:ext cx="2260600" cy="325438"/>
          </a:xfrm>
          <a:prstGeom prst="rect">
            <a:avLst/>
          </a:prstGeom>
          <a:solidFill>
            <a:srgbClr val="FF9900">
              <a:alpha val="41568"/>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263" name="Google Shape;1263;p49"/>
          <p:cNvSpPr/>
          <p:nvPr/>
        </p:nvSpPr>
        <p:spPr>
          <a:xfrm>
            <a:off x="3365500" y="4630738"/>
            <a:ext cx="1782763" cy="325437"/>
          </a:xfrm>
          <a:prstGeom prst="rect">
            <a:avLst/>
          </a:prstGeom>
          <a:solidFill>
            <a:srgbClr val="FF3300">
              <a:alpha val="41568"/>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9">
                                            <p:txEl>
                                              <p:pRg end="0" st="0"/>
                                            </p:txEl>
                                          </p:spTgt>
                                        </p:tgtEl>
                                        <p:attrNameLst>
                                          <p:attrName>style.visibility</p:attrName>
                                        </p:attrNameLst>
                                      </p:cBhvr>
                                      <p:to>
                                        <p:strVal val="visible"/>
                                      </p:to>
                                    </p:set>
                                    <p:anim calcmode="lin" valueType="num">
                                      <p:cBhvr additive="base">
                                        <p:cTn dur="500"/>
                                        <p:tgtEl>
                                          <p:spTgt spid="125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9">
                                            <p:txEl>
                                              <p:pRg end="1" st="1"/>
                                            </p:txEl>
                                          </p:spTgt>
                                        </p:tgtEl>
                                        <p:attrNameLst>
                                          <p:attrName>style.visibility</p:attrName>
                                        </p:attrNameLst>
                                      </p:cBhvr>
                                      <p:to>
                                        <p:strVal val="visible"/>
                                      </p:to>
                                    </p:set>
                                    <p:anim calcmode="lin" valueType="num">
                                      <p:cBhvr additive="base">
                                        <p:cTn dur="500"/>
                                        <p:tgtEl>
                                          <p:spTgt spid="125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9">
                                            <p:txEl>
                                              <p:pRg end="2" st="2"/>
                                            </p:txEl>
                                          </p:spTgt>
                                        </p:tgtEl>
                                        <p:attrNameLst>
                                          <p:attrName>style.visibility</p:attrName>
                                        </p:attrNameLst>
                                      </p:cBhvr>
                                      <p:to>
                                        <p:strVal val="visible"/>
                                      </p:to>
                                    </p:set>
                                    <p:anim calcmode="lin" valueType="num">
                                      <p:cBhvr additive="base">
                                        <p:cTn dur="500"/>
                                        <p:tgtEl>
                                          <p:spTgt spid="125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9">
                                            <p:txEl>
                                              <p:pRg end="3" st="3"/>
                                            </p:txEl>
                                          </p:spTgt>
                                        </p:tgtEl>
                                        <p:attrNameLst>
                                          <p:attrName>style.visibility</p:attrName>
                                        </p:attrNameLst>
                                      </p:cBhvr>
                                      <p:to>
                                        <p:strVal val="visible"/>
                                      </p:to>
                                    </p:set>
                                    <p:anim calcmode="lin" valueType="num">
                                      <p:cBhvr additive="base">
                                        <p:cTn dur="500"/>
                                        <p:tgtEl>
                                          <p:spTgt spid="125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9">
                                            <p:txEl>
                                              <p:pRg end="4" st="4"/>
                                            </p:txEl>
                                          </p:spTgt>
                                        </p:tgtEl>
                                        <p:attrNameLst>
                                          <p:attrName>style.visibility</p:attrName>
                                        </p:attrNameLst>
                                      </p:cBhvr>
                                      <p:to>
                                        <p:strVal val="visible"/>
                                      </p:to>
                                    </p:set>
                                    <p:anim calcmode="lin" valueType="num">
                                      <p:cBhvr additive="base">
                                        <p:cTn dur="500"/>
                                        <p:tgtEl>
                                          <p:spTgt spid="125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9">
                                            <p:txEl>
                                              <p:pRg end="5" st="5"/>
                                            </p:txEl>
                                          </p:spTgt>
                                        </p:tgtEl>
                                        <p:attrNameLst>
                                          <p:attrName>style.visibility</p:attrName>
                                        </p:attrNameLst>
                                      </p:cBhvr>
                                      <p:to>
                                        <p:strVal val="visible"/>
                                      </p:to>
                                    </p:set>
                                    <p:anim calcmode="lin" valueType="num">
                                      <p:cBhvr additive="base">
                                        <p:cTn dur="500"/>
                                        <p:tgtEl>
                                          <p:spTgt spid="125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9">
                                            <p:txEl>
                                              <p:pRg end="6" st="6"/>
                                            </p:txEl>
                                          </p:spTgt>
                                        </p:tgtEl>
                                        <p:attrNameLst>
                                          <p:attrName>style.visibility</p:attrName>
                                        </p:attrNameLst>
                                      </p:cBhvr>
                                      <p:to>
                                        <p:strVal val="visible"/>
                                      </p:to>
                                    </p:set>
                                    <p:anim calcmode="lin" valueType="num">
                                      <p:cBhvr additive="base">
                                        <p:cTn dur="500"/>
                                        <p:tgtEl>
                                          <p:spTgt spid="125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9">
                                            <p:txEl>
                                              <p:pRg end="7" st="7"/>
                                            </p:txEl>
                                          </p:spTgt>
                                        </p:tgtEl>
                                        <p:attrNameLst>
                                          <p:attrName>style.visibility</p:attrName>
                                        </p:attrNameLst>
                                      </p:cBhvr>
                                      <p:to>
                                        <p:strVal val="visible"/>
                                      </p:to>
                                    </p:set>
                                    <p:anim calcmode="lin" valueType="num">
                                      <p:cBhvr additive="base">
                                        <p:cTn dur="500"/>
                                        <p:tgtEl>
                                          <p:spTgt spid="125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9">
                                            <p:txEl>
                                              <p:pRg end="8" st="8"/>
                                            </p:txEl>
                                          </p:spTgt>
                                        </p:tgtEl>
                                        <p:attrNameLst>
                                          <p:attrName>style.visibility</p:attrName>
                                        </p:attrNameLst>
                                      </p:cBhvr>
                                      <p:to>
                                        <p:strVal val="visible"/>
                                      </p:to>
                                    </p:set>
                                    <p:anim calcmode="lin" valueType="num">
                                      <p:cBhvr additive="base">
                                        <p:cTn dur="500"/>
                                        <p:tgtEl>
                                          <p:spTgt spid="1259">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1"/>
                                        </p:tgtEl>
                                        <p:attrNameLst>
                                          <p:attrName>style.visibility</p:attrName>
                                        </p:attrNameLst>
                                      </p:cBhvr>
                                      <p:to>
                                        <p:strVal val="visible"/>
                                      </p:to>
                                    </p:set>
                                    <p:animEffect filter="fade" transition="in">
                                      <p:cBhvr>
                                        <p:cTn dur="1000"/>
                                        <p:tgtEl>
                                          <p:spTgt spid="1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2"/>
                                        </p:tgtEl>
                                        <p:attrNameLst>
                                          <p:attrName>style.visibility</p:attrName>
                                        </p:attrNameLst>
                                      </p:cBhvr>
                                      <p:to>
                                        <p:strVal val="visible"/>
                                      </p:to>
                                    </p:set>
                                    <p:animEffect filter="fade" transition="in">
                                      <p:cBhvr>
                                        <p:cTn dur="1000"/>
                                        <p:tgtEl>
                                          <p:spTgt spid="12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gtEl>
                                        <p:attrNameLst>
                                          <p:attrName>style.visibility</p:attrName>
                                        </p:attrNameLst>
                                      </p:cBhvr>
                                      <p:to>
                                        <p:strVal val="visible"/>
                                      </p:to>
                                    </p:set>
                                    <p:animEffect filter="fade" transition="in">
                                      <p:cBhvr>
                                        <p:cTn dur="1000"/>
                                        <p:tgtEl>
                                          <p:spTgt spid="12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50"/>
          <p:cNvSpPr/>
          <p:nvPr/>
        </p:nvSpPr>
        <p:spPr>
          <a:xfrm>
            <a:off x="685800" y="1549400"/>
            <a:ext cx="7772400" cy="86995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Discussing the conservation of total energy within energy transformations </a:t>
            </a:r>
            <a:endParaRPr/>
          </a:p>
          <a:p>
            <a:pPr indent="0" lvl="0" marL="0" marR="0" rtl="0" algn="l">
              <a:spcBef>
                <a:spcPts val="400"/>
              </a:spcBef>
              <a:spcAft>
                <a:spcPts val="0"/>
              </a:spcAft>
              <a:buClr>
                <a:schemeClr val="dk1"/>
              </a:buClr>
              <a:buSzPts val="2000"/>
              <a:buFont typeface="Courier New"/>
              <a:buNone/>
            </a:pPr>
            <a:r>
              <a:rPr lang="en-US" sz="2000">
                <a:solidFill>
                  <a:schemeClr val="dk1"/>
                </a:solidFill>
                <a:latin typeface="Courier New"/>
                <a:ea typeface="Courier New"/>
                <a:cs typeface="Courier New"/>
                <a:sym typeface="Courier New"/>
              </a:rPr>
              <a:t>	</a:t>
            </a:r>
            <a:endParaRPr/>
          </a:p>
        </p:txBody>
      </p:sp>
      <p:sp>
        <p:nvSpPr>
          <p:cNvPr id="1270" name="Google Shape;1270;p5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1271" name="Google Shape;1271;p50"/>
          <p:cNvSpPr/>
          <p:nvPr/>
        </p:nvSpPr>
        <p:spPr>
          <a:xfrm>
            <a:off x="674688" y="2378075"/>
            <a:ext cx="7781925" cy="447992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Suppose the speed of the 2-kg ball is 15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when it reaches the bottom of the 20-m tall track. Find the loss of mechanical energy and its “location.”</a:t>
            </a:r>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600"/>
              </a:spcBef>
              <a:spcAft>
                <a:spcPts val="0"/>
              </a:spcAft>
              <a:buNone/>
            </a:pPr>
            <a:r>
              <a:rPr lang="en-US" sz="2400">
                <a:solidFill>
                  <a:schemeClr val="dk1"/>
                </a:solidFill>
                <a:latin typeface="Arial"/>
                <a:ea typeface="Arial"/>
                <a:cs typeface="Arial"/>
                <a:sym typeface="Arial"/>
              </a:rPr>
              <a:t>SOLUTION:  Use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loss</a:t>
            </a:r>
            <a:r>
              <a:rPr lang="en-US" sz="2400">
                <a:solidFill>
                  <a:schemeClr val="dk1"/>
                </a:solidFill>
                <a:latin typeface="Arial"/>
                <a:ea typeface="Arial"/>
                <a:cs typeface="Arial"/>
                <a:sym typeface="Arial"/>
              </a:rPr>
              <a:t> or </a:t>
            </a:r>
            <a:r>
              <a:rPr i="1" lang="en-US" sz="2400">
                <a:solidFill>
                  <a:schemeClr val="dk1"/>
                </a:solidFill>
                <a:latin typeface="Arial"/>
                <a:ea typeface="Arial"/>
                <a:cs typeface="Arial"/>
                <a:sym typeface="Arial"/>
              </a:rPr>
              <a:t>gain</a:t>
            </a:r>
            <a:r>
              <a:rPr lang="en-US"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a:p>
            <a:pPr indent="0" lvl="0" marL="0" marR="0" rtl="0" algn="l">
              <a:spcBef>
                <a:spcPts val="60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(1/2)</a:t>
            </a:r>
            <a:r>
              <a:rPr i="1" lang="en-US" sz="2400">
                <a:solidFill>
                  <a:schemeClr val="dk1"/>
                </a:solidFill>
                <a:latin typeface="Arial"/>
                <a:ea typeface="Arial"/>
                <a:cs typeface="Arial"/>
                <a:sym typeface="Arial"/>
              </a:rPr>
              <a:t>mv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mu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h</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loss</a:t>
            </a:r>
            <a:r>
              <a:rPr lang="en-US" sz="2400">
                <a:solidFill>
                  <a:schemeClr val="dk1"/>
                </a:solidFill>
                <a:latin typeface="Arial"/>
                <a:ea typeface="Arial"/>
                <a:cs typeface="Arial"/>
                <a:sym typeface="Arial"/>
              </a:rPr>
              <a:t> or </a:t>
            </a:r>
            <a:r>
              <a:rPr i="1" lang="en-US" sz="2400">
                <a:solidFill>
                  <a:schemeClr val="dk1"/>
                </a:solidFill>
                <a:latin typeface="Arial"/>
                <a:ea typeface="Arial"/>
                <a:cs typeface="Arial"/>
                <a:sym typeface="Arial"/>
              </a:rPr>
              <a:t>gain</a:t>
            </a:r>
            <a:endParaRPr/>
          </a:p>
          <a:p>
            <a:pPr indent="0" lvl="0" marL="0" marR="0" rtl="0" algn="l">
              <a:spcBef>
                <a:spcPts val="60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(1/2)(2)15</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(1/2)(2)0</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+ 2(10)(-20) = </a:t>
            </a:r>
            <a:r>
              <a:rPr i="1" lang="en-US" sz="2400">
                <a:solidFill>
                  <a:schemeClr val="dk1"/>
                </a:solidFill>
                <a:latin typeface="Arial"/>
                <a:ea typeface="Arial"/>
                <a:cs typeface="Arial"/>
                <a:sym typeface="Arial"/>
              </a:rPr>
              <a:t>loss</a:t>
            </a:r>
            <a:r>
              <a:rPr lang="en-US" sz="2400">
                <a:solidFill>
                  <a:schemeClr val="dk1"/>
                </a:solidFill>
                <a:latin typeface="Arial"/>
                <a:ea typeface="Arial"/>
                <a:cs typeface="Arial"/>
                <a:sym typeface="Arial"/>
              </a:rPr>
              <a:t> or </a:t>
            </a:r>
            <a:r>
              <a:rPr i="1" lang="en-US" sz="2400">
                <a:solidFill>
                  <a:schemeClr val="dk1"/>
                </a:solidFill>
                <a:latin typeface="Arial"/>
                <a:ea typeface="Arial"/>
                <a:cs typeface="Arial"/>
                <a:sym typeface="Arial"/>
              </a:rPr>
              <a:t>gain</a:t>
            </a:r>
            <a:endParaRPr/>
          </a:p>
          <a:p>
            <a:pPr indent="0" lvl="0" marL="0" marR="0" rtl="0" algn="l">
              <a:spcBef>
                <a:spcPts val="600"/>
              </a:spcBef>
              <a:spcAft>
                <a:spcPts val="0"/>
              </a:spcAft>
              <a:buClr>
                <a:schemeClr val="dk1"/>
              </a:buClr>
              <a:buSzPts val="2400"/>
              <a:buFont typeface="Noto Sans Symbols"/>
              <a:buNone/>
            </a:pP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- 175 J = </a:t>
            </a:r>
            <a:r>
              <a:rPr i="1" lang="en-US" sz="2400">
                <a:solidFill>
                  <a:schemeClr val="dk1"/>
                </a:solidFill>
                <a:latin typeface="Arial"/>
                <a:ea typeface="Arial"/>
                <a:cs typeface="Arial"/>
                <a:sym typeface="Arial"/>
              </a:rPr>
              <a:t>loss</a:t>
            </a:r>
            <a:r>
              <a:rPr lang="en-US" sz="2400">
                <a:solidFill>
                  <a:schemeClr val="dk1"/>
                </a:solidFill>
                <a:latin typeface="Arial"/>
                <a:ea typeface="Arial"/>
                <a:cs typeface="Arial"/>
                <a:sym typeface="Arial"/>
              </a:rPr>
              <a:t> or </a:t>
            </a:r>
            <a:r>
              <a:rPr i="1" lang="en-US" sz="2400">
                <a:solidFill>
                  <a:schemeClr val="dk1"/>
                </a:solidFill>
                <a:latin typeface="Arial"/>
                <a:ea typeface="Arial"/>
                <a:cs typeface="Arial"/>
                <a:sym typeface="Arial"/>
              </a:rPr>
              <a:t>gain</a:t>
            </a:r>
            <a:endParaRPr/>
          </a:p>
        </p:txBody>
      </p:sp>
      <p:sp>
        <p:nvSpPr>
          <p:cNvPr id="1272" name="Google Shape;1272;p50"/>
          <p:cNvSpPr/>
          <p:nvPr/>
        </p:nvSpPr>
        <p:spPr>
          <a:xfrm>
            <a:off x="974725" y="3727450"/>
            <a:ext cx="7064375" cy="1022350"/>
          </a:xfrm>
          <a:custGeom>
            <a:rect b="b" l="l" r="r" t="t"/>
            <a:pathLst>
              <a:path extrusionOk="0" h="727" w="4450">
                <a:moveTo>
                  <a:pt x="0" y="17"/>
                </a:moveTo>
                <a:cubicBezTo>
                  <a:pt x="90" y="29"/>
                  <a:pt x="394" y="0"/>
                  <a:pt x="551" y="92"/>
                </a:cubicBezTo>
                <a:cubicBezTo>
                  <a:pt x="708" y="184"/>
                  <a:pt x="791" y="467"/>
                  <a:pt x="944" y="568"/>
                </a:cubicBezTo>
                <a:cubicBezTo>
                  <a:pt x="1097" y="669"/>
                  <a:pt x="1306" y="727"/>
                  <a:pt x="1469" y="701"/>
                </a:cubicBezTo>
                <a:cubicBezTo>
                  <a:pt x="1632" y="675"/>
                  <a:pt x="1788" y="473"/>
                  <a:pt x="1920" y="409"/>
                </a:cubicBezTo>
                <a:cubicBezTo>
                  <a:pt x="2052" y="345"/>
                  <a:pt x="2155" y="309"/>
                  <a:pt x="2263" y="317"/>
                </a:cubicBezTo>
                <a:cubicBezTo>
                  <a:pt x="2371" y="325"/>
                  <a:pt x="2486" y="406"/>
                  <a:pt x="2571" y="459"/>
                </a:cubicBezTo>
                <a:cubicBezTo>
                  <a:pt x="2656" y="512"/>
                  <a:pt x="2674" y="592"/>
                  <a:pt x="2772" y="634"/>
                </a:cubicBezTo>
                <a:cubicBezTo>
                  <a:pt x="2870" y="676"/>
                  <a:pt x="2876" y="696"/>
                  <a:pt x="3156" y="710"/>
                </a:cubicBezTo>
                <a:cubicBezTo>
                  <a:pt x="3436" y="724"/>
                  <a:pt x="3943" y="721"/>
                  <a:pt x="4450" y="718"/>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273" name="Google Shape;1273;p50"/>
          <p:cNvSpPr/>
          <p:nvPr/>
        </p:nvSpPr>
        <p:spPr>
          <a:xfrm>
            <a:off x="949325" y="3581400"/>
            <a:ext cx="171450" cy="171450"/>
          </a:xfrm>
          <a:prstGeom prst="ellipse">
            <a:avLst/>
          </a:prstGeom>
          <a:gradFill>
            <a:gsLst>
              <a:gs pos="0">
                <a:schemeClr val="accent1"/>
              </a:gs>
              <a:gs pos="100000">
                <a:srgbClr val="839D9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descr="Oak" id="1274" name="Google Shape;1274;p50"/>
          <p:cNvSpPr/>
          <p:nvPr/>
        </p:nvSpPr>
        <p:spPr>
          <a:xfrm>
            <a:off x="7648575" y="4435475"/>
            <a:ext cx="546100" cy="338138"/>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cxnSp>
        <p:nvCxnSpPr>
          <p:cNvPr id="1275" name="Google Shape;1275;p50"/>
          <p:cNvCxnSpPr/>
          <p:nvPr/>
        </p:nvCxnSpPr>
        <p:spPr>
          <a:xfrm rot="10800000">
            <a:off x="854075" y="4786313"/>
            <a:ext cx="7459663" cy="0"/>
          </a:xfrm>
          <a:prstGeom prst="straightConnector1">
            <a:avLst/>
          </a:prstGeom>
          <a:noFill/>
          <a:ln cap="flat" cmpd="sng" w="9525">
            <a:solidFill>
              <a:schemeClr val="dk1"/>
            </a:solidFill>
            <a:prstDash val="dash"/>
            <a:round/>
            <a:headEnd len="med" w="med" type="none"/>
            <a:tailEnd len="med" w="med" type="none"/>
          </a:ln>
        </p:spPr>
      </p:cxnSp>
      <p:grpSp>
        <p:nvGrpSpPr>
          <p:cNvPr id="1276" name="Google Shape;1276;p50"/>
          <p:cNvGrpSpPr/>
          <p:nvPr/>
        </p:nvGrpSpPr>
        <p:grpSpPr>
          <a:xfrm>
            <a:off x="1001713" y="3725863"/>
            <a:ext cx="544512" cy="1058862"/>
            <a:chOff x="631" y="2107"/>
            <a:chExt cx="343" cy="720"/>
          </a:xfrm>
        </p:grpSpPr>
        <p:cxnSp>
          <p:nvCxnSpPr>
            <p:cNvPr id="1277" name="Google Shape;1277;p50"/>
            <p:cNvCxnSpPr/>
            <p:nvPr/>
          </p:nvCxnSpPr>
          <p:spPr>
            <a:xfrm rot="10800000">
              <a:off x="652" y="2107"/>
              <a:ext cx="0" cy="720"/>
            </a:xfrm>
            <a:prstGeom prst="straightConnector1">
              <a:avLst/>
            </a:prstGeom>
            <a:noFill/>
            <a:ln cap="flat" cmpd="sng" w="28575">
              <a:solidFill>
                <a:schemeClr val="dk1"/>
              </a:solidFill>
              <a:prstDash val="solid"/>
              <a:round/>
              <a:headEnd len="med" w="med" type="stealth"/>
              <a:tailEnd len="med" w="med" type="none"/>
            </a:ln>
          </p:spPr>
        </p:cxnSp>
        <p:sp>
          <p:nvSpPr>
            <p:cNvPr id="1278" name="Google Shape;1278;p50"/>
            <p:cNvSpPr txBox="1"/>
            <p:nvPr/>
          </p:nvSpPr>
          <p:spPr>
            <a:xfrm>
              <a:off x="631" y="2324"/>
              <a:ext cx="343" cy="3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h</a:t>
              </a:r>
              <a:endParaRPr sz="2400">
                <a:solidFill>
                  <a:schemeClr val="dk1"/>
                </a:solidFill>
                <a:latin typeface="Arial"/>
                <a:ea typeface="Arial"/>
                <a:cs typeface="Arial"/>
                <a:sym typeface="Arial"/>
              </a:endParaRPr>
            </a:p>
          </p:txBody>
        </p:sp>
      </p:grpSp>
      <p:sp>
        <p:nvSpPr>
          <p:cNvPr id="1279" name="Google Shape;1279;p50"/>
          <p:cNvSpPr txBox="1"/>
          <p:nvPr/>
        </p:nvSpPr>
        <p:spPr>
          <a:xfrm>
            <a:off x="1758950" y="3454400"/>
            <a:ext cx="670083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The system lost 175 J as drag and friction heat.</a:t>
            </a:r>
            <a:endParaRPr/>
          </a:p>
        </p:txBody>
      </p:sp>
      <p:sp>
        <p:nvSpPr>
          <p:cNvPr id="1280" name="Google Shape;1280;p50"/>
          <p:cNvSpPr/>
          <p:nvPr/>
        </p:nvSpPr>
        <p:spPr>
          <a:xfrm>
            <a:off x="4497388" y="6253163"/>
            <a:ext cx="182562" cy="346075"/>
          </a:xfrm>
          <a:prstGeom prst="rect">
            <a:avLst/>
          </a:prstGeom>
          <a:solidFill>
            <a:srgbClr val="FF3300">
              <a:alpha val="41568"/>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281" name="Google Shape;1281;p50"/>
          <p:cNvSpPr/>
          <p:nvPr/>
        </p:nvSpPr>
        <p:spPr>
          <a:xfrm>
            <a:off x="5754688" y="6246813"/>
            <a:ext cx="663575" cy="344487"/>
          </a:xfrm>
          <a:prstGeom prst="rect">
            <a:avLst/>
          </a:prstGeom>
          <a:solidFill>
            <a:srgbClr val="FF3300">
              <a:alpha val="41568"/>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1">
                                            <p:txEl>
                                              <p:pRg end="0" st="0"/>
                                            </p:txEl>
                                          </p:spTgt>
                                        </p:tgtEl>
                                        <p:attrNameLst>
                                          <p:attrName>style.visibility</p:attrName>
                                        </p:attrNameLst>
                                      </p:cBhvr>
                                      <p:to>
                                        <p:strVal val="visible"/>
                                      </p:to>
                                    </p:set>
                                    <p:anim calcmode="lin" valueType="num">
                                      <p:cBhvr additive="base">
                                        <p:cTn dur="500"/>
                                        <p:tgtEl>
                                          <p:spTgt spid="127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1">
                                            <p:txEl>
                                              <p:pRg end="1" st="1"/>
                                            </p:txEl>
                                          </p:spTgt>
                                        </p:tgtEl>
                                        <p:attrNameLst>
                                          <p:attrName>style.visibility</p:attrName>
                                        </p:attrNameLst>
                                      </p:cBhvr>
                                      <p:to>
                                        <p:strVal val="visible"/>
                                      </p:to>
                                    </p:set>
                                    <p:anim calcmode="lin" valueType="num">
                                      <p:cBhvr additive="base">
                                        <p:cTn dur="500"/>
                                        <p:tgtEl>
                                          <p:spTgt spid="127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1">
                                            <p:txEl>
                                              <p:pRg end="2" st="2"/>
                                            </p:txEl>
                                          </p:spTgt>
                                        </p:tgtEl>
                                        <p:attrNameLst>
                                          <p:attrName>style.visibility</p:attrName>
                                        </p:attrNameLst>
                                      </p:cBhvr>
                                      <p:to>
                                        <p:strVal val="visible"/>
                                      </p:to>
                                    </p:set>
                                    <p:anim calcmode="lin" valueType="num">
                                      <p:cBhvr additive="base">
                                        <p:cTn dur="500"/>
                                        <p:tgtEl>
                                          <p:spTgt spid="127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1">
                                            <p:txEl>
                                              <p:pRg end="3" st="3"/>
                                            </p:txEl>
                                          </p:spTgt>
                                        </p:tgtEl>
                                        <p:attrNameLst>
                                          <p:attrName>style.visibility</p:attrName>
                                        </p:attrNameLst>
                                      </p:cBhvr>
                                      <p:to>
                                        <p:strVal val="visible"/>
                                      </p:to>
                                    </p:set>
                                    <p:anim calcmode="lin" valueType="num">
                                      <p:cBhvr additive="base">
                                        <p:cTn dur="500"/>
                                        <p:tgtEl>
                                          <p:spTgt spid="127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1">
                                            <p:txEl>
                                              <p:pRg end="4" st="4"/>
                                            </p:txEl>
                                          </p:spTgt>
                                        </p:tgtEl>
                                        <p:attrNameLst>
                                          <p:attrName>style.visibility</p:attrName>
                                        </p:attrNameLst>
                                      </p:cBhvr>
                                      <p:to>
                                        <p:strVal val="visible"/>
                                      </p:to>
                                    </p:set>
                                    <p:anim calcmode="lin" valueType="num">
                                      <p:cBhvr additive="base">
                                        <p:cTn dur="500"/>
                                        <p:tgtEl>
                                          <p:spTgt spid="127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1">
                                            <p:txEl>
                                              <p:pRg end="5" st="5"/>
                                            </p:txEl>
                                          </p:spTgt>
                                        </p:tgtEl>
                                        <p:attrNameLst>
                                          <p:attrName>style.visibility</p:attrName>
                                        </p:attrNameLst>
                                      </p:cBhvr>
                                      <p:to>
                                        <p:strVal val="visible"/>
                                      </p:to>
                                    </p:set>
                                    <p:anim calcmode="lin" valueType="num">
                                      <p:cBhvr additive="base">
                                        <p:cTn dur="500"/>
                                        <p:tgtEl>
                                          <p:spTgt spid="127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1">
                                            <p:txEl>
                                              <p:pRg end="6" st="6"/>
                                            </p:txEl>
                                          </p:spTgt>
                                        </p:tgtEl>
                                        <p:attrNameLst>
                                          <p:attrName>style.visibility</p:attrName>
                                        </p:attrNameLst>
                                      </p:cBhvr>
                                      <p:to>
                                        <p:strVal val="visible"/>
                                      </p:to>
                                    </p:set>
                                    <p:anim calcmode="lin" valueType="num">
                                      <p:cBhvr additive="base">
                                        <p:cTn dur="500"/>
                                        <p:tgtEl>
                                          <p:spTgt spid="127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1">
                                            <p:txEl>
                                              <p:pRg end="7" st="7"/>
                                            </p:txEl>
                                          </p:spTgt>
                                        </p:tgtEl>
                                        <p:attrNameLst>
                                          <p:attrName>style.visibility</p:attrName>
                                        </p:attrNameLst>
                                      </p:cBhvr>
                                      <p:to>
                                        <p:strVal val="visible"/>
                                      </p:to>
                                    </p:set>
                                    <p:anim calcmode="lin" valueType="num">
                                      <p:cBhvr additive="base">
                                        <p:cTn dur="500"/>
                                        <p:tgtEl>
                                          <p:spTgt spid="1271">
                                            <p:txEl>
                                              <p:pRg end="7" st="7"/>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72"/>
                                        </p:tgtEl>
                                        <p:attrNameLst>
                                          <p:attrName>style.visibility</p:attrName>
                                        </p:attrNameLst>
                                      </p:cBhvr>
                                      <p:to>
                                        <p:strVal val="visible"/>
                                      </p:to>
                                    </p:set>
                                    <p:animEffect filter="fade" transition="in">
                                      <p:cBhvr>
                                        <p:cTn dur="2000"/>
                                        <p:tgtEl>
                                          <p:spTgt spid="127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274"/>
                                        </p:tgtEl>
                                        <p:attrNameLst>
                                          <p:attrName>style.visibility</p:attrName>
                                        </p:attrNameLst>
                                      </p:cBhvr>
                                      <p:to>
                                        <p:strVal val="visible"/>
                                      </p:to>
                                    </p:set>
                                    <p:animEffect filter="fade" transition="in">
                                      <p:cBhvr>
                                        <p:cTn dur="500"/>
                                        <p:tgtEl>
                                          <p:spTgt spid="127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273"/>
                                        </p:tgtEl>
                                        <p:attrNameLst>
                                          <p:attrName>style.visibility</p:attrName>
                                        </p:attrNameLst>
                                      </p:cBhvr>
                                      <p:to>
                                        <p:strVal val="visible"/>
                                      </p:to>
                                    </p:set>
                                    <p:animEffect filter="fade" transition="in">
                                      <p:cBhvr>
                                        <p:cTn dur="500"/>
                                        <p:tgtEl>
                                          <p:spTgt spid="1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5"/>
                                        </p:tgtEl>
                                        <p:attrNameLst>
                                          <p:attrName>style.visibility</p:attrName>
                                        </p:attrNameLst>
                                      </p:cBhvr>
                                      <p:to>
                                        <p:strVal val="visible"/>
                                      </p:to>
                                    </p:set>
                                    <p:animEffect filter="fade" transition="in">
                                      <p:cBhvr>
                                        <p:cTn dur="1000"/>
                                        <p:tgtEl>
                                          <p:spTgt spid="1275"/>
                                        </p:tgtEl>
                                      </p:cBhvr>
                                    </p:animEffect>
                                  </p:childTnLst>
                                </p:cTn>
                              </p:par>
                              <p:par>
                                <p:cTn fill="hold" nodeType="withEffect" presetClass="entr" presetID="10" presetSubtype="0">
                                  <p:stCondLst>
                                    <p:cond delay="0"/>
                                  </p:stCondLst>
                                  <p:childTnLst>
                                    <p:set>
                                      <p:cBhvr>
                                        <p:cTn dur="1" fill="hold">
                                          <p:stCondLst>
                                            <p:cond delay="0"/>
                                          </p:stCondLst>
                                        </p:cTn>
                                        <p:tgtEl>
                                          <p:spTgt spid="1276"/>
                                        </p:tgtEl>
                                        <p:attrNameLst>
                                          <p:attrName>style.visibility</p:attrName>
                                        </p:attrNameLst>
                                      </p:cBhvr>
                                      <p:to>
                                        <p:strVal val="visible"/>
                                      </p:to>
                                    </p:set>
                                    <p:animEffect filter="fade" transition="in">
                                      <p:cBhvr>
                                        <p:cTn dur="500"/>
                                        <p:tgtEl>
                                          <p:spTgt spid="1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0"/>
                                        </p:tgtEl>
                                        <p:attrNameLst>
                                          <p:attrName>style.visibility</p:attrName>
                                        </p:attrNameLst>
                                      </p:cBhvr>
                                      <p:to>
                                        <p:strVal val="visible"/>
                                      </p:to>
                                    </p:set>
                                    <p:animEffect filter="fade" transition="in">
                                      <p:cBhvr>
                                        <p:cTn dur="1000"/>
                                        <p:tgtEl>
                                          <p:spTgt spid="1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1"/>
                                        </p:tgtEl>
                                        <p:attrNameLst>
                                          <p:attrName>style.visibility</p:attrName>
                                        </p:attrNameLst>
                                      </p:cBhvr>
                                      <p:to>
                                        <p:strVal val="visible"/>
                                      </p:to>
                                    </p:set>
                                    <p:animEffect filter="fade" transition="in">
                                      <p:cBhvr>
                                        <p:cTn dur="1000"/>
                                        <p:tgtEl>
                                          <p:spTgt spid="1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9"/>
                                        </p:tgtEl>
                                        <p:attrNameLst>
                                          <p:attrName>style.visibility</p:attrName>
                                        </p:attrNameLst>
                                      </p:cBhvr>
                                      <p:to>
                                        <p:strVal val="visible"/>
                                      </p:to>
                                    </p:set>
                                    <p:animEffect filter="fade" transition="in">
                                      <p:cBhvr>
                                        <p:cTn dur="500"/>
                                        <p:tgtEl>
                                          <p:spTgt spid="12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51"/>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Discussing the conservation of total energy within energy transformations </a:t>
            </a:r>
            <a:endParaRPr/>
          </a:p>
          <a:p>
            <a:pPr indent="0" lvl="0" marL="0" marR="0" rtl="0" algn="l">
              <a:spcBef>
                <a:spcPts val="0"/>
              </a:spcBef>
              <a:spcAft>
                <a:spcPts val="0"/>
              </a:spcAft>
              <a:buNone/>
            </a:pPr>
            <a:r>
              <a:rPr lang="en-US" sz="2400">
                <a:solidFill>
                  <a:srgbClr val="000000"/>
                </a:solidFill>
                <a:latin typeface="Arial"/>
                <a:ea typeface="Arial"/>
                <a:cs typeface="Arial"/>
                <a:sym typeface="Arial"/>
              </a:rPr>
              <a:t>∙Consider the pendulum to                                                  the right which is placed in                                                     position and held there.</a:t>
            </a:r>
            <a:endParaRPr/>
          </a:p>
          <a:p>
            <a:pPr indent="0" lvl="0" marL="0" marR="0" rtl="0" algn="l">
              <a:spcBef>
                <a:spcPts val="0"/>
              </a:spcBef>
              <a:spcAft>
                <a:spcPts val="0"/>
              </a:spcAft>
              <a:buNone/>
            </a:pPr>
            <a:r>
              <a:rPr lang="en-US" sz="2400">
                <a:solidFill>
                  <a:srgbClr val="000000"/>
                </a:solidFill>
                <a:latin typeface="Arial"/>
                <a:ea typeface="Arial"/>
                <a:cs typeface="Arial"/>
                <a:sym typeface="Arial"/>
              </a:rPr>
              <a:t>∙Let the </a:t>
            </a:r>
            <a:r>
              <a:rPr lang="en-US" sz="2400">
                <a:solidFill>
                  <a:schemeClr val="dk1"/>
                </a:solidFill>
                <a:latin typeface="Arial"/>
                <a:ea typeface="Arial"/>
                <a:cs typeface="Arial"/>
                <a:sym typeface="Arial"/>
              </a:rPr>
              <a:t>green rectangle</a:t>
            </a:r>
            <a:r>
              <a:rPr lang="en-US" sz="2400">
                <a:solidFill>
                  <a:srgbClr val="000000"/>
                </a:solidFill>
                <a:latin typeface="Arial"/>
                <a:ea typeface="Arial"/>
                <a:cs typeface="Arial"/>
                <a:sym typeface="Arial"/>
              </a:rPr>
              <a:t>                                                        represent the </a:t>
            </a:r>
            <a:r>
              <a:rPr b="1" lang="en-US" sz="2400">
                <a:solidFill>
                  <a:srgbClr val="008000"/>
                </a:solidFill>
                <a:latin typeface="Arial"/>
                <a:ea typeface="Arial"/>
                <a:cs typeface="Arial"/>
                <a:sym typeface="Arial"/>
              </a:rPr>
              <a:t>potential                                                     energy</a:t>
            </a:r>
            <a:r>
              <a:rPr lang="en-US" sz="2400">
                <a:solidFill>
                  <a:srgbClr val="000000"/>
                </a:solidFill>
                <a:latin typeface="Arial"/>
                <a:ea typeface="Arial"/>
                <a:cs typeface="Arial"/>
                <a:sym typeface="Arial"/>
              </a:rPr>
              <a:t> of the system.</a:t>
            </a:r>
            <a:endParaRPr/>
          </a:p>
          <a:p>
            <a:pPr indent="0" lvl="0" marL="0" marR="0" rtl="0" algn="l">
              <a:spcBef>
                <a:spcPts val="0"/>
              </a:spcBef>
              <a:spcAft>
                <a:spcPts val="0"/>
              </a:spcAft>
              <a:buNone/>
            </a:pPr>
            <a:r>
              <a:rPr lang="en-US" sz="2400">
                <a:solidFill>
                  <a:srgbClr val="000000"/>
                </a:solidFill>
                <a:latin typeface="Arial"/>
                <a:ea typeface="Arial"/>
                <a:cs typeface="Arial"/>
                <a:sym typeface="Arial"/>
              </a:rPr>
              <a:t>∙Let the red rectangle                                                 represent the </a:t>
            </a:r>
            <a:r>
              <a:rPr b="1" lang="en-US" sz="2400">
                <a:solidFill>
                  <a:srgbClr val="FF0000"/>
                </a:solidFill>
                <a:latin typeface="Arial"/>
                <a:ea typeface="Arial"/>
                <a:cs typeface="Arial"/>
                <a:sym typeface="Arial"/>
              </a:rPr>
              <a:t>kinetic energy</a:t>
            </a:r>
            <a:r>
              <a:rPr lang="en-US" sz="2400">
                <a:solidFill>
                  <a:srgbClr val="000000"/>
                </a:solidFill>
                <a:latin typeface="Arial"/>
                <a:ea typeface="Arial"/>
                <a:cs typeface="Arial"/>
                <a:sym typeface="Arial"/>
              </a:rPr>
              <a:t>.</a:t>
            </a:r>
            <a:endParaRPr/>
          </a:p>
          <a:p>
            <a:pPr indent="0" lvl="0" marL="0" marR="0" rtl="0" algn="l">
              <a:spcBef>
                <a:spcPts val="0"/>
              </a:spcBef>
              <a:spcAft>
                <a:spcPts val="0"/>
              </a:spcAft>
              <a:buNone/>
            </a:pPr>
            <a:r>
              <a:rPr lang="en-US" sz="2400">
                <a:solidFill>
                  <a:srgbClr val="000000"/>
                </a:solidFill>
                <a:latin typeface="Arial"/>
                <a:ea typeface="Arial"/>
                <a:cs typeface="Arial"/>
                <a:sym typeface="Arial"/>
              </a:rPr>
              <a:t>∙Because there is no motion yet, there is no kinetic energy. But if we release it, the </a:t>
            </a:r>
            <a:r>
              <a:rPr b="1" lang="en-US" sz="2400">
                <a:solidFill>
                  <a:srgbClr val="FF0000"/>
                </a:solidFill>
                <a:latin typeface="Arial"/>
                <a:ea typeface="Arial"/>
                <a:cs typeface="Arial"/>
                <a:sym typeface="Arial"/>
              </a:rPr>
              <a:t>kinetic energy</a:t>
            </a:r>
            <a:r>
              <a:rPr lang="en-US" sz="2400">
                <a:solidFill>
                  <a:srgbClr val="000000"/>
                </a:solidFill>
                <a:latin typeface="Arial"/>
                <a:ea typeface="Arial"/>
                <a:cs typeface="Arial"/>
                <a:sym typeface="Arial"/>
              </a:rPr>
              <a:t> will grow as the </a:t>
            </a:r>
            <a:r>
              <a:rPr b="1" lang="en-US" sz="2400">
                <a:solidFill>
                  <a:srgbClr val="008000"/>
                </a:solidFill>
                <a:latin typeface="Arial"/>
                <a:ea typeface="Arial"/>
                <a:cs typeface="Arial"/>
                <a:sym typeface="Arial"/>
              </a:rPr>
              <a:t>potential energy</a:t>
            </a:r>
            <a:r>
              <a:rPr lang="en-US" sz="2400">
                <a:solidFill>
                  <a:srgbClr val="000000"/>
                </a:solidFill>
                <a:latin typeface="Arial"/>
                <a:ea typeface="Arial"/>
                <a:cs typeface="Arial"/>
                <a:sym typeface="Arial"/>
              </a:rPr>
              <a:t> diminishes.</a:t>
            </a:r>
            <a:endParaRPr/>
          </a:p>
          <a:p>
            <a:pPr indent="0" lvl="0" marL="0" marR="0" rtl="0" algn="l">
              <a:spcBef>
                <a:spcPts val="0"/>
              </a:spcBef>
              <a:spcAft>
                <a:spcPts val="0"/>
              </a:spcAft>
              <a:buNone/>
            </a:pPr>
            <a:r>
              <a:rPr lang="en-US" sz="2400">
                <a:solidFill>
                  <a:srgbClr val="000000"/>
                </a:solidFill>
                <a:latin typeface="Arial"/>
                <a:ea typeface="Arial"/>
                <a:cs typeface="Arial"/>
                <a:sym typeface="Arial"/>
              </a:rPr>
              <a:t>∙A continuous exchange between </a:t>
            </a:r>
            <a:r>
              <a:rPr i="1" lang="en-US" sz="2400">
                <a:solidFill>
                  <a:srgbClr val="FF0000"/>
                </a:solidFill>
                <a:latin typeface="Arial"/>
                <a:ea typeface="Arial"/>
                <a:cs typeface="Arial"/>
                <a:sym typeface="Arial"/>
              </a:rPr>
              <a:t>E</a:t>
            </a:r>
            <a:r>
              <a:rPr baseline="-25000" lang="en-US" sz="2400">
                <a:solidFill>
                  <a:srgbClr val="FF0000"/>
                </a:solidFill>
                <a:latin typeface="Arial"/>
                <a:ea typeface="Arial"/>
                <a:cs typeface="Arial"/>
                <a:sym typeface="Arial"/>
              </a:rPr>
              <a:t>K</a:t>
            </a:r>
            <a:r>
              <a:rPr lang="en-US" sz="2400">
                <a:solidFill>
                  <a:srgbClr val="000000"/>
                </a:solidFill>
                <a:latin typeface="Arial"/>
                <a:ea typeface="Arial"/>
                <a:cs typeface="Arial"/>
                <a:sym typeface="Arial"/>
              </a:rPr>
              <a:t> and </a:t>
            </a:r>
            <a:r>
              <a:rPr i="1" lang="en-US" sz="2400">
                <a:solidFill>
                  <a:srgbClr val="008000"/>
                </a:solidFill>
                <a:latin typeface="Arial"/>
                <a:ea typeface="Arial"/>
                <a:cs typeface="Arial"/>
                <a:sym typeface="Arial"/>
              </a:rPr>
              <a:t>E</a:t>
            </a:r>
            <a:r>
              <a:rPr baseline="-25000" lang="en-US" sz="2400">
                <a:solidFill>
                  <a:srgbClr val="008000"/>
                </a:solidFill>
                <a:latin typeface="Arial"/>
                <a:ea typeface="Arial"/>
                <a:cs typeface="Arial"/>
                <a:sym typeface="Arial"/>
              </a:rPr>
              <a:t>P</a:t>
            </a:r>
            <a:r>
              <a:rPr lang="en-US" sz="2400">
                <a:solidFill>
                  <a:srgbClr val="000000"/>
                </a:solidFill>
                <a:latin typeface="Arial"/>
                <a:ea typeface="Arial"/>
                <a:cs typeface="Arial"/>
                <a:sym typeface="Arial"/>
              </a:rPr>
              <a:t> occurs.</a:t>
            </a:r>
            <a:endParaRPr/>
          </a:p>
        </p:txBody>
      </p:sp>
      <p:sp>
        <p:nvSpPr>
          <p:cNvPr id="1288" name="Google Shape;1288;p51"/>
          <p:cNvSpPr/>
          <p:nvPr/>
        </p:nvSpPr>
        <p:spPr>
          <a:xfrm>
            <a:off x="6335713" y="3298825"/>
            <a:ext cx="692150" cy="99695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289" name="Google Shape;1289;p51"/>
          <p:cNvSpPr/>
          <p:nvPr/>
        </p:nvSpPr>
        <p:spPr>
          <a:xfrm>
            <a:off x="6338888" y="3290888"/>
            <a:ext cx="700087" cy="99695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290" name="Google Shape;1290;p51"/>
          <p:cNvSpPr/>
          <p:nvPr/>
        </p:nvSpPr>
        <p:spPr>
          <a:xfrm>
            <a:off x="6316663" y="4279583"/>
            <a:ext cx="715962" cy="1057275"/>
          </a:xfrm>
          <a:prstGeom prst="rect">
            <a:avLst/>
          </a:prstGeom>
          <a:solidFill>
            <a:srgbClr val="EAEAEA"/>
          </a:solidFill>
          <a:ln cap="flat" cmpd="sng" w="9525">
            <a:solidFill>
              <a:srgbClr val="EAEA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nvGrpSpPr>
          <p:cNvPr id="1291" name="Google Shape;1291;p51"/>
          <p:cNvGrpSpPr/>
          <p:nvPr/>
        </p:nvGrpSpPr>
        <p:grpSpPr>
          <a:xfrm>
            <a:off x="6194425" y="2660650"/>
            <a:ext cx="950913" cy="349250"/>
            <a:chOff x="3774" y="2486"/>
            <a:chExt cx="599" cy="220"/>
          </a:xfrm>
        </p:grpSpPr>
        <p:sp>
          <p:nvSpPr>
            <p:cNvPr descr="Light downward diagonal" id="1292" name="Google Shape;1292;p51"/>
            <p:cNvSpPr/>
            <p:nvPr/>
          </p:nvSpPr>
          <p:spPr>
            <a:xfrm>
              <a:off x="3774" y="2486"/>
              <a:ext cx="599" cy="17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cxnSp>
          <p:nvCxnSpPr>
            <p:cNvPr id="1293" name="Google Shape;1293;p51"/>
            <p:cNvCxnSpPr/>
            <p:nvPr/>
          </p:nvCxnSpPr>
          <p:spPr>
            <a:xfrm>
              <a:off x="3782" y="2665"/>
              <a:ext cx="591" cy="0"/>
            </a:xfrm>
            <a:prstGeom prst="straightConnector1">
              <a:avLst/>
            </a:prstGeom>
            <a:noFill/>
            <a:ln cap="flat" cmpd="sng" w="9525">
              <a:solidFill>
                <a:schemeClr val="dk1"/>
              </a:solidFill>
              <a:prstDash val="solid"/>
              <a:round/>
              <a:headEnd len="med" w="med" type="none"/>
              <a:tailEnd len="med" w="med" type="none"/>
            </a:ln>
          </p:spPr>
        </p:cxnSp>
        <p:sp>
          <p:nvSpPr>
            <p:cNvPr id="1294" name="Google Shape;1294;p51"/>
            <p:cNvSpPr/>
            <p:nvPr/>
          </p:nvSpPr>
          <p:spPr>
            <a:xfrm>
              <a:off x="4025" y="2615"/>
              <a:ext cx="91" cy="91"/>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pic>
        <p:nvPicPr>
          <p:cNvPr descr="bd05378_[1]" id="1295" name="Google Shape;1295;p51"/>
          <p:cNvPicPr preferRelativeResize="0"/>
          <p:nvPr/>
        </p:nvPicPr>
        <p:blipFill rotWithShape="1">
          <a:blip r:embed="rId3">
            <a:alphaModFix/>
          </a:blip>
          <a:srcRect b="0" l="0" r="0" t="0"/>
          <a:stretch/>
        </p:blipFill>
        <p:spPr>
          <a:xfrm flipH="1">
            <a:off x="8242300" y="3016250"/>
            <a:ext cx="839788" cy="509588"/>
          </a:xfrm>
          <a:prstGeom prst="rect">
            <a:avLst/>
          </a:prstGeom>
          <a:noFill/>
          <a:ln>
            <a:noFill/>
          </a:ln>
        </p:spPr>
      </p:pic>
      <p:sp>
        <p:nvSpPr>
          <p:cNvPr id="1296" name="Google Shape;1296;p51"/>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solidFill>
                  <a:srgbClr val="000000"/>
                </a:solidFill>
              </a:rPr>
              <a:t>Topic 2: Mechanics</a:t>
            </a:r>
            <a:br>
              <a:rPr b="1" lang="en-US" sz="2800">
                <a:solidFill>
                  <a:srgbClr val="000000"/>
                </a:solidFill>
              </a:rPr>
            </a:br>
            <a:r>
              <a:rPr lang="en-US" sz="2800">
                <a:solidFill>
                  <a:srgbClr val="000000"/>
                </a:solidFill>
              </a:rPr>
              <a:t>2.3 – Work, energy, and power</a:t>
            </a:r>
            <a:endParaRPr sz="2400">
              <a:solidFill>
                <a:schemeClr val="dk1"/>
              </a:solidFill>
              <a:latin typeface="Courier New"/>
              <a:ea typeface="Courier New"/>
              <a:cs typeface="Courier New"/>
              <a:sym typeface="Courier New"/>
            </a:endParaRPr>
          </a:p>
        </p:txBody>
      </p:sp>
      <p:sp>
        <p:nvSpPr>
          <p:cNvPr id="1297" name="Google Shape;1297;p51"/>
          <p:cNvSpPr/>
          <p:nvPr/>
        </p:nvSpPr>
        <p:spPr>
          <a:xfrm>
            <a:off x="6336665" y="3279775"/>
            <a:ext cx="685800" cy="1011238"/>
          </a:xfrm>
          <a:prstGeom prst="rect">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298" name="Google Shape;1298;p51"/>
          <p:cNvSpPr/>
          <p:nvPr/>
        </p:nvSpPr>
        <p:spPr>
          <a:xfrm>
            <a:off x="4994275" y="2222500"/>
            <a:ext cx="3348038" cy="3730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rgbClr val="FF0000"/>
                </a:solidFill>
                <a:latin typeface="Arial"/>
                <a:ea typeface="Arial"/>
                <a:cs typeface="Arial"/>
                <a:sym typeface="Arial"/>
              </a:rPr>
              <a:t>E</a:t>
            </a:r>
            <a:r>
              <a:rPr baseline="-25000" lang="en-US" sz="2400">
                <a:solidFill>
                  <a:srgbClr val="FF0000"/>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rgbClr val="008000"/>
                </a:solidFill>
                <a:latin typeface="Arial"/>
                <a:ea typeface="Arial"/>
                <a:cs typeface="Arial"/>
                <a:sym typeface="Arial"/>
              </a:rPr>
              <a:t>E</a:t>
            </a:r>
            <a:r>
              <a:rPr baseline="-25000" lang="en-US" sz="2400">
                <a:solidFill>
                  <a:srgbClr val="008000"/>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CONST</a:t>
            </a:r>
            <a:endParaRPr sz="2400">
              <a:solidFill>
                <a:schemeClr val="dk1"/>
              </a:solidFill>
              <a:latin typeface="Arial"/>
              <a:ea typeface="Arial"/>
              <a:cs typeface="Arial"/>
              <a:sym typeface="Arial"/>
            </a:endParaRPr>
          </a:p>
        </p:txBody>
      </p:sp>
      <p:sp>
        <p:nvSpPr>
          <p:cNvPr id="1299" name="Google Shape;1299;p51"/>
          <p:cNvSpPr/>
          <p:nvPr/>
        </p:nvSpPr>
        <p:spPr>
          <a:xfrm>
            <a:off x="4838700" y="4378325"/>
            <a:ext cx="3608388" cy="868363"/>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If the drag force is zero,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CONST.</a:t>
            </a:r>
            <a:endParaRPr/>
          </a:p>
        </p:txBody>
      </p:sp>
      <p:grpSp>
        <p:nvGrpSpPr>
          <p:cNvPr id="1300" name="Google Shape;1300;p51"/>
          <p:cNvGrpSpPr/>
          <p:nvPr/>
        </p:nvGrpSpPr>
        <p:grpSpPr>
          <a:xfrm rot="-5400000">
            <a:off x="6511131" y="1010444"/>
            <a:ext cx="277813" cy="3883025"/>
            <a:chOff x="1934" y="1419"/>
            <a:chExt cx="175" cy="2446"/>
          </a:xfrm>
        </p:grpSpPr>
        <p:sp>
          <p:nvSpPr>
            <p:cNvPr id="1301" name="Google Shape;1301;p51"/>
            <p:cNvSpPr/>
            <p:nvPr/>
          </p:nvSpPr>
          <p:spPr>
            <a:xfrm>
              <a:off x="1950" y="3691"/>
              <a:ext cx="159" cy="159"/>
            </a:xfrm>
            <a:prstGeom prst="ellipse">
              <a:avLst/>
            </a:prstGeom>
            <a:gradFill>
              <a:gsLst>
                <a:gs pos="0">
                  <a:srgbClr val="FFFFFF"/>
                </a:gs>
                <a:gs pos="100000">
                  <a:schemeClr val="dk1"/>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1302" name="Google Shape;1302;p51"/>
            <p:cNvCxnSpPr/>
            <p:nvPr/>
          </p:nvCxnSpPr>
          <p:spPr>
            <a:xfrm rot="10800000">
              <a:off x="2024" y="2653"/>
              <a:ext cx="0" cy="1046"/>
            </a:xfrm>
            <a:prstGeom prst="straightConnector1">
              <a:avLst/>
            </a:prstGeom>
            <a:noFill/>
            <a:ln cap="flat" cmpd="sng" w="28575">
              <a:solidFill>
                <a:schemeClr val="dk1"/>
              </a:solidFill>
              <a:prstDash val="solid"/>
              <a:round/>
              <a:headEnd len="med" w="med" type="none"/>
              <a:tailEnd len="med" w="med" type="none"/>
            </a:ln>
          </p:spPr>
        </p:cxnSp>
        <p:grpSp>
          <p:nvGrpSpPr>
            <p:cNvPr id="1303" name="Google Shape;1303;p51"/>
            <p:cNvGrpSpPr/>
            <p:nvPr/>
          </p:nvGrpSpPr>
          <p:grpSpPr>
            <a:xfrm>
              <a:off x="1934" y="1419"/>
              <a:ext cx="174" cy="2446"/>
              <a:chOff x="1934" y="1419"/>
              <a:chExt cx="174" cy="2446"/>
            </a:xfrm>
          </p:grpSpPr>
          <p:sp>
            <p:nvSpPr>
              <p:cNvPr id="1304" name="Google Shape;1304;p51"/>
              <p:cNvSpPr/>
              <p:nvPr/>
            </p:nvSpPr>
            <p:spPr>
              <a:xfrm>
                <a:off x="1940" y="2645"/>
                <a:ext cx="167" cy="12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305" name="Google Shape;1305;p51"/>
              <p:cNvSpPr/>
              <p:nvPr/>
            </p:nvSpPr>
            <p:spPr>
              <a:xfrm>
                <a:off x="1934" y="1419"/>
                <a:ext cx="174" cy="12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0"/>
                                        </p:tgtEl>
                                        <p:attrNameLst>
                                          <p:attrName>style.visibility</p:attrName>
                                        </p:attrNameLst>
                                      </p:cBhvr>
                                      <p:to>
                                        <p:strVal val="visible"/>
                                      </p:to>
                                    </p:set>
                                    <p:animEffect filter="fade" transition="in">
                                      <p:cBhvr>
                                        <p:cTn dur="500"/>
                                        <p:tgtEl>
                                          <p:spTgt spid="1300"/>
                                        </p:tgtEl>
                                      </p:cBhvr>
                                    </p:animEffect>
                                  </p:childTnLst>
                                </p:cTn>
                              </p:par>
                              <p:par>
                                <p:cTn fill="hold" nodeType="withEffect" presetClass="entr" presetID="10" presetSubtype="0">
                                  <p:stCondLst>
                                    <p:cond delay="0"/>
                                  </p:stCondLst>
                                  <p:childTnLst>
                                    <p:set>
                                      <p:cBhvr>
                                        <p:cTn dur="1" fill="hold">
                                          <p:stCondLst>
                                            <p:cond delay="0"/>
                                          </p:stCondLst>
                                        </p:cTn>
                                        <p:tgtEl>
                                          <p:spTgt spid="1291"/>
                                        </p:tgtEl>
                                        <p:attrNameLst>
                                          <p:attrName>style.visibility</p:attrName>
                                        </p:attrNameLst>
                                      </p:cBhvr>
                                      <p:to>
                                        <p:strVal val="visible"/>
                                      </p:to>
                                    </p:set>
                                    <p:animEffect filter="fade" transition="in">
                                      <p:cBhvr>
                                        <p:cTn dur="500"/>
                                        <p:tgtEl>
                                          <p:spTgt spid="1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95"/>
                                        </p:tgtEl>
                                        <p:attrNameLst>
                                          <p:attrName>style.visibility</p:attrName>
                                        </p:attrNameLst>
                                      </p:cBhvr>
                                      <p:to>
                                        <p:strVal val="visible"/>
                                      </p:to>
                                    </p:set>
                                    <p:anim calcmode="lin" valueType="num">
                                      <p:cBhvr additive="base">
                                        <p:cTn dur="500"/>
                                        <p:tgtEl>
                                          <p:spTgt spid="129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gtEl>
                                        <p:attrNameLst>
                                          <p:attrName>style.visibility</p:attrName>
                                        </p:attrNameLst>
                                      </p:cBhvr>
                                      <p:to>
                                        <p:strVal val="visible"/>
                                      </p:to>
                                    </p:set>
                                    <p:animEffect filter="fade" transition="in">
                                      <p:cBhvr>
                                        <p:cTn dur="500"/>
                                        <p:tgtEl>
                                          <p:spTgt spid="1288"/>
                                        </p:tgtEl>
                                      </p:cBhvr>
                                    </p:animEffect>
                                  </p:childTnLst>
                                </p:cTn>
                              </p:par>
                              <p:par>
                                <p:cTn fill="hold" nodeType="withEffect" presetClass="entr" presetID="10" presetSubtype="0">
                                  <p:stCondLst>
                                    <p:cond delay="0"/>
                                  </p:stCondLst>
                                  <p:childTnLst>
                                    <p:set>
                                      <p:cBhvr>
                                        <p:cTn dur="1" fill="hold">
                                          <p:stCondLst>
                                            <p:cond delay="0"/>
                                          </p:stCondLst>
                                        </p:cTn>
                                        <p:tgtEl>
                                          <p:spTgt spid="1289"/>
                                        </p:tgtEl>
                                        <p:attrNameLst>
                                          <p:attrName>style.visibility</p:attrName>
                                        </p:attrNameLst>
                                      </p:cBhvr>
                                      <p:to>
                                        <p:strVal val="visible"/>
                                      </p:to>
                                    </p:set>
                                    <p:animEffect filter="fade" transition="in">
                                      <p:cBhvr>
                                        <p:cTn dur="500"/>
                                        <p:tgtEl>
                                          <p:spTgt spid="1289"/>
                                        </p:tgtEl>
                                      </p:cBhvr>
                                    </p:animEffect>
                                  </p:childTnLst>
                                </p:cTn>
                              </p:par>
                              <p:par>
                                <p:cTn fill="hold" nodeType="withEffect" presetClass="entr" presetID="10" presetSubtype="0">
                                  <p:stCondLst>
                                    <p:cond delay="0"/>
                                  </p:stCondLst>
                                  <p:childTnLst>
                                    <p:set>
                                      <p:cBhvr>
                                        <p:cTn dur="1" fill="hold">
                                          <p:stCondLst>
                                            <p:cond delay="0"/>
                                          </p:stCondLst>
                                        </p:cTn>
                                        <p:tgtEl>
                                          <p:spTgt spid="1290"/>
                                        </p:tgtEl>
                                        <p:attrNameLst>
                                          <p:attrName>style.visibility</p:attrName>
                                        </p:attrNameLst>
                                      </p:cBhvr>
                                      <p:to>
                                        <p:strVal val="visible"/>
                                      </p:to>
                                    </p:set>
                                    <p:animEffect filter="fade" transition="in">
                                      <p:cBhvr>
                                        <p:cTn dur="500"/>
                                        <p:tgtEl>
                                          <p:spTgt spid="12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500"/>
                                        <p:tgtEl>
                                          <p:spTgt spid="1295"/>
                                        </p:tgtEl>
                                        <p:attrNameLst>
                                          <p:attrName>ppt_x</p:attrName>
                                        </p:attrNameLst>
                                      </p:cBhvr>
                                      <p:tavLst>
                                        <p:tav fmla="" tm="0">
                                          <p:val>
                                            <p:strVal val="#ppt_x"/>
                                          </p:val>
                                        </p:tav>
                                        <p:tav fmla="" tm="100000">
                                          <p:val>
                                            <p:strVal val="#ppt_x+1"/>
                                          </p:val>
                                        </p:tav>
                                      </p:tavLst>
                                    </p:anim>
                                    <p:set>
                                      <p:cBhvr>
                                        <p:cTn dur="1" fill="hold">
                                          <p:stCondLst>
                                            <p:cond delay="500"/>
                                          </p:stCondLst>
                                        </p:cTn>
                                        <p:tgtEl>
                                          <p:spTgt spid="1295"/>
                                        </p:tgtEl>
                                        <p:attrNameLst>
                                          <p:attrName>style.visibility</p:attrName>
                                        </p:attrNameLst>
                                      </p:cBhvr>
                                      <p:to>
                                        <p:strVal val="hidden"/>
                                      </p:to>
                                    </p:set>
                                  </p:childTnLst>
                                </p:cTn>
                              </p:par>
                            </p:childTnLst>
                          </p:cTn>
                        </p:par>
                        <p:par>
                          <p:cTn fill="hold">
                            <p:stCondLst>
                              <p:cond delay="500"/>
                            </p:stCondLst>
                            <p:childTnLst>
                              <p:par>
                                <p:cTn fill="hold" nodeType="afterEffect" presetClass="emph" presetID="8" presetSubtype="0">
                                  <p:stCondLst>
                                    <p:cond delay="0"/>
                                  </p:stCondLst>
                                  <p:childTnLst>
                                    <p:animRot by="-21600000">
                                      <p:cBhvr>
                                        <p:cTn dur="2000" fill="hold"/>
                                        <p:tgtEl>
                                          <p:spTgt spid="1300"/>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9">
                                            <p:txEl>
                                              <p:pRg end="0" st="0"/>
                                            </p:txEl>
                                          </p:spTgt>
                                        </p:tgtEl>
                                        <p:attrNameLst>
                                          <p:attrName>style.visibility</p:attrName>
                                        </p:attrNameLst>
                                      </p:cBhvr>
                                      <p:to>
                                        <p:strVal val="visible"/>
                                      </p:to>
                                    </p:set>
                                    <p:anim calcmode="lin" valueType="num">
                                      <p:cBhvr additive="base">
                                        <p:cTn dur="500"/>
                                        <p:tgtEl>
                                          <p:spTgt spid="129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7"/>
                                        </p:tgtEl>
                                        <p:attrNameLst>
                                          <p:attrName>style.visibility</p:attrName>
                                        </p:attrNameLst>
                                      </p:cBhvr>
                                      <p:to>
                                        <p:strVal val="visible"/>
                                      </p:to>
                                    </p:set>
                                    <p:animEffect filter="fade" transition="in">
                                      <p:cBhvr>
                                        <p:cTn dur="2000"/>
                                        <p:tgtEl>
                                          <p:spTgt spid="1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98"/>
                                        </p:tgtEl>
                                        <p:attrNameLst>
                                          <p:attrName>style.visibility</p:attrName>
                                        </p:attrNameLst>
                                      </p:cBhvr>
                                      <p:to>
                                        <p:strVal val="visible"/>
                                      </p:to>
                                    </p:set>
                                    <p:anim calcmode="lin" valueType="num">
                                      <p:cBhvr additive="base">
                                        <p:cTn dur="1000"/>
                                        <p:tgtEl>
                                          <p:spTgt spid="129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p52"/>
          <p:cNvSpPr/>
          <p:nvPr/>
        </p:nvSpPr>
        <p:spPr>
          <a:xfrm>
            <a:off x="674688" y="2378075"/>
            <a:ext cx="7781925" cy="447992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Suppose the simple                                    pendulum shown has a 1.25-kg                                         “bob” connected to a string that                                        is 0.475 m long. Find the maximum                                    velocity of the bob during its cycle.</a:t>
            </a:r>
            <a:endParaRPr/>
          </a:p>
          <a:p>
            <a:pPr indent="0" lvl="0" marL="0" marR="0" rtl="0" algn="l">
              <a:spcBef>
                <a:spcPts val="600"/>
              </a:spcBef>
              <a:spcAft>
                <a:spcPts val="0"/>
              </a:spcAft>
              <a:buNone/>
            </a:pPr>
            <a:r>
              <a:rPr lang="en-US" sz="2400">
                <a:solidFill>
                  <a:schemeClr val="dk1"/>
                </a:solidFill>
                <a:latin typeface="Arial"/>
                <a:ea typeface="Arial"/>
                <a:cs typeface="Arial"/>
                <a:sym typeface="Arial"/>
              </a:rPr>
              <a:t>SOLUTION:  Use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0. </a:t>
            </a:r>
            <a:endParaRPr/>
          </a:p>
          <a:p>
            <a:pPr indent="0" lvl="0" marL="0" marR="0" rtl="0" algn="l">
              <a:spcBef>
                <a:spcPts val="600"/>
              </a:spcBef>
              <a:spcAft>
                <a:spcPts val="0"/>
              </a:spcAft>
              <a:buNone/>
            </a:pPr>
            <a:r>
              <a:rPr lang="en-US" sz="2400">
                <a:solidFill>
                  <a:schemeClr val="dk1"/>
                </a:solidFill>
                <a:latin typeface="Courier New"/>
                <a:ea typeface="Courier New"/>
                <a:cs typeface="Courier New"/>
                <a:sym typeface="Courier New"/>
              </a:rPr>
              <a:t>∙</a:t>
            </a:r>
            <a:r>
              <a:rPr lang="en-US" sz="2400">
                <a:solidFill>
                  <a:schemeClr val="dk1"/>
                </a:solidFill>
                <a:latin typeface="Arial"/>
                <a:ea typeface="Arial"/>
                <a:cs typeface="Arial"/>
                <a:sym typeface="Arial"/>
              </a:rPr>
              <a:t>Maximum kinetic energy occurs at the lowest point.</a:t>
            </a:r>
            <a:endParaRPr/>
          </a:p>
          <a:p>
            <a:pPr indent="0" lvl="0" marL="0" marR="0" rtl="0" algn="l">
              <a:spcBef>
                <a:spcPts val="600"/>
              </a:spcBef>
              <a:spcAft>
                <a:spcPts val="0"/>
              </a:spcAft>
              <a:buNone/>
            </a:pPr>
            <a:r>
              <a:rPr lang="en-US" sz="2400">
                <a:solidFill>
                  <a:srgbClr val="000000"/>
                </a:solidFill>
                <a:latin typeface="Courier New"/>
                <a:ea typeface="Courier New"/>
                <a:cs typeface="Courier New"/>
                <a:sym typeface="Courier New"/>
              </a:rPr>
              <a:t>∙</a:t>
            </a:r>
            <a:r>
              <a:rPr lang="en-US" sz="2400">
                <a:solidFill>
                  <a:srgbClr val="000000"/>
                </a:solidFill>
                <a:latin typeface="Arial"/>
                <a:ea typeface="Arial"/>
                <a:cs typeface="Arial"/>
                <a:sym typeface="Arial"/>
              </a:rPr>
              <a:t>Maximum potential energy occurs at the highest point.</a:t>
            </a:r>
            <a:endParaRPr sz="2400">
              <a:solidFill>
                <a:schemeClr val="dk1"/>
              </a:solidFill>
              <a:latin typeface="Arial"/>
              <a:ea typeface="Arial"/>
              <a:cs typeface="Arial"/>
              <a:sym typeface="Arial"/>
            </a:endParaRPr>
          </a:p>
          <a:p>
            <a:pPr indent="0" lvl="0" marL="0" marR="0" rtl="0" algn="l">
              <a:spcBef>
                <a:spcPts val="60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(1/2)</a:t>
            </a:r>
            <a:r>
              <a:rPr i="1" lang="en-US" sz="2400">
                <a:solidFill>
                  <a:schemeClr val="dk1"/>
                </a:solidFill>
                <a:latin typeface="Arial"/>
                <a:ea typeface="Arial"/>
                <a:cs typeface="Arial"/>
                <a:sym typeface="Arial"/>
              </a:rPr>
              <a:t>mv</a:t>
            </a:r>
            <a:r>
              <a:rPr baseline="-25000" i="1" lang="en-US" sz="2400">
                <a:solidFill>
                  <a:schemeClr val="dk1"/>
                </a:solidFill>
                <a:latin typeface="Arial"/>
                <a:ea typeface="Arial"/>
                <a:cs typeface="Arial"/>
                <a:sym typeface="Arial"/>
              </a:rPr>
              <a:t>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mu</a:t>
            </a:r>
            <a:r>
              <a:rPr baseline="-25000" i="1" lang="en-US" sz="2400">
                <a:solidFill>
                  <a:schemeClr val="dk1"/>
                </a:solidFill>
                <a:latin typeface="Arial"/>
                <a:ea typeface="Arial"/>
                <a:cs typeface="Arial"/>
                <a:sym typeface="Arial"/>
              </a:rPr>
              <a:t>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h</a:t>
            </a:r>
            <a:r>
              <a:rPr lang="en-US" sz="2400">
                <a:solidFill>
                  <a:schemeClr val="dk1"/>
                </a:solidFill>
                <a:latin typeface="Arial"/>
                <a:ea typeface="Arial"/>
                <a:cs typeface="Arial"/>
                <a:sym typeface="Arial"/>
              </a:rPr>
              <a:t> = 0</a:t>
            </a:r>
            <a:endParaRPr/>
          </a:p>
          <a:p>
            <a:pPr indent="0" lvl="0" marL="0" marR="0" rtl="0" algn="l">
              <a:spcBef>
                <a:spcPts val="60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(1/2)(1.25)</a:t>
            </a:r>
            <a:r>
              <a:rPr i="1" lang="en-US" sz="2400">
                <a:solidFill>
                  <a:schemeClr val="dk1"/>
                </a:solidFill>
                <a:latin typeface="Arial"/>
                <a:ea typeface="Arial"/>
                <a:cs typeface="Arial"/>
                <a:sym typeface="Arial"/>
              </a:rPr>
              <a:t>v</a:t>
            </a:r>
            <a:r>
              <a:rPr baseline="-25000" i="1" lang="en-US" sz="2400">
                <a:solidFill>
                  <a:schemeClr val="dk1"/>
                </a:solidFill>
                <a:latin typeface="Arial"/>
                <a:ea typeface="Arial"/>
                <a:cs typeface="Arial"/>
                <a:sym typeface="Arial"/>
              </a:rPr>
              <a:t>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(1/2)(1.25)0</a:t>
            </a:r>
            <a:r>
              <a:rPr baseline="-25000" lang="en-US" sz="2400">
                <a:solidFill>
                  <a:schemeClr val="dk1"/>
                </a:solidFill>
                <a:latin typeface="Arial"/>
                <a:ea typeface="Arial"/>
                <a:cs typeface="Arial"/>
                <a:sym typeface="Arial"/>
              </a:rPr>
              <a:t>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+ 1.25(10)(-0.475) = 0</a:t>
            </a:r>
            <a:endParaRPr/>
          </a:p>
          <a:p>
            <a:pPr indent="0" lvl="0" marL="0" marR="0" rtl="0" algn="l">
              <a:spcBef>
                <a:spcPts val="600"/>
              </a:spcBef>
              <a:spcAft>
                <a:spcPts val="0"/>
              </a:spcAft>
              <a:buClr>
                <a:schemeClr val="dk1"/>
              </a:buClr>
              <a:buSzPts val="2400"/>
              <a:buFont typeface="Noto Sans Symbols"/>
              <a:buNone/>
            </a:pPr>
            <a:r>
              <a:rPr i="1" lang="en-US" sz="2400">
                <a:solidFill>
                  <a:schemeClr val="dk1"/>
                </a:solidFill>
                <a:latin typeface="Arial"/>
                <a:ea typeface="Arial"/>
                <a:cs typeface="Arial"/>
                <a:sym typeface="Arial"/>
              </a:rPr>
              <a:t>                                  v </a:t>
            </a:r>
            <a:r>
              <a:rPr lang="en-US" sz="2400">
                <a:solidFill>
                  <a:schemeClr val="dk1"/>
                </a:solidFill>
                <a:latin typeface="Arial"/>
                <a:ea typeface="Arial"/>
                <a:cs typeface="Arial"/>
                <a:sym typeface="Arial"/>
              </a:rPr>
              <a:t>= 3.08 ms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a:p>
        </p:txBody>
      </p:sp>
      <p:sp>
        <p:nvSpPr>
          <p:cNvPr id="1312" name="Google Shape;1312;p52"/>
          <p:cNvSpPr/>
          <p:nvPr/>
        </p:nvSpPr>
        <p:spPr>
          <a:xfrm>
            <a:off x="5676900" y="3340100"/>
            <a:ext cx="2781300" cy="868363"/>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Assume the drag force is zero.</a:t>
            </a:r>
            <a:endParaRPr sz="2400">
              <a:solidFill>
                <a:schemeClr val="dk1"/>
              </a:solidFill>
              <a:latin typeface="Arial"/>
              <a:ea typeface="Arial"/>
              <a:cs typeface="Arial"/>
              <a:sym typeface="Arial"/>
            </a:endParaRPr>
          </a:p>
        </p:txBody>
      </p:sp>
      <p:sp>
        <p:nvSpPr>
          <p:cNvPr id="1313" name="Google Shape;1313;p52"/>
          <p:cNvSpPr/>
          <p:nvPr/>
        </p:nvSpPr>
        <p:spPr>
          <a:xfrm>
            <a:off x="685800" y="1549400"/>
            <a:ext cx="7772400" cy="86995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Discussing the conservation of total energy within energy transformations </a:t>
            </a:r>
            <a:endParaRPr/>
          </a:p>
          <a:p>
            <a:pPr indent="0" lvl="0" marL="0" marR="0" rtl="0" algn="l">
              <a:spcBef>
                <a:spcPts val="400"/>
              </a:spcBef>
              <a:spcAft>
                <a:spcPts val="0"/>
              </a:spcAft>
              <a:buClr>
                <a:schemeClr val="dk1"/>
              </a:buClr>
              <a:buSzPts val="2000"/>
              <a:buFont typeface="Courier New"/>
              <a:buNone/>
            </a:pPr>
            <a:r>
              <a:rPr lang="en-US" sz="2000">
                <a:solidFill>
                  <a:schemeClr val="dk1"/>
                </a:solidFill>
                <a:latin typeface="Courier New"/>
                <a:ea typeface="Courier New"/>
                <a:cs typeface="Courier New"/>
                <a:sym typeface="Courier New"/>
              </a:rPr>
              <a:t>	</a:t>
            </a:r>
            <a:endParaRPr/>
          </a:p>
        </p:txBody>
      </p:sp>
      <p:sp>
        <p:nvSpPr>
          <p:cNvPr id="1314" name="Google Shape;1314;p52"/>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1315" name="Google Shape;1315;p52"/>
          <p:cNvSpPr/>
          <p:nvPr/>
        </p:nvSpPr>
        <p:spPr>
          <a:xfrm>
            <a:off x="8450263" y="2668588"/>
            <a:ext cx="692150" cy="99695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316" name="Google Shape;1316;p52"/>
          <p:cNvSpPr/>
          <p:nvPr/>
        </p:nvSpPr>
        <p:spPr>
          <a:xfrm>
            <a:off x="8453438" y="2660650"/>
            <a:ext cx="700087" cy="99695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317" name="Google Shape;1317;p52"/>
          <p:cNvSpPr/>
          <p:nvPr/>
        </p:nvSpPr>
        <p:spPr>
          <a:xfrm>
            <a:off x="8458200" y="3679825"/>
            <a:ext cx="688975" cy="1057275"/>
          </a:xfrm>
          <a:prstGeom prst="rect">
            <a:avLst/>
          </a:prstGeom>
          <a:solidFill>
            <a:schemeClr val="lt1"/>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318" name="Google Shape;1318;p52"/>
          <p:cNvSpPr/>
          <p:nvPr/>
        </p:nvSpPr>
        <p:spPr>
          <a:xfrm>
            <a:off x="8435975" y="2649538"/>
            <a:ext cx="685800" cy="1011237"/>
          </a:xfrm>
          <a:prstGeom prst="rect">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319" name="Google Shape;1319;p52"/>
          <p:cNvSpPr/>
          <p:nvPr/>
        </p:nvSpPr>
        <p:spPr>
          <a:xfrm>
            <a:off x="5421313" y="2222500"/>
            <a:ext cx="3348037" cy="3730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rgbClr val="FF0000"/>
                </a:solidFill>
                <a:latin typeface="Arial"/>
                <a:ea typeface="Arial"/>
                <a:cs typeface="Arial"/>
                <a:sym typeface="Arial"/>
              </a:rPr>
              <a:t>E</a:t>
            </a:r>
            <a:r>
              <a:rPr baseline="-25000" lang="en-US" sz="2400">
                <a:solidFill>
                  <a:srgbClr val="FF0000"/>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rgbClr val="008000"/>
                </a:solidFill>
                <a:latin typeface="Arial"/>
                <a:ea typeface="Arial"/>
                <a:cs typeface="Arial"/>
                <a:sym typeface="Arial"/>
              </a:rPr>
              <a:t>E</a:t>
            </a:r>
            <a:r>
              <a:rPr baseline="-25000" lang="en-US" sz="2400">
                <a:solidFill>
                  <a:srgbClr val="008000"/>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CONST</a:t>
            </a:r>
            <a:endParaRPr sz="2400">
              <a:solidFill>
                <a:schemeClr val="dk1"/>
              </a:solidFill>
              <a:latin typeface="Arial"/>
              <a:ea typeface="Arial"/>
              <a:cs typeface="Arial"/>
              <a:sym typeface="Arial"/>
            </a:endParaRPr>
          </a:p>
        </p:txBody>
      </p:sp>
      <p:grpSp>
        <p:nvGrpSpPr>
          <p:cNvPr id="1320" name="Google Shape;1320;p52"/>
          <p:cNvGrpSpPr/>
          <p:nvPr/>
        </p:nvGrpSpPr>
        <p:grpSpPr>
          <a:xfrm rot="-5400000">
            <a:off x="6511131" y="1010444"/>
            <a:ext cx="277813" cy="3883025"/>
            <a:chOff x="1934" y="1419"/>
            <a:chExt cx="175" cy="2446"/>
          </a:xfrm>
        </p:grpSpPr>
        <p:sp>
          <p:nvSpPr>
            <p:cNvPr id="1321" name="Google Shape;1321;p52"/>
            <p:cNvSpPr/>
            <p:nvPr/>
          </p:nvSpPr>
          <p:spPr>
            <a:xfrm>
              <a:off x="1950" y="3691"/>
              <a:ext cx="159" cy="159"/>
            </a:xfrm>
            <a:prstGeom prst="ellipse">
              <a:avLst/>
            </a:prstGeom>
            <a:gradFill>
              <a:gsLst>
                <a:gs pos="0">
                  <a:srgbClr val="FFFFFF"/>
                </a:gs>
                <a:gs pos="100000">
                  <a:schemeClr val="dk1"/>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1322" name="Google Shape;1322;p52"/>
            <p:cNvCxnSpPr/>
            <p:nvPr/>
          </p:nvCxnSpPr>
          <p:spPr>
            <a:xfrm rot="10800000">
              <a:off x="2024" y="2653"/>
              <a:ext cx="0" cy="1046"/>
            </a:xfrm>
            <a:prstGeom prst="straightConnector1">
              <a:avLst/>
            </a:prstGeom>
            <a:noFill/>
            <a:ln cap="flat" cmpd="sng" w="28575">
              <a:solidFill>
                <a:schemeClr val="dk1"/>
              </a:solidFill>
              <a:prstDash val="solid"/>
              <a:round/>
              <a:headEnd len="med" w="med" type="none"/>
              <a:tailEnd len="med" w="med" type="none"/>
            </a:ln>
          </p:spPr>
        </p:cxnSp>
        <p:grpSp>
          <p:nvGrpSpPr>
            <p:cNvPr id="1323" name="Google Shape;1323;p52"/>
            <p:cNvGrpSpPr/>
            <p:nvPr/>
          </p:nvGrpSpPr>
          <p:grpSpPr>
            <a:xfrm>
              <a:off x="1934" y="1419"/>
              <a:ext cx="174" cy="2446"/>
              <a:chOff x="1934" y="1419"/>
              <a:chExt cx="174" cy="2446"/>
            </a:xfrm>
          </p:grpSpPr>
          <p:sp>
            <p:nvSpPr>
              <p:cNvPr id="1324" name="Google Shape;1324;p52"/>
              <p:cNvSpPr/>
              <p:nvPr/>
            </p:nvSpPr>
            <p:spPr>
              <a:xfrm>
                <a:off x="1940" y="2645"/>
                <a:ext cx="167" cy="12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325" name="Google Shape;1325;p52"/>
              <p:cNvSpPr/>
              <p:nvPr/>
            </p:nvSpPr>
            <p:spPr>
              <a:xfrm>
                <a:off x="1934" y="1419"/>
                <a:ext cx="174" cy="12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grpSp>
      <p:grpSp>
        <p:nvGrpSpPr>
          <p:cNvPr id="1326" name="Google Shape;1326;p52"/>
          <p:cNvGrpSpPr/>
          <p:nvPr/>
        </p:nvGrpSpPr>
        <p:grpSpPr>
          <a:xfrm>
            <a:off x="6194425" y="2660650"/>
            <a:ext cx="950913" cy="349250"/>
            <a:chOff x="3774" y="2486"/>
            <a:chExt cx="599" cy="220"/>
          </a:xfrm>
        </p:grpSpPr>
        <p:sp>
          <p:nvSpPr>
            <p:cNvPr descr="Light downward diagonal" id="1327" name="Google Shape;1327;p52"/>
            <p:cNvSpPr/>
            <p:nvPr/>
          </p:nvSpPr>
          <p:spPr>
            <a:xfrm>
              <a:off x="3774" y="2486"/>
              <a:ext cx="599" cy="17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cxnSp>
          <p:nvCxnSpPr>
            <p:cNvPr id="1328" name="Google Shape;1328;p52"/>
            <p:cNvCxnSpPr/>
            <p:nvPr/>
          </p:nvCxnSpPr>
          <p:spPr>
            <a:xfrm>
              <a:off x="3782" y="2665"/>
              <a:ext cx="591" cy="0"/>
            </a:xfrm>
            <a:prstGeom prst="straightConnector1">
              <a:avLst/>
            </a:prstGeom>
            <a:noFill/>
            <a:ln cap="flat" cmpd="sng" w="9525">
              <a:solidFill>
                <a:schemeClr val="dk1"/>
              </a:solidFill>
              <a:prstDash val="solid"/>
              <a:round/>
              <a:headEnd len="med" w="med" type="none"/>
              <a:tailEnd len="med" w="med" type="none"/>
            </a:ln>
          </p:spPr>
        </p:cxnSp>
        <p:sp>
          <p:nvSpPr>
            <p:cNvPr id="1329" name="Google Shape;1329;p52"/>
            <p:cNvSpPr/>
            <p:nvPr/>
          </p:nvSpPr>
          <p:spPr>
            <a:xfrm>
              <a:off x="4025" y="2615"/>
              <a:ext cx="91" cy="91"/>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pic>
        <p:nvPicPr>
          <p:cNvPr descr="bd05378_[1]" id="1330" name="Google Shape;1330;p52"/>
          <p:cNvPicPr preferRelativeResize="0"/>
          <p:nvPr/>
        </p:nvPicPr>
        <p:blipFill rotWithShape="1">
          <a:blip r:embed="rId3">
            <a:alphaModFix/>
          </a:blip>
          <a:srcRect b="0" l="0" r="0" t="0"/>
          <a:stretch/>
        </p:blipFill>
        <p:spPr>
          <a:xfrm flipH="1">
            <a:off x="8242300" y="3016250"/>
            <a:ext cx="839788" cy="509588"/>
          </a:xfrm>
          <a:prstGeom prst="rect">
            <a:avLst/>
          </a:prstGeom>
          <a:noFill/>
          <a:ln>
            <a:noFill/>
          </a:ln>
        </p:spPr>
      </p:pic>
      <p:cxnSp>
        <p:nvCxnSpPr>
          <p:cNvPr id="1331" name="Google Shape;1331;p52"/>
          <p:cNvCxnSpPr/>
          <p:nvPr/>
        </p:nvCxnSpPr>
        <p:spPr>
          <a:xfrm flipH="1" rot="10800000">
            <a:off x="1941513" y="6153150"/>
            <a:ext cx="430212" cy="300038"/>
          </a:xfrm>
          <a:prstGeom prst="straightConnector1">
            <a:avLst/>
          </a:prstGeom>
          <a:noFill/>
          <a:ln cap="flat" cmpd="sng" w="28575">
            <a:solidFill>
              <a:srgbClr val="FF3300"/>
            </a:solidFill>
            <a:prstDash val="solid"/>
            <a:round/>
            <a:headEnd len="med" w="med" type="none"/>
            <a:tailEnd len="med" w="med" type="none"/>
          </a:ln>
        </p:spPr>
      </p:cxnSp>
      <p:cxnSp>
        <p:nvCxnSpPr>
          <p:cNvPr id="1332" name="Google Shape;1332;p52"/>
          <p:cNvCxnSpPr/>
          <p:nvPr/>
        </p:nvCxnSpPr>
        <p:spPr>
          <a:xfrm flipH="1" rot="10800000">
            <a:off x="3275013" y="6153150"/>
            <a:ext cx="1408112" cy="276225"/>
          </a:xfrm>
          <a:prstGeom prst="straightConnector1">
            <a:avLst/>
          </a:prstGeom>
          <a:noFill/>
          <a:ln cap="flat" cmpd="sng" w="28575">
            <a:solidFill>
              <a:srgbClr val="FF3300"/>
            </a:solidFill>
            <a:prstDash val="solid"/>
            <a:round/>
            <a:headEnd len="med" w="med" type="none"/>
            <a:tailEnd len="med" w="med" type="none"/>
          </a:ln>
        </p:spPr>
      </p:cxnSp>
      <p:cxnSp>
        <p:nvCxnSpPr>
          <p:cNvPr id="1333" name="Google Shape;1333;p52"/>
          <p:cNvCxnSpPr/>
          <p:nvPr/>
        </p:nvCxnSpPr>
        <p:spPr>
          <a:xfrm flipH="1" rot="10800000">
            <a:off x="5272088" y="6153150"/>
            <a:ext cx="482600" cy="276225"/>
          </a:xfrm>
          <a:prstGeom prst="straightConnector1">
            <a:avLst/>
          </a:prstGeom>
          <a:noFill/>
          <a:ln cap="flat" cmpd="sng" w="28575">
            <a:solidFill>
              <a:srgbClr val="FF33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1">
                                            <p:txEl>
                                              <p:pRg end="0" st="0"/>
                                            </p:txEl>
                                          </p:spTgt>
                                        </p:tgtEl>
                                        <p:attrNameLst>
                                          <p:attrName>style.visibility</p:attrName>
                                        </p:attrNameLst>
                                      </p:cBhvr>
                                      <p:to>
                                        <p:strVal val="visible"/>
                                      </p:to>
                                    </p:set>
                                    <p:anim calcmode="lin" valueType="num">
                                      <p:cBhvr additive="base">
                                        <p:cTn dur="500"/>
                                        <p:tgtEl>
                                          <p:spTgt spid="131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1">
                                            <p:txEl>
                                              <p:pRg end="1" st="1"/>
                                            </p:txEl>
                                          </p:spTgt>
                                        </p:tgtEl>
                                        <p:attrNameLst>
                                          <p:attrName>style.visibility</p:attrName>
                                        </p:attrNameLst>
                                      </p:cBhvr>
                                      <p:to>
                                        <p:strVal val="visible"/>
                                      </p:to>
                                    </p:set>
                                    <p:anim calcmode="lin" valueType="num">
                                      <p:cBhvr additive="base">
                                        <p:cTn dur="500"/>
                                        <p:tgtEl>
                                          <p:spTgt spid="131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1">
                                            <p:txEl>
                                              <p:pRg end="2" st="2"/>
                                            </p:txEl>
                                          </p:spTgt>
                                        </p:tgtEl>
                                        <p:attrNameLst>
                                          <p:attrName>style.visibility</p:attrName>
                                        </p:attrNameLst>
                                      </p:cBhvr>
                                      <p:to>
                                        <p:strVal val="visible"/>
                                      </p:to>
                                    </p:set>
                                    <p:anim calcmode="lin" valueType="num">
                                      <p:cBhvr additive="base">
                                        <p:cTn dur="500"/>
                                        <p:tgtEl>
                                          <p:spTgt spid="131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1">
                                            <p:txEl>
                                              <p:pRg end="3" st="3"/>
                                            </p:txEl>
                                          </p:spTgt>
                                        </p:tgtEl>
                                        <p:attrNameLst>
                                          <p:attrName>style.visibility</p:attrName>
                                        </p:attrNameLst>
                                      </p:cBhvr>
                                      <p:to>
                                        <p:strVal val="visible"/>
                                      </p:to>
                                    </p:set>
                                    <p:anim calcmode="lin" valueType="num">
                                      <p:cBhvr additive="base">
                                        <p:cTn dur="500"/>
                                        <p:tgtEl>
                                          <p:spTgt spid="131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1">
                                            <p:txEl>
                                              <p:pRg end="4" st="4"/>
                                            </p:txEl>
                                          </p:spTgt>
                                        </p:tgtEl>
                                        <p:attrNameLst>
                                          <p:attrName>style.visibility</p:attrName>
                                        </p:attrNameLst>
                                      </p:cBhvr>
                                      <p:to>
                                        <p:strVal val="visible"/>
                                      </p:to>
                                    </p:set>
                                    <p:anim calcmode="lin" valueType="num">
                                      <p:cBhvr additive="base">
                                        <p:cTn dur="500"/>
                                        <p:tgtEl>
                                          <p:spTgt spid="131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1">
                                            <p:txEl>
                                              <p:pRg end="5" st="5"/>
                                            </p:txEl>
                                          </p:spTgt>
                                        </p:tgtEl>
                                        <p:attrNameLst>
                                          <p:attrName>style.visibility</p:attrName>
                                        </p:attrNameLst>
                                      </p:cBhvr>
                                      <p:to>
                                        <p:strVal val="visible"/>
                                      </p:to>
                                    </p:set>
                                    <p:anim calcmode="lin" valueType="num">
                                      <p:cBhvr additive="base">
                                        <p:cTn dur="500"/>
                                        <p:tgtEl>
                                          <p:spTgt spid="131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1">
                                            <p:txEl>
                                              <p:pRg end="6" st="6"/>
                                            </p:txEl>
                                          </p:spTgt>
                                        </p:tgtEl>
                                        <p:attrNameLst>
                                          <p:attrName>style.visibility</p:attrName>
                                        </p:attrNameLst>
                                      </p:cBhvr>
                                      <p:to>
                                        <p:strVal val="visible"/>
                                      </p:to>
                                    </p:set>
                                    <p:anim calcmode="lin" valueType="num">
                                      <p:cBhvr additive="base">
                                        <p:cTn dur="500"/>
                                        <p:tgtEl>
                                          <p:spTgt spid="131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gtEl>
                                        <p:attrNameLst>
                                          <p:attrName>style.visibility</p:attrName>
                                        </p:attrNameLst>
                                      </p:cBhvr>
                                      <p:to>
                                        <p:strVal val="visible"/>
                                      </p:to>
                                    </p:set>
                                    <p:animEffect filter="fade" transition="in">
                                      <p:cBhvr>
                                        <p:cTn dur="500"/>
                                        <p:tgtEl>
                                          <p:spTgt spid="1320"/>
                                        </p:tgtEl>
                                      </p:cBhvr>
                                    </p:animEffect>
                                  </p:childTnLst>
                                </p:cTn>
                              </p:par>
                              <p:par>
                                <p:cTn fill="hold" nodeType="withEffect" presetClass="entr" presetID="10" presetSubtype="0">
                                  <p:stCondLst>
                                    <p:cond delay="0"/>
                                  </p:stCondLst>
                                  <p:childTnLst>
                                    <p:set>
                                      <p:cBhvr>
                                        <p:cTn dur="1" fill="hold">
                                          <p:stCondLst>
                                            <p:cond delay="0"/>
                                          </p:stCondLst>
                                        </p:cTn>
                                        <p:tgtEl>
                                          <p:spTgt spid="1326"/>
                                        </p:tgtEl>
                                        <p:attrNameLst>
                                          <p:attrName>style.visibility</p:attrName>
                                        </p:attrNameLst>
                                      </p:cBhvr>
                                      <p:to>
                                        <p:strVal val="visible"/>
                                      </p:to>
                                    </p:set>
                                    <p:animEffect filter="fade" transition="in">
                                      <p:cBhvr>
                                        <p:cTn dur="500"/>
                                        <p:tgtEl>
                                          <p:spTgt spid="1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330"/>
                                        </p:tgtEl>
                                        <p:attrNameLst>
                                          <p:attrName>style.visibility</p:attrName>
                                        </p:attrNameLst>
                                      </p:cBhvr>
                                      <p:to>
                                        <p:strVal val="visible"/>
                                      </p:to>
                                    </p:set>
                                    <p:anim calcmode="lin" valueType="num">
                                      <p:cBhvr additive="base">
                                        <p:cTn dur="500"/>
                                        <p:tgtEl>
                                          <p:spTgt spid="13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gtEl>
                                        <p:attrNameLst>
                                          <p:attrName>style.visibility</p:attrName>
                                        </p:attrNameLst>
                                      </p:cBhvr>
                                      <p:to>
                                        <p:strVal val="visible"/>
                                      </p:to>
                                    </p:set>
                                    <p:animEffect filter="fade" transition="in">
                                      <p:cBhvr>
                                        <p:cTn dur="500"/>
                                        <p:tgtEl>
                                          <p:spTgt spid="1315"/>
                                        </p:tgtEl>
                                      </p:cBhvr>
                                    </p:animEffect>
                                  </p:childTnLst>
                                </p:cTn>
                              </p:par>
                              <p:par>
                                <p:cTn fill="hold" nodeType="withEffect" presetClass="entr" presetID="10" presetSubtype="0">
                                  <p:stCondLst>
                                    <p:cond delay="0"/>
                                  </p:stCondLst>
                                  <p:childTnLst>
                                    <p:set>
                                      <p:cBhvr>
                                        <p:cTn dur="1" fill="hold">
                                          <p:stCondLst>
                                            <p:cond delay="0"/>
                                          </p:stCondLst>
                                        </p:cTn>
                                        <p:tgtEl>
                                          <p:spTgt spid="1316"/>
                                        </p:tgtEl>
                                        <p:attrNameLst>
                                          <p:attrName>style.visibility</p:attrName>
                                        </p:attrNameLst>
                                      </p:cBhvr>
                                      <p:to>
                                        <p:strVal val="visible"/>
                                      </p:to>
                                    </p:set>
                                    <p:animEffect filter="fade" transition="in">
                                      <p:cBhvr>
                                        <p:cTn dur="500"/>
                                        <p:tgtEl>
                                          <p:spTgt spid="1316"/>
                                        </p:tgtEl>
                                      </p:cBhvr>
                                    </p:animEffect>
                                  </p:childTnLst>
                                </p:cTn>
                              </p:par>
                              <p:par>
                                <p:cTn fill="hold" nodeType="withEffect" presetClass="entr" presetID="10" presetSubtype="0">
                                  <p:stCondLst>
                                    <p:cond delay="0"/>
                                  </p:stCondLst>
                                  <p:childTnLst>
                                    <p:set>
                                      <p:cBhvr>
                                        <p:cTn dur="1" fill="hold">
                                          <p:stCondLst>
                                            <p:cond delay="0"/>
                                          </p:stCondLst>
                                        </p:cTn>
                                        <p:tgtEl>
                                          <p:spTgt spid="1317"/>
                                        </p:tgtEl>
                                        <p:attrNameLst>
                                          <p:attrName>style.visibility</p:attrName>
                                        </p:attrNameLst>
                                      </p:cBhvr>
                                      <p:to>
                                        <p:strVal val="visible"/>
                                      </p:to>
                                    </p:set>
                                    <p:animEffect filter="fade" transition="in">
                                      <p:cBhvr>
                                        <p:cTn dur="500"/>
                                        <p:tgtEl>
                                          <p:spTgt spid="1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gtEl>
                                        <p:attrNameLst>
                                          <p:attrName>style.visibility</p:attrName>
                                        </p:attrNameLst>
                                      </p:cBhvr>
                                      <p:to>
                                        <p:strVal val="visible"/>
                                      </p:to>
                                    </p:set>
                                    <p:animEffect filter="fade" transition="in">
                                      <p:cBhvr>
                                        <p:cTn dur="2000"/>
                                        <p:tgtEl>
                                          <p:spTgt spid="13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500"/>
                                        <p:tgtEl>
                                          <p:spTgt spid="1330"/>
                                        </p:tgtEl>
                                        <p:attrNameLst>
                                          <p:attrName>ppt_x</p:attrName>
                                        </p:attrNameLst>
                                      </p:cBhvr>
                                      <p:tavLst>
                                        <p:tav fmla="" tm="0">
                                          <p:val>
                                            <p:strVal val="#ppt_x"/>
                                          </p:val>
                                        </p:tav>
                                        <p:tav fmla="" tm="100000">
                                          <p:val>
                                            <p:strVal val="#ppt_x+1"/>
                                          </p:val>
                                        </p:tav>
                                      </p:tavLst>
                                    </p:anim>
                                    <p:set>
                                      <p:cBhvr>
                                        <p:cTn dur="1" fill="hold">
                                          <p:stCondLst>
                                            <p:cond delay="500"/>
                                          </p:stCondLst>
                                        </p:cTn>
                                        <p:tgtEl>
                                          <p:spTgt spid="1330"/>
                                        </p:tgtEl>
                                        <p:attrNameLst>
                                          <p:attrName>style.visibility</p:attrName>
                                        </p:attrNameLst>
                                      </p:cBhvr>
                                      <p:to>
                                        <p:strVal val="hidden"/>
                                      </p:to>
                                    </p:set>
                                  </p:childTnLst>
                                </p:cTn>
                              </p:par>
                            </p:childTnLst>
                          </p:cTn>
                        </p:par>
                        <p:par>
                          <p:cTn fill="hold">
                            <p:stCondLst>
                              <p:cond delay="500"/>
                            </p:stCondLst>
                            <p:childTnLst>
                              <p:par>
                                <p:cTn fill="hold" nodeType="afterEffect" presetClass="emph" presetID="8" presetSubtype="0">
                                  <p:stCondLst>
                                    <p:cond delay="0"/>
                                  </p:stCondLst>
                                  <p:childTnLst>
                                    <p:animRot by="-21600000">
                                      <p:cBhvr>
                                        <p:cTn dur="2000" fill="hold"/>
                                        <p:tgtEl>
                                          <p:spTgt spid="1320"/>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2">
                                            <p:txEl>
                                              <p:pRg end="0" st="0"/>
                                            </p:txEl>
                                          </p:spTgt>
                                        </p:tgtEl>
                                        <p:attrNameLst>
                                          <p:attrName>style.visibility</p:attrName>
                                        </p:attrNameLst>
                                      </p:cBhvr>
                                      <p:to>
                                        <p:strVal val="visible"/>
                                      </p:to>
                                    </p:set>
                                    <p:anim calcmode="lin" valueType="num">
                                      <p:cBhvr additive="base">
                                        <p:cTn dur="500"/>
                                        <p:tgtEl>
                                          <p:spTgt spid="131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319"/>
                                        </p:tgtEl>
                                        <p:attrNameLst>
                                          <p:attrName>style.visibility</p:attrName>
                                        </p:attrNameLst>
                                      </p:cBhvr>
                                      <p:to>
                                        <p:strVal val="visible"/>
                                      </p:to>
                                    </p:set>
                                    <p:anim calcmode="lin" valueType="num">
                                      <p:cBhvr additive="base">
                                        <p:cTn dur="1000"/>
                                        <p:tgtEl>
                                          <p:spTgt spid="13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1"/>
                                        </p:tgtEl>
                                        <p:attrNameLst>
                                          <p:attrName>style.visibility</p:attrName>
                                        </p:attrNameLst>
                                      </p:cBhvr>
                                      <p:to>
                                        <p:strVal val="visible"/>
                                      </p:to>
                                    </p:set>
                                    <p:animEffect filter="fade" transition="in">
                                      <p:cBhvr>
                                        <p:cTn dur="500"/>
                                        <p:tgtEl>
                                          <p:spTgt spid="13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2"/>
                                        </p:tgtEl>
                                        <p:attrNameLst>
                                          <p:attrName>style.visibility</p:attrName>
                                        </p:attrNameLst>
                                      </p:cBhvr>
                                      <p:to>
                                        <p:strVal val="visible"/>
                                      </p:to>
                                    </p:set>
                                    <p:animEffect filter="fade" transition="in">
                                      <p:cBhvr>
                                        <p:cTn dur="500"/>
                                        <p:tgtEl>
                                          <p:spTgt spid="1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3"/>
                                        </p:tgtEl>
                                        <p:attrNameLst>
                                          <p:attrName>style.visibility</p:attrName>
                                        </p:attrNameLst>
                                      </p:cBhvr>
                                      <p:to>
                                        <p:strVal val="visible"/>
                                      </p:to>
                                    </p:set>
                                    <p:animEffect filter="fade" transition="in">
                                      <p:cBhvr>
                                        <p:cTn dur="500"/>
                                        <p:tgtEl>
                                          <p:spTgt spid="1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53"/>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Discussing the conservation of total energy within energy transformations </a:t>
            </a:r>
            <a:endParaRPr/>
          </a:p>
          <a:p>
            <a:pPr indent="0" lvl="0" marL="0" marR="0" rtl="0" algn="l">
              <a:spcBef>
                <a:spcPts val="0"/>
              </a:spcBef>
              <a:spcAft>
                <a:spcPts val="0"/>
              </a:spcAft>
              <a:buNone/>
            </a:pPr>
            <a:r>
              <a:rPr lang="en-US" sz="2400">
                <a:solidFill>
                  <a:srgbClr val="000000"/>
                </a:solidFill>
                <a:latin typeface="Arial"/>
                <a:ea typeface="Arial"/>
                <a:cs typeface="Arial"/>
                <a:sym typeface="Arial"/>
              </a:rPr>
              <a:t>∙Consider the mass-                                                   spring system shown                                                           here. The mass is                                                             pulled to the right                                                                    and held in place.</a:t>
            </a:r>
            <a:endParaRPr/>
          </a:p>
          <a:p>
            <a:pPr indent="0" lvl="0" marL="0" marR="0" rtl="0" algn="l">
              <a:spcBef>
                <a:spcPts val="0"/>
              </a:spcBef>
              <a:spcAft>
                <a:spcPts val="0"/>
              </a:spcAft>
              <a:buNone/>
            </a:pPr>
            <a:r>
              <a:rPr lang="en-US" sz="2400">
                <a:solidFill>
                  <a:srgbClr val="000000"/>
                </a:solidFill>
                <a:latin typeface="Arial"/>
                <a:ea typeface="Arial"/>
                <a:cs typeface="Arial"/>
                <a:sym typeface="Arial"/>
              </a:rPr>
              <a:t>∙Let the </a:t>
            </a:r>
            <a:r>
              <a:rPr lang="en-US" sz="2400">
                <a:solidFill>
                  <a:schemeClr val="dk1"/>
                </a:solidFill>
                <a:latin typeface="Arial"/>
                <a:ea typeface="Arial"/>
                <a:cs typeface="Arial"/>
                <a:sym typeface="Arial"/>
              </a:rPr>
              <a:t>green rectangle</a:t>
            </a:r>
            <a:r>
              <a:rPr lang="en-US" sz="2400">
                <a:solidFill>
                  <a:srgbClr val="000000"/>
                </a:solidFill>
                <a:latin typeface="Arial"/>
                <a:ea typeface="Arial"/>
                <a:cs typeface="Arial"/>
                <a:sym typeface="Arial"/>
              </a:rPr>
              <a:t>                                                represent the </a:t>
            </a:r>
            <a:r>
              <a:rPr b="1" lang="en-US" sz="2400">
                <a:solidFill>
                  <a:srgbClr val="008000"/>
                </a:solidFill>
                <a:latin typeface="Arial"/>
                <a:ea typeface="Arial"/>
                <a:cs typeface="Arial"/>
                <a:sym typeface="Arial"/>
              </a:rPr>
              <a:t>potential                                                   energy</a:t>
            </a:r>
            <a:r>
              <a:rPr lang="en-US" sz="2400">
                <a:solidFill>
                  <a:srgbClr val="000000"/>
                </a:solidFill>
                <a:latin typeface="Arial"/>
                <a:ea typeface="Arial"/>
                <a:cs typeface="Arial"/>
                <a:sym typeface="Arial"/>
              </a:rPr>
              <a:t> of the system.</a:t>
            </a:r>
            <a:endParaRPr/>
          </a:p>
          <a:p>
            <a:pPr indent="0" lvl="0" marL="0" marR="0" rtl="0" algn="l">
              <a:spcBef>
                <a:spcPts val="0"/>
              </a:spcBef>
              <a:spcAft>
                <a:spcPts val="0"/>
              </a:spcAft>
              <a:buNone/>
            </a:pPr>
            <a:r>
              <a:rPr lang="en-US" sz="2400">
                <a:solidFill>
                  <a:srgbClr val="000000"/>
                </a:solidFill>
                <a:latin typeface="Arial"/>
                <a:ea typeface="Arial"/>
                <a:cs typeface="Arial"/>
                <a:sym typeface="Arial"/>
              </a:rPr>
              <a:t>∙Let the red rectangle                                                        represent the </a:t>
            </a:r>
            <a:r>
              <a:rPr b="1" lang="en-US" sz="2400">
                <a:solidFill>
                  <a:srgbClr val="FF0000"/>
                </a:solidFill>
                <a:latin typeface="Arial"/>
                <a:ea typeface="Arial"/>
                <a:cs typeface="Arial"/>
                <a:sym typeface="Arial"/>
              </a:rPr>
              <a:t>kinetic energy</a:t>
            </a:r>
            <a:r>
              <a:rPr lang="en-US" sz="2400">
                <a:solidFill>
                  <a:srgbClr val="000000"/>
                </a:solidFill>
                <a:latin typeface="Arial"/>
                <a:ea typeface="Arial"/>
                <a:cs typeface="Arial"/>
                <a:sym typeface="Arial"/>
              </a:rPr>
              <a:t> of the system.</a:t>
            </a:r>
            <a:endParaRPr/>
          </a:p>
          <a:p>
            <a:pPr indent="0" lvl="0" marL="0" marR="0" rtl="0" algn="l">
              <a:spcBef>
                <a:spcPts val="0"/>
              </a:spcBef>
              <a:spcAft>
                <a:spcPts val="0"/>
              </a:spcAft>
              <a:buNone/>
            </a:pPr>
            <a:r>
              <a:rPr lang="en-US" sz="2400">
                <a:solidFill>
                  <a:srgbClr val="000000"/>
                </a:solidFill>
                <a:latin typeface="Arial"/>
                <a:ea typeface="Arial"/>
                <a:cs typeface="Arial"/>
                <a:sym typeface="Arial"/>
              </a:rPr>
              <a:t>∙A continuous exchange between </a:t>
            </a:r>
            <a:r>
              <a:rPr i="1" lang="en-US" sz="2400">
                <a:solidFill>
                  <a:srgbClr val="FF0000"/>
                </a:solidFill>
                <a:latin typeface="Arial"/>
                <a:ea typeface="Arial"/>
                <a:cs typeface="Arial"/>
                <a:sym typeface="Arial"/>
              </a:rPr>
              <a:t>E</a:t>
            </a:r>
            <a:r>
              <a:rPr baseline="-25000" lang="en-US" sz="2400">
                <a:solidFill>
                  <a:srgbClr val="FF0000"/>
                </a:solidFill>
                <a:latin typeface="Arial"/>
                <a:ea typeface="Arial"/>
                <a:cs typeface="Arial"/>
                <a:sym typeface="Arial"/>
              </a:rPr>
              <a:t>K</a:t>
            </a:r>
            <a:r>
              <a:rPr lang="en-US" sz="2400">
                <a:solidFill>
                  <a:srgbClr val="000000"/>
                </a:solidFill>
                <a:latin typeface="Arial"/>
                <a:ea typeface="Arial"/>
                <a:cs typeface="Arial"/>
                <a:sym typeface="Arial"/>
              </a:rPr>
              <a:t> and </a:t>
            </a:r>
            <a:r>
              <a:rPr i="1" lang="en-US" sz="2400">
                <a:solidFill>
                  <a:srgbClr val="008000"/>
                </a:solidFill>
                <a:latin typeface="Arial"/>
                <a:ea typeface="Arial"/>
                <a:cs typeface="Arial"/>
                <a:sym typeface="Arial"/>
              </a:rPr>
              <a:t>E</a:t>
            </a:r>
            <a:r>
              <a:rPr baseline="-25000" lang="en-US" sz="2400">
                <a:solidFill>
                  <a:srgbClr val="008000"/>
                </a:solidFill>
                <a:latin typeface="Arial"/>
                <a:ea typeface="Arial"/>
                <a:cs typeface="Arial"/>
                <a:sym typeface="Arial"/>
              </a:rPr>
              <a:t>P</a:t>
            </a:r>
            <a:r>
              <a:rPr lang="en-US" sz="2400">
                <a:solidFill>
                  <a:srgbClr val="000000"/>
                </a:solidFill>
                <a:latin typeface="Arial"/>
                <a:ea typeface="Arial"/>
                <a:cs typeface="Arial"/>
                <a:sym typeface="Arial"/>
              </a:rPr>
              <a:t> occurs.</a:t>
            </a:r>
            <a:endParaRPr/>
          </a:p>
          <a:p>
            <a:pPr indent="0" lvl="0" marL="0" marR="0" rtl="0" algn="l">
              <a:spcBef>
                <a:spcPts val="0"/>
              </a:spcBef>
              <a:spcAft>
                <a:spcPts val="0"/>
              </a:spcAft>
              <a:buNone/>
            </a:pPr>
            <a:r>
              <a:rPr lang="en-US" sz="2400">
                <a:solidFill>
                  <a:srgbClr val="000000"/>
                </a:solidFill>
                <a:latin typeface="Arial"/>
                <a:ea typeface="Arial"/>
                <a:cs typeface="Arial"/>
                <a:sym typeface="Arial"/>
              </a:rPr>
              <a:t>∙Note that the sum of </a:t>
            </a:r>
            <a:r>
              <a:rPr i="1" lang="en-US" sz="2400">
                <a:solidFill>
                  <a:srgbClr val="FF0000"/>
                </a:solidFill>
                <a:latin typeface="Arial"/>
                <a:ea typeface="Arial"/>
                <a:cs typeface="Arial"/>
                <a:sym typeface="Arial"/>
              </a:rPr>
              <a:t>E</a:t>
            </a:r>
            <a:r>
              <a:rPr baseline="-25000" lang="en-US" sz="2400">
                <a:solidFill>
                  <a:srgbClr val="FF0000"/>
                </a:solidFill>
                <a:latin typeface="Arial"/>
                <a:ea typeface="Arial"/>
                <a:cs typeface="Arial"/>
                <a:sym typeface="Arial"/>
              </a:rPr>
              <a:t>K</a:t>
            </a:r>
            <a:r>
              <a:rPr lang="en-US" sz="2400">
                <a:solidFill>
                  <a:srgbClr val="000000"/>
                </a:solidFill>
                <a:latin typeface="Arial"/>
                <a:ea typeface="Arial"/>
                <a:cs typeface="Arial"/>
                <a:sym typeface="Arial"/>
              </a:rPr>
              <a:t> and </a:t>
            </a:r>
            <a:r>
              <a:rPr i="1" lang="en-US" sz="2400">
                <a:solidFill>
                  <a:srgbClr val="008000"/>
                </a:solidFill>
                <a:latin typeface="Arial"/>
                <a:ea typeface="Arial"/>
                <a:cs typeface="Arial"/>
                <a:sym typeface="Arial"/>
              </a:rPr>
              <a:t>E</a:t>
            </a:r>
            <a:r>
              <a:rPr baseline="-25000" lang="en-US" sz="2400">
                <a:solidFill>
                  <a:srgbClr val="008000"/>
                </a:solidFill>
                <a:latin typeface="Arial"/>
                <a:ea typeface="Arial"/>
                <a:cs typeface="Arial"/>
                <a:sym typeface="Arial"/>
              </a:rPr>
              <a:t>P</a:t>
            </a:r>
            <a:r>
              <a:rPr lang="en-US" sz="2400">
                <a:solidFill>
                  <a:srgbClr val="000000"/>
                </a:solidFill>
                <a:latin typeface="Arial"/>
                <a:ea typeface="Arial"/>
                <a:cs typeface="Arial"/>
                <a:sym typeface="Arial"/>
              </a:rPr>
              <a:t> is constant.</a:t>
            </a:r>
            <a:endParaRPr/>
          </a:p>
        </p:txBody>
      </p:sp>
      <p:sp>
        <p:nvSpPr>
          <p:cNvPr id="1340" name="Google Shape;1340;p53"/>
          <p:cNvSpPr/>
          <p:nvPr/>
        </p:nvSpPr>
        <p:spPr>
          <a:xfrm>
            <a:off x="4491038" y="2611438"/>
            <a:ext cx="3989387" cy="533400"/>
          </a:xfrm>
          <a:custGeom>
            <a:rect b="b" l="l" r="r" t="t"/>
            <a:pathLst>
              <a:path extrusionOk="0" h="336" w="1056">
                <a:moveTo>
                  <a:pt x="0" y="168"/>
                </a:moveTo>
                <a:cubicBezTo>
                  <a:pt x="32" y="180"/>
                  <a:pt x="64" y="192"/>
                  <a:pt x="96" y="168"/>
                </a:cubicBezTo>
                <a:cubicBezTo>
                  <a:pt x="128" y="144"/>
                  <a:pt x="160" y="0"/>
                  <a:pt x="192" y="24"/>
                </a:cubicBezTo>
                <a:cubicBezTo>
                  <a:pt x="224" y="48"/>
                  <a:pt x="256" y="312"/>
                  <a:pt x="288" y="312"/>
                </a:cubicBezTo>
                <a:cubicBezTo>
                  <a:pt x="320" y="312"/>
                  <a:pt x="352" y="24"/>
                  <a:pt x="384" y="24"/>
                </a:cubicBezTo>
                <a:cubicBezTo>
                  <a:pt x="416" y="24"/>
                  <a:pt x="448" y="312"/>
                  <a:pt x="480" y="312"/>
                </a:cubicBezTo>
                <a:cubicBezTo>
                  <a:pt x="512" y="312"/>
                  <a:pt x="544" y="24"/>
                  <a:pt x="576" y="24"/>
                </a:cubicBezTo>
                <a:cubicBezTo>
                  <a:pt x="608" y="24"/>
                  <a:pt x="640" y="312"/>
                  <a:pt x="672" y="312"/>
                </a:cubicBezTo>
                <a:cubicBezTo>
                  <a:pt x="704" y="312"/>
                  <a:pt x="736" y="24"/>
                  <a:pt x="768" y="24"/>
                </a:cubicBezTo>
                <a:cubicBezTo>
                  <a:pt x="800" y="24"/>
                  <a:pt x="832" y="288"/>
                  <a:pt x="864" y="312"/>
                </a:cubicBezTo>
                <a:cubicBezTo>
                  <a:pt x="896" y="336"/>
                  <a:pt x="928" y="192"/>
                  <a:pt x="960" y="168"/>
                </a:cubicBezTo>
                <a:cubicBezTo>
                  <a:pt x="992" y="144"/>
                  <a:pt x="1024" y="156"/>
                  <a:pt x="1056" y="168"/>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341" name="Google Shape;1341;p53"/>
          <p:cNvSpPr/>
          <p:nvPr/>
        </p:nvSpPr>
        <p:spPr>
          <a:xfrm>
            <a:off x="8120063" y="2611438"/>
            <a:ext cx="609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nvGrpSpPr>
          <p:cNvPr id="1342" name="Google Shape;1342;p53"/>
          <p:cNvGrpSpPr/>
          <p:nvPr/>
        </p:nvGrpSpPr>
        <p:grpSpPr>
          <a:xfrm>
            <a:off x="4479925" y="2611438"/>
            <a:ext cx="4664075" cy="1346200"/>
            <a:chOff x="1708" y="3117"/>
            <a:chExt cx="2938" cy="848"/>
          </a:xfrm>
        </p:grpSpPr>
        <p:sp>
          <p:nvSpPr>
            <p:cNvPr descr="Light upward diagonal" id="1343" name="Google Shape;1343;p53"/>
            <p:cNvSpPr/>
            <p:nvPr/>
          </p:nvSpPr>
          <p:spPr>
            <a:xfrm>
              <a:off x="1708" y="3117"/>
              <a:ext cx="2938" cy="432"/>
            </a:xfrm>
            <a:custGeom>
              <a:rect b="b" l="l" r="r" t="t"/>
              <a:pathLst>
                <a:path extrusionOk="0" h="432" w="2938">
                  <a:moveTo>
                    <a:pt x="2929" y="425"/>
                  </a:moveTo>
                  <a:lnTo>
                    <a:pt x="2938" y="329"/>
                  </a:lnTo>
                  <a:lnTo>
                    <a:pt x="96" y="336"/>
                  </a:lnTo>
                  <a:lnTo>
                    <a:pt x="96" y="0"/>
                  </a:lnTo>
                  <a:lnTo>
                    <a:pt x="0" y="0"/>
                  </a:lnTo>
                  <a:lnTo>
                    <a:pt x="0" y="432"/>
                  </a:lnTo>
                  <a:lnTo>
                    <a:pt x="2929" y="425"/>
                  </a:lnTo>
                  <a:close/>
                </a:path>
              </a:pathLst>
            </a:custGeom>
            <a:solidFill>
              <a:srgbClr val="FFCC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344" name="Google Shape;1344;p53"/>
            <p:cNvSpPr/>
            <p:nvPr/>
          </p:nvSpPr>
          <p:spPr>
            <a:xfrm>
              <a:off x="1813" y="3117"/>
              <a:ext cx="2833" cy="339"/>
            </a:xfrm>
            <a:custGeom>
              <a:rect b="b" l="l" r="r" t="t"/>
              <a:pathLst>
                <a:path extrusionOk="0" h="339" w="2833">
                  <a:moveTo>
                    <a:pt x="2833" y="339"/>
                  </a:moveTo>
                  <a:lnTo>
                    <a:pt x="0" y="336"/>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1345" name="Google Shape;1345;p53"/>
            <p:cNvGrpSpPr/>
            <p:nvPr/>
          </p:nvGrpSpPr>
          <p:grpSpPr>
            <a:xfrm>
              <a:off x="2361" y="3117"/>
              <a:ext cx="2084" cy="848"/>
              <a:chOff x="2688" y="1584"/>
              <a:chExt cx="2084" cy="848"/>
            </a:xfrm>
          </p:grpSpPr>
          <p:cxnSp>
            <p:nvCxnSpPr>
              <p:cNvPr id="1346" name="Google Shape;1346;p53"/>
              <p:cNvCxnSpPr/>
              <p:nvPr/>
            </p:nvCxnSpPr>
            <p:spPr>
              <a:xfrm>
                <a:off x="3552" y="1584"/>
                <a:ext cx="0" cy="624"/>
              </a:xfrm>
              <a:prstGeom prst="straightConnector1">
                <a:avLst/>
              </a:prstGeom>
              <a:noFill/>
              <a:ln cap="flat" cmpd="sng" w="9525">
                <a:solidFill>
                  <a:schemeClr val="dk1"/>
                </a:solidFill>
                <a:prstDash val="dash"/>
                <a:round/>
                <a:headEnd len="med" w="med" type="none"/>
                <a:tailEnd len="med" w="med" type="none"/>
              </a:ln>
            </p:spPr>
          </p:cxnSp>
          <p:cxnSp>
            <p:nvCxnSpPr>
              <p:cNvPr id="1347" name="Google Shape;1347;p53"/>
              <p:cNvCxnSpPr/>
              <p:nvPr/>
            </p:nvCxnSpPr>
            <p:spPr>
              <a:xfrm>
                <a:off x="2688" y="2112"/>
                <a:ext cx="1868" cy="0"/>
              </a:xfrm>
              <a:prstGeom prst="straightConnector1">
                <a:avLst/>
              </a:prstGeom>
              <a:noFill/>
              <a:ln cap="flat" cmpd="sng" w="9525">
                <a:solidFill>
                  <a:schemeClr val="dk1"/>
                </a:solidFill>
                <a:prstDash val="solid"/>
                <a:round/>
                <a:headEnd len="med" w="med" type="none"/>
                <a:tailEnd len="med" w="med" type="triangle"/>
              </a:ln>
            </p:spPr>
          </p:cxnSp>
          <p:sp>
            <p:nvSpPr>
              <p:cNvPr id="1348" name="Google Shape;1348;p53"/>
              <p:cNvSpPr txBox="1"/>
              <p:nvPr/>
            </p:nvSpPr>
            <p:spPr>
              <a:xfrm>
                <a:off x="4560" y="1970"/>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x</a:t>
                </a:r>
                <a:endParaRPr/>
              </a:p>
            </p:txBody>
          </p:sp>
          <p:sp>
            <p:nvSpPr>
              <p:cNvPr id="1349" name="Google Shape;1349;p53"/>
              <p:cNvSpPr txBox="1"/>
              <p:nvPr/>
            </p:nvSpPr>
            <p:spPr>
              <a:xfrm>
                <a:off x="3454" y="2240"/>
                <a:ext cx="116"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cxnSp>
            <p:nvCxnSpPr>
              <p:cNvPr id="1350" name="Google Shape;1350;p53"/>
              <p:cNvCxnSpPr/>
              <p:nvPr/>
            </p:nvCxnSpPr>
            <p:spPr>
              <a:xfrm>
                <a:off x="3744"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351" name="Google Shape;1351;p53"/>
              <p:cNvCxnSpPr/>
              <p:nvPr/>
            </p:nvCxnSpPr>
            <p:spPr>
              <a:xfrm>
                <a:off x="3936"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352" name="Google Shape;1352;p53"/>
              <p:cNvCxnSpPr/>
              <p:nvPr/>
            </p:nvCxnSpPr>
            <p:spPr>
              <a:xfrm>
                <a:off x="4128"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353" name="Google Shape;1353;p53"/>
              <p:cNvCxnSpPr/>
              <p:nvPr/>
            </p:nvCxnSpPr>
            <p:spPr>
              <a:xfrm>
                <a:off x="4320"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354" name="Google Shape;1354;p53"/>
              <p:cNvCxnSpPr/>
              <p:nvPr/>
            </p:nvCxnSpPr>
            <p:spPr>
              <a:xfrm>
                <a:off x="3360"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355" name="Google Shape;1355;p53"/>
              <p:cNvCxnSpPr/>
              <p:nvPr/>
            </p:nvCxnSpPr>
            <p:spPr>
              <a:xfrm>
                <a:off x="3168"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356" name="Google Shape;1356;p53"/>
              <p:cNvCxnSpPr/>
              <p:nvPr/>
            </p:nvCxnSpPr>
            <p:spPr>
              <a:xfrm>
                <a:off x="2976"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357" name="Google Shape;1357;p53"/>
              <p:cNvCxnSpPr/>
              <p:nvPr/>
            </p:nvCxnSpPr>
            <p:spPr>
              <a:xfrm>
                <a:off x="2784" y="1920"/>
                <a:ext cx="0" cy="192"/>
              </a:xfrm>
              <a:prstGeom prst="straightConnector1">
                <a:avLst/>
              </a:prstGeom>
              <a:noFill/>
              <a:ln cap="flat" cmpd="sng" w="9525">
                <a:solidFill>
                  <a:schemeClr val="dk1"/>
                </a:solidFill>
                <a:prstDash val="dash"/>
                <a:round/>
                <a:headEnd len="med" w="med" type="none"/>
                <a:tailEnd len="med" w="med" type="none"/>
              </a:ln>
            </p:spPr>
          </p:cxnSp>
        </p:grpSp>
      </p:grpSp>
      <p:pic>
        <p:nvPicPr>
          <p:cNvPr descr="bd05378_[1]" id="1358" name="Google Shape;1358;p53"/>
          <p:cNvPicPr preferRelativeResize="0"/>
          <p:nvPr/>
        </p:nvPicPr>
        <p:blipFill rotWithShape="1">
          <a:blip r:embed="rId3">
            <a:alphaModFix/>
          </a:blip>
          <a:srcRect b="0" l="0" r="0" t="0"/>
          <a:stretch/>
        </p:blipFill>
        <p:spPr>
          <a:xfrm flipH="1">
            <a:off x="8242300" y="2622550"/>
            <a:ext cx="839788" cy="509588"/>
          </a:xfrm>
          <a:prstGeom prst="rect">
            <a:avLst/>
          </a:prstGeom>
          <a:noFill/>
          <a:ln>
            <a:noFill/>
          </a:ln>
        </p:spPr>
      </p:pic>
      <p:sp>
        <p:nvSpPr>
          <p:cNvPr id="1359" name="Google Shape;1359;p53"/>
          <p:cNvSpPr/>
          <p:nvPr/>
        </p:nvSpPr>
        <p:spPr>
          <a:xfrm>
            <a:off x="6529388" y="3494088"/>
            <a:ext cx="692150" cy="99695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360" name="Google Shape;1360;p53"/>
          <p:cNvSpPr/>
          <p:nvPr/>
        </p:nvSpPr>
        <p:spPr>
          <a:xfrm>
            <a:off x="6532563" y="3486150"/>
            <a:ext cx="700087" cy="99695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361" name="Google Shape;1361;p53"/>
          <p:cNvSpPr/>
          <p:nvPr/>
        </p:nvSpPr>
        <p:spPr>
          <a:xfrm>
            <a:off x="6510338" y="4492625"/>
            <a:ext cx="715962" cy="1057275"/>
          </a:xfrm>
          <a:prstGeom prst="rect">
            <a:avLst/>
          </a:prstGeom>
          <a:solidFill>
            <a:srgbClr val="EAEAEA"/>
          </a:solidFill>
          <a:ln cap="flat" cmpd="sng" w="9525">
            <a:solidFill>
              <a:srgbClr val="EAEA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362" name="Google Shape;1362;p53"/>
          <p:cNvSpPr/>
          <p:nvPr/>
        </p:nvSpPr>
        <p:spPr>
          <a:xfrm>
            <a:off x="6532563" y="3476625"/>
            <a:ext cx="685800" cy="1011238"/>
          </a:xfrm>
          <a:prstGeom prst="rect">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363" name="Google Shape;1363;p53"/>
          <p:cNvSpPr/>
          <p:nvPr/>
        </p:nvSpPr>
        <p:spPr>
          <a:xfrm>
            <a:off x="4256088" y="4702175"/>
            <a:ext cx="4191000" cy="868363"/>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If friction and drag are both zero,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CONST.</a:t>
            </a:r>
            <a:endParaRPr/>
          </a:p>
        </p:txBody>
      </p:sp>
      <p:sp>
        <p:nvSpPr>
          <p:cNvPr id="1364" name="Google Shape;1364;p53"/>
          <p:cNvSpPr txBox="1"/>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Topic A: Space, time and motion</a:t>
            </a:r>
            <a:br>
              <a:rPr lang="en-US" sz="2800">
                <a:solidFill>
                  <a:schemeClr val="dk1"/>
                </a:solidFill>
                <a:latin typeface="Arial"/>
                <a:ea typeface="Arial"/>
                <a:cs typeface="Arial"/>
                <a:sym typeface="Arial"/>
              </a:rPr>
            </a:br>
            <a:r>
              <a:rPr lang="en-US" sz="2800">
                <a:solidFill>
                  <a:schemeClr val="dk1"/>
                </a:solidFill>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1365" name="Google Shape;1365;p53"/>
          <p:cNvSpPr/>
          <p:nvPr/>
        </p:nvSpPr>
        <p:spPr>
          <a:xfrm>
            <a:off x="5219700" y="2152650"/>
            <a:ext cx="3375025" cy="3730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rgbClr val="FF0000"/>
                </a:solidFill>
                <a:latin typeface="Arial"/>
                <a:ea typeface="Arial"/>
                <a:cs typeface="Arial"/>
                <a:sym typeface="Arial"/>
              </a:rPr>
              <a:t>E</a:t>
            </a:r>
            <a:r>
              <a:rPr baseline="-25000" lang="en-US" sz="2400">
                <a:solidFill>
                  <a:srgbClr val="FF0000"/>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rgbClr val="008000"/>
                </a:solidFill>
                <a:latin typeface="Arial"/>
                <a:ea typeface="Arial"/>
                <a:cs typeface="Arial"/>
                <a:sym typeface="Arial"/>
              </a:rPr>
              <a:t>E</a:t>
            </a:r>
            <a:r>
              <a:rPr baseline="-25000" lang="en-US" sz="2400">
                <a:solidFill>
                  <a:srgbClr val="008000"/>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CONST</a:t>
            </a:r>
            <a:endParaRPr sz="2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0"/>
                                        </p:tgtEl>
                                        <p:attrNameLst>
                                          <p:attrName>style.visibility</p:attrName>
                                        </p:attrNameLst>
                                      </p:cBhvr>
                                      <p:to>
                                        <p:strVal val="visible"/>
                                      </p:to>
                                    </p:set>
                                    <p:animEffect filter="fade" transition="in">
                                      <p:cBhvr>
                                        <p:cTn dur="2000"/>
                                        <p:tgtEl>
                                          <p:spTgt spid="1340"/>
                                        </p:tgtEl>
                                      </p:cBhvr>
                                    </p:animEffect>
                                  </p:childTnLst>
                                </p:cTn>
                              </p:par>
                              <p:par>
                                <p:cTn fill="hold" nodeType="withEffect" presetClass="entr" presetID="10" presetSubtype="0">
                                  <p:stCondLst>
                                    <p:cond delay="0"/>
                                  </p:stCondLst>
                                  <p:childTnLst>
                                    <p:set>
                                      <p:cBhvr>
                                        <p:cTn dur="1" fill="hold">
                                          <p:stCondLst>
                                            <p:cond delay="0"/>
                                          </p:stCondLst>
                                        </p:cTn>
                                        <p:tgtEl>
                                          <p:spTgt spid="1341"/>
                                        </p:tgtEl>
                                        <p:attrNameLst>
                                          <p:attrName>style.visibility</p:attrName>
                                        </p:attrNameLst>
                                      </p:cBhvr>
                                      <p:to>
                                        <p:strVal val="visible"/>
                                      </p:to>
                                    </p:set>
                                    <p:animEffect filter="fade" transition="in">
                                      <p:cBhvr>
                                        <p:cTn dur="2000"/>
                                        <p:tgtEl>
                                          <p:spTgt spid="1341"/>
                                        </p:tgtEl>
                                      </p:cBhvr>
                                    </p:animEffect>
                                  </p:childTnLst>
                                </p:cTn>
                              </p:par>
                              <p:par>
                                <p:cTn fill="hold" nodeType="withEffect" presetClass="entr" presetID="10" presetSubtype="0">
                                  <p:stCondLst>
                                    <p:cond delay="0"/>
                                  </p:stCondLst>
                                  <p:childTnLst>
                                    <p:set>
                                      <p:cBhvr>
                                        <p:cTn dur="1" fill="hold">
                                          <p:stCondLst>
                                            <p:cond delay="0"/>
                                          </p:stCondLst>
                                        </p:cTn>
                                        <p:tgtEl>
                                          <p:spTgt spid="1342"/>
                                        </p:tgtEl>
                                        <p:attrNameLst>
                                          <p:attrName>style.visibility</p:attrName>
                                        </p:attrNameLst>
                                      </p:cBhvr>
                                      <p:to>
                                        <p:strVal val="visible"/>
                                      </p:to>
                                    </p:set>
                                    <p:animEffect filter="fade" transition="in">
                                      <p:cBhvr>
                                        <p:cTn dur="2000"/>
                                        <p:tgtEl>
                                          <p:spTgt spid="1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358"/>
                                        </p:tgtEl>
                                        <p:attrNameLst>
                                          <p:attrName>style.visibility</p:attrName>
                                        </p:attrNameLst>
                                      </p:cBhvr>
                                      <p:to>
                                        <p:strVal val="visible"/>
                                      </p:to>
                                    </p:set>
                                    <p:anim calcmode="lin" valueType="num">
                                      <p:cBhvr additive="base">
                                        <p:cTn dur="500"/>
                                        <p:tgtEl>
                                          <p:spTgt spid="135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9"/>
                                        </p:tgtEl>
                                        <p:attrNameLst>
                                          <p:attrName>style.visibility</p:attrName>
                                        </p:attrNameLst>
                                      </p:cBhvr>
                                      <p:to>
                                        <p:strVal val="visible"/>
                                      </p:to>
                                    </p:set>
                                    <p:animEffect filter="fade" transition="in">
                                      <p:cBhvr>
                                        <p:cTn dur="500"/>
                                        <p:tgtEl>
                                          <p:spTgt spid="1359"/>
                                        </p:tgtEl>
                                      </p:cBhvr>
                                    </p:animEffect>
                                  </p:childTnLst>
                                </p:cTn>
                              </p:par>
                              <p:par>
                                <p:cTn fill="hold" nodeType="withEffect" presetClass="entr" presetID="10" presetSubtype="0">
                                  <p:stCondLst>
                                    <p:cond delay="0"/>
                                  </p:stCondLst>
                                  <p:childTnLst>
                                    <p:set>
                                      <p:cBhvr>
                                        <p:cTn dur="1" fill="hold">
                                          <p:stCondLst>
                                            <p:cond delay="0"/>
                                          </p:stCondLst>
                                        </p:cTn>
                                        <p:tgtEl>
                                          <p:spTgt spid="1360"/>
                                        </p:tgtEl>
                                        <p:attrNameLst>
                                          <p:attrName>style.visibility</p:attrName>
                                        </p:attrNameLst>
                                      </p:cBhvr>
                                      <p:to>
                                        <p:strVal val="visible"/>
                                      </p:to>
                                    </p:set>
                                    <p:animEffect filter="fade" transition="in">
                                      <p:cBhvr>
                                        <p:cTn dur="500"/>
                                        <p:tgtEl>
                                          <p:spTgt spid="1360"/>
                                        </p:tgtEl>
                                      </p:cBhvr>
                                    </p:animEffect>
                                  </p:childTnLst>
                                </p:cTn>
                              </p:par>
                              <p:par>
                                <p:cTn fill="hold" nodeType="withEffect" presetClass="entr" presetID="10" presetSubtype="0">
                                  <p:stCondLst>
                                    <p:cond delay="0"/>
                                  </p:stCondLst>
                                  <p:childTnLst>
                                    <p:set>
                                      <p:cBhvr>
                                        <p:cTn dur="1" fill="hold">
                                          <p:stCondLst>
                                            <p:cond delay="0"/>
                                          </p:stCondLst>
                                        </p:cTn>
                                        <p:tgtEl>
                                          <p:spTgt spid="1361"/>
                                        </p:tgtEl>
                                        <p:attrNameLst>
                                          <p:attrName>style.visibility</p:attrName>
                                        </p:attrNameLst>
                                      </p:cBhvr>
                                      <p:to>
                                        <p:strVal val="visible"/>
                                      </p:to>
                                    </p:set>
                                    <p:animEffect filter="fade" transition="in">
                                      <p:cBhvr>
                                        <p:cTn dur="500"/>
                                        <p:tgtEl>
                                          <p:spTgt spid="1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500"/>
                                        <p:tgtEl>
                                          <p:spTgt spid="1358"/>
                                        </p:tgtEl>
                                        <p:attrNameLst>
                                          <p:attrName>ppt_x</p:attrName>
                                        </p:attrNameLst>
                                      </p:cBhvr>
                                      <p:tavLst>
                                        <p:tav fmla="" tm="0">
                                          <p:val>
                                            <p:strVal val="#ppt_x"/>
                                          </p:val>
                                        </p:tav>
                                        <p:tav fmla="" tm="100000">
                                          <p:val>
                                            <p:strVal val="#ppt_x+1"/>
                                          </p:val>
                                        </p:tav>
                                      </p:tavLst>
                                    </p:anim>
                                    <p:set>
                                      <p:cBhvr>
                                        <p:cTn dur="1" fill="hold">
                                          <p:stCondLst>
                                            <p:cond delay="500"/>
                                          </p:stCondLst>
                                        </p:cTn>
                                        <p:tgtEl>
                                          <p:spTgt spid="13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2"/>
                                        </p:tgtEl>
                                        <p:attrNameLst>
                                          <p:attrName>style.visibility</p:attrName>
                                        </p:attrNameLst>
                                      </p:cBhvr>
                                      <p:to>
                                        <p:strVal val="visible"/>
                                      </p:to>
                                    </p:set>
                                    <p:animEffect filter="fade" transition="in">
                                      <p:cBhvr>
                                        <p:cTn dur="2000"/>
                                        <p:tgtEl>
                                          <p:spTgt spid="13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3">
                                            <p:txEl>
                                              <p:pRg end="0" st="0"/>
                                            </p:txEl>
                                          </p:spTgt>
                                        </p:tgtEl>
                                        <p:attrNameLst>
                                          <p:attrName>style.visibility</p:attrName>
                                        </p:attrNameLst>
                                      </p:cBhvr>
                                      <p:to>
                                        <p:strVal val="visible"/>
                                      </p:to>
                                    </p:set>
                                    <p:anim calcmode="lin" valueType="num">
                                      <p:cBhvr additive="base">
                                        <p:cTn dur="500"/>
                                        <p:tgtEl>
                                          <p:spTgt spid="136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365"/>
                                        </p:tgtEl>
                                        <p:attrNameLst>
                                          <p:attrName>style.visibility</p:attrName>
                                        </p:attrNameLst>
                                      </p:cBhvr>
                                      <p:to>
                                        <p:strVal val="visible"/>
                                      </p:to>
                                    </p:set>
                                    <p:anim calcmode="lin" valueType="num">
                                      <p:cBhvr additive="base">
                                        <p:cTn dur="1000"/>
                                        <p:tgtEl>
                                          <p:spTgt spid="136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54"/>
          <p:cNvSpPr/>
          <p:nvPr/>
        </p:nvSpPr>
        <p:spPr>
          <a:xfrm>
            <a:off x="8502650" y="1577975"/>
            <a:ext cx="692150" cy="99695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372" name="Google Shape;1372;p54"/>
          <p:cNvSpPr/>
          <p:nvPr/>
        </p:nvSpPr>
        <p:spPr>
          <a:xfrm>
            <a:off x="8505825" y="1570038"/>
            <a:ext cx="700088" cy="99695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373" name="Google Shape;1373;p54"/>
          <p:cNvSpPr/>
          <p:nvPr/>
        </p:nvSpPr>
        <p:spPr>
          <a:xfrm>
            <a:off x="8483600" y="2576513"/>
            <a:ext cx="715963" cy="1057275"/>
          </a:xfrm>
          <a:prstGeom prst="rect">
            <a:avLst/>
          </a:prstGeom>
          <a:solidFill>
            <a:schemeClr val="lt1"/>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374" name="Google Shape;1374;p54"/>
          <p:cNvSpPr/>
          <p:nvPr/>
        </p:nvSpPr>
        <p:spPr>
          <a:xfrm>
            <a:off x="8505825" y="1560513"/>
            <a:ext cx="685800" cy="1011237"/>
          </a:xfrm>
          <a:prstGeom prst="rect">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375" name="Google Shape;1375;p54"/>
          <p:cNvSpPr/>
          <p:nvPr/>
        </p:nvSpPr>
        <p:spPr>
          <a:xfrm>
            <a:off x="674688" y="2378075"/>
            <a:ext cx="7781925" cy="447992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Suppose a                                                     1.25-kg  mass is                                                             connected to a spring that                                                       has a constant of 25.0 Nm</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and                                           is displaced 4.00 m before being                                                                                      released. Find the maximum                                    velocity of the mass during its cycle.</a:t>
            </a:r>
            <a:endParaRPr/>
          </a:p>
          <a:p>
            <a:pPr indent="0" lvl="0" marL="0" marR="0" rtl="0" algn="l">
              <a:spcBef>
                <a:spcPts val="600"/>
              </a:spcBef>
              <a:spcAft>
                <a:spcPts val="0"/>
              </a:spcAft>
              <a:buNone/>
            </a:pPr>
            <a:r>
              <a:rPr lang="en-US" sz="2400">
                <a:solidFill>
                  <a:schemeClr val="dk1"/>
                </a:solidFill>
                <a:latin typeface="Arial"/>
                <a:ea typeface="Arial"/>
                <a:cs typeface="Arial"/>
                <a:sym typeface="Arial"/>
              </a:rPr>
              <a:t>SOLUTION:  Use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0 and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max</a:t>
            </a:r>
            <a:r>
              <a:rPr lang="en-US" sz="2400">
                <a:solidFill>
                  <a:schemeClr val="dk1"/>
                </a:solidFill>
                <a:latin typeface="Arial"/>
                <a:ea typeface="Arial"/>
                <a:cs typeface="Arial"/>
                <a:sym typeface="Arial"/>
              </a:rPr>
              <a:t> at </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0.</a:t>
            </a:r>
            <a:endParaRPr/>
          </a:p>
          <a:p>
            <a:pPr indent="0" lvl="0" marL="0" marR="0" rtl="0" algn="l">
              <a:spcBef>
                <a:spcPts val="600"/>
              </a:spcBef>
              <a:spcAft>
                <a:spcPts val="0"/>
              </a:spcAft>
              <a:buNone/>
            </a:pPr>
            <a:r>
              <a:rPr lang="en-US" sz="2400">
                <a:solidFill>
                  <a:schemeClr val="dk1"/>
                </a:solidFill>
                <a:latin typeface="Arial"/>
                <a:ea typeface="Arial"/>
                <a:cs typeface="Arial"/>
                <a:sym typeface="Arial"/>
              </a:rPr>
              <a:t>     (1/2)</a:t>
            </a:r>
            <a:r>
              <a:rPr i="1" lang="en-US" sz="2400">
                <a:solidFill>
                  <a:schemeClr val="dk1"/>
                </a:solidFill>
                <a:latin typeface="Arial"/>
                <a:ea typeface="Arial"/>
                <a:cs typeface="Arial"/>
                <a:sym typeface="Arial"/>
              </a:rPr>
              <a:t>mv</a:t>
            </a:r>
            <a:r>
              <a:rPr baseline="-25000" i="1" lang="en-US" sz="2400">
                <a:solidFill>
                  <a:schemeClr val="dk1"/>
                </a:solidFill>
                <a:latin typeface="Arial"/>
                <a:ea typeface="Arial"/>
                <a:cs typeface="Arial"/>
                <a:sym typeface="Arial"/>
              </a:rPr>
              <a:t>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mu</a:t>
            </a:r>
            <a:r>
              <a:rPr baseline="-25000" i="1" lang="en-US" sz="2400">
                <a:solidFill>
                  <a:schemeClr val="dk1"/>
                </a:solidFill>
                <a:latin typeface="Arial"/>
                <a:ea typeface="Arial"/>
                <a:cs typeface="Arial"/>
                <a:sym typeface="Arial"/>
              </a:rPr>
              <a:t>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k</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f</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lang="en-US" sz="2400">
                <a:solidFill>
                  <a:srgbClr val="000000"/>
                </a:solidFill>
                <a:latin typeface="Arial"/>
                <a:ea typeface="Arial"/>
                <a:cs typeface="Arial"/>
                <a:sym typeface="Arial"/>
              </a:rPr>
              <a:t>(1/2)</a:t>
            </a:r>
            <a:r>
              <a:rPr i="1" lang="en-US" sz="2400">
                <a:solidFill>
                  <a:srgbClr val="000000"/>
                </a:solidFill>
                <a:latin typeface="Arial"/>
                <a:ea typeface="Arial"/>
                <a:cs typeface="Arial"/>
                <a:sym typeface="Arial"/>
              </a:rPr>
              <a:t>k</a:t>
            </a:r>
            <a:r>
              <a:rPr lang="en-US" sz="2400">
                <a:solidFill>
                  <a:srgbClr val="000000"/>
                </a:solidFill>
                <a:latin typeface="Arial"/>
                <a:ea typeface="Arial"/>
                <a:cs typeface="Arial"/>
                <a:sym typeface="Arial"/>
              </a:rPr>
              <a:t>∆</a:t>
            </a:r>
            <a:r>
              <a:rPr i="1" lang="en-US" sz="2400">
                <a:solidFill>
                  <a:srgbClr val="000000"/>
                </a:solidFill>
                <a:latin typeface="Arial"/>
                <a:ea typeface="Arial"/>
                <a:cs typeface="Arial"/>
                <a:sym typeface="Arial"/>
              </a:rPr>
              <a:t>x</a:t>
            </a:r>
            <a:r>
              <a:rPr baseline="-25000" lang="en-US" sz="2400">
                <a:solidFill>
                  <a:srgbClr val="000000"/>
                </a:solidFill>
                <a:latin typeface="Arial"/>
                <a:ea typeface="Arial"/>
                <a:cs typeface="Arial"/>
                <a:sym typeface="Arial"/>
              </a:rPr>
              <a:t>0</a:t>
            </a:r>
            <a:r>
              <a:rPr baseline="30000" lang="en-US" sz="2400">
                <a:solidFill>
                  <a:srgbClr val="000000"/>
                </a:solidFill>
                <a:latin typeface="Arial"/>
                <a:ea typeface="Arial"/>
                <a:cs typeface="Arial"/>
                <a:sym typeface="Arial"/>
              </a:rPr>
              <a:t>2</a:t>
            </a:r>
            <a:r>
              <a:rPr lang="en-US" sz="2400">
                <a:solidFill>
                  <a:srgbClr val="000000"/>
                </a:solidFill>
                <a:latin typeface="Arial"/>
                <a:ea typeface="Arial"/>
                <a:cs typeface="Arial"/>
                <a:sym typeface="Arial"/>
              </a:rPr>
              <a:t> </a:t>
            </a:r>
            <a:r>
              <a:rPr lang="en-US" sz="2400">
                <a:solidFill>
                  <a:schemeClr val="dk1"/>
                </a:solidFill>
                <a:latin typeface="Arial"/>
                <a:ea typeface="Arial"/>
                <a:cs typeface="Arial"/>
                <a:sym typeface="Arial"/>
              </a:rPr>
              <a:t> = 0</a:t>
            </a:r>
            <a:endParaRPr/>
          </a:p>
          <a:p>
            <a:pPr indent="0" lvl="0" marL="0" marR="0" rtl="0" algn="l">
              <a:spcBef>
                <a:spcPts val="60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(1/2)(1.25)</a:t>
            </a:r>
            <a:r>
              <a:rPr i="1" lang="en-US" sz="2400">
                <a:solidFill>
                  <a:schemeClr val="dk1"/>
                </a:solidFill>
                <a:latin typeface="Arial"/>
                <a:ea typeface="Arial"/>
                <a:cs typeface="Arial"/>
                <a:sym typeface="Arial"/>
              </a:rPr>
              <a:t>v</a:t>
            </a:r>
            <a:r>
              <a:rPr baseline="-25000" i="1" lang="en-US" sz="2400">
                <a:solidFill>
                  <a:schemeClr val="dk1"/>
                </a:solidFill>
                <a:latin typeface="Arial"/>
                <a:ea typeface="Arial"/>
                <a:cs typeface="Arial"/>
                <a:sym typeface="Arial"/>
              </a:rPr>
              <a:t>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(1/2)(25)0</a:t>
            </a:r>
            <a:r>
              <a:rPr baseline="-25000" lang="en-US" sz="2400">
                <a:solidFill>
                  <a:schemeClr val="dk1"/>
                </a:solidFill>
                <a:latin typeface="Arial"/>
                <a:ea typeface="Arial"/>
                <a:cs typeface="Arial"/>
                <a:sym typeface="Arial"/>
              </a:rPr>
              <a:t>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(1/2)(25)(4</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0</a:t>
            </a:r>
            <a:endParaRPr/>
          </a:p>
          <a:p>
            <a:pPr indent="0" lvl="0" marL="0" marR="0" rtl="0" algn="l">
              <a:spcBef>
                <a:spcPts val="600"/>
              </a:spcBef>
              <a:spcAft>
                <a:spcPts val="0"/>
              </a:spcAft>
              <a:buClr>
                <a:schemeClr val="dk1"/>
              </a:buClr>
              <a:buSzPts val="2400"/>
              <a:buFont typeface="Noto Sans Symbols"/>
              <a:buNone/>
            </a:pPr>
            <a:r>
              <a:rPr i="1" lang="en-US" sz="2400">
                <a:solidFill>
                  <a:schemeClr val="dk1"/>
                </a:solidFill>
                <a:latin typeface="Arial"/>
                <a:ea typeface="Arial"/>
                <a:cs typeface="Arial"/>
                <a:sym typeface="Arial"/>
              </a:rPr>
              <a:t>                                  v </a:t>
            </a:r>
            <a:r>
              <a:rPr lang="en-US" sz="2400">
                <a:solidFill>
                  <a:schemeClr val="dk1"/>
                </a:solidFill>
                <a:latin typeface="Arial"/>
                <a:ea typeface="Arial"/>
                <a:cs typeface="Arial"/>
                <a:sym typeface="Arial"/>
              </a:rPr>
              <a:t>= 17.9 ms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a:p>
        </p:txBody>
      </p:sp>
      <p:sp>
        <p:nvSpPr>
          <p:cNvPr id="1376" name="Google Shape;1376;p54"/>
          <p:cNvSpPr/>
          <p:nvPr/>
        </p:nvSpPr>
        <p:spPr>
          <a:xfrm>
            <a:off x="685800" y="1549400"/>
            <a:ext cx="7772400" cy="86995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3399"/>
              </a:buClr>
              <a:buSzPts val="2400"/>
              <a:buFont typeface="Arial"/>
              <a:buNone/>
            </a:pPr>
            <a:r>
              <a:rPr i="1" lang="en-US" sz="2400">
                <a:solidFill>
                  <a:srgbClr val="333399"/>
                </a:solidFill>
                <a:latin typeface="Arial"/>
                <a:ea typeface="Arial"/>
                <a:cs typeface="Arial"/>
                <a:sym typeface="Arial"/>
              </a:rPr>
              <a:t>Discussing the conservation of total energy within energy transformations</a:t>
            </a:r>
            <a:endParaRPr sz="2000">
              <a:solidFill>
                <a:schemeClr val="dk1"/>
              </a:solidFill>
              <a:latin typeface="Courier New"/>
              <a:ea typeface="Courier New"/>
              <a:cs typeface="Courier New"/>
              <a:sym typeface="Courier New"/>
            </a:endParaRPr>
          </a:p>
        </p:txBody>
      </p:sp>
      <p:sp>
        <p:nvSpPr>
          <p:cNvPr id="1377" name="Google Shape;1377;p5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cxnSp>
        <p:nvCxnSpPr>
          <p:cNvPr id="1378" name="Google Shape;1378;p54"/>
          <p:cNvCxnSpPr/>
          <p:nvPr/>
        </p:nvCxnSpPr>
        <p:spPr>
          <a:xfrm flipH="1" rot="10800000">
            <a:off x="2830513" y="5545138"/>
            <a:ext cx="946150" cy="301625"/>
          </a:xfrm>
          <a:prstGeom prst="straightConnector1">
            <a:avLst/>
          </a:prstGeom>
          <a:noFill/>
          <a:ln cap="flat" cmpd="sng" w="28575">
            <a:solidFill>
              <a:srgbClr val="FF3300"/>
            </a:solidFill>
            <a:prstDash val="solid"/>
            <a:round/>
            <a:headEnd len="med" w="med" type="none"/>
            <a:tailEnd len="med" w="med" type="none"/>
          </a:ln>
        </p:spPr>
      </p:cxnSp>
      <p:cxnSp>
        <p:nvCxnSpPr>
          <p:cNvPr id="1379" name="Google Shape;1379;p54"/>
          <p:cNvCxnSpPr/>
          <p:nvPr/>
        </p:nvCxnSpPr>
        <p:spPr>
          <a:xfrm flipH="1" rot="10800000">
            <a:off x="1452563" y="6019800"/>
            <a:ext cx="482600" cy="276225"/>
          </a:xfrm>
          <a:prstGeom prst="straightConnector1">
            <a:avLst/>
          </a:prstGeom>
          <a:noFill/>
          <a:ln cap="flat" cmpd="sng" w="28575">
            <a:solidFill>
              <a:srgbClr val="FF3300"/>
            </a:solidFill>
            <a:prstDash val="solid"/>
            <a:round/>
            <a:headEnd len="med" w="med" type="none"/>
            <a:tailEnd len="med" w="med" type="none"/>
          </a:ln>
        </p:spPr>
      </p:cxnSp>
      <p:sp>
        <p:nvSpPr>
          <p:cNvPr id="1380" name="Google Shape;1380;p54"/>
          <p:cNvSpPr/>
          <p:nvPr/>
        </p:nvSpPr>
        <p:spPr>
          <a:xfrm>
            <a:off x="4491038" y="2611438"/>
            <a:ext cx="3989387" cy="533400"/>
          </a:xfrm>
          <a:custGeom>
            <a:rect b="b" l="l" r="r" t="t"/>
            <a:pathLst>
              <a:path extrusionOk="0" h="336" w="1056">
                <a:moveTo>
                  <a:pt x="0" y="168"/>
                </a:moveTo>
                <a:cubicBezTo>
                  <a:pt x="32" y="180"/>
                  <a:pt x="64" y="192"/>
                  <a:pt x="96" y="168"/>
                </a:cubicBezTo>
                <a:cubicBezTo>
                  <a:pt x="128" y="144"/>
                  <a:pt x="160" y="0"/>
                  <a:pt x="192" y="24"/>
                </a:cubicBezTo>
                <a:cubicBezTo>
                  <a:pt x="224" y="48"/>
                  <a:pt x="256" y="312"/>
                  <a:pt x="288" y="312"/>
                </a:cubicBezTo>
                <a:cubicBezTo>
                  <a:pt x="320" y="312"/>
                  <a:pt x="352" y="24"/>
                  <a:pt x="384" y="24"/>
                </a:cubicBezTo>
                <a:cubicBezTo>
                  <a:pt x="416" y="24"/>
                  <a:pt x="448" y="312"/>
                  <a:pt x="480" y="312"/>
                </a:cubicBezTo>
                <a:cubicBezTo>
                  <a:pt x="512" y="312"/>
                  <a:pt x="544" y="24"/>
                  <a:pt x="576" y="24"/>
                </a:cubicBezTo>
                <a:cubicBezTo>
                  <a:pt x="608" y="24"/>
                  <a:pt x="640" y="312"/>
                  <a:pt x="672" y="312"/>
                </a:cubicBezTo>
                <a:cubicBezTo>
                  <a:pt x="704" y="312"/>
                  <a:pt x="736" y="24"/>
                  <a:pt x="768" y="24"/>
                </a:cubicBezTo>
                <a:cubicBezTo>
                  <a:pt x="800" y="24"/>
                  <a:pt x="832" y="288"/>
                  <a:pt x="864" y="312"/>
                </a:cubicBezTo>
                <a:cubicBezTo>
                  <a:pt x="896" y="336"/>
                  <a:pt x="928" y="192"/>
                  <a:pt x="960" y="168"/>
                </a:cubicBezTo>
                <a:cubicBezTo>
                  <a:pt x="992" y="144"/>
                  <a:pt x="1024" y="156"/>
                  <a:pt x="1056" y="168"/>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381" name="Google Shape;1381;p54"/>
          <p:cNvSpPr/>
          <p:nvPr/>
        </p:nvSpPr>
        <p:spPr>
          <a:xfrm>
            <a:off x="8120063" y="2611438"/>
            <a:ext cx="609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nvGrpSpPr>
          <p:cNvPr id="1382" name="Google Shape;1382;p54"/>
          <p:cNvGrpSpPr/>
          <p:nvPr/>
        </p:nvGrpSpPr>
        <p:grpSpPr>
          <a:xfrm>
            <a:off x="4479925" y="2611438"/>
            <a:ext cx="4664075" cy="1346200"/>
            <a:chOff x="1708" y="3117"/>
            <a:chExt cx="2938" cy="848"/>
          </a:xfrm>
        </p:grpSpPr>
        <p:sp>
          <p:nvSpPr>
            <p:cNvPr descr="Light upward diagonal" id="1383" name="Google Shape;1383;p54"/>
            <p:cNvSpPr/>
            <p:nvPr/>
          </p:nvSpPr>
          <p:spPr>
            <a:xfrm>
              <a:off x="1708" y="3117"/>
              <a:ext cx="2938" cy="432"/>
            </a:xfrm>
            <a:custGeom>
              <a:rect b="b" l="l" r="r" t="t"/>
              <a:pathLst>
                <a:path extrusionOk="0" h="432" w="2938">
                  <a:moveTo>
                    <a:pt x="2929" y="425"/>
                  </a:moveTo>
                  <a:lnTo>
                    <a:pt x="2938" y="329"/>
                  </a:lnTo>
                  <a:lnTo>
                    <a:pt x="96" y="336"/>
                  </a:lnTo>
                  <a:lnTo>
                    <a:pt x="96" y="0"/>
                  </a:lnTo>
                  <a:lnTo>
                    <a:pt x="0" y="0"/>
                  </a:lnTo>
                  <a:lnTo>
                    <a:pt x="0" y="432"/>
                  </a:lnTo>
                  <a:lnTo>
                    <a:pt x="2929" y="425"/>
                  </a:lnTo>
                  <a:close/>
                </a:path>
              </a:pathLst>
            </a:custGeom>
            <a:solidFill>
              <a:srgbClr val="FFCC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384" name="Google Shape;1384;p54"/>
            <p:cNvSpPr/>
            <p:nvPr/>
          </p:nvSpPr>
          <p:spPr>
            <a:xfrm>
              <a:off x="1813" y="3117"/>
              <a:ext cx="2833" cy="339"/>
            </a:xfrm>
            <a:custGeom>
              <a:rect b="b" l="l" r="r" t="t"/>
              <a:pathLst>
                <a:path extrusionOk="0" h="339" w="2833">
                  <a:moveTo>
                    <a:pt x="2833" y="339"/>
                  </a:moveTo>
                  <a:lnTo>
                    <a:pt x="0" y="336"/>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1385" name="Google Shape;1385;p54"/>
            <p:cNvGrpSpPr/>
            <p:nvPr/>
          </p:nvGrpSpPr>
          <p:grpSpPr>
            <a:xfrm>
              <a:off x="2361" y="3117"/>
              <a:ext cx="2084" cy="848"/>
              <a:chOff x="2688" y="1584"/>
              <a:chExt cx="2084" cy="848"/>
            </a:xfrm>
          </p:grpSpPr>
          <p:cxnSp>
            <p:nvCxnSpPr>
              <p:cNvPr id="1386" name="Google Shape;1386;p54"/>
              <p:cNvCxnSpPr/>
              <p:nvPr/>
            </p:nvCxnSpPr>
            <p:spPr>
              <a:xfrm>
                <a:off x="3552" y="1584"/>
                <a:ext cx="0" cy="624"/>
              </a:xfrm>
              <a:prstGeom prst="straightConnector1">
                <a:avLst/>
              </a:prstGeom>
              <a:noFill/>
              <a:ln cap="flat" cmpd="sng" w="9525">
                <a:solidFill>
                  <a:schemeClr val="dk1"/>
                </a:solidFill>
                <a:prstDash val="dash"/>
                <a:round/>
                <a:headEnd len="med" w="med" type="none"/>
                <a:tailEnd len="med" w="med" type="none"/>
              </a:ln>
            </p:spPr>
          </p:cxnSp>
          <p:cxnSp>
            <p:nvCxnSpPr>
              <p:cNvPr id="1387" name="Google Shape;1387;p54"/>
              <p:cNvCxnSpPr/>
              <p:nvPr/>
            </p:nvCxnSpPr>
            <p:spPr>
              <a:xfrm>
                <a:off x="2688" y="2112"/>
                <a:ext cx="1868" cy="0"/>
              </a:xfrm>
              <a:prstGeom prst="straightConnector1">
                <a:avLst/>
              </a:prstGeom>
              <a:noFill/>
              <a:ln cap="flat" cmpd="sng" w="9525">
                <a:solidFill>
                  <a:schemeClr val="dk1"/>
                </a:solidFill>
                <a:prstDash val="solid"/>
                <a:round/>
                <a:headEnd len="med" w="med" type="none"/>
                <a:tailEnd len="med" w="med" type="triangle"/>
              </a:ln>
            </p:spPr>
          </p:cxnSp>
          <p:sp>
            <p:nvSpPr>
              <p:cNvPr id="1388" name="Google Shape;1388;p54"/>
              <p:cNvSpPr txBox="1"/>
              <p:nvPr/>
            </p:nvSpPr>
            <p:spPr>
              <a:xfrm>
                <a:off x="4560" y="1970"/>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x</a:t>
                </a:r>
                <a:endParaRPr/>
              </a:p>
            </p:txBody>
          </p:sp>
          <p:sp>
            <p:nvSpPr>
              <p:cNvPr id="1389" name="Google Shape;1389;p54"/>
              <p:cNvSpPr txBox="1"/>
              <p:nvPr/>
            </p:nvSpPr>
            <p:spPr>
              <a:xfrm>
                <a:off x="3454" y="2240"/>
                <a:ext cx="116"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cxnSp>
            <p:nvCxnSpPr>
              <p:cNvPr id="1390" name="Google Shape;1390;p54"/>
              <p:cNvCxnSpPr/>
              <p:nvPr/>
            </p:nvCxnSpPr>
            <p:spPr>
              <a:xfrm>
                <a:off x="3744"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391" name="Google Shape;1391;p54"/>
              <p:cNvCxnSpPr/>
              <p:nvPr/>
            </p:nvCxnSpPr>
            <p:spPr>
              <a:xfrm>
                <a:off x="3936"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392" name="Google Shape;1392;p54"/>
              <p:cNvCxnSpPr/>
              <p:nvPr/>
            </p:nvCxnSpPr>
            <p:spPr>
              <a:xfrm>
                <a:off x="4128"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393" name="Google Shape;1393;p54"/>
              <p:cNvCxnSpPr/>
              <p:nvPr/>
            </p:nvCxnSpPr>
            <p:spPr>
              <a:xfrm>
                <a:off x="4320"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394" name="Google Shape;1394;p54"/>
              <p:cNvCxnSpPr/>
              <p:nvPr/>
            </p:nvCxnSpPr>
            <p:spPr>
              <a:xfrm>
                <a:off x="3360"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395" name="Google Shape;1395;p54"/>
              <p:cNvCxnSpPr/>
              <p:nvPr/>
            </p:nvCxnSpPr>
            <p:spPr>
              <a:xfrm>
                <a:off x="3168"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396" name="Google Shape;1396;p54"/>
              <p:cNvCxnSpPr/>
              <p:nvPr/>
            </p:nvCxnSpPr>
            <p:spPr>
              <a:xfrm>
                <a:off x="2976"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397" name="Google Shape;1397;p54"/>
              <p:cNvCxnSpPr/>
              <p:nvPr/>
            </p:nvCxnSpPr>
            <p:spPr>
              <a:xfrm>
                <a:off x="2784" y="1920"/>
                <a:ext cx="0" cy="192"/>
              </a:xfrm>
              <a:prstGeom prst="straightConnector1">
                <a:avLst/>
              </a:prstGeom>
              <a:noFill/>
              <a:ln cap="flat" cmpd="sng" w="9525">
                <a:solidFill>
                  <a:schemeClr val="dk1"/>
                </a:solidFill>
                <a:prstDash val="dash"/>
                <a:round/>
                <a:headEnd len="med" w="med" type="none"/>
                <a:tailEnd len="med" w="med" type="none"/>
              </a:ln>
            </p:spPr>
          </p:cxnSp>
        </p:grpSp>
      </p:grpSp>
      <p:pic>
        <p:nvPicPr>
          <p:cNvPr descr="bd05378_[1]" id="1398" name="Google Shape;1398;p54"/>
          <p:cNvPicPr preferRelativeResize="0"/>
          <p:nvPr/>
        </p:nvPicPr>
        <p:blipFill rotWithShape="1">
          <a:blip r:embed="rId3">
            <a:alphaModFix/>
          </a:blip>
          <a:srcRect b="0" l="0" r="0" t="0"/>
          <a:stretch/>
        </p:blipFill>
        <p:spPr>
          <a:xfrm flipH="1">
            <a:off x="8242300" y="2622550"/>
            <a:ext cx="839788" cy="509588"/>
          </a:xfrm>
          <a:prstGeom prst="rect">
            <a:avLst/>
          </a:prstGeom>
          <a:noFill/>
          <a:ln>
            <a:noFill/>
          </a:ln>
        </p:spPr>
      </p:pic>
      <p:sp>
        <p:nvSpPr>
          <p:cNvPr id="1399" name="Google Shape;1399;p54"/>
          <p:cNvSpPr/>
          <p:nvPr/>
        </p:nvSpPr>
        <p:spPr>
          <a:xfrm>
            <a:off x="5219700" y="2152650"/>
            <a:ext cx="3375025" cy="3730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rgbClr val="FF0000"/>
                </a:solidFill>
                <a:latin typeface="Arial"/>
                <a:ea typeface="Arial"/>
                <a:cs typeface="Arial"/>
                <a:sym typeface="Arial"/>
              </a:rPr>
              <a:t>E</a:t>
            </a:r>
            <a:r>
              <a:rPr baseline="-25000" lang="en-US" sz="2400">
                <a:solidFill>
                  <a:srgbClr val="FF0000"/>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rgbClr val="008000"/>
                </a:solidFill>
                <a:latin typeface="Arial"/>
                <a:ea typeface="Arial"/>
                <a:cs typeface="Arial"/>
                <a:sym typeface="Arial"/>
              </a:rPr>
              <a:t>E</a:t>
            </a:r>
            <a:r>
              <a:rPr baseline="-25000" lang="en-US" sz="2400">
                <a:solidFill>
                  <a:srgbClr val="008000"/>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CONST</a:t>
            </a:r>
            <a:endParaRPr sz="2400">
              <a:solidFill>
                <a:schemeClr val="dk1"/>
              </a:solidFill>
              <a:latin typeface="Arial"/>
              <a:ea typeface="Arial"/>
              <a:cs typeface="Arial"/>
              <a:sym typeface="Arial"/>
            </a:endParaRPr>
          </a:p>
        </p:txBody>
      </p:sp>
      <p:sp>
        <p:nvSpPr>
          <p:cNvPr id="1400" name="Google Shape;1400;p54"/>
          <p:cNvSpPr/>
          <p:nvPr/>
        </p:nvSpPr>
        <p:spPr>
          <a:xfrm>
            <a:off x="5219700" y="3636963"/>
            <a:ext cx="3238500" cy="808037"/>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Assume the friction force is zero.</a:t>
            </a:r>
            <a:endParaRPr sz="2400">
              <a:solidFill>
                <a:schemeClr val="dk1"/>
              </a:solidFill>
              <a:latin typeface="Arial"/>
              <a:ea typeface="Arial"/>
              <a:cs typeface="Arial"/>
              <a:sym typeface="Arial"/>
            </a:endParaRPr>
          </a:p>
        </p:txBody>
      </p:sp>
      <p:cxnSp>
        <p:nvCxnSpPr>
          <p:cNvPr id="1401" name="Google Shape;1401;p54"/>
          <p:cNvCxnSpPr/>
          <p:nvPr/>
        </p:nvCxnSpPr>
        <p:spPr>
          <a:xfrm flipH="1" rot="10800000">
            <a:off x="3535363" y="6019800"/>
            <a:ext cx="482600" cy="276225"/>
          </a:xfrm>
          <a:prstGeom prst="straightConnector1">
            <a:avLst/>
          </a:prstGeom>
          <a:noFill/>
          <a:ln cap="flat" cmpd="sng" w="28575">
            <a:solidFill>
              <a:srgbClr val="FF3300"/>
            </a:solidFill>
            <a:prstDash val="solid"/>
            <a:round/>
            <a:headEnd len="med" w="med" type="none"/>
            <a:tailEnd len="med" w="med" type="none"/>
          </a:ln>
        </p:spPr>
      </p:cxnSp>
      <p:cxnSp>
        <p:nvCxnSpPr>
          <p:cNvPr id="1402" name="Google Shape;1402;p54"/>
          <p:cNvCxnSpPr/>
          <p:nvPr/>
        </p:nvCxnSpPr>
        <p:spPr>
          <a:xfrm flipH="1" rot="10800000">
            <a:off x="5427663" y="6034088"/>
            <a:ext cx="482600" cy="276225"/>
          </a:xfrm>
          <a:prstGeom prst="straightConnector1">
            <a:avLst/>
          </a:prstGeom>
          <a:noFill/>
          <a:ln cap="flat" cmpd="sng" w="28575">
            <a:solidFill>
              <a:srgbClr val="FF33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5">
                                            <p:txEl>
                                              <p:pRg end="0" st="0"/>
                                            </p:txEl>
                                          </p:spTgt>
                                        </p:tgtEl>
                                        <p:attrNameLst>
                                          <p:attrName>style.visibility</p:attrName>
                                        </p:attrNameLst>
                                      </p:cBhvr>
                                      <p:to>
                                        <p:strVal val="visible"/>
                                      </p:to>
                                    </p:set>
                                    <p:anim calcmode="lin" valueType="num">
                                      <p:cBhvr additive="base">
                                        <p:cTn dur="500"/>
                                        <p:tgtEl>
                                          <p:spTgt spid="137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5">
                                            <p:txEl>
                                              <p:pRg end="1" st="1"/>
                                            </p:txEl>
                                          </p:spTgt>
                                        </p:tgtEl>
                                        <p:attrNameLst>
                                          <p:attrName>style.visibility</p:attrName>
                                        </p:attrNameLst>
                                      </p:cBhvr>
                                      <p:to>
                                        <p:strVal val="visible"/>
                                      </p:to>
                                    </p:set>
                                    <p:anim calcmode="lin" valueType="num">
                                      <p:cBhvr additive="base">
                                        <p:cTn dur="500"/>
                                        <p:tgtEl>
                                          <p:spTgt spid="137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5">
                                            <p:txEl>
                                              <p:pRg end="2" st="2"/>
                                            </p:txEl>
                                          </p:spTgt>
                                        </p:tgtEl>
                                        <p:attrNameLst>
                                          <p:attrName>style.visibility</p:attrName>
                                        </p:attrNameLst>
                                      </p:cBhvr>
                                      <p:to>
                                        <p:strVal val="visible"/>
                                      </p:to>
                                    </p:set>
                                    <p:anim calcmode="lin" valueType="num">
                                      <p:cBhvr additive="base">
                                        <p:cTn dur="500"/>
                                        <p:tgtEl>
                                          <p:spTgt spid="137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5">
                                            <p:txEl>
                                              <p:pRg end="3" st="3"/>
                                            </p:txEl>
                                          </p:spTgt>
                                        </p:tgtEl>
                                        <p:attrNameLst>
                                          <p:attrName>style.visibility</p:attrName>
                                        </p:attrNameLst>
                                      </p:cBhvr>
                                      <p:to>
                                        <p:strVal val="visible"/>
                                      </p:to>
                                    </p:set>
                                    <p:anim calcmode="lin" valueType="num">
                                      <p:cBhvr additive="base">
                                        <p:cTn dur="500"/>
                                        <p:tgtEl>
                                          <p:spTgt spid="137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5">
                                            <p:txEl>
                                              <p:pRg end="4" st="4"/>
                                            </p:txEl>
                                          </p:spTgt>
                                        </p:tgtEl>
                                        <p:attrNameLst>
                                          <p:attrName>style.visibility</p:attrName>
                                        </p:attrNameLst>
                                      </p:cBhvr>
                                      <p:to>
                                        <p:strVal val="visible"/>
                                      </p:to>
                                    </p:set>
                                    <p:anim calcmode="lin" valueType="num">
                                      <p:cBhvr additive="base">
                                        <p:cTn dur="500"/>
                                        <p:tgtEl>
                                          <p:spTgt spid="137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0"/>
                                        </p:tgtEl>
                                        <p:attrNameLst>
                                          <p:attrName>style.visibility</p:attrName>
                                        </p:attrNameLst>
                                      </p:cBhvr>
                                      <p:to>
                                        <p:strVal val="visible"/>
                                      </p:to>
                                    </p:set>
                                    <p:animEffect filter="fade" transition="in">
                                      <p:cBhvr>
                                        <p:cTn dur="2000"/>
                                        <p:tgtEl>
                                          <p:spTgt spid="1380"/>
                                        </p:tgtEl>
                                      </p:cBhvr>
                                    </p:animEffect>
                                  </p:childTnLst>
                                </p:cTn>
                              </p:par>
                              <p:par>
                                <p:cTn fill="hold" nodeType="withEffect" presetClass="entr" presetID="10" presetSubtype="0">
                                  <p:stCondLst>
                                    <p:cond delay="0"/>
                                  </p:stCondLst>
                                  <p:childTnLst>
                                    <p:set>
                                      <p:cBhvr>
                                        <p:cTn dur="1" fill="hold">
                                          <p:stCondLst>
                                            <p:cond delay="0"/>
                                          </p:stCondLst>
                                        </p:cTn>
                                        <p:tgtEl>
                                          <p:spTgt spid="1381"/>
                                        </p:tgtEl>
                                        <p:attrNameLst>
                                          <p:attrName>style.visibility</p:attrName>
                                        </p:attrNameLst>
                                      </p:cBhvr>
                                      <p:to>
                                        <p:strVal val="visible"/>
                                      </p:to>
                                    </p:set>
                                    <p:animEffect filter="fade" transition="in">
                                      <p:cBhvr>
                                        <p:cTn dur="2000"/>
                                        <p:tgtEl>
                                          <p:spTgt spid="1381"/>
                                        </p:tgtEl>
                                      </p:cBhvr>
                                    </p:animEffect>
                                  </p:childTnLst>
                                </p:cTn>
                              </p:par>
                              <p:par>
                                <p:cTn fill="hold" nodeType="withEffect" presetClass="entr" presetID="10" presetSubtype="0">
                                  <p:stCondLst>
                                    <p:cond delay="0"/>
                                  </p:stCondLst>
                                  <p:childTnLst>
                                    <p:set>
                                      <p:cBhvr>
                                        <p:cTn dur="1" fill="hold">
                                          <p:stCondLst>
                                            <p:cond delay="0"/>
                                          </p:stCondLst>
                                        </p:cTn>
                                        <p:tgtEl>
                                          <p:spTgt spid="1382"/>
                                        </p:tgtEl>
                                        <p:attrNameLst>
                                          <p:attrName>style.visibility</p:attrName>
                                        </p:attrNameLst>
                                      </p:cBhvr>
                                      <p:to>
                                        <p:strVal val="visible"/>
                                      </p:to>
                                    </p:set>
                                    <p:animEffect filter="fade" transition="in">
                                      <p:cBhvr>
                                        <p:cTn dur="2000"/>
                                        <p:tgtEl>
                                          <p:spTgt spid="13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398"/>
                                        </p:tgtEl>
                                        <p:attrNameLst>
                                          <p:attrName>style.visibility</p:attrName>
                                        </p:attrNameLst>
                                      </p:cBhvr>
                                      <p:to>
                                        <p:strVal val="visible"/>
                                      </p:to>
                                    </p:set>
                                    <p:anim calcmode="lin" valueType="num">
                                      <p:cBhvr additive="base">
                                        <p:cTn dur="500"/>
                                        <p:tgtEl>
                                          <p:spTgt spid="139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1"/>
                                        </p:tgtEl>
                                        <p:attrNameLst>
                                          <p:attrName>style.visibility</p:attrName>
                                        </p:attrNameLst>
                                      </p:cBhvr>
                                      <p:to>
                                        <p:strVal val="visible"/>
                                      </p:to>
                                    </p:set>
                                    <p:animEffect filter="fade" transition="in">
                                      <p:cBhvr>
                                        <p:cTn dur="500"/>
                                        <p:tgtEl>
                                          <p:spTgt spid="1371"/>
                                        </p:tgtEl>
                                      </p:cBhvr>
                                    </p:animEffect>
                                  </p:childTnLst>
                                </p:cTn>
                              </p:par>
                              <p:par>
                                <p:cTn fill="hold" nodeType="withEffect" presetClass="entr" presetID="10" presetSubtype="0">
                                  <p:stCondLst>
                                    <p:cond delay="0"/>
                                  </p:stCondLst>
                                  <p:childTnLst>
                                    <p:set>
                                      <p:cBhvr>
                                        <p:cTn dur="1" fill="hold">
                                          <p:stCondLst>
                                            <p:cond delay="0"/>
                                          </p:stCondLst>
                                        </p:cTn>
                                        <p:tgtEl>
                                          <p:spTgt spid="1372"/>
                                        </p:tgtEl>
                                        <p:attrNameLst>
                                          <p:attrName>style.visibility</p:attrName>
                                        </p:attrNameLst>
                                      </p:cBhvr>
                                      <p:to>
                                        <p:strVal val="visible"/>
                                      </p:to>
                                    </p:set>
                                    <p:animEffect filter="fade" transition="in">
                                      <p:cBhvr>
                                        <p:cTn dur="500"/>
                                        <p:tgtEl>
                                          <p:spTgt spid="1372"/>
                                        </p:tgtEl>
                                      </p:cBhvr>
                                    </p:animEffect>
                                  </p:childTnLst>
                                </p:cTn>
                              </p:par>
                              <p:par>
                                <p:cTn fill="hold" nodeType="withEffect" presetClass="entr" presetID="10" presetSubtype="0">
                                  <p:stCondLst>
                                    <p:cond delay="0"/>
                                  </p:stCondLst>
                                  <p:childTnLst>
                                    <p:set>
                                      <p:cBhvr>
                                        <p:cTn dur="1" fill="hold">
                                          <p:stCondLst>
                                            <p:cond delay="0"/>
                                          </p:stCondLst>
                                        </p:cTn>
                                        <p:tgtEl>
                                          <p:spTgt spid="1373"/>
                                        </p:tgtEl>
                                        <p:attrNameLst>
                                          <p:attrName>style.visibility</p:attrName>
                                        </p:attrNameLst>
                                      </p:cBhvr>
                                      <p:to>
                                        <p:strVal val="visible"/>
                                      </p:to>
                                    </p:set>
                                    <p:animEffect filter="fade" transition="in">
                                      <p:cBhvr>
                                        <p:cTn dur="500"/>
                                        <p:tgtEl>
                                          <p:spTgt spid="13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500"/>
                                        <p:tgtEl>
                                          <p:spTgt spid="1398"/>
                                        </p:tgtEl>
                                        <p:attrNameLst>
                                          <p:attrName>ppt_x</p:attrName>
                                        </p:attrNameLst>
                                      </p:cBhvr>
                                      <p:tavLst>
                                        <p:tav fmla="" tm="0">
                                          <p:val>
                                            <p:strVal val="#ppt_x"/>
                                          </p:val>
                                        </p:tav>
                                        <p:tav fmla="" tm="100000">
                                          <p:val>
                                            <p:strVal val="#ppt_x+1"/>
                                          </p:val>
                                        </p:tav>
                                      </p:tavLst>
                                    </p:anim>
                                    <p:set>
                                      <p:cBhvr>
                                        <p:cTn dur="1" fill="hold">
                                          <p:stCondLst>
                                            <p:cond delay="500"/>
                                          </p:stCondLst>
                                        </p:cTn>
                                        <p:tgtEl>
                                          <p:spTgt spid="139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4"/>
                                        </p:tgtEl>
                                        <p:attrNameLst>
                                          <p:attrName>style.visibility</p:attrName>
                                        </p:attrNameLst>
                                      </p:cBhvr>
                                      <p:to>
                                        <p:strVal val="visible"/>
                                      </p:to>
                                    </p:set>
                                    <p:animEffect filter="fade" transition="in">
                                      <p:cBhvr>
                                        <p:cTn dur="2000"/>
                                        <p:tgtEl>
                                          <p:spTgt spid="13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399"/>
                                        </p:tgtEl>
                                        <p:attrNameLst>
                                          <p:attrName>style.visibility</p:attrName>
                                        </p:attrNameLst>
                                      </p:cBhvr>
                                      <p:to>
                                        <p:strVal val="visible"/>
                                      </p:to>
                                    </p:set>
                                    <p:anim calcmode="lin" valueType="num">
                                      <p:cBhvr additive="base">
                                        <p:cTn dur="1000"/>
                                        <p:tgtEl>
                                          <p:spTgt spid="139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00">
                                            <p:txEl>
                                              <p:pRg end="0" st="0"/>
                                            </p:txEl>
                                          </p:spTgt>
                                        </p:tgtEl>
                                        <p:attrNameLst>
                                          <p:attrName>style.visibility</p:attrName>
                                        </p:attrNameLst>
                                      </p:cBhvr>
                                      <p:to>
                                        <p:strVal val="visible"/>
                                      </p:to>
                                    </p:set>
                                    <p:anim calcmode="lin" valueType="num">
                                      <p:cBhvr additive="base">
                                        <p:cTn dur="500"/>
                                        <p:tgtEl>
                                          <p:spTgt spid="140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8"/>
                                        </p:tgtEl>
                                        <p:attrNameLst>
                                          <p:attrName>style.visibility</p:attrName>
                                        </p:attrNameLst>
                                      </p:cBhvr>
                                      <p:to>
                                        <p:strVal val="visible"/>
                                      </p:to>
                                    </p:set>
                                    <p:animEffect filter="fade" transition="in">
                                      <p:cBhvr>
                                        <p:cTn dur="500"/>
                                        <p:tgtEl>
                                          <p:spTgt spid="13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9"/>
                                        </p:tgtEl>
                                        <p:attrNameLst>
                                          <p:attrName>style.visibility</p:attrName>
                                        </p:attrNameLst>
                                      </p:cBhvr>
                                      <p:to>
                                        <p:strVal val="visible"/>
                                      </p:to>
                                    </p:set>
                                    <p:animEffect filter="fade" transition="in">
                                      <p:cBhvr>
                                        <p:cTn dur="500"/>
                                        <p:tgtEl>
                                          <p:spTgt spid="1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1"/>
                                        </p:tgtEl>
                                        <p:attrNameLst>
                                          <p:attrName>style.visibility</p:attrName>
                                        </p:attrNameLst>
                                      </p:cBhvr>
                                      <p:to>
                                        <p:strVal val="visible"/>
                                      </p:to>
                                    </p:set>
                                    <p:animEffect filter="fade" transition="in">
                                      <p:cBhvr>
                                        <p:cTn dur="500"/>
                                        <p:tgtEl>
                                          <p:spTgt spid="14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2"/>
                                        </p:tgtEl>
                                        <p:attrNameLst>
                                          <p:attrName>style.visibility</p:attrName>
                                        </p:attrNameLst>
                                      </p:cBhvr>
                                      <p:to>
                                        <p:strVal val="visible"/>
                                      </p:to>
                                    </p:set>
                                    <p:animEffect filter="fade" transition="in">
                                      <p:cBhvr>
                                        <p:cTn dur="500"/>
                                        <p:tgtEl>
                                          <p:spTgt spid="14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55"/>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Discussing the conservation of total energy within energy transformations </a:t>
            </a:r>
            <a:endParaRPr/>
          </a:p>
          <a:p>
            <a:pPr indent="0" lvl="0" marL="0" marR="0" rtl="0" algn="l">
              <a:spcBef>
                <a:spcPts val="0"/>
              </a:spcBef>
              <a:spcAft>
                <a:spcPts val="0"/>
              </a:spcAft>
              <a:buNone/>
            </a:pPr>
            <a:r>
              <a:rPr lang="en-US" sz="2000">
                <a:solidFill>
                  <a:srgbClr val="000000"/>
                </a:solidFill>
                <a:latin typeface="Courier New"/>
                <a:ea typeface="Courier New"/>
                <a:cs typeface="Courier New"/>
                <a:sym typeface="Courier New"/>
              </a:rPr>
              <a:t>∙</a:t>
            </a:r>
            <a:r>
              <a:rPr lang="en-US" sz="2400">
                <a:solidFill>
                  <a:srgbClr val="000000"/>
                </a:solidFill>
                <a:latin typeface="Arial"/>
                <a:ea typeface="Arial"/>
                <a:cs typeface="Arial"/>
                <a:sym typeface="Arial"/>
              </a:rPr>
              <a:t>If we plot both </a:t>
            </a:r>
            <a:r>
              <a:rPr b="1" lang="en-US" sz="2400">
                <a:solidFill>
                  <a:srgbClr val="FF0000"/>
                </a:solidFill>
                <a:latin typeface="Arial"/>
                <a:ea typeface="Arial"/>
                <a:cs typeface="Arial"/>
                <a:sym typeface="Arial"/>
              </a:rPr>
              <a:t>kinetic                                                       energy</a:t>
            </a:r>
            <a:r>
              <a:rPr lang="en-US" sz="2400">
                <a:solidFill>
                  <a:srgbClr val="000000"/>
                </a:solidFill>
                <a:latin typeface="Arial"/>
                <a:ea typeface="Arial"/>
                <a:cs typeface="Arial"/>
                <a:sym typeface="Arial"/>
              </a:rPr>
              <a:t> and </a:t>
            </a:r>
            <a:r>
              <a:rPr b="1" lang="en-US" sz="2400">
                <a:solidFill>
                  <a:srgbClr val="008000"/>
                </a:solidFill>
                <a:latin typeface="Arial"/>
                <a:ea typeface="Arial"/>
                <a:cs typeface="Arial"/>
                <a:sym typeface="Arial"/>
              </a:rPr>
              <a:t>potential                                                           energy</a:t>
            </a:r>
            <a:r>
              <a:rPr lang="en-US" sz="2400">
                <a:solidFill>
                  <a:srgbClr val="000000"/>
                </a:solidFill>
                <a:latin typeface="Arial"/>
                <a:ea typeface="Arial"/>
                <a:cs typeface="Arial"/>
                <a:sym typeface="Arial"/>
              </a:rPr>
              <a:t> vs. time for                                                              either system we would                                                                            get the following                                                                    graph:</a:t>
            </a:r>
            <a:endParaRPr/>
          </a:p>
        </p:txBody>
      </p:sp>
      <p:sp>
        <p:nvSpPr>
          <p:cNvPr id="1409" name="Google Shape;1409;p55"/>
          <p:cNvSpPr/>
          <p:nvPr/>
        </p:nvSpPr>
        <p:spPr>
          <a:xfrm>
            <a:off x="6362700" y="4656138"/>
            <a:ext cx="692150" cy="996950"/>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410" name="Google Shape;1410;p55"/>
          <p:cNvSpPr/>
          <p:nvPr/>
        </p:nvSpPr>
        <p:spPr>
          <a:xfrm>
            <a:off x="6365875" y="4648200"/>
            <a:ext cx="700088" cy="996950"/>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411" name="Google Shape;1411;p55"/>
          <p:cNvSpPr/>
          <p:nvPr/>
        </p:nvSpPr>
        <p:spPr>
          <a:xfrm>
            <a:off x="6343650" y="5654675"/>
            <a:ext cx="715963" cy="1057275"/>
          </a:xfrm>
          <a:prstGeom prst="rect">
            <a:avLst/>
          </a:prstGeom>
          <a:solidFill>
            <a:srgbClr val="EAEAEA"/>
          </a:solidFill>
          <a:ln cap="flat" cmpd="sng" w="9525">
            <a:solidFill>
              <a:srgbClr val="EAEAE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412" name="Google Shape;1412;p55"/>
          <p:cNvSpPr/>
          <p:nvPr/>
        </p:nvSpPr>
        <p:spPr>
          <a:xfrm>
            <a:off x="6365875" y="4638675"/>
            <a:ext cx="685800" cy="1011238"/>
          </a:xfrm>
          <a:prstGeom prst="rect">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nvGrpSpPr>
          <p:cNvPr id="1413" name="Google Shape;1413;p55"/>
          <p:cNvGrpSpPr/>
          <p:nvPr/>
        </p:nvGrpSpPr>
        <p:grpSpPr>
          <a:xfrm>
            <a:off x="608013" y="4903788"/>
            <a:ext cx="3752850" cy="2019300"/>
            <a:chOff x="1017" y="2961"/>
            <a:chExt cx="2364" cy="1272"/>
          </a:xfrm>
        </p:grpSpPr>
        <p:grpSp>
          <p:nvGrpSpPr>
            <p:cNvPr id="1414" name="Google Shape;1414;p55"/>
            <p:cNvGrpSpPr/>
            <p:nvPr/>
          </p:nvGrpSpPr>
          <p:grpSpPr>
            <a:xfrm>
              <a:off x="1277" y="2961"/>
              <a:ext cx="2104" cy="1012"/>
              <a:chOff x="1277" y="2961"/>
              <a:chExt cx="2104" cy="1012"/>
            </a:xfrm>
          </p:grpSpPr>
          <p:sp>
            <p:nvSpPr>
              <p:cNvPr id="1415" name="Google Shape;1415;p55"/>
              <p:cNvSpPr/>
              <p:nvPr/>
            </p:nvSpPr>
            <p:spPr>
              <a:xfrm>
                <a:off x="1284" y="3018"/>
                <a:ext cx="2022" cy="951"/>
              </a:xfrm>
              <a:prstGeom prst="rect">
                <a:avLst/>
              </a:prstGeom>
              <a:solidFill>
                <a:schemeClr val="lt1"/>
              </a:solidFill>
              <a:ln cap="flat" cmpd="sng" w="9525">
                <a:solidFill>
                  <a:schemeClr va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cxnSp>
            <p:nvCxnSpPr>
              <p:cNvPr id="1416" name="Google Shape;1416;p55"/>
              <p:cNvCxnSpPr/>
              <p:nvPr/>
            </p:nvCxnSpPr>
            <p:spPr>
              <a:xfrm>
                <a:off x="1280" y="3496"/>
                <a:ext cx="2027" cy="0"/>
              </a:xfrm>
              <a:prstGeom prst="straightConnector1">
                <a:avLst/>
              </a:prstGeom>
              <a:noFill/>
              <a:ln cap="flat" cmpd="sng" w="9525">
                <a:solidFill>
                  <a:schemeClr val="hlink"/>
                </a:solidFill>
                <a:prstDash val="solid"/>
                <a:round/>
                <a:headEnd len="med" w="med" type="none"/>
                <a:tailEnd len="med" w="med" type="none"/>
              </a:ln>
            </p:spPr>
          </p:cxnSp>
          <p:cxnSp>
            <p:nvCxnSpPr>
              <p:cNvPr id="1417" name="Google Shape;1417;p55"/>
              <p:cNvCxnSpPr/>
              <p:nvPr/>
            </p:nvCxnSpPr>
            <p:spPr>
              <a:xfrm>
                <a:off x="1279" y="3253"/>
                <a:ext cx="2027" cy="0"/>
              </a:xfrm>
              <a:prstGeom prst="straightConnector1">
                <a:avLst/>
              </a:prstGeom>
              <a:noFill/>
              <a:ln cap="flat" cmpd="sng" w="9525">
                <a:solidFill>
                  <a:schemeClr val="hlink"/>
                </a:solidFill>
                <a:prstDash val="solid"/>
                <a:round/>
                <a:headEnd len="med" w="med" type="none"/>
                <a:tailEnd len="med" w="med" type="none"/>
              </a:ln>
            </p:spPr>
          </p:cxnSp>
          <p:cxnSp>
            <p:nvCxnSpPr>
              <p:cNvPr id="1418" name="Google Shape;1418;p55"/>
              <p:cNvCxnSpPr/>
              <p:nvPr/>
            </p:nvCxnSpPr>
            <p:spPr>
              <a:xfrm>
                <a:off x="1279" y="3732"/>
                <a:ext cx="2027" cy="0"/>
              </a:xfrm>
              <a:prstGeom prst="straightConnector1">
                <a:avLst/>
              </a:prstGeom>
              <a:noFill/>
              <a:ln cap="flat" cmpd="sng" w="9525">
                <a:solidFill>
                  <a:schemeClr val="hlink"/>
                </a:solidFill>
                <a:prstDash val="solid"/>
                <a:round/>
                <a:headEnd len="med" w="med" type="none"/>
                <a:tailEnd len="med" w="med" type="none"/>
              </a:ln>
            </p:spPr>
          </p:cxnSp>
          <p:cxnSp>
            <p:nvCxnSpPr>
              <p:cNvPr id="1419" name="Google Shape;1419;p55"/>
              <p:cNvCxnSpPr/>
              <p:nvPr/>
            </p:nvCxnSpPr>
            <p:spPr>
              <a:xfrm>
                <a:off x="1279" y="3375"/>
                <a:ext cx="2027" cy="0"/>
              </a:xfrm>
              <a:prstGeom prst="straightConnector1">
                <a:avLst/>
              </a:prstGeom>
              <a:noFill/>
              <a:ln cap="flat" cmpd="sng" w="9525">
                <a:solidFill>
                  <a:schemeClr val="hlink"/>
                </a:solidFill>
                <a:prstDash val="solid"/>
                <a:round/>
                <a:headEnd len="med" w="med" type="none"/>
                <a:tailEnd len="med" w="med" type="none"/>
              </a:ln>
            </p:spPr>
          </p:cxnSp>
          <p:cxnSp>
            <p:nvCxnSpPr>
              <p:cNvPr id="1420" name="Google Shape;1420;p55"/>
              <p:cNvCxnSpPr/>
              <p:nvPr/>
            </p:nvCxnSpPr>
            <p:spPr>
              <a:xfrm>
                <a:off x="1278" y="3132"/>
                <a:ext cx="2027" cy="0"/>
              </a:xfrm>
              <a:prstGeom prst="straightConnector1">
                <a:avLst/>
              </a:prstGeom>
              <a:noFill/>
              <a:ln cap="flat" cmpd="sng" w="9525">
                <a:solidFill>
                  <a:schemeClr val="hlink"/>
                </a:solidFill>
                <a:prstDash val="solid"/>
                <a:round/>
                <a:headEnd len="med" w="med" type="none"/>
                <a:tailEnd len="med" w="med" type="none"/>
              </a:ln>
            </p:spPr>
          </p:cxnSp>
          <p:cxnSp>
            <p:nvCxnSpPr>
              <p:cNvPr id="1421" name="Google Shape;1421;p55"/>
              <p:cNvCxnSpPr/>
              <p:nvPr/>
            </p:nvCxnSpPr>
            <p:spPr>
              <a:xfrm>
                <a:off x="1278" y="3853"/>
                <a:ext cx="2027" cy="0"/>
              </a:xfrm>
              <a:prstGeom prst="straightConnector1">
                <a:avLst/>
              </a:prstGeom>
              <a:noFill/>
              <a:ln cap="flat" cmpd="sng" w="9525">
                <a:solidFill>
                  <a:schemeClr val="hlink"/>
                </a:solidFill>
                <a:prstDash val="solid"/>
                <a:round/>
                <a:headEnd len="med" w="med" type="none"/>
                <a:tailEnd len="med" w="med" type="none"/>
              </a:ln>
            </p:spPr>
          </p:cxnSp>
          <p:cxnSp>
            <p:nvCxnSpPr>
              <p:cNvPr id="1422" name="Google Shape;1422;p55"/>
              <p:cNvCxnSpPr/>
              <p:nvPr/>
            </p:nvCxnSpPr>
            <p:spPr>
              <a:xfrm>
                <a:off x="1277" y="3610"/>
                <a:ext cx="2027" cy="0"/>
              </a:xfrm>
              <a:prstGeom prst="straightConnector1">
                <a:avLst/>
              </a:prstGeom>
              <a:noFill/>
              <a:ln cap="flat" cmpd="sng" w="9525">
                <a:solidFill>
                  <a:schemeClr val="hlink"/>
                </a:solidFill>
                <a:prstDash val="solid"/>
                <a:round/>
                <a:headEnd len="med" w="med" type="none"/>
                <a:tailEnd len="med" w="med" type="none"/>
              </a:ln>
            </p:spPr>
          </p:cxnSp>
          <p:cxnSp>
            <p:nvCxnSpPr>
              <p:cNvPr id="1423" name="Google Shape;1423;p55"/>
              <p:cNvCxnSpPr/>
              <p:nvPr/>
            </p:nvCxnSpPr>
            <p:spPr>
              <a:xfrm>
                <a:off x="1578" y="3018"/>
                <a:ext cx="0" cy="951"/>
              </a:xfrm>
              <a:prstGeom prst="straightConnector1">
                <a:avLst/>
              </a:prstGeom>
              <a:noFill/>
              <a:ln cap="flat" cmpd="sng" w="9525">
                <a:solidFill>
                  <a:schemeClr val="hlink"/>
                </a:solidFill>
                <a:prstDash val="solid"/>
                <a:round/>
                <a:headEnd len="med" w="med" type="none"/>
                <a:tailEnd len="med" w="med" type="none"/>
              </a:ln>
            </p:spPr>
          </p:cxnSp>
          <p:cxnSp>
            <p:nvCxnSpPr>
              <p:cNvPr id="1424" name="Google Shape;1424;p55"/>
              <p:cNvCxnSpPr/>
              <p:nvPr/>
            </p:nvCxnSpPr>
            <p:spPr>
              <a:xfrm>
                <a:off x="1866" y="3018"/>
                <a:ext cx="0" cy="951"/>
              </a:xfrm>
              <a:prstGeom prst="straightConnector1">
                <a:avLst/>
              </a:prstGeom>
              <a:noFill/>
              <a:ln cap="flat" cmpd="sng" w="9525">
                <a:solidFill>
                  <a:schemeClr val="hlink"/>
                </a:solidFill>
                <a:prstDash val="solid"/>
                <a:round/>
                <a:headEnd len="med" w="med" type="none"/>
                <a:tailEnd len="med" w="med" type="none"/>
              </a:ln>
            </p:spPr>
          </p:cxnSp>
          <p:cxnSp>
            <p:nvCxnSpPr>
              <p:cNvPr id="1425" name="Google Shape;1425;p55"/>
              <p:cNvCxnSpPr/>
              <p:nvPr/>
            </p:nvCxnSpPr>
            <p:spPr>
              <a:xfrm>
                <a:off x="2154" y="3017"/>
                <a:ext cx="0" cy="951"/>
              </a:xfrm>
              <a:prstGeom prst="straightConnector1">
                <a:avLst/>
              </a:prstGeom>
              <a:noFill/>
              <a:ln cap="flat" cmpd="sng" w="9525">
                <a:solidFill>
                  <a:schemeClr val="hlink"/>
                </a:solidFill>
                <a:prstDash val="solid"/>
                <a:round/>
                <a:headEnd len="med" w="med" type="none"/>
                <a:tailEnd len="med" w="med" type="none"/>
              </a:ln>
            </p:spPr>
          </p:cxnSp>
          <p:cxnSp>
            <p:nvCxnSpPr>
              <p:cNvPr id="1426" name="Google Shape;1426;p55"/>
              <p:cNvCxnSpPr/>
              <p:nvPr/>
            </p:nvCxnSpPr>
            <p:spPr>
              <a:xfrm>
                <a:off x="2436" y="3017"/>
                <a:ext cx="0" cy="951"/>
              </a:xfrm>
              <a:prstGeom prst="straightConnector1">
                <a:avLst/>
              </a:prstGeom>
              <a:noFill/>
              <a:ln cap="flat" cmpd="sng" w="9525">
                <a:solidFill>
                  <a:schemeClr val="hlink"/>
                </a:solidFill>
                <a:prstDash val="solid"/>
                <a:round/>
                <a:headEnd len="med" w="med" type="none"/>
                <a:tailEnd len="med" w="med" type="none"/>
              </a:ln>
            </p:spPr>
          </p:cxnSp>
          <p:cxnSp>
            <p:nvCxnSpPr>
              <p:cNvPr id="1427" name="Google Shape;1427;p55"/>
              <p:cNvCxnSpPr/>
              <p:nvPr/>
            </p:nvCxnSpPr>
            <p:spPr>
              <a:xfrm>
                <a:off x="2724" y="3022"/>
                <a:ext cx="0" cy="951"/>
              </a:xfrm>
              <a:prstGeom prst="straightConnector1">
                <a:avLst/>
              </a:prstGeom>
              <a:noFill/>
              <a:ln cap="flat" cmpd="sng" w="9525">
                <a:solidFill>
                  <a:schemeClr val="hlink"/>
                </a:solidFill>
                <a:prstDash val="solid"/>
                <a:round/>
                <a:headEnd len="med" w="med" type="none"/>
                <a:tailEnd len="med" w="med" type="none"/>
              </a:ln>
            </p:spPr>
          </p:cxnSp>
          <p:cxnSp>
            <p:nvCxnSpPr>
              <p:cNvPr id="1428" name="Google Shape;1428;p55"/>
              <p:cNvCxnSpPr/>
              <p:nvPr/>
            </p:nvCxnSpPr>
            <p:spPr>
              <a:xfrm>
                <a:off x="3006" y="3022"/>
                <a:ext cx="0" cy="951"/>
              </a:xfrm>
              <a:prstGeom prst="straightConnector1">
                <a:avLst/>
              </a:prstGeom>
              <a:noFill/>
              <a:ln cap="flat" cmpd="sng" w="9525">
                <a:solidFill>
                  <a:schemeClr val="hlink"/>
                </a:solidFill>
                <a:prstDash val="solid"/>
                <a:round/>
                <a:headEnd len="med" w="med" type="none"/>
                <a:tailEnd len="med" w="med" type="none"/>
              </a:ln>
            </p:spPr>
          </p:cxnSp>
          <p:cxnSp>
            <p:nvCxnSpPr>
              <p:cNvPr id="1429" name="Google Shape;1429;p55"/>
              <p:cNvCxnSpPr/>
              <p:nvPr/>
            </p:nvCxnSpPr>
            <p:spPr>
              <a:xfrm rot="10800000">
                <a:off x="1279" y="2961"/>
                <a:ext cx="0" cy="1008"/>
              </a:xfrm>
              <a:prstGeom prst="straightConnector1">
                <a:avLst/>
              </a:prstGeom>
              <a:noFill/>
              <a:ln cap="flat" cmpd="sng" w="19050">
                <a:solidFill>
                  <a:schemeClr val="dk1"/>
                </a:solidFill>
                <a:prstDash val="solid"/>
                <a:round/>
                <a:headEnd len="med" w="med" type="none"/>
                <a:tailEnd len="med" w="med" type="triangle"/>
              </a:ln>
            </p:spPr>
          </p:cxnSp>
          <p:cxnSp>
            <p:nvCxnSpPr>
              <p:cNvPr id="1430" name="Google Shape;1430;p55"/>
              <p:cNvCxnSpPr/>
              <p:nvPr/>
            </p:nvCxnSpPr>
            <p:spPr>
              <a:xfrm>
                <a:off x="1279" y="3969"/>
                <a:ext cx="2102" cy="0"/>
              </a:xfrm>
              <a:prstGeom prst="straightConnector1">
                <a:avLst/>
              </a:prstGeom>
              <a:noFill/>
              <a:ln cap="flat" cmpd="sng" w="19050">
                <a:solidFill>
                  <a:schemeClr val="dk1"/>
                </a:solidFill>
                <a:prstDash val="solid"/>
                <a:round/>
                <a:headEnd len="med" w="med" type="none"/>
                <a:tailEnd len="med" w="med" type="triangle"/>
              </a:ln>
            </p:spPr>
          </p:cxnSp>
        </p:grpSp>
        <p:sp>
          <p:nvSpPr>
            <p:cNvPr id="1431" name="Google Shape;1431;p55"/>
            <p:cNvSpPr txBox="1"/>
            <p:nvPr/>
          </p:nvSpPr>
          <p:spPr>
            <a:xfrm rot="-5400000">
              <a:off x="797" y="3318"/>
              <a:ext cx="731"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Energy</a:t>
              </a:r>
              <a:endParaRPr/>
            </a:p>
          </p:txBody>
        </p:sp>
        <p:sp>
          <p:nvSpPr>
            <p:cNvPr id="1432" name="Google Shape;1432;p55"/>
            <p:cNvSpPr txBox="1"/>
            <p:nvPr/>
          </p:nvSpPr>
          <p:spPr>
            <a:xfrm>
              <a:off x="1997" y="3942"/>
              <a:ext cx="483"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time</a:t>
              </a:r>
              <a:endParaRPr/>
            </a:p>
          </p:txBody>
        </p:sp>
      </p:grpSp>
      <p:sp>
        <p:nvSpPr>
          <p:cNvPr id="1433" name="Google Shape;1433;p55"/>
          <p:cNvSpPr/>
          <p:nvPr/>
        </p:nvSpPr>
        <p:spPr>
          <a:xfrm>
            <a:off x="4491038" y="5757863"/>
            <a:ext cx="3722687" cy="533400"/>
          </a:xfrm>
          <a:custGeom>
            <a:rect b="b" l="l" r="r" t="t"/>
            <a:pathLst>
              <a:path extrusionOk="0" h="336" w="1056">
                <a:moveTo>
                  <a:pt x="0" y="168"/>
                </a:moveTo>
                <a:cubicBezTo>
                  <a:pt x="32" y="180"/>
                  <a:pt x="64" y="192"/>
                  <a:pt x="96" y="168"/>
                </a:cubicBezTo>
                <a:cubicBezTo>
                  <a:pt x="128" y="144"/>
                  <a:pt x="160" y="0"/>
                  <a:pt x="192" y="24"/>
                </a:cubicBezTo>
                <a:cubicBezTo>
                  <a:pt x="224" y="48"/>
                  <a:pt x="256" y="312"/>
                  <a:pt x="288" y="312"/>
                </a:cubicBezTo>
                <a:cubicBezTo>
                  <a:pt x="320" y="312"/>
                  <a:pt x="352" y="24"/>
                  <a:pt x="384" y="24"/>
                </a:cubicBezTo>
                <a:cubicBezTo>
                  <a:pt x="416" y="24"/>
                  <a:pt x="448" y="312"/>
                  <a:pt x="480" y="312"/>
                </a:cubicBezTo>
                <a:cubicBezTo>
                  <a:pt x="512" y="312"/>
                  <a:pt x="544" y="24"/>
                  <a:pt x="576" y="24"/>
                </a:cubicBezTo>
                <a:cubicBezTo>
                  <a:pt x="608" y="24"/>
                  <a:pt x="640" y="312"/>
                  <a:pt x="672" y="312"/>
                </a:cubicBezTo>
                <a:cubicBezTo>
                  <a:pt x="704" y="312"/>
                  <a:pt x="736" y="24"/>
                  <a:pt x="768" y="24"/>
                </a:cubicBezTo>
                <a:cubicBezTo>
                  <a:pt x="800" y="24"/>
                  <a:pt x="832" y="288"/>
                  <a:pt x="864" y="312"/>
                </a:cubicBezTo>
                <a:cubicBezTo>
                  <a:pt x="896" y="336"/>
                  <a:pt x="928" y="192"/>
                  <a:pt x="960" y="168"/>
                </a:cubicBezTo>
                <a:cubicBezTo>
                  <a:pt x="992" y="144"/>
                  <a:pt x="1024" y="156"/>
                  <a:pt x="1056" y="168"/>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34" name="Google Shape;1434;p55"/>
          <p:cNvSpPr/>
          <p:nvPr/>
        </p:nvSpPr>
        <p:spPr>
          <a:xfrm>
            <a:off x="8120063" y="5757863"/>
            <a:ext cx="609600" cy="5334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nvGrpSpPr>
          <p:cNvPr id="1435" name="Google Shape;1435;p55"/>
          <p:cNvGrpSpPr/>
          <p:nvPr/>
        </p:nvGrpSpPr>
        <p:grpSpPr>
          <a:xfrm>
            <a:off x="4479925" y="5757863"/>
            <a:ext cx="4664075" cy="1346200"/>
            <a:chOff x="1708" y="3117"/>
            <a:chExt cx="2938" cy="848"/>
          </a:xfrm>
        </p:grpSpPr>
        <p:sp>
          <p:nvSpPr>
            <p:cNvPr descr="Light upward diagonal" id="1436" name="Google Shape;1436;p55"/>
            <p:cNvSpPr/>
            <p:nvPr/>
          </p:nvSpPr>
          <p:spPr>
            <a:xfrm>
              <a:off x="1708" y="3117"/>
              <a:ext cx="2938" cy="432"/>
            </a:xfrm>
            <a:custGeom>
              <a:rect b="b" l="l" r="r" t="t"/>
              <a:pathLst>
                <a:path extrusionOk="0" h="432" w="2938">
                  <a:moveTo>
                    <a:pt x="2929" y="425"/>
                  </a:moveTo>
                  <a:lnTo>
                    <a:pt x="2938" y="329"/>
                  </a:lnTo>
                  <a:lnTo>
                    <a:pt x="96" y="336"/>
                  </a:lnTo>
                  <a:lnTo>
                    <a:pt x="96" y="0"/>
                  </a:lnTo>
                  <a:lnTo>
                    <a:pt x="0" y="0"/>
                  </a:lnTo>
                  <a:lnTo>
                    <a:pt x="0" y="432"/>
                  </a:lnTo>
                  <a:lnTo>
                    <a:pt x="2929" y="425"/>
                  </a:lnTo>
                  <a:close/>
                </a:path>
              </a:pathLst>
            </a:custGeom>
            <a:solidFill>
              <a:srgbClr val="FFCC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37" name="Google Shape;1437;p55"/>
            <p:cNvSpPr/>
            <p:nvPr/>
          </p:nvSpPr>
          <p:spPr>
            <a:xfrm>
              <a:off x="1813" y="3117"/>
              <a:ext cx="2833" cy="339"/>
            </a:xfrm>
            <a:custGeom>
              <a:rect b="b" l="l" r="r" t="t"/>
              <a:pathLst>
                <a:path extrusionOk="0" h="339" w="2833">
                  <a:moveTo>
                    <a:pt x="2833" y="339"/>
                  </a:moveTo>
                  <a:lnTo>
                    <a:pt x="0" y="336"/>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1438" name="Google Shape;1438;p55"/>
            <p:cNvGrpSpPr/>
            <p:nvPr/>
          </p:nvGrpSpPr>
          <p:grpSpPr>
            <a:xfrm>
              <a:off x="2361" y="3117"/>
              <a:ext cx="2084" cy="848"/>
              <a:chOff x="2688" y="1584"/>
              <a:chExt cx="2084" cy="848"/>
            </a:xfrm>
          </p:grpSpPr>
          <p:cxnSp>
            <p:nvCxnSpPr>
              <p:cNvPr id="1439" name="Google Shape;1439;p55"/>
              <p:cNvCxnSpPr/>
              <p:nvPr/>
            </p:nvCxnSpPr>
            <p:spPr>
              <a:xfrm>
                <a:off x="3552" y="1584"/>
                <a:ext cx="0" cy="624"/>
              </a:xfrm>
              <a:prstGeom prst="straightConnector1">
                <a:avLst/>
              </a:prstGeom>
              <a:noFill/>
              <a:ln cap="flat" cmpd="sng" w="9525">
                <a:solidFill>
                  <a:schemeClr val="dk1"/>
                </a:solidFill>
                <a:prstDash val="dash"/>
                <a:round/>
                <a:headEnd len="med" w="med" type="none"/>
                <a:tailEnd len="med" w="med" type="none"/>
              </a:ln>
            </p:spPr>
          </p:cxnSp>
          <p:cxnSp>
            <p:nvCxnSpPr>
              <p:cNvPr id="1440" name="Google Shape;1440;p55"/>
              <p:cNvCxnSpPr/>
              <p:nvPr/>
            </p:nvCxnSpPr>
            <p:spPr>
              <a:xfrm>
                <a:off x="2688" y="2112"/>
                <a:ext cx="1868" cy="0"/>
              </a:xfrm>
              <a:prstGeom prst="straightConnector1">
                <a:avLst/>
              </a:prstGeom>
              <a:noFill/>
              <a:ln cap="flat" cmpd="sng" w="9525">
                <a:solidFill>
                  <a:schemeClr val="dk1"/>
                </a:solidFill>
                <a:prstDash val="solid"/>
                <a:round/>
                <a:headEnd len="med" w="med" type="none"/>
                <a:tailEnd len="med" w="med" type="triangle"/>
              </a:ln>
            </p:spPr>
          </p:cxnSp>
          <p:sp>
            <p:nvSpPr>
              <p:cNvPr id="1441" name="Google Shape;1441;p55"/>
              <p:cNvSpPr txBox="1"/>
              <p:nvPr/>
            </p:nvSpPr>
            <p:spPr>
              <a:xfrm>
                <a:off x="4560" y="1970"/>
                <a:ext cx="21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x</a:t>
                </a:r>
                <a:endParaRPr/>
              </a:p>
            </p:txBody>
          </p:sp>
          <p:sp>
            <p:nvSpPr>
              <p:cNvPr id="1442" name="Google Shape;1442;p55"/>
              <p:cNvSpPr txBox="1"/>
              <p:nvPr/>
            </p:nvSpPr>
            <p:spPr>
              <a:xfrm>
                <a:off x="3454" y="2240"/>
                <a:ext cx="116"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cxnSp>
            <p:nvCxnSpPr>
              <p:cNvPr id="1443" name="Google Shape;1443;p55"/>
              <p:cNvCxnSpPr/>
              <p:nvPr/>
            </p:nvCxnSpPr>
            <p:spPr>
              <a:xfrm>
                <a:off x="3744"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444" name="Google Shape;1444;p55"/>
              <p:cNvCxnSpPr/>
              <p:nvPr/>
            </p:nvCxnSpPr>
            <p:spPr>
              <a:xfrm>
                <a:off x="3936"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445" name="Google Shape;1445;p55"/>
              <p:cNvCxnSpPr/>
              <p:nvPr/>
            </p:nvCxnSpPr>
            <p:spPr>
              <a:xfrm>
                <a:off x="4128"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446" name="Google Shape;1446;p55"/>
              <p:cNvCxnSpPr/>
              <p:nvPr/>
            </p:nvCxnSpPr>
            <p:spPr>
              <a:xfrm>
                <a:off x="4320"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447" name="Google Shape;1447;p55"/>
              <p:cNvCxnSpPr/>
              <p:nvPr/>
            </p:nvCxnSpPr>
            <p:spPr>
              <a:xfrm>
                <a:off x="3360"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448" name="Google Shape;1448;p55"/>
              <p:cNvCxnSpPr/>
              <p:nvPr/>
            </p:nvCxnSpPr>
            <p:spPr>
              <a:xfrm>
                <a:off x="3168"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449" name="Google Shape;1449;p55"/>
              <p:cNvCxnSpPr/>
              <p:nvPr/>
            </p:nvCxnSpPr>
            <p:spPr>
              <a:xfrm>
                <a:off x="2976" y="1920"/>
                <a:ext cx="0" cy="192"/>
              </a:xfrm>
              <a:prstGeom prst="straightConnector1">
                <a:avLst/>
              </a:prstGeom>
              <a:noFill/>
              <a:ln cap="flat" cmpd="sng" w="9525">
                <a:solidFill>
                  <a:schemeClr val="dk1"/>
                </a:solidFill>
                <a:prstDash val="dash"/>
                <a:round/>
                <a:headEnd len="med" w="med" type="none"/>
                <a:tailEnd len="med" w="med" type="none"/>
              </a:ln>
            </p:spPr>
          </p:cxnSp>
          <p:cxnSp>
            <p:nvCxnSpPr>
              <p:cNvPr id="1450" name="Google Shape;1450;p55"/>
              <p:cNvCxnSpPr/>
              <p:nvPr/>
            </p:nvCxnSpPr>
            <p:spPr>
              <a:xfrm>
                <a:off x="2784" y="1920"/>
                <a:ext cx="0" cy="192"/>
              </a:xfrm>
              <a:prstGeom prst="straightConnector1">
                <a:avLst/>
              </a:prstGeom>
              <a:noFill/>
              <a:ln cap="flat" cmpd="sng" w="9525">
                <a:solidFill>
                  <a:schemeClr val="dk1"/>
                </a:solidFill>
                <a:prstDash val="dash"/>
                <a:round/>
                <a:headEnd len="med" w="med" type="none"/>
                <a:tailEnd len="med" w="med" type="none"/>
              </a:ln>
            </p:spPr>
          </p:cxnSp>
        </p:grpSp>
      </p:grpSp>
      <p:grpSp>
        <p:nvGrpSpPr>
          <p:cNvPr id="1451" name="Google Shape;1451;p55"/>
          <p:cNvGrpSpPr/>
          <p:nvPr/>
        </p:nvGrpSpPr>
        <p:grpSpPr>
          <a:xfrm rot="-5400000">
            <a:off x="6573044" y="1162844"/>
            <a:ext cx="277813" cy="3883025"/>
            <a:chOff x="1934" y="1419"/>
            <a:chExt cx="175" cy="2446"/>
          </a:xfrm>
        </p:grpSpPr>
        <p:sp>
          <p:nvSpPr>
            <p:cNvPr id="1452" name="Google Shape;1452;p55"/>
            <p:cNvSpPr/>
            <p:nvPr/>
          </p:nvSpPr>
          <p:spPr>
            <a:xfrm>
              <a:off x="1950" y="3691"/>
              <a:ext cx="159" cy="159"/>
            </a:xfrm>
            <a:prstGeom prst="ellipse">
              <a:avLst/>
            </a:prstGeom>
            <a:gradFill>
              <a:gsLst>
                <a:gs pos="0">
                  <a:srgbClr val="FFFFFF"/>
                </a:gs>
                <a:gs pos="100000">
                  <a:schemeClr val="dk1"/>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1453" name="Google Shape;1453;p55"/>
            <p:cNvCxnSpPr/>
            <p:nvPr/>
          </p:nvCxnSpPr>
          <p:spPr>
            <a:xfrm rot="10800000">
              <a:off x="2024" y="2653"/>
              <a:ext cx="0" cy="1046"/>
            </a:xfrm>
            <a:prstGeom prst="straightConnector1">
              <a:avLst/>
            </a:prstGeom>
            <a:noFill/>
            <a:ln cap="flat" cmpd="sng" w="28575">
              <a:solidFill>
                <a:schemeClr val="dk1"/>
              </a:solidFill>
              <a:prstDash val="solid"/>
              <a:round/>
              <a:headEnd len="med" w="med" type="none"/>
              <a:tailEnd len="med" w="med" type="none"/>
            </a:ln>
          </p:spPr>
        </p:cxnSp>
        <p:grpSp>
          <p:nvGrpSpPr>
            <p:cNvPr id="1454" name="Google Shape;1454;p55"/>
            <p:cNvGrpSpPr/>
            <p:nvPr/>
          </p:nvGrpSpPr>
          <p:grpSpPr>
            <a:xfrm>
              <a:off x="1934" y="1419"/>
              <a:ext cx="174" cy="2446"/>
              <a:chOff x="1934" y="1419"/>
              <a:chExt cx="174" cy="2446"/>
            </a:xfrm>
          </p:grpSpPr>
          <p:sp>
            <p:nvSpPr>
              <p:cNvPr id="1455" name="Google Shape;1455;p55"/>
              <p:cNvSpPr/>
              <p:nvPr/>
            </p:nvSpPr>
            <p:spPr>
              <a:xfrm>
                <a:off x="1940" y="2645"/>
                <a:ext cx="167" cy="12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456" name="Google Shape;1456;p55"/>
              <p:cNvSpPr/>
              <p:nvPr/>
            </p:nvSpPr>
            <p:spPr>
              <a:xfrm>
                <a:off x="1934" y="1419"/>
                <a:ext cx="174" cy="12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grpSp>
      <p:grpSp>
        <p:nvGrpSpPr>
          <p:cNvPr id="1457" name="Google Shape;1457;p55"/>
          <p:cNvGrpSpPr/>
          <p:nvPr/>
        </p:nvGrpSpPr>
        <p:grpSpPr>
          <a:xfrm>
            <a:off x="6256338" y="2813050"/>
            <a:ext cx="950912" cy="349250"/>
            <a:chOff x="3774" y="2486"/>
            <a:chExt cx="599" cy="220"/>
          </a:xfrm>
        </p:grpSpPr>
        <p:sp>
          <p:nvSpPr>
            <p:cNvPr descr="Light downward diagonal" id="1458" name="Google Shape;1458;p55"/>
            <p:cNvSpPr/>
            <p:nvPr/>
          </p:nvSpPr>
          <p:spPr>
            <a:xfrm>
              <a:off x="3774" y="2486"/>
              <a:ext cx="599" cy="17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cxnSp>
          <p:nvCxnSpPr>
            <p:cNvPr id="1459" name="Google Shape;1459;p55"/>
            <p:cNvCxnSpPr/>
            <p:nvPr/>
          </p:nvCxnSpPr>
          <p:spPr>
            <a:xfrm>
              <a:off x="3782" y="2665"/>
              <a:ext cx="591" cy="0"/>
            </a:xfrm>
            <a:prstGeom prst="straightConnector1">
              <a:avLst/>
            </a:prstGeom>
            <a:noFill/>
            <a:ln cap="flat" cmpd="sng" w="9525">
              <a:solidFill>
                <a:schemeClr val="dk1"/>
              </a:solidFill>
              <a:prstDash val="solid"/>
              <a:round/>
              <a:headEnd len="med" w="med" type="none"/>
              <a:tailEnd len="med" w="med" type="none"/>
            </a:ln>
          </p:spPr>
        </p:cxnSp>
        <p:sp>
          <p:nvSpPr>
            <p:cNvPr id="1460" name="Google Shape;1460;p55"/>
            <p:cNvSpPr/>
            <p:nvPr/>
          </p:nvSpPr>
          <p:spPr>
            <a:xfrm>
              <a:off x="4025" y="2615"/>
              <a:ext cx="91" cy="91"/>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pic>
        <p:nvPicPr>
          <p:cNvPr descr="bd05378_[1]" id="1461" name="Google Shape;1461;p55"/>
          <p:cNvPicPr preferRelativeResize="0"/>
          <p:nvPr/>
        </p:nvPicPr>
        <p:blipFill rotWithShape="1">
          <a:blip r:embed="rId3">
            <a:alphaModFix/>
          </a:blip>
          <a:srcRect b="0" l="0" r="0" t="0"/>
          <a:stretch/>
        </p:blipFill>
        <p:spPr>
          <a:xfrm flipH="1">
            <a:off x="8304213" y="3168650"/>
            <a:ext cx="839787" cy="509588"/>
          </a:xfrm>
          <a:prstGeom prst="rect">
            <a:avLst/>
          </a:prstGeom>
          <a:noFill/>
          <a:ln>
            <a:noFill/>
          </a:ln>
        </p:spPr>
      </p:pic>
      <p:pic>
        <p:nvPicPr>
          <p:cNvPr descr="bd05378_[1]" id="1462" name="Google Shape;1462;p55"/>
          <p:cNvPicPr preferRelativeResize="0"/>
          <p:nvPr/>
        </p:nvPicPr>
        <p:blipFill rotWithShape="1">
          <a:blip r:embed="rId3">
            <a:alphaModFix/>
          </a:blip>
          <a:srcRect b="0" l="0" r="0" t="0"/>
          <a:stretch/>
        </p:blipFill>
        <p:spPr>
          <a:xfrm flipH="1">
            <a:off x="8304213" y="5759450"/>
            <a:ext cx="839787" cy="509588"/>
          </a:xfrm>
          <a:prstGeom prst="rect">
            <a:avLst/>
          </a:prstGeom>
          <a:noFill/>
          <a:ln>
            <a:noFill/>
          </a:ln>
        </p:spPr>
      </p:pic>
      <p:grpSp>
        <p:nvGrpSpPr>
          <p:cNvPr id="1463" name="Google Shape;1463;p55"/>
          <p:cNvGrpSpPr/>
          <p:nvPr/>
        </p:nvGrpSpPr>
        <p:grpSpPr>
          <a:xfrm>
            <a:off x="1039813" y="5006975"/>
            <a:ext cx="3190875" cy="1477963"/>
            <a:chOff x="1288" y="3032"/>
            <a:chExt cx="2384" cy="931"/>
          </a:xfrm>
        </p:grpSpPr>
        <p:sp>
          <p:nvSpPr>
            <p:cNvPr id="1464" name="Google Shape;1464;p55"/>
            <p:cNvSpPr/>
            <p:nvPr/>
          </p:nvSpPr>
          <p:spPr>
            <a:xfrm flipH="1" rot="10800000">
              <a:off x="1288" y="3390"/>
              <a:ext cx="172" cy="573"/>
            </a:xfrm>
            <a:custGeom>
              <a:rect b="b" l="l" r="r" t="t"/>
              <a:pathLst>
                <a:path extrusionOk="0" fill="none" h="21600" w="21575">
                  <a:moveTo>
                    <a:pt x="0" y="3"/>
                  </a:moveTo>
                  <a:cubicBezTo>
                    <a:pt x="127" y="1"/>
                    <a:pt x="254" y="-1"/>
                    <a:pt x="382" y="0"/>
                  </a:cubicBezTo>
                  <a:cubicBezTo>
                    <a:pt x="10701" y="0"/>
                    <a:pt x="19579" y="7299"/>
                    <a:pt x="21574" y="17424"/>
                  </a:cubicBezTo>
                </a:path>
                <a:path extrusionOk="0" h="21600" w="21575">
                  <a:moveTo>
                    <a:pt x="0" y="3"/>
                  </a:moveTo>
                  <a:cubicBezTo>
                    <a:pt x="127" y="1"/>
                    <a:pt x="254" y="-1"/>
                    <a:pt x="382" y="0"/>
                  </a:cubicBezTo>
                  <a:cubicBezTo>
                    <a:pt x="10701" y="0"/>
                    <a:pt x="19579" y="7299"/>
                    <a:pt x="21574" y="17424"/>
                  </a:cubicBezTo>
                  <a:lnTo>
                    <a:pt x="382" y="21600"/>
                  </a:lnTo>
                  <a:lnTo>
                    <a:pt x="0" y="3"/>
                  </a:lnTo>
                  <a:close/>
                </a:path>
              </a:pathLst>
            </a:cu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65" name="Google Shape;1465;p55"/>
            <p:cNvSpPr/>
            <p:nvPr/>
          </p:nvSpPr>
          <p:spPr>
            <a:xfrm>
              <a:off x="1462" y="3032"/>
              <a:ext cx="338" cy="573"/>
            </a:xfrm>
            <a:custGeom>
              <a:rect b="b" l="l" r="r" t="t"/>
              <a:pathLst>
                <a:path extrusionOk="0" fill="none" h="21600" w="42400">
                  <a:moveTo>
                    <a:pt x="-1" y="17499"/>
                  </a:moveTo>
                  <a:cubicBezTo>
                    <a:pt x="1964" y="7339"/>
                    <a:pt x="10858" y="-1"/>
                    <a:pt x="21207" y="0"/>
                  </a:cubicBezTo>
                  <a:cubicBezTo>
                    <a:pt x="31526" y="0"/>
                    <a:pt x="40404" y="7299"/>
                    <a:pt x="42399" y="17424"/>
                  </a:cubicBezTo>
                </a:path>
                <a:path extrusionOk="0" h="21600" w="42400">
                  <a:moveTo>
                    <a:pt x="-1" y="17499"/>
                  </a:moveTo>
                  <a:cubicBezTo>
                    <a:pt x="1964" y="7339"/>
                    <a:pt x="10858" y="-1"/>
                    <a:pt x="21207" y="0"/>
                  </a:cubicBezTo>
                  <a:cubicBezTo>
                    <a:pt x="31526" y="0"/>
                    <a:pt x="40404" y="7299"/>
                    <a:pt x="42399" y="17424"/>
                  </a:cubicBezTo>
                  <a:lnTo>
                    <a:pt x="21207" y="21600"/>
                  </a:lnTo>
                  <a:lnTo>
                    <a:pt x="-1" y="17499"/>
                  </a:lnTo>
                  <a:close/>
                </a:path>
              </a:pathLst>
            </a:cu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66" name="Google Shape;1466;p55"/>
            <p:cNvSpPr/>
            <p:nvPr/>
          </p:nvSpPr>
          <p:spPr>
            <a:xfrm flipH="1" rot="10800000">
              <a:off x="1802" y="3390"/>
              <a:ext cx="338" cy="573"/>
            </a:xfrm>
            <a:custGeom>
              <a:rect b="b" l="l" r="r" t="t"/>
              <a:pathLst>
                <a:path extrusionOk="0" fill="none" h="21600" w="42400">
                  <a:moveTo>
                    <a:pt x="-1" y="17499"/>
                  </a:moveTo>
                  <a:cubicBezTo>
                    <a:pt x="1964" y="7339"/>
                    <a:pt x="10858" y="-1"/>
                    <a:pt x="21207" y="0"/>
                  </a:cubicBezTo>
                  <a:cubicBezTo>
                    <a:pt x="31526" y="0"/>
                    <a:pt x="40404" y="7299"/>
                    <a:pt x="42399" y="17424"/>
                  </a:cubicBezTo>
                </a:path>
                <a:path extrusionOk="0" h="21600" w="42400">
                  <a:moveTo>
                    <a:pt x="-1" y="17499"/>
                  </a:moveTo>
                  <a:cubicBezTo>
                    <a:pt x="1964" y="7339"/>
                    <a:pt x="10858" y="-1"/>
                    <a:pt x="21207" y="0"/>
                  </a:cubicBezTo>
                  <a:cubicBezTo>
                    <a:pt x="31526" y="0"/>
                    <a:pt x="40404" y="7299"/>
                    <a:pt x="42399" y="17424"/>
                  </a:cubicBezTo>
                  <a:lnTo>
                    <a:pt x="21207" y="21600"/>
                  </a:lnTo>
                  <a:lnTo>
                    <a:pt x="-1" y="17499"/>
                  </a:lnTo>
                  <a:close/>
                </a:path>
              </a:pathLst>
            </a:cu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67" name="Google Shape;1467;p55"/>
            <p:cNvSpPr/>
            <p:nvPr/>
          </p:nvSpPr>
          <p:spPr>
            <a:xfrm>
              <a:off x="2142" y="3032"/>
              <a:ext cx="338" cy="573"/>
            </a:xfrm>
            <a:custGeom>
              <a:rect b="b" l="l" r="r" t="t"/>
              <a:pathLst>
                <a:path extrusionOk="0" fill="none" h="21600" w="42400">
                  <a:moveTo>
                    <a:pt x="-1" y="17499"/>
                  </a:moveTo>
                  <a:cubicBezTo>
                    <a:pt x="1964" y="7339"/>
                    <a:pt x="10858" y="-1"/>
                    <a:pt x="21207" y="0"/>
                  </a:cubicBezTo>
                  <a:cubicBezTo>
                    <a:pt x="31526" y="0"/>
                    <a:pt x="40404" y="7299"/>
                    <a:pt x="42399" y="17424"/>
                  </a:cubicBezTo>
                </a:path>
                <a:path extrusionOk="0" h="21600" w="42400">
                  <a:moveTo>
                    <a:pt x="-1" y="17499"/>
                  </a:moveTo>
                  <a:cubicBezTo>
                    <a:pt x="1964" y="7339"/>
                    <a:pt x="10858" y="-1"/>
                    <a:pt x="21207" y="0"/>
                  </a:cubicBezTo>
                  <a:cubicBezTo>
                    <a:pt x="31526" y="0"/>
                    <a:pt x="40404" y="7299"/>
                    <a:pt x="42399" y="17424"/>
                  </a:cubicBezTo>
                  <a:lnTo>
                    <a:pt x="21207" y="21600"/>
                  </a:lnTo>
                  <a:lnTo>
                    <a:pt x="-1" y="17499"/>
                  </a:lnTo>
                  <a:close/>
                </a:path>
              </a:pathLst>
            </a:cu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68" name="Google Shape;1468;p55"/>
            <p:cNvSpPr/>
            <p:nvPr/>
          </p:nvSpPr>
          <p:spPr>
            <a:xfrm flipH="1" rot="10800000">
              <a:off x="2481" y="3390"/>
              <a:ext cx="338" cy="573"/>
            </a:xfrm>
            <a:custGeom>
              <a:rect b="b" l="l" r="r" t="t"/>
              <a:pathLst>
                <a:path extrusionOk="0" fill="none" h="21600" w="42400">
                  <a:moveTo>
                    <a:pt x="-1" y="17499"/>
                  </a:moveTo>
                  <a:cubicBezTo>
                    <a:pt x="1964" y="7339"/>
                    <a:pt x="10858" y="-1"/>
                    <a:pt x="21207" y="0"/>
                  </a:cubicBezTo>
                  <a:cubicBezTo>
                    <a:pt x="31526" y="0"/>
                    <a:pt x="40404" y="7299"/>
                    <a:pt x="42399" y="17424"/>
                  </a:cubicBezTo>
                </a:path>
                <a:path extrusionOk="0" h="21600" w="42400">
                  <a:moveTo>
                    <a:pt x="-1" y="17499"/>
                  </a:moveTo>
                  <a:cubicBezTo>
                    <a:pt x="1964" y="7339"/>
                    <a:pt x="10858" y="-1"/>
                    <a:pt x="21207" y="0"/>
                  </a:cubicBezTo>
                  <a:cubicBezTo>
                    <a:pt x="31526" y="0"/>
                    <a:pt x="40404" y="7299"/>
                    <a:pt x="42399" y="17424"/>
                  </a:cubicBezTo>
                  <a:lnTo>
                    <a:pt x="21207" y="21600"/>
                  </a:lnTo>
                  <a:lnTo>
                    <a:pt x="-1" y="17499"/>
                  </a:lnTo>
                  <a:close/>
                </a:path>
              </a:pathLst>
            </a:cu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69" name="Google Shape;1469;p55"/>
            <p:cNvSpPr/>
            <p:nvPr/>
          </p:nvSpPr>
          <p:spPr>
            <a:xfrm>
              <a:off x="2821" y="3032"/>
              <a:ext cx="338" cy="573"/>
            </a:xfrm>
            <a:custGeom>
              <a:rect b="b" l="l" r="r" t="t"/>
              <a:pathLst>
                <a:path extrusionOk="0" fill="none" h="21600" w="42400">
                  <a:moveTo>
                    <a:pt x="-1" y="17499"/>
                  </a:moveTo>
                  <a:cubicBezTo>
                    <a:pt x="1964" y="7339"/>
                    <a:pt x="10858" y="-1"/>
                    <a:pt x="21207" y="0"/>
                  </a:cubicBezTo>
                  <a:cubicBezTo>
                    <a:pt x="31526" y="0"/>
                    <a:pt x="40404" y="7299"/>
                    <a:pt x="42399" y="17424"/>
                  </a:cubicBezTo>
                </a:path>
                <a:path extrusionOk="0" h="21600" w="42400">
                  <a:moveTo>
                    <a:pt x="-1" y="17499"/>
                  </a:moveTo>
                  <a:cubicBezTo>
                    <a:pt x="1964" y="7339"/>
                    <a:pt x="10858" y="-1"/>
                    <a:pt x="21207" y="0"/>
                  </a:cubicBezTo>
                  <a:cubicBezTo>
                    <a:pt x="31526" y="0"/>
                    <a:pt x="40404" y="7299"/>
                    <a:pt x="42399" y="17424"/>
                  </a:cubicBezTo>
                  <a:lnTo>
                    <a:pt x="21207" y="21600"/>
                  </a:lnTo>
                  <a:lnTo>
                    <a:pt x="-1" y="17499"/>
                  </a:lnTo>
                  <a:close/>
                </a:path>
              </a:pathLst>
            </a:cu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70" name="Google Shape;1470;p55"/>
            <p:cNvSpPr/>
            <p:nvPr/>
          </p:nvSpPr>
          <p:spPr>
            <a:xfrm flipH="1" rot="10800000">
              <a:off x="3161" y="3390"/>
              <a:ext cx="338" cy="573"/>
            </a:xfrm>
            <a:custGeom>
              <a:rect b="b" l="l" r="r" t="t"/>
              <a:pathLst>
                <a:path extrusionOk="0" fill="none" h="21600" w="42400">
                  <a:moveTo>
                    <a:pt x="-1" y="17499"/>
                  </a:moveTo>
                  <a:cubicBezTo>
                    <a:pt x="1964" y="7339"/>
                    <a:pt x="10858" y="-1"/>
                    <a:pt x="21207" y="0"/>
                  </a:cubicBezTo>
                  <a:cubicBezTo>
                    <a:pt x="31526" y="0"/>
                    <a:pt x="40404" y="7299"/>
                    <a:pt x="42399" y="17424"/>
                  </a:cubicBezTo>
                </a:path>
                <a:path extrusionOk="0" h="21600" w="42400">
                  <a:moveTo>
                    <a:pt x="-1" y="17499"/>
                  </a:moveTo>
                  <a:cubicBezTo>
                    <a:pt x="1964" y="7339"/>
                    <a:pt x="10858" y="-1"/>
                    <a:pt x="21207" y="0"/>
                  </a:cubicBezTo>
                  <a:cubicBezTo>
                    <a:pt x="31526" y="0"/>
                    <a:pt x="40404" y="7299"/>
                    <a:pt x="42399" y="17424"/>
                  </a:cubicBezTo>
                  <a:lnTo>
                    <a:pt x="21207" y="21600"/>
                  </a:lnTo>
                  <a:lnTo>
                    <a:pt x="-1" y="17499"/>
                  </a:lnTo>
                  <a:close/>
                </a:path>
              </a:pathLst>
            </a:cu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71" name="Google Shape;1471;p55"/>
            <p:cNvSpPr/>
            <p:nvPr/>
          </p:nvSpPr>
          <p:spPr>
            <a:xfrm>
              <a:off x="3501" y="3033"/>
              <a:ext cx="171" cy="573"/>
            </a:xfrm>
            <a:custGeom>
              <a:rect b="b" l="l" r="r" t="t"/>
              <a:pathLst>
                <a:path extrusionOk="0" fill="none" h="21600" w="21444">
                  <a:moveTo>
                    <a:pt x="-1" y="17499"/>
                  </a:moveTo>
                  <a:cubicBezTo>
                    <a:pt x="1964" y="7339"/>
                    <a:pt x="10858" y="-1"/>
                    <a:pt x="21207" y="0"/>
                  </a:cubicBezTo>
                  <a:cubicBezTo>
                    <a:pt x="21286" y="0"/>
                    <a:pt x="21365" y="0"/>
                    <a:pt x="21443" y="1"/>
                  </a:cubicBezTo>
                </a:path>
                <a:path extrusionOk="0" h="21600" w="21444">
                  <a:moveTo>
                    <a:pt x="-1" y="17499"/>
                  </a:moveTo>
                  <a:cubicBezTo>
                    <a:pt x="1964" y="7339"/>
                    <a:pt x="10858" y="-1"/>
                    <a:pt x="21207" y="0"/>
                  </a:cubicBezTo>
                  <a:cubicBezTo>
                    <a:pt x="21286" y="0"/>
                    <a:pt x="21365" y="0"/>
                    <a:pt x="21443" y="1"/>
                  </a:cubicBezTo>
                  <a:lnTo>
                    <a:pt x="21207" y="21600"/>
                  </a:lnTo>
                  <a:lnTo>
                    <a:pt x="-1" y="17499"/>
                  </a:lnTo>
                  <a:close/>
                </a:path>
              </a:pathLst>
            </a:custGeom>
            <a:noFill/>
            <a:ln cap="flat" cmpd="sng" w="285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grpSp>
        <p:nvGrpSpPr>
          <p:cNvPr id="1472" name="Google Shape;1472;p55"/>
          <p:cNvGrpSpPr/>
          <p:nvPr/>
        </p:nvGrpSpPr>
        <p:grpSpPr>
          <a:xfrm flipH="1" rot="10800000">
            <a:off x="1028700" y="5013325"/>
            <a:ext cx="3190875" cy="1477963"/>
            <a:chOff x="1288" y="3032"/>
            <a:chExt cx="2384" cy="931"/>
          </a:xfrm>
        </p:grpSpPr>
        <p:sp>
          <p:nvSpPr>
            <p:cNvPr id="1473" name="Google Shape;1473;p55"/>
            <p:cNvSpPr/>
            <p:nvPr/>
          </p:nvSpPr>
          <p:spPr>
            <a:xfrm flipH="1" rot="10800000">
              <a:off x="1288" y="3390"/>
              <a:ext cx="172" cy="573"/>
            </a:xfrm>
            <a:custGeom>
              <a:rect b="b" l="l" r="r" t="t"/>
              <a:pathLst>
                <a:path extrusionOk="0" fill="none" h="21600" w="21575">
                  <a:moveTo>
                    <a:pt x="0" y="3"/>
                  </a:moveTo>
                  <a:cubicBezTo>
                    <a:pt x="127" y="1"/>
                    <a:pt x="254" y="-1"/>
                    <a:pt x="382" y="0"/>
                  </a:cubicBezTo>
                  <a:cubicBezTo>
                    <a:pt x="10701" y="0"/>
                    <a:pt x="19579" y="7299"/>
                    <a:pt x="21574" y="17424"/>
                  </a:cubicBezTo>
                </a:path>
                <a:path extrusionOk="0" h="21600" w="21575">
                  <a:moveTo>
                    <a:pt x="0" y="3"/>
                  </a:moveTo>
                  <a:cubicBezTo>
                    <a:pt x="127" y="1"/>
                    <a:pt x="254" y="-1"/>
                    <a:pt x="382" y="0"/>
                  </a:cubicBezTo>
                  <a:cubicBezTo>
                    <a:pt x="10701" y="0"/>
                    <a:pt x="19579" y="7299"/>
                    <a:pt x="21574" y="17424"/>
                  </a:cubicBezTo>
                  <a:lnTo>
                    <a:pt x="382" y="21600"/>
                  </a:lnTo>
                  <a:lnTo>
                    <a:pt x="0" y="3"/>
                  </a:lnTo>
                  <a:close/>
                </a:path>
              </a:pathLst>
            </a:custGeom>
            <a:noFill/>
            <a:ln cap="flat" cmpd="sng" w="28575">
              <a:solidFill>
                <a:srgbClr val="008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74" name="Google Shape;1474;p55"/>
            <p:cNvSpPr/>
            <p:nvPr/>
          </p:nvSpPr>
          <p:spPr>
            <a:xfrm>
              <a:off x="1462" y="3032"/>
              <a:ext cx="338" cy="573"/>
            </a:xfrm>
            <a:custGeom>
              <a:rect b="b" l="l" r="r" t="t"/>
              <a:pathLst>
                <a:path extrusionOk="0" fill="none" h="21600" w="42400">
                  <a:moveTo>
                    <a:pt x="-1" y="17499"/>
                  </a:moveTo>
                  <a:cubicBezTo>
                    <a:pt x="1964" y="7339"/>
                    <a:pt x="10858" y="-1"/>
                    <a:pt x="21207" y="0"/>
                  </a:cubicBezTo>
                  <a:cubicBezTo>
                    <a:pt x="31526" y="0"/>
                    <a:pt x="40404" y="7299"/>
                    <a:pt x="42399" y="17424"/>
                  </a:cubicBezTo>
                </a:path>
                <a:path extrusionOk="0" h="21600" w="42400">
                  <a:moveTo>
                    <a:pt x="-1" y="17499"/>
                  </a:moveTo>
                  <a:cubicBezTo>
                    <a:pt x="1964" y="7339"/>
                    <a:pt x="10858" y="-1"/>
                    <a:pt x="21207" y="0"/>
                  </a:cubicBezTo>
                  <a:cubicBezTo>
                    <a:pt x="31526" y="0"/>
                    <a:pt x="40404" y="7299"/>
                    <a:pt x="42399" y="17424"/>
                  </a:cubicBezTo>
                  <a:lnTo>
                    <a:pt x="21207" y="21600"/>
                  </a:lnTo>
                  <a:lnTo>
                    <a:pt x="-1" y="17499"/>
                  </a:lnTo>
                  <a:close/>
                </a:path>
              </a:pathLst>
            </a:custGeom>
            <a:noFill/>
            <a:ln cap="flat" cmpd="sng" w="28575">
              <a:solidFill>
                <a:srgbClr val="008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75" name="Google Shape;1475;p55"/>
            <p:cNvSpPr/>
            <p:nvPr/>
          </p:nvSpPr>
          <p:spPr>
            <a:xfrm flipH="1" rot="10800000">
              <a:off x="1802" y="3390"/>
              <a:ext cx="338" cy="573"/>
            </a:xfrm>
            <a:custGeom>
              <a:rect b="b" l="l" r="r" t="t"/>
              <a:pathLst>
                <a:path extrusionOk="0" fill="none" h="21600" w="42400">
                  <a:moveTo>
                    <a:pt x="-1" y="17499"/>
                  </a:moveTo>
                  <a:cubicBezTo>
                    <a:pt x="1964" y="7339"/>
                    <a:pt x="10858" y="-1"/>
                    <a:pt x="21207" y="0"/>
                  </a:cubicBezTo>
                  <a:cubicBezTo>
                    <a:pt x="31526" y="0"/>
                    <a:pt x="40404" y="7299"/>
                    <a:pt x="42399" y="17424"/>
                  </a:cubicBezTo>
                </a:path>
                <a:path extrusionOk="0" h="21600" w="42400">
                  <a:moveTo>
                    <a:pt x="-1" y="17499"/>
                  </a:moveTo>
                  <a:cubicBezTo>
                    <a:pt x="1964" y="7339"/>
                    <a:pt x="10858" y="-1"/>
                    <a:pt x="21207" y="0"/>
                  </a:cubicBezTo>
                  <a:cubicBezTo>
                    <a:pt x="31526" y="0"/>
                    <a:pt x="40404" y="7299"/>
                    <a:pt x="42399" y="17424"/>
                  </a:cubicBezTo>
                  <a:lnTo>
                    <a:pt x="21207" y="21600"/>
                  </a:lnTo>
                  <a:lnTo>
                    <a:pt x="-1" y="17499"/>
                  </a:lnTo>
                  <a:close/>
                </a:path>
              </a:pathLst>
            </a:custGeom>
            <a:noFill/>
            <a:ln cap="flat" cmpd="sng" w="28575">
              <a:solidFill>
                <a:srgbClr val="008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76" name="Google Shape;1476;p55"/>
            <p:cNvSpPr/>
            <p:nvPr/>
          </p:nvSpPr>
          <p:spPr>
            <a:xfrm>
              <a:off x="2142" y="3032"/>
              <a:ext cx="338" cy="573"/>
            </a:xfrm>
            <a:custGeom>
              <a:rect b="b" l="l" r="r" t="t"/>
              <a:pathLst>
                <a:path extrusionOk="0" fill="none" h="21600" w="42400">
                  <a:moveTo>
                    <a:pt x="-1" y="17499"/>
                  </a:moveTo>
                  <a:cubicBezTo>
                    <a:pt x="1964" y="7339"/>
                    <a:pt x="10858" y="-1"/>
                    <a:pt x="21207" y="0"/>
                  </a:cubicBezTo>
                  <a:cubicBezTo>
                    <a:pt x="31526" y="0"/>
                    <a:pt x="40404" y="7299"/>
                    <a:pt x="42399" y="17424"/>
                  </a:cubicBezTo>
                </a:path>
                <a:path extrusionOk="0" h="21600" w="42400">
                  <a:moveTo>
                    <a:pt x="-1" y="17499"/>
                  </a:moveTo>
                  <a:cubicBezTo>
                    <a:pt x="1964" y="7339"/>
                    <a:pt x="10858" y="-1"/>
                    <a:pt x="21207" y="0"/>
                  </a:cubicBezTo>
                  <a:cubicBezTo>
                    <a:pt x="31526" y="0"/>
                    <a:pt x="40404" y="7299"/>
                    <a:pt x="42399" y="17424"/>
                  </a:cubicBezTo>
                  <a:lnTo>
                    <a:pt x="21207" y="21600"/>
                  </a:lnTo>
                  <a:lnTo>
                    <a:pt x="-1" y="17499"/>
                  </a:lnTo>
                  <a:close/>
                </a:path>
              </a:pathLst>
            </a:custGeom>
            <a:noFill/>
            <a:ln cap="flat" cmpd="sng" w="28575">
              <a:solidFill>
                <a:srgbClr val="008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77" name="Google Shape;1477;p55"/>
            <p:cNvSpPr/>
            <p:nvPr/>
          </p:nvSpPr>
          <p:spPr>
            <a:xfrm flipH="1" rot="10800000">
              <a:off x="2481" y="3390"/>
              <a:ext cx="338" cy="573"/>
            </a:xfrm>
            <a:custGeom>
              <a:rect b="b" l="l" r="r" t="t"/>
              <a:pathLst>
                <a:path extrusionOk="0" fill="none" h="21600" w="42400">
                  <a:moveTo>
                    <a:pt x="-1" y="17499"/>
                  </a:moveTo>
                  <a:cubicBezTo>
                    <a:pt x="1964" y="7339"/>
                    <a:pt x="10858" y="-1"/>
                    <a:pt x="21207" y="0"/>
                  </a:cubicBezTo>
                  <a:cubicBezTo>
                    <a:pt x="31526" y="0"/>
                    <a:pt x="40404" y="7299"/>
                    <a:pt x="42399" y="17424"/>
                  </a:cubicBezTo>
                </a:path>
                <a:path extrusionOk="0" h="21600" w="42400">
                  <a:moveTo>
                    <a:pt x="-1" y="17499"/>
                  </a:moveTo>
                  <a:cubicBezTo>
                    <a:pt x="1964" y="7339"/>
                    <a:pt x="10858" y="-1"/>
                    <a:pt x="21207" y="0"/>
                  </a:cubicBezTo>
                  <a:cubicBezTo>
                    <a:pt x="31526" y="0"/>
                    <a:pt x="40404" y="7299"/>
                    <a:pt x="42399" y="17424"/>
                  </a:cubicBezTo>
                  <a:lnTo>
                    <a:pt x="21207" y="21600"/>
                  </a:lnTo>
                  <a:lnTo>
                    <a:pt x="-1" y="17499"/>
                  </a:lnTo>
                  <a:close/>
                </a:path>
              </a:pathLst>
            </a:custGeom>
            <a:noFill/>
            <a:ln cap="flat" cmpd="sng" w="28575">
              <a:solidFill>
                <a:srgbClr val="008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78" name="Google Shape;1478;p55"/>
            <p:cNvSpPr/>
            <p:nvPr/>
          </p:nvSpPr>
          <p:spPr>
            <a:xfrm>
              <a:off x="2821" y="3032"/>
              <a:ext cx="338" cy="573"/>
            </a:xfrm>
            <a:custGeom>
              <a:rect b="b" l="l" r="r" t="t"/>
              <a:pathLst>
                <a:path extrusionOk="0" fill="none" h="21600" w="42400">
                  <a:moveTo>
                    <a:pt x="-1" y="17499"/>
                  </a:moveTo>
                  <a:cubicBezTo>
                    <a:pt x="1964" y="7339"/>
                    <a:pt x="10858" y="-1"/>
                    <a:pt x="21207" y="0"/>
                  </a:cubicBezTo>
                  <a:cubicBezTo>
                    <a:pt x="31526" y="0"/>
                    <a:pt x="40404" y="7299"/>
                    <a:pt x="42399" y="17424"/>
                  </a:cubicBezTo>
                </a:path>
                <a:path extrusionOk="0" h="21600" w="42400">
                  <a:moveTo>
                    <a:pt x="-1" y="17499"/>
                  </a:moveTo>
                  <a:cubicBezTo>
                    <a:pt x="1964" y="7339"/>
                    <a:pt x="10858" y="-1"/>
                    <a:pt x="21207" y="0"/>
                  </a:cubicBezTo>
                  <a:cubicBezTo>
                    <a:pt x="31526" y="0"/>
                    <a:pt x="40404" y="7299"/>
                    <a:pt x="42399" y="17424"/>
                  </a:cubicBezTo>
                  <a:lnTo>
                    <a:pt x="21207" y="21600"/>
                  </a:lnTo>
                  <a:lnTo>
                    <a:pt x="-1" y="17499"/>
                  </a:lnTo>
                  <a:close/>
                </a:path>
              </a:pathLst>
            </a:custGeom>
            <a:noFill/>
            <a:ln cap="flat" cmpd="sng" w="28575">
              <a:solidFill>
                <a:srgbClr val="008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79" name="Google Shape;1479;p55"/>
            <p:cNvSpPr/>
            <p:nvPr/>
          </p:nvSpPr>
          <p:spPr>
            <a:xfrm flipH="1" rot="10800000">
              <a:off x="3161" y="3390"/>
              <a:ext cx="338" cy="573"/>
            </a:xfrm>
            <a:custGeom>
              <a:rect b="b" l="l" r="r" t="t"/>
              <a:pathLst>
                <a:path extrusionOk="0" fill="none" h="21600" w="42400">
                  <a:moveTo>
                    <a:pt x="-1" y="17499"/>
                  </a:moveTo>
                  <a:cubicBezTo>
                    <a:pt x="1964" y="7339"/>
                    <a:pt x="10858" y="-1"/>
                    <a:pt x="21207" y="0"/>
                  </a:cubicBezTo>
                  <a:cubicBezTo>
                    <a:pt x="31526" y="0"/>
                    <a:pt x="40404" y="7299"/>
                    <a:pt x="42399" y="17424"/>
                  </a:cubicBezTo>
                </a:path>
                <a:path extrusionOk="0" h="21600" w="42400">
                  <a:moveTo>
                    <a:pt x="-1" y="17499"/>
                  </a:moveTo>
                  <a:cubicBezTo>
                    <a:pt x="1964" y="7339"/>
                    <a:pt x="10858" y="-1"/>
                    <a:pt x="21207" y="0"/>
                  </a:cubicBezTo>
                  <a:cubicBezTo>
                    <a:pt x="31526" y="0"/>
                    <a:pt x="40404" y="7299"/>
                    <a:pt x="42399" y="17424"/>
                  </a:cubicBezTo>
                  <a:lnTo>
                    <a:pt x="21207" y="21600"/>
                  </a:lnTo>
                  <a:lnTo>
                    <a:pt x="-1" y="17499"/>
                  </a:lnTo>
                  <a:close/>
                </a:path>
              </a:pathLst>
            </a:custGeom>
            <a:noFill/>
            <a:ln cap="flat" cmpd="sng" w="28575">
              <a:solidFill>
                <a:srgbClr val="008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80" name="Google Shape;1480;p55"/>
            <p:cNvSpPr/>
            <p:nvPr/>
          </p:nvSpPr>
          <p:spPr>
            <a:xfrm>
              <a:off x="3501" y="3033"/>
              <a:ext cx="171" cy="573"/>
            </a:xfrm>
            <a:custGeom>
              <a:rect b="b" l="l" r="r" t="t"/>
              <a:pathLst>
                <a:path extrusionOk="0" fill="none" h="21600" w="21444">
                  <a:moveTo>
                    <a:pt x="-1" y="17499"/>
                  </a:moveTo>
                  <a:cubicBezTo>
                    <a:pt x="1964" y="7339"/>
                    <a:pt x="10858" y="-1"/>
                    <a:pt x="21207" y="0"/>
                  </a:cubicBezTo>
                  <a:cubicBezTo>
                    <a:pt x="21286" y="0"/>
                    <a:pt x="21365" y="0"/>
                    <a:pt x="21443" y="1"/>
                  </a:cubicBezTo>
                </a:path>
                <a:path extrusionOk="0" h="21600" w="21444">
                  <a:moveTo>
                    <a:pt x="-1" y="17499"/>
                  </a:moveTo>
                  <a:cubicBezTo>
                    <a:pt x="1964" y="7339"/>
                    <a:pt x="10858" y="-1"/>
                    <a:pt x="21207" y="0"/>
                  </a:cubicBezTo>
                  <a:cubicBezTo>
                    <a:pt x="21286" y="0"/>
                    <a:pt x="21365" y="0"/>
                    <a:pt x="21443" y="1"/>
                  </a:cubicBezTo>
                  <a:lnTo>
                    <a:pt x="21207" y="21600"/>
                  </a:lnTo>
                  <a:lnTo>
                    <a:pt x="-1" y="17499"/>
                  </a:lnTo>
                  <a:close/>
                </a:path>
              </a:pathLst>
            </a:custGeom>
            <a:noFill/>
            <a:ln cap="flat" cmpd="sng" w="28575">
              <a:solidFill>
                <a:srgbClr val="008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grpSp>
        <p:nvGrpSpPr>
          <p:cNvPr id="1481" name="Google Shape;1481;p55"/>
          <p:cNvGrpSpPr/>
          <p:nvPr/>
        </p:nvGrpSpPr>
        <p:grpSpPr>
          <a:xfrm>
            <a:off x="4379913" y="4079875"/>
            <a:ext cx="1503362" cy="1503363"/>
            <a:chOff x="4100" y="2501"/>
            <a:chExt cx="947" cy="947"/>
          </a:xfrm>
        </p:grpSpPr>
        <p:sp>
          <p:nvSpPr>
            <p:cNvPr id="1482" name="Google Shape;1482;p55"/>
            <p:cNvSpPr/>
            <p:nvPr/>
          </p:nvSpPr>
          <p:spPr>
            <a:xfrm>
              <a:off x="4100" y="2501"/>
              <a:ext cx="947" cy="947"/>
            </a:xfrm>
            <a:prstGeom prst="ellipse">
              <a:avLst/>
            </a:prstGeom>
            <a:solidFill>
              <a:schemeClr val="lt1"/>
            </a:solidFill>
            <a:ln cap="flat" cmpd="thickThin" w="571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cxnSp>
          <p:nvCxnSpPr>
            <p:cNvPr id="1483" name="Google Shape;1483;p55"/>
            <p:cNvCxnSpPr/>
            <p:nvPr/>
          </p:nvCxnSpPr>
          <p:spPr>
            <a:xfrm>
              <a:off x="4578" y="2523"/>
              <a:ext cx="0" cy="911"/>
            </a:xfrm>
            <a:prstGeom prst="straightConnector1">
              <a:avLst/>
            </a:prstGeom>
            <a:noFill/>
            <a:ln cap="flat" cmpd="sng" w="9525">
              <a:solidFill>
                <a:schemeClr val="dk1"/>
              </a:solidFill>
              <a:prstDash val="solid"/>
              <a:round/>
              <a:headEnd len="med" w="med" type="none"/>
              <a:tailEnd len="med" w="med" type="none"/>
            </a:ln>
          </p:spPr>
        </p:cxnSp>
        <p:cxnSp>
          <p:nvCxnSpPr>
            <p:cNvPr id="1484" name="Google Shape;1484;p55"/>
            <p:cNvCxnSpPr/>
            <p:nvPr/>
          </p:nvCxnSpPr>
          <p:spPr>
            <a:xfrm>
              <a:off x="4122" y="2979"/>
              <a:ext cx="903" cy="0"/>
            </a:xfrm>
            <a:prstGeom prst="straightConnector1">
              <a:avLst/>
            </a:prstGeom>
            <a:noFill/>
            <a:ln cap="flat" cmpd="sng" w="9525">
              <a:solidFill>
                <a:schemeClr val="dk1"/>
              </a:solidFill>
              <a:prstDash val="solid"/>
              <a:round/>
              <a:headEnd len="med" w="med" type="none"/>
              <a:tailEnd len="med" w="med" type="none"/>
            </a:ln>
          </p:spPr>
        </p:cxnSp>
        <p:cxnSp>
          <p:nvCxnSpPr>
            <p:cNvPr id="1485" name="Google Shape;1485;p55"/>
            <p:cNvCxnSpPr/>
            <p:nvPr/>
          </p:nvCxnSpPr>
          <p:spPr>
            <a:xfrm flipH="1" rot="10800000">
              <a:off x="4351" y="2588"/>
              <a:ext cx="453" cy="784"/>
            </a:xfrm>
            <a:prstGeom prst="straightConnector1">
              <a:avLst/>
            </a:prstGeom>
            <a:noFill/>
            <a:ln cap="flat" cmpd="sng" w="9525">
              <a:solidFill>
                <a:schemeClr val="dk1"/>
              </a:solidFill>
              <a:prstDash val="solid"/>
              <a:round/>
              <a:headEnd len="med" w="med" type="none"/>
              <a:tailEnd len="med" w="med" type="none"/>
            </a:ln>
          </p:spPr>
        </p:cxnSp>
        <p:cxnSp>
          <p:nvCxnSpPr>
            <p:cNvPr id="1486" name="Google Shape;1486;p55"/>
            <p:cNvCxnSpPr/>
            <p:nvPr/>
          </p:nvCxnSpPr>
          <p:spPr>
            <a:xfrm flipH="1" rot="10800000">
              <a:off x="4174" y="2756"/>
              <a:ext cx="789" cy="457"/>
            </a:xfrm>
            <a:prstGeom prst="straightConnector1">
              <a:avLst/>
            </a:prstGeom>
            <a:noFill/>
            <a:ln cap="flat" cmpd="sng" w="9525">
              <a:solidFill>
                <a:schemeClr val="dk1"/>
              </a:solidFill>
              <a:prstDash val="solid"/>
              <a:round/>
              <a:headEnd len="med" w="med" type="none"/>
              <a:tailEnd len="med" w="med" type="none"/>
            </a:ln>
          </p:spPr>
        </p:cxnSp>
        <p:cxnSp>
          <p:nvCxnSpPr>
            <p:cNvPr id="1487" name="Google Shape;1487;p55"/>
            <p:cNvCxnSpPr/>
            <p:nvPr/>
          </p:nvCxnSpPr>
          <p:spPr>
            <a:xfrm rot="10800000">
              <a:off x="4346" y="2575"/>
              <a:ext cx="453" cy="784"/>
            </a:xfrm>
            <a:prstGeom prst="straightConnector1">
              <a:avLst/>
            </a:prstGeom>
            <a:noFill/>
            <a:ln cap="flat" cmpd="sng" w="9525">
              <a:solidFill>
                <a:schemeClr val="dk1"/>
              </a:solidFill>
              <a:prstDash val="solid"/>
              <a:round/>
              <a:headEnd len="med" w="med" type="none"/>
              <a:tailEnd len="med" w="med" type="none"/>
            </a:ln>
          </p:spPr>
        </p:cxnSp>
        <p:cxnSp>
          <p:nvCxnSpPr>
            <p:cNvPr id="1488" name="Google Shape;1488;p55"/>
            <p:cNvCxnSpPr/>
            <p:nvPr/>
          </p:nvCxnSpPr>
          <p:spPr>
            <a:xfrm rot="10800000">
              <a:off x="4169" y="2743"/>
              <a:ext cx="789" cy="457"/>
            </a:xfrm>
            <a:prstGeom prst="straightConnector1">
              <a:avLst/>
            </a:prstGeom>
            <a:noFill/>
            <a:ln cap="flat" cmpd="sng" w="9525">
              <a:solidFill>
                <a:schemeClr val="dk1"/>
              </a:solidFill>
              <a:prstDash val="solid"/>
              <a:round/>
              <a:headEnd len="med" w="med" type="none"/>
              <a:tailEnd len="med" w="med" type="none"/>
            </a:ln>
          </p:spPr>
        </p:cxnSp>
        <p:sp>
          <p:nvSpPr>
            <p:cNvPr id="1489" name="Google Shape;1489;p55"/>
            <p:cNvSpPr/>
            <p:nvPr/>
          </p:nvSpPr>
          <p:spPr>
            <a:xfrm>
              <a:off x="4203" y="2593"/>
              <a:ext cx="750" cy="7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490" name="Google Shape;1490;p55"/>
            <p:cNvSpPr txBox="1"/>
            <p:nvPr/>
          </p:nvSpPr>
          <p:spPr>
            <a:xfrm>
              <a:off x="4436" y="2528"/>
              <a:ext cx="212"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000"/>
                <a:buFont typeface="Courier New"/>
                <a:buNone/>
              </a:pPr>
              <a:r>
                <a:rPr b="1" lang="en-US" sz="2000">
                  <a:solidFill>
                    <a:schemeClr val="dk1"/>
                  </a:solidFill>
                  <a:latin typeface="Courier New"/>
                  <a:ea typeface="Courier New"/>
                  <a:cs typeface="Courier New"/>
                  <a:sym typeface="Courier New"/>
                </a:rPr>
                <a:t> </a:t>
              </a:r>
              <a:endParaRPr/>
            </a:p>
          </p:txBody>
        </p:sp>
        <p:sp>
          <p:nvSpPr>
            <p:cNvPr id="1491" name="Google Shape;1491;p55"/>
            <p:cNvSpPr txBox="1"/>
            <p:nvPr/>
          </p:nvSpPr>
          <p:spPr>
            <a:xfrm>
              <a:off x="4798" y="2863"/>
              <a:ext cx="21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Courier New"/>
                <a:buNone/>
              </a:pPr>
              <a:r>
                <a:rPr b="1" lang="en-US" sz="2000">
                  <a:solidFill>
                    <a:schemeClr val="dk1"/>
                  </a:solidFill>
                  <a:latin typeface="Courier New"/>
                  <a:ea typeface="Courier New"/>
                  <a:cs typeface="Courier New"/>
                  <a:sym typeface="Courier New"/>
                </a:rPr>
                <a:t> </a:t>
              </a:r>
              <a:endParaRPr/>
            </a:p>
          </p:txBody>
        </p:sp>
        <p:sp>
          <p:nvSpPr>
            <p:cNvPr id="1492" name="Google Shape;1492;p55"/>
            <p:cNvSpPr txBox="1"/>
            <p:nvPr/>
          </p:nvSpPr>
          <p:spPr>
            <a:xfrm>
              <a:off x="4470" y="3167"/>
              <a:ext cx="21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Courier New"/>
                <a:buNone/>
              </a:pPr>
              <a:r>
                <a:rPr b="1" lang="en-US" sz="2000">
                  <a:solidFill>
                    <a:schemeClr val="dk1"/>
                  </a:solidFill>
                  <a:latin typeface="Courier New"/>
                  <a:ea typeface="Courier New"/>
                  <a:cs typeface="Courier New"/>
                  <a:sym typeface="Courier New"/>
                </a:rPr>
                <a:t> </a:t>
              </a:r>
              <a:endParaRPr/>
            </a:p>
          </p:txBody>
        </p:sp>
        <p:sp>
          <p:nvSpPr>
            <p:cNvPr id="1493" name="Google Shape;1493;p55"/>
            <p:cNvSpPr txBox="1"/>
            <p:nvPr/>
          </p:nvSpPr>
          <p:spPr>
            <a:xfrm>
              <a:off x="4154" y="2859"/>
              <a:ext cx="21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Courier New"/>
                <a:buNone/>
              </a:pPr>
              <a:r>
                <a:rPr b="1" lang="en-US" sz="2000">
                  <a:solidFill>
                    <a:schemeClr val="dk1"/>
                  </a:solidFill>
                  <a:latin typeface="Courier New"/>
                  <a:ea typeface="Courier New"/>
                  <a:cs typeface="Courier New"/>
                  <a:sym typeface="Courier New"/>
                </a:rPr>
                <a:t> </a:t>
              </a:r>
              <a:endParaRPr/>
            </a:p>
          </p:txBody>
        </p:sp>
      </p:grpSp>
      <p:grpSp>
        <p:nvGrpSpPr>
          <p:cNvPr id="1494" name="Google Shape;1494;p55"/>
          <p:cNvGrpSpPr/>
          <p:nvPr/>
        </p:nvGrpSpPr>
        <p:grpSpPr>
          <a:xfrm>
            <a:off x="5091113" y="4175125"/>
            <a:ext cx="96837" cy="1311275"/>
            <a:chOff x="4532" y="2501"/>
            <a:chExt cx="61" cy="826"/>
          </a:xfrm>
        </p:grpSpPr>
        <p:cxnSp>
          <p:nvCxnSpPr>
            <p:cNvPr id="1495" name="Google Shape;1495;p55"/>
            <p:cNvCxnSpPr/>
            <p:nvPr/>
          </p:nvCxnSpPr>
          <p:spPr>
            <a:xfrm>
              <a:off x="4563" y="2501"/>
              <a:ext cx="0" cy="417"/>
            </a:xfrm>
            <a:prstGeom prst="straightConnector1">
              <a:avLst/>
            </a:prstGeom>
            <a:noFill/>
            <a:ln cap="flat" cmpd="sng" w="28575">
              <a:solidFill>
                <a:srgbClr val="FF3300"/>
              </a:solidFill>
              <a:prstDash val="solid"/>
              <a:round/>
              <a:headEnd len="med" w="med" type="none"/>
              <a:tailEnd len="med" w="med" type="none"/>
            </a:ln>
          </p:spPr>
        </p:cxnSp>
        <p:sp>
          <p:nvSpPr>
            <p:cNvPr id="1496" name="Google Shape;1496;p55"/>
            <p:cNvSpPr/>
            <p:nvPr/>
          </p:nvSpPr>
          <p:spPr>
            <a:xfrm>
              <a:off x="4540" y="2918"/>
              <a:ext cx="48" cy="409"/>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497" name="Google Shape;1497;p55"/>
            <p:cNvSpPr/>
            <p:nvPr/>
          </p:nvSpPr>
          <p:spPr>
            <a:xfrm>
              <a:off x="4532" y="2887"/>
              <a:ext cx="61" cy="61"/>
            </a:xfrm>
            <a:prstGeom prst="ellipse">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grpSp>
      <p:sp>
        <p:nvSpPr>
          <p:cNvPr id="1498" name="Google Shape;1498;p55"/>
          <p:cNvSpPr txBox="1"/>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Topic A: Space, time and motion</a:t>
            </a:r>
            <a:br>
              <a:rPr lang="en-US" sz="2800">
                <a:solidFill>
                  <a:schemeClr val="dk1"/>
                </a:solidFill>
                <a:latin typeface="Arial"/>
                <a:ea typeface="Arial"/>
                <a:cs typeface="Arial"/>
                <a:sym typeface="Arial"/>
              </a:rPr>
            </a:br>
            <a:r>
              <a:rPr lang="en-US" sz="2800">
                <a:solidFill>
                  <a:schemeClr val="dk1"/>
                </a:solidFill>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sp>
        <p:nvSpPr>
          <p:cNvPr id="1499" name="Google Shape;1499;p55"/>
          <p:cNvSpPr/>
          <p:nvPr/>
        </p:nvSpPr>
        <p:spPr>
          <a:xfrm>
            <a:off x="936625" y="4554856"/>
            <a:ext cx="3375025" cy="37306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rgbClr val="FF0000"/>
                </a:solidFill>
                <a:latin typeface="Arial"/>
                <a:ea typeface="Arial"/>
                <a:cs typeface="Arial"/>
                <a:sym typeface="Arial"/>
              </a:rPr>
              <a:t>E</a:t>
            </a:r>
            <a:r>
              <a:rPr baseline="-25000" lang="en-US" sz="2400">
                <a:solidFill>
                  <a:srgbClr val="FF0000"/>
                </a:solidFill>
                <a:latin typeface="Arial"/>
                <a:ea typeface="Arial"/>
                <a:cs typeface="Arial"/>
                <a:sym typeface="Arial"/>
              </a:rPr>
              <a:t>K</a:t>
            </a:r>
            <a:r>
              <a:rPr lang="en-US" sz="2400">
                <a:solidFill>
                  <a:schemeClr val="dk1"/>
                </a:solidFill>
                <a:latin typeface="Arial"/>
                <a:ea typeface="Arial"/>
                <a:cs typeface="Arial"/>
                <a:sym typeface="Arial"/>
              </a:rPr>
              <a:t> + </a:t>
            </a:r>
            <a:r>
              <a:rPr i="1" lang="en-US" sz="2400">
                <a:solidFill>
                  <a:srgbClr val="008000"/>
                </a:solidFill>
                <a:latin typeface="Arial"/>
                <a:ea typeface="Arial"/>
                <a:cs typeface="Arial"/>
                <a:sym typeface="Arial"/>
              </a:rPr>
              <a:t>E</a:t>
            </a:r>
            <a:r>
              <a:rPr baseline="-25000" lang="en-US" sz="2400">
                <a:solidFill>
                  <a:srgbClr val="008000"/>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E</a:t>
            </a:r>
            <a:r>
              <a:rPr baseline="-25000"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CONST</a:t>
            </a:r>
            <a:endParaRPr sz="2400">
              <a:solidFill>
                <a:schemeClr val="dk1"/>
              </a:solidFill>
              <a:latin typeface="Arial"/>
              <a:ea typeface="Arial"/>
              <a:cs typeface="Arial"/>
              <a:sym typeface="Arial"/>
            </a:endParaRPr>
          </a:p>
        </p:txBody>
      </p:sp>
      <p:cxnSp>
        <p:nvCxnSpPr>
          <p:cNvPr id="1500" name="Google Shape;1500;p55"/>
          <p:cNvCxnSpPr/>
          <p:nvPr/>
        </p:nvCxnSpPr>
        <p:spPr>
          <a:xfrm>
            <a:off x="1023938" y="4973638"/>
            <a:ext cx="3224212" cy="6350"/>
          </a:xfrm>
          <a:prstGeom prst="straightConnector1">
            <a:avLst/>
          </a:prstGeom>
          <a:noFill/>
          <a:ln cap="flat" cmpd="sng" w="25400">
            <a:solidFill>
              <a:schemeClr val="dk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3"/>
                                        </p:tgtEl>
                                        <p:attrNameLst>
                                          <p:attrName>style.visibility</p:attrName>
                                        </p:attrNameLst>
                                      </p:cBhvr>
                                      <p:to>
                                        <p:strVal val="visible"/>
                                      </p:to>
                                    </p:set>
                                    <p:animEffect filter="fade" transition="in">
                                      <p:cBhvr>
                                        <p:cTn dur="2000"/>
                                        <p:tgtEl>
                                          <p:spTgt spid="1433"/>
                                        </p:tgtEl>
                                      </p:cBhvr>
                                    </p:animEffect>
                                  </p:childTnLst>
                                </p:cTn>
                              </p:par>
                              <p:par>
                                <p:cTn fill="hold" nodeType="withEffect" presetClass="entr" presetID="10" presetSubtype="0">
                                  <p:stCondLst>
                                    <p:cond delay="0"/>
                                  </p:stCondLst>
                                  <p:childTnLst>
                                    <p:set>
                                      <p:cBhvr>
                                        <p:cTn dur="1" fill="hold">
                                          <p:stCondLst>
                                            <p:cond delay="0"/>
                                          </p:stCondLst>
                                        </p:cTn>
                                        <p:tgtEl>
                                          <p:spTgt spid="1434"/>
                                        </p:tgtEl>
                                        <p:attrNameLst>
                                          <p:attrName>style.visibility</p:attrName>
                                        </p:attrNameLst>
                                      </p:cBhvr>
                                      <p:to>
                                        <p:strVal val="visible"/>
                                      </p:to>
                                    </p:set>
                                    <p:animEffect filter="fade" transition="in">
                                      <p:cBhvr>
                                        <p:cTn dur="2000"/>
                                        <p:tgtEl>
                                          <p:spTgt spid="1434"/>
                                        </p:tgtEl>
                                      </p:cBhvr>
                                    </p:animEffect>
                                  </p:childTnLst>
                                </p:cTn>
                              </p:par>
                              <p:par>
                                <p:cTn fill="hold" nodeType="withEffect" presetClass="entr" presetID="10" presetSubtype="0">
                                  <p:stCondLst>
                                    <p:cond delay="0"/>
                                  </p:stCondLst>
                                  <p:childTnLst>
                                    <p:set>
                                      <p:cBhvr>
                                        <p:cTn dur="1" fill="hold">
                                          <p:stCondLst>
                                            <p:cond delay="0"/>
                                          </p:stCondLst>
                                        </p:cTn>
                                        <p:tgtEl>
                                          <p:spTgt spid="1435"/>
                                        </p:tgtEl>
                                        <p:attrNameLst>
                                          <p:attrName>style.visibility</p:attrName>
                                        </p:attrNameLst>
                                      </p:cBhvr>
                                      <p:to>
                                        <p:strVal val="visible"/>
                                      </p:to>
                                    </p:set>
                                    <p:animEffect filter="fade" transition="in">
                                      <p:cBhvr>
                                        <p:cTn dur="2000"/>
                                        <p:tgtEl>
                                          <p:spTgt spid="1435"/>
                                        </p:tgtEl>
                                      </p:cBhvr>
                                    </p:animEffect>
                                  </p:childTnLst>
                                </p:cTn>
                              </p:par>
                              <p:par>
                                <p:cTn fill="hold" nodeType="withEffect" presetClass="entr" presetID="10" presetSubtype="0">
                                  <p:stCondLst>
                                    <p:cond delay="0"/>
                                  </p:stCondLst>
                                  <p:childTnLst>
                                    <p:set>
                                      <p:cBhvr>
                                        <p:cTn dur="1" fill="hold">
                                          <p:stCondLst>
                                            <p:cond delay="0"/>
                                          </p:stCondLst>
                                        </p:cTn>
                                        <p:tgtEl>
                                          <p:spTgt spid="1409"/>
                                        </p:tgtEl>
                                        <p:attrNameLst>
                                          <p:attrName>style.visibility</p:attrName>
                                        </p:attrNameLst>
                                      </p:cBhvr>
                                      <p:to>
                                        <p:strVal val="visible"/>
                                      </p:to>
                                    </p:set>
                                    <p:animEffect filter="fade" transition="in">
                                      <p:cBhvr>
                                        <p:cTn dur="500"/>
                                        <p:tgtEl>
                                          <p:spTgt spid="1409"/>
                                        </p:tgtEl>
                                      </p:cBhvr>
                                    </p:animEffect>
                                  </p:childTnLst>
                                </p:cTn>
                              </p:par>
                              <p:par>
                                <p:cTn fill="hold" nodeType="withEffect" presetClass="entr" presetID="10" presetSubtype="0">
                                  <p:stCondLst>
                                    <p:cond delay="0"/>
                                  </p:stCondLst>
                                  <p:childTnLst>
                                    <p:set>
                                      <p:cBhvr>
                                        <p:cTn dur="1" fill="hold">
                                          <p:stCondLst>
                                            <p:cond delay="0"/>
                                          </p:stCondLst>
                                        </p:cTn>
                                        <p:tgtEl>
                                          <p:spTgt spid="1410"/>
                                        </p:tgtEl>
                                        <p:attrNameLst>
                                          <p:attrName>style.visibility</p:attrName>
                                        </p:attrNameLst>
                                      </p:cBhvr>
                                      <p:to>
                                        <p:strVal val="visible"/>
                                      </p:to>
                                    </p:set>
                                    <p:animEffect filter="fade" transition="in">
                                      <p:cBhvr>
                                        <p:cTn dur="500"/>
                                        <p:tgtEl>
                                          <p:spTgt spid="1410"/>
                                        </p:tgtEl>
                                      </p:cBhvr>
                                    </p:animEffect>
                                  </p:childTnLst>
                                </p:cTn>
                              </p:par>
                              <p:par>
                                <p:cTn fill="hold" nodeType="withEffect" presetClass="entr" presetID="10" presetSubtype="0">
                                  <p:stCondLst>
                                    <p:cond delay="0"/>
                                  </p:stCondLst>
                                  <p:childTnLst>
                                    <p:set>
                                      <p:cBhvr>
                                        <p:cTn dur="1" fill="hold">
                                          <p:stCondLst>
                                            <p:cond delay="0"/>
                                          </p:stCondLst>
                                        </p:cTn>
                                        <p:tgtEl>
                                          <p:spTgt spid="1411"/>
                                        </p:tgtEl>
                                        <p:attrNameLst>
                                          <p:attrName>style.visibility</p:attrName>
                                        </p:attrNameLst>
                                      </p:cBhvr>
                                      <p:to>
                                        <p:strVal val="visible"/>
                                      </p:to>
                                    </p:set>
                                    <p:animEffect filter="fade" transition="in">
                                      <p:cBhvr>
                                        <p:cTn dur="500"/>
                                        <p:tgtEl>
                                          <p:spTgt spid="1411"/>
                                        </p:tgtEl>
                                      </p:cBhvr>
                                    </p:animEffect>
                                  </p:childTnLst>
                                </p:cTn>
                              </p:par>
                              <p:par>
                                <p:cTn fill="hold" nodeType="withEffect" presetClass="entr" presetID="10" presetSubtype="0">
                                  <p:stCondLst>
                                    <p:cond delay="0"/>
                                  </p:stCondLst>
                                  <p:childTnLst>
                                    <p:set>
                                      <p:cBhvr>
                                        <p:cTn dur="1" fill="hold">
                                          <p:stCondLst>
                                            <p:cond delay="0"/>
                                          </p:stCondLst>
                                        </p:cTn>
                                        <p:tgtEl>
                                          <p:spTgt spid="1412"/>
                                        </p:tgtEl>
                                        <p:attrNameLst>
                                          <p:attrName>style.visibility</p:attrName>
                                        </p:attrNameLst>
                                      </p:cBhvr>
                                      <p:to>
                                        <p:strVal val="visible"/>
                                      </p:to>
                                    </p:set>
                                    <p:animEffect filter="fade" transition="in">
                                      <p:cBhvr>
                                        <p:cTn dur="2000"/>
                                        <p:tgtEl>
                                          <p:spTgt spid="1412"/>
                                        </p:tgtEl>
                                      </p:cBhvr>
                                    </p:animEffect>
                                  </p:childTnLst>
                                </p:cTn>
                              </p:par>
                              <p:par>
                                <p:cTn fill="hold" nodeType="withEffect" presetClass="entr" presetID="10" presetSubtype="0">
                                  <p:stCondLst>
                                    <p:cond delay="0"/>
                                  </p:stCondLst>
                                  <p:childTnLst>
                                    <p:set>
                                      <p:cBhvr>
                                        <p:cTn dur="1" fill="hold">
                                          <p:stCondLst>
                                            <p:cond delay="0"/>
                                          </p:stCondLst>
                                        </p:cTn>
                                        <p:tgtEl>
                                          <p:spTgt spid="1451"/>
                                        </p:tgtEl>
                                        <p:attrNameLst>
                                          <p:attrName>style.visibility</p:attrName>
                                        </p:attrNameLst>
                                      </p:cBhvr>
                                      <p:to>
                                        <p:strVal val="visible"/>
                                      </p:to>
                                    </p:set>
                                    <p:animEffect filter="fade" transition="in">
                                      <p:cBhvr>
                                        <p:cTn dur="500"/>
                                        <p:tgtEl>
                                          <p:spTgt spid="1451"/>
                                        </p:tgtEl>
                                      </p:cBhvr>
                                    </p:animEffect>
                                  </p:childTnLst>
                                </p:cTn>
                              </p:par>
                              <p:par>
                                <p:cTn fill="hold" nodeType="withEffect" presetClass="entr" presetID="10" presetSubtype="0">
                                  <p:stCondLst>
                                    <p:cond delay="0"/>
                                  </p:stCondLst>
                                  <p:childTnLst>
                                    <p:set>
                                      <p:cBhvr>
                                        <p:cTn dur="1" fill="hold">
                                          <p:stCondLst>
                                            <p:cond delay="0"/>
                                          </p:stCondLst>
                                        </p:cTn>
                                        <p:tgtEl>
                                          <p:spTgt spid="1457"/>
                                        </p:tgtEl>
                                        <p:attrNameLst>
                                          <p:attrName>style.visibility</p:attrName>
                                        </p:attrNameLst>
                                      </p:cBhvr>
                                      <p:to>
                                        <p:strVal val="visible"/>
                                      </p:to>
                                    </p:set>
                                    <p:animEffect filter="fade" transition="in">
                                      <p:cBhvr>
                                        <p:cTn dur="500"/>
                                        <p:tgtEl>
                                          <p:spTgt spid="1457"/>
                                        </p:tgtEl>
                                      </p:cBhvr>
                                    </p:animEffect>
                                  </p:childTnLst>
                                </p:cTn>
                              </p:par>
                              <p:par>
                                <p:cTn fill="hold" nodeType="withEffect" presetClass="entr" presetID="10" presetSubtype="0">
                                  <p:stCondLst>
                                    <p:cond delay="0"/>
                                  </p:stCondLst>
                                  <p:childTnLst>
                                    <p:set>
                                      <p:cBhvr>
                                        <p:cTn dur="1" fill="hold">
                                          <p:stCondLst>
                                            <p:cond delay="0"/>
                                          </p:stCondLst>
                                        </p:cTn>
                                        <p:tgtEl>
                                          <p:spTgt spid="1413"/>
                                        </p:tgtEl>
                                        <p:attrNameLst>
                                          <p:attrName>style.visibility</p:attrName>
                                        </p:attrNameLst>
                                      </p:cBhvr>
                                      <p:to>
                                        <p:strVal val="visible"/>
                                      </p:to>
                                    </p:set>
                                    <p:animEffect filter="fade" transition="in">
                                      <p:cBhvr>
                                        <p:cTn dur="500"/>
                                        <p:tgtEl>
                                          <p:spTgt spid="1413"/>
                                        </p:tgtEl>
                                      </p:cBhvr>
                                    </p:animEffect>
                                  </p:childTnLst>
                                </p:cTn>
                              </p:par>
                              <p:par>
                                <p:cTn fill="hold" nodeType="withEffect" presetClass="entr" presetID="10" presetSubtype="0">
                                  <p:stCondLst>
                                    <p:cond delay="0"/>
                                  </p:stCondLst>
                                  <p:childTnLst>
                                    <p:set>
                                      <p:cBhvr>
                                        <p:cTn dur="1" fill="hold">
                                          <p:stCondLst>
                                            <p:cond delay="0"/>
                                          </p:stCondLst>
                                        </p:cTn>
                                        <p:tgtEl>
                                          <p:spTgt spid="1481"/>
                                        </p:tgtEl>
                                        <p:attrNameLst>
                                          <p:attrName>style.visibility</p:attrName>
                                        </p:attrNameLst>
                                      </p:cBhvr>
                                      <p:to>
                                        <p:strVal val="visible"/>
                                      </p:to>
                                    </p:set>
                                    <p:animEffect filter="fade" transition="in">
                                      <p:cBhvr>
                                        <p:cTn dur="2000"/>
                                        <p:tgtEl>
                                          <p:spTgt spid="1481"/>
                                        </p:tgtEl>
                                      </p:cBhvr>
                                    </p:animEffect>
                                  </p:childTnLst>
                                </p:cTn>
                              </p:par>
                              <p:par>
                                <p:cTn fill="hold" nodeType="withEffect" presetClass="entr" presetID="10" presetSubtype="0">
                                  <p:stCondLst>
                                    <p:cond delay="0"/>
                                  </p:stCondLst>
                                  <p:childTnLst>
                                    <p:set>
                                      <p:cBhvr>
                                        <p:cTn dur="1" fill="hold">
                                          <p:stCondLst>
                                            <p:cond delay="0"/>
                                          </p:stCondLst>
                                        </p:cTn>
                                        <p:tgtEl>
                                          <p:spTgt spid="1494"/>
                                        </p:tgtEl>
                                        <p:attrNameLst>
                                          <p:attrName>style.visibility</p:attrName>
                                        </p:attrNameLst>
                                      </p:cBhvr>
                                      <p:to>
                                        <p:strVal val="visible"/>
                                      </p:to>
                                    </p:set>
                                    <p:animEffect filter="fade" transition="in">
                                      <p:cBhvr>
                                        <p:cTn dur="2000"/>
                                        <p:tgtEl>
                                          <p:spTgt spid="1494"/>
                                        </p:tgtEl>
                                      </p:cBhvr>
                                    </p:animEffect>
                                  </p:childTnLst>
                                </p:cTn>
                              </p:par>
                              <p:par>
                                <p:cTn fill="hold" nodeType="withEffect" presetClass="entr" presetID="2" presetSubtype="2">
                                  <p:stCondLst>
                                    <p:cond delay="0"/>
                                  </p:stCondLst>
                                  <p:childTnLst>
                                    <p:set>
                                      <p:cBhvr>
                                        <p:cTn dur="1" fill="hold">
                                          <p:stCondLst>
                                            <p:cond delay="0"/>
                                          </p:stCondLst>
                                        </p:cTn>
                                        <p:tgtEl>
                                          <p:spTgt spid="1461"/>
                                        </p:tgtEl>
                                        <p:attrNameLst>
                                          <p:attrName>style.visibility</p:attrName>
                                        </p:attrNameLst>
                                      </p:cBhvr>
                                      <p:to>
                                        <p:strVal val="visible"/>
                                      </p:to>
                                    </p:set>
                                    <p:anim calcmode="lin" valueType="num">
                                      <p:cBhvr additive="base">
                                        <p:cTn dur="500"/>
                                        <p:tgtEl>
                                          <p:spTgt spid="146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462"/>
                                        </p:tgtEl>
                                        <p:attrNameLst>
                                          <p:attrName>style.visibility</p:attrName>
                                        </p:attrNameLst>
                                      </p:cBhvr>
                                      <p:to>
                                        <p:strVal val="visible"/>
                                      </p:to>
                                    </p:set>
                                    <p:anim calcmode="lin" valueType="num">
                                      <p:cBhvr additive="base">
                                        <p:cTn dur="500"/>
                                        <p:tgtEl>
                                          <p:spTgt spid="146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500"/>
                                        <p:tgtEl>
                                          <p:spTgt spid="1462"/>
                                        </p:tgtEl>
                                        <p:attrNameLst>
                                          <p:attrName>ppt_x</p:attrName>
                                        </p:attrNameLst>
                                      </p:cBhvr>
                                      <p:tavLst>
                                        <p:tav fmla="" tm="0">
                                          <p:val>
                                            <p:strVal val="#ppt_x"/>
                                          </p:val>
                                        </p:tav>
                                        <p:tav fmla="" tm="100000">
                                          <p:val>
                                            <p:strVal val="#ppt_x+1"/>
                                          </p:val>
                                        </p:tav>
                                      </p:tavLst>
                                    </p:anim>
                                    <p:set>
                                      <p:cBhvr>
                                        <p:cTn dur="1" fill="hold">
                                          <p:stCondLst>
                                            <p:cond delay="500"/>
                                          </p:stCondLst>
                                        </p:cTn>
                                        <p:tgtEl>
                                          <p:spTgt spid="1462"/>
                                        </p:tgtEl>
                                        <p:attrNameLst>
                                          <p:attrName>style.visibility</p:attrName>
                                        </p:attrNameLst>
                                      </p:cBhvr>
                                      <p:to>
                                        <p:strVal val="hidden"/>
                                      </p:to>
                                    </p:set>
                                  </p:childTnLst>
                                </p:cTn>
                              </p:par>
                            </p:childTnLst>
                          </p:cTn>
                        </p:par>
                        <p:par>
                          <p:cTn fill="hold">
                            <p:stCondLst>
                              <p:cond delay="500"/>
                            </p:stCondLst>
                            <p:childTnLst>
                              <p:par>
                                <p:cTn fill="hold" nodeType="afterEffect" presetClass="exit" presetID="2" presetSubtype="2">
                                  <p:stCondLst>
                                    <p:cond delay="0"/>
                                  </p:stCondLst>
                                  <p:childTnLst>
                                    <p:anim calcmode="lin" valueType="num">
                                      <p:cBhvr additive="base">
                                        <p:cTn dur="500"/>
                                        <p:tgtEl>
                                          <p:spTgt spid="1461"/>
                                        </p:tgtEl>
                                        <p:attrNameLst>
                                          <p:attrName>ppt_x</p:attrName>
                                        </p:attrNameLst>
                                      </p:cBhvr>
                                      <p:tavLst>
                                        <p:tav fmla="" tm="0">
                                          <p:val>
                                            <p:strVal val="#ppt_x"/>
                                          </p:val>
                                        </p:tav>
                                        <p:tav fmla="" tm="100000">
                                          <p:val>
                                            <p:strVal val="#ppt_x+1"/>
                                          </p:val>
                                        </p:tav>
                                      </p:tavLst>
                                    </p:anim>
                                    <p:set>
                                      <p:cBhvr>
                                        <p:cTn dur="1" fill="hold">
                                          <p:stCondLst>
                                            <p:cond delay="500"/>
                                          </p:stCondLst>
                                        </p:cTn>
                                        <p:tgtEl>
                                          <p:spTgt spid="1461"/>
                                        </p:tgtEl>
                                        <p:attrNameLst>
                                          <p:attrName>style.visibility</p:attrName>
                                        </p:attrNameLst>
                                      </p:cBhvr>
                                      <p:to>
                                        <p:strVal val="hidden"/>
                                      </p:to>
                                    </p:set>
                                  </p:childTnLst>
                                </p:cTn>
                              </p:par>
                              <p:par>
                                <p:cTn fill="hold" nodeType="withEffect" presetClass="emph" presetID="8" presetSubtype="0">
                                  <p:stCondLst>
                                    <p:cond delay="0"/>
                                  </p:stCondLst>
                                  <p:childTnLst>
                                    <p:animRot by="-21600000">
                                      <p:cBhvr>
                                        <p:cTn dur="2000" fill="hold"/>
                                        <p:tgtEl>
                                          <p:spTgt spid="1451"/>
                                        </p:tgtEl>
                                        <p:attrNameLst>
                                          <p:attrName>r</p:attrName>
                                        </p:attrNameLst>
                                      </p:cBhvr>
                                    </p:animRo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472"/>
                                        </p:tgtEl>
                                        <p:attrNameLst>
                                          <p:attrName>style.visibility</p:attrName>
                                        </p:attrNameLst>
                                      </p:cBhvr>
                                      <p:to>
                                        <p:strVal val="visible"/>
                                      </p:to>
                                    </p:set>
                                    <p:animEffect filter="fade" transition="in">
                                      <p:cBhvr>
                                        <p:cTn dur="5000"/>
                                        <p:tgtEl>
                                          <p:spTgt spid="1472"/>
                                        </p:tgtEl>
                                      </p:cBhvr>
                                    </p:animEffect>
                                  </p:childTnLst>
                                </p:cTn>
                              </p:par>
                              <p:par>
                                <p:cTn fill="hold" nodeType="withEffect" presetClass="entr" presetID="10" presetSubtype="0">
                                  <p:stCondLst>
                                    <p:cond delay="0"/>
                                  </p:stCondLst>
                                  <p:childTnLst>
                                    <p:set>
                                      <p:cBhvr>
                                        <p:cTn dur="1" fill="hold">
                                          <p:stCondLst>
                                            <p:cond delay="0"/>
                                          </p:stCondLst>
                                        </p:cTn>
                                        <p:tgtEl>
                                          <p:spTgt spid="1463"/>
                                        </p:tgtEl>
                                        <p:attrNameLst>
                                          <p:attrName>style.visibility</p:attrName>
                                        </p:attrNameLst>
                                      </p:cBhvr>
                                      <p:to>
                                        <p:strVal val="visible"/>
                                      </p:to>
                                    </p:set>
                                    <p:animEffect filter="fade" transition="in">
                                      <p:cBhvr>
                                        <p:cTn dur="5000"/>
                                        <p:tgtEl>
                                          <p:spTgt spid="1463"/>
                                        </p:tgtEl>
                                      </p:cBhvr>
                                    </p:animEffect>
                                  </p:childTnLst>
                                </p:cTn>
                              </p:par>
                              <p:par>
                                <p:cTn fill="hold" nodeType="withEffect" presetClass="entr" presetID="10" presetSubtype="0">
                                  <p:stCondLst>
                                    <p:cond delay="0"/>
                                  </p:stCondLst>
                                  <p:childTnLst>
                                    <p:set>
                                      <p:cBhvr>
                                        <p:cTn dur="1" fill="hold">
                                          <p:stCondLst>
                                            <p:cond delay="0"/>
                                          </p:stCondLst>
                                        </p:cTn>
                                        <p:tgtEl>
                                          <p:spTgt spid="1500"/>
                                        </p:tgtEl>
                                        <p:attrNameLst>
                                          <p:attrName>style.visibility</p:attrName>
                                        </p:attrNameLst>
                                      </p:cBhvr>
                                      <p:to>
                                        <p:strVal val="visible"/>
                                      </p:to>
                                    </p:set>
                                    <p:animEffect filter="fade" transition="in">
                                      <p:cBhvr>
                                        <p:cTn dur="5000"/>
                                        <p:tgtEl>
                                          <p:spTgt spid="1500"/>
                                        </p:tgtEl>
                                      </p:cBhvr>
                                    </p:animEffect>
                                  </p:childTnLst>
                                </p:cTn>
                              </p:par>
                              <p:par>
                                <p:cTn fill="hold" nodeType="withEffect" presetClass="emph" presetID="8" presetSubtype="0">
                                  <p:stCondLst>
                                    <p:cond delay="0"/>
                                  </p:stCondLst>
                                  <p:childTnLst>
                                    <p:animRot by="-21600000">
                                      <p:cBhvr>
                                        <p:cTn dur="5000" fill="hold"/>
                                        <p:tgtEl>
                                          <p:spTgt spid="1494"/>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499"/>
                                        </p:tgtEl>
                                        <p:attrNameLst>
                                          <p:attrName>style.visibility</p:attrName>
                                        </p:attrNameLst>
                                      </p:cBhvr>
                                      <p:to>
                                        <p:strVal val="visible"/>
                                      </p:to>
                                    </p:set>
                                    <p:anim calcmode="lin" valueType="num">
                                      <p:cBhvr additive="base">
                                        <p:cTn dur="1000"/>
                                        <p:tgtEl>
                                          <p:spTgt spid="149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5" name="Shape 1505"/>
        <p:cNvGrpSpPr/>
        <p:nvPr/>
      </p:nvGrpSpPr>
      <p:grpSpPr>
        <a:xfrm>
          <a:off x="0" y="0"/>
          <a:ext cx="0" cy="0"/>
          <a:chOff x="0" y="0"/>
          <a:chExt cx="0" cy="0"/>
        </a:xfrm>
      </p:grpSpPr>
      <p:sp>
        <p:nvSpPr>
          <p:cNvPr id="1506" name="Google Shape;1506;p56"/>
          <p:cNvSpPr/>
          <p:nvPr/>
        </p:nvSpPr>
        <p:spPr>
          <a:xfrm>
            <a:off x="685800" y="1549400"/>
            <a:ext cx="7772400" cy="282575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Power as rate of energy transfer </a:t>
            </a:r>
            <a:r>
              <a:rPr lang="en-US" sz="2000">
                <a:solidFill>
                  <a:schemeClr val="dk1"/>
                </a:solidFill>
                <a:latin typeface="Courier New"/>
                <a:ea typeface="Courier New"/>
                <a:cs typeface="Courier New"/>
                <a:sym typeface="Courier New"/>
              </a:rPr>
              <a:t>	</a:t>
            </a:r>
            <a:endParaRPr/>
          </a:p>
          <a:p>
            <a:pPr indent="0" lvl="0" marL="0" marR="0" rtl="0" algn="l">
              <a:spcBef>
                <a:spcPts val="400"/>
              </a:spcBef>
              <a:spcAft>
                <a:spcPts val="0"/>
              </a:spcAft>
              <a:buNone/>
            </a:pPr>
            <a:r>
              <a:rPr lang="en-US" sz="2400">
                <a:solidFill>
                  <a:schemeClr val="dk1"/>
                </a:solidFill>
                <a:latin typeface="Arial"/>
                <a:ea typeface="Arial"/>
                <a:cs typeface="Arial"/>
                <a:sym typeface="Arial"/>
              </a:rPr>
              <a:t>∙Power is the rate of energy usage, or the amount of work done per unit time, and so has the equation</a:t>
            </a:r>
            <a:endParaRPr/>
          </a:p>
          <a:p>
            <a:pPr indent="0" lvl="0" marL="0" marR="0" rtl="0" algn="l">
              <a:spcBef>
                <a:spcPts val="400"/>
              </a:spcBef>
              <a:spcAft>
                <a:spcPts val="0"/>
              </a:spcAft>
              <a:buNone/>
            </a:pPr>
            <a:r>
              <a:t/>
            </a:r>
            <a:endParaRPr sz="2400">
              <a:solidFill>
                <a:schemeClr val="dk1"/>
              </a:solidFill>
              <a:latin typeface="Arial"/>
              <a:ea typeface="Arial"/>
              <a:cs typeface="Arial"/>
              <a:sym typeface="Arial"/>
            </a:endParaRPr>
          </a:p>
          <a:p>
            <a:pPr indent="0" lvl="0" marL="0" marR="0" rtl="0" algn="l">
              <a:spcBef>
                <a:spcPts val="400"/>
              </a:spcBef>
              <a:spcAft>
                <a:spcPts val="0"/>
              </a:spcAft>
              <a:buNone/>
            </a:pPr>
            <a:r>
              <a:rPr lang="en-US" sz="2400">
                <a:solidFill>
                  <a:schemeClr val="dk1"/>
                </a:solidFill>
                <a:latin typeface="Arial"/>
                <a:ea typeface="Arial"/>
                <a:cs typeface="Arial"/>
                <a:sym typeface="Arial"/>
              </a:rPr>
              <a:t>∙From the formula we see that power has the units of energy (J) per time (s) or (J</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which are known as watts (W).</a:t>
            </a:r>
            <a:endParaRPr/>
          </a:p>
        </p:txBody>
      </p:sp>
      <p:sp>
        <p:nvSpPr>
          <p:cNvPr id="1507" name="Google Shape;1507;p56"/>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grpSp>
        <p:nvGrpSpPr>
          <p:cNvPr id="1508" name="Google Shape;1508;p56"/>
          <p:cNvGrpSpPr/>
          <p:nvPr/>
        </p:nvGrpSpPr>
        <p:grpSpPr>
          <a:xfrm>
            <a:off x="828675" y="2751138"/>
            <a:ext cx="7462838" cy="461962"/>
            <a:chOff x="828675" y="2723544"/>
            <a:chExt cx="7462838" cy="461962"/>
          </a:xfrm>
        </p:grpSpPr>
        <p:sp>
          <p:nvSpPr>
            <p:cNvPr id="1509" name="Google Shape;1509;p56"/>
            <p:cNvSpPr/>
            <p:nvPr/>
          </p:nvSpPr>
          <p:spPr>
            <a:xfrm>
              <a:off x="965200" y="2733069"/>
              <a:ext cx="2368550" cy="3206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Δ</a:t>
              </a:r>
              <a:r>
                <a:rPr i="1" lang="en-US" sz="2400">
                  <a:solidFill>
                    <a:schemeClr val="dk1"/>
                  </a:solidFill>
                  <a:latin typeface="Arial"/>
                  <a:ea typeface="Arial"/>
                  <a:cs typeface="Arial"/>
                  <a:sym typeface="Arial"/>
                </a:rPr>
                <a:t>W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Δ</a:t>
              </a:r>
              <a:r>
                <a:rPr i="1" lang="en-US" sz="2400">
                  <a:solidFill>
                    <a:schemeClr val="dk1"/>
                  </a:solidFill>
                  <a:latin typeface="Arial"/>
                  <a:ea typeface="Arial"/>
                  <a:cs typeface="Arial"/>
                  <a:sym typeface="Arial"/>
                </a:rPr>
                <a:t>t</a:t>
              </a:r>
              <a:endParaRPr/>
            </a:p>
          </p:txBody>
        </p:sp>
        <p:sp>
          <p:nvSpPr>
            <p:cNvPr id="1510" name="Google Shape;1510;p56"/>
            <p:cNvSpPr txBox="1"/>
            <p:nvPr/>
          </p:nvSpPr>
          <p:spPr>
            <a:xfrm>
              <a:off x="7058025" y="2723544"/>
              <a:ext cx="1228725" cy="461962"/>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power</a:t>
              </a:r>
              <a:endParaRPr/>
            </a:p>
          </p:txBody>
        </p:sp>
        <p:sp>
          <p:nvSpPr>
            <p:cNvPr id="1511" name="Google Shape;1511;p56"/>
            <p:cNvSpPr/>
            <p:nvPr/>
          </p:nvSpPr>
          <p:spPr>
            <a:xfrm>
              <a:off x="828675" y="2726719"/>
              <a:ext cx="7462838" cy="452437"/>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1512" name="Google Shape;1512;p56"/>
          <p:cNvSpPr/>
          <p:nvPr/>
        </p:nvSpPr>
        <p:spPr>
          <a:xfrm>
            <a:off x="674688" y="4375150"/>
            <a:ext cx="7392987" cy="2482850"/>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How much energy does a 100.-W bulb consume in one day?</a:t>
            </a:r>
            <a:endParaRPr/>
          </a:p>
          <a:p>
            <a:pPr indent="0" lvl="0" marL="0" marR="0" rtl="0" algn="l">
              <a:spcBef>
                <a:spcPts val="400"/>
              </a:spcBef>
              <a:spcAft>
                <a:spcPts val="0"/>
              </a:spcAft>
              <a:buNone/>
            </a:pPr>
            <a:r>
              <a:rPr lang="en-US" sz="2400">
                <a:solidFill>
                  <a:schemeClr val="dk1"/>
                </a:solidFill>
                <a:latin typeface="Arial"/>
                <a:ea typeface="Arial"/>
                <a:cs typeface="Arial"/>
                <a:sym typeface="Arial"/>
              </a:rPr>
              <a:t>SOLUTION:  From </a:t>
            </a:r>
            <a:r>
              <a:rPr i="1"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Δ</a:t>
            </a:r>
            <a:r>
              <a:rPr i="1" lang="en-US" sz="2400">
                <a:solidFill>
                  <a:schemeClr val="dk1"/>
                </a:solidFill>
                <a:latin typeface="Arial"/>
                <a:ea typeface="Arial"/>
                <a:cs typeface="Arial"/>
                <a:sym typeface="Arial"/>
              </a:rPr>
              <a:t>W / </a:t>
            </a:r>
            <a:r>
              <a:rPr lang="en-US" sz="2400">
                <a:solidFill>
                  <a:schemeClr val="dk1"/>
                </a:solidFill>
                <a:latin typeface="Arial"/>
                <a:ea typeface="Arial"/>
                <a:cs typeface="Arial"/>
                <a:sym typeface="Arial"/>
              </a:rPr>
              <a:t>Δ</a:t>
            </a:r>
            <a:r>
              <a:rPr i="1"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 ΔW = </a:t>
            </a:r>
            <a:r>
              <a:rPr i="1" lang="en-US" sz="2400">
                <a:solidFill>
                  <a:schemeClr val="dk1"/>
                </a:solidFill>
                <a:latin typeface="Arial"/>
                <a:ea typeface="Arial"/>
                <a:cs typeface="Arial"/>
                <a:sym typeface="Arial"/>
              </a:rPr>
              <a:t>P </a:t>
            </a:r>
            <a:r>
              <a:rPr lang="en-US" sz="2400">
                <a:solidFill>
                  <a:schemeClr val="dk1"/>
                </a:solidFill>
                <a:latin typeface="Arial"/>
                <a:ea typeface="Arial"/>
                <a:cs typeface="Arial"/>
                <a:sym typeface="Arial"/>
              </a:rPr>
              <a:t>Δ</a:t>
            </a:r>
            <a:r>
              <a:rPr i="1"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so that</a:t>
            </a:r>
            <a:endParaRPr/>
          </a:p>
          <a:p>
            <a:pPr indent="-152400" lvl="0" marL="0" marR="0" rtl="0" algn="l">
              <a:spcBef>
                <a:spcPts val="400"/>
              </a:spcBef>
              <a:spcAft>
                <a:spcPts val="0"/>
              </a:spcAft>
              <a:buClr>
                <a:schemeClr val="dk1"/>
              </a:buClr>
              <a:buSzPts val="2400"/>
              <a:buFont typeface="Noto Sans Symbols"/>
              <a:buChar char="∙"/>
            </a:pPr>
            <a:r>
              <a:rPr i="1" lang="en-US" sz="2400">
                <a:solidFill>
                  <a:schemeClr val="dk1"/>
                </a:solidFill>
                <a:latin typeface="Arial"/>
                <a:ea typeface="Arial"/>
                <a:cs typeface="Arial"/>
                <a:sym typeface="Arial"/>
              </a:rPr>
              <a:t>E</a:t>
            </a:r>
            <a:r>
              <a:rPr lang="en-US" sz="2400">
                <a:solidFill>
                  <a:schemeClr val="dk1"/>
                </a:solidFill>
                <a:latin typeface="Arial"/>
                <a:ea typeface="Arial"/>
                <a:cs typeface="Arial"/>
                <a:sym typeface="Arial"/>
              </a:rPr>
              <a:t> = (100 J/s)(24 h)(3600 s/h)</a:t>
            </a:r>
            <a:endParaRPr/>
          </a:p>
          <a:p>
            <a:pPr indent="-152400" lvl="0" marL="0" marR="0" rtl="0" algn="l">
              <a:spcBef>
                <a:spcPts val="400"/>
              </a:spcBef>
              <a:spcAft>
                <a:spcPts val="0"/>
              </a:spcAft>
              <a:buClr>
                <a:schemeClr val="dk1"/>
              </a:buClr>
              <a:buSzPts val="2400"/>
              <a:buFont typeface="Noto Sans Symbols"/>
              <a:buChar char="∙"/>
            </a:pPr>
            <a:r>
              <a:rPr i="1" lang="en-US" sz="2400">
                <a:solidFill>
                  <a:schemeClr val="dk1"/>
                </a:solidFill>
                <a:latin typeface="Arial"/>
                <a:ea typeface="Arial"/>
                <a:cs typeface="Arial"/>
                <a:sym typeface="Arial"/>
              </a:rPr>
              <a:t>E</a:t>
            </a:r>
            <a:r>
              <a:rPr lang="en-US" sz="2400">
                <a:solidFill>
                  <a:schemeClr val="dk1"/>
                </a:solidFill>
                <a:latin typeface="Arial"/>
                <a:ea typeface="Arial"/>
                <a:cs typeface="Arial"/>
                <a:sym typeface="Arial"/>
              </a:rPr>
              <a:t> = 8640000 J!</a:t>
            </a:r>
            <a:endParaRPr/>
          </a:p>
          <a:p>
            <a:pPr indent="-152400" lvl="0" marL="0" marR="0" rtl="0" algn="l">
              <a:spcBef>
                <a:spcPts val="40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Don’t leave lights on in unoccupied rooms.</a:t>
            </a:r>
            <a:endParaRPr/>
          </a:p>
        </p:txBody>
      </p:sp>
      <p:pic>
        <p:nvPicPr>
          <p:cNvPr descr="MC900432648[1]" id="1513" name="Google Shape;1513;p56"/>
          <p:cNvPicPr preferRelativeResize="0"/>
          <p:nvPr/>
        </p:nvPicPr>
        <p:blipFill rotWithShape="1">
          <a:blip r:embed="rId3">
            <a:alphaModFix/>
          </a:blip>
          <a:srcRect b="0" l="0" r="0" t="0"/>
          <a:stretch/>
        </p:blipFill>
        <p:spPr>
          <a:xfrm>
            <a:off x="7142163" y="-123825"/>
            <a:ext cx="2286000" cy="2286000"/>
          </a:xfrm>
          <a:prstGeom prst="rect">
            <a:avLst/>
          </a:prstGeom>
          <a:noFill/>
          <a:ln>
            <a:noFill/>
          </a:ln>
        </p:spPr>
      </p:pic>
      <p:cxnSp>
        <p:nvCxnSpPr>
          <p:cNvPr id="1514" name="Google Shape;1514;p56"/>
          <p:cNvCxnSpPr/>
          <p:nvPr/>
        </p:nvCxnSpPr>
        <p:spPr>
          <a:xfrm flipH="1" rot="10800000">
            <a:off x="2330450" y="5732463"/>
            <a:ext cx="241300" cy="276225"/>
          </a:xfrm>
          <a:prstGeom prst="straightConnector1">
            <a:avLst/>
          </a:prstGeom>
          <a:noFill/>
          <a:ln cap="flat" cmpd="sng" w="28575">
            <a:solidFill>
              <a:srgbClr val="FF3300"/>
            </a:solidFill>
            <a:prstDash val="solid"/>
            <a:round/>
            <a:headEnd len="med" w="med" type="none"/>
            <a:tailEnd len="med" w="med" type="none"/>
          </a:ln>
        </p:spPr>
      </p:cxnSp>
      <p:cxnSp>
        <p:nvCxnSpPr>
          <p:cNvPr id="1515" name="Google Shape;1515;p56"/>
          <p:cNvCxnSpPr/>
          <p:nvPr/>
        </p:nvCxnSpPr>
        <p:spPr>
          <a:xfrm flipH="1" rot="10800000">
            <a:off x="4251325" y="5768975"/>
            <a:ext cx="160338" cy="184150"/>
          </a:xfrm>
          <a:prstGeom prst="straightConnector1">
            <a:avLst/>
          </a:prstGeom>
          <a:noFill/>
          <a:ln cap="flat" cmpd="sng" w="28575">
            <a:solidFill>
              <a:srgbClr val="FF3300"/>
            </a:solidFill>
            <a:prstDash val="solid"/>
            <a:round/>
            <a:headEnd len="med" w="med" type="none"/>
            <a:tailEnd len="med" w="med" type="none"/>
          </a:ln>
        </p:spPr>
      </p:cxnSp>
      <p:cxnSp>
        <p:nvCxnSpPr>
          <p:cNvPr id="1516" name="Google Shape;1516;p56"/>
          <p:cNvCxnSpPr/>
          <p:nvPr/>
        </p:nvCxnSpPr>
        <p:spPr>
          <a:xfrm flipH="1" rot="10800000">
            <a:off x="3189288" y="5759450"/>
            <a:ext cx="128587" cy="233363"/>
          </a:xfrm>
          <a:prstGeom prst="straightConnector1">
            <a:avLst/>
          </a:prstGeom>
          <a:noFill/>
          <a:ln cap="flat" cmpd="sng" w="28575">
            <a:solidFill>
              <a:schemeClr val="accent2"/>
            </a:solidFill>
            <a:prstDash val="solid"/>
            <a:round/>
            <a:headEnd len="med" w="med" type="none"/>
            <a:tailEnd len="med" w="med" type="none"/>
          </a:ln>
        </p:spPr>
      </p:cxnSp>
      <p:cxnSp>
        <p:nvCxnSpPr>
          <p:cNvPr id="1517" name="Google Shape;1517;p56"/>
          <p:cNvCxnSpPr/>
          <p:nvPr/>
        </p:nvCxnSpPr>
        <p:spPr>
          <a:xfrm flipH="1" rot="10800000">
            <a:off x="4519613" y="5751513"/>
            <a:ext cx="160337" cy="184150"/>
          </a:xfrm>
          <a:prstGeom prst="straightConnector1">
            <a:avLst/>
          </a:prstGeom>
          <a:noFill/>
          <a:ln cap="flat" cmpd="sng" w="28575">
            <a:solidFill>
              <a:schemeClr val="accent2"/>
            </a:solidFill>
            <a:prstDash val="solid"/>
            <a:round/>
            <a:headEnd len="med" w="med" type="none"/>
            <a:tailEnd len="med" w="med" type="none"/>
          </a:ln>
        </p:spPr>
      </p:cxnSp>
      <p:sp>
        <p:nvSpPr>
          <p:cNvPr id="1518" name="Google Shape;1518;p56"/>
          <p:cNvSpPr/>
          <p:nvPr/>
        </p:nvSpPr>
        <p:spPr>
          <a:xfrm>
            <a:off x="7634288" y="77788"/>
            <a:ext cx="1123950" cy="1449387"/>
          </a:xfrm>
          <a:custGeom>
            <a:rect b="b" l="l" r="r" t="t"/>
            <a:pathLst>
              <a:path extrusionOk="0" h="913" w="685">
                <a:moveTo>
                  <a:pt x="205" y="895"/>
                </a:moveTo>
                <a:cubicBezTo>
                  <a:pt x="151" y="877"/>
                  <a:pt x="161" y="809"/>
                  <a:pt x="152" y="767"/>
                </a:cubicBezTo>
                <a:cubicBezTo>
                  <a:pt x="143" y="725"/>
                  <a:pt x="167" y="687"/>
                  <a:pt x="152" y="645"/>
                </a:cubicBezTo>
                <a:cubicBezTo>
                  <a:pt x="137" y="603"/>
                  <a:pt x="86" y="565"/>
                  <a:pt x="61" y="516"/>
                </a:cubicBezTo>
                <a:cubicBezTo>
                  <a:pt x="36" y="467"/>
                  <a:pt x="0" y="416"/>
                  <a:pt x="0" y="350"/>
                </a:cubicBezTo>
                <a:cubicBezTo>
                  <a:pt x="0" y="284"/>
                  <a:pt x="22" y="178"/>
                  <a:pt x="61" y="122"/>
                </a:cubicBezTo>
                <a:cubicBezTo>
                  <a:pt x="100" y="66"/>
                  <a:pt x="169" y="32"/>
                  <a:pt x="235" y="16"/>
                </a:cubicBezTo>
                <a:cubicBezTo>
                  <a:pt x="301" y="0"/>
                  <a:pt x="388" y="1"/>
                  <a:pt x="455" y="24"/>
                </a:cubicBezTo>
                <a:cubicBezTo>
                  <a:pt x="522" y="47"/>
                  <a:pt x="599" y="101"/>
                  <a:pt x="637" y="153"/>
                </a:cubicBezTo>
                <a:cubicBezTo>
                  <a:pt x="675" y="205"/>
                  <a:pt x="681" y="280"/>
                  <a:pt x="683" y="335"/>
                </a:cubicBezTo>
                <a:cubicBezTo>
                  <a:pt x="685" y="390"/>
                  <a:pt x="675" y="434"/>
                  <a:pt x="652" y="486"/>
                </a:cubicBezTo>
                <a:cubicBezTo>
                  <a:pt x="629" y="538"/>
                  <a:pt x="571" y="607"/>
                  <a:pt x="546" y="645"/>
                </a:cubicBezTo>
                <a:cubicBezTo>
                  <a:pt x="521" y="683"/>
                  <a:pt x="508" y="685"/>
                  <a:pt x="501" y="713"/>
                </a:cubicBezTo>
                <a:cubicBezTo>
                  <a:pt x="494" y="741"/>
                  <a:pt x="505" y="785"/>
                  <a:pt x="501" y="812"/>
                </a:cubicBezTo>
                <a:cubicBezTo>
                  <a:pt x="497" y="839"/>
                  <a:pt x="530" y="859"/>
                  <a:pt x="478" y="873"/>
                </a:cubicBezTo>
                <a:cubicBezTo>
                  <a:pt x="426" y="887"/>
                  <a:pt x="259" y="913"/>
                  <a:pt x="205" y="895"/>
                </a:cubicBezTo>
                <a:close/>
              </a:path>
            </a:pathLst>
          </a:custGeom>
          <a:solidFill>
            <a:srgbClr val="FFFF00">
              <a:alpha val="6274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1519" name="Google Shape;1519;p56"/>
          <p:cNvPicPr preferRelativeResize="0"/>
          <p:nvPr/>
        </p:nvPicPr>
        <p:blipFill rotWithShape="1">
          <a:blip r:embed="rId4">
            <a:alphaModFix/>
          </a:blip>
          <a:srcRect b="0" l="0" r="0" t="0"/>
          <a:stretch/>
        </p:blipFill>
        <p:spPr>
          <a:xfrm>
            <a:off x="8067675" y="4373563"/>
            <a:ext cx="1076325" cy="1524000"/>
          </a:xfrm>
          <a:prstGeom prst="rect">
            <a:avLst/>
          </a:prstGeom>
          <a:noFill/>
          <a:ln>
            <a:noFill/>
          </a:ln>
        </p:spPr>
      </p:pic>
      <p:pic>
        <p:nvPicPr>
          <p:cNvPr id="1520" name="Google Shape;1520;p56"/>
          <p:cNvPicPr preferRelativeResize="0"/>
          <p:nvPr/>
        </p:nvPicPr>
        <p:blipFill rotWithShape="1">
          <a:blip r:embed="rId5">
            <a:alphaModFix/>
          </a:blip>
          <a:srcRect b="0" l="0" r="0" t="0"/>
          <a:stretch/>
        </p:blipFill>
        <p:spPr>
          <a:xfrm>
            <a:off x="8074025" y="4383088"/>
            <a:ext cx="1095375" cy="1514475"/>
          </a:xfrm>
          <a:prstGeom prst="rect">
            <a:avLst/>
          </a:prstGeom>
          <a:noFill/>
          <a:ln>
            <a:noFill/>
          </a:ln>
        </p:spPr>
      </p:pic>
      <p:pic>
        <p:nvPicPr>
          <p:cNvPr id="1521" name="Google Shape;1521;p56"/>
          <p:cNvPicPr preferRelativeResize="0"/>
          <p:nvPr/>
        </p:nvPicPr>
        <p:blipFill rotWithShape="1">
          <a:blip r:embed="rId4">
            <a:alphaModFix/>
          </a:blip>
          <a:srcRect b="0" l="0" r="0" t="0"/>
          <a:stretch/>
        </p:blipFill>
        <p:spPr>
          <a:xfrm>
            <a:off x="8074025" y="4383088"/>
            <a:ext cx="1076325" cy="1524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06">
                                            <p:txEl>
                                              <p:pRg end="0" st="0"/>
                                            </p:txEl>
                                          </p:spTgt>
                                        </p:tgtEl>
                                        <p:attrNameLst>
                                          <p:attrName>style.visibility</p:attrName>
                                        </p:attrNameLst>
                                      </p:cBhvr>
                                      <p:to>
                                        <p:strVal val="visible"/>
                                      </p:to>
                                    </p:set>
                                    <p:anim calcmode="lin" valueType="num">
                                      <p:cBhvr additive="base">
                                        <p:cTn dur="500"/>
                                        <p:tgtEl>
                                          <p:spTgt spid="150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06">
                                            <p:txEl>
                                              <p:pRg end="1" st="1"/>
                                            </p:txEl>
                                          </p:spTgt>
                                        </p:tgtEl>
                                        <p:attrNameLst>
                                          <p:attrName>style.visibility</p:attrName>
                                        </p:attrNameLst>
                                      </p:cBhvr>
                                      <p:to>
                                        <p:strVal val="visible"/>
                                      </p:to>
                                    </p:set>
                                    <p:anim calcmode="lin" valueType="num">
                                      <p:cBhvr additive="base">
                                        <p:cTn dur="500"/>
                                        <p:tgtEl>
                                          <p:spTgt spid="150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06">
                                            <p:txEl>
                                              <p:pRg end="2" st="2"/>
                                            </p:txEl>
                                          </p:spTgt>
                                        </p:tgtEl>
                                        <p:attrNameLst>
                                          <p:attrName>style.visibility</p:attrName>
                                        </p:attrNameLst>
                                      </p:cBhvr>
                                      <p:to>
                                        <p:strVal val="visible"/>
                                      </p:to>
                                    </p:set>
                                    <p:anim calcmode="lin" valueType="num">
                                      <p:cBhvr additive="base">
                                        <p:cTn dur="500"/>
                                        <p:tgtEl>
                                          <p:spTgt spid="150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06">
                                            <p:txEl>
                                              <p:pRg end="3" st="3"/>
                                            </p:txEl>
                                          </p:spTgt>
                                        </p:tgtEl>
                                        <p:attrNameLst>
                                          <p:attrName>style.visibility</p:attrName>
                                        </p:attrNameLst>
                                      </p:cBhvr>
                                      <p:to>
                                        <p:strVal val="visible"/>
                                      </p:to>
                                    </p:set>
                                    <p:anim calcmode="lin" valueType="num">
                                      <p:cBhvr additive="base">
                                        <p:cTn dur="500"/>
                                        <p:tgtEl>
                                          <p:spTgt spid="150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508"/>
                                        </p:tgtEl>
                                        <p:attrNameLst>
                                          <p:attrName>style.visibility</p:attrName>
                                        </p:attrNameLst>
                                      </p:cBhvr>
                                      <p:to>
                                        <p:strVal val="visible"/>
                                      </p:to>
                                    </p:set>
                                    <p:anim calcmode="lin" valueType="num">
                                      <p:cBhvr additive="base">
                                        <p:cTn dur="500"/>
                                        <p:tgtEl>
                                          <p:spTgt spid="1508"/>
                                        </p:tgtEl>
                                        <p:attrNameLst>
                                          <p:attrName>ppt_w</p:attrName>
                                        </p:attrNameLst>
                                      </p:cBhvr>
                                      <p:tavLst>
                                        <p:tav fmla="" tm="0">
                                          <p:val>
                                            <p:strVal val="0"/>
                                          </p:val>
                                        </p:tav>
                                        <p:tav fmla="" tm="100000">
                                          <p:val>
                                            <p:strVal val="#ppt_w"/>
                                          </p:val>
                                        </p:tav>
                                      </p:tavLst>
                                    </p:anim>
                                    <p:anim calcmode="lin" valueType="num">
                                      <p:cBhvr additive="base">
                                        <p:cTn dur="500"/>
                                        <p:tgtEl>
                                          <p:spTgt spid="150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2">
                                            <p:txEl>
                                              <p:pRg end="0" st="0"/>
                                            </p:txEl>
                                          </p:spTgt>
                                        </p:tgtEl>
                                        <p:attrNameLst>
                                          <p:attrName>style.visibility</p:attrName>
                                        </p:attrNameLst>
                                      </p:cBhvr>
                                      <p:to>
                                        <p:strVal val="visible"/>
                                      </p:to>
                                    </p:set>
                                    <p:anim calcmode="lin" valueType="num">
                                      <p:cBhvr additive="base">
                                        <p:cTn dur="500"/>
                                        <p:tgtEl>
                                          <p:spTgt spid="151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2">
                                            <p:txEl>
                                              <p:pRg end="1" st="1"/>
                                            </p:txEl>
                                          </p:spTgt>
                                        </p:tgtEl>
                                        <p:attrNameLst>
                                          <p:attrName>style.visibility</p:attrName>
                                        </p:attrNameLst>
                                      </p:cBhvr>
                                      <p:to>
                                        <p:strVal val="visible"/>
                                      </p:to>
                                    </p:set>
                                    <p:anim calcmode="lin" valueType="num">
                                      <p:cBhvr additive="base">
                                        <p:cTn dur="500"/>
                                        <p:tgtEl>
                                          <p:spTgt spid="151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2">
                                            <p:txEl>
                                              <p:pRg end="2" st="2"/>
                                            </p:txEl>
                                          </p:spTgt>
                                        </p:tgtEl>
                                        <p:attrNameLst>
                                          <p:attrName>style.visibility</p:attrName>
                                        </p:attrNameLst>
                                      </p:cBhvr>
                                      <p:to>
                                        <p:strVal val="visible"/>
                                      </p:to>
                                    </p:set>
                                    <p:anim calcmode="lin" valueType="num">
                                      <p:cBhvr additive="base">
                                        <p:cTn dur="500"/>
                                        <p:tgtEl>
                                          <p:spTgt spid="151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2">
                                            <p:txEl>
                                              <p:pRg end="3" st="3"/>
                                            </p:txEl>
                                          </p:spTgt>
                                        </p:tgtEl>
                                        <p:attrNameLst>
                                          <p:attrName>style.visibility</p:attrName>
                                        </p:attrNameLst>
                                      </p:cBhvr>
                                      <p:to>
                                        <p:strVal val="visible"/>
                                      </p:to>
                                    </p:set>
                                    <p:anim calcmode="lin" valueType="num">
                                      <p:cBhvr additive="base">
                                        <p:cTn dur="500"/>
                                        <p:tgtEl>
                                          <p:spTgt spid="151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2">
                                            <p:txEl>
                                              <p:pRg end="4" st="4"/>
                                            </p:txEl>
                                          </p:spTgt>
                                        </p:tgtEl>
                                        <p:attrNameLst>
                                          <p:attrName>style.visibility</p:attrName>
                                        </p:attrNameLst>
                                      </p:cBhvr>
                                      <p:to>
                                        <p:strVal val="visible"/>
                                      </p:to>
                                    </p:set>
                                    <p:anim calcmode="lin" valueType="num">
                                      <p:cBhvr additive="base">
                                        <p:cTn dur="500"/>
                                        <p:tgtEl>
                                          <p:spTgt spid="151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3"/>
                                        </p:tgtEl>
                                        <p:attrNameLst>
                                          <p:attrName>style.visibility</p:attrName>
                                        </p:attrNameLst>
                                      </p:cBhvr>
                                      <p:to>
                                        <p:strVal val="visible"/>
                                      </p:to>
                                    </p:set>
                                    <p:animEffect filter="fade" transition="in">
                                      <p:cBhvr>
                                        <p:cTn dur="500"/>
                                        <p:tgtEl>
                                          <p:spTgt spid="1513"/>
                                        </p:tgtEl>
                                      </p:cBhvr>
                                    </p:animEffect>
                                  </p:childTnLst>
                                </p:cTn>
                              </p:par>
                              <p:par>
                                <p:cTn fill="hold" nodeType="withEffect" presetClass="entr" presetID="10" presetSubtype="0">
                                  <p:stCondLst>
                                    <p:cond delay="0"/>
                                  </p:stCondLst>
                                  <p:childTnLst>
                                    <p:set>
                                      <p:cBhvr>
                                        <p:cTn dur="1" fill="hold">
                                          <p:stCondLst>
                                            <p:cond delay="0"/>
                                          </p:stCondLst>
                                        </p:cTn>
                                        <p:tgtEl>
                                          <p:spTgt spid="1519"/>
                                        </p:tgtEl>
                                        <p:attrNameLst>
                                          <p:attrName>style.visibility</p:attrName>
                                        </p:attrNameLst>
                                      </p:cBhvr>
                                      <p:to>
                                        <p:strVal val="visible"/>
                                      </p:to>
                                    </p:set>
                                    <p:animEffect filter="fade" transition="in">
                                      <p:cBhvr>
                                        <p:cTn dur="500"/>
                                        <p:tgtEl>
                                          <p:spTgt spid="15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0"/>
                                        </p:tgtEl>
                                        <p:attrNameLst>
                                          <p:attrName>style.visibility</p:attrName>
                                        </p:attrNameLst>
                                      </p:cBhvr>
                                      <p:to>
                                        <p:strVal val="visible"/>
                                      </p:to>
                                    </p:set>
                                    <p:animEffect filter="fade" transition="in">
                                      <p:cBhvr>
                                        <p:cTn dur="500"/>
                                        <p:tgtEl>
                                          <p:spTgt spid="1520"/>
                                        </p:tgtEl>
                                      </p:cBhvr>
                                    </p:animEffect>
                                  </p:childTnLst>
                                </p:cTn>
                              </p:par>
                              <p:par>
                                <p:cTn fill="hold" nodeType="withEffect" presetClass="entr" presetID="23" presetSubtype="16">
                                  <p:stCondLst>
                                    <p:cond delay="0"/>
                                  </p:stCondLst>
                                  <p:childTnLst>
                                    <p:set>
                                      <p:cBhvr>
                                        <p:cTn dur="1" fill="hold">
                                          <p:stCondLst>
                                            <p:cond delay="0"/>
                                          </p:stCondLst>
                                        </p:cTn>
                                        <p:tgtEl>
                                          <p:spTgt spid="1518"/>
                                        </p:tgtEl>
                                        <p:attrNameLst>
                                          <p:attrName>style.visibility</p:attrName>
                                        </p:attrNameLst>
                                      </p:cBhvr>
                                      <p:to>
                                        <p:strVal val="visible"/>
                                      </p:to>
                                    </p:set>
                                    <p:anim calcmode="lin" valueType="num">
                                      <p:cBhvr additive="base">
                                        <p:cTn dur="500"/>
                                        <p:tgtEl>
                                          <p:spTgt spid="1518"/>
                                        </p:tgtEl>
                                        <p:attrNameLst>
                                          <p:attrName>ppt_w</p:attrName>
                                        </p:attrNameLst>
                                      </p:cBhvr>
                                      <p:tavLst>
                                        <p:tav fmla="" tm="0">
                                          <p:val>
                                            <p:strVal val="0"/>
                                          </p:val>
                                        </p:tav>
                                        <p:tav fmla="" tm="100000">
                                          <p:val>
                                            <p:strVal val="#ppt_w"/>
                                          </p:val>
                                        </p:tav>
                                      </p:tavLst>
                                    </p:anim>
                                    <p:anim calcmode="lin" valueType="num">
                                      <p:cBhvr additive="base">
                                        <p:cTn dur="500"/>
                                        <p:tgtEl>
                                          <p:spTgt spid="151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4"/>
                                        </p:tgtEl>
                                        <p:attrNameLst>
                                          <p:attrName>style.visibility</p:attrName>
                                        </p:attrNameLst>
                                      </p:cBhvr>
                                      <p:to>
                                        <p:strVal val="visible"/>
                                      </p:to>
                                    </p:set>
                                    <p:animEffect filter="fade" transition="in">
                                      <p:cBhvr>
                                        <p:cTn dur="500"/>
                                        <p:tgtEl>
                                          <p:spTgt spid="15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5"/>
                                        </p:tgtEl>
                                        <p:attrNameLst>
                                          <p:attrName>style.visibility</p:attrName>
                                        </p:attrNameLst>
                                      </p:cBhvr>
                                      <p:to>
                                        <p:strVal val="visible"/>
                                      </p:to>
                                    </p:set>
                                    <p:animEffect filter="fade" transition="in">
                                      <p:cBhvr>
                                        <p:cTn dur="500"/>
                                        <p:tgtEl>
                                          <p:spTgt spid="15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6"/>
                                        </p:tgtEl>
                                        <p:attrNameLst>
                                          <p:attrName>style.visibility</p:attrName>
                                        </p:attrNameLst>
                                      </p:cBhvr>
                                      <p:to>
                                        <p:strVal val="visible"/>
                                      </p:to>
                                    </p:set>
                                    <p:animEffect filter="fade" transition="in">
                                      <p:cBhvr>
                                        <p:cTn dur="500"/>
                                        <p:tgtEl>
                                          <p:spTgt spid="1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7"/>
                                        </p:tgtEl>
                                        <p:attrNameLst>
                                          <p:attrName>style.visibility</p:attrName>
                                        </p:attrNameLst>
                                      </p:cBhvr>
                                      <p:to>
                                        <p:strVal val="visible"/>
                                      </p:to>
                                    </p:set>
                                    <p:animEffect filter="fade" transition="in">
                                      <p:cBhvr>
                                        <p:cTn dur="500"/>
                                        <p:tgtEl>
                                          <p:spTgt spid="15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1"/>
                                        </p:tgtEl>
                                        <p:attrNameLst>
                                          <p:attrName>style.visibility</p:attrName>
                                        </p:attrNameLst>
                                      </p:cBhvr>
                                      <p:to>
                                        <p:strVal val="visible"/>
                                      </p:to>
                                    </p:set>
                                    <p:animEffect filter="fade" transition="in">
                                      <p:cBhvr>
                                        <p:cTn dur="500"/>
                                        <p:tgtEl>
                                          <p:spTgt spid="1521"/>
                                        </p:tgtEl>
                                      </p:cBhvr>
                                    </p:animEffect>
                                  </p:childTnLst>
                                </p:cTn>
                              </p:par>
                              <p:par>
                                <p:cTn fill="hold" nodeType="withEffect" presetClass="exit" presetID="10" presetSubtype="0">
                                  <p:stCondLst>
                                    <p:cond delay="0"/>
                                  </p:stCondLst>
                                  <p:childTnLst>
                                    <p:animEffect filter="fade" transition="out">
                                      <p:cBhvr>
                                        <p:cTn dur="500"/>
                                        <p:tgtEl>
                                          <p:spTgt spid="1518"/>
                                        </p:tgtEl>
                                      </p:cBhvr>
                                    </p:animEffect>
                                    <p:set>
                                      <p:cBhvr>
                                        <p:cTn dur="1" fill="hold">
                                          <p:stCondLst>
                                            <p:cond delay="500"/>
                                          </p:stCondLst>
                                        </p:cTn>
                                        <p:tgtEl>
                                          <p:spTgt spid="151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p57"/>
          <p:cNvSpPr/>
          <p:nvPr/>
        </p:nvSpPr>
        <p:spPr>
          <a:xfrm>
            <a:off x="685800" y="1549400"/>
            <a:ext cx="7772400" cy="101123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Power as rate of energy transfer </a:t>
            </a:r>
            <a:r>
              <a:rPr lang="en-US" sz="2000">
                <a:solidFill>
                  <a:schemeClr val="dk1"/>
                </a:solidFill>
                <a:latin typeface="Courier New"/>
                <a:ea typeface="Courier New"/>
                <a:cs typeface="Courier New"/>
                <a:sym typeface="Courier New"/>
              </a:rPr>
              <a:t>	</a:t>
            </a:r>
            <a:endParaRPr/>
          </a:p>
        </p:txBody>
      </p:sp>
      <p:sp>
        <p:nvSpPr>
          <p:cNvPr id="1528" name="Google Shape;1528;p5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grpSp>
        <p:nvGrpSpPr>
          <p:cNvPr id="1529" name="Google Shape;1529;p57"/>
          <p:cNvGrpSpPr/>
          <p:nvPr/>
        </p:nvGrpSpPr>
        <p:grpSpPr>
          <a:xfrm>
            <a:off x="828675" y="1973263"/>
            <a:ext cx="7462838" cy="461962"/>
            <a:chOff x="828675" y="2723544"/>
            <a:chExt cx="7462838" cy="461962"/>
          </a:xfrm>
        </p:grpSpPr>
        <p:sp>
          <p:nvSpPr>
            <p:cNvPr id="1530" name="Google Shape;1530;p57"/>
            <p:cNvSpPr/>
            <p:nvPr/>
          </p:nvSpPr>
          <p:spPr>
            <a:xfrm>
              <a:off x="965200" y="2733069"/>
              <a:ext cx="2368550" cy="3206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Fv</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cos</a:t>
              </a:r>
              <a:r>
                <a:rPr baseline="-25000"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θ</a:t>
              </a:r>
              <a:endParaRPr i="1" sz="2400">
                <a:solidFill>
                  <a:schemeClr val="dk1"/>
                </a:solidFill>
                <a:latin typeface="Arial"/>
                <a:ea typeface="Arial"/>
                <a:cs typeface="Arial"/>
                <a:sym typeface="Arial"/>
              </a:endParaRPr>
            </a:p>
          </p:txBody>
        </p:sp>
        <p:sp>
          <p:nvSpPr>
            <p:cNvPr id="1531" name="Google Shape;1531;p57"/>
            <p:cNvSpPr txBox="1"/>
            <p:nvPr/>
          </p:nvSpPr>
          <p:spPr>
            <a:xfrm>
              <a:off x="7058025" y="2723544"/>
              <a:ext cx="1228725" cy="461962"/>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power</a:t>
              </a:r>
              <a:endParaRPr/>
            </a:p>
          </p:txBody>
        </p:sp>
        <p:sp>
          <p:nvSpPr>
            <p:cNvPr id="1532" name="Google Shape;1532;p57"/>
            <p:cNvSpPr/>
            <p:nvPr/>
          </p:nvSpPr>
          <p:spPr>
            <a:xfrm>
              <a:off x="828675" y="2726719"/>
              <a:ext cx="7462838" cy="452437"/>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1533" name="Google Shape;1533;p57"/>
          <p:cNvSpPr/>
          <p:nvPr/>
        </p:nvSpPr>
        <p:spPr>
          <a:xfrm>
            <a:off x="674688" y="2560638"/>
            <a:ext cx="7783512" cy="3246437"/>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US" sz="2400">
                <a:solidFill>
                  <a:schemeClr val="dk1"/>
                </a:solidFill>
                <a:latin typeface="Arial"/>
                <a:ea typeface="Arial"/>
                <a:cs typeface="Arial"/>
                <a:sym typeface="Arial"/>
              </a:rPr>
              <a:t>PRACTICE: Show that </a:t>
            </a:r>
            <a:r>
              <a:rPr i="1"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Fv</a:t>
            </a:r>
            <a:r>
              <a:rPr baseline="-25000" i="1" lang="en-US" sz="2400">
                <a:solidFill>
                  <a:schemeClr val="dk1"/>
                </a:solidFill>
                <a:latin typeface="Arial"/>
                <a:ea typeface="Arial"/>
                <a:cs typeface="Arial"/>
                <a:sym typeface="Arial"/>
              </a:rPr>
              <a:t> </a:t>
            </a:r>
            <a:r>
              <a:rPr lang="en-US" sz="2400">
                <a:solidFill>
                  <a:srgbClr val="000000"/>
                </a:solidFill>
                <a:latin typeface="Arial"/>
                <a:ea typeface="Arial"/>
                <a:cs typeface="Arial"/>
                <a:sym typeface="Arial"/>
              </a:rPr>
              <a:t>cos</a:t>
            </a:r>
            <a:r>
              <a:rPr baseline="-25000" lang="en-US" sz="2400">
                <a:solidFill>
                  <a:srgbClr val="000000"/>
                </a:solidFill>
                <a:latin typeface="Arial"/>
                <a:ea typeface="Arial"/>
                <a:cs typeface="Arial"/>
                <a:sym typeface="Arial"/>
              </a:rPr>
              <a:t> </a:t>
            </a:r>
            <a:r>
              <a:rPr i="1" lang="en-US" sz="2400">
                <a:solidFill>
                  <a:srgbClr val="000000"/>
                </a:solidFill>
                <a:latin typeface="Arial"/>
                <a:ea typeface="Arial"/>
                <a:cs typeface="Arial"/>
                <a:sym typeface="Arial"/>
              </a:rPr>
              <a:t>θ</a:t>
            </a:r>
            <a:r>
              <a:rPr lang="en-US" sz="2400">
                <a:solidFill>
                  <a:srgbClr val="000000"/>
                </a:solidFill>
                <a:latin typeface="Arial"/>
                <a:ea typeface="Arial"/>
                <a:cs typeface="Arial"/>
                <a:sym typeface="Arial"/>
              </a:rPr>
              <a:t>.</a:t>
            </a:r>
            <a:endParaRPr sz="2400">
              <a:solidFill>
                <a:schemeClr val="dk1"/>
              </a:solidFill>
              <a:latin typeface="Arial"/>
              <a:ea typeface="Arial"/>
              <a:cs typeface="Arial"/>
              <a:sym typeface="Arial"/>
            </a:endParaRPr>
          </a:p>
          <a:p>
            <a:pPr indent="0" lvl="0" marL="0" marR="0" rtl="0" algn="l">
              <a:spcBef>
                <a:spcPts val="400"/>
              </a:spcBef>
              <a:spcAft>
                <a:spcPts val="0"/>
              </a:spcAft>
              <a:buNone/>
            </a:pPr>
            <a:r>
              <a:rPr lang="en-US" sz="2400">
                <a:solidFill>
                  <a:schemeClr val="dk1"/>
                </a:solidFill>
                <a:latin typeface="Arial"/>
                <a:ea typeface="Arial"/>
                <a:cs typeface="Arial"/>
                <a:sym typeface="Arial"/>
              </a:rPr>
              <a:t>SOLUTION:  Since </a:t>
            </a:r>
            <a:r>
              <a:rPr i="1"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Δ</a:t>
            </a:r>
            <a:r>
              <a:rPr i="1" lang="en-US" sz="2400">
                <a:solidFill>
                  <a:schemeClr val="dk1"/>
                </a:solidFill>
                <a:latin typeface="Arial"/>
                <a:ea typeface="Arial"/>
                <a:cs typeface="Arial"/>
                <a:sym typeface="Arial"/>
              </a:rPr>
              <a:t>W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Δ</a:t>
            </a:r>
            <a:r>
              <a:rPr i="1"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we can begin by combining our power equation with work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Fs</a:t>
            </a:r>
            <a:r>
              <a:rPr baseline="-25000" i="1" lang="en-US" sz="2400">
                <a:solidFill>
                  <a:schemeClr val="dk1"/>
                </a:solidFill>
                <a:latin typeface="Arial"/>
                <a:ea typeface="Arial"/>
                <a:cs typeface="Arial"/>
                <a:sym typeface="Arial"/>
              </a:rPr>
              <a:t> </a:t>
            </a:r>
            <a:r>
              <a:rPr lang="en-US" sz="2400">
                <a:solidFill>
                  <a:srgbClr val="000000"/>
                </a:solidFill>
                <a:latin typeface="Arial"/>
                <a:ea typeface="Arial"/>
                <a:cs typeface="Arial"/>
                <a:sym typeface="Arial"/>
              </a:rPr>
              <a:t>cos</a:t>
            </a:r>
            <a:r>
              <a:rPr baseline="-25000" lang="en-US" sz="2400">
                <a:solidFill>
                  <a:srgbClr val="000000"/>
                </a:solidFill>
                <a:latin typeface="Arial"/>
                <a:ea typeface="Arial"/>
                <a:cs typeface="Arial"/>
                <a:sym typeface="Arial"/>
              </a:rPr>
              <a:t> </a:t>
            </a:r>
            <a:r>
              <a:rPr i="1" lang="en-US" sz="2400">
                <a:solidFill>
                  <a:srgbClr val="000000"/>
                </a:solidFill>
                <a:latin typeface="Arial"/>
                <a:ea typeface="Arial"/>
                <a:cs typeface="Arial"/>
                <a:sym typeface="Arial"/>
              </a:rPr>
              <a:t>θ </a:t>
            </a:r>
            <a:r>
              <a:rPr lang="en-US" sz="2400">
                <a:solidFill>
                  <a:schemeClr val="dk1"/>
                </a:solidFill>
                <a:latin typeface="Arial"/>
                <a:ea typeface="Arial"/>
                <a:cs typeface="Arial"/>
                <a:sym typeface="Arial"/>
              </a:rPr>
              <a:t>:</a:t>
            </a:r>
            <a:endParaRPr/>
          </a:p>
          <a:p>
            <a:pPr indent="0" lvl="0" marL="0" marR="0" rtl="0" algn="l">
              <a:lnSpc>
                <a:spcPct val="90000"/>
              </a:lnSpc>
              <a:spcBef>
                <a:spcPts val="480"/>
              </a:spcBef>
              <a:spcAft>
                <a:spcPts val="0"/>
              </a:spcAft>
              <a:buNone/>
            </a:pPr>
            <a:r>
              <a:rPr i="1" lang="en-US" sz="2400">
                <a:solidFill>
                  <a:schemeClr val="dk1"/>
                </a:solidFill>
                <a:latin typeface="Arial"/>
                <a:ea typeface="Arial"/>
                <a:cs typeface="Arial"/>
                <a:sym typeface="Arial"/>
              </a:rPr>
              <a:t>			   P</a:t>
            </a:r>
            <a:r>
              <a:rPr lang="en-US" sz="2400">
                <a:solidFill>
                  <a:schemeClr val="dk1"/>
                </a:solidFill>
                <a:latin typeface="Arial"/>
                <a:ea typeface="Arial"/>
                <a:cs typeface="Arial"/>
                <a:sym typeface="Arial"/>
              </a:rPr>
              <a:t> = Δ</a:t>
            </a:r>
            <a:r>
              <a:rPr i="1" lang="en-US" sz="2400">
                <a:solidFill>
                  <a:schemeClr val="dk1"/>
                </a:solidFill>
                <a:latin typeface="Arial"/>
                <a:ea typeface="Arial"/>
                <a:cs typeface="Arial"/>
                <a:sym typeface="Arial"/>
              </a:rPr>
              <a:t>W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Δ</a:t>
            </a:r>
            <a:r>
              <a:rPr i="1" lang="en-US" sz="2400">
                <a:solidFill>
                  <a:schemeClr val="dk1"/>
                </a:solidFill>
                <a:latin typeface="Arial"/>
                <a:ea typeface="Arial"/>
                <a:cs typeface="Arial"/>
                <a:sym typeface="Arial"/>
              </a:rPr>
              <a:t>t</a:t>
            </a:r>
            <a:endParaRPr/>
          </a:p>
          <a:p>
            <a:pPr indent="0" lvl="0" marL="0" marR="0" rtl="0" algn="l">
              <a:spcBef>
                <a:spcPts val="400"/>
              </a:spcBef>
              <a:spcAft>
                <a:spcPts val="0"/>
              </a:spcAft>
              <a:buNone/>
            </a:pPr>
            <a:r>
              <a:rPr i="1" lang="en-US" sz="2400">
                <a:solidFill>
                  <a:schemeClr val="dk1"/>
                </a:solidFill>
                <a:latin typeface="Arial"/>
                <a:ea typeface="Arial"/>
                <a:cs typeface="Arial"/>
                <a:sym typeface="Arial"/>
              </a:rPr>
              <a:t>                                       = W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t</a:t>
            </a:r>
            <a:endParaRPr sz="2400">
              <a:solidFill>
                <a:schemeClr val="dk1"/>
              </a:solidFill>
              <a:latin typeface="Arial"/>
              <a:ea typeface="Arial"/>
              <a:cs typeface="Arial"/>
              <a:sym typeface="Arial"/>
            </a:endParaRPr>
          </a:p>
          <a:p>
            <a:pPr indent="0" lvl="0" marL="0" marR="0" rtl="0" algn="l">
              <a:spcBef>
                <a:spcPts val="400"/>
              </a:spcBef>
              <a:spcAft>
                <a:spcPts val="0"/>
              </a:spcAft>
              <a:buNone/>
            </a:pPr>
            <a:r>
              <a:rPr i="1" lang="en-US" sz="2400">
                <a:solidFill>
                  <a:schemeClr val="dk1"/>
                </a:solidFill>
                <a:latin typeface="Arial"/>
                <a:ea typeface="Arial"/>
                <a:cs typeface="Arial"/>
                <a:sym typeface="Arial"/>
              </a:rPr>
              <a:t>                                       = </a:t>
            </a:r>
            <a:r>
              <a:rPr i="1" lang="en-US" sz="2400">
                <a:solidFill>
                  <a:srgbClr val="000000"/>
                </a:solidFill>
                <a:latin typeface="Arial"/>
                <a:ea typeface="Arial"/>
                <a:cs typeface="Arial"/>
                <a:sym typeface="Arial"/>
              </a:rPr>
              <a:t>Fs</a:t>
            </a:r>
            <a:r>
              <a:rPr baseline="-25000" i="1"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cos</a:t>
            </a:r>
            <a:r>
              <a:rPr baseline="-25000" lang="en-US" sz="2400">
                <a:solidFill>
                  <a:srgbClr val="000000"/>
                </a:solidFill>
                <a:latin typeface="Arial"/>
                <a:ea typeface="Arial"/>
                <a:cs typeface="Arial"/>
                <a:sym typeface="Arial"/>
              </a:rPr>
              <a:t> </a:t>
            </a:r>
            <a:r>
              <a:rPr i="1" lang="en-US" sz="2400">
                <a:solidFill>
                  <a:srgbClr val="000000"/>
                </a:solidFill>
                <a:latin typeface="Arial"/>
                <a:ea typeface="Arial"/>
                <a:cs typeface="Arial"/>
                <a:sym typeface="Arial"/>
              </a:rPr>
              <a:t>θ</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t</a:t>
            </a:r>
            <a:endParaRPr sz="2400">
              <a:solidFill>
                <a:schemeClr val="dk1"/>
              </a:solidFill>
              <a:latin typeface="Arial"/>
              <a:ea typeface="Arial"/>
              <a:cs typeface="Arial"/>
              <a:sym typeface="Arial"/>
            </a:endParaRPr>
          </a:p>
          <a:p>
            <a:pPr indent="0" lvl="0" marL="0" marR="0" rtl="0" algn="l">
              <a:spcBef>
                <a:spcPts val="400"/>
              </a:spcBef>
              <a:spcAft>
                <a:spcPts val="0"/>
              </a:spcAft>
              <a:buNone/>
            </a:pPr>
            <a:r>
              <a:rPr i="1" lang="en-US" sz="2400">
                <a:solidFill>
                  <a:schemeClr val="dk1"/>
                </a:solidFill>
                <a:latin typeface="Arial"/>
                <a:ea typeface="Arial"/>
                <a:cs typeface="Arial"/>
                <a:sym typeface="Arial"/>
              </a:rPr>
              <a:t>                                       = F</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s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a:t>
            </a:r>
            <a:r>
              <a:rPr baseline="-25000" lang="en-US" sz="2400">
                <a:solidFill>
                  <a:schemeClr val="dk1"/>
                </a:solidFill>
                <a:latin typeface="Arial"/>
                <a:ea typeface="Arial"/>
                <a:cs typeface="Arial"/>
                <a:sym typeface="Arial"/>
              </a:rPr>
              <a:t> </a:t>
            </a:r>
            <a:r>
              <a:rPr lang="en-US" sz="2400">
                <a:solidFill>
                  <a:srgbClr val="000000"/>
                </a:solidFill>
                <a:latin typeface="Arial"/>
                <a:ea typeface="Arial"/>
                <a:cs typeface="Arial"/>
                <a:sym typeface="Arial"/>
              </a:rPr>
              <a:t>cos</a:t>
            </a:r>
            <a:r>
              <a:rPr baseline="-25000" lang="en-US" sz="2400">
                <a:solidFill>
                  <a:srgbClr val="000000"/>
                </a:solidFill>
                <a:latin typeface="Arial"/>
                <a:ea typeface="Arial"/>
                <a:cs typeface="Arial"/>
                <a:sym typeface="Arial"/>
              </a:rPr>
              <a:t> </a:t>
            </a:r>
            <a:r>
              <a:rPr i="1" lang="en-US" sz="2400">
                <a:solidFill>
                  <a:srgbClr val="000000"/>
                </a:solidFill>
                <a:latin typeface="Arial"/>
                <a:ea typeface="Arial"/>
                <a:cs typeface="Arial"/>
                <a:sym typeface="Arial"/>
              </a:rPr>
              <a:t>θ</a:t>
            </a:r>
            <a:endParaRPr sz="2400">
              <a:solidFill>
                <a:schemeClr val="dk1"/>
              </a:solidFill>
              <a:latin typeface="Arial"/>
              <a:ea typeface="Arial"/>
              <a:cs typeface="Arial"/>
              <a:sym typeface="Arial"/>
            </a:endParaRPr>
          </a:p>
          <a:p>
            <a:pPr indent="0" lvl="0" marL="0" marR="0" rtl="0" algn="l">
              <a:spcBef>
                <a:spcPts val="400"/>
              </a:spcBef>
              <a:spcAft>
                <a:spcPts val="0"/>
              </a:spcAft>
              <a:buNone/>
            </a:pPr>
            <a:r>
              <a:rPr i="1" lang="en-US" sz="2400">
                <a:solidFill>
                  <a:schemeClr val="dk1"/>
                </a:solidFill>
                <a:latin typeface="Arial"/>
                <a:ea typeface="Arial"/>
                <a:cs typeface="Arial"/>
                <a:sym typeface="Arial"/>
              </a:rPr>
              <a:t>                                       = Fv</a:t>
            </a:r>
            <a:r>
              <a:rPr baseline="-25000" i="1" lang="en-US" sz="2400">
                <a:solidFill>
                  <a:schemeClr val="dk1"/>
                </a:solidFill>
                <a:latin typeface="Courier New"/>
                <a:ea typeface="Courier New"/>
                <a:cs typeface="Courier New"/>
                <a:sym typeface="Courier New"/>
              </a:rPr>
              <a:t> </a:t>
            </a:r>
            <a:r>
              <a:rPr lang="en-US" sz="2400">
                <a:solidFill>
                  <a:srgbClr val="000000"/>
                </a:solidFill>
                <a:latin typeface="Arial"/>
                <a:ea typeface="Arial"/>
                <a:cs typeface="Arial"/>
                <a:sym typeface="Arial"/>
              </a:rPr>
              <a:t>cos</a:t>
            </a:r>
            <a:r>
              <a:rPr baseline="-25000" lang="en-US" sz="2400">
                <a:solidFill>
                  <a:srgbClr val="000000"/>
                </a:solidFill>
                <a:latin typeface="Arial"/>
                <a:ea typeface="Arial"/>
                <a:cs typeface="Arial"/>
                <a:sym typeface="Arial"/>
              </a:rPr>
              <a:t> </a:t>
            </a:r>
            <a:r>
              <a:rPr i="1" lang="en-US" sz="2400">
                <a:solidFill>
                  <a:srgbClr val="000000"/>
                </a:solidFill>
                <a:latin typeface="Arial"/>
                <a:ea typeface="Arial"/>
                <a:cs typeface="Arial"/>
                <a:sym typeface="Arial"/>
              </a:rPr>
              <a:t>θ</a:t>
            </a:r>
            <a:r>
              <a:rPr i="1" lang="en-US" sz="2400">
                <a:solidFill>
                  <a:schemeClr val="dk1"/>
                </a:solidFill>
                <a:latin typeface="Arial"/>
                <a:ea typeface="Arial"/>
                <a:cs typeface="Arial"/>
                <a:sym typeface="Arial"/>
              </a:rPr>
              <a:t>.</a:t>
            </a:r>
            <a:endParaRPr i="1" sz="2400">
              <a:solidFill>
                <a:schemeClr val="dk1"/>
              </a:solidFill>
              <a:latin typeface="Arial"/>
              <a:ea typeface="Arial"/>
              <a:cs typeface="Arial"/>
              <a:sym typeface="Arial"/>
            </a:endParaRPr>
          </a:p>
        </p:txBody>
      </p:sp>
      <p:sp>
        <p:nvSpPr>
          <p:cNvPr id="1534" name="Google Shape;1534;p57"/>
          <p:cNvSpPr/>
          <p:nvPr/>
        </p:nvSpPr>
        <p:spPr>
          <a:xfrm>
            <a:off x="685800" y="5807075"/>
            <a:ext cx="7772400" cy="1050925"/>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endParaRPr/>
          </a:p>
          <a:p>
            <a:pPr indent="0" lvl="0" marL="0" marR="0" rtl="0" algn="l">
              <a:spcBef>
                <a:spcPts val="48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The Physics Data Booklet has “</a:t>
            </a:r>
            <a:r>
              <a:rPr i="1"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Δ</a:t>
            </a:r>
            <a:r>
              <a:rPr i="1" lang="en-US" sz="2400">
                <a:solidFill>
                  <a:schemeClr val="dk1"/>
                </a:solidFill>
                <a:latin typeface="Arial"/>
                <a:ea typeface="Arial"/>
                <a:cs typeface="Arial"/>
                <a:sym typeface="Arial"/>
              </a:rPr>
              <a:t>W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Δ</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Fv</a:t>
            </a:r>
            <a:r>
              <a:rPr lang="en-US"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529"/>
                                        </p:tgtEl>
                                        <p:attrNameLst>
                                          <p:attrName>style.visibility</p:attrName>
                                        </p:attrNameLst>
                                      </p:cBhvr>
                                      <p:to>
                                        <p:strVal val="visible"/>
                                      </p:to>
                                    </p:set>
                                    <p:anim calcmode="lin" valueType="num">
                                      <p:cBhvr additive="base">
                                        <p:cTn dur="500"/>
                                        <p:tgtEl>
                                          <p:spTgt spid="1529"/>
                                        </p:tgtEl>
                                        <p:attrNameLst>
                                          <p:attrName>ppt_w</p:attrName>
                                        </p:attrNameLst>
                                      </p:cBhvr>
                                      <p:tavLst>
                                        <p:tav fmla="" tm="0">
                                          <p:val>
                                            <p:strVal val="0"/>
                                          </p:val>
                                        </p:tav>
                                        <p:tav fmla="" tm="100000">
                                          <p:val>
                                            <p:strVal val="#ppt_w"/>
                                          </p:val>
                                        </p:tav>
                                      </p:tavLst>
                                    </p:anim>
                                    <p:anim calcmode="lin" valueType="num">
                                      <p:cBhvr additive="base">
                                        <p:cTn dur="500"/>
                                        <p:tgtEl>
                                          <p:spTgt spid="152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3">
                                            <p:txEl>
                                              <p:pRg end="0" st="0"/>
                                            </p:txEl>
                                          </p:spTgt>
                                        </p:tgtEl>
                                        <p:attrNameLst>
                                          <p:attrName>style.visibility</p:attrName>
                                        </p:attrNameLst>
                                      </p:cBhvr>
                                      <p:to>
                                        <p:strVal val="visible"/>
                                      </p:to>
                                    </p:set>
                                    <p:anim calcmode="lin" valueType="num">
                                      <p:cBhvr additive="base">
                                        <p:cTn dur="500"/>
                                        <p:tgtEl>
                                          <p:spTgt spid="153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3">
                                            <p:txEl>
                                              <p:pRg end="1" st="1"/>
                                            </p:txEl>
                                          </p:spTgt>
                                        </p:tgtEl>
                                        <p:attrNameLst>
                                          <p:attrName>style.visibility</p:attrName>
                                        </p:attrNameLst>
                                      </p:cBhvr>
                                      <p:to>
                                        <p:strVal val="visible"/>
                                      </p:to>
                                    </p:set>
                                    <p:anim calcmode="lin" valueType="num">
                                      <p:cBhvr additive="base">
                                        <p:cTn dur="500"/>
                                        <p:tgtEl>
                                          <p:spTgt spid="153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3">
                                            <p:txEl>
                                              <p:pRg end="2" st="2"/>
                                            </p:txEl>
                                          </p:spTgt>
                                        </p:tgtEl>
                                        <p:attrNameLst>
                                          <p:attrName>style.visibility</p:attrName>
                                        </p:attrNameLst>
                                      </p:cBhvr>
                                      <p:to>
                                        <p:strVal val="visible"/>
                                      </p:to>
                                    </p:set>
                                    <p:anim calcmode="lin" valueType="num">
                                      <p:cBhvr additive="base">
                                        <p:cTn dur="500"/>
                                        <p:tgtEl>
                                          <p:spTgt spid="153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3">
                                            <p:txEl>
                                              <p:pRg end="3" st="3"/>
                                            </p:txEl>
                                          </p:spTgt>
                                        </p:tgtEl>
                                        <p:attrNameLst>
                                          <p:attrName>style.visibility</p:attrName>
                                        </p:attrNameLst>
                                      </p:cBhvr>
                                      <p:to>
                                        <p:strVal val="visible"/>
                                      </p:to>
                                    </p:set>
                                    <p:anim calcmode="lin" valueType="num">
                                      <p:cBhvr additive="base">
                                        <p:cTn dur="500"/>
                                        <p:tgtEl>
                                          <p:spTgt spid="153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3">
                                            <p:txEl>
                                              <p:pRg end="4" st="4"/>
                                            </p:txEl>
                                          </p:spTgt>
                                        </p:tgtEl>
                                        <p:attrNameLst>
                                          <p:attrName>style.visibility</p:attrName>
                                        </p:attrNameLst>
                                      </p:cBhvr>
                                      <p:to>
                                        <p:strVal val="visible"/>
                                      </p:to>
                                    </p:set>
                                    <p:anim calcmode="lin" valueType="num">
                                      <p:cBhvr additive="base">
                                        <p:cTn dur="500"/>
                                        <p:tgtEl>
                                          <p:spTgt spid="153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3">
                                            <p:txEl>
                                              <p:pRg end="5" st="5"/>
                                            </p:txEl>
                                          </p:spTgt>
                                        </p:tgtEl>
                                        <p:attrNameLst>
                                          <p:attrName>style.visibility</p:attrName>
                                        </p:attrNameLst>
                                      </p:cBhvr>
                                      <p:to>
                                        <p:strVal val="visible"/>
                                      </p:to>
                                    </p:set>
                                    <p:anim calcmode="lin" valueType="num">
                                      <p:cBhvr additive="base">
                                        <p:cTn dur="500"/>
                                        <p:tgtEl>
                                          <p:spTgt spid="153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3">
                                            <p:txEl>
                                              <p:pRg end="6" st="6"/>
                                            </p:txEl>
                                          </p:spTgt>
                                        </p:tgtEl>
                                        <p:attrNameLst>
                                          <p:attrName>style.visibility</p:attrName>
                                        </p:attrNameLst>
                                      </p:cBhvr>
                                      <p:to>
                                        <p:strVal val="visible"/>
                                      </p:to>
                                    </p:set>
                                    <p:anim calcmode="lin" valueType="num">
                                      <p:cBhvr additive="base">
                                        <p:cTn dur="500"/>
                                        <p:tgtEl>
                                          <p:spTgt spid="153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4">
                                            <p:txEl>
                                              <p:pRg end="0" st="0"/>
                                            </p:txEl>
                                          </p:spTgt>
                                        </p:tgtEl>
                                        <p:attrNameLst>
                                          <p:attrName>style.visibility</p:attrName>
                                        </p:attrNameLst>
                                      </p:cBhvr>
                                      <p:to>
                                        <p:strVal val="visible"/>
                                      </p:to>
                                    </p:set>
                                    <p:anim calcmode="lin" valueType="num">
                                      <p:cBhvr additive="base">
                                        <p:cTn dur="500"/>
                                        <p:tgtEl>
                                          <p:spTgt spid="153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4">
                                            <p:txEl>
                                              <p:pRg end="1" st="1"/>
                                            </p:txEl>
                                          </p:spTgt>
                                        </p:tgtEl>
                                        <p:attrNameLst>
                                          <p:attrName>style.visibility</p:attrName>
                                        </p:attrNameLst>
                                      </p:cBhvr>
                                      <p:to>
                                        <p:strVal val="visible"/>
                                      </p:to>
                                    </p:set>
                                    <p:anim calcmode="lin" valueType="num">
                                      <p:cBhvr additive="base">
                                        <p:cTn dur="500"/>
                                        <p:tgtEl>
                                          <p:spTgt spid="153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9" name="Shape 1539"/>
        <p:cNvGrpSpPr/>
        <p:nvPr/>
      </p:nvGrpSpPr>
      <p:grpSpPr>
        <a:xfrm>
          <a:off x="0" y="0"/>
          <a:ext cx="0" cy="0"/>
          <a:chOff x="0" y="0"/>
          <a:chExt cx="0" cy="0"/>
        </a:xfrm>
      </p:grpSpPr>
      <p:sp>
        <p:nvSpPr>
          <p:cNvPr id="1540" name="Google Shape;1540;p58"/>
          <p:cNvSpPr/>
          <p:nvPr/>
        </p:nvSpPr>
        <p:spPr>
          <a:xfrm>
            <a:off x="685800" y="1549400"/>
            <a:ext cx="7772400" cy="101123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Power as rate of energy transfer </a:t>
            </a:r>
            <a:r>
              <a:rPr lang="en-US" sz="2000">
                <a:solidFill>
                  <a:schemeClr val="dk1"/>
                </a:solidFill>
                <a:latin typeface="Courier New"/>
                <a:ea typeface="Courier New"/>
                <a:cs typeface="Courier New"/>
                <a:sym typeface="Courier New"/>
              </a:rPr>
              <a:t>	</a:t>
            </a:r>
            <a:endParaRPr/>
          </a:p>
        </p:txBody>
      </p:sp>
      <p:sp>
        <p:nvSpPr>
          <p:cNvPr id="1541" name="Google Shape;1541;p58"/>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grpSp>
        <p:nvGrpSpPr>
          <p:cNvPr id="1542" name="Google Shape;1542;p58"/>
          <p:cNvGrpSpPr/>
          <p:nvPr/>
        </p:nvGrpSpPr>
        <p:grpSpPr>
          <a:xfrm>
            <a:off x="828675" y="1973263"/>
            <a:ext cx="7462838" cy="461962"/>
            <a:chOff x="828675" y="2723544"/>
            <a:chExt cx="7462838" cy="461962"/>
          </a:xfrm>
        </p:grpSpPr>
        <p:sp>
          <p:nvSpPr>
            <p:cNvPr id="1543" name="Google Shape;1543;p58"/>
            <p:cNvSpPr/>
            <p:nvPr/>
          </p:nvSpPr>
          <p:spPr>
            <a:xfrm>
              <a:off x="965200" y="2733069"/>
              <a:ext cx="2368550" cy="3206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Fv</a:t>
              </a:r>
              <a:endParaRPr i="1" sz="2400">
                <a:solidFill>
                  <a:schemeClr val="dk1"/>
                </a:solidFill>
                <a:latin typeface="Arial"/>
                <a:ea typeface="Arial"/>
                <a:cs typeface="Arial"/>
                <a:sym typeface="Arial"/>
              </a:endParaRPr>
            </a:p>
          </p:txBody>
        </p:sp>
        <p:sp>
          <p:nvSpPr>
            <p:cNvPr id="1544" name="Google Shape;1544;p58"/>
            <p:cNvSpPr txBox="1"/>
            <p:nvPr/>
          </p:nvSpPr>
          <p:spPr>
            <a:xfrm>
              <a:off x="7058025" y="2723544"/>
              <a:ext cx="1228725" cy="461962"/>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power</a:t>
              </a:r>
              <a:endParaRPr/>
            </a:p>
          </p:txBody>
        </p:sp>
        <p:sp>
          <p:nvSpPr>
            <p:cNvPr id="1545" name="Google Shape;1545;p58"/>
            <p:cNvSpPr/>
            <p:nvPr/>
          </p:nvSpPr>
          <p:spPr>
            <a:xfrm>
              <a:off x="828675" y="2726719"/>
              <a:ext cx="7462838" cy="452437"/>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1546" name="Google Shape;1546;p58"/>
          <p:cNvSpPr/>
          <p:nvPr/>
        </p:nvSpPr>
        <p:spPr>
          <a:xfrm>
            <a:off x="674688" y="2560638"/>
            <a:ext cx="7783512" cy="4297362"/>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Sam the horse, walking                                    at 1.75 ms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is drawing a barge                                     having a tension force of 493 N along                                      the River Lea as shown. The angle                                   the draw rope makes with the                                                   velocity of  the barge is 30°. Find the                                         rate at which Sam is expending energy.</a:t>
            </a:r>
            <a:endParaRPr sz="2400">
              <a:solidFill>
                <a:schemeClr val="dk1"/>
              </a:solidFill>
              <a:latin typeface="Arial"/>
              <a:ea typeface="Arial"/>
              <a:cs typeface="Arial"/>
              <a:sym typeface="Arial"/>
            </a:endParaRPr>
          </a:p>
          <a:p>
            <a:pPr indent="0" lvl="0" marL="0" marR="0" rtl="0" algn="l">
              <a:spcBef>
                <a:spcPts val="400"/>
              </a:spcBef>
              <a:spcAft>
                <a:spcPts val="0"/>
              </a:spcAft>
              <a:buNone/>
            </a:pPr>
            <a:r>
              <a:rPr lang="en-US" sz="2400">
                <a:solidFill>
                  <a:schemeClr val="dk1"/>
                </a:solidFill>
                <a:latin typeface="Arial"/>
                <a:ea typeface="Arial"/>
                <a:cs typeface="Arial"/>
                <a:sym typeface="Arial"/>
              </a:rPr>
              <a:t>SOLUTION:  Since </a:t>
            </a:r>
            <a:r>
              <a:rPr i="1" lang="en-US" sz="2400">
                <a:solidFill>
                  <a:schemeClr val="dk1"/>
                </a:solidFill>
                <a:latin typeface="Arial"/>
                <a:ea typeface="Arial"/>
                <a:cs typeface="Arial"/>
                <a:sym typeface="Arial"/>
              </a:rPr>
              <a:t>energy rate</a:t>
            </a:r>
            <a:r>
              <a:rPr lang="en-US" sz="2400">
                <a:solidFill>
                  <a:schemeClr val="dk1"/>
                </a:solidFill>
                <a:latin typeface="Arial"/>
                <a:ea typeface="Arial"/>
                <a:cs typeface="Arial"/>
                <a:sym typeface="Arial"/>
              </a:rPr>
              <a:t> is </a:t>
            </a:r>
            <a:r>
              <a:rPr i="1" lang="en-US" sz="2400">
                <a:solidFill>
                  <a:schemeClr val="dk1"/>
                </a:solidFill>
                <a:latin typeface="Arial"/>
                <a:ea typeface="Arial"/>
                <a:cs typeface="Arial"/>
                <a:sym typeface="Arial"/>
              </a:rPr>
              <a:t>power</a:t>
            </a:r>
            <a:r>
              <a:rPr lang="en-US" sz="2400">
                <a:solidFill>
                  <a:schemeClr val="dk1"/>
                </a:solidFill>
                <a:latin typeface="Arial"/>
                <a:ea typeface="Arial"/>
                <a:cs typeface="Arial"/>
                <a:sym typeface="Arial"/>
              </a:rPr>
              <a:t>, use</a:t>
            </a:r>
            <a:endParaRPr/>
          </a:p>
          <a:p>
            <a:pPr indent="0" lvl="0" marL="0" marR="0" rtl="0" algn="l">
              <a:spcBef>
                <a:spcPts val="400"/>
              </a:spcBef>
              <a:spcAft>
                <a:spcPts val="0"/>
              </a:spcAft>
              <a:buNone/>
            </a:pPr>
            <a:r>
              <a:rPr i="1" lang="en-US" sz="2400">
                <a:solidFill>
                  <a:schemeClr val="dk1"/>
                </a:solidFill>
                <a:latin typeface="Arial"/>
                <a:ea typeface="Arial"/>
                <a:cs typeface="Arial"/>
                <a:sym typeface="Arial"/>
              </a:rPr>
              <a:t>   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Fv</a:t>
            </a:r>
            <a:r>
              <a:rPr baseline="-25000" i="1" lang="en-US" sz="2400">
                <a:solidFill>
                  <a:schemeClr val="dk1"/>
                </a:solidFill>
                <a:latin typeface="Arial"/>
                <a:ea typeface="Arial"/>
                <a:cs typeface="Arial"/>
                <a:sym typeface="Arial"/>
              </a:rPr>
              <a:t> </a:t>
            </a:r>
            <a:r>
              <a:rPr lang="en-US" sz="2400">
                <a:solidFill>
                  <a:srgbClr val="000000"/>
                </a:solidFill>
                <a:latin typeface="Arial"/>
                <a:ea typeface="Arial"/>
                <a:cs typeface="Arial"/>
                <a:sym typeface="Arial"/>
              </a:rPr>
              <a:t>cos</a:t>
            </a:r>
            <a:r>
              <a:rPr baseline="-25000" lang="en-US" sz="2400">
                <a:solidFill>
                  <a:srgbClr val="000000"/>
                </a:solidFill>
                <a:latin typeface="Arial"/>
                <a:ea typeface="Arial"/>
                <a:cs typeface="Arial"/>
                <a:sym typeface="Arial"/>
              </a:rPr>
              <a:t> </a:t>
            </a:r>
            <a:r>
              <a:rPr i="1" lang="en-US" sz="2400">
                <a:solidFill>
                  <a:srgbClr val="000000"/>
                </a:solidFill>
                <a:latin typeface="Arial"/>
                <a:ea typeface="Arial"/>
                <a:cs typeface="Arial"/>
                <a:sym typeface="Arial"/>
              </a:rPr>
              <a:t>θ</a:t>
            </a:r>
            <a:endParaRPr/>
          </a:p>
          <a:p>
            <a:pPr indent="0" lvl="0" marL="0" marR="0" rtl="0" algn="l">
              <a:spcBef>
                <a:spcPts val="400"/>
              </a:spcBef>
              <a:spcAft>
                <a:spcPts val="0"/>
              </a:spcAft>
              <a:buNone/>
            </a:pPr>
            <a:r>
              <a:rPr i="1" lang="en-US" sz="2400">
                <a:solidFill>
                  <a:srgbClr val="000000"/>
                </a:solidFill>
                <a:latin typeface="Arial"/>
                <a:ea typeface="Arial"/>
                <a:cs typeface="Arial"/>
                <a:sym typeface="Arial"/>
              </a:rPr>
              <a:t>      </a:t>
            </a:r>
            <a:r>
              <a:rPr baseline="-25000" i="1"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 (493)(1.75)</a:t>
            </a:r>
            <a:r>
              <a:rPr baseline="-25000" i="1"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cos</a:t>
            </a:r>
            <a:r>
              <a:rPr baseline="-25000"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30</a:t>
            </a:r>
            <a:r>
              <a:rPr lang="en-US" sz="2400">
                <a:solidFill>
                  <a:schemeClr val="dk1"/>
                </a:solidFill>
                <a:latin typeface="Courier New"/>
                <a:ea typeface="Courier New"/>
                <a:cs typeface="Courier New"/>
                <a:sym typeface="Courier New"/>
              </a:rPr>
              <a:t>°</a:t>
            </a:r>
            <a:endParaRPr/>
          </a:p>
          <a:p>
            <a:pPr indent="0" lvl="0" marL="0" marR="0" rtl="0" algn="l">
              <a:spcBef>
                <a:spcPts val="400"/>
              </a:spcBef>
              <a:spcAft>
                <a:spcPts val="0"/>
              </a:spcAft>
              <a:buNone/>
            </a:pPr>
            <a:r>
              <a:rPr lang="en-US" sz="2400">
                <a:solidFill>
                  <a:srgbClr val="000000"/>
                </a:solidFill>
                <a:latin typeface="Arial"/>
                <a:ea typeface="Arial"/>
                <a:cs typeface="Arial"/>
                <a:sym typeface="Arial"/>
              </a:rPr>
              <a:t>      </a:t>
            </a:r>
            <a:r>
              <a:rPr baseline="-25000"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 747 W.</a:t>
            </a:r>
            <a:endParaRPr sz="2400">
              <a:solidFill>
                <a:srgbClr val="000000"/>
              </a:solidFill>
              <a:latin typeface="Courier New"/>
              <a:ea typeface="Courier New"/>
              <a:cs typeface="Courier New"/>
              <a:sym typeface="Courier New"/>
            </a:endParaRPr>
          </a:p>
          <a:p>
            <a:pPr indent="0" lvl="0" marL="0" marR="0" rtl="0" algn="l">
              <a:spcBef>
                <a:spcPts val="400"/>
              </a:spcBef>
              <a:spcAft>
                <a:spcPts val="0"/>
              </a:spcAft>
              <a:buNone/>
            </a:pPr>
            <a:r>
              <a:t/>
            </a:r>
            <a:endParaRPr sz="2400">
              <a:solidFill>
                <a:schemeClr val="dk1"/>
              </a:solidFill>
              <a:latin typeface="Courier New"/>
              <a:ea typeface="Courier New"/>
              <a:cs typeface="Courier New"/>
              <a:sym typeface="Courier New"/>
            </a:endParaRPr>
          </a:p>
        </p:txBody>
      </p:sp>
      <p:pic>
        <p:nvPicPr>
          <p:cNvPr descr="http://3.bp.blogspot.com/-BT0vyixkfsU/TsO85fc2vyI/AAAAAAAAEcY/gJF5GychMwI/s320/horsebarge.jpg" id="1547" name="Google Shape;1547;p58">
            <a:hlinkClick r:id="rId3"/>
          </p:cNvPr>
          <p:cNvPicPr preferRelativeResize="0"/>
          <p:nvPr/>
        </p:nvPicPr>
        <p:blipFill rotWithShape="1">
          <a:blip r:embed="rId4">
            <a:alphaModFix/>
          </a:blip>
          <a:srcRect b="0" l="2905" r="0" t="12658"/>
          <a:stretch/>
        </p:blipFill>
        <p:spPr>
          <a:xfrm>
            <a:off x="5795963" y="2560638"/>
            <a:ext cx="2662237" cy="2103437"/>
          </a:xfrm>
          <a:prstGeom prst="rect">
            <a:avLst/>
          </a:prstGeom>
          <a:noFill/>
          <a:ln>
            <a:noFill/>
          </a:ln>
          <a:effectLst>
            <a:outerShdw blurRad="292100" rotWithShape="0" algn="tl" dir="2700000" dist="139700">
              <a:srgbClr val="333333">
                <a:alpha val="64705"/>
              </a:srgbClr>
            </a:outerShdw>
          </a:effectLst>
        </p:spPr>
      </p:pic>
      <p:sp>
        <p:nvSpPr>
          <p:cNvPr id="1548" name="Google Shape;1548;p58"/>
          <p:cNvSpPr/>
          <p:nvPr/>
        </p:nvSpPr>
        <p:spPr>
          <a:xfrm>
            <a:off x="5991225" y="936625"/>
            <a:ext cx="2466975" cy="96043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800">
                <a:solidFill>
                  <a:srgbClr val="606060"/>
                </a:solidFill>
                <a:latin typeface="Arial"/>
                <a:ea typeface="Arial"/>
                <a:cs typeface="Arial"/>
                <a:sym typeface="Arial"/>
              </a:rPr>
              <a:t>the last horse-drawn barge operated on the River Lea ...(1955)</a:t>
            </a:r>
            <a:endParaRPr/>
          </a:p>
        </p:txBody>
      </p:sp>
      <p:grpSp>
        <p:nvGrpSpPr>
          <p:cNvPr id="1549" name="Google Shape;1549;p58"/>
          <p:cNvGrpSpPr/>
          <p:nvPr/>
        </p:nvGrpSpPr>
        <p:grpSpPr>
          <a:xfrm>
            <a:off x="7496175" y="3089275"/>
            <a:ext cx="838200" cy="511175"/>
            <a:chOff x="7620000" y="3373956"/>
            <a:chExt cx="838199" cy="510829"/>
          </a:xfrm>
        </p:grpSpPr>
        <p:cxnSp>
          <p:nvCxnSpPr>
            <p:cNvPr id="1550" name="Google Shape;1550;p58"/>
            <p:cNvCxnSpPr/>
            <p:nvPr/>
          </p:nvCxnSpPr>
          <p:spPr>
            <a:xfrm>
              <a:off x="7620000" y="3543704"/>
              <a:ext cx="838199" cy="341081"/>
            </a:xfrm>
            <a:prstGeom prst="straightConnector1">
              <a:avLst/>
            </a:prstGeom>
            <a:noFill/>
            <a:ln cap="flat" cmpd="sng" w="31750">
              <a:solidFill>
                <a:schemeClr val="lt1"/>
              </a:solidFill>
              <a:prstDash val="solid"/>
              <a:round/>
              <a:headEnd len="sm" w="sm" type="none"/>
              <a:tailEnd len="med" w="med" type="stealth"/>
            </a:ln>
          </p:spPr>
        </p:cxnSp>
        <p:sp>
          <p:nvSpPr>
            <p:cNvPr id="1551" name="Google Shape;1551;p58"/>
            <p:cNvSpPr/>
            <p:nvPr/>
          </p:nvSpPr>
          <p:spPr>
            <a:xfrm>
              <a:off x="7985125" y="3373956"/>
              <a:ext cx="358775" cy="3585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lt1"/>
                  </a:solidFill>
                  <a:latin typeface="Arial"/>
                  <a:ea typeface="Arial"/>
                  <a:cs typeface="Arial"/>
                  <a:sym typeface="Arial"/>
                </a:rPr>
                <a:t>v</a:t>
              </a:r>
              <a:endParaRPr/>
            </a:p>
          </p:txBody>
        </p:sp>
      </p:grpSp>
      <p:grpSp>
        <p:nvGrpSpPr>
          <p:cNvPr id="1552" name="Google Shape;1552;p58"/>
          <p:cNvGrpSpPr/>
          <p:nvPr/>
        </p:nvGrpSpPr>
        <p:grpSpPr>
          <a:xfrm>
            <a:off x="6767513" y="3259138"/>
            <a:ext cx="730250" cy="333375"/>
            <a:chOff x="6740834" y="3543300"/>
            <a:chExt cx="880753" cy="333029"/>
          </a:xfrm>
        </p:grpSpPr>
        <p:cxnSp>
          <p:nvCxnSpPr>
            <p:cNvPr id="1553" name="Google Shape;1553;p58"/>
            <p:cNvCxnSpPr/>
            <p:nvPr/>
          </p:nvCxnSpPr>
          <p:spPr>
            <a:xfrm flipH="1">
              <a:off x="7058671" y="3543300"/>
              <a:ext cx="562916" cy="260080"/>
            </a:xfrm>
            <a:prstGeom prst="straightConnector1">
              <a:avLst/>
            </a:prstGeom>
            <a:noFill/>
            <a:ln cap="flat" cmpd="sng" w="31750">
              <a:solidFill>
                <a:srgbClr val="FF0000"/>
              </a:solidFill>
              <a:prstDash val="solid"/>
              <a:round/>
              <a:headEnd len="sm" w="sm" type="none"/>
              <a:tailEnd len="med" w="med" type="stealth"/>
            </a:ln>
          </p:spPr>
        </p:cxnSp>
        <p:sp>
          <p:nvSpPr>
            <p:cNvPr id="1554" name="Google Shape;1554;p58"/>
            <p:cNvSpPr/>
            <p:nvPr/>
          </p:nvSpPr>
          <p:spPr>
            <a:xfrm>
              <a:off x="6740834" y="3543300"/>
              <a:ext cx="300604" cy="33302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FF0000"/>
                  </a:solidFill>
                  <a:latin typeface="Arial"/>
                  <a:ea typeface="Arial"/>
                  <a:cs typeface="Arial"/>
                  <a:sym typeface="Arial"/>
                </a:rPr>
                <a:t>F</a:t>
              </a:r>
              <a:endParaRPr b="1" sz="2400">
                <a:solidFill>
                  <a:srgbClr val="606060"/>
                </a:solidFill>
                <a:latin typeface="Arial"/>
                <a:ea typeface="Arial"/>
                <a:cs typeface="Arial"/>
                <a:sym typeface="Arial"/>
              </a:endParaRPr>
            </a:p>
          </p:txBody>
        </p:sp>
      </p:grpSp>
      <p:grpSp>
        <p:nvGrpSpPr>
          <p:cNvPr id="1555" name="Google Shape;1555;p58"/>
          <p:cNvGrpSpPr/>
          <p:nvPr/>
        </p:nvGrpSpPr>
        <p:grpSpPr>
          <a:xfrm>
            <a:off x="7226300" y="3190875"/>
            <a:ext cx="776288" cy="388938"/>
            <a:chOff x="7338065" y="3462855"/>
            <a:chExt cx="775724" cy="388074"/>
          </a:xfrm>
        </p:grpSpPr>
        <p:sp>
          <p:nvSpPr>
            <p:cNvPr id="1556" name="Google Shape;1556;p58"/>
            <p:cNvSpPr/>
            <p:nvPr/>
          </p:nvSpPr>
          <p:spPr>
            <a:xfrm rot="10800000">
              <a:off x="7338065" y="3462855"/>
              <a:ext cx="775724" cy="319963"/>
            </a:xfrm>
            <a:prstGeom prst="arc">
              <a:avLst>
                <a:gd fmla="val 11948871" name="adj1"/>
                <a:gd fmla="val 20959862" name="adj2"/>
              </a:avLst>
            </a:prstGeom>
            <a:noFill/>
            <a:ln cap="flat" cmpd="sng" w="1905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57" name="Google Shape;1557;p58"/>
            <p:cNvSpPr/>
            <p:nvPr/>
          </p:nvSpPr>
          <p:spPr>
            <a:xfrm>
              <a:off x="7485596" y="3480279"/>
              <a:ext cx="298233" cy="370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FF00"/>
                  </a:solidFill>
                  <a:latin typeface="Arial"/>
                  <a:ea typeface="Arial"/>
                  <a:cs typeface="Arial"/>
                  <a:sym typeface="Arial"/>
                </a:rPr>
                <a:t>θ</a:t>
              </a:r>
              <a:endParaRPr b="1" sz="1800">
                <a:solidFill>
                  <a:srgbClr val="FFFF00"/>
                </a:solidFill>
                <a:latin typeface="Arial"/>
                <a:ea typeface="Arial"/>
                <a:cs typeface="Arial"/>
                <a:sym typeface="Arial"/>
              </a:endParaRPr>
            </a:p>
          </p:txBody>
        </p:sp>
      </p:grpSp>
      <p:sp>
        <p:nvSpPr>
          <p:cNvPr id="1558" name="Google Shape;1558;p58"/>
          <p:cNvSpPr/>
          <p:nvPr/>
        </p:nvSpPr>
        <p:spPr>
          <a:xfrm>
            <a:off x="4262438" y="5662613"/>
            <a:ext cx="4195762" cy="1195387"/>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Since 1 horsepower is 746 W, Sam is earning his keep, exactly as planned!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6">
                                            <p:txEl>
                                              <p:pRg end="0" st="0"/>
                                            </p:txEl>
                                          </p:spTgt>
                                        </p:tgtEl>
                                        <p:attrNameLst>
                                          <p:attrName>style.visibility</p:attrName>
                                        </p:attrNameLst>
                                      </p:cBhvr>
                                      <p:to>
                                        <p:strVal val="visible"/>
                                      </p:to>
                                    </p:set>
                                    <p:anim calcmode="lin" valueType="num">
                                      <p:cBhvr additive="base">
                                        <p:cTn dur="500"/>
                                        <p:tgtEl>
                                          <p:spTgt spid="154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6">
                                            <p:txEl>
                                              <p:pRg end="1" st="1"/>
                                            </p:txEl>
                                          </p:spTgt>
                                        </p:tgtEl>
                                        <p:attrNameLst>
                                          <p:attrName>style.visibility</p:attrName>
                                        </p:attrNameLst>
                                      </p:cBhvr>
                                      <p:to>
                                        <p:strVal val="visible"/>
                                      </p:to>
                                    </p:set>
                                    <p:anim calcmode="lin" valueType="num">
                                      <p:cBhvr additive="base">
                                        <p:cTn dur="500"/>
                                        <p:tgtEl>
                                          <p:spTgt spid="154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6">
                                            <p:txEl>
                                              <p:pRg end="2" st="2"/>
                                            </p:txEl>
                                          </p:spTgt>
                                        </p:tgtEl>
                                        <p:attrNameLst>
                                          <p:attrName>style.visibility</p:attrName>
                                        </p:attrNameLst>
                                      </p:cBhvr>
                                      <p:to>
                                        <p:strVal val="visible"/>
                                      </p:to>
                                    </p:set>
                                    <p:anim calcmode="lin" valueType="num">
                                      <p:cBhvr additive="base">
                                        <p:cTn dur="500"/>
                                        <p:tgtEl>
                                          <p:spTgt spid="154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6">
                                            <p:txEl>
                                              <p:pRg end="3" st="3"/>
                                            </p:txEl>
                                          </p:spTgt>
                                        </p:tgtEl>
                                        <p:attrNameLst>
                                          <p:attrName>style.visibility</p:attrName>
                                        </p:attrNameLst>
                                      </p:cBhvr>
                                      <p:to>
                                        <p:strVal val="visible"/>
                                      </p:to>
                                    </p:set>
                                    <p:anim calcmode="lin" valueType="num">
                                      <p:cBhvr additive="base">
                                        <p:cTn dur="500"/>
                                        <p:tgtEl>
                                          <p:spTgt spid="154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6">
                                            <p:txEl>
                                              <p:pRg end="4" st="4"/>
                                            </p:txEl>
                                          </p:spTgt>
                                        </p:tgtEl>
                                        <p:attrNameLst>
                                          <p:attrName>style.visibility</p:attrName>
                                        </p:attrNameLst>
                                      </p:cBhvr>
                                      <p:to>
                                        <p:strVal val="visible"/>
                                      </p:to>
                                    </p:set>
                                    <p:anim calcmode="lin" valueType="num">
                                      <p:cBhvr additive="base">
                                        <p:cTn dur="500"/>
                                        <p:tgtEl>
                                          <p:spTgt spid="154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46">
                                            <p:txEl>
                                              <p:pRg end="5" st="5"/>
                                            </p:txEl>
                                          </p:spTgt>
                                        </p:tgtEl>
                                        <p:attrNameLst>
                                          <p:attrName>style.visibility</p:attrName>
                                        </p:attrNameLst>
                                      </p:cBhvr>
                                      <p:to>
                                        <p:strVal val="visible"/>
                                      </p:to>
                                    </p:set>
                                    <p:anim calcmode="lin" valueType="num">
                                      <p:cBhvr additive="base">
                                        <p:cTn dur="500"/>
                                        <p:tgtEl>
                                          <p:spTgt spid="1546">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547"/>
                                        </p:tgtEl>
                                        <p:attrNameLst>
                                          <p:attrName>style.visibility</p:attrName>
                                        </p:attrNameLst>
                                      </p:cBhvr>
                                      <p:to>
                                        <p:strVal val="visible"/>
                                      </p:to>
                                    </p:set>
                                    <p:animEffect filter="fade" transition="in">
                                      <p:cBhvr>
                                        <p:cTn dur="2000"/>
                                        <p:tgtEl>
                                          <p:spTgt spid="15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548"/>
                                        </p:tgtEl>
                                        <p:attrNameLst>
                                          <p:attrName>style.visibility</p:attrName>
                                        </p:attrNameLst>
                                      </p:cBhvr>
                                      <p:to>
                                        <p:strVal val="visible"/>
                                      </p:to>
                                    </p:set>
                                    <p:anim calcmode="lin" valueType="num">
                                      <p:cBhvr additive="base">
                                        <p:cTn dur="500"/>
                                        <p:tgtEl>
                                          <p:spTgt spid="154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9"/>
                                        </p:tgtEl>
                                        <p:attrNameLst>
                                          <p:attrName>style.visibility</p:attrName>
                                        </p:attrNameLst>
                                      </p:cBhvr>
                                      <p:to>
                                        <p:strVal val="visible"/>
                                      </p:to>
                                    </p:set>
                                    <p:animEffect filter="fade" transition="in">
                                      <p:cBhvr>
                                        <p:cTn dur="500"/>
                                        <p:tgtEl>
                                          <p:spTgt spid="15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2"/>
                                        </p:tgtEl>
                                        <p:attrNameLst>
                                          <p:attrName>style.visibility</p:attrName>
                                        </p:attrNameLst>
                                      </p:cBhvr>
                                      <p:to>
                                        <p:strVal val="visible"/>
                                      </p:to>
                                    </p:set>
                                    <p:animEffect filter="fade" transition="in">
                                      <p:cBhvr>
                                        <p:cTn dur="500"/>
                                        <p:tgtEl>
                                          <p:spTgt spid="15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5"/>
                                        </p:tgtEl>
                                        <p:attrNameLst>
                                          <p:attrName>style.visibility</p:attrName>
                                        </p:attrNameLst>
                                      </p:cBhvr>
                                      <p:to>
                                        <p:strVal val="visible"/>
                                      </p:to>
                                    </p:set>
                                    <p:animEffect filter="fade" transition="in">
                                      <p:cBhvr>
                                        <p:cTn dur="500"/>
                                        <p:tgtEl>
                                          <p:spTgt spid="15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8">
                                            <p:txEl>
                                              <p:pRg end="0" st="0"/>
                                            </p:txEl>
                                          </p:spTgt>
                                        </p:tgtEl>
                                        <p:attrNameLst>
                                          <p:attrName>style.visibility</p:attrName>
                                        </p:attrNameLst>
                                      </p:cBhvr>
                                      <p:to>
                                        <p:strVal val="visible"/>
                                      </p:to>
                                    </p:set>
                                    <p:anim calcmode="lin" valueType="num">
                                      <p:cBhvr additive="base">
                                        <p:cTn dur="500"/>
                                        <p:tgtEl>
                                          <p:spTgt spid="155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3" name="Shape 1563"/>
        <p:cNvGrpSpPr/>
        <p:nvPr/>
      </p:nvGrpSpPr>
      <p:grpSpPr>
        <a:xfrm>
          <a:off x="0" y="0"/>
          <a:ext cx="0" cy="0"/>
          <a:chOff x="0" y="0"/>
          <a:chExt cx="0" cy="0"/>
        </a:xfrm>
      </p:grpSpPr>
      <p:sp>
        <p:nvSpPr>
          <p:cNvPr id="1564" name="Google Shape;1564;p59"/>
          <p:cNvSpPr/>
          <p:nvPr/>
        </p:nvSpPr>
        <p:spPr>
          <a:xfrm>
            <a:off x="685800" y="1549400"/>
            <a:ext cx="7772400" cy="101123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Power as rate of energy transfer </a:t>
            </a:r>
            <a:r>
              <a:rPr lang="en-US" sz="2000">
                <a:solidFill>
                  <a:schemeClr val="dk1"/>
                </a:solidFill>
                <a:latin typeface="Courier New"/>
                <a:ea typeface="Courier New"/>
                <a:cs typeface="Courier New"/>
                <a:sym typeface="Courier New"/>
              </a:rPr>
              <a:t>	</a:t>
            </a:r>
            <a:endParaRPr/>
          </a:p>
        </p:txBody>
      </p:sp>
      <p:sp>
        <p:nvSpPr>
          <p:cNvPr id="1565" name="Google Shape;1565;p5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grpSp>
        <p:nvGrpSpPr>
          <p:cNvPr id="1566" name="Google Shape;1566;p59"/>
          <p:cNvGrpSpPr/>
          <p:nvPr/>
        </p:nvGrpSpPr>
        <p:grpSpPr>
          <a:xfrm>
            <a:off x="828675" y="1973263"/>
            <a:ext cx="7462838" cy="461962"/>
            <a:chOff x="828675" y="2723544"/>
            <a:chExt cx="7462838" cy="461962"/>
          </a:xfrm>
        </p:grpSpPr>
        <p:sp>
          <p:nvSpPr>
            <p:cNvPr id="1567" name="Google Shape;1567;p59"/>
            <p:cNvSpPr/>
            <p:nvPr/>
          </p:nvSpPr>
          <p:spPr>
            <a:xfrm>
              <a:off x="965200" y="2733069"/>
              <a:ext cx="2368550" cy="3206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Fv</a:t>
              </a:r>
              <a:endParaRPr i="1" sz="2400">
                <a:solidFill>
                  <a:schemeClr val="dk1"/>
                </a:solidFill>
                <a:latin typeface="Arial"/>
                <a:ea typeface="Arial"/>
                <a:cs typeface="Arial"/>
                <a:sym typeface="Arial"/>
              </a:endParaRPr>
            </a:p>
          </p:txBody>
        </p:sp>
        <p:sp>
          <p:nvSpPr>
            <p:cNvPr id="1568" name="Google Shape;1568;p59"/>
            <p:cNvSpPr txBox="1"/>
            <p:nvPr/>
          </p:nvSpPr>
          <p:spPr>
            <a:xfrm>
              <a:off x="7058025" y="2723544"/>
              <a:ext cx="1228725" cy="461962"/>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power</a:t>
              </a:r>
              <a:endParaRPr/>
            </a:p>
          </p:txBody>
        </p:sp>
        <p:sp>
          <p:nvSpPr>
            <p:cNvPr id="1569" name="Google Shape;1569;p59"/>
            <p:cNvSpPr/>
            <p:nvPr/>
          </p:nvSpPr>
          <p:spPr>
            <a:xfrm>
              <a:off x="828675" y="2726719"/>
              <a:ext cx="7462838" cy="452437"/>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1570" name="Google Shape;1570;p59"/>
          <p:cNvSpPr/>
          <p:nvPr/>
        </p:nvSpPr>
        <p:spPr>
          <a:xfrm>
            <a:off x="674688" y="2560638"/>
            <a:ext cx="7783512" cy="4297362"/>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The drag force of a moving object is approximately proportional to the square of the velocity. Find the ratio of the energy rate of a car traveling at 50 mph, to that of the same car traveling at 25 mph.</a:t>
            </a:r>
            <a:endParaRPr/>
          </a:p>
          <a:p>
            <a:pPr indent="0" lvl="0" marL="0" marR="0" rtl="0" algn="l">
              <a:spcBef>
                <a:spcPts val="300"/>
              </a:spcBef>
              <a:spcAft>
                <a:spcPts val="0"/>
              </a:spcAft>
              <a:buNone/>
            </a:pPr>
            <a:r>
              <a:rPr lang="en-US" sz="2400">
                <a:solidFill>
                  <a:schemeClr val="dk1"/>
                </a:solidFill>
                <a:latin typeface="Arial"/>
                <a:ea typeface="Arial"/>
                <a:cs typeface="Arial"/>
                <a:sym typeface="Arial"/>
              </a:rPr>
              <a:t>SOLUTION:  Since </a:t>
            </a:r>
            <a:r>
              <a:rPr i="1" lang="en-US" sz="2400">
                <a:solidFill>
                  <a:schemeClr val="dk1"/>
                </a:solidFill>
                <a:latin typeface="Arial"/>
                <a:ea typeface="Arial"/>
                <a:cs typeface="Arial"/>
                <a:sym typeface="Arial"/>
              </a:rPr>
              <a:t>energy rate</a:t>
            </a:r>
            <a:r>
              <a:rPr lang="en-US" sz="2400">
                <a:solidFill>
                  <a:schemeClr val="dk1"/>
                </a:solidFill>
                <a:latin typeface="Arial"/>
                <a:ea typeface="Arial"/>
                <a:cs typeface="Arial"/>
                <a:sym typeface="Arial"/>
              </a:rPr>
              <a:t> is </a:t>
            </a:r>
            <a:r>
              <a:rPr i="1" lang="en-US" sz="2400">
                <a:solidFill>
                  <a:schemeClr val="dk1"/>
                </a:solidFill>
                <a:latin typeface="Arial"/>
                <a:ea typeface="Arial"/>
                <a:cs typeface="Arial"/>
                <a:sym typeface="Arial"/>
              </a:rPr>
              <a:t>power</a:t>
            </a:r>
            <a:r>
              <a:rPr lang="en-US" sz="2400">
                <a:solidFill>
                  <a:schemeClr val="dk1"/>
                </a:solidFill>
                <a:latin typeface="Arial"/>
                <a:ea typeface="Arial"/>
                <a:cs typeface="Arial"/>
                <a:sym typeface="Arial"/>
              </a:rPr>
              <a:t>, use </a:t>
            </a:r>
            <a:r>
              <a:rPr i="1" lang="en-US" sz="2400">
                <a:solidFill>
                  <a:schemeClr val="dk1"/>
                </a:solidFill>
                <a:latin typeface="Arial"/>
                <a:ea typeface="Arial"/>
                <a:cs typeface="Arial"/>
                <a:sym typeface="Arial"/>
              </a:rPr>
              <a:t>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Fv</a:t>
            </a:r>
            <a:r>
              <a:rPr lang="en-US" sz="2400">
                <a:solidFill>
                  <a:schemeClr val="dk1"/>
                </a:solidFill>
                <a:latin typeface="Arial"/>
                <a:ea typeface="Arial"/>
                <a:cs typeface="Arial"/>
                <a:sym typeface="Arial"/>
              </a:rPr>
              <a:t>.</a:t>
            </a:r>
            <a:endParaRPr/>
          </a:p>
          <a:p>
            <a:pPr indent="0" lvl="0" marL="0" marR="0" rtl="0" algn="l">
              <a:spcBef>
                <a:spcPts val="300"/>
              </a:spcBef>
              <a:spcAft>
                <a:spcPts val="0"/>
              </a:spcAft>
              <a:buNone/>
            </a:pPr>
            <a:r>
              <a:rPr lang="en-US" sz="2400">
                <a:solidFill>
                  <a:srgbClr val="000000"/>
                </a:solidFill>
                <a:latin typeface="Arial"/>
                <a:ea typeface="Arial"/>
                <a:cs typeface="Arial"/>
                <a:sym typeface="Arial"/>
              </a:rPr>
              <a:t>∙Then </a:t>
            </a:r>
            <a:r>
              <a:rPr i="1" lang="en-US" sz="2400">
                <a:solidFill>
                  <a:srgbClr val="000000"/>
                </a:solidFill>
                <a:latin typeface="Arial"/>
                <a:ea typeface="Arial"/>
                <a:cs typeface="Arial"/>
                <a:sym typeface="Arial"/>
              </a:rPr>
              <a:t>F</a:t>
            </a:r>
            <a:r>
              <a:rPr lang="en-US" sz="2400">
                <a:solidFill>
                  <a:srgbClr val="000000"/>
                </a:solidFill>
                <a:latin typeface="Arial"/>
                <a:ea typeface="Arial"/>
                <a:cs typeface="Arial"/>
                <a:sym typeface="Arial"/>
              </a:rPr>
              <a:t> = </a:t>
            </a:r>
            <a:r>
              <a:rPr i="1" lang="en-US" sz="2400">
                <a:solidFill>
                  <a:srgbClr val="000000"/>
                </a:solidFill>
                <a:latin typeface="Arial"/>
                <a:ea typeface="Arial"/>
                <a:cs typeface="Arial"/>
                <a:sym typeface="Arial"/>
              </a:rPr>
              <a:t>Kv</a:t>
            </a:r>
            <a:r>
              <a:rPr baseline="30000" lang="en-US" sz="2400">
                <a:solidFill>
                  <a:srgbClr val="000000"/>
                </a:solidFill>
                <a:latin typeface="Arial"/>
                <a:ea typeface="Arial"/>
                <a:cs typeface="Arial"/>
                <a:sym typeface="Arial"/>
              </a:rPr>
              <a:t> 2</a:t>
            </a:r>
            <a:r>
              <a:rPr lang="en-US" sz="2400">
                <a:solidFill>
                  <a:srgbClr val="000000"/>
                </a:solidFill>
                <a:latin typeface="Arial"/>
                <a:ea typeface="Arial"/>
                <a:cs typeface="Arial"/>
                <a:sym typeface="Arial"/>
              </a:rPr>
              <a:t> for some </a:t>
            </a:r>
            <a:r>
              <a:rPr i="1" lang="en-US" sz="2400">
                <a:solidFill>
                  <a:srgbClr val="000000"/>
                </a:solidFill>
                <a:latin typeface="Arial"/>
                <a:ea typeface="Arial"/>
                <a:cs typeface="Arial"/>
                <a:sym typeface="Arial"/>
              </a:rPr>
              <a:t>K</a:t>
            </a:r>
            <a:r>
              <a:rPr lang="en-US" sz="2400">
                <a:solidFill>
                  <a:srgbClr val="000000"/>
                </a:solidFill>
                <a:latin typeface="Arial"/>
                <a:ea typeface="Arial"/>
                <a:cs typeface="Arial"/>
                <a:sym typeface="Arial"/>
              </a:rPr>
              <a:t> and </a:t>
            </a:r>
            <a:r>
              <a:rPr i="1" lang="en-US" sz="2400">
                <a:solidFill>
                  <a:srgbClr val="000000"/>
                </a:solidFill>
                <a:latin typeface="Arial"/>
                <a:ea typeface="Arial"/>
                <a:cs typeface="Arial"/>
                <a:sym typeface="Arial"/>
              </a:rPr>
              <a:t>P</a:t>
            </a:r>
            <a:r>
              <a:rPr lang="en-US" sz="2400">
                <a:solidFill>
                  <a:srgbClr val="000000"/>
                </a:solidFill>
                <a:latin typeface="Arial"/>
                <a:ea typeface="Arial"/>
                <a:cs typeface="Arial"/>
                <a:sym typeface="Arial"/>
              </a:rPr>
              <a:t> = </a:t>
            </a:r>
            <a:r>
              <a:rPr i="1" lang="en-US" sz="2400">
                <a:solidFill>
                  <a:srgbClr val="000000"/>
                </a:solidFill>
                <a:latin typeface="Arial"/>
                <a:ea typeface="Arial"/>
                <a:cs typeface="Arial"/>
                <a:sym typeface="Arial"/>
              </a:rPr>
              <a:t>Fv </a:t>
            </a:r>
            <a:r>
              <a:rPr lang="en-US" sz="2400">
                <a:solidFill>
                  <a:srgbClr val="000000"/>
                </a:solidFill>
                <a:latin typeface="Arial"/>
                <a:ea typeface="Arial"/>
                <a:cs typeface="Arial"/>
                <a:sym typeface="Arial"/>
              </a:rPr>
              <a:t>= </a:t>
            </a:r>
            <a:r>
              <a:rPr i="1" lang="en-US" sz="2400">
                <a:solidFill>
                  <a:srgbClr val="000000"/>
                </a:solidFill>
                <a:latin typeface="Arial"/>
                <a:ea typeface="Arial"/>
                <a:cs typeface="Arial"/>
                <a:sym typeface="Arial"/>
              </a:rPr>
              <a:t>Kv</a:t>
            </a:r>
            <a:r>
              <a:rPr baseline="30000" lang="en-US" sz="2400">
                <a:solidFill>
                  <a:srgbClr val="000000"/>
                </a:solidFill>
                <a:latin typeface="Arial"/>
                <a:ea typeface="Arial"/>
                <a:cs typeface="Arial"/>
                <a:sym typeface="Arial"/>
              </a:rPr>
              <a:t> 2</a:t>
            </a:r>
            <a:r>
              <a:rPr i="1" lang="en-US" sz="2400">
                <a:solidFill>
                  <a:srgbClr val="000000"/>
                </a:solidFill>
                <a:latin typeface="Arial"/>
                <a:ea typeface="Arial"/>
                <a:cs typeface="Arial"/>
                <a:sym typeface="Arial"/>
              </a:rPr>
              <a:t>v</a:t>
            </a:r>
            <a:r>
              <a:rPr lang="en-US" sz="2400">
                <a:solidFill>
                  <a:srgbClr val="000000"/>
                </a:solidFill>
                <a:latin typeface="Arial"/>
                <a:ea typeface="Arial"/>
                <a:cs typeface="Arial"/>
                <a:sym typeface="Arial"/>
              </a:rPr>
              <a:t> = </a:t>
            </a:r>
            <a:r>
              <a:rPr i="1" lang="en-US" sz="2400">
                <a:solidFill>
                  <a:srgbClr val="000000"/>
                </a:solidFill>
                <a:latin typeface="Arial"/>
                <a:ea typeface="Arial"/>
                <a:cs typeface="Arial"/>
                <a:sym typeface="Arial"/>
              </a:rPr>
              <a:t>Kv</a:t>
            </a:r>
            <a:r>
              <a:rPr baseline="-25000" lang="en-US" sz="2400">
                <a:solidFill>
                  <a:srgbClr val="000000"/>
                </a:solidFill>
                <a:latin typeface="Arial"/>
                <a:ea typeface="Arial"/>
                <a:cs typeface="Arial"/>
                <a:sym typeface="Arial"/>
              </a:rPr>
              <a:t> </a:t>
            </a:r>
            <a:r>
              <a:rPr baseline="30000" lang="en-US" sz="2400">
                <a:solidFill>
                  <a:srgbClr val="000000"/>
                </a:solidFill>
                <a:latin typeface="Arial"/>
                <a:ea typeface="Arial"/>
                <a:cs typeface="Arial"/>
                <a:sym typeface="Arial"/>
              </a:rPr>
              <a:t>3</a:t>
            </a:r>
            <a:r>
              <a:rPr lang="en-US" sz="2400">
                <a:solidFill>
                  <a:srgbClr val="000000"/>
                </a:solidFill>
                <a:latin typeface="Arial"/>
                <a:ea typeface="Arial"/>
                <a:cs typeface="Arial"/>
                <a:sym typeface="Arial"/>
              </a:rPr>
              <a:t>.</a:t>
            </a:r>
            <a:endParaRPr/>
          </a:p>
          <a:p>
            <a:pPr indent="0" lvl="0" marL="0" marR="0" rtl="0" algn="l">
              <a:spcBef>
                <a:spcPts val="300"/>
              </a:spcBef>
              <a:spcAft>
                <a:spcPts val="0"/>
              </a:spcAft>
              <a:buNone/>
            </a:pPr>
            <a:r>
              <a:rPr lang="en-US" sz="2400">
                <a:solidFill>
                  <a:srgbClr val="000000"/>
                </a:solidFill>
                <a:latin typeface="Arial"/>
                <a:ea typeface="Arial"/>
                <a:cs typeface="Arial"/>
                <a:sym typeface="Arial"/>
              </a:rPr>
              <a:t>∙Thus </a:t>
            </a:r>
            <a:endParaRPr/>
          </a:p>
          <a:p>
            <a:pPr indent="0" lvl="0" marL="0" marR="0" rtl="0" algn="l">
              <a:spcBef>
                <a:spcPts val="300"/>
              </a:spcBef>
              <a:spcAft>
                <a:spcPts val="0"/>
              </a:spcAft>
              <a:buNone/>
            </a:pPr>
            <a:r>
              <a:rPr i="1" lang="en-US" sz="2400">
                <a:solidFill>
                  <a:srgbClr val="000000"/>
                </a:solidFill>
                <a:latin typeface="Arial"/>
                <a:ea typeface="Arial"/>
                <a:cs typeface="Arial"/>
                <a:sym typeface="Arial"/>
              </a:rPr>
              <a:t>     P</a:t>
            </a:r>
            <a:r>
              <a:rPr baseline="-25000" lang="en-US" sz="2400">
                <a:solidFill>
                  <a:srgbClr val="000000"/>
                </a:solidFill>
                <a:latin typeface="Arial"/>
                <a:ea typeface="Arial"/>
                <a:cs typeface="Arial"/>
                <a:sym typeface="Arial"/>
              </a:rPr>
              <a:t>50</a:t>
            </a:r>
            <a:r>
              <a:rPr lang="en-US" sz="2400">
                <a:solidFill>
                  <a:srgbClr val="000000"/>
                </a:solidFill>
                <a:latin typeface="Arial"/>
                <a:ea typeface="Arial"/>
                <a:cs typeface="Arial"/>
                <a:sym typeface="Arial"/>
              </a:rPr>
              <a:t> / </a:t>
            </a:r>
            <a:r>
              <a:rPr i="1" lang="en-US" sz="2400">
                <a:solidFill>
                  <a:srgbClr val="000000"/>
                </a:solidFill>
                <a:latin typeface="Arial"/>
                <a:ea typeface="Arial"/>
                <a:cs typeface="Arial"/>
                <a:sym typeface="Arial"/>
              </a:rPr>
              <a:t>P</a:t>
            </a:r>
            <a:r>
              <a:rPr baseline="-25000" lang="en-US" sz="2400">
                <a:solidFill>
                  <a:srgbClr val="000000"/>
                </a:solidFill>
                <a:latin typeface="Arial"/>
                <a:ea typeface="Arial"/>
                <a:cs typeface="Arial"/>
                <a:sym typeface="Arial"/>
              </a:rPr>
              <a:t>25</a:t>
            </a:r>
            <a:r>
              <a:rPr i="1"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 </a:t>
            </a:r>
            <a:r>
              <a:rPr i="1" lang="en-US" sz="2400">
                <a:solidFill>
                  <a:srgbClr val="000000"/>
                </a:solidFill>
                <a:latin typeface="Arial"/>
                <a:ea typeface="Arial"/>
                <a:cs typeface="Arial"/>
                <a:sym typeface="Arial"/>
              </a:rPr>
              <a:t>K</a:t>
            </a:r>
            <a:r>
              <a:rPr lang="en-US" sz="2400">
                <a:solidFill>
                  <a:srgbClr val="000000"/>
                </a:solidFill>
                <a:latin typeface="Arial"/>
                <a:ea typeface="Arial"/>
                <a:cs typeface="Arial"/>
                <a:sym typeface="Arial"/>
              </a:rPr>
              <a:t>×50</a:t>
            </a:r>
            <a:r>
              <a:rPr baseline="30000" lang="en-US" sz="2400">
                <a:solidFill>
                  <a:srgbClr val="000000"/>
                </a:solidFill>
                <a:latin typeface="Arial"/>
                <a:ea typeface="Arial"/>
                <a:cs typeface="Arial"/>
                <a:sym typeface="Arial"/>
              </a:rPr>
              <a:t>3</a:t>
            </a:r>
            <a:r>
              <a:rPr lang="en-US" sz="2400">
                <a:solidFill>
                  <a:srgbClr val="000000"/>
                </a:solidFill>
                <a:latin typeface="Arial"/>
                <a:ea typeface="Arial"/>
                <a:cs typeface="Arial"/>
                <a:sym typeface="Arial"/>
              </a:rPr>
              <a:t> / </a:t>
            </a:r>
            <a:r>
              <a:rPr i="1" lang="en-US" sz="2400">
                <a:solidFill>
                  <a:srgbClr val="000000"/>
                </a:solidFill>
                <a:latin typeface="Arial"/>
                <a:ea typeface="Arial"/>
                <a:cs typeface="Arial"/>
                <a:sym typeface="Arial"/>
              </a:rPr>
              <a:t>K</a:t>
            </a:r>
            <a:r>
              <a:rPr lang="en-US" sz="2400">
                <a:solidFill>
                  <a:srgbClr val="000000"/>
                </a:solidFill>
                <a:latin typeface="Arial"/>
                <a:ea typeface="Arial"/>
                <a:cs typeface="Arial"/>
                <a:sym typeface="Arial"/>
              </a:rPr>
              <a:t>×25</a:t>
            </a:r>
            <a:r>
              <a:rPr baseline="30000" lang="en-US" sz="2400">
                <a:solidFill>
                  <a:srgbClr val="000000"/>
                </a:solidFill>
                <a:latin typeface="Arial"/>
                <a:ea typeface="Arial"/>
                <a:cs typeface="Arial"/>
                <a:sym typeface="Arial"/>
              </a:rPr>
              <a:t>3</a:t>
            </a:r>
            <a:r>
              <a:rPr lang="en-US" sz="2400">
                <a:solidFill>
                  <a:srgbClr val="000000"/>
                </a:solidFill>
                <a:latin typeface="Arial"/>
                <a:ea typeface="Arial"/>
                <a:cs typeface="Arial"/>
                <a:sym typeface="Arial"/>
              </a:rPr>
              <a:t> </a:t>
            </a:r>
            <a:endParaRPr/>
          </a:p>
          <a:p>
            <a:pPr indent="0" lvl="0" marL="0" marR="0" rtl="0" algn="l">
              <a:spcBef>
                <a:spcPts val="300"/>
              </a:spcBef>
              <a:spcAft>
                <a:spcPts val="0"/>
              </a:spcAft>
              <a:buNone/>
            </a:pPr>
            <a:r>
              <a:rPr lang="en-US" sz="2400">
                <a:solidFill>
                  <a:srgbClr val="000000"/>
                </a:solidFill>
                <a:latin typeface="Arial"/>
                <a:ea typeface="Arial"/>
                <a:cs typeface="Arial"/>
                <a:sym typeface="Arial"/>
              </a:rPr>
              <a:t>                   = (50 / 25)</a:t>
            </a:r>
            <a:r>
              <a:rPr baseline="30000" lang="en-US" sz="2400">
                <a:solidFill>
                  <a:srgbClr val="000000"/>
                </a:solidFill>
                <a:latin typeface="Arial"/>
                <a:ea typeface="Arial"/>
                <a:cs typeface="Arial"/>
                <a:sym typeface="Arial"/>
              </a:rPr>
              <a:t>3</a:t>
            </a:r>
            <a:r>
              <a:rPr lang="en-US" sz="2400">
                <a:solidFill>
                  <a:srgbClr val="000000"/>
                </a:solidFill>
                <a:latin typeface="Arial"/>
                <a:ea typeface="Arial"/>
                <a:cs typeface="Arial"/>
                <a:sym typeface="Arial"/>
              </a:rPr>
              <a:t> </a:t>
            </a:r>
            <a:endParaRPr/>
          </a:p>
          <a:p>
            <a:pPr indent="0" lvl="0" marL="0" marR="0" rtl="0" algn="l">
              <a:spcBef>
                <a:spcPts val="300"/>
              </a:spcBef>
              <a:spcAft>
                <a:spcPts val="0"/>
              </a:spcAft>
              <a:buNone/>
            </a:pPr>
            <a:r>
              <a:rPr lang="en-US" sz="2400">
                <a:solidFill>
                  <a:srgbClr val="000000"/>
                </a:solidFill>
                <a:latin typeface="Arial"/>
                <a:ea typeface="Arial"/>
                <a:cs typeface="Arial"/>
                <a:sym typeface="Arial"/>
              </a:rPr>
              <a:t>                   = 2</a:t>
            </a:r>
            <a:r>
              <a:rPr baseline="30000" lang="en-US" sz="2400">
                <a:solidFill>
                  <a:srgbClr val="000000"/>
                </a:solidFill>
                <a:latin typeface="Arial"/>
                <a:ea typeface="Arial"/>
                <a:cs typeface="Arial"/>
                <a:sym typeface="Arial"/>
              </a:rPr>
              <a:t>3</a:t>
            </a:r>
            <a:r>
              <a:rPr lang="en-US" sz="2400">
                <a:solidFill>
                  <a:srgbClr val="000000"/>
                </a:solidFill>
                <a:latin typeface="Arial"/>
                <a:ea typeface="Arial"/>
                <a:cs typeface="Arial"/>
                <a:sym typeface="Arial"/>
              </a:rPr>
              <a:t> </a:t>
            </a:r>
            <a:endParaRPr/>
          </a:p>
          <a:p>
            <a:pPr indent="0" lvl="0" marL="0" marR="0" rtl="0" algn="l">
              <a:spcBef>
                <a:spcPts val="300"/>
              </a:spcBef>
              <a:spcAft>
                <a:spcPts val="0"/>
              </a:spcAft>
              <a:buNone/>
            </a:pPr>
            <a:r>
              <a:rPr lang="en-US" sz="2400">
                <a:solidFill>
                  <a:srgbClr val="000000"/>
                </a:solidFill>
                <a:latin typeface="Arial"/>
                <a:ea typeface="Arial"/>
                <a:cs typeface="Arial"/>
                <a:sym typeface="Arial"/>
              </a:rPr>
              <a:t>                   = 8. </a:t>
            </a:r>
            <a:r>
              <a:rPr i="1" lang="en-US" sz="2400">
                <a:solidFill>
                  <a:srgbClr val="000000"/>
                </a:solidFill>
                <a:latin typeface="Arial"/>
                <a:ea typeface="Arial"/>
                <a:cs typeface="Arial"/>
                <a:sym typeface="Arial"/>
              </a:rPr>
              <a:t>  </a:t>
            </a:r>
            <a:r>
              <a:rPr baseline="-25000" i="1" lang="en-US" sz="2400">
                <a:solidFill>
                  <a:srgbClr val="000000"/>
                </a:solidFill>
                <a:latin typeface="Arial"/>
                <a:ea typeface="Arial"/>
                <a:cs typeface="Arial"/>
                <a:sym typeface="Arial"/>
              </a:rPr>
              <a:t> </a:t>
            </a:r>
            <a:endParaRPr sz="2400">
              <a:solidFill>
                <a:schemeClr val="dk1"/>
              </a:solidFill>
              <a:latin typeface="Courier New"/>
              <a:ea typeface="Courier New"/>
              <a:cs typeface="Courier New"/>
              <a:sym typeface="Courier New"/>
            </a:endParaRPr>
          </a:p>
        </p:txBody>
      </p:sp>
      <p:sp>
        <p:nvSpPr>
          <p:cNvPr id="1571" name="Google Shape;1571;p59"/>
          <p:cNvSpPr/>
          <p:nvPr/>
        </p:nvSpPr>
        <p:spPr>
          <a:xfrm>
            <a:off x="4770438" y="4922838"/>
            <a:ext cx="3687762" cy="1935162"/>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endParaRPr/>
          </a:p>
          <a:p>
            <a:pPr indent="0" lvl="0" marL="0" marR="0" rtl="0" algn="l">
              <a:spcBef>
                <a:spcPts val="40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It takes 8 times as much gas just to overcome air resistance if you double your speed! Ouch!</a:t>
            </a:r>
            <a:endParaRPr/>
          </a:p>
        </p:txBody>
      </p:sp>
      <p:pic>
        <p:nvPicPr>
          <p:cNvPr descr="ANd9GcTptwVuvDpYUoZG8_CTp3wMdEU7KykY2d4OJkfcG7LawlZCfHWsTQ" id="1572" name="Google Shape;1572;p59"/>
          <p:cNvPicPr preferRelativeResize="0"/>
          <p:nvPr/>
        </p:nvPicPr>
        <p:blipFill rotWithShape="1">
          <a:blip r:embed="rId3">
            <a:alphaModFix/>
          </a:blip>
          <a:srcRect b="0" l="0" r="0" t="0"/>
          <a:stretch/>
        </p:blipFill>
        <p:spPr>
          <a:xfrm>
            <a:off x="9204325" y="0"/>
            <a:ext cx="925513" cy="576263"/>
          </a:xfrm>
          <a:prstGeom prst="rect">
            <a:avLst/>
          </a:prstGeom>
          <a:noFill/>
          <a:ln>
            <a:noFill/>
          </a:ln>
        </p:spPr>
      </p:pic>
      <p:pic>
        <p:nvPicPr>
          <p:cNvPr descr="ANd9GcTptwVuvDpYUoZG8_CTp3wMdEU7KykY2d4OJkfcG7LawlZCfHWsTQ" id="1573" name="Google Shape;1573;p59"/>
          <p:cNvPicPr preferRelativeResize="0"/>
          <p:nvPr/>
        </p:nvPicPr>
        <p:blipFill rotWithShape="1">
          <a:blip r:embed="rId3">
            <a:alphaModFix/>
          </a:blip>
          <a:srcRect b="0" l="0" r="0" t="0"/>
          <a:stretch/>
        </p:blipFill>
        <p:spPr>
          <a:xfrm>
            <a:off x="9199563" y="434975"/>
            <a:ext cx="925512" cy="5762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0">
                                            <p:txEl>
                                              <p:pRg end="0" st="0"/>
                                            </p:txEl>
                                          </p:spTgt>
                                        </p:tgtEl>
                                        <p:attrNameLst>
                                          <p:attrName>style.visibility</p:attrName>
                                        </p:attrNameLst>
                                      </p:cBhvr>
                                      <p:to>
                                        <p:strVal val="visible"/>
                                      </p:to>
                                    </p:set>
                                    <p:anim calcmode="lin" valueType="num">
                                      <p:cBhvr additive="base">
                                        <p:cTn dur="500"/>
                                        <p:tgtEl>
                                          <p:spTgt spid="157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0">
                                            <p:txEl>
                                              <p:pRg end="1" st="1"/>
                                            </p:txEl>
                                          </p:spTgt>
                                        </p:tgtEl>
                                        <p:attrNameLst>
                                          <p:attrName>style.visibility</p:attrName>
                                        </p:attrNameLst>
                                      </p:cBhvr>
                                      <p:to>
                                        <p:strVal val="visible"/>
                                      </p:to>
                                    </p:set>
                                    <p:anim calcmode="lin" valueType="num">
                                      <p:cBhvr additive="base">
                                        <p:cTn dur="500"/>
                                        <p:tgtEl>
                                          <p:spTgt spid="157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0">
                                            <p:txEl>
                                              <p:pRg end="2" st="2"/>
                                            </p:txEl>
                                          </p:spTgt>
                                        </p:tgtEl>
                                        <p:attrNameLst>
                                          <p:attrName>style.visibility</p:attrName>
                                        </p:attrNameLst>
                                      </p:cBhvr>
                                      <p:to>
                                        <p:strVal val="visible"/>
                                      </p:to>
                                    </p:set>
                                    <p:anim calcmode="lin" valueType="num">
                                      <p:cBhvr additive="base">
                                        <p:cTn dur="500"/>
                                        <p:tgtEl>
                                          <p:spTgt spid="157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0">
                                            <p:txEl>
                                              <p:pRg end="3" st="3"/>
                                            </p:txEl>
                                          </p:spTgt>
                                        </p:tgtEl>
                                        <p:attrNameLst>
                                          <p:attrName>style.visibility</p:attrName>
                                        </p:attrNameLst>
                                      </p:cBhvr>
                                      <p:to>
                                        <p:strVal val="visible"/>
                                      </p:to>
                                    </p:set>
                                    <p:anim calcmode="lin" valueType="num">
                                      <p:cBhvr additive="base">
                                        <p:cTn dur="500"/>
                                        <p:tgtEl>
                                          <p:spTgt spid="157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0">
                                            <p:txEl>
                                              <p:pRg end="4" st="4"/>
                                            </p:txEl>
                                          </p:spTgt>
                                        </p:tgtEl>
                                        <p:attrNameLst>
                                          <p:attrName>style.visibility</p:attrName>
                                        </p:attrNameLst>
                                      </p:cBhvr>
                                      <p:to>
                                        <p:strVal val="visible"/>
                                      </p:to>
                                    </p:set>
                                    <p:anim calcmode="lin" valueType="num">
                                      <p:cBhvr additive="base">
                                        <p:cTn dur="500"/>
                                        <p:tgtEl>
                                          <p:spTgt spid="157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0">
                                            <p:txEl>
                                              <p:pRg end="5" st="5"/>
                                            </p:txEl>
                                          </p:spTgt>
                                        </p:tgtEl>
                                        <p:attrNameLst>
                                          <p:attrName>style.visibility</p:attrName>
                                        </p:attrNameLst>
                                      </p:cBhvr>
                                      <p:to>
                                        <p:strVal val="visible"/>
                                      </p:to>
                                    </p:set>
                                    <p:anim calcmode="lin" valueType="num">
                                      <p:cBhvr additive="base">
                                        <p:cTn dur="500"/>
                                        <p:tgtEl>
                                          <p:spTgt spid="157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0">
                                            <p:txEl>
                                              <p:pRg end="6" st="6"/>
                                            </p:txEl>
                                          </p:spTgt>
                                        </p:tgtEl>
                                        <p:attrNameLst>
                                          <p:attrName>style.visibility</p:attrName>
                                        </p:attrNameLst>
                                      </p:cBhvr>
                                      <p:to>
                                        <p:strVal val="visible"/>
                                      </p:to>
                                    </p:set>
                                    <p:anim calcmode="lin" valueType="num">
                                      <p:cBhvr additive="base">
                                        <p:cTn dur="500"/>
                                        <p:tgtEl>
                                          <p:spTgt spid="157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0">
                                            <p:txEl>
                                              <p:pRg end="7" st="7"/>
                                            </p:txEl>
                                          </p:spTgt>
                                        </p:tgtEl>
                                        <p:attrNameLst>
                                          <p:attrName>style.visibility</p:attrName>
                                        </p:attrNameLst>
                                      </p:cBhvr>
                                      <p:to>
                                        <p:strVal val="visible"/>
                                      </p:to>
                                    </p:set>
                                    <p:anim calcmode="lin" valueType="num">
                                      <p:cBhvr additive="base">
                                        <p:cTn dur="500"/>
                                        <p:tgtEl>
                                          <p:spTgt spid="1570">
                                            <p:txEl>
                                              <p:pRg end="7" st="7"/>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1572"/>
                                        </p:tgtEl>
                                        <p:attrNameLst>
                                          <p:attrName>style.visibility</p:attrName>
                                        </p:attrNameLst>
                                      </p:cBhvr>
                                      <p:to>
                                        <p:strVal val="visible"/>
                                      </p:to>
                                    </p:set>
                                    <p:anim calcmode="lin" valueType="num">
                                      <p:cBhvr additive="base">
                                        <p:cTn dur="5000"/>
                                        <p:tgtEl>
                                          <p:spTgt spid="1572"/>
                                        </p:tgtEl>
                                        <p:attrNameLst>
                                          <p:attrName>ppt_x</p:attrName>
                                        </p:attrNameLst>
                                      </p:cBhvr>
                                      <p:tavLst>
                                        <p:tav fmla="" tm="0">
                                          <p:val>
                                            <p:strVal val="#ppt_x-1"/>
                                          </p:val>
                                        </p:tav>
                                        <p:tav fmla="" tm="100000">
                                          <p:val>
                                            <p:strVal val="#ppt_x"/>
                                          </p:val>
                                        </p:tav>
                                      </p:tavLst>
                                    </p:anim>
                                  </p:childTnLst>
                                </p:cTn>
                              </p:par>
                            </p:childTnLst>
                          </p:cTn>
                        </p:par>
                        <p:par>
                          <p:cTn fill="hold">
                            <p:stCondLst>
                              <p:cond delay="5500"/>
                            </p:stCondLst>
                            <p:childTnLst>
                              <p:par>
                                <p:cTn fill="hold" nodeType="afterEffect" presetClass="entr" presetID="2" presetSubtype="8">
                                  <p:stCondLst>
                                    <p:cond delay="0"/>
                                  </p:stCondLst>
                                  <p:childTnLst>
                                    <p:set>
                                      <p:cBhvr>
                                        <p:cTn dur="1" fill="hold">
                                          <p:stCondLst>
                                            <p:cond delay="0"/>
                                          </p:stCondLst>
                                        </p:cTn>
                                        <p:tgtEl>
                                          <p:spTgt spid="1573"/>
                                        </p:tgtEl>
                                        <p:attrNameLst>
                                          <p:attrName>style.visibility</p:attrName>
                                        </p:attrNameLst>
                                      </p:cBhvr>
                                      <p:to>
                                        <p:strVal val="visible"/>
                                      </p:to>
                                    </p:set>
                                    <p:anim calcmode="lin" valueType="num">
                                      <p:cBhvr additive="base">
                                        <p:cTn dur="3000"/>
                                        <p:tgtEl>
                                          <p:spTgt spid="157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1">
                                            <p:txEl>
                                              <p:pRg end="0" st="0"/>
                                            </p:txEl>
                                          </p:spTgt>
                                        </p:tgtEl>
                                        <p:attrNameLst>
                                          <p:attrName>style.visibility</p:attrName>
                                        </p:attrNameLst>
                                      </p:cBhvr>
                                      <p:to>
                                        <p:strVal val="visible"/>
                                      </p:to>
                                    </p:set>
                                    <p:anim calcmode="lin" valueType="num">
                                      <p:cBhvr additive="base">
                                        <p:cTn dur="500"/>
                                        <p:tgtEl>
                                          <p:spTgt spid="157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1">
                                            <p:txEl>
                                              <p:pRg end="1" st="1"/>
                                            </p:txEl>
                                          </p:spTgt>
                                        </p:tgtEl>
                                        <p:attrNameLst>
                                          <p:attrName>style.visibility</p:attrName>
                                        </p:attrNameLst>
                                      </p:cBhvr>
                                      <p:to>
                                        <p:strVal val="visible"/>
                                      </p:to>
                                    </p:set>
                                    <p:anim calcmode="lin" valueType="num">
                                      <p:cBhvr additive="base">
                                        <p:cTn dur="500"/>
                                        <p:tgtEl>
                                          <p:spTgt spid="157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8" name="Shape 1578"/>
        <p:cNvGrpSpPr/>
        <p:nvPr/>
      </p:nvGrpSpPr>
      <p:grpSpPr>
        <a:xfrm>
          <a:off x="0" y="0"/>
          <a:ext cx="0" cy="0"/>
          <a:chOff x="0" y="0"/>
          <a:chExt cx="0" cy="0"/>
        </a:xfrm>
      </p:grpSpPr>
      <p:sp>
        <p:nvSpPr>
          <p:cNvPr id="1579" name="Google Shape;1579;p60"/>
          <p:cNvSpPr/>
          <p:nvPr/>
        </p:nvSpPr>
        <p:spPr>
          <a:xfrm>
            <a:off x="685800" y="1549400"/>
            <a:ext cx="7772400" cy="146208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Quantitatively describing efficiency in energy transfers</a:t>
            </a:r>
            <a:endParaRPr i="1" sz="2000">
              <a:solidFill>
                <a:schemeClr val="dk1"/>
              </a:solidFill>
              <a:latin typeface="Courier New"/>
              <a:ea typeface="Courier New"/>
              <a:cs typeface="Courier New"/>
              <a:sym typeface="Courier New"/>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a:t>
            </a:r>
            <a:r>
              <a:rPr b="1" lang="en-US" sz="2400">
                <a:solidFill>
                  <a:schemeClr val="dk1"/>
                </a:solidFill>
                <a:latin typeface="Arial"/>
                <a:ea typeface="Arial"/>
                <a:cs typeface="Arial"/>
                <a:sym typeface="Arial"/>
              </a:rPr>
              <a:t>Efficiency</a:t>
            </a:r>
            <a:r>
              <a:rPr lang="en-US" sz="2400">
                <a:solidFill>
                  <a:schemeClr val="dk1"/>
                </a:solidFill>
                <a:latin typeface="Arial"/>
                <a:ea typeface="Arial"/>
                <a:cs typeface="Arial"/>
                <a:sym typeface="Arial"/>
              </a:rPr>
              <a:t> is the ratio of output power to input power</a:t>
            </a:r>
            <a:endParaRPr/>
          </a:p>
          <a:p>
            <a:pPr indent="0" lvl="0" marL="0" marR="0" rtl="0" algn="l">
              <a:spcBef>
                <a:spcPts val="400"/>
              </a:spcBef>
              <a:spcAft>
                <a:spcPts val="0"/>
              </a:spcAft>
              <a:buNone/>
            </a:pPr>
            <a:r>
              <a:t/>
            </a:r>
            <a:endParaRPr sz="2000">
              <a:solidFill>
                <a:schemeClr val="dk1"/>
              </a:solidFill>
              <a:latin typeface="Courier New"/>
              <a:ea typeface="Courier New"/>
              <a:cs typeface="Courier New"/>
              <a:sym typeface="Courier New"/>
            </a:endParaRPr>
          </a:p>
        </p:txBody>
      </p:sp>
      <p:sp>
        <p:nvSpPr>
          <p:cNvPr id="1580" name="Google Shape;1580;p6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latin typeface="Arial"/>
                <a:ea typeface="Arial"/>
                <a:cs typeface="Arial"/>
                <a:sym typeface="Arial"/>
              </a:rPr>
              <a:t>Topic A: Space, time and motion</a:t>
            </a:r>
            <a:br>
              <a:rPr lang="en-US" sz="2800">
                <a:latin typeface="Arial"/>
                <a:ea typeface="Arial"/>
                <a:cs typeface="Arial"/>
                <a:sym typeface="Arial"/>
              </a:rPr>
            </a:br>
            <a:r>
              <a:rPr lang="en-US" sz="2800">
                <a:latin typeface="Arial"/>
                <a:ea typeface="Arial"/>
                <a:cs typeface="Arial"/>
                <a:sym typeface="Arial"/>
              </a:rPr>
              <a:t>A.3 – Work, energy and power</a:t>
            </a:r>
            <a:endParaRPr sz="2400">
              <a:solidFill>
                <a:schemeClr val="dk1"/>
              </a:solidFill>
              <a:latin typeface="Courier New"/>
              <a:ea typeface="Courier New"/>
              <a:cs typeface="Courier New"/>
              <a:sym typeface="Courier New"/>
            </a:endParaRPr>
          </a:p>
        </p:txBody>
      </p:sp>
      <p:grpSp>
        <p:nvGrpSpPr>
          <p:cNvPr id="1581" name="Google Shape;1581;p60"/>
          <p:cNvGrpSpPr/>
          <p:nvPr/>
        </p:nvGrpSpPr>
        <p:grpSpPr>
          <a:xfrm>
            <a:off x="828675" y="2454275"/>
            <a:ext cx="7470775" cy="520700"/>
            <a:chOff x="828675" y="2479358"/>
            <a:chExt cx="7470776" cy="519748"/>
          </a:xfrm>
        </p:grpSpPr>
        <p:sp>
          <p:nvSpPr>
            <p:cNvPr id="1582" name="Google Shape;1582;p60"/>
            <p:cNvSpPr/>
            <p:nvPr/>
          </p:nvSpPr>
          <p:spPr>
            <a:xfrm>
              <a:off x="965200" y="2515804"/>
              <a:ext cx="5688014" cy="4833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US" sz="2400">
                  <a:solidFill>
                    <a:schemeClr val="dk1"/>
                  </a:solidFill>
                  <a:latin typeface="Arial"/>
                  <a:ea typeface="Arial"/>
                  <a:cs typeface="Arial"/>
                  <a:sym typeface="Arial"/>
                </a:rPr>
                <a:t>efficiency = η = </a:t>
              </a:r>
              <a:r>
                <a:rPr i="1" lang="en-US" sz="2400">
                  <a:solidFill>
                    <a:schemeClr val="dk1"/>
                  </a:solidFill>
                  <a:latin typeface="Arial"/>
                  <a:ea typeface="Arial"/>
                  <a:cs typeface="Arial"/>
                  <a:sym typeface="Arial"/>
                </a:rPr>
                <a:t>W</a:t>
              </a:r>
              <a:r>
                <a:rPr baseline="-25000" lang="en-US" sz="2400">
                  <a:solidFill>
                    <a:schemeClr val="dk1"/>
                  </a:solidFill>
                  <a:latin typeface="Arial"/>
                  <a:ea typeface="Arial"/>
                  <a:cs typeface="Arial"/>
                  <a:sym typeface="Arial"/>
                </a:rPr>
                <a:t>out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W</a:t>
              </a:r>
              <a:r>
                <a:rPr baseline="-25000" lang="en-US" sz="2400">
                  <a:solidFill>
                    <a:schemeClr val="dk1"/>
                  </a:solidFill>
                  <a:latin typeface="Arial"/>
                  <a:ea typeface="Arial"/>
                  <a:cs typeface="Arial"/>
                  <a:sym typeface="Arial"/>
                </a:rPr>
                <a:t>in</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P</a:t>
              </a:r>
              <a:r>
                <a:rPr baseline="-25000" lang="en-US" sz="2400">
                  <a:solidFill>
                    <a:schemeClr val="dk1"/>
                  </a:solidFill>
                  <a:latin typeface="Arial"/>
                  <a:ea typeface="Arial"/>
                  <a:cs typeface="Arial"/>
                  <a:sym typeface="Arial"/>
                </a:rPr>
                <a:t>out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P</a:t>
              </a:r>
              <a:r>
                <a:rPr baseline="-25000" lang="en-US" sz="2400">
                  <a:solidFill>
                    <a:schemeClr val="dk1"/>
                  </a:solidFill>
                  <a:latin typeface="Arial"/>
                  <a:ea typeface="Arial"/>
                  <a:cs typeface="Arial"/>
                  <a:sym typeface="Arial"/>
                </a:rPr>
                <a:t>in</a:t>
              </a:r>
              <a:endParaRPr baseline="-25000" sz="2400">
                <a:solidFill>
                  <a:schemeClr val="dk1"/>
                </a:solidFill>
                <a:latin typeface="Arial"/>
                <a:ea typeface="Arial"/>
                <a:cs typeface="Arial"/>
                <a:sym typeface="Arial"/>
              </a:endParaRPr>
            </a:p>
          </p:txBody>
        </p:sp>
        <p:sp>
          <p:nvSpPr>
            <p:cNvPr id="1583" name="Google Shape;1583;p60"/>
            <p:cNvSpPr txBox="1"/>
            <p:nvPr/>
          </p:nvSpPr>
          <p:spPr>
            <a:xfrm>
              <a:off x="6745289" y="2492035"/>
              <a:ext cx="1554162" cy="46111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efficiency</a:t>
              </a:r>
              <a:endParaRPr/>
            </a:p>
          </p:txBody>
        </p:sp>
        <p:sp>
          <p:nvSpPr>
            <p:cNvPr id="1584" name="Google Shape;1584;p60"/>
            <p:cNvSpPr/>
            <p:nvPr/>
          </p:nvSpPr>
          <p:spPr>
            <a:xfrm>
              <a:off x="828675" y="2479358"/>
              <a:ext cx="7462839" cy="489641"/>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1585" name="Google Shape;1585;p60"/>
          <p:cNvSpPr/>
          <p:nvPr/>
        </p:nvSpPr>
        <p:spPr>
          <a:xfrm>
            <a:off x="674688" y="3005138"/>
            <a:ext cx="7781925" cy="3852862"/>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Conversion of coal into electricity is through the following process: Coal burns to heat up water to steam. Steam turns a turbine. The turbine turns a generator which produces electricity. Suppose the useable electricity from such a power plant is 125 MW, while the chemical energy of the coal is 690 MW. Find the efficiency of the plant.</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    efficiency = η = </a:t>
            </a:r>
            <a:r>
              <a:rPr i="1" lang="en-US" sz="2400">
                <a:solidFill>
                  <a:schemeClr val="dk1"/>
                </a:solidFill>
                <a:latin typeface="Arial"/>
                <a:ea typeface="Arial"/>
                <a:cs typeface="Arial"/>
                <a:sym typeface="Arial"/>
              </a:rPr>
              <a:t>P</a:t>
            </a:r>
            <a:r>
              <a:rPr baseline="-25000" lang="en-US" sz="2400">
                <a:solidFill>
                  <a:schemeClr val="dk1"/>
                </a:solidFill>
                <a:latin typeface="Arial"/>
                <a:ea typeface="Arial"/>
                <a:cs typeface="Arial"/>
                <a:sym typeface="Arial"/>
              </a:rPr>
              <a:t>out </a:t>
            </a:r>
            <a:r>
              <a:rPr i="1" lang="en-US" sz="2400">
                <a:solidFill>
                  <a:schemeClr val="dk1"/>
                </a:solidFill>
                <a:latin typeface="Arial"/>
                <a:ea typeface="Arial"/>
                <a:cs typeface="Arial"/>
                <a:sym typeface="Arial"/>
              </a:rPr>
              <a:t>/ P</a:t>
            </a:r>
            <a:r>
              <a:rPr baseline="-25000" lang="en-US" sz="2400">
                <a:solidFill>
                  <a:schemeClr val="dk1"/>
                </a:solidFill>
                <a:latin typeface="Arial"/>
                <a:ea typeface="Arial"/>
                <a:cs typeface="Arial"/>
                <a:sym typeface="Arial"/>
              </a:rPr>
              <a:t>in</a:t>
            </a:r>
            <a:endParaRPr/>
          </a:p>
          <a:p>
            <a:pPr indent="0" lvl="0" marL="0" marR="0" rtl="0" algn="l">
              <a:lnSpc>
                <a:spcPct val="90000"/>
              </a:lnSpc>
              <a:spcBef>
                <a:spcPts val="480"/>
              </a:spcBef>
              <a:spcAft>
                <a:spcPts val="0"/>
              </a:spcAft>
              <a:buNone/>
            </a:pPr>
            <a:r>
              <a:rPr lang="en-US" sz="2400">
                <a:solidFill>
                  <a:schemeClr val="dk1"/>
                </a:solidFill>
                <a:latin typeface="Arial"/>
                <a:ea typeface="Arial"/>
                <a:cs typeface="Arial"/>
                <a:sym typeface="Arial"/>
              </a:rPr>
              <a:t>                                           η = 125 MW / 690 MW</a:t>
            </a:r>
            <a:endParaRPr/>
          </a:p>
          <a:p>
            <a:pPr indent="0" lvl="0" marL="0" marR="0" rtl="0" algn="l">
              <a:lnSpc>
                <a:spcPct val="90000"/>
              </a:lnSpc>
              <a:spcBef>
                <a:spcPts val="480"/>
              </a:spcBef>
              <a:spcAft>
                <a:spcPts val="0"/>
              </a:spcAft>
              <a:buNone/>
            </a:pPr>
            <a:r>
              <a:rPr lang="en-US" sz="2400">
                <a:solidFill>
                  <a:schemeClr val="dk1"/>
                </a:solidFill>
                <a:latin typeface="Arial"/>
                <a:ea typeface="Arial"/>
                <a:cs typeface="Arial"/>
                <a:sym typeface="Arial"/>
              </a:rPr>
              <a:t>                                           η = 0.18 or 18%.</a:t>
            </a:r>
            <a:endParaRPr/>
          </a:p>
        </p:txBody>
      </p:sp>
      <p:cxnSp>
        <p:nvCxnSpPr>
          <p:cNvPr id="1586" name="Google Shape;1586;p60"/>
          <p:cNvCxnSpPr/>
          <p:nvPr/>
        </p:nvCxnSpPr>
        <p:spPr>
          <a:xfrm flipH="1" rot="10800000">
            <a:off x="5233988" y="6129338"/>
            <a:ext cx="511175" cy="276225"/>
          </a:xfrm>
          <a:prstGeom prst="straightConnector1">
            <a:avLst/>
          </a:prstGeom>
          <a:noFill/>
          <a:ln cap="flat" cmpd="sng" w="28575">
            <a:solidFill>
              <a:srgbClr val="FF3300"/>
            </a:solidFill>
            <a:prstDash val="solid"/>
            <a:round/>
            <a:headEnd len="med" w="med" type="none"/>
            <a:tailEnd len="med" w="med" type="none"/>
          </a:ln>
        </p:spPr>
      </p:cxnSp>
      <p:cxnSp>
        <p:nvCxnSpPr>
          <p:cNvPr id="1587" name="Google Shape;1587;p60"/>
          <p:cNvCxnSpPr/>
          <p:nvPr/>
        </p:nvCxnSpPr>
        <p:spPr>
          <a:xfrm flipH="1" rot="10800000">
            <a:off x="6640513" y="6165850"/>
            <a:ext cx="446087" cy="184150"/>
          </a:xfrm>
          <a:prstGeom prst="straightConnector1">
            <a:avLst/>
          </a:prstGeom>
          <a:noFill/>
          <a:ln cap="flat" cmpd="sng" w="28575">
            <a:solidFill>
              <a:srgbClr val="FF3300"/>
            </a:solidFill>
            <a:prstDash val="solid"/>
            <a:round/>
            <a:headEnd len="med" w="med" type="none"/>
            <a:tailEnd len="med" w="med" type="none"/>
          </a:ln>
        </p:spPr>
      </p:cxnSp>
      <p:pic>
        <p:nvPicPr>
          <p:cNvPr descr="lump_of_coal" id="1588" name="Google Shape;1588;p60"/>
          <p:cNvPicPr preferRelativeResize="0"/>
          <p:nvPr/>
        </p:nvPicPr>
        <p:blipFill rotWithShape="1">
          <a:blip r:embed="rId3">
            <a:alphaModFix/>
          </a:blip>
          <a:srcRect b="0" l="0" r="0" t="0"/>
          <a:stretch/>
        </p:blipFill>
        <p:spPr>
          <a:xfrm>
            <a:off x="7413625" y="5500688"/>
            <a:ext cx="1693863" cy="1331912"/>
          </a:xfrm>
          <a:prstGeom prst="rect">
            <a:avLst/>
          </a:prstGeom>
          <a:noFill/>
          <a:ln>
            <a:noFill/>
          </a:ln>
        </p:spPr>
      </p:pic>
      <p:pic>
        <p:nvPicPr>
          <p:cNvPr descr="http://www.wisconsinwatch.org/wp-content/uploads/2011/11/Columbia-plant-300x199.jpg" id="1589" name="Google Shape;1589;p60">
            <a:hlinkClick r:id="rId4"/>
          </p:cNvPr>
          <p:cNvPicPr preferRelativeResize="0"/>
          <p:nvPr/>
        </p:nvPicPr>
        <p:blipFill rotWithShape="1">
          <a:blip r:embed="rId5">
            <a:alphaModFix/>
          </a:blip>
          <a:srcRect b="0" l="0" r="0" t="0"/>
          <a:stretch/>
        </p:blipFill>
        <p:spPr>
          <a:xfrm>
            <a:off x="6067168" y="-4763"/>
            <a:ext cx="2391032" cy="1585922"/>
          </a:xfrm>
          <a:prstGeom prst="rect">
            <a:avLst/>
          </a:prstGeom>
          <a:noFill/>
          <a:ln>
            <a:noFill/>
          </a:ln>
          <a:effectLst>
            <a:outerShdw blurRad="292100" rotWithShape="0" algn="tl" dir="2700000" dist="139700">
              <a:srgbClr val="333333">
                <a:alpha val="6470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9">
                                            <p:txEl>
                                              <p:pRg end="0" st="0"/>
                                            </p:txEl>
                                          </p:spTgt>
                                        </p:tgtEl>
                                        <p:attrNameLst>
                                          <p:attrName>style.visibility</p:attrName>
                                        </p:attrNameLst>
                                      </p:cBhvr>
                                      <p:to>
                                        <p:strVal val="visible"/>
                                      </p:to>
                                    </p:set>
                                    <p:anim calcmode="lin" valueType="num">
                                      <p:cBhvr additive="base">
                                        <p:cTn dur="500"/>
                                        <p:tgtEl>
                                          <p:spTgt spid="157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9">
                                            <p:txEl>
                                              <p:pRg end="1" st="1"/>
                                            </p:txEl>
                                          </p:spTgt>
                                        </p:tgtEl>
                                        <p:attrNameLst>
                                          <p:attrName>style.visibility</p:attrName>
                                        </p:attrNameLst>
                                      </p:cBhvr>
                                      <p:to>
                                        <p:strVal val="visible"/>
                                      </p:to>
                                    </p:set>
                                    <p:anim calcmode="lin" valueType="num">
                                      <p:cBhvr additive="base">
                                        <p:cTn dur="500"/>
                                        <p:tgtEl>
                                          <p:spTgt spid="157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9">
                                            <p:txEl>
                                              <p:pRg end="2" st="2"/>
                                            </p:txEl>
                                          </p:spTgt>
                                        </p:tgtEl>
                                        <p:attrNameLst>
                                          <p:attrName>style.visibility</p:attrName>
                                        </p:attrNameLst>
                                      </p:cBhvr>
                                      <p:to>
                                        <p:strVal val="visible"/>
                                      </p:to>
                                    </p:set>
                                    <p:anim calcmode="lin" valueType="num">
                                      <p:cBhvr additive="base">
                                        <p:cTn dur="500"/>
                                        <p:tgtEl>
                                          <p:spTgt spid="157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85">
                                            <p:txEl>
                                              <p:pRg end="0" st="0"/>
                                            </p:txEl>
                                          </p:spTgt>
                                        </p:tgtEl>
                                        <p:attrNameLst>
                                          <p:attrName>style.visibility</p:attrName>
                                        </p:attrNameLst>
                                      </p:cBhvr>
                                      <p:to>
                                        <p:strVal val="visible"/>
                                      </p:to>
                                    </p:set>
                                    <p:anim calcmode="lin" valueType="num">
                                      <p:cBhvr additive="base">
                                        <p:cTn dur="500"/>
                                        <p:tgtEl>
                                          <p:spTgt spid="158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85">
                                            <p:txEl>
                                              <p:pRg end="1" st="1"/>
                                            </p:txEl>
                                          </p:spTgt>
                                        </p:tgtEl>
                                        <p:attrNameLst>
                                          <p:attrName>style.visibility</p:attrName>
                                        </p:attrNameLst>
                                      </p:cBhvr>
                                      <p:to>
                                        <p:strVal val="visible"/>
                                      </p:to>
                                    </p:set>
                                    <p:anim calcmode="lin" valueType="num">
                                      <p:cBhvr additive="base">
                                        <p:cTn dur="500"/>
                                        <p:tgtEl>
                                          <p:spTgt spid="158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85">
                                            <p:txEl>
                                              <p:pRg end="2" st="2"/>
                                            </p:txEl>
                                          </p:spTgt>
                                        </p:tgtEl>
                                        <p:attrNameLst>
                                          <p:attrName>style.visibility</p:attrName>
                                        </p:attrNameLst>
                                      </p:cBhvr>
                                      <p:to>
                                        <p:strVal val="visible"/>
                                      </p:to>
                                    </p:set>
                                    <p:anim calcmode="lin" valueType="num">
                                      <p:cBhvr additive="base">
                                        <p:cTn dur="500"/>
                                        <p:tgtEl>
                                          <p:spTgt spid="158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85">
                                            <p:txEl>
                                              <p:pRg end="3" st="3"/>
                                            </p:txEl>
                                          </p:spTgt>
                                        </p:tgtEl>
                                        <p:attrNameLst>
                                          <p:attrName>style.visibility</p:attrName>
                                        </p:attrNameLst>
                                      </p:cBhvr>
                                      <p:to>
                                        <p:strVal val="visible"/>
                                      </p:to>
                                    </p:set>
                                    <p:anim calcmode="lin" valueType="num">
                                      <p:cBhvr additive="base">
                                        <p:cTn dur="500"/>
                                        <p:tgtEl>
                                          <p:spTgt spid="1585">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589"/>
                                        </p:tgtEl>
                                        <p:attrNameLst>
                                          <p:attrName>style.visibility</p:attrName>
                                        </p:attrNameLst>
                                      </p:cBhvr>
                                      <p:to>
                                        <p:strVal val="visible"/>
                                      </p:to>
                                    </p:set>
                                    <p:animEffect filter="fade" transition="in">
                                      <p:cBhvr>
                                        <p:cTn dur="500"/>
                                        <p:tgtEl>
                                          <p:spTgt spid="1589"/>
                                        </p:tgtEl>
                                      </p:cBhvr>
                                    </p:animEffect>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1588"/>
                                        </p:tgtEl>
                                        <p:attrNameLst>
                                          <p:attrName>style.visibility</p:attrName>
                                        </p:attrNameLst>
                                      </p:cBhvr>
                                      <p:to>
                                        <p:strVal val="visible"/>
                                      </p:to>
                                    </p:set>
                                    <p:anim calcmode="lin" valueType="num">
                                      <p:cBhvr additive="base">
                                        <p:cTn dur="2000"/>
                                        <p:tgtEl>
                                          <p:spTgt spid="158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6"/>
                                        </p:tgtEl>
                                        <p:attrNameLst>
                                          <p:attrName>style.visibility</p:attrName>
                                        </p:attrNameLst>
                                      </p:cBhvr>
                                      <p:to>
                                        <p:strVal val="visible"/>
                                      </p:to>
                                    </p:set>
                                    <p:animEffect filter="fade" transition="in">
                                      <p:cBhvr>
                                        <p:cTn dur="500"/>
                                        <p:tgtEl>
                                          <p:spTgt spid="15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7"/>
                                        </p:tgtEl>
                                        <p:attrNameLst>
                                          <p:attrName>style.visibility</p:attrName>
                                        </p:attrNameLst>
                                      </p:cBhvr>
                                      <p:to>
                                        <p:strVal val="visible"/>
                                      </p:to>
                                    </p:set>
                                    <p:animEffect filter="fade" transition="in">
                                      <p:cBhvr>
                                        <p:cTn dur="500"/>
                                        <p:tgtEl>
                                          <p:spTgt spid="15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